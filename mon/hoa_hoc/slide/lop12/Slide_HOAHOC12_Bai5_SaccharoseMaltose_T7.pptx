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548640"/>
            <a:ext cx="2194560" cy="219456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2194560"/>
            <a:ext cx="1371600" cy="13716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292608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48640"/>
            <a:ext cx="8229600" cy="457200"/>
          </a:xfrm>
          <a:prstGeom prst="rect">
            <a:avLst/>
          </a:prstGeom>
          <a:noFill/>
        </p:spPr>
        <p:txBody>
          <a:bodyPr wrap="square" anchor="t">
            <a:spAutoFit/>
          </a:bodyPr>
          <a:lstStyle/>
          <a:p>
            <a:pPr algn="l">
              <a:spcAft>
                <a:spcPts val="600"/>
              </a:spcAft>
            </a:pPr>
            <a:r>
              <a:rPr sz="2000" b="0">
                <a:solidFill>
                  <a:srgbClr val="1E40AF"/>
                </a:solidFill>
                <a:latin typeface="Arial"/>
              </a:rPr>
              <a:t>Chương 2. Carbohydrate</a:t>
            </a:r>
          </a:p>
        </p:txBody>
      </p:sp>
      <p:sp>
        <p:nvSpPr>
          <p:cNvPr id="8" name="TextBox 7"/>
          <p:cNvSpPr txBox="1"/>
          <p:nvPr/>
        </p:nvSpPr>
        <p:spPr>
          <a:xfrm>
            <a:off x="731520" y="1463040"/>
            <a:ext cx="8778240" cy="2377440"/>
          </a:xfrm>
          <a:prstGeom prst="rect">
            <a:avLst/>
          </a:prstGeom>
          <a:noFill/>
        </p:spPr>
        <p:txBody>
          <a:bodyPr wrap="square" anchor="ctr">
            <a:spAutoFit/>
          </a:bodyPr>
          <a:lstStyle/>
          <a:p>
            <a:pPr algn="l">
              <a:spcAft>
                <a:spcPts val="600"/>
              </a:spcAft>
            </a:pPr>
            <a:r>
              <a:rPr sz="4000" b="1">
                <a:solidFill>
                  <a:srgbClr val="1E40AF"/>
                </a:solidFill>
                <a:latin typeface="Arial"/>
              </a:rPr>
              <a:t>BÀI 5. SACCHAROSE VÀ MALTOSE</a:t>
            </a:r>
          </a:p>
        </p:txBody>
      </p:sp>
      <p:sp>
        <p:nvSpPr>
          <p:cNvPr id="9" name="TextBox 8"/>
          <p:cNvSpPr txBox="1"/>
          <p:nvPr/>
        </p:nvSpPr>
        <p:spPr>
          <a:xfrm>
            <a:off x="731520" y="4114800"/>
            <a:ext cx="8778240" cy="548640"/>
          </a:xfrm>
          <a:prstGeom prst="rect">
            <a:avLst/>
          </a:prstGeom>
          <a:noFill/>
        </p:spPr>
        <p:txBody>
          <a:bodyPr wrap="square" anchor="t">
            <a:spAutoFit/>
          </a:bodyPr>
          <a:lstStyle/>
          <a:p>
            <a:pPr algn="l">
              <a:spcAft>
                <a:spcPts val="600"/>
              </a:spcAft>
            </a:pPr>
            <a:r>
              <a:rPr sz="2200" b="0">
                <a:solidFill>
                  <a:srgbClr val="1E293B"/>
                </a:solidFill>
                <a:latin typeface="Calibri"/>
              </a:rPr>
              <a:t>Hóa học 12 · Kết nối tri thức với cuộc sống · Tuần 4 · Tiết 7</a:t>
            </a:r>
          </a:p>
        </p:txBody>
      </p:sp>
      <p:sp>
        <p:nvSpPr>
          <p:cNvPr id="10" name="TextBox 9"/>
          <p:cNvSpPr txBox="1"/>
          <p:nvPr/>
        </p:nvSpPr>
        <p:spPr>
          <a:xfrm>
            <a:off x="731520" y="5852160"/>
            <a:ext cx="8778240" cy="457200"/>
          </a:xfrm>
          <a:prstGeom prst="rect">
            <a:avLst/>
          </a:prstGeom>
          <a:noFill/>
        </p:spPr>
        <p:txBody>
          <a:bodyPr wrap="square" anchor="t">
            <a:spAutoFit/>
          </a:bodyPr>
          <a:lstStyle/>
          <a:p>
            <a:pPr algn="l">
              <a:spcAft>
                <a:spcPts val="600"/>
              </a:spcAft>
            </a:pPr>
            <a:r>
              <a:rPr sz="1600" b="0">
                <a:solidFill>
                  <a:srgbClr val="64748B"/>
                </a:solidFill>
                <a:latin typeface="Calibri"/>
              </a:rPr>
              <a:t>Trường THPT · Tổ Lý – Hóa – Công nghệ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MỤC TIÊU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300" b="0">
                <a:solidFill>
                  <a:srgbClr val="1E293B"/>
                </a:solidFill>
                <a:latin typeface="Calibri"/>
              </a:rPr>
              <a:t>✔  Viết CTCT dạng mạch vòng, gọi tên saccharose, maltose</a:t>
            </a:r>
          </a:p>
          <a:p>
            <a:pPr algn="l">
              <a:spcAft>
                <a:spcPts val="600"/>
              </a:spcAft>
            </a:pPr>
            <a:r>
              <a:rPr sz="2300" b="0">
                <a:solidFill>
                  <a:srgbClr val="1E293B"/>
                </a:solidFill>
                <a:latin typeface="Calibri"/>
              </a:rPr>
              <a:t>✔  Trình bày tính chất hoá học của saccharose: Cu(OH)₂, thuỷ phân</a:t>
            </a:r>
          </a:p>
          <a:p>
            <a:pPr algn="l">
              <a:spcAft>
                <a:spcPts val="600"/>
              </a:spcAft>
            </a:pPr>
            <a:r>
              <a:rPr sz="2300" b="0">
                <a:solidFill>
                  <a:srgbClr val="1E293B"/>
                </a:solidFill>
                <a:latin typeface="Calibri"/>
              </a:rPr>
              <a:t>✔  Thực hiện (hoặc quan sát video) thí nghiệm saccharose với Cu(OH)₂</a:t>
            </a:r>
          </a:p>
          <a:p>
            <a:pPr algn="l">
              <a:spcAft>
                <a:spcPts val="600"/>
              </a:spcAft>
            </a:pPr>
            <a:r>
              <a:rPr sz="2300" b="0">
                <a:solidFill>
                  <a:srgbClr val="1E293B"/>
                </a:solidFill>
                <a:latin typeface="Calibri"/>
              </a:rPr>
              <a:t>✔  Nêu trạng thái tự nhiên, ứng dụng của saccharose, maltose</a:t>
            </a:r>
          </a:p>
          <a:p>
            <a:pPr algn="l">
              <a:spcAft>
                <a:spcPts val="600"/>
              </a:spcAft>
            </a:pPr>
            <a:r>
              <a:rPr sz="2300" b="0">
                <a:solidFill>
                  <a:srgbClr val="1E293B"/>
                </a:solidFill>
                <a:latin typeface="Calibri"/>
              </a:rPr>
              <a:t>✔  Lựa chọn, sử dụng nguồn đường hợp lí cho sức khoẻ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KHỞI ĐỘNG – EM CÓ BIẾT?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Suy nghĩ, dự đoán – chưa cần trả lời ngay</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7" name="Rounded Rectangle 6"/>
          <p:cNvSpPr/>
          <p:nvPr/>
        </p:nvSpPr>
        <p:spPr>
          <a:xfrm>
            <a:off x="548640" y="1600200"/>
            <a:ext cx="6766560" cy="4480560"/>
          </a:xfrm>
          <a:prstGeom prst="roundRect">
            <a:avLst>
              <a:gd name="adj" fmla="val 6000"/>
            </a:avLst>
          </a:prstGeom>
          <a:solidFill>
            <a:srgbClr val="FFF7ED"/>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6309360" cy="4114800"/>
          </a:xfrm>
          <a:prstGeom prst="rect">
            <a:avLst/>
          </a:prstGeom>
          <a:noFill/>
        </p:spPr>
        <p:txBody>
          <a:bodyPr wrap="square" anchor="t">
            <a:spAutoFit/>
          </a:bodyPr>
          <a:lstStyle/>
          <a:p>
            <a:pPr algn="l">
              <a:spcAft>
                <a:spcPts val="600"/>
              </a:spcAft>
            </a:pPr>
            <a:r>
              <a:rPr sz="2400" b="0">
                <a:solidFill>
                  <a:srgbClr val="1E293B"/>
                </a:solidFill>
                <a:latin typeface="Calibri"/>
              </a:rPr>
              <a:t>Đường ăn (saccharose) là chất làm ngọt phổ biến trong sản xuất thực phẩm, còn đường mạch nha (maltose) chủ yếu dùng để sản xuất bia.
Saccharose và maltose có cấu tạo như thế nào? Chúng có những tính chất hoá học cơ bản nào?</a:t>
            </a:r>
          </a:p>
        </p:txBody>
      </p:sp>
      <p:pic>
        <p:nvPicPr>
          <p:cNvPr id="9" name="Picture 8" descr="b5_h51.png"/>
          <p:cNvPicPr>
            <a:picLocks noChangeAspect="1"/>
          </p:cNvPicPr>
          <p:nvPr/>
        </p:nvPicPr>
        <p:blipFill>
          <a:blip r:embed="rId2"/>
          <a:stretch>
            <a:fillRect/>
          </a:stretch>
        </p:blipFill>
        <p:spPr>
          <a:xfrm>
            <a:off x="7589520" y="2508504"/>
            <a:ext cx="4206240" cy="26639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SƠ ĐỒ TƯ DUY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Bản đồ kiến thức của bài – quét mã QR để làm bài củng cố</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cxnSp>
        <p:nvCxnSpPr>
          <p:cNvPr id="7" name="Connector 6"/>
          <p:cNvCxnSpPr/>
          <p:nvPr/>
        </p:nvCxnSpPr>
        <p:spPr>
          <a:xfrm flipH="1" flipV="1">
            <a:off x="3369056" y="2713024"/>
            <a:ext cx="1294384" cy="1196036"/>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567228" y="1996221"/>
            <a:ext cx="801828" cy="716803"/>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7731" y="1825741"/>
            <a:ext cx="2279497"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C₁₂H₂₂O₁₁ (disaccharide)</a:t>
            </a:r>
          </a:p>
        </p:txBody>
      </p:sp>
      <p:cxnSp>
        <p:nvCxnSpPr>
          <p:cNvPr id="10" name="Connector 9"/>
          <p:cNvCxnSpPr/>
          <p:nvPr/>
        </p:nvCxnSpPr>
        <p:spPr>
          <a:xfrm flipH="1" flipV="1">
            <a:off x="2481376" y="2406949"/>
            <a:ext cx="887680" cy="30607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3583" y="2236469"/>
            <a:ext cx="2107793"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α-glucose + β-fructose</a:t>
            </a:r>
          </a:p>
        </p:txBody>
      </p:sp>
      <p:cxnSp>
        <p:nvCxnSpPr>
          <p:cNvPr id="12" name="Connector 11"/>
          <p:cNvCxnSpPr/>
          <p:nvPr/>
        </p:nvCxnSpPr>
        <p:spPr>
          <a:xfrm flipH="1">
            <a:off x="2646476" y="2713024"/>
            <a:ext cx="722580" cy="104653"/>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8483" y="2647198"/>
            <a:ext cx="2437993"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Liên kết α-1,2-glycoside</a:t>
            </a:r>
          </a:p>
        </p:txBody>
      </p:sp>
      <p:cxnSp>
        <p:nvCxnSpPr>
          <p:cNvPr id="14" name="Connector 13"/>
          <p:cNvCxnSpPr/>
          <p:nvPr/>
        </p:nvCxnSpPr>
        <p:spPr>
          <a:xfrm flipH="1">
            <a:off x="2223820" y="2713024"/>
            <a:ext cx="1145236" cy="616093"/>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1139" y="3057926"/>
            <a:ext cx="1592681"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Chỉ có dạng mạch</a:t>
            </a:r>
          </a:p>
          <a:p>
            <a:pPr algn="ctr"/>
            <a:r>
              <a:rPr sz="1300" b="0">
                <a:solidFill>
                  <a:srgbClr val="000000"/>
                </a:solidFill>
                <a:latin typeface="Calibri"/>
              </a:rPr>
              <a:t>vòng</a:t>
            </a:r>
          </a:p>
        </p:txBody>
      </p:sp>
      <p:sp>
        <p:nvSpPr>
          <p:cNvPr id="16" name="Oval 15"/>
          <p:cNvSpPr/>
          <p:nvPr/>
        </p:nvSpPr>
        <p:spPr>
          <a:xfrm>
            <a:off x="2566111" y="2306261"/>
            <a:ext cx="1605889"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Cấu tạo</a:t>
            </a:r>
          </a:p>
          <a:p>
            <a:pPr algn="ctr"/>
            <a:r>
              <a:rPr sz="1500" b="1">
                <a:solidFill>
                  <a:srgbClr val="000000"/>
                </a:solidFill>
                <a:latin typeface="Calibri"/>
              </a:rPr>
              <a:t>saccharose</a:t>
            </a:r>
          </a:p>
        </p:txBody>
      </p:sp>
      <p:cxnSp>
        <p:nvCxnSpPr>
          <p:cNvPr id="17" name="Connector 16"/>
          <p:cNvCxnSpPr/>
          <p:nvPr/>
        </p:nvCxnSpPr>
        <p:spPr>
          <a:xfrm flipV="1">
            <a:off x="4663440" y="2713024"/>
            <a:ext cx="1294384" cy="1196036"/>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57824" y="1996221"/>
            <a:ext cx="1445717" cy="716803"/>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3541" y="1825741"/>
            <a:ext cx="991717"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C₁₂H₂₂O₁₁</a:t>
            </a:r>
          </a:p>
        </p:txBody>
      </p:sp>
      <p:cxnSp>
        <p:nvCxnSpPr>
          <p:cNvPr id="20" name="Connector 19"/>
          <p:cNvCxnSpPr/>
          <p:nvPr/>
        </p:nvCxnSpPr>
        <p:spPr>
          <a:xfrm flipV="1">
            <a:off x="5957824" y="2406949"/>
            <a:ext cx="1059383" cy="306075"/>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017207" y="2236469"/>
            <a:ext cx="1764385"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Hai đơn vị glucose</a:t>
            </a:r>
          </a:p>
        </p:txBody>
      </p:sp>
      <p:cxnSp>
        <p:nvCxnSpPr>
          <p:cNvPr id="22" name="Connector 21"/>
          <p:cNvCxnSpPr/>
          <p:nvPr/>
        </p:nvCxnSpPr>
        <p:spPr>
          <a:xfrm>
            <a:off x="5957824" y="2713024"/>
            <a:ext cx="722579" cy="104653"/>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680403" y="2647198"/>
            <a:ext cx="2437993"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Liên kết α-1,4-glycoside</a:t>
            </a:r>
          </a:p>
        </p:txBody>
      </p:sp>
      <p:cxnSp>
        <p:nvCxnSpPr>
          <p:cNvPr id="24" name="Connector 23"/>
          <p:cNvCxnSpPr/>
          <p:nvPr/>
        </p:nvCxnSpPr>
        <p:spPr>
          <a:xfrm>
            <a:off x="5957824" y="2713024"/>
            <a:ext cx="1188161" cy="616093"/>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45985" y="3057926"/>
            <a:ext cx="1506829"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Có dạng mở vòng</a:t>
            </a:r>
          </a:p>
          <a:p>
            <a:pPr algn="ctr"/>
            <a:r>
              <a:rPr sz="1300" b="0">
                <a:solidFill>
                  <a:srgbClr val="000000"/>
                </a:solidFill>
                <a:latin typeface="Calibri"/>
              </a:rPr>
              <a:t>(–CHO)</a:t>
            </a:r>
          </a:p>
        </p:txBody>
      </p:sp>
      <p:sp>
        <p:nvSpPr>
          <p:cNvPr id="26" name="Oval 25"/>
          <p:cNvSpPr/>
          <p:nvPr/>
        </p:nvSpPr>
        <p:spPr>
          <a:xfrm>
            <a:off x="5224221" y="2306261"/>
            <a:ext cx="1467205"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Cấu tạo</a:t>
            </a:r>
          </a:p>
          <a:p>
            <a:pPr algn="ctr"/>
            <a:r>
              <a:rPr sz="1500" b="1">
                <a:solidFill>
                  <a:srgbClr val="000000"/>
                </a:solidFill>
                <a:latin typeface="Calibri"/>
              </a:rPr>
              <a:t>maltose</a:t>
            </a:r>
          </a:p>
        </p:txBody>
      </p:sp>
      <p:cxnSp>
        <p:nvCxnSpPr>
          <p:cNvPr id="27" name="Connector 26"/>
          <p:cNvCxnSpPr/>
          <p:nvPr/>
        </p:nvCxnSpPr>
        <p:spPr>
          <a:xfrm flipH="1">
            <a:off x="3369056" y="3909060"/>
            <a:ext cx="1294384" cy="1196035"/>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322880" y="4287580"/>
            <a:ext cx="1046176" cy="81751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32079" y="4016390"/>
            <a:ext cx="1790801"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Hoà tan Cu(OH)₂ →</a:t>
            </a:r>
          </a:p>
          <a:p>
            <a:pPr algn="ctr"/>
            <a:r>
              <a:rPr sz="1300" b="1">
                <a:solidFill>
                  <a:srgbClr val="8B0000"/>
                </a:solidFill>
                <a:latin typeface="Calibri"/>
              </a:rPr>
              <a:t>xanh lam</a:t>
            </a:r>
          </a:p>
        </p:txBody>
      </p:sp>
      <p:cxnSp>
        <p:nvCxnSpPr>
          <p:cNvPr id="30" name="Connector 29"/>
          <p:cNvCxnSpPr/>
          <p:nvPr/>
        </p:nvCxnSpPr>
        <p:spPr>
          <a:xfrm flipH="1" flipV="1">
            <a:off x="2415336" y="4899731"/>
            <a:ext cx="953720" cy="205364"/>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9623" y="4628540"/>
            <a:ext cx="1975713"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Thuỷ phân → glucose</a:t>
            </a:r>
          </a:p>
          <a:p>
            <a:pPr algn="ctr"/>
            <a:r>
              <a:rPr sz="1300" b="1">
                <a:solidFill>
                  <a:srgbClr val="8B0000"/>
                </a:solidFill>
                <a:latin typeface="Calibri"/>
              </a:rPr>
              <a:t>+ fructose</a:t>
            </a:r>
          </a:p>
        </p:txBody>
      </p:sp>
      <p:cxnSp>
        <p:nvCxnSpPr>
          <p:cNvPr id="32" name="Connector 31"/>
          <p:cNvCxnSpPr/>
          <p:nvPr/>
        </p:nvCxnSpPr>
        <p:spPr>
          <a:xfrm flipH="1">
            <a:off x="2180894" y="5105095"/>
            <a:ext cx="1188162" cy="30607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74065" y="5240690"/>
            <a:ext cx="1506829" cy="340959"/>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Không tráng bạc</a:t>
            </a:r>
          </a:p>
        </p:txBody>
      </p:sp>
      <p:cxnSp>
        <p:nvCxnSpPr>
          <p:cNvPr id="34" name="Connector 33"/>
          <p:cNvCxnSpPr/>
          <p:nvPr/>
        </p:nvCxnSpPr>
        <p:spPr>
          <a:xfrm flipH="1">
            <a:off x="2395524" y="5105095"/>
            <a:ext cx="973532" cy="817514"/>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59435" y="5651418"/>
            <a:ext cx="1936089"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Sau thuỷ phân: tráng</a:t>
            </a:r>
          </a:p>
          <a:p>
            <a:pPr algn="ctr"/>
            <a:r>
              <a:rPr sz="1300" b="0">
                <a:solidFill>
                  <a:srgbClr val="000000"/>
                </a:solidFill>
                <a:latin typeface="Calibri"/>
              </a:rPr>
              <a:t>bạc được</a:t>
            </a:r>
          </a:p>
        </p:txBody>
      </p:sp>
      <p:sp>
        <p:nvSpPr>
          <p:cNvPr id="36" name="Oval 35"/>
          <p:cNvSpPr/>
          <p:nvPr/>
        </p:nvSpPr>
        <p:spPr>
          <a:xfrm>
            <a:off x="2496769" y="4698331"/>
            <a:ext cx="1744573"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Tính chất</a:t>
            </a:r>
          </a:p>
          <a:p>
            <a:pPr algn="ctr"/>
            <a:r>
              <a:rPr sz="1500" b="1">
                <a:solidFill>
                  <a:srgbClr val="000000"/>
                </a:solidFill>
                <a:latin typeface="Calibri"/>
              </a:rPr>
              <a:t>saccharose</a:t>
            </a:r>
          </a:p>
        </p:txBody>
      </p:sp>
      <p:cxnSp>
        <p:nvCxnSpPr>
          <p:cNvPr id="37" name="Connector 36"/>
          <p:cNvCxnSpPr/>
          <p:nvPr/>
        </p:nvCxnSpPr>
        <p:spPr>
          <a:xfrm>
            <a:off x="4663440" y="3909060"/>
            <a:ext cx="1294384" cy="1196035"/>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957824" y="4186869"/>
            <a:ext cx="844753" cy="91822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802577" y="3915679"/>
            <a:ext cx="2193645"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Saccharose: mía, củ cải</a:t>
            </a:r>
          </a:p>
          <a:p>
            <a:pPr algn="ctr"/>
            <a:r>
              <a:rPr sz="1300" b="0">
                <a:solidFill>
                  <a:srgbClr val="000000"/>
                </a:solidFill>
                <a:latin typeface="Calibri"/>
              </a:rPr>
              <a:t>đường</a:t>
            </a:r>
          </a:p>
        </p:txBody>
      </p:sp>
      <p:cxnSp>
        <p:nvCxnSpPr>
          <p:cNvPr id="40" name="Connector 39"/>
          <p:cNvCxnSpPr/>
          <p:nvPr/>
        </p:nvCxnSpPr>
        <p:spPr>
          <a:xfrm flipV="1">
            <a:off x="5957824" y="4799020"/>
            <a:ext cx="1059383" cy="30607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017207" y="4527829"/>
            <a:ext cx="1764385"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Hoa thốt nốt; chất</a:t>
            </a:r>
          </a:p>
          <a:p>
            <a:pPr algn="ctr"/>
            <a:r>
              <a:rPr sz="1300" b="0">
                <a:solidFill>
                  <a:srgbClr val="000000"/>
                </a:solidFill>
                <a:latin typeface="Calibri"/>
              </a:rPr>
              <a:t>làm ngọt</a:t>
            </a:r>
          </a:p>
        </p:txBody>
      </p:sp>
      <p:cxnSp>
        <p:nvCxnSpPr>
          <p:cNvPr id="42" name="Connector 41"/>
          <p:cNvCxnSpPr/>
          <p:nvPr/>
        </p:nvCxnSpPr>
        <p:spPr>
          <a:xfrm>
            <a:off x="5957824" y="5105095"/>
            <a:ext cx="887679" cy="30607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845503" y="5139979"/>
            <a:ext cx="2107793"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Maltose: mạch nha, hạt</a:t>
            </a:r>
          </a:p>
          <a:p>
            <a:pPr algn="ctr"/>
            <a:r>
              <a:rPr sz="1300" b="0">
                <a:solidFill>
                  <a:srgbClr val="000000"/>
                </a:solidFill>
                <a:latin typeface="Calibri"/>
              </a:rPr>
              <a:t>nảy mầm</a:t>
            </a:r>
          </a:p>
        </p:txBody>
      </p:sp>
      <p:cxnSp>
        <p:nvCxnSpPr>
          <p:cNvPr id="44" name="Connector 43"/>
          <p:cNvCxnSpPr/>
          <p:nvPr/>
        </p:nvCxnSpPr>
        <p:spPr>
          <a:xfrm>
            <a:off x="5957824" y="5105095"/>
            <a:ext cx="1059383" cy="91822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017207" y="5752129"/>
            <a:ext cx="1764385"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Sản xuất bia, bánh</a:t>
            </a:r>
          </a:p>
          <a:p>
            <a:pPr algn="ctr"/>
            <a:r>
              <a:rPr sz="1300" b="0">
                <a:solidFill>
                  <a:srgbClr val="000000"/>
                </a:solidFill>
                <a:latin typeface="Calibri"/>
              </a:rPr>
              <a:t>kẹo</a:t>
            </a:r>
          </a:p>
        </p:txBody>
      </p:sp>
      <p:sp>
        <p:nvSpPr>
          <p:cNvPr id="46" name="Oval 45"/>
          <p:cNvSpPr/>
          <p:nvPr/>
        </p:nvSpPr>
        <p:spPr>
          <a:xfrm>
            <a:off x="5154879" y="4698331"/>
            <a:ext cx="1605889"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Tự nhiên</a:t>
            </a:r>
          </a:p>
          <a:p>
            <a:pPr algn="ctr"/>
            <a:r>
              <a:rPr sz="1500" b="1">
                <a:solidFill>
                  <a:srgbClr val="000000"/>
                </a:solidFill>
                <a:latin typeface="Calibri"/>
              </a:rPr>
              <a:t>&amp; ứng dụng</a:t>
            </a:r>
          </a:p>
        </p:txBody>
      </p:sp>
      <p:sp>
        <p:nvSpPr>
          <p:cNvPr id="47" name="Oval 46"/>
          <p:cNvSpPr/>
          <p:nvPr/>
        </p:nvSpPr>
        <p:spPr>
          <a:xfrm>
            <a:off x="3139338" y="3641742"/>
            <a:ext cx="3048203" cy="534634"/>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SACCHAROSE MALTOSE</a:t>
            </a:r>
          </a:p>
        </p:txBody>
      </p:sp>
      <p:sp>
        <p:nvSpPr>
          <p:cNvPr id="48" name="Rounded Rectangle 47"/>
          <p:cNvSpPr/>
          <p:nvPr/>
        </p:nvSpPr>
        <p:spPr>
          <a:xfrm>
            <a:off x="9326880" y="1463040"/>
            <a:ext cx="2651760" cy="4846320"/>
          </a:xfrm>
          <a:prstGeom prst="roundRect">
            <a:avLst>
              <a:gd name="adj" fmla="val 8000"/>
            </a:avLst>
          </a:prstGeom>
          <a:solidFill>
            <a:srgbClr val="EFF6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1554480"/>
            <a:ext cx="2560320" cy="457200"/>
          </a:xfrm>
          <a:prstGeom prst="rect">
            <a:avLst/>
          </a:prstGeom>
          <a:noFill/>
        </p:spPr>
        <p:txBody>
          <a:bodyPr wrap="square" anchor="t">
            <a:spAutoFit/>
          </a:bodyPr>
          <a:lstStyle/>
          <a:p>
            <a:pPr algn="ctr">
              <a:spcAft>
                <a:spcPts val="600"/>
              </a:spcAft>
            </a:pPr>
            <a:r>
              <a:rPr sz="1800" b="1">
                <a:solidFill>
                  <a:srgbClr val="1E40AF"/>
                </a:solidFill>
                <a:latin typeface="Arial"/>
              </a:rPr>
              <a:t>QUÉT MÃ CỦNG CỐ</a:t>
            </a:r>
          </a:p>
        </p:txBody>
      </p:sp>
      <p:pic>
        <p:nvPicPr>
          <p:cNvPr id="50" name="Picture 49" descr="QR_hoa_cc_bai5_k12.png"/>
          <p:cNvPicPr>
            <a:picLocks noChangeAspect="1"/>
          </p:cNvPicPr>
          <p:nvPr/>
        </p:nvPicPr>
        <p:blipFill>
          <a:blip r:embed="rId2"/>
          <a:stretch>
            <a:fillRect/>
          </a:stretch>
        </p:blipFill>
        <p:spPr>
          <a:xfrm>
            <a:off x="9464040" y="2103120"/>
            <a:ext cx="2377440" cy="2377440"/>
          </a:xfrm>
          <a:prstGeom prst="rect">
            <a:avLst/>
          </a:prstGeom>
        </p:spPr>
      </p:pic>
      <p:sp>
        <p:nvSpPr>
          <p:cNvPr id="51" name="TextBox 50"/>
          <p:cNvSpPr txBox="1"/>
          <p:nvPr/>
        </p:nvSpPr>
        <p:spPr>
          <a:xfrm>
            <a:off x="9372600" y="4572000"/>
            <a:ext cx="2560320" cy="1645920"/>
          </a:xfrm>
          <a:prstGeom prst="rect">
            <a:avLst/>
          </a:prstGeom>
          <a:noFill/>
        </p:spPr>
        <p:txBody>
          <a:bodyPr wrap="square" anchor="t">
            <a:spAutoFit/>
          </a:bodyPr>
          <a:lstStyle/>
          <a:p>
            <a:pPr algn="ctr">
              <a:spcAft>
                <a:spcPts val="600"/>
              </a:spcAft>
            </a:pPr>
            <a:r>
              <a:rPr sz="1100" b="0">
                <a:solidFill>
                  <a:srgbClr val="1E293B"/>
                </a:solidFill>
                <a:latin typeface="Calibri"/>
              </a:rPr>
              <a:t>6 câu 4 lựa chọn + 1 câu Đúng/Sai</a:t>
            </a:r>
          </a:p>
          <a:p>
            <a:pPr algn="ctr">
              <a:spcAft>
                <a:spcPts val="600"/>
              </a:spcAft>
            </a:pPr>
            <a:r>
              <a:rPr sz="1100" b="0">
                <a:solidFill>
                  <a:srgbClr val="1E293B"/>
                </a:solidFill>
                <a:latin typeface="Calibri"/>
              </a:rPr>
              <a:t>Phòng thi bảo mật – đáp án niêm phong</a:t>
            </a:r>
          </a:p>
          <a:p>
            <a:pPr algn="ctr">
              <a:spcAft>
                <a:spcPts val="600"/>
              </a:spcAft>
            </a:pPr>
            <a:r>
              <a:rPr sz="1100" b="0">
                <a:solidFill>
                  <a:srgbClr val="1E293B"/>
                </a:solidFill>
                <a:latin typeface="Calibri"/>
              </a:rPr>
              <a:t>trangtu66.github.io/Taode_thi_online/hoa_cc_bai5_k12.html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1. CẤU TẠO PHÂN TỬ SACCHAROSE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Công thức phân tử C₁₂H₂₂O₁₁ (disaccharide)</a:t>
            </a:r>
          </a:p>
          <a:p>
            <a:pPr algn="l">
              <a:spcAft>
                <a:spcPts val="600"/>
              </a:spcAft>
            </a:pPr>
            <a:r>
              <a:rPr sz="2400" b="1">
                <a:solidFill>
                  <a:srgbClr val="991B1B"/>
                </a:solidFill>
                <a:latin typeface="Calibri"/>
              </a:rPr>
              <a:t>1 đơn vị α-glucose + 1 đơn vị β-fructose</a:t>
            </a:r>
          </a:p>
          <a:p>
            <a:pPr algn="l">
              <a:spcAft>
                <a:spcPts val="600"/>
              </a:spcAft>
            </a:pPr>
            <a:r>
              <a:rPr sz="2400" b="1">
                <a:solidFill>
                  <a:srgbClr val="991B1B"/>
                </a:solidFill>
                <a:latin typeface="Calibri"/>
              </a:rPr>
              <a:t>Liên kết α-1,2-glycoside (C1 của glucose – C2 của fructose)</a:t>
            </a:r>
          </a:p>
          <a:p>
            <a:pPr algn="l">
              <a:spcAft>
                <a:spcPts val="600"/>
              </a:spcAft>
            </a:pPr>
            <a:r>
              <a:rPr sz="2400" b="0">
                <a:solidFill>
                  <a:srgbClr val="1E293B"/>
                </a:solidFill>
                <a:latin typeface="Calibri"/>
              </a:rPr>
              <a:t>Chỉ tồn tại ở dạng mạch vòng</a:t>
            </a:r>
          </a:p>
        </p:txBody>
      </p:sp>
      <p:pic>
        <p:nvPicPr>
          <p:cNvPr id="7" name="Picture 6" descr="b5_sac.png"/>
          <p:cNvPicPr>
            <a:picLocks noChangeAspect="1"/>
          </p:cNvPicPr>
          <p:nvPr/>
        </p:nvPicPr>
        <p:blipFill>
          <a:blip r:embed="rId2"/>
          <a:stretch>
            <a:fillRect/>
          </a:stretch>
        </p:blipFill>
        <p:spPr>
          <a:xfrm>
            <a:off x="7040880" y="2559375"/>
            <a:ext cx="4846320" cy="192213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Cấu tạo saccharose – SGK Hóa học 12 KNTT, tr.25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2. CẤU TẠO PHÂN TỬ MALTOSE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Công thức phân tử C₁₂H₂₂O₁₁</a:t>
            </a:r>
          </a:p>
          <a:p>
            <a:pPr algn="l">
              <a:spcAft>
                <a:spcPts val="600"/>
              </a:spcAft>
            </a:pPr>
            <a:r>
              <a:rPr sz="2400" b="1">
                <a:solidFill>
                  <a:srgbClr val="991B1B"/>
                </a:solidFill>
                <a:latin typeface="Calibri"/>
              </a:rPr>
              <a:t>2 đơn vị glucose – liên kết α-1,4-glycoside</a:t>
            </a:r>
          </a:p>
          <a:p>
            <a:pPr algn="l">
              <a:spcAft>
                <a:spcPts val="600"/>
              </a:spcAft>
            </a:pPr>
            <a:r>
              <a:rPr sz="2400" b="0">
                <a:solidFill>
                  <a:srgbClr val="1E293B"/>
                </a:solidFill>
                <a:latin typeface="Calibri"/>
              </a:rPr>
              <a:t>Còn 1 nhóm –OH hemiacetal tự do</a:t>
            </a:r>
          </a:p>
          <a:p>
            <a:pPr algn="l">
              <a:spcAft>
                <a:spcPts val="600"/>
              </a:spcAft>
            </a:pPr>
            <a:r>
              <a:rPr sz="2400" b="0">
                <a:solidFill>
                  <a:srgbClr val="1E293B"/>
                </a:solidFill>
                <a:latin typeface="Calibri"/>
              </a:rPr>
              <a:t>Tồn tại ở dạng mở vòng (có –CHO) và mạch vòng</a:t>
            </a:r>
          </a:p>
        </p:txBody>
      </p:sp>
      <p:pic>
        <p:nvPicPr>
          <p:cNvPr id="7" name="Picture 6" descr="3d_maltose.png"/>
          <p:cNvPicPr>
            <a:picLocks noChangeAspect="1"/>
          </p:cNvPicPr>
          <p:nvPr/>
        </p:nvPicPr>
        <p:blipFill>
          <a:blip r:embed="rId2"/>
          <a:stretch>
            <a:fillRect/>
          </a:stretch>
        </p:blipFill>
        <p:spPr>
          <a:xfrm>
            <a:off x="7315200" y="1371600"/>
            <a:ext cx="4297680" cy="429768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Mô hình 3D maltose – PubChem (NIH), CID 439186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Tại sao saccharose chỉ tồn tại ở dạng mạch vòng, trong khi maltose tồn tại đồng thời ở dạng mở vòng và dạng mạch vòng? (SGK tr.25, câu 1)</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Quan sát nhóm –OH hemiacetal (C1 glucose) và hemiketal (C2 fructose) đã tham gia liên kết chưa.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Saccharose: C1 của glucose và C2 của fructose đều tham gia liên kết glycoside</a:t>
            </a:r>
          </a:p>
          <a:p>
            <a:pPr algn="l">
              <a:spcAft>
                <a:spcPts val="600"/>
              </a:spcAft>
            </a:pPr>
            <a:r>
              <a:rPr sz="2300" b="0">
                <a:solidFill>
                  <a:srgbClr val="1E293B"/>
                </a:solidFill>
                <a:latin typeface="Calibri"/>
              </a:rPr>
              <a:t>→ không còn –OH hemiacetal/hemiketal tự do → vòng không mở được</a:t>
            </a:r>
          </a:p>
          <a:p>
            <a:pPr algn="l">
              <a:spcAft>
                <a:spcPts val="600"/>
              </a:spcAft>
            </a:pPr>
            <a:r>
              <a:rPr sz="2300" b="0">
                <a:solidFill>
                  <a:srgbClr val="1E293B"/>
                </a:solidFill>
                <a:latin typeface="Calibri"/>
              </a:rPr>
              <a:t>Maltose: chỉ C1 của đơn vị glucose thứ nhất tham gia liên kết</a:t>
            </a:r>
          </a:p>
          <a:p>
            <a:pPr algn="l">
              <a:spcAft>
                <a:spcPts val="600"/>
              </a:spcAft>
            </a:pPr>
            <a:r>
              <a:rPr sz="2300" b="0">
                <a:solidFill>
                  <a:srgbClr val="1E293B"/>
                </a:solidFill>
                <a:latin typeface="Calibri"/>
              </a:rPr>
              <a:t>→ đơn vị thứ hai còn –OH hemiacetal → vòng mở ra tạo nhóm –CHO</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Saccharose chỉ có dạng vòng; maltose có cả dạng mở vòng.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3. TÍNH CHẤT HOÁ HỌC CỦA SACCHAROSE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0">
                <a:solidFill>
                  <a:srgbClr val="1E293B"/>
                </a:solidFill>
                <a:latin typeface="Calibri"/>
              </a:rPr>
              <a:t>Tính polyalcohol: hoà tan Cu(OH)₂ → dung dịch xanh lam</a:t>
            </a:r>
          </a:p>
          <a:p>
            <a:pPr algn="l">
              <a:spcAft>
                <a:spcPts val="600"/>
              </a:spcAft>
            </a:pPr>
            <a:r>
              <a:rPr sz="2400" b="1">
                <a:solidFill>
                  <a:srgbClr val="991B1B"/>
                </a:solidFill>
                <a:latin typeface="Calibri"/>
              </a:rPr>
              <a:t>2C₁₂H₂₂O₁₁ + Cu(OH)₂ → (C₁₂H₂₁O₁₁)₂Cu + 2H₂O</a:t>
            </a:r>
          </a:p>
          <a:p>
            <a:pPr algn="l">
              <a:spcAft>
                <a:spcPts val="600"/>
              </a:spcAft>
            </a:pPr>
            <a:r>
              <a:rPr sz="2400" b="1">
                <a:solidFill>
                  <a:srgbClr val="991B1B"/>
                </a:solidFill>
                <a:latin typeface="Calibri"/>
              </a:rPr>
              <a:t>Thuỷ phân: C₁₂H₂₂O₁₁ + H₂O → glucose + fructose (enzyme hoặc H⁺)</a:t>
            </a:r>
          </a:p>
          <a:p>
            <a:pPr algn="l">
              <a:spcAft>
                <a:spcPts val="600"/>
              </a:spcAft>
            </a:pPr>
            <a:r>
              <a:rPr sz="2400" b="0">
                <a:solidFill>
                  <a:srgbClr val="1E293B"/>
                </a:solidFill>
                <a:latin typeface="Calibri"/>
              </a:rPr>
              <a:t>Không có phản ứng tráng bạc, không làm mất màu nước Br₂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7" name="TextBox 6"/>
          <p:cNvSpPr txBox="1"/>
          <p:nvPr/>
        </p:nvSpPr>
        <p:spPr>
          <a:xfrm>
            <a:off x="548640" y="1417320"/>
            <a:ext cx="7315200" cy="4023360"/>
          </a:xfrm>
          <a:prstGeom prst="rect">
            <a:avLst/>
          </a:prstGeom>
          <a:noFill/>
        </p:spPr>
        <p:txBody>
          <a:bodyPr wrap="square" anchor="t">
            <a:spAutoFit/>
          </a:bodyPr>
          <a:lstStyle/>
          <a:p>
            <a:pPr algn="l">
              <a:spcAft>
                <a:spcPts val="600"/>
              </a:spcAft>
            </a:pPr>
            <a:r>
              <a:rPr sz="2400" b="0">
                <a:solidFill>
                  <a:srgbClr val="1E293B"/>
                </a:solidFill>
                <a:latin typeface="Calibri"/>
              </a:rPr>
              <a:t>Dung dịch saccharose không phản ứng với thuốc thử Tollens nhưng khi đun nóng với dung dịch acid loãng thì tạo thành dung dịch phản ứng với thuốc thử Tollens. Giải thích. (SGK tr.26, câu 2)</a:t>
            </a:r>
          </a:p>
        </p:txBody>
      </p:sp>
      <p:pic>
        <p:nvPicPr>
          <p:cNvPr id="8" name="Picture 7" descr="b5_sac.png"/>
          <p:cNvPicPr>
            <a:picLocks noChangeAspect="1"/>
          </p:cNvPicPr>
          <p:nvPr/>
        </p:nvPicPr>
        <p:blipFill>
          <a:blip r:embed="rId2"/>
          <a:stretch>
            <a:fillRect/>
          </a:stretch>
        </p:blipFill>
        <p:spPr>
          <a:xfrm>
            <a:off x="8046720" y="2621681"/>
            <a:ext cx="3840480" cy="1523197"/>
          </a:xfrm>
          <a:prstGeom prst="rect">
            <a:avLst/>
          </a:prstGeom>
        </p:spPr>
      </p:pic>
      <p:sp>
        <p:nvSpPr>
          <p:cNvPr id="9" name="Rounded Rectangle 8"/>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Sản phẩm thuỷ phân saccharose là gì? Chúng có tráng bạc không?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Saccharose không có dạng mở vòng → không có –CHO → không tráng bạc</a:t>
            </a:r>
          </a:p>
          <a:p>
            <a:pPr algn="l">
              <a:spcAft>
                <a:spcPts val="600"/>
              </a:spcAft>
            </a:pPr>
            <a:r>
              <a:rPr sz="2300" b="0">
                <a:solidFill>
                  <a:srgbClr val="1E293B"/>
                </a:solidFill>
                <a:latin typeface="Calibri"/>
              </a:rPr>
              <a:t>Đun với acid: C₁₂H₂₂O₁₁ + H₂O → C₆H₁₂O₆ (glucose) + C₆H₁₂O₆ (fructose)</a:t>
            </a:r>
          </a:p>
          <a:p>
            <a:pPr algn="l">
              <a:spcAft>
                <a:spcPts val="600"/>
              </a:spcAft>
            </a:pPr>
            <a:r>
              <a:rPr sz="2300" b="0">
                <a:solidFill>
                  <a:srgbClr val="1E293B"/>
                </a:solidFill>
                <a:latin typeface="Calibri"/>
              </a:rPr>
              <a:t>Glucose, fructose đều phản ứng với thuốc thử Tollens → kết tủa Ag</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Sản phẩm thuỷ phân (glucose, fructose) gây phản ứng tráng bạc.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Thuỷ phân hoàn toàn 34,2 g saccharose, lấy toàn bộ sản phẩm cho tác dụng với lượng dư thuốc thử Tollens.</a:t>
            </a:r>
          </a:p>
          <a:p>
            <a:pPr algn="l">
              <a:spcAft>
                <a:spcPts val="600"/>
              </a:spcAft>
            </a:pPr>
            <a:r>
              <a:rPr sz="2400" b="0">
                <a:solidFill>
                  <a:srgbClr val="1E293B"/>
                </a:solidFill>
                <a:latin typeface="Calibri"/>
              </a:rPr>
              <a:t>Tính khối lượng Ag thu được.</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1 saccharose → 1 glucose + 1 fructose; mỗi chất → 2Ag.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n(C₁₂H₂₂O₁₁) = 34,2 : 342 = 0,1 mol</a:t>
            </a:r>
          </a:p>
          <a:p>
            <a:pPr algn="l">
              <a:spcAft>
                <a:spcPts val="600"/>
              </a:spcAft>
            </a:pPr>
            <a:r>
              <a:rPr sz="2300" b="0">
                <a:solidFill>
                  <a:srgbClr val="1E293B"/>
                </a:solidFill>
                <a:latin typeface="Calibri"/>
              </a:rPr>
              <a:t>→ n(glucose) = n(fructose) = 0,1 mol</a:t>
            </a:r>
          </a:p>
          <a:p>
            <a:pPr algn="l">
              <a:spcAft>
                <a:spcPts val="600"/>
              </a:spcAft>
            </a:pPr>
            <a:r>
              <a:rPr sz="2300" b="0">
                <a:solidFill>
                  <a:srgbClr val="1E293B"/>
                </a:solidFill>
                <a:latin typeface="Calibri"/>
              </a:rPr>
              <a:t>n(Ag) = 2 · (0,1 + 0,1) = 0,4 mol</a:t>
            </a:r>
          </a:p>
          <a:p>
            <a:pPr algn="l">
              <a:spcAft>
                <a:spcPts val="600"/>
              </a:spcAft>
            </a:pPr>
            <a:r>
              <a:rPr sz="2300" b="0">
                <a:solidFill>
                  <a:srgbClr val="1E293B"/>
                </a:solidFill>
                <a:latin typeface="Calibri"/>
              </a:rPr>
              <a:t>m(Ag) = 0,4 · 108</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m(Ag) = 43,2 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4. TRẠNG THÁI TỰ NHIÊN VÀ ỨNG DỤNG</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Saccharose: chất rắn, vị ngọt, dễ tan; nhiều trong mía, củ cải đường, hoa thốt nốt</a:t>
            </a:r>
          </a:p>
          <a:p>
            <a:pPr algn="l">
              <a:spcAft>
                <a:spcPts val="600"/>
              </a:spcAft>
            </a:pPr>
            <a:r>
              <a:rPr sz="2400" b="0">
                <a:solidFill>
                  <a:srgbClr val="1E293B"/>
                </a:solidFill>
                <a:latin typeface="Calibri"/>
              </a:rPr>
              <a:t>Dùng làm chất ngọt: bánh, kẹo, nước giải khát</a:t>
            </a:r>
          </a:p>
          <a:p>
            <a:pPr algn="l">
              <a:spcAft>
                <a:spcPts val="600"/>
              </a:spcAft>
            </a:pPr>
            <a:r>
              <a:rPr sz="2400" b="0">
                <a:solidFill>
                  <a:srgbClr val="1E293B"/>
                </a:solidFill>
                <a:latin typeface="Calibri"/>
              </a:rPr>
              <a:t>Maltose: chất rắn, vị ngọt; có trong hạt nảy mầm; tạo ra khi thuỷ phân tinh bột</a:t>
            </a:r>
          </a:p>
          <a:p>
            <a:pPr algn="l">
              <a:spcAft>
                <a:spcPts val="600"/>
              </a:spcAft>
            </a:pPr>
            <a:r>
              <a:rPr sz="2400" b="0">
                <a:solidFill>
                  <a:srgbClr val="1E293B"/>
                </a:solidFill>
                <a:latin typeface="Calibri"/>
              </a:rPr>
              <a:t>Maltose: nguyên liệu sản xuất bia, chất tạo ngọt bánh kẹo</a:t>
            </a:r>
          </a:p>
          <a:p>
            <a:pPr algn="l">
              <a:spcAft>
                <a:spcPts val="600"/>
              </a:spcAft>
            </a:pPr>
            <a:r>
              <a:rPr sz="2400" b="1">
                <a:solidFill>
                  <a:srgbClr val="991B1B"/>
                </a:solidFill>
                <a:latin typeface="Calibri"/>
              </a:rPr>
              <a:t>Sử dụng đường hợp lí để bảo vệ sức khoẻ</a:t>
            </a:r>
          </a:p>
        </p:txBody>
      </p:sp>
      <p:pic>
        <p:nvPicPr>
          <p:cNvPr id="7" name="Picture 6" descr="b5_h52.png"/>
          <p:cNvPicPr>
            <a:picLocks noChangeAspect="1"/>
          </p:cNvPicPr>
          <p:nvPr/>
        </p:nvPicPr>
        <p:blipFill>
          <a:blip r:embed="rId2"/>
          <a:stretch>
            <a:fillRect/>
          </a:stretch>
        </p:blipFill>
        <p:spPr>
          <a:xfrm>
            <a:off x="7040880" y="2334122"/>
            <a:ext cx="4846320" cy="2372635"/>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Hình 5.2. Mạch nha chứa maltose – SGK Hóa học 12 KNTT, tr.27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VIDEO THAM KHẢO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Đã kiểm tra liên kết (YouTube oEmbed) – xem trên lớp hoặc ở nhà</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5. Saccharose và maltose</a:t>
            </a:r>
          </a:p>
        </p:txBody>
      </p:sp>
      <p:pic>
        <p:nvPicPr>
          <p:cNvPr id="7" name="Picture 6" descr="_qr_vid_5_0.png"/>
          <p:cNvPicPr>
            <a:picLocks noChangeAspect="1"/>
          </p:cNvPicPr>
          <p:nvPr/>
        </p:nvPicPr>
        <p:blipFill>
          <a:blip r:embed="rId2"/>
          <a:stretch>
            <a:fillRect/>
          </a:stretch>
        </p:blipFill>
        <p:spPr>
          <a:xfrm>
            <a:off x="548640" y="1463040"/>
            <a:ext cx="1417320" cy="1417320"/>
          </a:xfrm>
          <a:prstGeom prst="rect">
            <a:avLst/>
          </a:prstGeom>
        </p:spPr>
      </p:pic>
      <p:sp>
        <p:nvSpPr>
          <p:cNvPr id="8" name="TextBox 7"/>
          <p:cNvSpPr txBox="1"/>
          <p:nvPr/>
        </p:nvSpPr>
        <p:spPr>
          <a:xfrm>
            <a:off x="2194560" y="146304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Phản ứng của Saccharose với Cu(OH)2 | Hoá học 12</a:t>
            </a:r>
          </a:p>
          <a:p>
            <a:pPr algn="l">
              <a:spcAft>
                <a:spcPts val="600"/>
              </a:spcAft>
            </a:pPr>
            <a:r>
              <a:rPr sz="1600" b="0">
                <a:solidFill>
                  <a:srgbClr val="1E293B"/>
                </a:solidFill>
                <a:latin typeface="Calibri"/>
              </a:rPr>
              <a:t>Kênh: Học Hóa Cùng Cô Ly · Dùng ở: HĐ2.2 – Saccharose với Cu(OH)₂</a:t>
            </a:r>
          </a:p>
          <a:p>
            <a:pPr algn="l">
              <a:spcAft>
                <a:spcPts val="600"/>
              </a:spcAft>
            </a:pPr>
            <a:r>
              <a:rPr sz="1600" b="0">
                <a:solidFill>
                  <a:srgbClr val="1E293B"/>
                </a:solidFill>
                <a:latin typeface="Calibri"/>
              </a:rPr>
              <a:t>https://www.youtube.com/watch?v=9XZfytvk0MM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155680" cy="914400"/>
          </a:xfrm>
          <a:prstGeom prst="rect">
            <a:avLst/>
          </a:prstGeom>
          <a:noFill/>
        </p:spPr>
        <p:txBody>
          <a:bodyPr wrap="square" anchor="t">
            <a:spAutoFit/>
          </a:bodyPr>
          <a:lstStyle/>
          <a:p>
            <a:pPr algn="ctr">
              <a:spcAft>
                <a:spcPts val="600"/>
              </a:spcAft>
            </a:pPr>
            <a:r>
              <a:rPr sz="4000" b="1">
                <a:solidFill>
                  <a:srgbClr val="1E40AF"/>
                </a:solidFill>
                <a:latin typeface="Arial"/>
              </a:rPr>
              <a:t>BÀI TẬP CỦA BẠN</a:t>
            </a:r>
          </a:p>
        </p:txBody>
      </p:sp>
      <p:sp>
        <p:nvSpPr>
          <p:cNvPr id="4" name="Rounded Rectangle 3"/>
          <p:cNvSpPr/>
          <p:nvPr/>
        </p:nvSpPr>
        <p:spPr>
          <a:xfrm>
            <a:off x="4023360" y="1463040"/>
            <a:ext cx="4114800" cy="4114800"/>
          </a:xfrm>
          <a:prstGeom prst="roundRect">
            <a:avLst>
              <a:gd name="adj" fmla="val 6000"/>
            </a:avLst>
          </a:prstGeom>
          <a:solidFill>
            <a:srgbClr val="FFFFFF"/>
          </a:solidFill>
          <a:ln w="381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_hoa_cc_bai5_k12.png"/>
          <p:cNvPicPr>
            <a:picLocks noChangeAspect="1"/>
          </p:cNvPicPr>
          <p:nvPr/>
        </p:nvPicPr>
        <p:blipFill>
          <a:blip r:embed="rId2"/>
          <a:stretch>
            <a:fillRect/>
          </a:stretch>
        </p:blipFill>
        <p:spPr>
          <a:xfrm>
            <a:off x="4251960" y="1691640"/>
            <a:ext cx="3657600" cy="3657600"/>
          </a:xfrm>
          <a:prstGeom prst="rect">
            <a:avLst/>
          </a:prstGeom>
        </p:spPr>
      </p:pic>
      <p:sp>
        <p:nvSpPr>
          <p:cNvPr id="6" name="TextBox 5"/>
          <p:cNvSpPr txBox="1"/>
          <p:nvPr/>
        </p:nvSpPr>
        <p:spPr>
          <a:xfrm>
            <a:off x="548640" y="5669280"/>
            <a:ext cx="11155680" cy="457200"/>
          </a:xfrm>
          <a:prstGeom prst="rect">
            <a:avLst/>
          </a:prstGeom>
          <a:noFill/>
        </p:spPr>
        <p:txBody>
          <a:bodyPr wrap="square" anchor="t">
            <a:spAutoFit/>
          </a:bodyPr>
          <a:lstStyle/>
          <a:p>
            <a:pPr algn="ctr">
              <a:spcAft>
                <a:spcPts val="600"/>
              </a:spcAft>
            </a:pPr>
            <a:r>
              <a:rPr sz="2200" b="1">
                <a:solidFill>
                  <a:srgbClr val="1E40AF"/>
                </a:solidFill>
                <a:latin typeface="Calibri"/>
              </a:rPr>
              <a:t>trangtu66.github.io/Taode_thi_online/hoa_cc_bai5_k12.html</a:t>
            </a:r>
          </a:p>
        </p:txBody>
      </p:sp>
      <p:sp>
        <p:nvSpPr>
          <p:cNvPr id="7" name="TextBox 6"/>
          <p:cNvSpPr txBox="1"/>
          <p:nvPr/>
        </p:nvSpPr>
        <p:spPr>
          <a:xfrm>
            <a:off x="548640" y="6126480"/>
            <a:ext cx="11155680" cy="457200"/>
          </a:xfrm>
          <a:prstGeom prst="rect">
            <a:avLst/>
          </a:prstGeom>
          <a:noFill/>
        </p:spPr>
        <p:txBody>
          <a:bodyPr wrap="square" anchor="t">
            <a:spAutoFit/>
          </a:bodyPr>
          <a:lstStyle/>
          <a:p>
            <a:pPr algn="ctr">
              <a:spcAft>
                <a:spcPts val="600"/>
              </a:spcAft>
            </a:pPr>
            <a:r>
              <a:rPr sz="1600" b="0">
                <a:solidFill>
                  <a:srgbClr val="64748B"/>
                </a:solidFill>
                <a:latin typeface="Calibri"/>
              </a:rPr>
              <a:t>Quét mã bằng điện thoại · 6 câu 4 lựa chọn + 1 câu Đúng/Sai · Kết quả gửi về GV tự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5. Saccharose và maltose</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