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56832"/>
            <a:ext cx="12191695" cy="2011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509760" y="548640"/>
            <a:ext cx="2194560" cy="2194560"/>
          </a:xfrm>
          <a:prstGeom prst="ellipse">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2194560"/>
            <a:ext cx="1371600" cy="13716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2926080"/>
            <a:ext cx="1005840" cy="10058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48640"/>
            <a:ext cx="8229600" cy="457200"/>
          </a:xfrm>
          <a:prstGeom prst="rect">
            <a:avLst/>
          </a:prstGeom>
          <a:noFill/>
        </p:spPr>
        <p:txBody>
          <a:bodyPr wrap="square" anchor="t">
            <a:spAutoFit/>
          </a:bodyPr>
          <a:lstStyle/>
          <a:p>
            <a:pPr algn="l">
              <a:spcAft>
                <a:spcPts val="600"/>
              </a:spcAft>
            </a:pPr>
            <a:r>
              <a:rPr sz="2000" b="0">
                <a:solidFill>
                  <a:srgbClr val="1E40AF"/>
                </a:solidFill>
                <a:latin typeface="Arial"/>
              </a:rPr>
              <a:t>Chương 1. Ester – Lipid</a:t>
            </a:r>
          </a:p>
        </p:txBody>
      </p:sp>
      <p:sp>
        <p:nvSpPr>
          <p:cNvPr id="8" name="TextBox 7"/>
          <p:cNvSpPr txBox="1"/>
          <p:nvPr/>
        </p:nvSpPr>
        <p:spPr>
          <a:xfrm>
            <a:off x="731520" y="1463040"/>
            <a:ext cx="8778240" cy="2377440"/>
          </a:xfrm>
          <a:prstGeom prst="rect">
            <a:avLst/>
          </a:prstGeom>
          <a:noFill/>
        </p:spPr>
        <p:txBody>
          <a:bodyPr wrap="square" anchor="ctr">
            <a:spAutoFit/>
          </a:bodyPr>
          <a:lstStyle/>
          <a:p>
            <a:pPr algn="l">
              <a:spcAft>
                <a:spcPts val="600"/>
              </a:spcAft>
            </a:pPr>
            <a:r>
              <a:rPr sz="4000" b="1">
                <a:solidFill>
                  <a:srgbClr val="1E40AF"/>
                </a:solidFill>
                <a:latin typeface="Arial"/>
              </a:rPr>
              <a:t>BÀI 1. ESTER – LIPID</a:t>
            </a:r>
          </a:p>
        </p:txBody>
      </p:sp>
      <p:sp>
        <p:nvSpPr>
          <p:cNvPr id="9" name="TextBox 8"/>
          <p:cNvSpPr txBox="1"/>
          <p:nvPr/>
        </p:nvSpPr>
        <p:spPr>
          <a:xfrm>
            <a:off x="731520" y="4114800"/>
            <a:ext cx="8778240" cy="548640"/>
          </a:xfrm>
          <a:prstGeom prst="rect">
            <a:avLst/>
          </a:prstGeom>
          <a:noFill/>
        </p:spPr>
        <p:txBody>
          <a:bodyPr wrap="square" anchor="t">
            <a:spAutoFit/>
          </a:bodyPr>
          <a:lstStyle/>
          <a:p>
            <a:pPr algn="l">
              <a:spcAft>
                <a:spcPts val="600"/>
              </a:spcAft>
            </a:pPr>
            <a:r>
              <a:rPr sz="2200" b="0">
                <a:solidFill>
                  <a:srgbClr val="1E293B"/>
                </a:solidFill>
                <a:latin typeface="Calibri"/>
              </a:rPr>
              <a:t>Hóa học 12 · Kết nối tri thức với cuộc sống · Tuần 1 · Tiết 1–2</a:t>
            </a:r>
          </a:p>
        </p:txBody>
      </p:sp>
      <p:sp>
        <p:nvSpPr>
          <p:cNvPr id="10" name="TextBox 9"/>
          <p:cNvSpPr txBox="1"/>
          <p:nvPr/>
        </p:nvSpPr>
        <p:spPr>
          <a:xfrm>
            <a:off x="731520" y="4754880"/>
            <a:ext cx="8778240" cy="822960"/>
          </a:xfrm>
          <a:prstGeom prst="rect">
            <a:avLst/>
          </a:prstGeom>
          <a:noFill/>
        </p:spPr>
        <p:txBody>
          <a:bodyPr wrap="square" anchor="t">
            <a:spAutoFit/>
          </a:bodyPr>
          <a:lstStyle/>
          <a:p>
            <a:pPr algn="l">
              <a:spcAft>
                <a:spcPts val="600"/>
              </a:spcAft>
            </a:pPr>
            <a:r>
              <a:rPr sz="2000" b="1">
                <a:solidFill>
                  <a:srgbClr val="991B1B"/>
                </a:solidFill>
                <a:latin typeface="Calibri"/>
              </a:rPr>
              <a:t>Tích hợp STEM: NẾN THƠM XINH XẮN TẶNG NGƯỜI PHỤ NỮ XINH YÊU</a:t>
            </a:r>
          </a:p>
        </p:txBody>
      </p:sp>
      <p:sp>
        <p:nvSpPr>
          <p:cNvPr id="11" name="TextBox 10"/>
          <p:cNvSpPr txBox="1"/>
          <p:nvPr/>
        </p:nvSpPr>
        <p:spPr>
          <a:xfrm>
            <a:off x="731520" y="5852160"/>
            <a:ext cx="8778240" cy="457200"/>
          </a:xfrm>
          <a:prstGeom prst="rect">
            <a:avLst/>
          </a:prstGeom>
          <a:noFill/>
        </p:spPr>
        <p:txBody>
          <a:bodyPr wrap="square" anchor="t">
            <a:spAutoFit/>
          </a:bodyPr>
          <a:lstStyle/>
          <a:p>
            <a:pPr algn="l">
              <a:spcAft>
                <a:spcPts val="600"/>
              </a:spcAft>
            </a:pPr>
            <a:r>
              <a:rPr sz="1600" b="0">
                <a:solidFill>
                  <a:srgbClr val="64748B"/>
                </a:solidFill>
                <a:latin typeface="Calibri"/>
              </a:rPr>
              <a:t>Trường THPT · Tổ Lý – Hóa – Công nghệ · Biên soạn: TTT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MỤC TIÊU BÀI HỌC</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1. Ester – Lipid</a:t>
            </a:r>
          </a:p>
        </p:txBody>
      </p:sp>
      <p:sp>
        <p:nvSpPr>
          <p:cNvPr id="6" name="TextBox 5"/>
          <p:cNvSpPr txBox="1"/>
          <p:nvPr/>
        </p:nvSpPr>
        <p:spPr>
          <a:xfrm>
            <a:off x="548640" y="1325880"/>
            <a:ext cx="11155680" cy="5029200"/>
          </a:xfrm>
          <a:prstGeom prst="rect">
            <a:avLst/>
          </a:prstGeom>
          <a:noFill/>
        </p:spPr>
        <p:txBody>
          <a:bodyPr wrap="square" anchor="t">
            <a:spAutoFit/>
          </a:bodyPr>
          <a:lstStyle/>
          <a:p>
            <a:pPr algn="l">
              <a:spcAft>
                <a:spcPts val="600"/>
              </a:spcAft>
            </a:pPr>
            <a:r>
              <a:rPr sz="2300" b="0">
                <a:solidFill>
                  <a:srgbClr val="1E293B"/>
                </a:solidFill>
                <a:latin typeface="Calibri"/>
              </a:rPr>
              <a:t>✔  Nêu được khái niệm, đặc điểm cấu tạo ester; lipid, chất béo, acid béo</a:t>
            </a:r>
          </a:p>
          <a:p>
            <a:pPr algn="l">
              <a:spcAft>
                <a:spcPts val="600"/>
              </a:spcAft>
            </a:pPr>
            <a:r>
              <a:rPr sz="2300" b="0">
                <a:solidFill>
                  <a:srgbClr val="1E293B"/>
                </a:solidFill>
                <a:latin typeface="Calibri"/>
              </a:rPr>
              <a:t>✔  Viết CTCT, gọi tên ester đơn giản (C ≤ 5) và thường gặp</a:t>
            </a:r>
          </a:p>
          <a:p>
            <a:pPr algn="l">
              <a:spcAft>
                <a:spcPts val="600"/>
              </a:spcAft>
            </a:pPr>
            <a:r>
              <a:rPr sz="2300" b="0">
                <a:solidFill>
                  <a:srgbClr val="1E293B"/>
                </a:solidFill>
                <a:latin typeface="Calibri"/>
              </a:rPr>
              <a:t>✔  Trình bày tính chất vật lí, phản ứng thuỷ phân của ester</a:t>
            </a:r>
          </a:p>
          <a:p>
            <a:pPr algn="l">
              <a:spcAft>
                <a:spcPts val="600"/>
              </a:spcAft>
            </a:pPr>
            <a:r>
              <a:rPr sz="2300" b="0">
                <a:solidFill>
                  <a:srgbClr val="1E293B"/>
                </a:solidFill>
                <a:latin typeface="Calibri"/>
              </a:rPr>
              <a:t>✔  Trình bày phản ứng hydrogen hoá, oxi hoá chất béo; điều chế, ứng dụng</a:t>
            </a:r>
          </a:p>
          <a:p>
            <a:pPr algn="l">
              <a:spcAft>
                <a:spcPts val="600"/>
              </a:spcAft>
            </a:pPr>
            <a:r>
              <a:rPr sz="2300" b="0">
                <a:solidFill>
                  <a:srgbClr val="1E293B"/>
                </a:solidFill>
                <a:latin typeface="Calibri"/>
              </a:rPr>
              <a:t>✔  Ứng dụng của chất béo, acid béo omega-3, omega-6</a:t>
            </a:r>
          </a:p>
          <a:p>
            <a:pPr algn="l">
              <a:spcAft>
                <a:spcPts val="600"/>
              </a:spcAft>
            </a:pPr>
            <a:r>
              <a:rPr sz="2300" b="0">
                <a:solidFill>
                  <a:srgbClr val="1E293B"/>
                </a:solidFill>
                <a:latin typeface="Calibri"/>
              </a:rPr>
              <a:t>✔  STEM: thiết kế – chế tạo nến thơm từ sáp tự nhiên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KHỞI ĐỘNG – EM CÓ BIẾT?</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Suy nghĩ, dự đoán – chưa cần trả lời ngay</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1. Ester – Lipid</a:t>
            </a:r>
          </a:p>
        </p:txBody>
      </p:sp>
      <p:sp>
        <p:nvSpPr>
          <p:cNvPr id="7" name="Rounded Rectangle 6"/>
          <p:cNvSpPr/>
          <p:nvPr/>
        </p:nvSpPr>
        <p:spPr>
          <a:xfrm>
            <a:off x="548640" y="1600200"/>
            <a:ext cx="6766560" cy="4480560"/>
          </a:xfrm>
          <a:prstGeom prst="roundRect">
            <a:avLst>
              <a:gd name="adj" fmla="val 6000"/>
            </a:avLst>
          </a:prstGeom>
          <a:solidFill>
            <a:srgbClr val="FFF7ED"/>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6309360" cy="4114800"/>
          </a:xfrm>
          <a:prstGeom prst="rect">
            <a:avLst/>
          </a:prstGeom>
          <a:noFill/>
        </p:spPr>
        <p:txBody>
          <a:bodyPr wrap="square" anchor="t">
            <a:spAutoFit/>
          </a:bodyPr>
          <a:lstStyle/>
          <a:p>
            <a:pPr algn="l">
              <a:spcAft>
                <a:spcPts val="600"/>
              </a:spcAft>
            </a:pPr>
            <a:r>
              <a:rPr sz="2400" b="0">
                <a:solidFill>
                  <a:srgbClr val="1E293B"/>
                </a:solidFill>
                <a:latin typeface="Calibri"/>
              </a:rPr>
              <a:t>Một số ester như ethyl butyrate, benzyl acetate, linalyl acetate, geranyl acetate,… có mùi thơm nên được dùng làm hương liệu. Chất béo là thức ăn quan trọng của con người.
Vậy ester và chất béo là gì? Chúng có tính chất vật lí và hoá học cơ bản nào?</a:t>
            </a:r>
          </a:p>
        </p:txBody>
      </p:sp>
      <p:pic>
        <p:nvPicPr>
          <p:cNvPr id="9" name="Picture 8" descr="b1_h11.png"/>
          <p:cNvPicPr>
            <a:picLocks noChangeAspect="1"/>
          </p:cNvPicPr>
          <p:nvPr/>
        </p:nvPicPr>
        <p:blipFill>
          <a:blip r:embed="rId2"/>
          <a:stretch>
            <a:fillRect/>
          </a:stretch>
        </p:blipFill>
        <p:spPr>
          <a:xfrm>
            <a:off x="7589520" y="2976994"/>
            <a:ext cx="4206240" cy="1726971"/>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SƠ ĐỒ TƯ DUY BÀI HỌC</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Bản đồ kiến thức của bài – quét mã QR để làm bài củng cố</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1. Ester – Lipid</a:t>
            </a:r>
          </a:p>
        </p:txBody>
      </p:sp>
      <p:cxnSp>
        <p:nvCxnSpPr>
          <p:cNvPr id="7" name="Connector 6"/>
          <p:cNvCxnSpPr/>
          <p:nvPr/>
        </p:nvCxnSpPr>
        <p:spPr>
          <a:xfrm flipH="1" flipV="1">
            <a:off x="3369056" y="2713024"/>
            <a:ext cx="1294384" cy="1196036"/>
          </a:xfrm>
          <a:prstGeom prst="line">
            <a:avLst/>
          </a:prstGeom>
          <a:ln w="44450">
            <a:solidFill>
              <a:srgbClr val="54823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2180894" y="1895510"/>
            <a:ext cx="1188162" cy="817514"/>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74065" y="1725030"/>
            <a:ext cx="1506829" cy="340959"/>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RCOOR' (R' ≠ H)</a:t>
            </a:r>
          </a:p>
        </p:txBody>
      </p:sp>
      <p:cxnSp>
        <p:nvCxnSpPr>
          <p:cNvPr id="10" name="Connector 9"/>
          <p:cNvCxnSpPr/>
          <p:nvPr/>
        </p:nvCxnSpPr>
        <p:spPr>
          <a:xfrm flipH="1" flipV="1">
            <a:off x="2180894" y="2406949"/>
            <a:ext cx="1188162" cy="306075"/>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74065" y="2135759"/>
            <a:ext cx="1506829" cy="542381"/>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Tên: gốc R' +</a:t>
            </a:r>
          </a:p>
          <a:p>
            <a:pPr algn="ctr"/>
            <a:r>
              <a:rPr sz="1300" b="0">
                <a:solidFill>
                  <a:srgbClr val="000000"/>
                </a:solidFill>
                <a:latin typeface="Calibri"/>
              </a:rPr>
              <a:t>gốc acid (-ate)</a:t>
            </a:r>
          </a:p>
        </p:txBody>
      </p:sp>
      <p:cxnSp>
        <p:nvCxnSpPr>
          <p:cNvPr id="12" name="Connector 11"/>
          <p:cNvCxnSpPr/>
          <p:nvPr/>
        </p:nvCxnSpPr>
        <p:spPr>
          <a:xfrm flipH="1">
            <a:off x="2309672" y="2713024"/>
            <a:ext cx="1059384" cy="306075"/>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45287" y="2747909"/>
            <a:ext cx="1764385" cy="542381"/>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t° sôi thấp (không</a:t>
            </a:r>
          </a:p>
          <a:p>
            <a:pPr algn="ctr"/>
            <a:r>
              <a:rPr sz="1300" b="0">
                <a:solidFill>
                  <a:srgbClr val="000000"/>
                </a:solidFill>
                <a:latin typeface="Calibri"/>
              </a:rPr>
              <a:t>có LK H)</a:t>
            </a:r>
          </a:p>
        </p:txBody>
      </p:sp>
      <p:cxnSp>
        <p:nvCxnSpPr>
          <p:cNvPr id="14" name="Connector 13"/>
          <p:cNvCxnSpPr/>
          <p:nvPr/>
        </p:nvCxnSpPr>
        <p:spPr>
          <a:xfrm flipH="1">
            <a:off x="2266746" y="2713024"/>
            <a:ext cx="1102310" cy="817515"/>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88213" y="3360059"/>
            <a:ext cx="1678533" cy="340959"/>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Mùi thơm hoa, quả</a:t>
            </a:r>
          </a:p>
        </p:txBody>
      </p:sp>
      <p:sp>
        <p:nvSpPr>
          <p:cNvPr id="16" name="Oval 15"/>
          <p:cNvSpPr/>
          <p:nvPr/>
        </p:nvSpPr>
        <p:spPr>
          <a:xfrm>
            <a:off x="2774137" y="2474758"/>
            <a:ext cx="1189837" cy="476531"/>
          </a:xfrm>
          <a:prstGeom prst="ellipse">
            <a:avLst/>
          </a:prstGeom>
          <a:solidFill>
            <a:srgbClr val="E2EFDA"/>
          </a:solidFill>
          <a:ln w="3175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① Ester</a:t>
            </a:r>
          </a:p>
        </p:txBody>
      </p:sp>
      <p:cxnSp>
        <p:nvCxnSpPr>
          <p:cNvPr id="17" name="Connector 16"/>
          <p:cNvCxnSpPr/>
          <p:nvPr/>
        </p:nvCxnSpPr>
        <p:spPr>
          <a:xfrm flipV="1">
            <a:off x="4663440" y="2713024"/>
            <a:ext cx="1294384" cy="1196036"/>
          </a:xfrm>
          <a:prstGeom prst="line">
            <a:avLst/>
          </a:prstGeom>
          <a:ln w="44450">
            <a:solidFill>
              <a:srgbClr val="BF8F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957824" y="1895510"/>
            <a:ext cx="861263" cy="817514"/>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819087" y="1624319"/>
            <a:ext cx="2160625" cy="542381"/>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1">
                <a:solidFill>
                  <a:srgbClr val="8B0000"/>
                </a:solidFill>
                <a:latin typeface="Calibri"/>
              </a:rPr>
              <a:t>Thuỷ phân/acid: thuận</a:t>
            </a:r>
          </a:p>
          <a:p>
            <a:pPr algn="ctr"/>
            <a:r>
              <a:rPr sz="1300" b="1">
                <a:solidFill>
                  <a:srgbClr val="8B0000"/>
                </a:solidFill>
                <a:latin typeface="Calibri"/>
              </a:rPr>
              <a:t>nghịch</a:t>
            </a:r>
          </a:p>
        </p:txBody>
      </p:sp>
      <p:cxnSp>
        <p:nvCxnSpPr>
          <p:cNvPr id="20" name="Connector 19"/>
          <p:cNvCxnSpPr/>
          <p:nvPr/>
        </p:nvCxnSpPr>
        <p:spPr>
          <a:xfrm flipV="1">
            <a:off x="5957824" y="2406949"/>
            <a:ext cx="768807" cy="306075"/>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726631" y="2236469"/>
            <a:ext cx="2345537" cy="340959"/>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1">
                <a:solidFill>
                  <a:srgbClr val="8B0000"/>
                </a:solidFill>
                <a:latin typeface="Calibri"/>
              </a:rPr>
              <a:t>Thuỷ phân/base: 1 chiều</a:t>
            </a:r>
          </a:p>
        </p:txBody>
      </p:sp>
      <p:cxnSp>
        <p:nvCxnSpPr>
          <p:cNvPr id="22" name="Connector 21"/>
          <p:cNvCxnSpPr/>
          <p:nvPr/>
        </p:nvCxnSpPr>
        <p:spPr>
          <a:xfrm>
            <a:off x="5957824" y="2713024"/>
            <a:ext cx="1016457" cy="205364"/>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974281" y="2647198"/>
            <a:ext cx="1850237" cy="542381"/>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Điều chế: ester hoá</a:t>
            </a:r>
          </a:p>
          <a:p>
            <a:pPr algn="ctr"/>
            <a:r>
              <a:rPr sz="1300" b="0">
                <a:solidFill>
                  <a:srgbClr val="000000"/>
                </a:solidFill>
                <a:latin typeface="Calibri"/>
              </a:rPr>
              <a:t>(H₂SO₄ đ)</a:t>
            </a:r>
          </a:p>
        </p:txBody>
      </p:sp>
      <p:cxnSp>
        <p:nvCxnSpPr>
          <p:cNvPr id="24" name="Connector 23"/>
          <p:cNvCxnSpPr/>
          <p:nvPr/>
        </p:nvCxnSpPr>
        <p:spPr>
          <a:xfrm>
            <a:off x="5957824" y="2713024"/>
            <a:ext cx="930605" cy="817515"/>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888429" y="3259348"/>
            <a:ext cx="2021941" cy="542381"/>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Ứng dụng: hương liệu,</a:t>
            </a:r>
          </a:p>
          <a:p>
            <a:pPr algn="ctr"/>
            <a:r>
              <a:rPr sz="1300" b="0">
                <a:solidFill>
                  <a:srgbClr val="000000"/>
                </a:solidFill>
                <a:latin typeface="Calibri"/>
              </a:rPr>
              <a:t>dung môi</a:t>
            </a:r>
          </a:p>
        </p:txBody>
      </p:sp>
      <p:sp>
        <p:nvSpPr>
          <p:cNvPr id="26" name="Oval 25"/>
          <p:cNvSpPr/>
          <p:nvPr/>
        </p:nvSpPr>
        <p:spPr>
          <a:xfrm>
            <a:off x="4946853" y="2306261"/>
            <a:ext cx="2021941" cy="813526"/>
          </a:xfrm>
          <a:prstGeom prst="ellipse">
            <a:avLst/>
          </a:prstGeom>
          <a:solidFill>
            <a:srgbClr val="FFF2CC"/>
          </a:solidFill>
          <a:ln w="3175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② Tính chất</a:t>
            </a:r>
          </a:p>
          <a:p>
            <a:pPr algn="ctr"/>
            <a:r>
              <a:rPr sz="1500" b="1">
                <a:solidFill>
                  <a:srgbClr val="000000"/>
                </a:solidFill>
                <a:latin typeface="Calibri"/>
              </a:rPr>
              <a:t>hoá học ester</a:t>
            </a:r>
          </a:p>
        </p:txBody>
      </p:sp>
      <p:cxnSp>
        <p:nvCxnSpPr>
          <p:cNvPr id="27" name="Connector 26"/>
          <p:cNvCxnSpPr/>
          <p:nvPr/>
        </p:nvCxnSpPr>
        <p:spPr>
          <a:xfrm flipH="1">
            <a:off x="3369056" y="3909060"/>
            <a:ext cx="1294384" cy="1196035"/>
          </a:xfrm>
          <a:prstGeom prst="line">
            <a:avLst/>
          </a:prstGeom>
          <a:ln w="44450">
            <a:solidFill>
              <a:srgbClr val="2F5597"/>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438450" y="4186869"/>
            <a:ext cx="930606" cy="918226"/>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16509" y="3915679"/>
            <a:ext cx="2021941" cy="542381"/>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Lipid: chất béo, sáp,</a:t>
            </a:r>
          </a:p>
          <a:p>
            <a:pPr algn="ctr"/>
            <a:r>
              <a:rPr sz="1300" b="0">
                <a:solidFill>
                  <a:srgbClr val="000000"/>
                </a:solidFill>
                <a:latin typeface="Calibri"/>
              </a:rPr>
              <a:t>steroid…</a:t>
            </a:r>
          </a:p>
        </p:txBody>
      </p:sp>
      <p:cxnSp>
        <p:nvCxnSpPr>
          <p:cNvPr id="30" name="Connector 29"/>
          <p:cNvCxnSpPr/>
          <p:nvPr/>
        </p:nvCxnSpPr>
        <p:spPr>
          <a:xfrm flipH="1" flipV="1">
            <a:off x="2352598" y="4799020"/>
            <a:ext cx="1016458" cy="306075"/>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502361" y="4527829"/>
            <a:ext cx="1850237" cy="542381"/>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Chất béo = triester</a:t>
            </a:r>
          </a:p>
          <a:p>
            <a:pPr algn="ctr"/>
            <a:r>
              <a:rPr sz="1300" b="0">
                <a:solidFill>
                  <a:srgbClr val="000000"/>
                </a:solidFill>
                <a:latin typeface="Calibri"/>
              </a:rPr>
              <a:t>glycerol</a:t>
            </a:r>
          </a:p>
        </p:txBody>
      </p:sp>
      <p:cxnSp>
        <p:nvCxnSpPr>
          <p:cNvPr id="32" name="Connector 31"/>
          <p:cNvCxnSpPr/>
          <p:nvPr/>
        </p:nvCxnSpPr>
        <p:spPr>
          <a:xfrm flipH="1">
            <a:off x="2438450" y="5105095"/>
            <a:ext cx="930606" cy="306075"/>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16509" y="5139979"/>
            <a:ext cx="2021941" cy="542381"/>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Acid béo: C12–C24, số</a:t>
            </a:r>
          </a:p>
          <a:p>
            <a:pPr algn="ctr"/>
            <a:r>
              <a:rPr sz="1300" b="0">
                <a:solidFill>
                  <a:srgbClr val="000000"/>
                </a:solidFill>
                <a:latin typeface="Calibri"/>
              </a:rPr>
              <a:t>C chẵn</a:t>
            </a:r>
          </a:p>
        </p:txBody>
      </p:sp>
      <p:cxnSp>
        <p:nvCxnSpPr>
          <p:cNvPr id="34" name="Connector 33"/>
          <p:cNvCxnSpPr/>
          <p:nvPr/>
        </p:nvCxnSpPr>
        <p:spPr>
          <a:xfrm flipH="1">
            <a:off x="2180894" y="5105095"/>
            <a:ext cx="1188162" cy="918225"/>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74065" y="5752129"/>
            <a:ext cx="1506829" cy="542381"/>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No → rắn; không</a:t>
            </a:r>
          </a:p>
          <a:p>
            <a:pPr algn="ctr"/>
            <a:r>
              <a:rPr sz="1300" b="0">
                <a:solidFill>
                  <a:srgbClr val="000000"/>
                </a:solidFill>
                <a:latin typeface="Calibri"/>
              </a:rPr>
              <a:t>no → lỏng</a:t>
            </a:r>
          </a:p>
        </p:txBody>
      </p:sp>
      <p:sp>
        <p:nvSpPr>
          <p:cNvPr id="36" name="Oval 35"/>
          <p:cNvSpPr/>
          <p:nvPr/>
        </p:nvSpPr>
        <p:spPr>
          <a:xfrm>
            <a:off x="2635453" y="4698331"/>
            <a:ext cx="1467205" cy="813526"/>
          </a:xfrm>
          <a:prstGeom prst="ellipse">
            <a:avLst/>
          </a:prstGeom>
          <a:solidFill>
            <a:srgbClr val="E2EFDA"/>
          </a:solidFill>
          <a:ln w="3175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③ Lipid –</a:t>
            </a:r>
          </a:p>
          <a:p>
            <a:pPr algn="ctr"/>
            <a:r>
              <a:rPr sz="1500" b="1">
                <a:solidFill>
                  <a:srgbClr val="000000"/>
                </a:solidFill>
                <a:latin typeface="Calibri"/>
              </a:rPr>
              <a:t>chất béo</a:t>
            </a:r>
          </a:p>
        </p:txBody>
      </p:sp>
      <p:cxnSp>
        <p:nvCxnSpPr>
          <p:cNvPr id="37" name="Connector 36"/>
          <p:cNvCxnSpPr/>
          <p:nvPr/>
        </p:nvCxnSpPr>
        <p:spPr>
          <a:xfrm>
            <a:off x="4663440" y="3909060"/>
            <a:ext cx="1294384" cy="1196035"/>
          </a:xfrm>
          <a:prstGeom prst="line">
            <a:avLst/>
          </a:prstGeom>
          <a:ln w="444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5957824" y="4287580"/>
            <a:ext cx="907491" cy="817515"/>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6865315" y="4016390"/>
            <a:ext cx="2068169" cy="542381"/>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1">
                <a:solidFill>
                  <a:srgbClr val="8B0000"/>
                </a:solidFill>
                <a:latin typeface="Calibri"/>
              </a:rPr>
              <a:t>Hydrogen hoá: lỏng →</a:t>
            </a:r>
          </a:p>
          <a:p>
            <a:pPr algn="ctr"/>
            <a:r>
              <a:rPr sz="1300" b="1">
                <a:solidFill>
                  <a:srgbClr val="8B0000"/>
                </a:solidFill>
                <a:latin typeface="Calibri"/>
              </a:rPr>
              <a:t>rắn</a:t>
            </a:r>
          </a:p>
        </p:txBody>
      </p:sp>
      <p:cxnSp>
        <p:nvCxnSpPr>
          <p:cNvPr id="40" name="Connector 39"/>
          <p:cNvCxnSpPr/>
          <p:nvPr/>
        </p:nvCxnSpPr>
        <p:spPr>
          <a:xfrm flipV="1">
            <a:off x="5957824" y="4899731"/>
            <a:ext cx="1231087" cy="205364"/>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7188911" y="4628540"/>
            <a:ext cx="1420977" cy="542381"/>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Oxi hoá bởi O₂</a:t>
            </a:r>
          </a:p>
          <a:p>
            <a:pPr algn="ctr"/>
            <a:r>
              <a:rPr sz="1300" b="0">
                <a:solidFill>
                  <a:srgbClr val="000000"/>
                </a:solidFill>
                <a:latin typeface="Calibri"/>
              </a:rPr>
              <a:t>→ bị ôi</a:t>
            </a:r>
          </a:p>
        </p:txBody>
      </p:sp>
      <p:cxnSp>
        <p:nvCxnSpPr>
          <p:cNvPr id="42" name="Connector 41"/>
          <p:cNvCxnSpPr/>
          <p:nvPr/>
        </p:nvCxnSpPr>
        <p:spPr>
          <a:xfrm>
            <a:off x="5957824" y="5105095"/>
            <a:ext cx="1016457" cy="406786"/>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6974281" y="5240690"/>
            <a:ext cx="1850237" cy="542381"/>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Năng lượng, vitamin</a:t>
            </a:r>
          </a:p>
          <a:p>
            <a:pPr algn="ctr"/>
            <a:r>
              <a:rPr sz="1300" b="0">
                <a:solidFill>
                  <a:srgbClr val="000000"/>
                </a:solidFill>
                <a:latin typeface="Calibri"/>
              </a:rPr>
              <a:t>A,D,E,K</a:t>
            </a:r>
          </a:p>
        </p:txBody>
      </p:sp>
      <p:cxnSp>
        <p:nvCxnSpPr>
          <p:cNvPr id="44" name="Connector 43"/>
          <p:cNvCxnSpPr/>
          <p:nvPr/>
        </p:nvCxnSpPr>
        <p:spPr>
          <a:xfrm>
            <a:off x="5957824" y="5105095"/>
            <a:ext cx="1145235" cy="918225"/>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7103059" y="5852840"/>
            <a:ext cx="1592681" cy="340959"/>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Omega-3, omega-6</a:t>
            </a:r>
          </a:p>
        </p:txBody>
      </p:sp>
      <p:sp>
        <p:nvSpPr>
          <p:cNvPr id="46" name="Oval 45"/>
          <p:cNvSpPr/>
          <p:nvPr/>
        </p:nvSpPr>
        <p:spPr>
          <a:xfrm>
            <a:off x="5085537" y="4529834"/>
            <a:ext cx="1744573" cy="1150520"/>
          </a:xfrm>
          <a:prstGeom prst="ellipse">
            <a:avLst/>
          </a:prstGeom>
          <a:solidFill>
            <a:srgbClr val="FFF2CC"/>
          </a:solidFill>
          <a:ln w="3175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④ Tính chất</a:t>
            </a:r>
          </a:p>
          <a:p>
            <a:pPr algn="ctr"/>
            <a:r>
              <a:rPr sz="1500" b="1">
                <a:solidFill>
                  <a:srgbClr val="000000"/>
                </a:solidFill>
                <a:latin typeface="Calibri"/>
              </a:rPr>
              <a:t>&amp; ứng dụng</a:t>
            </a:r>
          </a:p>
          <a:p>
            <a:pPr algn="ctr"/>
            <a:r>
              <a:rPr sz="1500" b="1">
                <a:solidFill>
                  <a:srgbClr val="000000"/>
                </a:solidFill>
                <a:latin typeface="Calibri"/>
              </a:rPr>
              <a:t>chất béo</a:t>
            </a:r>
          </a:p>
        </p:txBody>
      </p:sp>
      <p:sp>
        <p:nvSpPr>
          <p:cNvPr id="47" name="Oval 46"/>
          <p:cNvSpPr/>
          <p:nvPr/>
        </p:nvSpPr>
        <p:spPr>
          <a:xfrm>
            <a:off x="3532276" y="3444194"/>
            <a:ext cx="2262327" cy="929731"/>
          </a:xfrm>
          <a:prstGeom prst="ellipse">
            <a:avLst/>
          </a:prstGeom>
          <a:solidFill>
            <a:srgbClr val="002060"/>
          </a:solidFill>
          <a:ln w="25400">
            <a:solidFill>
              <a:srgbClr val="000B1E"/>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700" b="1">
                <a:solidFill>
                  <a:srgbClr val="FFFFFF"/>
                </a:solidFill>
                <a:latin typeface="Calibri"/>
              </a:rPr>
              <a:t>ESTER – LIPID</a:t>
            </a:r>
          </a:p>
          <a:p>
            <a:pPr algn="ctr"/>
            <a:r>
              <a:rPr sz="1700" b="1">
                <a:solidFill>
                  <a:srgbClr val="FFFFFF"/>
                </a:solidFill>
                <a:latin typeface="Calibri"/>
              </a:rPr>
              <a:t>(BÀI 1)</a:t>
            </a:r>
          </a:p>
        </p:txBody>
      </p:sp>
      <p:sp>
        <p:nvSpPr>
          <p:cNvPr id="48" name="Rounded Rectangle 47"/>
          <p:cNvSpPr/>
          <p:nvPr/>
        </p:nvSpPr>
        <p:spPr>
          <a:xfrm>
            <a:off x="9326880" y="1463040"/>
            <a:ext cx="2651760" cy="4846320"/>
          </a:xfrm>
          <a:prstGeom prst="roundRect">
            <a:avLst>
              <a:gd name="adj" fmla="val 8000"/>
            </a:avLst>
          </a:prstGeom>
          <a:solidFill>
            <a:srgbClr val="EFF6FF"/>
          </a:solidFill>
          <a:ln w="2540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72600" y="1554480"/>
            <a:ext cx="2560320" cy="457200"/>
          </a:xfrm>
          <a:prstGeom prst="rect">
            <a:avLst/>
          </a:prstGeom>
          <a:noFill/>
        </p:spPr>
        <p:txBody>
          <a:bodyPr wrap="square" anchor="t">
            <a:spAutoFit/>
          </a:bodyPr>
          <a:lstStyle/>
          <a:p>
            <a:pPr algn="ctr">
              <a:spcAft>
                <a:spcPts val="600"/>
              </a:spcAft>
            </a:pPr>
            <a:r>
              <a:rPr sz="1800" b="1">
                <a:solidFill>
                  <a:srgbClr val="1E40AF"/>
                </a:solidFill>
                <a:latin typeface="Arial"/>
              </a:rPr>
              <a:t>QUÉT MÃ CỦNG CỐ</a:t>
            </a:r>
          </a:p>
        </p:txBody>
      </p:sp>
      <p:pic>
        <p:nvPicPr>
          <p:cNvPr id="50" name="Picture 49" descr="QR_hoa_cc_bai1_k12.png"/>
          <p:cNvPicPr>
            <a:picLocks noChangeAspect="1"/>
          </p:cNvPicPr>
          <p:nvPr/>
        </p:nvPicPr>
        <p:blipFill>
          <a:blip r:embed="rId2"/>
          <a:stretch>
            <a:fillRect/>
          </a:stretch>
        </p:blipFill>
        <p:spPr>
          <a:xfrm>
            <a:off x="9464040" y="2103120"/>
            <a:ext cx="2377440" cy="2377440"/>
          </a:xfrm>
          <a:prstGeom prst="rect">
            <a:avLst/>
          </a:prstGeom>
        </p:spPr>
      </p:pic>
      <p:sp>
        <p:nvSpPr>
          <p:cNvPr id="51" name="TextBox 50"/>
          <p:cNvSpPr txBox="1"/>
          <p:nvPr/>
        </p:nvSpPr>
        <p:spPr>
          <a:xfrm>
            <a:off x="9372600" y="4572000"/>
            <a:ext cx="2560320" cy="1645920"/>
          </a:xfrm>
          <a:prstGeom prst="rect">
            <a:avLst/>
          </a:prstGeom>
          <a:noFill/>
        </p:spPr>
        <p:txBody>
          <a:bodyPr wrap="square" anchor="t">
            <a:spAutoFit/>
          </a:bodyPr>
          <a:lstStyle/>
          <a:p>
            <a:pPr algn="ctr">
              <a:spcAft>
                <a:spcPts val="600"/>
              </a:spcAft>
            </a:pPr>
            <a:r>
              <a:rPr sz="1100" b="0">
                <a:solidFill>
                  <a:srgbClr val="1E293B"/>
                </a:solidFill>
                <a:latin typeface="Calibri"/>
              </a:rPr>
              <a:t>6 câu 4 lựa chọn + 1 câu Đúng/Sai</a:t>
            </a:r>
          </a:p>
          <a:p>
            <a:pPr algn="ctr">
              <a:spcAft>
                <a:spcPts val="600"/>
              </a:spcAft>
            </a:pPr>
            <a:r>
              <a:rPr sz="1100" b="0">
                <a:solidFill>
                  <a:srgbClr val="1E293B"/>
                </a:solidFill>
                <a:latin typeface="Calibri"/>
              </a:rPr>
              <a:t>Phòng thi bảo mật – đáp án niêm phong</a:t>
            </a:r>
          </a:p>
          <a:p>
            <a:pPr algn="ctr">
              <a:spcAft>
                <a:spcPts val="600"/>
              </a:spcAft>
            </a:pPr>
            <a:r>
              <a:rPr sz="1100" b="0">
                <a:solidFill>
                  <a:srgbClr val="1E293B"/>
                </a:solidFill>
                <a:latin typeface="Calibri"/>
              </a:rPr>
              <a:t>trangtu66.github.io/Taode_thi_online/hoa_cc_bai1_k12.html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1. KHÁI NIỆM VÀ DANH PHÁP ESTER</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1. Ester – Lipid</a:t>
            </a:r>
          </a:p>
        </p:txBody>
      </p:sp>
      <p:sp>
        <p:nvSpPr>
          <p:cNvPr id="6" name="TextBox 5"/>
          <p:cNvSpPr txBox="1"/>
          <p:nvPr/>
        </p:nvSpPr>
        <p:spPr>
          <a:xfrm>
            <a:off x="548640" y="1325880"/>
            <a:ext cx="6309360" cy="5029200"/>
          </a:xfrm>
          <a:prstGeom prst="rect">
            <a:avLst/>
          </a:prstGeom>
          <a:noFill/>
        </p:spPr>
        <p:txBody>
          <a:bodyPr wrap="square" anchor="t">
            <a:spAutoFit/>
          </a:bodyPr>
          <a:lstStyle/>
          <a:p>
            <a:pPr algn="l">
              <a:spcAft>
                <a:spcPts val="600"/>
              </a:spcAft>
            </a:pPr>
            <a:r>
              <a:rPr sz="2400" b="0">
                <a:solidFill>
                  <a:srgbClr val="1E293B"/>
                </a:solidFill>
                <a:latin typeface="Calibri"/>
              </a:rPr>
              <a:t>Thay –OH của nhóm –COOH bằng –OR' → ester</a:t>
            </a:r>
          </a:p>
          <a:p>
            <a:pPr algn="l">
              <a:spcAft>
                <a:spcPts val="600"/>
              </a:spcAft>
            </a:pPr>
            <a:r>
              <a:rPr sz="2400" b="1">
                <a:solidFill>
                  <a:srgbClr val="991B1B"/>
                </a:solidFill>
                <a:latin typeface="Calibri"/>
              </a:rPr>
              <a:t>Ester đơn chức: RCOOR' (R: H hoặc gốc HC; R': gốc HC)</a:t>
            </a:r>
          </a:p>
          <a:p>
            <a:pPr algn="l">
              <a:spcAft>
                <a:spcPts val="600"/>
              </a:spcAft>
            </a:pPr>
            <a:r>
              <a:rPr sz="2400" b="0">
                <a:solidFill>
                  <a:srgbClr val="1E293B"/>
                </a:solidFill>
                <a:latin typeface="Calibri"/>
              </a:rPr>
              <a:t>Tên ester = tên gốc R' + tên gốc carboxylic acid (-ate)</a:t>
            </a:r>
          </a:p>
          <a:p>
            <a:pPr algn="l">
              <a:spcAft>
                <a:spcPts val="600"/>
              </a:spcAft>
            </a:pPr>
            <a:r>
              <a:rPr sz="2400" b="0">
                <a:solidFill>
                  <a:srgbClr val="1E293B"/>
                </a:solidFill>
                <a:latin typeface="Calibri"/>
              </a:rPr>
              <a:t>CH₃COOC₂H₅: ethyl acetate · HCOOCH₂CH₂CH₃: propyl formate</a:t>
            </a:r>
          </a:p>
          <a:p>
            <a:pPr algn="l">
              <a:spcAft>
                <a:spcPts val="600"/>
              </a:spcAft>
            </a:pPr>
            <a:r>
              <a:rPr sz="2400" b="0">
                <a:solidFill>
                  <a:srgbClr val="1E293B"/>
                </a:solidFill>
                <a:latin typeface="Calibri"/>
              </a:rPr>
              <a:t>CH₂=CHCOOCH₃: methyl acrylate · C₆H₅COOC₂H₅: ethyl benzoate</a:t>
            </a:r>
          </a:p>
        </p:txBody>
      </p:sp>
      <p:pic>
        <p:nvPicPr>
          <p:cNvPr id="7" name="Picture 6" descr="3d_ethyl_acetate.png"/>
          <p:cNvPicPr>
            <a:picLocks noChangeAspect="1"/>
          </p:cNvPicPr>
          <p:nvPr/>
        </p:nvPicPr>
        <p:blipFill>
          <a:blip r:embed="rId2"/>
          <a:stretch>
            <a:fillRect/>
          </a:stretch>
        </p:blipFill>
        <p:spPr>
          <a:xfrm>
            <a:off x="7315200" y="1371600"/>
            <a:ext cx="4297680" cy="4297680"/>
          </a:xfrm>
          <a:prstGeom prst="rect">
            <a:avLst/>
          </a:prstGeom>
        </p:spPr>
      </p:pic>
      <p:sp>
        <p:nvSpPr>
          <p:cNvPr id="8" name="TextBox 7"/>
          <p:cNvSpPr txBox="1"/>
          <p:nvPr/>
        </p:nvSpPr>
        <p:spPr>
          <a:xfrm>
            <a:off x="7040880" y="5760720"/>
            <a:ext cx="4846320" cy="548640"/>
          </a:xfrm>
          <a:prstGeom prst="rect">
            <a:avLst/>
          </a:prstGeom>
          <a:noFill/>
        </p:spPr>
        <p:txBody>
          <a:bodyPr wrap="square" anchor="t">
            <a:spAutoFit/>
          </a:bodyPr>
          <a:lstStyle/>
          <a:p>
            <a:pPr algn="ctr">
              <a:spcAft>
                <a:spcPts val="600"/>
              </a:spcAft>
            </a:pPr>
            <a:r>
              <a:rPr sz="1200" b="0">
                <a:solidFill>
                  <a:srgbClr val="64748B"/>
                </a:solidFill>
                <a:latin typeface="Calibri"/>
              </a:rPr>
              <a:t>Mô hình 3D ethyl acetate – Nguồn: PubChem (NIH), CID 8857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2. TÍNH CHẤT VẬT LÍ CỦA ESTER</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1. Ester – Lipid</a:t>
            </a:r>
          </a:p>
        </p:txBody>
      </p:sp>
      <p:sp>
        <p:nvSpPr>
          <p:cNvPr id="6" name="TextBox 5"/>
          <p:cNvSpPr txBox="1"/>
          <p:nvPr/>
        </p:nvSpPr>
        <p:spPr>
          <a:xfrm>
            <a:off x="548640" y="1325880"/>
            <a:ext cx="6309360" cy="5029200"/>
          </a:xfrm>
          <a:prstGeom prst="rect">
            <a:avLst/>
          </a:prstGeom>
          <a:noFill/>
        </p:spPr>
        <p:txBody>
          <a:bodyPr wrap="square" anchor="t">
            <a:spAutoFit/>
          </a:bodyPr>
          <a:lstStyle/>
          <a:p>
            <a:pPr algn="l">
              <a:spcAft>
                <a:spcPts val="600"/>
              </a:spcAft>
            </a:pPr>
            <a:r>
              <a:rPr sz="2400" b="1">
                <a:solidFill>
                  <a:srgbClr val="991B1B"/>
                </a:solidFill>
                <a:latin typeface="Calibri"/>
              </a:rPr>
              <a:t>Ester không tạo liên kết hydrogen giữa các phân tử</a:t>
            </a:r>
          </a:p>
          <a:p>
            <a:pPr algn="l">
              <a:spcAft>
                <a:spcPts val="600"/>
              </a:spcAft>
            </a:pPr>
            <a:r>
              <a:rPr sz="2400" b="0">
                <a:solidFill>
                  <a:srgbClr val="1E293B"/>
                </a:solidFill>
                <a:latin typeface="Calibri"/>
              </a:rPr>
              <a:t>→ t° sôi thấp hơn alcohol, acid có M tương đương</a:t>
            </a:r>
          </a:p>
          <a:p>
            <a:pPr algn="l">
              <a:spcAft>
                <a:spcPts val="600"/>
              </a:spcAft>
            </a:pPr>
            <a:r>
              <a:rPr sz="2400" b="0">
                <a:solidFill>
                  <a:srgbClr val="1E293B"/>
                </a:solidFill>
                <a:latin typeface="Calibri"/>
              </a:rPr>
              <a:t>M = 60: propan-1-ol 97 °C; acetic acid 118 °C; methyl formate 32 °C</a:t>
            </a:r>
          </a:p>
          <a:p>
            <a:pPr algn="l">
              <a:spcAft>
                <a:spcPts val="600"/>
              </a:spcAft>
            </a:pPr>
            <a:r>
              <a:rPr sz="2400" b="0">
                <a:solidFill>
                  <a:srgbClr val="1E293B"/>
                </a:solidFill>
                <a:latin typeface="Calibri"/>
              </a:rPr>
              <a:t>Ester M nhỏ, trung bình: lỏng; M lớn: rắn</a:t>
            </a:r>
          </a:p>
          <a:p>
            <a:pPr algn="l">
              <a:spcAft>
                <a:spcPts val="600"/>
              </a:spcAft>
            </a:pPr>
            <a:r>
              <a:rPr sz="2400" b="0">
                <a:solidFill>
                  <a:srgbClr val="1E293B"/>
                </a:solidFill>
                <a:latin typeface="Calibri"/>
              </a:rPr>
              <a:t>Nhẹ hơn nước, ít tan trong nước; nhiều ester có mùi thơm</a:t>
            </a:r>
          </a:p>
        </p:txBody>
      </p:sp>
      <p:pic>
        <p:nvPicPr>
          <p:cNvPr id="7" name="Picture 6" descr="b1_tsoi.png"/>
          <p:cNvPicPr>
            <a:picLocks noChangeAspect="1"/>
          </p:cNvPicPr>
          <p:nvPr/>
        </p:nvPicPr>
        <p:blipFill>
          <a:blip r:embed="rId2"/>
          <a:stretch>
            <a:fillRect/>
          </a:stretch>
        </p:blipFill>
        <p:spPr>
          <a:xfrm>
            <a:off x="7040880" y="3048026"/>
            <a:ext cx="4846320" cy="944828"/>
          </a:xfrm>
          <a:prstGeom prst="rect">
            <a:avLst/>
          </a:prstGeom>
        </p:spPr>
      </p:pic>
      <p:sp>
        <p:nvSpPr>
          <p:cNvPr id="8" name="TextBox 7"/>
          <p:cNvSpPr txBox="1"/>
          <p:nvPr/>
        </p:nvSpPr>
        <p:spPr>
          <a:xfrm>
            <a:off x="7040880" y="5760720"/>
            <a:ext cx="4846320" cy="548640"/>
          </a:xfrm>
          <a:prstGeom prst="rect">
            <a:avLst/>
          </a:prstGeom>
          <a:noFill/>
        </p:spPr>
        <p:txBody>
          <a:bodyPr wrap="square" anchor="t">
            <a:spAutoFit/>
          </a:bodyPr>
          <a:lstStyle/>
          <a:p>
            <a:pPr algn="ctr">
              <a:spcAft>
                <a:spcPts val="600"/>
              </a:spcAft>
            </a:pPr>
            <a:r>
              <a:rPr sz="1200" b="0">
                <a:solidFill>
                  <a:srgbClr val="64748B"/>
                </a:solidFill>
                <a:latin typeface="Calibri"/>
              </a:rPr>
              <a:t>Bảng nhiệt độ sôi – SGK Hóa học 12 KNTT, tr.7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1 – ĐỀ BÀI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Thảo luận cặp đôi / nhóm – chưa xem lời giải</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1. Ester – Lipid</a:t>
            </a:r>
          </a:p>
        </p:txBody>
      </p:sp>
      <p:sp>
        <p:nvSpPr>
          <p:cNvPr id="7" name="TextBox 6"/>
          <p:cNvSpPr txBox="1"/>
          <p:nvPr/>
        </p:nvSpPr>
        <p:spPr>
          <a:xfrm>
            <a:off x="548640" y="1417320"/>
            <a:ext cx="11155680" cy="4023360"/>
          </a:xfrm>
          <a:prstGeom prst="rect">
            <a:avLst/>
          </a:prstGeom>
          <a:noFill/>
        </p:spPr>
        <p:txBody>
          <a:bodyPr wrap="square" anchor="t">
            <a:spAutoFit/>
          </a:bodyPr>
          <a:lstStyle/>
          <a:p>
            <a:pPr algn="l">
              <a:spcAft>
                <a:spcPts val="600"/>
              </a:spcAft>
            </a:pPr>
            <a:r>
              <a:rPr sz="2400" b="0">
                <a:solidFill>
                  <a:srgbClr val="1E293B"/>
                </a:solidFill>
                <a:latin typeface="Calibri"/>
              </a:rPr>
              <a:t>Viết công thức cấu tạo và gọi tên các đồng phân ester có công thức phân tử C₄H₈O₂ (SGK tr.7, câu 1).</a:t>
            </a:r>
          </a:p>
        </p:txBody>
      </p:sp>
      <p:sp>
        <p:nvSpPr>
          <p:cNvPr id="8" name="Rounded Rectangle 7"/>
          <p:cNvSpPr/>
          <p:nvPr/>
        </p:nvSpPr>
        <p:spPr>
          <a:xfrm>
            <a:off x="548640" y="5486400"/>
            <a:ext cx="11155680" cy="777240"/>
          </a:xfrm>
          <a:prstGeom prst="roundRect">
            <a:avLst/>
          </a:prstGeom>
          <a:solidFill>
            <a:srgbClr val="F0FDF4"/>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559552"/>
            <a:ext cx="10789920" cy="685800"/>
          </a:xfrm>
          <a:prstGeom prst="rect">
            <a:avLst/>
          </a:prstGeom>
          <a:noFill/>
        </p:spPr>
        <p:txBody>
          <a:bodyPr wrap="square" anchor="t">
            <a:spAutoFit/>
          </a:bodyPr>
          <a:lstStyle/>
          <a:p>
            <a:pPr algn="l">
              <a:spcAft>
                <a:spcPts val="600"/>
              </a:spcAft>
            </a:pPr>
            <a:r>
              <a:rPr sz="1800" b="0">
                <a:solidFill>
                  <a:srgbClr val="166534"/>
                </a:solidFill>
                <a:latin typeface="Calibri"/>
              </a:rPr>
              <a:t>💡 Gợi mở: C₄H₈O₂ có k = 1 → RCOOR'; thay đổi lần lượt số C ở phần acid (1, 2, 3 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1 – LỜI GIẢI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1. Ester – Lipid</a:t>
            </a:r>
          </a:p>
        </p:txBody>
      </p:sp>
      <p:sp>
        <p:nvSpPr>
          <p:cNvPr id="6" name="TextBox 5"/>
          <p:cNvSpPr txBox="1"/>
          <p:nvPr/>
        </p:nvSpPr>
        <p:spPr>
          <a:xfrm>
            <a:off x="548640" y="1325880"/>
            <a:ext cx="11155680" cy="4023360"/>
          </a:xfrm>
          <a:prstGeom prst="rect">
            <a:avLst/>
          </a:prstGeom>
          <a:noFill/>
        </p:spPr>
        <p:txBody>
          <a:bodyPr wrap="square" anchor="t">
            <a:spAutoFit/>
          </a:bodyPr>
          <a:lstStyle/>
          <a:p>
            <a:pPr algn="l">
              <a:spcAft>
                <a:spcPts val="600"/>
              </a:spcAft>
            </a:pPr>
            <a:r>
              <a:rPr sz="2300" b="0">
                <a:solidFill>
                  <a:srgbClr val="1E293B"/>
                </a:solidFill>
                <a:latin typeface="Calibri"/>
              </a:rPr>
              <a:t>HCOOCH₂CH₂CH₃: propyl formate</a:t>
            </a:r>
          </a:p>
          <a:p>
            <a:pPr algn="l">
              <a:spcAft>
                <a:spcPts val="600"/>
              </a:spcAft>
            </a:pPr>
            <a:r>
              <a:rPr sz="2300" b="0">
                <a:solidFill>
                  <a:srgbClr val="1E293B"/>
                </a:solidFill>
                <a:latin typeface="Calibri"/>
              </a:rPr>
              <a:t>HCOOCH(CH₃)₂: isopropyl formate</a:t>
            </a:r>
          </a:p>
          <a:p>
            <a:pPr algn="l">
              <a:spcAft>
                <a:spcPts val="600"/>
              </a:spcAft>
            </a:pPr>
            <a:r>
              <a:rPr sz="2300" b="0">
                <a:solidFill>
                  <a:srgbClr val="1E293B"/>
                </a:solidFill>
                <a:latin typeface="Calibri"/>
              </a:rPr>
              <a:t>CH₃COOC₂H₅: ethyl acetate</a:t>
            </a:r>
          </a:p>
          <a:p>
            <a:pPr algn="l">
              <a:spcAft>
                <a:spcPts val="600"/>
              </a:spcAft>
            </a:pPr>
            <a:r>
              <a:rPr sz="2300" b="0">
                <a:solidFill>
                  <a:srgbClr val="1E293B"/>
                </a:solidFill>
                <a:latin typeface="Calibri"/>
              </a:rPr>
              <a:t>CH₃CH₂COOCH₃: methyl propionate</a:t>
            </a:r>
          </a:p>
        </p:txBody>
      </p:sp>
      <p:sp>
        <p:nvSpPr>
          <p:cNvPr id="7" name="Rounded Rectangle 6"/>
          <p:cNvSpPr/>
          <p:nvPr/>
        </p:nvSpPr>
        <p:spPr>
          <a:xfrm>
            <a:off x="548640" y="5440680"/>
            <a:ext cx="11155680" cy="868680"/>
          </a:xfrm>
          <a:prstGeom prst="roundRect">
            <a:avLst/>
          </a:prstGeom>
          <a:solidFill>
            <a:srgbClr val="FEF2F2"/>
          </a:solidFill>
          <a:ln w="2540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04688"/>
            <a:ext cx="10789920" cy="777240"/>
          </a:xfrm>
          <a:prstGeom prst="rect">
            <a:avLst/>
          </a:prstGeom>
          <a:noFill/>
        </p:spPr>
        <p:txBody>
          <a:bodyPr wrap="square" anchor="t">
            <a:spAutoFit/>
          </a:bodyPr>
          <a:lstStyle/>
          <a:p>
            <a:pPr algn="l">
              <a:spcAft>
                <a:spcPts val="600"/>
              </a:spcAft>
            </a:pPr>
            <a:r>
              <a:rPr sz="2200" b="1">
                <a:solidFill>
                  <a:srgbClr val="991B1B"/>
                </a:solidFill>
                <a:latin typeface="Calibri"/>
              </a:rPr>
              <a:t>Kết luận: C₄H₈O₂ có 4 đồng phân ester.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3. TÍNH CHẤT HOÁ HỌC – ĐIỀU CHẾ ESTER</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1. Ester – Lipid</a:t>
            </a:r>
          </a:p>
        </p:txBody>
      </p:sp>
      <p:sp>
        <p:nvSpPr>
          <p:cNvPr id="6" name="TextBox 5"/>
          <p:cNvSpPr txBox="1"/>
          <p:nvPr/>
        </p:nvSpPr>
        <p:spPr>
          <a:xfrm>
            <a:off x="548640" y="1325880"/>
            <a:ext cx="11155680" cy="5029200"/>
          </a:xfrm>
          <a:prstGeom prst="rect">
            <a:avLst/>
          </a:prstGeom>
          <a:noFill/>
        </p:spPr>
        <p:txBody>
          <a:bodyPr wrap="square" anchor="t">
            <a:spAutoFit/>
          </a:bodyPr>
          <a:lstStyle/>
          <a:p>
            <a:pPr algn="l">
              <a:spcAft>
                <a:spcPts val="600"/>
              </a:spcAft>
            </a:pPr>
            <a:r>
              <a:rPr sz="2400" b="1">
                <a:solidFill>
                  <a:srgbClr val="991B1B"/>
                </a:solidFill>
                <a:latin typeface="Calibri"/>
              </a:rPr>
              <a:t>RCOOR' + H₂O ⇌ RCOOH + R'OH (H⁺, t°) – thuận nghịch</a:t>
            </a:r>
          </a:p>
          <a:p>
            <a:pPr algn="l">
              <a:spcAft>
                <a:spcPts val="600"/>
              </a:spcAft>
            </a:pPr>
            <a:r>
              <a:rPr sz="2400" b="1">
                <a:solidFill>
                  <a:srgbClr val="991B1B"/>
                </a:solidFill>
                <a:latin typeface="Calibri"/>
              </a:rPr>
              <a:t>RCOOR' + NaOH → RCOONa + R'OH (t°) – một chiều</a:t>
            </a:r>
          </a:p>
          <a:p>
            <a:pPr algn="l">
              <a:spcAft>
                <a:spcPts val="600"/>
              </a:spcAft>
            </a:pPr>
            <a:r>
              <a:rPr sz="2400" b="0">
                <a:solidFill>
                  <a:srgbClr val="1E293B"/>
                </a:solidFill>
                <a:latin typeface="Calibri"/>
              </a:rPr>
              <a:t>Thuỷ phân trong base = phản ứng xà phòng hoá</a:t>
            </a:r>
          </a:p>
          <a:p>
            <a:pPr algn="l">
              <a:spcAft>
                <a:spcPts val="600"/>
              </a:spcAft>
            </a:pPr>
            <a:r>
              <a:rPr sz="2400" b="1">
                <a:solidFill>
                  <a:srgbClr val="991B1B"/>
                </a:solidFill>
                <a:latin typeface="Calibri"/>
              </a:rPr>
              <a:t>RCOOH + R'OH ⇌ RCOOR' + H₂O (H₂SO₄ đặc, t°)</a:t>
            </a:r>
          </a:p>
          <a:p>
            <a:pPr algn="l">
              <a:spcAft>
                <a:spcPts val="600"/>
              </a:spcAft>
            </a:pPr>
            <a:r>
              <a:rPr sz="2400" b="0">
                <a:solidFill>
                  <a:srgbClr val="1E293B"/>
                </a:solidFill>
                <a:latin typeface="Calibri"/>
              </a:rPr>
              <a:t>Ứng dụng: hương liệu, dung môi, dược phẩm (aspirin), polymer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2 – ĐỀ BÀI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Thảo luận cặp đôi / nhóm – chưa xem lời giải</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1. Ester – Lipid</a:t>
            </a:r>
          </a:p>
        </p:txBody>
      </p:sp>
      <p:sp>
        <p:nvSpPr>
          <p:cNvPr id="7" name="TextBox 6"/>
          <p:cNvSpPr txBox="1"/>
          <p:nvPr/>
        </p:nvSpPr>
        <p:spPr>
          <a:xfrm>
            <a:off x="548640" y="1417320"/>
            <a:ext cx="7315200" cy="4023360"/>
          </a:xfrm>
          <a:prstGeom prst="rect">
            <a:avLst/>
          </a:prstGeom>
          <a:noFill/>
        </p:spPr>
        <p:txBody>
          <a:bodyPr wrap="square" anchor="t">
            <a:spAutoFit/>
          </a:bodyPr>
          <a:lstStyle/>
          <a:p>
            <a:pPr algn="l">
              <a:spcAft>
                <a:spcPts val="600"/>
              </a:spcAft>
            </a:pPr>
            <a:r>
              <a:rPr sz="2400" b="0">
                <a:solidFill>
                  <a:srgbClr val="1E293B"/>
                </a:solidFill>
                <a:latin typeface="Calibri"/>
              </a:rPr>
              <a:t>Isoamyl acetate có mùi chuối chín (dầu chuối). Đun 16,2 g acetic acid với 15,2 g isoamyl alcohol (CH₃)₂CHCH₂CH₂OH, xúc tác H₂SO₄ đặc, thu được 14,16 g dầu chuối.</a:t>
            </a:r>
          </a:p>
          <a:p>
            <a:pPr algn="l">
              <a:spcAft>
                <a:spcPts val="600"/>
              </a:spcAft>
            </a:pPr>
            <a:r>
              <a:rPr sz="2400" b="0">
                <a:solidFill>
                  <a:srgbClr val="1E293B"/>
                </a:solidFill>
                <a:latin typeface="Calibri"/>
              </a:rPr>
              <a:t>Tính hiệu suất phản ứng (SGK tr.9, câu 7).</a:t>
            </a:r>
          </a:p>
        </p:txBody>
      </p:sp>
      <p:pic>
        <p:nvPicPr>
          <p:cNvPr id="8" name="Picture 7" descr="3d_isoamyl_acetate.png"/>
          <p:cNvPicPr>
            <a:picLocks noChangeAspect="1"/>
          </p:cNvPicPr>
          <p:nvPr/>
        </p:nvPicPr>
        <p:blipFill>
          <a:blip r:embed="rId2"/>
          <a:stretch>
            <a:fillRect/>
          </a:stretch>
        </p:blipFill>
        <p:spPr>
          <a:xfrm>
            <a:off x="8046720" y="1463040"/>
            <a:ext cx="3840480" cy="3840480"/>
          </a:xfrm>
          <a:prstGeom prst="rect">
            <a:avLst/>
          </a:prstGeom>
        </p:spPr>
      </p:pic>
      <p:sp>
        <p:nvSpPr>
          <p:cNvPr id="9" name="Rounded Rectangle 8"/>
          <p:cNvSpPr/>
          <p:nvPr/>
        </p:nvSpPr>
        <p:spPr>
          <a:xfrm>
            <a:off x="548640" y="5486400"/>
            <a:ext cx="11155680" cy="777240"/>
          </a:xfrm>
          <a:prstGeom prst="roundRect">
            <a:avLst/>
          </a:prstGeom>
          <a:solidFill>
            <a:srgbClr val="F0FDF4"/>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59552"/>
            <a:ext cx="10789920" cy="685800"/>
          </a:xfrm>
          <a:prstGeom prst="rect">
            <a:avLst/>
          </a:prstGeom>
          <a:noFill/>
        </p:spPr>
        <p:txBody>
          <a:bodyPr wrap="square" anchor="t">
            <a:spAutoFit/>
          </a:bodyPr>
          <a:lstStyle/>
          <a:p>
            <a:pPr algn="l">
              <a:spcAft>
                <a:spcPts val="600"/>
              </a:spcAft>
            </a:pPr>
            <a:r>
              <a:rPr sz="1800" b="0">
                <a:solidFill>
                  <a:srgbClr val="166534"/>
                </a:solidFill>
                <a:latin typeface="Calibri"/>
              </a:rPr>
              <a:t>💡 Gợi mở: So sánh số mol hai chất phản ứng – tính theo chất hết trước.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2 – LỜI GIẢI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1. Ester – Lipid</a:t>
            </a:r>
          </a:p>
        </p:txBody>
      </p:sp>
      <p:sp>
        <p:nvSpPr>
          <p:cNvPr id="6" name="TextBox 5"/>
          <p:cNvSpPr txBox="1"/>
          <p:nvPr/>
        </p:nvSpPr>
        <p:spPr>
          <a:xfrm>
            <a:off x="548640" y="1325880"/>
            <a:ext cx="11155680" cy="4023360"/>
          </a:xfrm>
          <a:prstGeom prst="rect">
            <a:avLst/>
          </a:prstGeom>
          <a:noFill/>
        </p:spPr>
        <p:txBody>
          <a:bodyPr wrap="square" anchor="t">
            <a:spAutoFit/>
          </a:bodyPr>
          <a:lstStyle/>
          <a:p>
            <a:pPr algn="l">
              <a:spcAft>
                <a:spcPts val="600"/>
              </a:spcAft>
            </a:pPr>
            <a:r>
              <a:rPr sz="2300" b="0">
                <a:solidFill>
                  <a:srgbClr val="1E293B"/>
                </a:solidFill>
                <a:latin typeface="Calibri"/>
              </a:rPr>
              <a:t>n(CH₃COOH) = 16,2 : 60 = 0,27 mol; n(alcohol) = 15,2 : 88 ≈ 0,1727 mol</a:t>
            </a:r>
          </a:p>
          <a:p>
            <a:pPr algn="l">
              <a:spcAft>
                <a:spcPts val="600"/>
              </a:spcAft>
            </a:pPr>
            <a:r>
              <a:rPr sz="2300" b="0">
                <a:solidFill>
                  <a:srgbClr val="1E293B"/>
                </a:solidFill>
                <a:latin typeface="Calibri"/>
              </a:rPr>
              <a:t>CH₃COOH + C₅H₁₁OH ⇌ CH₃COOC₅H₁₁ + H₂O → tính theo alcohol</a:t>
            </a:r>
          </a:p>
          <a:p>
            <a:pPr algn="l">
              <a:spcAft>
                <a:spcPts val="600"/>
              </a:spcAft>
            </a:pPr>
            <a:r>
              <a:rPr sz="2300" b="0">
                <a:solidFill>
                  <a:srgbClr val="1E293B"/>
                </a:solidFill>
                <a:latin typeface="Calibri"/>
              </a:rPr>
              <a:t>m(lí thuyết) = 0,1727 · 130 ≈ 22,45 g</a:t>
            </a:r>
          </a:p>
          <a:p>
            <a:pPr algn="l">
              <a:spcAft>
                <a:spcPts val="600"/>
              </a:spcAft>
            </a:pPr>
            <a:r>
              <a:rPr sz="2300" b="0">
                <a:solidFill>
                  <a:srgbClr val="1E293B"/>
                </a:solidFill>
                <a:latin typeface="Calibri"/>
              </a:rPr>
              <a:t>H = 14,16 : 22,45 · 100%</a:t>
            </a:r>
          </a:p>
        </p:txBody>
      </p:sp>
      <p:sp>
        <p:nvSpPr>
          <p:cNvPr id="7" name="Rounded Rectangle 6"/>
          <p:cNvSpPr/>
          <p:nvPr/>
        </p:nvSpPr>
        <p:spPr>
          <a:xfrm>
            <a:off x="548640" y="5440680"/>
            <a:ext cx="11155680" cy="868680"/>
          </a:xfrm>
          <a:prstGeom prst="roundRect">
            <a:avLst/>
          </a:prstGeom>
          <a:solidFill>
            <a:srgbClr val="FEF2F2"/>
          </a:solidFill>
          <a:ln w="2540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04688"/>
            <a:ext cx="10789920" cy="777240"/>
          </a:xfrm>
          <a:prstGeom prst="rect">
            <a:avLst/>
          </a:prstGeom>
          <a:noFill/>
        </p:spPr>
        <p:txBody>
          <a:bodyPr wrap="square" anchor="t">
            <a:spAutoFit/>
          </a:bodyPr>
          <a:lstStyle/>
          <a:p>
            <a:pPr algn="l">
              <a:spcAft>
                <a:spcPts val="600"/>
              </a:spcAft>
            </a:pPr>
            <a:r>
              <a:rPr sz="2200" b="1">
                <a:solidFill>
                  <a:srgbClr val="991B1B"/>
                </a:solidFill>
                <a:latin typeface="Calibri"/>
              </a:rPr>
              <a:t>Kết luận: H ≈ 63,06%.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4. LIPID – CHẤT BÉO – ACID BÉO</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1. Ester – Lipid</a:t>
            </a:r>
          </a:p>
        </p:txBody>
      </p:sp>
      <p:sp>
        <p:nvSpPr>
          <p:cNvPr id="6" name="TextBox 5"/>
          <p:cNvSpPr txBox="1"/>
          <p:nvPr/>
        </p:nvSpPr>
        <p:spPr>
          <a:xfrm>
            <a:off x="548640" y="1325880"/>
            <a:ext cx="11155680" cy="5029200"/>
          </a:xfrm>
          <a:prstGeom prst="rect">
            <a:avLst/>
          </a:prstGeom>
          <a:noFill/>
        </p:spPr>
        <p:txBody>
          <a:bodyPr wrap="square" anchor="t">
            <a:spAutoFit/>
          </a:bodyPr>
          <a:lstStyle/>
          <a:p>
            <a:pPr algn="l">
              <a:spcAft>
                <a:spcPts val="600"/>
              </a:spcAft>
            </a:pPr>
            <a:r>
              <a:rPr sz="2400" b="0">
                <a:solidFill>
                  <a:srgbClr val="1E293B"/>
                </a:solidFill>
                <a:latin typeface="Calibri"/>
              </a:rPr>
              <a:t>Lipid: hợp chất hữu cơ trong tế bào sống, không tan trong nước</a:t>
            </a:r>
          </a:p>
          <a:p>
            <a:pPr algn="l">
              <a:spcAft>
                <a:spcPts val="600"/>
              </a:spcAft>
            </a:pPr>
            <a:r>
              <a:rPr sz="2400" b="0">
                <a:solidFill>
                  <a:srgbClr val="1E293B"/>
                </a:solidFill>
                <a:latin typeface="Calibri"/>
              </a:rPr>
              <a:t>Gồm chất béo, sáp, steroid, phospholipid,…</a:t>
            </a:r>
          </a:p>
          <a:p>
            <a:pPr algn="l">
              <a:spcAft>
                <a:spcPts val="600"/>
              </a:spcAft>
            </a:pPr>
            <a:r>
              <a:rPr sz="2400" b="1">
                <a:solidFill>
                  <a:srgbClr val="991B1B"/>
                </a:solidFill>
                <a:latin typeface="Calibri"/>
              </a:rPr>
              <a:t>Chất béo = triester của glycerol với acid béo (triglyceride)</a:t>
            </a:r>
          </a:p>
          <a:p>
            <a:pPr algn="l">
              <a:spcAft>
                <a:spcPts val="600"/>
              </a:spcAft>
            </a:pPr>
            <a:r>
              <a:rPr sz="2400" b="0">
                <a:solidFill>
                  <a:srgbClr val="1E293B"/>
                </a:solidFill>
                <a:latin typeface="Calibri"/>
              </a:rPr>
              <a:t>Acid béo: đơn chức, mạch dài (C12–C24), không phân nhánh, số C chẵn</a:t>
            </a:r>
          </a:p>
          <a:p>
            <a:pPr algn="l">
              <a:spcAft>
                <a:spcPts val="600"/>
              </a:spcAft>
            </a:pPr>
            <a:r>
              <a:rPr sz="2400" b="0">
                <a:solidFill>
                  <a:srgbClr val="1E293B"/>
                </a:solidFill>
                <a:latin typeface="Calibri"/>
              </a:rPr>
              <a:t>No: palmitic C₁₅H₃₁COOH, stearic C₁₇H₃₅COOH · Không no: oleic, linoleic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5. TÍNH CHẤT CỦA CHẤT BÉO</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1. Ester – Lipid</a:t>
            </a:r>
          </a:p>
        </p:txBody>
      </p:sp>
      <p:sp>
        <p:nvSpPr>
          <p:cNvPr id="6" name="TextBox 5"/>
          <p:cNvSpPr txBox="1"/>
          <p:nvPr/>
        </p:nvSpPr>
        <p:spPr>
          <a:xfrm>
            <a:off x="548640" y="1325880"/>
            <a:ext cx="6309360" cy="5029200"/>
          </a:xfrm>
          <a:prstGeom prst="rect">
            <a:avLst/>
          </a:prstGeom>
          <a:noFill/>
        </p:spPr>
        <p:txBody>
          <a:bodyPr wrap="square" anchor="t">
            <a:spAutoFit/>
          </a:bodyPr>
          <a:lstStyle/>
          <a:p>
            <a:pPr algn="l">
              <a:spcAft>
                <a:spcPts val="600"/>
              </a:spcAft>
            </a:pPr>
            <a:r>
              <a:rPr sz="2400" b="0">
                <a:solidFill>
                  <a:srgbClr val="1E293B"/>
                </a:solidFill>
                <a:latin typeface="Calibri"/>
              </a:rPr>
              <a:t>Nhiều gốc no → rắn (mỡ); nhiều gốc không no → lỏng (dầu)</a:t>
            </a:r>
          </a:p>
          <a:p>
            <a:pPr algn="l">
              <a:spcAft>
                <a:spcPts val="600"/>
              </a:spcAft>
            </a:pPr>
            <a:r>
              <a:rPr sz="2400" b="0">
                <a:solidFill>
                  <a:srgbClr val="1E293B"/>
                </a:solidFill>
                <a:latin typeface="Calibri"/>
              </a:rPr>
              <a:t>Nhẹ hơn nước, không tan trong nước</a:t>
            </a:r>
          </a:p>
          <a:p>
            <a:pPr algn="l">
              <a:spcAft>
                <a:spcPts val="600"/>
              </a:spcAft>
            </a:pPr>
            <a:r>
              <a:rPr sz="2400" b="1">
                <a:solidFill>
                  <a:srgbClr val="991B1B"/>
                </a:solidFill>
                <a:latin typeface="Calibri"/>
              </a:rPr>
              <a:t>Hydrogen hoá: chất béo lỏng + H₂ (t°, p, xt) → chất béo rắn</a:t>
            </a:r>
          </a:p>
          <a:p>
            <a:pPr algn="l">
              <a:spcAft>
                <a:spcPts val="600"/>
              </a:spcAft>
            </a:pPr>
            <a:r>
              <a:rPr sz="2400" b="0">
                <a:solidFill>
                  <a:srgbClr val="1E293B"/>
                </a:solidFill>
                <a:latin typeface="Calibri"/>
              </a:rPr>
              <a:t>Oxi hoá bởi O₂ không khí → dầu mỡ bị ôi</a:t>
            </a:r>
          </a:p>
          <a:p>
            <a:pPr algn="l">
              <a:spcAft>
                <a:spcPts val="600"/>
              </a:spcAft>
            </a:pPr>
            <a:r>
              <a:rPr sz="2400" b="0">
                <a:solidFill>
                  <a:srgbClr val="1E293B"/>
                </a:solidFill>
                <a:latin typeface="Calibri"/>
              </a:rPr>
              <a:t>Bảo quản: thêm chất chống oxi hoá (vitamin C, E)</a:t>
            </a:r>
          </a:p>
        </p:txBody>
      </p:sp>
      <p:pic>
        <p:nvPicPr>
          <p:cNvPr id="7" name="Picture 6" descr="b1_h13.png"/>
          <p:cNvPicPr>
            <a:picLocks noChangeAspect="1"/>
          </p:cNvPicPr>
          <p:nvPr/>
        </p:nvPicPr>
        <p:blipFill>
          <a:blip r:embed="rId2"/>
          <a:stretch>
            <a:fillRect/>
          </a:stretch>
        </p:blipFill>
        <p:spPr>
          <a:xfrm>
            <a:off x="7040880" y="2854751"/>
            <a:ext cx="4846320" cy="1331378"/>
          </a:xfrm>
          <a:prstGeom prst="rect">
            <a:avLst/>
          </a:prstGeom>
        </p:spPr>
      </p:pic>
      <p:sp>
        <p:nvSpPr>
          <p:cNvPr id="8" name="TextBox 7"/>
          <p:cNvSpPr txBox="1"/>
          <p:nvPr/>
        </p:nvSpPr>
        <p:spPr>
          <a:xfrm>
            <a:off x="7040880" y="5760720"/>
            <a:ext cx="4846320" cy="548640"/>
          </a:xfrm>
          <a:prstGeom prst="rect">
            <a:avLst/>
          </a:prstGeom>
          <a:noFill/>
        </p:spPr>
        <p:txBody>
          <a:bodyPr wrap="square" anchor="t">
            <a:spAutoFit/>
          </a:bodyPr>
          <a:lstStyle/>
          <a:p>
            <a:pPr algn="ctr">
              <a:spcAft>
                <a:spcPts val="600"/>
              </a:spcAft>
            </a:pPr>
            <a:r>
              <a:rPr sz="1200" b="0">
                <a:solidFill>
                  <a:srgbClr val="64748B"/>
                </a:solidFill>
                <a:latin typeface="Calibri"/>
              </a:rPr>
              <a:t>Hình 1.3 – SGK Hóa học 12 KNTT, tr.11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3 – ĐỀ BÀI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Thảo luận cặp đôi / nhóm – chưa xem lời giải</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1. Ester – Lipid</a:t>
            </a:r>
          </a:p>
        </p:txBody>
      </p:sp>
      <p:sp>
        <p:nvSpPr>
          <p:cNvPr id="7" name="TextBox 6"/>
          <p:cNvSpPr txBox="1"/>
          <p:nvPr/>
        </p:nvSpPr>
        <p:spPr>
          <a:xfrm>
            <a:off x="548640" y="1417320"/>
            <a:ext cx="11155680" cy="4023360"/>
          </a:xfrm>
          <a:prstGeom prst="rect">
            <a:avLst/>
          </a:prstGeom>
          <a:noFill/>
        </p:spPr>
        <p:txBody>
          <a:bodyPr wrap="square" anchor="t">
            <a:spAutoFit/>
          </a:bodyPr>
          <a:lstStyle/>
          <a:p>
            <a:pPr algn="l">
              <a:spcAft>
                <a:spcPts val="600"/>
              </a:spcAft>
            </a:pPr>
            <a:r>
              <a:rPr sz="2400" b="0">
                <a:solidFill>
                  <a:srgbClr val="1E293B"/>
                </a:solidFill>
                <a:latin typeface="Calibri"/>
              </a:rPr>
              <a:t>Viết phương trình hoá học của phản ứng hydrogen hoá chất béo được tạo thành từ glycerol và linoleic acid (SGK tr.12, câu 9).</a:t>
            </a:r>
          </a:p>
        </p:txBody>
      </p:sp>
      <p:sp>
        <p:nvSpPr>
          <p:cNvPr id="8" name="Rounded Rectangle 7"/>
          <p:cNvSpPr/>
          <p:nvPr/>
        </p:nvSpPr>
        <p:spPr>
          <a:xfrm>
            <a:off x="548640" y="5486400"/>
            <a:ext cx="11155680" cy="777240"/>
          </a:xfrm>
          <a:prstGeom prst="roundRect">
            <a:avLst/>
          </a:prstGeom>
          <a:solidFill>
            <a:srgbClr val="F0FDF4"/>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559552"/>
            <a:ext cx="10789920" cy="685800"/>
          </a:xfrm>
          <a:prstGeom prst="rect">
            <a:avLst/>
          </a:prstGeom>
          <a:noFill/>
        </p:spPr>
        <p:txBody>
          <a:bodyPr wrap="square" anchor="t">
            <a:spAutoFit/>
          </a:bodyPr>
          <a:lstStyle/>
          <a:p>
            <a:pPr algn="l">
              <a:spcAft>
                <a:spcPts val="600"/>
              </a:spcAft>
            </a:pPr>
            <a:r>
              <a:rPr sz="1800" b="0">
                <a:solidFill>
                  <a:srgbClr val="166534"/>
                </a:solidFill>
                <a:latin typeface="Calibri"/>
              </a:rPr>
              <a:t>💡 Gợi mở: Linoleic acid C₁₇H₃₁COOH có 2 liên kết C=C; chất béo có 3 gốc linoleate.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3 – LỜI GIẢI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1. Ester – Lipid</a:t>
            </a:r>
          </a:p>
        </p:txBody>
      </p:sp>
      <p:sp>
        <p:nvSpPr>
          <p:cNvPr id="6" name="TextBox 5"/>
          <p:cNvSpPr txBox="1"/>
          <p:nvPr/>
        </p:nvSpPr>
        <p:spPr>
          <a:xfrm>
            <a:off x="548640" y="1325880"/>
            <a:ext cx="11155680" cy="4023360"/>
          </a:xfrm>
          <a:prstGeom prst="rect">
            <a:avLst/>
          </a:prstGeom>
          <a:noFill/>
        </p:spPr>
        <p:txBody>
          <a:bodyPr wrap="square" anchor="t">
            <a:spAutoFit/>
          </a:bodyPr>
          <a:lstStyle/>
          <a:p>
            <a:pPr algn="l">
              <a:spcAft>
                <a:spcPts val="600"/>
              </a:spcAft>
            </a:pPr>
            <a:r>
              <a:rPr sz="2300" b="0">
                <a:solidFill>
                  <a:srgbClr val="1E293B"/>
                </a:solidFill>
                <a:latin typeface="Calibri"/>
              </a:rPr>
              <a:t>Chất béo: (C₁₇H₃₁COO)₃C₃H₅ (trilinolein) – có 6 liên kết C=C ở gốc acid</a:t>
            </a:r>
          </a:p>
          <a:p>
            <a:pPr algn="l">
              <a:spcAft>
                <a:spcPts val="600"/>
              </a:spcAft>
            </a:pPr>
            <a:r>
              <a:rPr sz="2300" b="0">
                <a:solidFill>
                  <a:srgbClr val="1E293B"/>
                </a:solidFill>
                <a:latin typeface="Calibri"/>
              </a:rPr>
              <a:t>(C₁₇H₃₁COO)₃C₃H₅ + 6H₂ → (C₁₇H₃₅COO)₃C₃H₅ (t°, p, Ni)</a:t>
            </a:r>
          </a:p>
          <a:p>
            <a:pPr algn="l">
              <a:spcAft>
                <a:spcPts val="600"/>
              </a:spcAft>
            </a:pPr>
            <a:r>
              <a:rPr sz="2300" b="0">
                <a:solidFill>
                  <a:srgbClr val="1E293B"/>
                </a:solidFill>
                <a:latin typeface="Calibri"/>
              </a:rPr>
              <a:t>Sản phẩm: tristearin – chất béo rắn</a:t>
            </a:r>
          </a:p>
        </p:txBody>
      </p:sp>
      <p:sp>
        <p:nvSpPr>
          <p:cNvPr id="7" name="Rounded Rectangle 6"/>
          <p:cNvSpPr/>
          <p:nvPr/>
        </p:nvSpPr>
        <p:spPr>
          <a:xfrm>
            <a:off x="548640" y="5440680"/>
            <a:ext cx="11155680" cy="868680"/>
          </a:xfrm>
          <a:prstGeom prst="roundRect">
            <a:avLst/>
          </a:prstGeom>
          <a:solidFill>
            <a:srgbClr val="FEF2F2"/>
          </a:solidFill>
          <a:ln w="2540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04688"/>
            <a:ext cx="10789920" cy="777240"/>
          </a:xfrm>
          <a:prstGeom prst="rect">
            <a:avLst/>
          </a:prstGeom>
          <a:noFill/>
        </p:spPr>
        <p:txBody>
          <a:bodyPr wrap="square" anchor="t">
            <a:spAutoFit/>
          </a:bodyPr>
          <a:lstStyle/>
          <a:p>
            <a:pPr algn="l">
              <a:spcAft>
                <a:spcPts val="600"/>
              </a:spcAft>
            </a:pPr>
            <a:r>
              <a:rPr sz="2200" b="1">
                <a:solidFill>
                  <a:srgbClr val="991B1B"/>
                </a:solidFill>
                <a:latin typeface="Calibri"/>
              </a:rPr>
              <a:t>Kết luận: 1 mol trilinolein cộng tối đa 6 mol H₂ tạo tristearin.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6. ỨNG DỤNG CHẤT BÉO, OMEGA-3 VÀ OMEGA-6</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1. Ester – Lipid</a:t>
            </a:r>
          </a:p>
        </p:txBody>
      </p:sp>
      <p:sp>
        <p:nvSpPr>
          <p:cNvPr id="6" name="TextBox 5"/>
          <p:cNvSpPr txBox="1"/>
          <p:nvPr/>
        </p:nvSpPr>
        <p:spPr>
          <a:xfrm>
            <a:off x="548640" y="1325880"/>
            <a:ext cx="6309360" cy="5029200"/>
          </a:xfrm>
          <a:prstGeom prst="rect">
            <a:avLst/>
          </a:prstGeom>
          <a:noFill/>
        </p:spPr>
        <p:txBody>
          <a:bodyPr wrap="square" anchor="t">
            <a:spAutoFit/>
          </a:bodyPr>
          <a:lstStyle/>
          <a:p>
            <a:pPr algn="l">
              <a:spcAft>
                <a:spcPts val="600"/>
              </a:spcAft>
            </a:pPr>
            <a:r>
              <a:rPr sz="2400" b="0">
                <a:solidFill>
                  <a:srgbClr val="1E293B"/>
                </a:solidFill>
                <a:latin typeface="Calibri"/>
              </a:rPr>
              <a:t>Cung cấp, dự trữ năng lượng (nhiều hơn tinh bột, đường)</a:t>
            </a:r>
          </a:p>
          <a:p>
            <a:pPr algn="l">
              <a:spcAft>
                <a:spcPts val="600"/>
              </a:spcAft>
            </a:pPr>
            <a:r>
              <a:rPr sz="2400" b="0">
                <a:solidFill>
                  <a:srgbClr val="1E293B"/>
                </a:solidFill>
                <a:latin typeface="Calibri"/>
              </a:rPr>
              <a:t>Hoà tan, vận chuyển vitamin A, D, E, K</a:t>
            </a:r>
          </a:p>
          <a:p>
            <a:pPr algn="l">
              <a:spcAft>
                <a:spcPts val="600"/>
              </a:spcAft>
            </a:pPr>
            <a:r>
              <a:rPr sz="2400" b="0">
                <a:solidFill>
                  <a:srgbClr val="1E293B"/>
                </a:solidFill>
                <a:latin typeface="Calibri"/>
              </a:rPr>
              <a:t>Nguyên liệu: thực phẩm, xà phòng, glycerol</a:t>
            </a:r>
          </a:p>
          <a:p>
            <a:pPr algn="l">
              <a:spcAft>
                <a:spcPts val="600"/>
              </a:spcAft>
            </a:pPr>
            <a:r>
              <a:rPr sz="2400" b="0">
                <a:solidFill>
                  <a:srgbClr val="1E293B"/>
                </a:solidFill>
                <a:latin typeface="Calibri"/>
              </a:rPr>
              <a:t>Omega-3: dầu cá biển · Omega-6: dầu mè, đậu nành, hướng dương</a:t>
            </a:r>
          </a:p>
          <a:p>
            <a:pPr algn="l">
              <a:spcAft>
                <a:spcPts val="600"/>
              </a:spcAft>
            </a:pPr>
            <a:r>
              <a:rPr sz="2400" b="1">
                <a:solidFill>
                  <a:srgbClr val="991B1B"/>
                </a:solidFill>
                <a:latin typeface="Calibri"/>
              </a:rPr>
              <a:t>Tăng thực phẩm giàu omega-3 để dinh dưỡng cân bằng</a:t>
            </a:r>
          </a:p>
        </p:txBody>
      </p:sp>
      <p:pic>
        <p:nvPicPr>
          <p:cNvPr id="7" name="Picture 6" descr="3d_glycerol.png"/>
          <p:cNvPicPr>
            <a:picLocks noChangeAspect="1"/>
          </p:cNvPicPr>
          <p:nvPr/>
        </p:nvPicPr>
        <p:blipFill>
          <a:blip r:embed="rId2"/>
          <a:stretch>
            <a:fillRect/>
          </a:stretch>
        </p:blipFill>
        <p:spPr>
          <a:xfrm>
            <a:off x="7315200" y="1371600"/>
            <a:ext cx="4297680" cy="4297680"/>
          </a:xfrm>
          <a:prstGeom prst="rect">
            <a:avLst/>
          </a:prstGeom>
        </p:spPr>
      </p:pic>
      <p:sp>
        <p:nvSpPr>
          <p:cNvPr id="8" name="TextBox 7"/>
          <p:cNvSpPr txBox="1"/>
          <p:nvPr/>
        </p:nvSpPr>
        <p:spPr>
          <a:xfrm>
            <a:off x="7040880" y="5760720"/>
            <a:ext cx="4846320" cy="548640"/>
          </a:xfrm>
          <a:prstGeom prst="rect">
            <a:avLst/>
          </a:prstGeom>
          <a:noFill/>
        </p:spPr>
        <p:txBody>
          <a:bodyPr wrap="square" anchor="t">
            <a:spAutoFit/>
          </a:bodyPr>
          <a:lstStyle/>
          <a:p>
            <a:pPr algn="ctr">
              <a:spcAft>
                <a:spcPts val="600"/>
              </a:spcAft>
            </a:pPr>
            <a:r>
              <a:rPr sz="1200" b="0">
                <a:solidFill>
                  <a:srgbClr val="64748B"/>
                </a:solidFill>
                <a:latin typeface="Calibri"/>
              </a:rPr>
              <a:t>Mô hình 3D glycerol – Nguồn: PubChem (NIH), CID 753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DỰ ÁN STEM</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NẾN THƠM XINH XẮN TẶNG NGƯỜI PHỤ NỮ XINH YÊU · quy trình thiết kế kĩ thuật 5 hoạt động</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1. Ester – Lipid</a:t>
            </a:r>
          </a:p>
        </p:txBody>
      </p:sp>
      <p:sp>
        <p:nvSpPr>
          <p:cNvPr id="7" name="Rounded Rectangle 6"/>
          <p:cNvSpPr/>
          <p:nvPr/>
        </p:nvSpPr>
        <p:spPr>
          <a:xfrm>
            <a:off x="548640" y="1463040"/>
            <a:ext cx="2697480" cy="2377440"/>
          </a:xfrm>
          <a:prstGeom prst="roundRect">
            <a:avLst>
              <a:gd name="adj" fmla="val 8000"/>
            </a:avLst>
          </a:prstGeom>
          <a:solidFill>
            <a:srgbClr val="FFFFFF"/>
          </a:solidFill>
          <a:ln w="2540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08760"/>
            <a:ext cx="2697480" cy="457200"/>
          </a:xfrm>
          <a:prstGeom prst="rect">
            <a:avLst/>
          </a:prstGeom>
          <a:noFill/>
        </p:spPr>
        <p:txBody>
          <a:bodyPr wrap="square" anchor="t">
            <a:spAutoFit/>
          </a:bodyPr>
          <a:lstStyle/>
          <a:p>
            <a:pPr algn="ctr">
              <a:spcAft>
                <a:spcPts val="600"/>
              </a:spcAft>
            </a:pPr>
            <a:r>
              <a:rPr sz="1800" b="1">
                <a:solidFill>
                  <a:srgbClr val="1E40AF"/>
                </a:solidFill>
                <a:latin typeface="Arial"/>
              </a:rPr>
              <a:t>S – Khoa học</a:t>
            </a:r>
          </a:p>
        </p:txBody>
      </p:sp>
      <p:sp>
        <p:nvSpPr>
          <p:cNvPr id="9" name="TextBox 8"/>
          <p:cNvSpPr txBox="1"/>
          <p:nvPr/>
        </p:nvSpPr>
        <p:spPr>
          <a:xfrm>
            <a:off x="658368" y="1965960"/>
            <a:ext cx="2468880" cy="1828800"/>
          </a:xfrm>
          <a:prstGeom prst="rect">
            <a:avLst/>
          </a:prstGeom>
          <a:noFill/>
        </p:spPr>
        <p:txBody>
          <a:bodyPr wrap="square" anchor="t">
            <a:spAutoFit/>
          </a:bodyPr>
          <a:lstStyle/>
          <a:p>
            <a:pPr algn="l">
              <a:spcAft>
                <a:spcPts val="600"/>
              </a:spcAft>
            </a:pPr>
            <a:r>
              <a:rPr sz="1300" b="0">
                <a:solidFill>
                  <a:srgbClr val="1E293B"/>
                </a:solidFill>
                <a:latin typeface="Calibri"/>
              </a:rPr>
              <a:t>Cấu tạo – tính chất ester, lipid (sáp ong là ester của acid béo và alcohol mạch dài); phản ứng cháy của hợp chất hữu cơ; nhiệt độ nóng chảy của các loại sáp.</a:t>
            </a:r>
          </a:p>
        </p:txBody>
      </p:sp>
      <p:sp>
        <p:nvSpPr>
          <p:cNvPr id="10" name="Rounded Rectangle 9"/>
          <p:cNvSpPr/>
          <p:nvPr/>
        </p:nvSpPr>
        <p:spPr>
          <a:xfrm>
            <a:off x="3364992" y="1463040"/>
            <a:ext cx="2697480" cy="2377440"/>
          </a:xfrm>
          <a:prstGeom prst="roundRect">
            <a:avLst>
              <a:gd name="adj" fmla="val 8000"/>
            </a:avLst>
          </a:prstGeom>
          <a:solidFill>
            <a:srgbClr val="FFFFFF"/>
          </a:solidFill>
          <a:ln w="254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64992" y="1508760"/>
            <a:ext cx="2697480" cy="457200"/>
          </a:xfrm>
          <a:prstGeom prst="rect">
            <a:avLst/>
          </a:prstGeom>
          <a:noFill/>
        </p:spPr>
        <p:txBody>
          <a:bodyPr wrap="square" anchor="t">
            <a:spAutoFit/>
          </a:bodyPr>
          <a:lstStyle/>
          <a:p>
            <a:pPr algn="ctr">
              <a:spcAft>
                <a:spcPts val="600"/>
              </a:spcAft>
            </a:pPr>
            <a:r>
              <a:rPr sz="1800" b="1">
                <a:solidFill>
                  <a:srgbClr val="047857"/>
                </a:solidFill>
                <a:latin typeface="Arial"/>
              </a:rPr>
              <a:t>T – Công nghệ</a:t>
            </a:r>
          </a:p>
        </p:txBody>
      </p:sp>
      <p:sp>
        <p:nvSpPr>
          <p:cNvPr id="12" name="TextBox 11"/>
          <p:cNvSpPr txBox="1"/>
          <p:nvPr/>
        </p:nvSpPr>
        <p:spPr>
          <a:xfrm>
            <a:off x="3474720" y="1965960"/>
            <a:ext cx="2468880" cy="1828800"/>
          </a:xfrm>
          <a:prstGeom prst="rect">
            <a:avLst/>
          </a:prstGeom>
          <a:noFill/>
        </p:spPr>
        <p:txBody>
          <a:bodyPr wrap="square" anchor="t">
            <a:spAutoFit/>
          </a:bodyPr>
          <a:lstStyle/>
          <a:p>
            <a:pPr algn="l">
              <a:spcAft>
                <a:spcPts val="600"/>
              </a:spcAft>
            </a:pPr>
            <a:r>
              <a:rPr sz="1300" b="0">
                <a:solidFill>
                  <a:srgbClr val="1E293B"/>
                </a:solidFill>
                <a:latin typeface="Calibri"/>
              </a:rPr>
              <a:t>Quy trình nung chảy sáp cách thuỷ, phối trộn tinh dầu – phụ gia; dùng nhiệt kế, cân điện tử, bếp gia nhiệt an toàn.</a:t>
            </a:r>
          </a:p>
        </p:txBody>
      </p:sp>
      <p:sp>
        <p:nvSpPr>
          <p:cNvPr id="13" name="Rounded Rectangle 12"/>
          <p:cNvSpPr/>
          <p:nvPr/>
        </p:nvSpPr>
        <p:spPr>
          <a:xfrm>
            <a:off x="6181344" y="1463040"/>
            <a:ext cx="2697480" cy="2377440"/>
          </a:xfrm>
          <a:prstGeom prst="roundRect">
            <a:avLst>
              <a:gd name="adj" fmla="val 8000"/>
            </a:avLst>
          </a:prstGeom>
          <a:solidFill>
            <a:srgbClr val="FFFFFF"/>
          </a:solidFill>
          <a:ln w="254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81344" y="1508760"/>
            <a:ext cx="2697480" cy="457200"/>
          </a:xfrm>
          <a:prstGeom prst="rect">
            <a:avLst/>
          </a:prstGeom>
          <a:noFill/>
        </p:spPr>
        <p:txBody>
          <a:bodyPr wrap="square" anchor="t">
            <a:spAutoFit/>
          </a:bodyPr>
          <a:lstStyle/>
          <a:p>
            <a:pPr algn="ctr">
              <a:spcAft>
                <a:spcPts val="600"/>
              </a:spcAft>
            </a:pPr>
            <a:r>
              <a:rPr sz="1800" b="1">
                <a:solidFill>
                  <a:srgbClr val="B45309"/>
                </a:solidFill>
                <a:latin typeface="Arial"/>
              </a:rPr>
              <a:t>E – Kĩ thuật</a:t>
            </a:r>
          </a:p>
        </p:txBody>
      </p:sp>
      <p:sp>
        <p:nvSpPr>
          <p:cNvPr id="15" name="TextBox 14"/>
          <p:cNvSpPr txBox="1"/>
          <p:nvPr/>
        </p:nvSpPr>
        <p:spPr>
          <a:xfrm>
            <a:off x="6291072" y="1965960"/>
            <a:ext cx="2468880" cy="1828800"/>
          </a:xfrm>
          <a:prstGeom prst="rect">
            <a:avLst/>
          </a:prstGeom>
          <a:noFill/>
        </p:spPr>
        <p:txBody>
          <a:bodyPr wrap="square" anchor="t">
            <a:spAutoFit/>
          </a:bodyPr>
          <a:lstStyle/>
          <a:p>
            <a:pPr algn="l">
              <a:spcAft>
                <a:spcPts val="600"/>
              </a:spcAft>
            </a:pPr>
            <a:r>
              <a:rPr sz="1300" b="0">
                <a:solidFill>
                  <a:srgbClr val="1E293B"/>
                </a:solidFill>
                <a:latin typeface="Calibri"/>
              </a:rPr>
              <a:t>Thiết kế quy trình: tỉ lệ sáp/tinh dầu, vị trí bấc, khuôn; phương án kiểm soát chất lượng (thời gian cháy, khói, mùi).</a:t>
            </a:r>
          </a:p>
        </p:txBody>
      </p:sp>
      <p:sp>
        <p:nvSpPr>
          <p:cNvPr id="16" name="Rounded Rectangle 15"/>
          <p:cNvSpPr/>
          <p:nvPr/>
        </p:nvSpPr>
        <p:spPr>
          <a:xfrm>
            <a:off x="8997696" y="1463040"/>
            <a:ext cx="2697480" cy="2377440"/>
          </a:xfrm>
          <a:prstGeom prst="roundRect">
            <a:avLst>
              <a:gd name="adj" fmla="val 8000"/>
            </a:avLst>
          </a:prstGeom>
          <a:solidFill>
            <a:srgbClr val="FFFFFF"/>
          </a:solidFill>
          <a:ln w="254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97696" y="1508760"/>
            <a:ext cx="2697480" cy="457200"/>
          </a:xfrm>
          <a:prstGeom prst="rect">
            <a:avLst/>
          </a:prstGeom>
          <a:noFill/>
        </p:spPr>
        <p:txBody>
          <a:bodyPr wrap="square" anchor="t">
            <a:spAutoFit/>
          </a:bodyPr>
          <a:lstStyle/>
          <a:p>
            <a:pPr algn="ctr">
              <a:spcAft>
                <a:spcPts val="600"/>
              </a:spcAft>
            </a:pPr>
            <a:r>
              <a:rPr sz="1800" b="1">
                <a:solidFill>
                  <a:srgbClr val="7C3AED"/>
                </a:solidFill>
                <a:latin typeface="Arial"/>
              </a:rPr>
              <a:t>M – Toán học</a:t>
            </a:r>
          </a:p>
        </p:txBody>
      </p:sp>
      <p:sp>
        <p:nvSpPr>
          <p:cNvPr id="18" name="TextBox 17"/>
          <p:cNvSpPr txBox="1"/>
          <p:nvPr/>
        </p:nvSpPr>
        <p:spPr>
          <a:xfrm>
            <a:off x="9107424" y="1965960"/>
            <a:ext cx="2468880" cy="1828800"/>
          </a:xfrm>
          <a:prstGeom prst="rect">
            <a:avLst/>
          </a:prstGeom>
          <a:noFill/>
        </p:spPr>
        <p:txBody>
          <a:bodyPr wrap="square" anchor="t">
            <a:spAutoFit/>
          </a:bodyPr>
          <a:lstStyle/>
          <a:p>
            <a:pPr algn="l">
              <a:spcAft>
                <a:spcPts val="600"/>
              </a:spcAft>
            </a:pPr>
            <a:r>
              <a:rPr sz="1300" b="0">
                <a:solidFill>
                  <a:srgbClr val="1E293B"/>
                </a:solidFill>
                <a:latin typeface="Calibri"/>
              </a:rPr>
              <a:t>Tính khối lượng sáp, % tinh dầu (6–10%), phụ gia; thể tích khuôn; chi phí; thời gian cháy theo khối lượng sáp.</a:t>
            </a:r>
          </a:p>
        </p:txBody>
      </p:sp>
      <p:sp>
        <p:nvSpPr>
          <p:cNvPr id="19" name="Pentagon 18"/>
          <p:cNvSpPr/>
          <p:nvPr/>
        </p:nvSpPr>
        <p:spPr>
          <a:xfrm>
            <a:off x="548640" y="4114800"/>
            <a:ext cx="2194560" cy="1051560"/>
          </a:xfrm>
          <a:prstGeom prst="homePlate">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1. Xác định</a:t>
            </a:r>
          </a:p>
          <a:p>
            <a:pPr algn="ctr"/>
            <a:r>
              <a:rPr sz="1400" b="1">
                <a:solidFill>
                  <a:srgbClr val="FFFFFF"/>
                </a:solidFill>
              </a:rPr>
              <a:t>vấn đề</a:t>
            </a:r>
          </a:p>
        </p:txBody>
      </p:sp>
      <p:sp>
        <p:nvSpPr>
          <p:cNvPr id="20" name="Chevron 19"/>
          <p:cNvSpPr/>
          <p:nvPr/>
        </p:nvSpPr>
        <p:spPr>
          <a:xfrm>
            <a:off x="2798064" y="4114800"/>
            <a:ext cx="2194560" cy="1051560"/>
          </a:xfrm>
          <a:prstGeom prst="chevron">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2. Nghiên cứu</a:t>
            </a:r>
          </a:p>
          <a:p>
            <a:pPr algn="ctr"/>
            <a:r>
              <a:rPr sz="1400" b="1">
                <a:solidFill>
                  <a:srgbClr val="FFFFFF"/>
                </a:solidFill>
              </a:rPr>
              <a:t>kiến thức nền</a:t>
            </a:r>
          </a:p>
        </p:txBody>
      </p:sp>
      <p:sp>
        <p:nvSpPr>
          <p:cNvPr id="21" name="Chevron 20"/>
          <p:cNvSpPr/>
          <p:nvPr/>
        </p:nvSpPr>
        <p:spPr>
          <a:xfrm>
            <a:off x="5047488" y="4114800"/>
            <a:ext cx="2194560" cy="1051560"/>
          </a:xfrm>
          <a:prstGeom prst="chevron">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3. Lựa chọn</a:t>
            </a:r>
          </a:p>
          <a:p>
            <a:pPr algn="ctr"/>
            <a:r>
              <a:rPr sz="1400" b="1">
                <a:solidFill>
                  <a:srgbClr val="FFFFFF"/>
                </a:solidFill>
              </a:rPr>
              <a:t>giải pháp</a:t>
            </a:r>
          </a:p>
        </p:txBody>
      </p:sp>
      <p:sp>
        <p:nvSpPr>
          <p:cNvPr id="22" name="Chevron 21"/>
          <p:cNvSpPr/>
          <p:nvPr/>
        </p:nvSpPr>
        <p:spPr>
          <a:xfrm>
            <a:off x="7296912" y="4114800"/>
            <a:ext cx="2194560" cy="105156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4. Chế tạo –</a:t>
            </a:r>
          </a:p>
          <a:p>
            <a:pPr algn="ctr"/>
            <a:r>
              <a:rPr sz="1400" b="1">
                <a:solidFill>
                  <a:srgbClr val="FFFFFF"/>
                </a:solidFill>
              </a:rPr>
              <a:t>thử nghiệm</a:t>
            </a:r>
          </a:p>
        </p:txBody>
      </p:sp>
      <p:sp>
        <p:nvSpPr>
          <p:cNvPr id="23" name="Chevron 22"/>
          <p:cNvSpPr/>
          <p:nvPr/>
        </p:nvSpPr>
        <p:spPr>
          <a:xfrm>
            <a:off x="9546336" y="4114800"/>
            <a:ext cx="2194560" cy="1051560"/>
          </a:xfrm>
          <a:prstGeom prst="chevron">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5. Chia sẻ –</a:t>
            </a:r>
          </a:p>
          <a:p>
            <a:pPr algn="ctr"/>
            <a:r>
              <a:rPr sz="1400" b="1">
                <a:solidFill>
                  <a:srgbClr val="FFFFFF"/>
                </a:solidFill>
              </a:rPr>
              <a:t>điều chỉnh</a:t>
            </a:r>
          </a:p>
        </p:txBody>
      </p:sp>
      <p:sp>
        <p:nvSpPr>
          <p:cNvPr id="24" name="TextBox 23"/>
          <p:cNvSpPr txBox="1"/>
          <p:nvPr/>
        </p:nvSpPr>
        <p:spPr>
          <a:xfrm>
            <a:off x="548640" y="5349240"/>
            <a:ext cx="11155680" cy="1005840"/>
          </a:xfrm>
          <a:prstGeom prst="rect">
            <a:avLst/>
          </a:prstGeom>
          <a:noFill/>
        </p:spPr>
        <p:txBody>
          <a:bodyPr wrap="square" anchor="t">
            <a:spAutoFit/>
          </a:bodyPr>
          <a:lstStyle/>
          <a:p>
            <a:pPr algn="l">
              <a:spcAft>
                <a:spcPts val="600"/>
              </a:spcAft>
            </a:pPr>
            <a:r>
              <a:rPr sz="1600" b="0">
                <a:solidFill>
                  <a:srgbClr val="1E293B"/>
                </a:solidFill>
                <a:latin typeface="Calibri"/>
              </a:rPr>
              <a:t>Tiết 1: HĐ1 xác định vấn đề · Tiết 2: HĐ2 kiến thức nền, HĐ3 chọn giải pháp · Ở nhà 7–10 ngày: chế tạo, thử nghiệm · Ngày hội STEM Chương 1 (ngoài giờ, cuối Tuần 2): trưng bày, chia sẻ, điều chỉnh.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VIDEO THAM KHẢO</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Đã kiểm tra liên kết (YouTube oEmbed) – xem trên lớp hoặc ở nhà</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1. Ester – Lipid</a:t>
            </a:r>
          </a:p>
        </p:txBody>
      </p:sp>
      <p:pic>
        <p:nvPicPr>
          <p:cNvPr id="7" name="Picture 6" descr="_qr_vid_1_0.png"/>
          <p:cNvPicPr>
            <a:picLocks noChangeAspect="1"/>
          </p:cNvPicPr>
          <p:nvPr/>
        </p:nvPicPr>
        <p:blipFill>
          <a:blip r:embed="rId2"/>
          <a:stretch>
            <a:fillRect/>
          </a:stretch>
        </p:blipFill>
        <p:spPr>
          <a:xfrm>
            <a:off x="548640" y="1463040"/>
            <a:ext cx="1417320" cy="1417320"/>
          </a:xfrm>
          <a:prstGeom prst="rect">
            <a:avLst/>
          </a:prstGeom>
        </p:spPr>
      </p:pic>
      <p:sp>
        <p:nvSpPr>
          <p:cNvPr id="8" name="TextBox 7"/>
          <p:cNvSpPr txBox="1"/>
          <p:nvPr/>
        </p:nvSpPr>
        <p:spPr>
          <a:xfrm>
            <a:off x="2194560" y="1463040"/>
            <a:ext cx="9509760" cy="1463040"/>
          </a:xfrm>
          <a:prstGeom prst="rect">
            <a:avLst/>
          </a:prstGeom>
          <a:noFill/>
        </p:spPr>
        <p:txBody>
          <a:bodyPr wrap="square" anchor="t">
            <a:spAutoFit/>
          </a:bodyPr>
          <a:lstStyle/>
          <a:p>
            <a:pPr algn="l">
              <a:spcAft>
                <a:spcPts val="600"/>
              </a:spcAft>
            </a:pPr>
            <a:r>
              <a:rPr sz="1600" b="0">
                <a:solidFill>
                  <a:srgbClr val="1E293B"/>
                </a:solidFill>
                <a:latin typeface="Calibri"/>
              </a:rPr>
              <a:t>Lợi ích của Nến thơm - Candle Merci</a:t>
            </a:r>
          </a:p>
          <a:p>
            <a:pPr algn="l">
              <a:spcAft>
                <a:spcPts val="600"/>
              </a:spcAft>
            </a:pPr>
            <a:r>
              <a:rPr sz="1600" b="0">
                <a:solidFill>
                  <a:srgbClr val="1E293B"/>
                </a:solidFill>
                <a:latin typeface="Calibri"/>
              </a:rPr>
              <a:t>Kênh: Candle Merci · Dùng ở: HĐ1 – STEM: xác định vấn đề</a:t>
            </a:r>
          </a:p>
          <a:p>
            <a:pPr algn="l">
              <a:spcAft>
                <a:spcPts val="600"/>
              </a:spcAft>
            </a:pPr>
            <a:r>
              <a:rPr sz="1600" b="0">
                <a:solidFill>
                  <a:srgbClr val="1E293B"/>
                </a:solidFill>
                <a:latin typeface="Calibri"/>
              </a:rPr>
              <a:t>https://www.youtube.com/watch?v=ZIGM4We2QrQ</a:t>
            </a:r>
          </a:p>
        </p:txBody>
      </p:sp>
      <p:pic>
        <p:nvPicPr>
          <p:cNvPr id="9" name="Picture 8" descr="_qr_vid_1_1.png"/>
          <p:cNvPicPr>
            <a:picLocks noChangeAspect="1"/>
          </p:cNvPicPr>
          <p:nvPr/>
        </p:nvPicPr>
        <p:blipFill>
          <a:blip r:embed="rId3"/>
          <a:stretch>
            <a:fillRect/>
          </a:stretch>
        </p:blipFill>
        <p:spPr>
          <a:xfrm>
            <a:off x="548640" y="3108960"/>
            <a:ext cx="1417320" cy="1417320"/>
          </a:xfrm>
          <a:prstGeom prst="rect">
            <a:avLst/>
          </a:prstGeom>
        </p:spPr>
      </p:pic>
      <p:sp>
        <p:nvSpPr>
          <p:cNvPr id="10" name="TextBox 9"/>
          <p:cNvSpPr txBox="1"/>
          <p:nvPr/>
        </p:nvSpPr>
        <p:spPr>
          <a:xfrm>
            <a:off x="2194560" y="3108960"/>
            <a:ext cx="9509760" cy="1463040"/>
          </a:xfrm>
          <a:prstGeom prst="rect">
            <a:avLst/>
          </a:prstGeom>
          <a:noFill/>
        </p:spPr>
        <p:txBody>
          <a:bodyPr wrap="square" anchor="t">
            <a:spAutoFit/>
          </a:bodyPr>
          <a:lstStyle/>
          <a:p>
            <a:pPr algn="l">
              <a:spcAft>
                <a:spcPts val="600"/>
              </a:spcAft>
            </a:pPr>
            <a:r>
              <a:rPr sz="1600" b="0">
                <a:solidFill>
                  <a:srgbClr val="1E293B"/>
                </a:solidFill>
                <a:latin typeface="Calibri"/>
              </a:rPr>
              <a:t>C2H5OH + CH3COOH. Phản ứng ester hoá. Điều chế ester. Điều chế ethyl acetate (etyl axetat)</a:t>
            </a:r>
          </a:p>
          <a:p>
            <a:pPr algn="l">
              <a:spcAft>
                <a:spcPts val="600"/>
              </a:spcAft>
            </a:pPr>
            <a:r>
              <a:rPr sz="1600" b="0">
                <a:solidFill>
                  <a:srgbClr val="1E293B"/>
                </a:solidFill>
                <a:latin typeface="Calibri"/>
              </a:rPr>
              <a:t>Kênh: Hóa học ABC · Dùng ở: HĐ2.2 – Điều chế ester (ester hoá)</a:t>
            </a:r>
          </a:p>
          <a:p>
            <a:pPr algn="l">
              <a:spcAft>
                <a:spcPts val="600"/>
              </a:spcAft>
            </a:pPr>
            <a:r>
              <a:rPr sz="1600" b="0">
                <a:solidFill>
                  <a:srgbClr val="1E293B"/>
                </a:solidFill>
                <a:latin typeface="Calibri"/>
              </a:rPr>
              <a:t>https://www.youtube.com/watch?v=T6-hdt-e6SM</a:t>
            </a:r>
          </a:p>
        </p:txBody>
      </p:sp>
      <p:pic>
        <p:nvPicPr>
          <p:cNvPr id="11" name="Picture 10" descr="_qr_vid_1_2.png"/>
          <p:cNvPicPr>
            <a:picLocks noChangeAspect="1"/>
          </p:cNvPicPr>
          <p:nvPr/>
        </p:nvPicPr>
        <p:blipFill>
          <a:blip r:embed="rId4"/>
          <a:stretch>
            <a:fillRect/>
          </a:stretch>
        </p:blipFill>
        <p:spPr>
          <a:xfrm>
            <a:off x="548640" y="4754880"/>
            <a:ext cx="1417320" cy="1417320"/>
          </a:xfrm>
          <a:prstGeom prst="rect">
            <a:avLst/>
          </a:prstGeom>
        </p:spPr>
      </p:pic>
      <p:sp>
        <p:nvSpPr>
          <p:cNvPr id="12" name="TextBox 11"/>
          <p:cNvSpPr txBox="1"/>
          <p:nvPr/>
        </p:nvSpPr>
        <p:spPr>
          <a:xfrm>
            <a:off x="2194560" y="4754880"/>
            <a:ext cx="9509760" cy="1463040"/>
          </a:xfrm>
          <a:prstGeom prst="rect">
            <a:avLst/>
          </a:prstGeom>
          <a:noFill/>
        </p:spPr>
        <p:txBody>
          <a:bodyPr wrap="square" anchor="t">
            <a:spAutoFit/>
          </a:bodyPr>
          <a:lstStyle/>
          <a:p>
            <a:pPr algn="l">
              <a:spcAft>
                <a:spcPts val="600"/>
              </a:spcAft>
            </a:pPr>
            <a:r>
              <a:rPr sz="1600" b="0">
                <a:solidFill>
                  <a:srgbClr val="1E293B"/>
                </a:solidFill>
                <a:latin typeface="Calibri"/>
              </a:rPr>
              <a:t>Hướng dẫn làm nến thơm từ sáp đậu nành Belicos</a:t>
            </a:r>
          </a:p>
          <a:p>
            <a:pPr algn="l">
              <a:spcAft>
                <a:spcPts val="600"/>
              </a:spcAft>
            </a:pPr>
            <a:r>
              <a:rPr sz="1600" b="0">
                <a:solidFill>
                  <a:srgbClr val="1E293B"/>
                </a:solidFill>
                <a:latin typeface="Calibri"/>
              </a:rPr>
              <a:t>Kênh: Công Ty TNHH Beli Group · Dùng ở: HĐ4 – STEM: chế tạo nến thơm ở nhà</a:t>
            </a:r>
          </a:p>
          <a:p>
            <a:pPr algn="l">
              <a:spcAft>
                <a:spcPts val="600"/>
              </a:spcAft>
            </a:pPr>
            <a:r>
              <a:rPr sz="1600" b="0">
                <a:solidFill>
                  <a:srgbClr val="1E293B"/>
                </a:solidFill>
                <a:latin typeface="Calibri"/>
              </a:rPr>
              <a:t>https://www.youtube.com/watch?v=o2mHjjVhkCQ</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155680" cy="914400"/>
          </a:xfrm>
          <a:prstGeom prst="rect">
            <a:avLst/>
          </a:prstGeom>
          <a:noFill/>
        </p:spPr>
        <p:txBody>
          <a:bodyPr wrap="square" anchor="t">
            <a:spAutoFit/>
          </a:bodyPr>
          <a:lstStyle/>
          <a:p>
            <a:pPr algn="ctr">
              <a:spcAft>
                <a:spcPts val="600"/>
              </a:spcAft>
            </a:pPr>
            <a:r>
              <a:rPr sz="4000" b="1">
                <a:solidFill>
                  <a:srgbClr val="1E40AF"/>
                </a:solidFill>
                <a:latin typeface="Arial"/>
              </a:rPr>
              <a:t>BÀI TẬP CỦA BẠN</a:t>
            </a:r>
          </a:p>
        </p:txBody>
      </p:sp>
      <p:sp>
        <p:nvSpPr>
          <p:cNvPr id="4" name="Rounded Rectangle 3"/>
          <p:cNvSpPr/>
          <p:nvPr/>
        </p:nvSpPr>
        <p:spPr>
          <a:xfrm>
            <a:off x="4023360" y="1463040"/>
            <a:ext cx="4114800" cy="4114800"/>
          </a:xfrm>
          <a:prstGeom prst="roundRect">
            <a:avLst>
              <a:gd name="adj" fmla="val 6000"/>
            </a:avLst>
          </a:prstGeom>
          <a:solidFill>
            <a:srgbClr val="FFFFFF"/>
          </a:solidFill>
          <a:ln w="3810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R_hoa_cc_bai1_k12.png"/>
          <p:cNvPicPr>
            <a:picLocks noChangeAspect="1"/>
          </p:cNvPicPr>
          <p:nvPr/>
        </p:nvPicPr>
        <p:blipFill>
          <a:blip r:embed="rId2"/>
          <a:stretch>
            <a:fillRect/>
          </a:stretch>
        </p:blipFill>
        <p:spPr>
          <a:xfrm>
            <a:off x="4251960" y="1691640"/>
            <a:ext cx="3657600" cy="3657600"/>
          </a:xfrm>
          <a:prstGeom prst="rect">
            <a:avLst/>
          </a:prstGeom>
        </p:spPr>
      </p:pic>
      <p:sp>
        <p:nvSpPr>
          <p:cNvPr id="6" name="TextBox 5"/>
          <p:cNvSpPr txBox="1"/>
          <p:nvPr/>
        </p:nvSpPr>
        <p:spPr>
          <a:xfrm>
            <a:off x="548640" y="5669280"/>
            <a:ext cx="11155680" cy="457200"/>
          </a:xfrm>
          <a:prstGeom prst="rect">
            <a:avLst/>
          </a:prstGeom>
          <a:noFill/>
        </p:spPr>
        <p:txBody>
          <a:bodyPr wrap="square" anchor="t">
            <a:spAutoFit/>
          </a:bodyPr>
          <a:lstStyle/>
          <a:p>
            <a:pPr algn="ctr">
              <a:spcAft>
                <a:spcPts val="600"/>
              </a:spcAft>
            </a:pPr>
            <a:r>
              <a:rPr sz="2200" b="1">
                <a:solidFill>
                  <a:srgbClr val="1E40AF"/>
                </a:solidFill>
                <a:latin typeface="Calibri"/>
              </a:rPr>
              <a:t>trangtu66.github.io/Taode_thi_online/hoa_cc_bai1_k12.html</a:t>
            </a:r>
          </a:p>
        </p:txBody>
      </p:sp>
      <p:sp>
        <p:nvSpPr>
          <p:cNvPr id="7" name="TextBox 6"/>
          <p:cNvSpPr txBox="1"/>
          <p:nvPr/>
        </p:nvSpPr>
        <p:spPr>
          <a:xfrm>
            <a:off x="548640" y="6126480"/>
            <a:ext cx="11155680" cy="457200"/>
          </a:xfrm>
          <a:prstGeom prst="rect">
            <a:avLst/>
          </a:prstGeom>
          <a:noFill/>
        </p:spPr>
        <p:txBody>
          <a:bodyPr wrap="square" anchor="t">
            <a:spAutoFit/>
          </a:bodyPr>
          <a:lstStyle/>
          <a:p>
            <a:pPr algn="ctr">
              <a:spcAft>
                <a:spcPts val="600"/>
              </a:spcAft>
            </a:pPr>
            <a:r>
              <a:rPr sz="1600" b="0">
                <a:solidFill>
                  <a:srgbClr val="64748B"/>
                </a:solidFill>
                <a:latin typeface="Calibri"/>
              </a:rPr>
              <a:t>Quét mã bằng điện thoại · 6 câu 4 lựa chọn + 1 câu Đúng/Sai · Kết quả gửi về GV tự động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1. Ester – Lipid</dc:title>
  <dc:subject/>
  <dc:creator>TTT</dc:creator>
  <cp:keywords/>
  <dc:description>generated using python-pptx</dc:description>
  <cp:lastModifiedBy>TTT</cp:lastModifiedBy>
  <cp:revision>1</cp:revision>
  <dcterms:created xsi:type="dcterms:W3CDTF">2013-01-27T09:14:16Z</dcterms:created>
  <dcterms:modified xsi:type="dcterms:W3CDTF">2013-01-27T09:15:58Z</dcterms:modified>
  <cp:category/>
</cp:coreProperties>
</file>