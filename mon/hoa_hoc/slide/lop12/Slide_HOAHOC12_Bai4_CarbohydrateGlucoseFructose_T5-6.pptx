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Chương 2. Carbohydrate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4. GIỚI THIỆU VỀ CARBOHYDRATE. GLUCOSE VÀ FRUCTOSE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Hóa học 12 · Kết nối tri thức với cuộc sống · Tuần 3 · Tiết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91B1B"/>
                </a:solidFill>
                <a:latin typeface="Calibri"/>
              </a:rPr>
              <a:t>Tích hợp STEM: LÀM GƯƠNG SOI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Lý – Hóa – Công nghệ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Nêu khái niệm, phân loại carbohydrate; trạng thái tự nhiên của glucose, fructose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Viết CTCT mạch hở, mạch vòng; gọi tên glucose, fructose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Trình bày tính chất: Cu(OH)₂, nước bromine, thuốc thử Tollens, lên men, –OH hemiacetal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Thực hiện (hoặc quan sát video) thí nghiệm, giải thích hiện tượng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Trình bày ứng dụng của glucose, fructose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STEM: chế tạo gương soi mini bằng phản ứng tráng bạc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KHỞI ĐỘNG – EM CÓ BIẾT?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Suy nghĩ, dự đoán – chưa cần trả lời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309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Carbohydrate gồm nhiều hợp chất thiên nhiên có vai trò quan trọng: tinh bột và glucose là nguồn dự trữ, cung cấp năng lượng; cellulose giúp xây dựng cấu trúc màng tế bào thực vật và thân cây.
Vậy carbohydrate là gì? Glucose và fructose có những tính chất hoá học cơ bản nào?</a:t>
            </a:r>
          </a:p>
        </p:txBody>
      </p:sp>
      <p:pic>
        <p:nvPicPr>
          <p:cNvPr id="9" name="Picture 8" descr="3d_alpha_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3736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Bản đồ kiến thức của bài – quét mã QR để làm bài củng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266746" y="2096932"/>
            <a:ext cx="1102310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8213" y="1825741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Hợp chất tạp chức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Cn(H₂O)m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24302" y="2608371"/>
            <a:ext cx="844754" cy="10465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657" y="243789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Mono: glucose, fructose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24302" y="2713024"/>
            <a:ext cx="844754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657" y="2848620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Đi: saccharose, maltose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10154" y="2713024"/>
            <a:ext cx="758902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4805" y="3259348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Poly: tinh bột, cellulose</a:t>
            </a:r>
          </a:p>
        </p:txBody>
      </p:sp>
      <p:sp>
        <p:nvSpPr>
          <p:cNvPr id="16" name="Oval 15"/>
          <p:cNvSpPr/>
          <p:nvPr/>
        </p:nvSpPr>
        <p:spPr>
          <a:xfrm>
            <a:off x="2288743" y="2474758"/>
            <a:ext cx="2160625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Carbohydrate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794799"/>
            <a:ext cx="1016457" cy="91822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74281" y="1624319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C₆H₁₂O₆ – đồng phân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306238"/>
            <a:ext cx="1145235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03059" y="2035047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Glucose: 5 –OH +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–CHO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102309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60133" y="2647198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Fructose: 5 –OH +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C=O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231087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88911" y="3259348"/>
            <a:ext cx="142097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Mạch hở ⇌ vòng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α, β</a:t>
            </a:r>
          </a:p>
        </p:txBody>
      </p:sp>
      <p:sp>
        <p:nvSpPr>
          <p:cNvPr id="26" name="Oval 25"/>
          <p:cNvSpPr/>
          <p:nvPr/>
        </p:nvSpPr>
        <p:spPr>
          <a:xfrm>
            <a:off x="5224221" y="2474758"/>
            <a:ext cx="1467205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Cấu tạo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15336" y="4186869"/>
            <a:ext cx="953720" cy="91822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9623" y="3915679"/>
            <a:ext cx="197571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Cu(OH)₂ → dung dịch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xanh lam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322880" y="4799020"/>
            <a:ext cx="1046176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32079" y="4527829"/>
            <a:ext cx="1790801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Tollens → kết tủa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Ag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52598" y="5105095"/>
            <a:ext cx="1016458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361" y="5139979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Glucose làm mất màu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nước Br₂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266746" y="5105095"/>
            <a:ext cx="1102310" cy="91822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8213" y="5752129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Lên men → C₂H₅OH,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lactic acid</a:t>
            </a:r>
          </a:p>
        </p:txBody>
      </p:sp>
      <p:sp>
        <p:nvSpPr>
          <p:cNvPr id="36" name="Oval 35"/>
          <p:cNvSpPr/>
          <p:nvPr/>
        </p:nvSpPr>
        <p:spPr>
          <a:xfrm>
            <a:off x="2496769" y="4698331"/>
            <a:ext cx="1744573" cy="813526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Tính chất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hoá học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186869"/>
            <a:ext cx="887679" cy="91822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45503" y="3915679"/>
            <a:ext cx="2107793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Glucose: quả chín, máu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4,4–7,2 mmol/L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844753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02577" y="4527829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Fructose: mật ong, trái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cây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801827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59651" y="5139979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Tráng gương, truyền dịch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5%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887679" cy="91822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45503" y="5752129"/>
            <a:ext cx="2107793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Sản xuất ethanol, thực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phẩm</a:t>
            </a:r>
          </a:p>
        </p:txBody>
      </p:sp>
      <p:sp>
        <p:nvSpPr>
          <p:cNvPr id="46" name="Oval 45"/>
          <p:cNvSpPr/>
          <p:nvPr/>
        </p:nvSpPr>
        <p:spPr>
          <a:xfrm>
            <a:off x="5154879" y="4698331"/>
            <a:ext cx="160588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Tự nhiên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ứng dụng</a:t>
            </a:r>
          </a:p>
        </p:txBody>
      </p:sp>
      <p:sp>
        <p:nvSpPr>
          <p:cNvPr id="47" name="Oval 46"/>
          <p:cNvSpPr/>
          <p:nvPr/>
        </p:nvSpPr>
        <p:spPr>
          <a:xfrm>
            <a:off x="2824988" y="3444194"/>
            <a:ext cx="3676904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CARBOHYDRATE GLUCOSE –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FRUCTOSE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QUÉT MÃ CỦNG CỐ</a:t>
            </a:r>
          </a:p>
        </p:txBody>
      </p:sp>
      <p:pic>
        <p:nvPicPr>
          <p:cNvPr id="50" name="Picture 49" descr="QR_hoa_cc_bai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câu 4 lựa chọn + 1 câu Đúng/Sai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Phòng thi bảo mật – đáp án niêm phong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trangtu66.github.io/Taode_thi_online/hoa_cc_bai4_k12.html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1. KHÁI NIỆM VÀ PHÂN LOẠI CARBOHYDRATE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Carbohydrate: hợp chất hữu cơ tạp chức, thường có công thức Cn(H₂O)m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Monosaccharide: không bị thuỷ phân – glucose, fructose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Disaccharide: thuỷ phân → 2 monosaccharide – saccharose, maltose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Polysaccharide: thuỷ phân → nhiều monosaccharide – tinh bột, cellulose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1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Hoạt động SGK tr.20: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CH₂OH–CHOH–CHOH–CHOH–CHOH–CH=O và CH₂OH–CHOH–CHOH–CHOH–CO–CH₂OH chứa những nhóm chức nào?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Viết C₆H₁₂O₆, C₁₂H₂₂O₁₁, (C₆H₁₀O₅)ₙ dưới dạng Cn(H₂O)m.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Nhóm –OH, –CH=O, C=O; tách O và H theo tỉ lệ H₂O.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Chất thứ nhất: 5 nhóm –OH + 1 nhóm aldehyde (–CHO)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Chất thứ hai: 5 nhóm –OH + 1 nhóm ketone (C=O)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C₆H₁₂O₆ = C₆(H₂O)₆;  C₁₂H₂₂O₁₁ = C₁₂(H₂O)₁₁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(C₆H₁₀O₅)ₙ = C₆ₙ(H₂O)₅ₙ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Carbohydrate là hợp chất tạp chức, thường có công thức chung Cn(H₂O)m.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2. CẤU TẠO PHÂN TỬ GLUCOSE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Công thức phân tử C₆H₁₂O₆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Mạch hở: CH₂OH[CHOH]₄CH=O (5 –OH + 1 –CHO)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Hai dạng mạch vòng α và β chuyển hoá qua lại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Nhóm –OH ở C1 của dạng vòng: –OH hemiacetal</a:t>
            </a:r>
          </a:p>
        </p:txBody>
      </p:sp>
      <p:pic>
        <p:nvPicPr>
          <p:cNvPr id="7" name="Picture 6" descr="b4_g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846559"/>
            <a:ext cx="4846320" cy="13477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Glucose mạch hở và mạch vòng – SGK Hóa học 12 KNTT, tr.21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3. CẤU TẠO PHÂN TỬ FRUCTOSE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Công thức phân tử C₆H₁₂O₆ (đồng phân của glucose)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Mạch hở: 5 nhóm –OH + 1 nhóm ketone (C=O ở C2)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Mạch vòng 5 cạnh α, β; –OH hemiketal ở C2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Trong môi trường kiềm: glucose ⇌ fructose</a:t>
            </a:r>
          </a:p>
        </p:txBody>
      </p:sp>
      <p:pic>
        <p:nvPicPr>
          <p:cNvPr id="7" name="Picture 6" descr="b4_f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95281"/>
            <a:ext cx="4846320" cy="1450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Fructose mạch hở và mạch vòng – SGK Hóa học 12 KNTT, tr.21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4. TÍNH CHẤT HOÁ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Tính polyalcohol: hoà tan Cu(OH)₂ → dung dịch xanh lam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2C₆H₁₂O₆ + Cu(OH)₂ → (C₆H₁₁O₆)₂Cu + 2H₂O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Tính aldehyde: + Tollens → Ag; + Cu(OH)₂/OH⁻, t° → Cu₂O đỏ gạch; + Br₂ (chỉ glucose)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–OH hemiacetal + CH₃OH (HCl khan) → methyl glucoside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Lên men: C₆H₁₂O₆ → 2C₂H₅OH + 2CO₂ (enzyme)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2 – THÍ NGHIỆM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Thí nghiệm SGK tr.22–23: (1) glucose + Cu(OH)₂/NaOH, đun nóng; (2) glucose + thuốc thử Tollens, ngâm nước nóng; (3) glucose + nước bromine.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Quan sát, mô tả hiện tượng, giải thích và viết PTHH.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Nhóm –CHO bị oxi hoá thành –COOH (hoặc muối).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2 – THÍ NGHIỆM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Dung dịch xanh lam; khi đun → kết tủa đỏ gạch Cu₂O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Lớp bạc sáng bám thành ống nghiệm: …CH=O + 2[Ag(NH₃)₂]OH → …COONH₄ + 2Ag + 3NH₃ + H₂O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Nước bromine mất màu: …CH=O + Br₂ + H₂O → …COOH + 2HBr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Glucose có tính chất của aldehyde và polyalcohol.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3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Viết phương trình hoá học minh hoạ phản ứng của fructose với thuốc thử Tollens và Cu(OH)₂ (trong môi trường kiềm, đun nóng) (SGK tr.23, câu 1).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Cho biết các ứng dụng của glucose dựa trên tính chất nào? (SGK tr.24, câu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Fructose chuyển hoá thành glucose trong môi trường kiềm.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CH₂OH[CHOH]₃COCH₂OH ⇌ CH₂OH[CHOH]₄CHO (OH⁻)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+ 2[Ag(NH₃)₂]OH → CH₂OH[CHOH]₄COONH₄ + 2Ag + 3NH₃ + H₂O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+ 2Cu(OH)₂ + NaOH → CH₂OH[CHOH]₄COONa + Cu₂O + 3H₂O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Tráng gương, ruột phích ← phản ứng tráng bạc; sản xuất ethanol ← lên men; thực phẩm, truyền dịch ← dinh dưỡng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Fructose cũng tráng bạc và khử Cu(OH)₂ khi đun nóng trong môi trường kiềm.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5. TRẠNG THÁI TỰ NHIÊN VÀ ỨNG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Glucose: chất rắn, tan tốt, vị ngọt; có trong quả chín, cơ thể người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Máu người khoẻ mạnh lúc đói: 4,4–7,2 mmol/L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Fructose: có nhiều trong mật ong, táo, lựu, nho, lê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Ứng dụng: tráng gương, truyền dịch 5%, sản xuất ethanol, thực phẩm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Lựa chọn nguồn cung cấp glucose, fructose hợp lí cho sức khoẻ</a:t>
            </a:r>
          </a:p>
        </p:txBody>
      </p:sp>
      <p:pic>
        <p:nvPicPr>
          <p:cNvPr id="7" name="Picture 6" descr="3d_beta_fruct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Mô hình 3D β-fructose – PubChem (NIH), CID 439709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DỰ ÁN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LÀM GƯƠNG SOI MINI · quy trình thiết kế kĩ thuật 5 hoạt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 – Khoa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Cấu tạo phân tử glucose; phản ứng tráng bạc (thuốc thử Tollens), phản ứng lên men, nhóm –OH hemiacetal ở dạng mạch vòng.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47857"/>
                </a:solidFill>
                <a:latin typeface="Arial"/>
              </a:rPr>
              <a:t>T – Công nghệ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Sử dụng dụng cụ thí nghiệm đơn giản: pipette, cốc chịu nhiệt, đèn cồn/bếp, bình định mức; pha thuốc thử Tollens đúng cách.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Arial"/>
              </a:rPr>
              <a:t>E – Kĩ thuật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Thiết kế quy trình chế tạo gương soi mini bằng phản ứng giữa glucose và thuốc thử Tollens; dự trù vật liệu – hoá chất.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 – Toán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Tính lượng Ag cần cho diện tích kính; lượng glucose, AgNO₃ theo tỉ lệ phản ứng; trang trí khung gương cân đối.</a:t>
            </a:r>
          </a:p>
        </p:txBody>
      </p:sp>
      <p:sp>
        <p:nvSpPr>
          <p:cNvPr id="19" name="Pentagon 18"/>
          <p:cNvSpPr/>
          <p:nvPr/>
        </p:nvSpPr>
        <p:spPr>
          <a:xfrm>
            <a:off x="548640" y="4114800"/>
            <a:ext cx="2194560" cy="1051560"/>
          </a:xfrm>
          <a:prstGeom prst="homePlat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Xác định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vấn đề</a:t>
            </a:r>
          </a:p>
        </p:txBody>
      </p:sp>
      <p:sp>
        <p:nvSpPr>
          <p:cNvPr id="20" name="Chevron 19"/>
          <p:cNvSpPr/>
          <p:nvPr/>
        </p:nvSpPr>
        <p:spPr>
          <a:xfrm>
            <a:off x="2798064" y="4114800"/>
            <a:ext cx="2194560" cy="1051560"/>
          </a:xfrm>
          <a:prstGeom prst="chevron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Nghiên cứu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kiến thức nền</a:t>
            </a:r>
          </a:p>
        </p:txBody>
      </p:sp>
      <p:sp>
        <p:nvSpPr>
          <p:cNvPr id="21" name="Chevron 20"/>
          <p:cNvSpPr/>
          <p:nvPr/>
        </p:nvSpPr>
        <p:spPr>
          <a:xfrm>
            <a:off x="5047488" y="4114800"/>
            <a:ext cx="2194560" cy="105156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Lựa chọn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giải pháp</a:t>
            </a:r>
          </a:p>
        </p:txBody>
      </p:sp>
      <p:sp>
        <p:nvSpPr>
          <p:cNvPr id="22" name="Chevron 21"/>
          <p:cNvSpPr/>
          <p:nvPr/>
        </p:nvSpPr>
        <p:spPr>
          <a:xfrm>
            <a:off x="7296912" y="4114800"/>
            <a:ext cx="2194560" cy="105156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Chế tạo –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thử nghiệm</a:t>
            </a:r>
          </a:p>
        </p:txBody>
      </p:sp>
      <p:sp>
        <p:nvSpPr>
          <p:cNvPr id="23" name="Chevron 22"/>
          <p:cNvSpPr/>
          <p:nvPr/>
        </p:nvSpPr>
        <p:spPr>
          <a:xfrm>
            <a:off x="9546336" y="4114800"/>
            <a:ext cx="2194560" cy="1051560"/>
          </a:xfrm>
          <a:prstGeom prst="chevron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Chia sẻ –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điều chỉnh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Tiết 5: HĐ1 xác định vấn đề, HĐ2 kiến thức nền · Tiết 6: HĐ3 chọn giải pháp · Phòng thí nghiệm (có GV giám sát) Tuần 4: chế tạo, thử nghiệm · Ngày hội STEM Chương 2 (cuối Tuần 5): chia sẻ, điều chỉnh.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Đã kiểm tra liên kết (YouTube oEmbed) – xem trên lớp hoặc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4. Giới thiệu về carbohydrate. Glu</a:t>
            </a:r>
          </a:p>
        </p:txBody>
      </p:sp>
      <p:pic>
        <p:nvPicPr>
          <p:cNvPr id="7" name="Picture 6" descr="_qr_vid_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46304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Thí nghiệm phản ứng của glucose với thuốc thử Tollens | Hoá học 12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Học Hóa Cùng Cô Ly · Dùng ở: HĐ2.3 – Glucose với thuốc thử Tollens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https://www.youtube.com/watch?v=oS6hl0UDlXo</a:t>
            </a:r>
          </a:p>
        </p:txBody>
      </p:sp>
      <p:pic>
        <p:nvPicPr>
          <p:cNvPr id="9" name="Picture 8" descr="_qr_vid_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310896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GLUCOSE PHẢN ỨNG VỚI Cu(OH)2 #thinghiemhoahoc  #glucose #taophuc #hoacobichngoc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Cô Bích Ngọc Hóa học · Dùng ở: HĐ2.3 – Glucose với Cu(OH)₂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https://www.youtube.com/watch?v=4B6Z1nKLaf8</a:t>
            </a:r>
          </a:p>
        </p:txBody>
      </p:sp>
      <p:pic>
        <p:nvPicPr>
          <p:cNvPr id="11" name="Picture 10" descr="_qr_vid_4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4560" y="475488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Phản ứng tráng gương (tráng bạc) - silver mirror reaction. HCHO + AgNO3/NH3 (thuốc thử Tollens)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Hóa học ABC · Dùng ở: HĐ1, HĐ4 – STEM: phản ứng tráng gương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https://www.youtube.com/watch?v=qRqDUDy3MTU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hoa_cc_bai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trangtu66.github.io/Taode_thi_online/hoa_cc_bai4_k12.html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Quét mã bằng điện thoại · 6 câu 4 lựa chọn + 1 câu Đúng/Sai · Kết quả gửi về GV tự động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4. Giới thiệu về carbohydrate. Glucose và fructose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