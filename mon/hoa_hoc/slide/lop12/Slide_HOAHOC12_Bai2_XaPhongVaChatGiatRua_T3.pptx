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Chương 1. Ester – Lipid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2. XÀ PHÒNG VÀ CHẤT GIẶT RỬA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Hóa học 12 · Kết nối tri thức với cuộc sống · Tuần 2 · Tiết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91B1B"/>
                </a:solidFill>
                <a:latin typeface="Calibri"/>
              </a:rPr>
              <a:t>Tích hợp STEM: SẢN XUẤT XÀ PHÒNG TỪ DẦU DỪA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Lý – Hóa – Công nghệ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2. Xà phòng và chất giặt rửa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Nêu khái niệm, đặc điểm cấu tạo của xà phòng, chất giặt rửa tự nhiên và tổng hợp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Giải thích tính chất giặt rửa (đầu ưa nước – đuôi kị nước)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Trình bày phương pháp sản xuất xà phòng và chất giặt rửa tổng hợp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Thực hiện (hoặc quan sát video) thí nghiệm xà phòng hoá chất béo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Sử dụng xà phòng, chất giặt rửa hợp lí, an toàn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STEM: thiết kế – chế tạo xà phòng từ dầu dừa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KHỞI ĐỘNG – EM CÓ BIẾT?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Suy nghĩ, dự đoán – chưa cần trả lời ngay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2. Xà phòng và chất giặt rửa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6309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Tại sao xà phòng và chất giặt rửa có thể loại bỏ các vết bẩn trên quần áo, dầu mỡ ở chén bát?
Em hãy dự đoán: điều gì xảy ra với giọt dầu khi nhỏ thêm vài giọt nước rửa chén?</a:t>
            </a:r>
          </a:p>
        </p:txBody>
      </p:sp>
      <p:pic>
        <p:nvPicPr>
          <p:cNvPr id="9" name="Picture 8" descr="b2_h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169742"/>
            <a:ext cx="4206240" cy="13414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Bản đồ kiến thức của bài – quét mã QR để làm bài củng cố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2. Xà phòng và chất giặt rửa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352598" y="1794799"/>
            <a:ext cx="1016458" cy="91822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361" y="1523608"/>
            <a:ext cx="1850237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Xà phòng: muối Na/K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của acid béo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481376" y="2406949"/>
            <a:ext cx="887680" cy="30607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3583" y="2135758"/>
            <a:ext cx="2107793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Chất giặt rửa tổng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hợp: R-SO₃Na, R-OSO₃Na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266746" y="2713024"/>
            <a:ext cx="1102310" cy="30607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8213" y="2747909"/>
            <a:ext cx="1678533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Tự nhiên: bồ kết,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bồ hòn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395524" y="2713024"/>
            <a:ext cx="973532" cy="91822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9435" y="3360059"/>
            <a:ext cx="1936089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Phụ gia: hương, chất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diệt khuẩn</a:t>
            </a:r>
          </a:p>
        </p:txBody>
      </p:sp>
      <p:sp>
        <p:nvSpPr>
          <p:cNvPr id="16" name="Oval 15"/>
          <p:cNvSpPr/>
          <p:nvPr/>
        </p:nvSpPr>
        <p:spPr>
          <a:xfrm>
            <a:off x="2496769" y="2474758"/>
            <a:ext cx="174457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① Khái niệm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794799"/>
            <a:ext cx="1102309" cy="91822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60133" y="1523608"/>
            <a:ext cx="1678533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Đầu ưa nước (phân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cực)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406949"/>
            <a:ext cx="1102309" cy="30607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060133" y="2135758"/>
            <a:ext cx="1678533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Đuôi kị nước (gốc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 dài)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1092403" cy="30607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050227" y="2747909"/>
            <a:ext cx="1698345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Giảm sức căng bề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mặt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1059383" cy="91822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017207" y="3360059"/>
            <a:ext cx="1764385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Chia vết bẩn thành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hạt nhỏ</a:t>
            </a:r>
          </a:p>
        </p:txBody>
      </p:sp>
      <p:sp>
        <p:nvSpPr>
          <p:cNvPr id="26" name="Oval 25"/>
          <p:cNvSpPr/>
          <p:nvPr/>
        </p:nvSpPr>
        <p:spPr>
          <a:xfrm>
            <a:off x="5085537" y="2137764"/>
            <a:ext cx="1744573" cy="1150520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② Cấu tạo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&amp; tính giặt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rửa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230424" y="4186869"/>
            <a:ext cx="1138632" cy="91822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24535" y="3814968"/>
            <a:ext cx="1605889" cy="743803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Chất béo + NaOH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→ glycerol + xà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phòng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266746" y="4899731"/>
            <a:ext cx="1102310" cy="20536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88213" y="4628540"/>
            <a:ext cx="1678533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Từ dầu mỏ: alkane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→ acid béo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309672" y="5105095"/>
            <a:ext cx="1059384" cy="40678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5287" y="5240690"/>
            <a:ext cx="1764385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Chất giặt rửa: dầu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mỏ → R-SO₃H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309672" y="5105095"/>
            <a:ext cx="1059384" cy="101893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45287" y="5852840"/>
            <a:ext cx="1764385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Tách xà phòng bằng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NaCl bão hoà</a:t>
            </a:r>
          </a:p>
        </p:txBody>
      </p:sp>
      <p:sp>
        <p:nvSpPr>
          <p:cNvPr id="36" name="Oval 35"/>
          <p:cNvSpPr/>
          <p:nvPr/>
        </p:nvSpPr>
        <p:spPr>
          <a:xfrm>
            <a:off x="2566111" y="4866829"/>
            <a:ext cx="1605889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③ Sản xuất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186869"/>
            <a:ext cx="1059383" cy="91822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017207" y="3915679"/>
            <a:ext cx="1764385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Xà phòng kém tác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dụng với nước cứng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799020"/>
            <a:ext cx="1059383" cy="30607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017207" y="4527829"/>
            <a:ext cx="1764385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Chất giặt rửa dùng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được nước cứng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1188161" cy="30607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145985" y="5139979"/>
            <a:ext cx="1506829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Một số khó phân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huỷ sinh học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1016457" cy="91822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974281" y="5752129"/>
            <a:ext cx="1850237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Dùng đúng liều, bảo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vệ da</a:t>
            </a:r>
          </a:p>
        </p:txBody>
      </p:sp>
      <p:sp>
        <p:nvSpPr>
          <p:cNvPr id="46" name="Oval 45"/>
          <p:cNvSpPr/>
          <p:nvPr/>
        </p:nvSpPr>
        <p:spPr>
          <a:xfrm>
            <a:off x="5154879" y="4529834"/>
            <a:ext cx="1605889" cy="1150520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④ Sử dụng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hợp lí, an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toàn</a:t>
            </a:r>
          </a:p>
        </p:txBody>
      </p:sp>
      <p:sp>
        <p:nvSpPr>
          <p:cNvPr id="47" name="Oval 46"/>
          <p:cNvSpPr/>
          <p:nvPr/>
        </p:nvSpPr>
        <p:spPr>
          <a:xfrm>
            <a:off x="3532276" y="3444194"/>
            <a:ext cx="2262327" cy="929731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XÀ PHÒNG &amp;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CHẤT GIẶT RỬA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QUÉT MÃ CỦNG CỐ</a:t>
            </a:r>
          </a:p>
        </p:txBody>
      </p:sp>
      <p:pic>
        <p:nvPicPr>
          <p:cNvPr id="50" name="Picture 49" descr="QR_hoa_cc_bai2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câu 4 lựa chọn + 1 câu Đúng/Sai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Phòng thi bảo mật – đáp án niêm phong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trangtu66.github.io/Taode_thi_online/hoa_cc_bai2_k12.html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1. KHÁI NIỆM XÀ PHÒNG – CHẤT GIẶT RỬA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2. Xà phòng và chất giặt rửa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309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Xà phòng: hỗn hợp muối Na/K của acid béo + phụ gia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Chủ yếu: muối sodium của palmitic, stearic acid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Chất giặt rửa tổng hợp: muối sodium alkylsulfate, alkylbenzene sulfonate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Chất giặt rửa tự nhiên: quả bồ kết, bồ hòn,…</a:t>
            </a:r>
          </a:p>
        </p:txBody>
      </p:sp>
      <p:pic>
        <p:nvPicPr>
          <p:cNvPr id="7" name="Picture 6" descr="b2_h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889686"/>
            <a:ext cx="4846320" cy="12615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57607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Hình 2.2 – SGK Hóa học 12 KNTT, tr.15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2. CẤU TẠO VÀ TÍNH CHẤT GIẶT RỬA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2. Xà phòng và chất giặt rửa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309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Phần phân cực – "đầu" ưa nước: –COO⁻Na⁺, –SO₃⁻Na⁺, –OSO₃⁻Na⁺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Phần không phân cực – "đuôi" kị nước: gốc R dài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Làm giảm sức căng bề mặt → vật dễ thấm ướt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Đuôi kị nước thâm nhập vết bẩn, chia thành hạt nhỏ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Hạt có đầu ưa nước quay ra ngoài → phân tán, bị rửa trôi</a:t>
            </a:r>
          </a:p>
        </p:txBody>
      </p:sp>
      <p:pic>
        <p:nvPicPr>
          <p:cNvPr id="7" name="Picture 6" descr="b2_h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47633"/>
            <a:ext cx="4846320" cy="15456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57607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Hình 2.3 – SGK Hóa học 12 KNTT, tr.15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BÀI TẬP 1 –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Thảo luận cặp đôi / nhóm – chưa xem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2. Xà phòng và chất giặt rửa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Trong các chất sau, chất nào là xà phòng, chất nào là chất giặt rửa tổng hợp? Xác định đầu ưa nước và đuôi kị nước: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a) CH₃[CH₂]₁₄COONa;   b) CH₃[CH₂]₁₀CH₂OSO₃Na (SGK tr.15, câu 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Gợi mở: Muối của acid béo → xà phòng; muối sulfate/sulfonate → chất giặt rửa tổng hợp.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BÀI TẬP 1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2. Xà phòng và chất giặt rửa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a) Sodium palmitate – xà phòng: đầu ưa nước –COONa; đuôi kị nước CH₃[CH₂]₁₄–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b) Sodium dodecyl sulfate – chất giặt rửa tổng hợp: đầu ưa nước –OSO₃Na; đuôi kị nước CH₃[CH₂]₁₀CH₂–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Kết luận: a) là xà phòng, b) là chất giặt rửa tổng hợp.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3. PHƯƠNG PHÁP SẢN XUẤT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2. Xà phòng và chất giặt rửa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Chất béo + NaOH/KOH (đặc, t°) → glycerol + muối của acid béo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Muối acid béo + chất diệt khuẩn, tạo hương → ép bánh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Từ dầu mỏ: alkane → acid béo → muối Na/K của acid béo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Chất giặt rửa: dầu mỏ → R–SO₃H, R–OSO₃H → R–SO₃Na, R–OSO₃Na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Bột giặt: chất giặt rửa + chất tẩy trắng, enzyme, chất tạo bọt…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BÀI TẬP 2 – THÍ NGHIỆM –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Thảo luận cặp đôi / nhóm – chưa xem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2. Xà phòng và chất giặt rửa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3152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Thí nghiệm SGK tr.16: đun 2 g chất béo với 4 mL NaOH 40% trong bát sứ ~10 phút, khuấy liên tục; đổ vào 30 mL dung dịch NaCl bão hoà.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Tại sao phải khuấy liên tục hỗn hợp phản ứng?   2. Giải thích hiện tượng xảy ra.</a:t>
            </a:r>
          </a:p>
        </p:txBody>
      </p:sp>
      <p:pic>
        <p:nvPicPr>
          <p:cNvPr id="8" name="Picture 7" descr="b2_h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677281"/>
            <a:ext cx="3840480" cy="14119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Gợi mở: Chất béo không tan trong dung dịch NaOH – muốn phản ứng nhanh cần tăng tiếp xúc.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BÀI TẬP 2 – THÍ NGHIỆM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2. Xà phòng và chất giặt rửa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Chất béo không tan, nhẹ hơn dung dịch → khuấy để tăng diện tích tiếp xúc, phản ứng nhanh và hoàn toàn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Ban đầu hỗn hợp tách lớp; khi đun, hỗn hợp đặc dần (tạo muối acid béo)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Thêm NaCl bão hoà: muối acid béo ít tan, nhẹ hơn → nổi lên trên (xà phòng)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PTHH: (C₁₇H₃₅COO)₃C₃H₅ + 3NaOH → C₃H₅(OH)₃ + 3C₁₇H₃₅COONa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Kết luận: Khối rắn nổi lên là xà phòng; phần dung dịch chứa glycerol, NaCl.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BÀI TẬP 3 –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Thảo luận cặp đôi / nhóm – chưa xem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2. Xà phòng và chất giặt rửa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Viết phương trình phản ứng xà phòng hoá chất béo tripalmitin (tạo thành từ glycerol và palmitic acid) bằng dung dịch NaOH (SGK tr.16, câu 3).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Gợi mở: Palmitic acid: C₁₅H₃₁COOH.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BÀI TẬP 3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2. Xà phòng và chất giặt rửa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Tripalmitin: (C₁₅H₃₁COO)₃C₃H₅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(C₁₅H₃₁COO)₃C₃H₅ + 3NaOH → C₃H₅(OH)₃ + 3C₁₅H₃₁COONa (t°)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Sản phẩm: glycerol và sodium palmitate (xà phòng)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Kết luận: 1 mol tripalmitin phản ứng với 3 mol NaOH.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4. ỨNG DỤNG – SỬ DỤNG HỢP LÍ, AN TOÀN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2. Xà phòng và chất giặt rửa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309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Xà phòng: tắm, rửa tay; chất giặt rửa: giặt quần áo, rửa chén, lau sàn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Chất giặt rửa dễ tan, dùng được với nước cứng, môi trường acid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Nhược điểm: một số chất giặt rửa khó phân huỷ sinh học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Dùng đúng liều lượng, đeo găng tay, tránh để trẻ em tiếp xúc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Ưu tiên sản phẩm thân thiện môi trường</a:t>
            </a:r>
          </a:p>
        </p:txBody>
      </p:sp>
      <p:pic>
        <p:nvPicPr>
          <p:cNvPr id="7" name="Picture 6" descr="3d_glyce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29768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57607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Glycerol – sản phẩm phụ của xà phòng hoá · PubChem CID 753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DỰ ÁN 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SẢN XUẤT XÀ PHÒNG TỪ DẦU DỪA · quy trình thiết kế kĩ thuật 5 hoạt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2. Xà phòng và chất giặt rửa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S – Khoa học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Phản ứng xà phòng hoá chất béo; vai trò của NaOH; các yếu tố ảnh hưởng; phân biệt xà phòng và glycerol; cơ chế giặt rửa (đầu ưa nước – đuôi kị nước).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46304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0876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47857"/>
                </a:solidFill>
                <a:latin typeface="Arial"/>
              </a:rPr>
              <a:t>T – Công nghệ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6596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Dùng cân, cốc chịu nhiệt, nhiệt kế, giấy pH để theo dõi phản ứng; đánh giá độ an toàn của sản phẩm (pH 8–10).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46304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4" y="150876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Arial"/>
              </a:rPr>
              <a:t>E – Kĩ thuật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96596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Thiết kế – chế tạo bánh xà phòng thủ công: an toàn, tạo bọt tốt, bền, thân thiện môi trường.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146304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50876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 – Toán học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196596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Tính lượng dầu dừa, NaOH, nước theo chỉ số xà phòng hoá; tính % dư dầu (5–8%) và đánh giá ảnh hưởng khi lệch tỉ lệ.</a:t>
            </a:r>
          </a:p>
        </p:txBody>
      </p:sp>
      <p:sp>
        <p:nvSpPr>
          <p:cNvPr id="19" name="Pentagon 18"/>
          <p:cNvSpPr/>
          <p:nvPr/>
        </p:nvSpPr>
        <p:spPr>
          <a:xfrm>
            <a:off x="548640" y="4114800"/>
            <a:ext cx="2194560" cy="1051560"/>
          </a:xfrm>
          <a:prstGeom prst="homePlat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1. Xác định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vấn đề</a:t>
            </a:r>
          </a:p>
        </p:txBody>
      </p:sp>
      <p:sp>
        <p:nvSpPr>
          <p:cNvPr id="20" name="Chevron 19"/>
          <p:cNvSpPr/>
          <p:nvPr/>
        </p:nvSpPr>
        <p:spPr>
          <a:xfrm>
            <a:off x="2798064" y="4114800"/>
            <a:ext cx="2194560" cy="1051560"/>
          </a:xfrm>
          <a:prstGeom prst="chevron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2. Nghiên cứu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kiến thức nền</a:t>
            </a:r>
          </a:p>
        </p:txBody>
      </p:sp>
      <p:sp>
        <p:nvSpPr>
          <p:cNvPr id="21" name="Chevron 20"/>
          <p:cNvSpPr/>
          <p:nvPr/>
        </p:nvSpPr>
        <p:spPr>
          <a:xfrm>
            <a:off x="5047488" y="4114800"/>
            <a:ext cx="2194560" cy="1051560"/>
          </a:xfrm>
          <a:prstGeom prst="chevron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3. Lựa chọn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giải pháp</a:t>
            </a:r>
          </a:p>
        </p:txBody>
      </p:sp>
      <p:sp>
        <p:nvSpPr>
          <p:cNvPr id="22" name="Chevron 21"/>
          <p:cNvSpPr/>
          <p:nvPr/>
        </p:nvSpPr>
        <p:spPr>
          <a:xfrm>
            <a:off x="7296912" y="4114800"/>
            <a:ext cx="2194560" cy="105156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4. Chế tạo –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thử nghiệm</a:t>
            </a:r>
          </a:p>
        </p:txBody>
      </p:sp>
      <p:sp>
        <p:nvSpPr>
          <p:cNvPr id="23" name="Chevron 22"/>
          <p:cNvSpPr/>
          <p:nvPr/>
        </p:nvSpPr>
        <p:spPr>
          <a:xfrm>
            <a:off x="9546336" y="4114800"/>
            <a:ext cx="2194560" cy="1051560"/>
          </a:xfrm>
          <a:prstGeom prst="chevron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5. Chia sẻ –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điều chỉnh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4924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Tiết 3: HĐ1 xác định vấn đề, HĐ2 kiến thức nền, HĐ3 chọn giải pháp · Ở nhà/phòng thí nghiệm (có GV giám sát): chế tạo, ủ 2–4 tuần · Ngày hội STEM Chương 1 (cuối Tuần 2, trưng bày bản mẫu) và báo cáo cuối Tuần 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Đã kiểm tra liên kết (YouTube oEmbed) – xem trên lớp hoặc ở nhà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2. Xà phòng và chất giặt rửa</a:t>
            </a:r>
          </a:p>
        </p:txBody>
      </p:sp>
      <p:pic>
        <p:nvPicPr>
          <p:cNvPr id="7" name="Picture 6" descr="_qr_vid_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417320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94560" y="1463040"/>
            <a:ext cx="9509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THÍ NGHIỆM PHẢN ỨNG XÀ PHÒNG HÓA CHẤT BÉO HÓA HỌC 12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Kênh: Thầy LÊ PHẠM THÀNH · Dùng ở: HĐ2.3 – Thí nghiệm xà phòng hoá chất béo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https://www.youtube.com/watch?v=Fdzc19UAFK0</a:t>
            </a:r>
          </a:p>
        </p:txBody>
      </p:sp>
      <p:pic>
        <p:nvPicPr>
          <p:cNvPr id="9" name="Picture 8" descr="_qr_vid_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0"/>
            <a:ext cx="1417320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94560" y="3108960"/>
            <a:ext cx="9509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How does soap work? (3D Animation)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Kênh: ScienceWorld · Dùng ở: HĐ2.2 – Cơ chế giặt rửa (mô phỏng 3D)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https://www.youtube.com/watch?v=pKWtoPt_Y_E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hoa_cc_bai2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trangtu66.github.io/Taode_thi_online/hoa_cc_bai2_k12.html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Quét mã bằng điện thoại · 6 câu 4 lựa chọn + 1 câu Đúng/Sai · Kết quả gửi về GV tự động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2. Xà phòng và chất giặt rửa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