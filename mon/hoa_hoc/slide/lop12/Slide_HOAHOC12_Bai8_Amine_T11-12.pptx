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548640"/>
            <a:ext cx="2194560" cy="2194560"/>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2194560"/>
            <a:ext cx="1371600" cy="13716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292608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48640"/>
            <a:ext cx="8229600" cy="457200"/>
          </a:xfrm>
          <a:prstGeom prst="rect">
            <a:avLst/>
          </a:prstGeom>
          <a:noFill/>
        </p:spPr>
        <p:txBody>
          <a:bodyPr wrap="square" anchor="t">
            <a:spAutoFit/>
          </a:bodyPr>
          <a:lstStyle/>
          <a:p>
            <a:pPr algn="l">
              <a:spcAft>
                <a:spcPts val="600"/>
              </a:spcAft>
            </a:pPr>
            <a:r>
              <a:rPr sz="2000" b="0">
                <a:solidFill>
                  <a:srgbClr val="1E40AF"/>
                </a:solidFill>
                <a:latin typeface="Arial"/>
              </a:rPr>
              <a:t>Chương 3. Hợp chất chứa nitrogen</a:t>
            </a:r>
          </a:p>
        </p:txBody>
      </p:sp>
      <p:sp>
        <p:nvSpPr>
          <p:cNvPr id="8" name="TextBox 7"/>
          <p:cNvSpPr txBox="1"/>
          <p:nvPr/>
        </p:nvSpPr>
        <p:spPr>
          <a:xfrm>
            <a:off x="731520" y="1463040"/>
            <a:ext cx="8778240" cy="2377440"/>
          </a:xfrm>
          <a:prstGeom prst="rect">
            <a:avLst/>
          </a:prstGeom>
          <a:noFill/>
        </p:spPr>
        <p:txBody>
          <a:bodyPr wrap="square" anchor="ctr">
            <a:spAutoFit/>
          </a:bodyPr>
          <a:lstStyle/>
          <a:p>
            <a:pPr algn="l">
              <a:spcAft>
                <a:spcPts val="600"/>
              </a:spcAft>
            </a:pPr>
            <a:r>
              <a:rPr sz="4000" b="1">
                <a:solidFill>
                  <a:srgbClr val="1E40AF"/>
                </a:solidFill>
                <a:latin typeface="Arial"/>
              </a:rPr>
              <a:t>BÀI 8. AMINE</a:t>
            </a:r>
          </a:p>
        </p:txBody>
      </p:sp>
      <p:sp>
        <p:nvSpPr>
          <p:cNvPr id="9" name="TextBox 8"/>
          <p:cNvSpPr txBox="1"/>
          <p:nvPr/>
        </p:nvSpPr>
        <p:spPr>
          <a:xfrm>
            <a:off x="731520" y="4114800"/>
            <a:ext cx="8778240" cy="548640"/>
          </a:xfrm>
          <a:prstGeom prst="rect">
            <a:avLst/>
          </a:prstGeom>
          <a:noFill/>
        </p:spPr>
        <p:txBody>
          <a:bodyPr wrap="square" anchor="t">
            <a:spAutoFit/>
          </a:bodyPr>
          <a:lstStyle/>
          <a:p>
            <a:pPr algn="l">
              <a:spcAft>
                <a:spcPts val="600"/>
              </a:spcAft>
            </a:pPr>
            <a:r>
              <a:rPr sz="2200" b="0">
                <a:solidFill>
                  <a:srgbClr val="1E293B"/>
                </a:solidFill>
                <a:latin typeface="Calibri"/>
              </a:rPr>
              <a:t>Hóa học 12 · Kết nối tri thức với cuộc sống · Tuần 6 · Tiết 11–12</a:t>
            </a:r>
          </a:p>
        </p:txBody>
      </p:sp>
      <p:sp>
        <p:nvSpPr>
          <p:cNvPr id="10" name="TextBox 9"/>
          <p:cNvSpPr txBox="1"/>
          <p:nvPr/>
        </p:nvSpPr>
        <p:spPr>
          <a:xfrm>
            <a:off x="731520" y="5852160"/>
            <a:ext cx="8778240" cy="457200"/>
          </a:xfrm>
          <a:prstGeom prst="rect">
            <a:avLst/>
          </a:prstGeom>
          <a:noFill/>
        </p:spPr>
        <p:txBody>
          <a:bodyPr wrap="square" anchor="t">
            <a:spAutoFit/>
          </a:bodyPr>
          <a:lstStyle/>
          <a:p>
            <a:pPr algn="l">
              <a:spcAft>
                <a:spcPts val="600"/>
              </a:spcAft>
            </a:pPr>
            <a:r>
              <a:rPr sz="1600" b="0">
                <a:solidFill>
                  <a:srgbClr val="64748B"/>
                </a:solidFill>
                <a:latin typeface="Calibri"/>
              </a:rPr>
              <a:t>Trường THPT · Tổ Lý – Hóa – Công nghệ · Biên soạn: TTT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MỤC TIÊU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300" b="0">
                <a:solidFill>
                  <a:srgbClr val="1E293B"/>
                </a:solidFill>
                <a:latin typeface="Calibri"/>
              </a:rPr>
              <a:t>✔  Nêu khái niệm, phân loại amine (theo bậc, theo gốc hydrocarbon)</a:t>
            </a:r>
          </a:p>
          <a:p>
            <a:pPr algn="l">
              <a:spcAft>
                <a:spcPts val="600"/>
              </a:spcAft>
            </a:pPr>
            <a:r>
              <a:rPr sz="2300" b="0">
                <a:solidFill>
                  <a:srgbClr val="1E293B"/>
                </a:solidFill>
                <a:latin typeface="Calibri"/>
              </a:rPr>
              <a:t>✔  Viết CTCT, gọi tên amine (gốc – chức, thay thế, tên thông thường)</a:t>
            </a:r>
          </a:p>
          <a:p>
            <a:pPr algn="l">
              <a:spcAft>
                <a:spcPts val="600"/>
              </a:spcAft>
            </a:pPr>
            <a:r>
              <a:rPr sz="2300" b="0">
                <a:solidFill>
                  <a:srgbClr val="1E293B"/>
                </a:solidFill>
                <a:latin typeface="Calibri"/>
              </a:rPr>
              <a:t>✔  Nêu tính chất vật lí; cấu tạo, hình dạng phân tử methylamine, aniline</a:t>
            </a:r>
          </a:p>
          <a:p>
            <a:pPr algn="l">
              <a:spcAft>
                <a:spcPts val="600"/>
              </a:spcAft>
            </a:pPr>
            <a:r>
              <a:rPr sz="2300" b="0">
                <a:solidFill>
                  <a:srgbClr val="1E293B"/>
                </a:solidFill>
                <a:latin typeface="Calibri"/>
              </a:rPr>
              <a:t>✔  Trình bày tính base, tạo phức, phản ứng với HNO₂, phản ứng thế bromine của aniline</a:t>
            </a:r>
          </a:p>
          <a:p>
            <a:pPr algn="l">
              <a:spcAft>
                <a:spcPts val="600"/>
              </a:spcAft>
            </a:pPr>
            <a:r>
              <a:rPr sz="2300" b="0">
                <a:solidFill>
                  <a:srgbClr val="1E293B"/>
                </a:solidFill>
                <a:latin typeface="Calibri"/>
              </a:rPr>
              <a:t>✔  Thực hiện (hoặc quan sát video) thí nghiệm, giải thích hiện tượng</a:t>
            </a:r>
          </a:p>
          <a:p>
            <a:pPr algn="l">
              <a:spcAft>
                <a:spcPts val="600"/>
              </a:spcAft>
            </a:pPr>
            <a:r>
              <a:rPr sz="2300" b="0">
                <a:solidFill>
                  <a:srgbClr val="1E293B"/>
                </a:solidFill>
                <a:latin typeface="Calibri"/>
              </a:rPr>
              <a:t>✔  Trình bày ứng dụng và phương pháp điều chế amine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KHỞI ĐỘNG – EM CÓ BIẾT?</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Suy nghĩ, dự đoán – chưa cần trả lời ngay</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7" name="Rounded Rectangle 6"/>
          <p:cNvSpPr/>
          <p:nvPr/>
        </p:nvSpPr>
        <p:spPr>
          <a:xfrm>
            <a:off x="548640" y="1600200"/>
            <a:ext cx="6766560" cy="4480560"/>
          </a:xfrm>
          <a:prstGeom prst="roundRect">
            <a:avLst>
              <a:gd name="adj" fmla="val 6000"/>
            </a:avLst>
          </a:prstGeom>
          <a:solidFill>
            <a:srgbClr val="FFF7ED"/>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6309360" cy="4114800"/>
          </a:xfrm>
          <a:prstGeom prst="rect">
            <a:avLst/>
          </a:prstGeom>
          <a:noFill/>
        </p:spPr>
        <p:txBody>
          <a:bodyPr wrap="square" anchor="t">
            <a:spAutoFit/>
          </a:bodyPr>
          <a:lstStyle/>
          <a:p>
            <a:pPr algn="l">
              <a:spcAft>
                <a:spcPts val="600"/>
              </a:spcAft>
            </a:pPr>
            <a:r>
              <a:rPr sz="2400" b="0">
                <a:solidFill>
                  <a:srgbClr val="1E293B"/>
                </a:solidFill>
                <a:latin typeface="Calibri"/>
              </a:rPr>
              <a:t>Amine có nhiều ứng dụng trong các lĩnh vực dược phẩm, hoá mĩ phẩm và phẩm nhuộm.
Vậy amine là gì? Đặc điểm cấu tạo và tính chất của amine là gì?
Câu đố: Vì sao khi rửa cá bằng giấm thì mùi tanh giảm hẳn?</a:t>
            </a:r>
          </a:p>
        </p:txBody>
      </p:sp>
      <p:pic>
        <p:nvPicPr>
          <p:cNvPr id="9" name="Picture 8" descr="b8_h81.png"/>
          <p:cNvPicPr>
            <a:picLocks noChangeAspect="1"/>
          </p:cNvPicPr>
          <p:nvPr/>
        </p:nvPicPr>
        <p:blipFill>
          <a:blip r:embed="rId2"/>
          <a:stretch>
            <a:fillRect/>
          </a:stretch>
        </p:blipFill>
        <p:spPr>
          <a:xfrm>
            <a:off x="7589520" y="2924863"/>
            <a:ext cx="4206240" cy="1831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SƠ ĐỒ TƯ DUY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Bản đồ kiến thức của bài – quét mã QR để làm bài củng cố</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cxnSp>
        <p:nvCxnSpPr>
          <p:cNvPr id="7" name="Connector 6"/>
          <p:cNvCxnSpPr/>
          <p:nvPr/>
        </p:nvCxnSpPr>
        <p:spPr>
          <a:xfrm flipH="1" flipV="1">
            <a:off x="3369056" y="2713024"/>
            <a:ext cx="1294384" cy="1196036"/>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395524" y="1794799"/>
            <a:ext cx="973532" cy="91822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9435" y="1523608"/>
            <a:ext cx="1936089"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Thay H của NH₃</a:t>
            </a:r>
          </a:p>
          <a:p>
            <a:pPr algn="ctr"/>
            <a:r>
              <a:rPr sz="1300" b="0">
                <a:solidFill>
                  <a:srgbClr val="000000"/>
                </a:solidFill>
                <a:latin typeface="Calibri"/>
              </a:rPr>
              <a:t>bằng gốc hydrocarbon</a:t>
            </a:r>
          </a:p>
        </p:txBody>
      </p:sp>
      <p:cxnSp>
        <p:nvCxnSpPr>
          <p:cNvPr id="10" name="Connector 9"/>
          <p:cNvCxnSpPr/>
          <p:nvPr/>
        </p:nvCxnSpPr>
        <p:spPr>
          <a:xfrm flipH="1" flipV="1">
            <a:off x="2180894" y="2507660"/>
            <a:ext cx="1188162" cy="205364"/>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74065" y="2135758"/>
            <a:ext cx="1506829" cy="743803"/>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Bậc 1, 2, 3</a:t>
            </a:r>
          </a:p>
          <a:p>
            <a:pPr algn="ctr"/>
            <a:r>
              <a:rPr sz="1300" b="0">
                <a:solidFill>
                  <a:srgbClr val="000000"/>
                </a:solidFill>
                <a:latin typeface="Calibri"/>
              </a:rPr>
              <a:t>(số gốc gắn với</a:t>
            </a:r>
          </a:p>
          <a:p>
            <a:pPr algn="ctr"/>
            <a:r>
              <a:rPr sz="1300" b="0">
                <a:solidFill>
                  <a:srgbClr val="000000"/>
                </a:solidFill>
                <a:latin typeface="Calibri"/>
              </a:rPr>
              <a:t>N)</a:t>
            </a:r>
          </a:p>
        </p:txBody>
      </p:sp>
      <p:cxnSp>
        <p:nvCxnSpPr>
          <p:cNvPr id="12" name="Connector 11"/>
          <p:cNvCxnSpPr/>
          <p:nvPr/>
        </p:nvCxnSpPr>
        <p:spPr>
          <a:xfrm flipH="1">
            <a:off x="2481376" y="2713024"/>
            <a:ext cx="887680" cy="40678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3583" y="2949331"/>
            <a:ext cx="2107793"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Alkylamine – arylamine</a:t>
            </a:r>
          </a:p>
        </p:txBody>
      </p:sp>
      <p:cxnSp>
        <p:nvCxnSpPr>
          <p:cNvPr id="14" name="Connector 13"/>
          <p:cNvCxnSpPr/>
          <p:nvPr/>
        </p:nvCxnSpPr>
        <p:spPr>
          <a:xfrm flipH="1">
            <a:off x="2137968" y="2713024"/>
            <a:ext cx="1231088" cy="918226"/>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16991" y="3360059"/>
            <a:ext cx="1420977"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Đồng phân từ 2</a:t>
            </a:r>
          </a:p>
          <a:p>
            <a:pPr algn="ctr"/>
            <a:r>
              <a:rPr sz="1300" b="0">
                <a:solidFill>
                  <a:srgbClr val="000000"/>
                </a:solidFill>
                <a:latin typeface="Calibri"/>
              </a:rPr>
              <a:t>C trở lên</a:t>
            </a:r>
          </a:p>
        </p:txBody>
      </p:sp>
      <p:sp>
        <p:nvSpPr>
          <p:cNvPr id="16" name="Oval 15"/>
          <p:cNvSpPr/>
          <p:nvPr/>
        </p:nvSpPr>
        <p:spPr>
          <a:xfrm>
            <a:off x="2427427" y="2306261"/>
            <a:ext cx="1883257" cy="813526"/>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① Khái niệm,</a:t>
            </a:r>
          </a:p>
          <a:p>
            <a:pPr algn="ctr"/>
            <a:r>
              <a:rPr sz="1500" b="1">
                <a:solidFill>
                  <a:srgbClr val="000000"/>
                </a:solidFill>
                <a:latin typeface="Calibri"/>
              </a:rPr>
              <a:t>phân loại</a:t>
            </a:r>
          </a:p>
        </p:txBody>
      </p:sp>
      <p:cxnSp>
        <p:nvCxnSpPr>
          <p:cNvPr id="17" name="Connector 16"/>
          <p:cNvCxnSpPr/>
          <p:nvPr/>
        </p:nvCxnSpPr>
        <p:spPr>
          <a:xfrm flipV="1">
            <a:off x="4663440" y="2713024"/>
            <a:ext cx="1294384" cy="1196036"/>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57824" y="1996221"/>
            <a:ext cx="1188161" cy="716803"/>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145985" y="1725030"/>
            <a:ext cx="1506829" cy="542381"/>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Gốc – chức: gốc</a:t>
            </a:r>
          </a:p>
          <a:p>
            <a:pPr algn="ctr"/>
            <a:r>
              <a:rPr sz="1300" b="0">
                <a:solidFill>
                  <a:srgbClr val="000000"/>
                </a:solidFill>
                <a:latin typeface="Calibri"/>
              </a:rPr>
              <a:t>+ amine</a:t>
            </a:r>
          </a:p>
        </p:txBody>
      </p:sp>
      <p:cxnSp>
        <p:nvCxnSpPr>
          <p:cNvPr id="20" name="Connector 19"/>
          <p:cNvCxnSpPr/>
          <p:nvPr/>
        </p:nvCxnSpPr>
        <p:spPr>
          <a:xfrm flipV="1">
            <a:off x="5957824" y="2507660"/>
            <a:ext cx="887679" cy="20536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45503" y="2337181"/>
            <a:ext cx="2107793"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Thay thế: …-amine; N-…</a:t>
            </a:r>
          </a:p>
        </p:txBody>
      </p:sp>
      <p:cxnSp>
        <p:nvCxnSpPr>
          <p:cNvPr id="22" name="Connector 21"/>
          <p:cNvCxnSpPr/>
          <p:nvPr/>
        </p:nvCxnSpPr>
        <p:spPr>
          <a:xfrm>
            <a:off x="5957824" y="2713024"/>
            <a:ext cx="1145235" cy="20536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103059" y="2747909"/>
            <a:ext cx="1592681"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Aniline: C₆H₅NH₂</a:t>
            </a:r>
          </a:p>
        </p:txBody>
      </p:sp>
      <p:cxnSp>
        <p:nvCxnSpPr>
          <p:cNvPr id="24" name="Connector 23"/>
          <p:cNvCxnSpPr/>
          <p:nvPr/>
        </p:nvCxnSpPr>
        <p:spPr>
          <a:xfrm>
            <a:off x="5957824" y="2713024"/>
            <a:ext cx="1059383" cy="71680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017207" y="3158637"/>
            <a:ext cx="1764385" cy="542381"/>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N còn cặp electron</a:t>
            </a:r>
          </a:p>
          <a:p>
            <a:pPr algn="ctr"/>
            <a:r>
              <a:rPr sz="1300" b="0">
                <a:solidFill>
                  <a:srgbClr val="000000"/>
                </a:solidFill>
                <a:latin typeface="Calibri"/>
              </a:rPr>
              <a:t>tự do</a:t>
            </a:r>
          </a:p>
        </p:txBody>
      </p:sp>
      <p:sp>
        <p:nvSpPr>
          <p:cNvPr id="26" name="Oval 25"/>
          <p:cNvSpPr/>
          <p:nvPr/>
        </p:nvSpPr>
        <p:spPr>
          <a:xfrm>
            <a:off x="5085537" y="2306261"/>
            <a:ext cx="1744573"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② Danh pháp</a:t>
            </a:r>
          </a:p>
          <a:p>
            <a:pPr algn="ctr"/>
            <a:r>
              <a:rPr sz="1500" b="1">
                <a:solidFill>
                  <a:srgbClr val="000000"/>
                </a:solidFill>
                <a:latin typeface="Calibri"/>
              </a:rPr>
              <a:t>&amp; cấu tạo</a:t>
            </a:r>
          </a:p>
        </p:txBody>
      </p:sp>
      <p:cxnSp>
        <p:nvCxnSpPr>
          <p:cNvPr id="27" name="Connector 26"/>
          <p:cNvCxnSpPr/>
          <p:nvPr/>
        </p:nvCxnSpPr>
        <p:spPr>
          <a:xfrm flipH="1">
            <a:off x="3369056" y="3909060"/>
            <a:ext cx="1294384" cy="1196035"/>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369108" y="4186869"/>
            <a:ext cx="999948" cy="91822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85851" y="3915679"/>
            <a:ext cx="1883257"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Tính base: quỳ tím</a:t>
            </a:r>
          </a:p>
          <a:p>
            <a:pPr algn="ctr"/>
            <a:r>
              <a:rPr sz="1300" b="1">
                <a:solidFill>
                  <a:srgbClr val="8B0000"/>
                </a:solidFill>
                <a:latin typeface="Calibri"/>
              </a:rPr>
              <a:t>hoá xanh</a:t>
            </a:r>
          </a:p>
        </p:txBody>
      </p:sp>
      <p:cxnSp>
        <p:nvCxnSpPr>
          <p:cNvPr id="30" name="Connector 29"/>
          <p:cNvCxnSpPr/>
          <p:nvPr/>
        </p:nvCxnSpPr>
        <p:spPr>
          <a:xfrm flipH="1" flipV="1">
            <a:off x="2322880" y="4799020"/>
            <a:ext cx="1046176" cy="30607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32079" y="4527829"/>
            <a:ext cx="1790801"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 HCl → muối;</a:t>
            </a:r>
          </a:p>
          <a:p>
            <a:pPr algn="ctr"/>
            <a:r>
              <a:rPr sz="1300" b="1">
                <a:solidFill>
                  <a:srgbClr val="8B0000"/>
                </a:solidFill>
                <a:latin typeface="Calibri"/>
              </a:rPr>
              <a:t>+ FeCl₃ → Fe(OH)₃</a:t>
            </a:r>
          </a:p>
        </p:txBody>
      </p:sp>
      <p:cxnSp>
        <p:nvCxnSpPr>
          <p:cNvPr id="32" name="Connector 31"/>
          <p:cNvCxnSpPr/>
          <p:nvPr/>
        </p:nvCxnSpPr>
        <p:spPr>
          <a:xfrm flipH="1">
            <a:off x="2352598" y="5105095"/>
            <a:ext cx="1016458" cy="30607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02361" y="5139979"/>
            <a:ext cx="1850237"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Cu(OH)₂ → phức xanh</a:t>
            </a:r>
          </a:p>
          <a:p>
            <a:pPr algn="ctr"/>
            <a:r>
              <a:rPr sz="1300" b="0">
                <a:solidFill>
                  <a:srgbClr val="000000"/>
                </a:solidFill>
                <a:latin typeface="Calibri"/>
              </a:rPr>
              <a:t>lam</a:t>
            </a:r>
          </a:p>
        </p:txBody>
      </p:sp>
      <p:cxnSp>
        <p:nvCxnSpPr>
          <p:cNvPr id="34" name="Connector 33"/>
          <p:cNvCxnSpPr/>
          <p:nvPr/>
        </p:nvCxnSpPr>
        <p:spPr>
          <a:xfrm flipH="1">
            <a:off x="2230424" y="5105095"/>
            <a:ext cx="1138632" cy="918225"/>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24535" y="5752129"/>
            <a:ext cx="1605889"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Aniline + Br₂ →</a:t>
            </a:r>
          </a:p>
          <a:p>
            <a:pPr algn="ctr"/>
            <a:r>
              <a:rPr sz="1300" b="1">
                <a:solidFill>
                  <a:srgbClr val="8B0000"/>
                </a:solidFill>
                <a:latin typeface="Calibri"/>
              </a:rPr>
              <a:t>kết tủa trắng</a:t>
            </a:r>
          </a:p>
        </p:txBody>
      </p:sp>
      <p:sp>
        <p:nvSpPr>
          <p:cNvPr id="36" name="Oval 35"/>
          <p:cNvSpPr/>
          <p:nvPr/>
        </p:nvSpPr>
        <p:spPr>
          <a:xfrm>
            <a:off x="2496769" y="4866829"/>
            <a:ext cx="1744573" cy="476531"/>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③ Tính chất</a:t>
            </a:r>
          </a:p>
        </p:txBody>
      </p:sp>
      <p:cxnSp>
        <p:nvCxnSpPr>
          <p:cNvPr id="37" name="Connector 36"/>
          <p:cNvCxnSpPr/>
          <p:nvPr/>
        </p:nvCxnSpPr>
        <p:spPr>
          <a:xfrm>
            <a:off x="4663440" y="3909060"/>
            <a:ext cx="1294384" cy="1196035"/>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957824" y="4489002"/>
            <a:ext cx="801827" cy="616093"/>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759651" y="4318523"/>
            <a:ext cx="2279497" cy="340959"/>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Alkyl hoá ammonia (CH₃I)</a:t>
            </a:r>
          </a:p>
        </p:txBody>
      </p:sp>
      <p:cxnSp>
        <p:nvCxnSpPr>
          <p:cNvPr id="40" name="Connector 39"/>
          <p:cNvCxnSpPr/>
          <p:nvPr/>
        </p:nvCxnSpPr>
        <p:spPr>
          <a:xfrm flipV="1">
            <a:off x="5957824" y="4899731"/>
            <a:ext cx="758901" cy="205364"/>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716725" y="4729251"/>
            <a:ext cx="2365349" cy="340959"/>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Khử nitrobenzene (Fe/HCl)</a:t>
            </a:r>
          </a:p>
        </p:txBody>
      </p:sp>
      <p:cxnSp>
        <p:nvCxnSpPr>
          <p:cNvPr id="42" name="Connector 41"/>
          <p:cNvCxnSpPr/>
          <p:nvPr/>
        </p:nvCxnSpPr>
        <p:spPr>
          <a:xfrm>
            <a:off x="5957824" y="5105095"/>
            <a:ext cx="930605" cy="205364"/>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888429" y="5139979"/>
            <a:ext cx="2021941" cy="340959"/>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Phẩm nhuộm, dược phẩm</a:t>
            </a:r>
          </a:p>
        </p:txBody>
      </p:sp>
      <p:cxnSp>
        <p:nvCxnSpPr>
          <p:cNvPr id="44" name="Connector 43"/>
          <p:cNvCxnSpPr/>
          <p:nvPr/>
        </p:nvCxnSpPr>
        <p:spPr>
          <a:xfrm>
            <a:off x="5957824" y="5105095"/>
            <a:ext cx="1016457" cy="616092"/>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974281" y="5550707"/>
            <a:ext cx="1850237" cy="340959"/>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Diamine → nylon-6,6</a:t>
            </a:r>
          </a:p>
        </p:txBody>
      </p:sp>
      <p:sp>
        <p:nvSpPr>
          <p:cNvPr id="46" name="Oval 45"/>
          <p:cNvSpPr/>
          <p:nvPr/>
        </p:nvSpPr>
        <p:spPr>
          <a:xfrm>
            <a:off x="5154879" y="4698331"/>
            <a:ext cx="1605889"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④ Điều chế</a:t>
            </a:r>
          </a:p>
          <a:p>
            <a:pPr algn="ctr"/>
            <a:r>
              <a:rPr sz="1500" b="1">
                <a:solidFill>
                  <a:srgbClr val="000000"/>
                </a:solidFill>
                <a:latin typeface="Calibri"/>
              </a:rPr>
              <a:t>&amp; ứng dụng</a:t>
            </a:r>
          </a:p>
        </p:txBody>
      </p:sp>
      <p:sp>
        <p:nvSpPr>
          <p:cNvPr id="47" name="Oval 46"/>
          <p:cNvSpPr/>
          <p:nvPr/>
        </p:nvSpPr>
        <p:spPr>
          <a:xfrm>
            <a:off x="4160977" y="3641742"/>
            <a:ext cx="1004925" cy="534634"/>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AMINE</a:t>
            </a:r>
          </a:p>
        </p:txBody>
      </p:sp>
      <p:sp>
        <p:nvSpPr>
          <p:cNvPr id="48" name="Rounded Rectangle 47"/>
          <p:cNvSpPr/>
          <p:nvPr/>
        </p:nvSpPr>
        <p:spPr>
          <a:xfrm>
            <a:off x="9326880" y="1463040"/>
            <a:ext cx="2651760" cy="4846320"/>
          </a:xfrm>
          <a:prstGeom prst="roundRect">
            <a:avLst>
              <a:gd name="adj" fmla="val 8000"/>
            </a:avLst>
          </a:prstGeom>
          <a:solidFill>
            <a:srgbClr val="EFF6FF"/>
          </a:solidFill>
          <a:ln w="254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1554480"/>
            <a:ext cx="2560320" cy="457200"/>
          </a:xfrm>
          <a:prstGeom prst="rect">
            <a:avLst/>
          </a:prstGeom>
          <a:noFill/>
        </p:spPr>
        <p:txBody>
          <a:bodyPr wrap="square" anchor="t">
            <a:spAutoFit/>
          </a:bodyPr>
          <a:lstStyle/>
          <a:p>
            <a:pPr algn="ctr">
              <a:spcAft>
                <a:spcPts val="600"/>
              </a:spcAft>
            </a:pPr>
            <a:r>
              <a:rPr sz="1800" b="1">
                <a:solidFill>
                  <a:srgbClr val="1E40AF"/>
                </a:solidFill>
                <a:latin typeface="Arial"/>
              </a:rPr>
              <a:t>QUÉT MÃ CỦNG CỐ</a:t>
            </a:r>
          </a:p>
        </p:txBody>
      </p:sp>
      <p:pic>
        <p:nvPicPr>
          <p:cNvPr id="50" name="Picture 49" descr="QR_hoa_cc_bai8_k12.png"/>
          <p:cNvPicPr>
            <a:picLocks noChangeAspect="1"/>
          </p:cNvPicPr>
          <p:nvPr/>
        </p:nvPicPr>
        <p:blipFill>
          <a:blip r:embed="rId2"/>
          <a:stretch>
            <a:fillRect/>
          </a:stretch>
        </p:blipFill>
        <p:spPr>
          <a:xfrm>
            <a:off x="9464040" y="2103120"/>
            <a:ext cx="2377440" cy="2377440"/>
          </a:xfrm>
          <a:prstGeom prst="rect">
            <a:avLst/>
          </a:prstGeom>
        </p:spPr>
      </p:pic>
      <p:sp>
        <p:nvSpPr>
          <p:cNvPr id="51" name="TextBox 50"/>
          <p:cNvSpPr txBox="1"/>
          <p:nvPr/>
        </p:nvSpPr>
        <p:spPr>
          <a:xfrm>
            <a:off x="9372600" y="4572000"/>
            <a:ext cx="2560320" cy="1645920"/>
          </a:xfrm>
          <a:prstGeom prst="rect">
            <a:avLst/>
          </a:prstGeom>
          <a:noFill/>
        </p:spPr>
        <p:txBody>
          <a:bodyPr wrap="square" anchor="t">
            <a:spAutoFit/>
          </a:bodyPr>
          <a:lstStyle/>
          <a:p>
            <a:pPr algn="ctr">
              <a:spcAft>
                <a:spcPts val="600"/>
              </a:spcAft>
            </a:pPr>
            <a:r>
              <a:rPr sz="1100" b="0">
                <a:solidFill>
                  <a:srgbClr val="1E293B"/>
                </a:solidFill>
                <a:latin typeface="Calibri"/>
              </a:rPr>
              <a:t>6 câu 4 lựa chọn + 1 câu Đúng/Sai</a:t>
            </a:r>
          </a:p>
          <a:p>
            <a:pPr algn="ctr">
              <a:spcAft>
                <a:spcPts val="600"/>
              </a:spcAft>
            </a:pPr>
            <a:r>
              <a:rPr sz="1100" b="0">
                <a:solidFill>
                  <a:srgbClr val="1E293B"/>
                </a:solidFill>
                <a:latin typeface="Calibri"/>
              </a:rPr>
              <a:t>Phòng thi bảo mật – đáp án niêm phong</a:t>
            </a:r>
          </a:p>
          <a:p>
            <a:pPr algn="ctr">
              <a:spcAft>
                <a:spcPts val="600"/>
              </a:spcAft>
            </a:pPr>
            <a:r>
              <a:rPr sz="1100" b="0">
                <a:solidFill>
                  <a:srgbClr val="1E293B"/>
                </a:solidFill>
                <a:latin typeface="Calibri"/>
              </a:rPr>
              <a:t>trangtu66.github.io/Taode_thi_online/hoa_cc_bai8_k12.html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1. KHÁI NIỆM – PHÂN LOẠI AMINE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1">
                <a:solidFill>
                  <a:srgbClr val="991B1B"/>
                </a:solidFill>
                <a:latin typeface="Calibri"/>
              </a:rPr>
              <a:t>Amine: dẫn xuất của NH₃, nguyên tử H được thay bằng gốc hydrocarbon</a:t>
            </a:r>
          </a:p>
          <a:p>
            <a:pPr algn="l">
              <a:spcAft>
                <a:spcPts val="600"/>
              </a:spcAft>
            </a:pPr>
            <a:r>
              <a:rPr sz="2400" b="0">
                <a:solidFill>
                  <a:srgbClr val="1E293B"/>
                </a:solidFill>
                <a:latin typeface="Calibri"/>
              </a:rPr>
              <a:t>Bậc amine = số gốc hydrocarbon liên kết trực tiếp với N</a:t>
            </a:r>
          </a:p>
          <a:p>
            <a:pPr algn="l">
              <a:spcAft>
                <a:spcPts val="600"/>
              </a:spcAft>
            </a:pPr>
            <a:r>
              <a:rPr sz="2400" b="0">
                <a:solidFill>
                  <a:srgbClr val="1E293B"/>
                </a:solidFill>
                <a:latin typeface="Calibri"/>
              </a:rPr>
              <a:t>Bậc 1: R–NH₂ · bậc 2: R–NH–R' · bậc 3: R–N(R')–R''</a:t>
            </a:r>
          </a:p>
          <a:p>
            <a:pPr algn="l">
              <a:spcAft>
                <a:spcPts val="600"/>
              </a:spcAft>
            </a:pPr>
            <a:r>
              <a:rPr sz="2400" b="0">
                <a:solidFill>
                  <a:srgbClr val="1E293B"/>
                </a:solidFill>
                <a:latin typeface="Calibri"/>
              </a:rPr>
              <a:t>Alkylamine (gốc alkyl) – arylamine (N gắn vòng benzene)</a:t>
            </a:r>
          </a:p>
        </p:txBody>
      </p:sp>
      <p:pic>
        <p:nvPicPr>
          <p:cNvPr id="7" name="Picture 6" descr="3d_trimethylamine.png"/>
          <p:cNvPicPr>
            <a:picLocks noChangeAspect="1"/>
          </p:cNvPicPr>
          <p:nvPr/>
        </p:nvPicPr>
        <p:blipFill>
          <a:blip r:embed="rId2"/>
          <a:stretch>
            <a:fillRect/>
          </a:stretch>
        </p:blipFill>
        <p:spPr>
          <a:xfrm>
            <a:off x="7315200" y="1371600"/>
            <a:ext cx="4297680" cy="429768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Trimethylamine (amine bậc ba) – PubChem (NIH), CID 1146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Phân loại các amine sau dựa trên bậc amine và đặc điểm cấu tạo gốc hydrocarbon: methylamine, dimethylamine, ethyldimethylamine, aniline (SGK tr.36, câu 1).</a:t>
            </a:r>
          </a:p>
          <a:p>
            <a:pPr algn="l">
              <a:spcAft>
                <a:spcPts val="600"/>
              </a:spcAft>
            </a:pPr>
            <a:r>
              <a:rPr sz="2400" b="0">
                <a:solidFill>
                  <a:srgbClr val="1E293B"/>
                </a:solidFill>
                <a:latin typeface="Calibri"/>
              </a:rPr>
              <a:t>Viết CTCT các amine C₃H₉N và xác định bậc (SGK tr.36, câu 2).</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Đếm số gốc gắn với N; xét N gắn vào gốc alkyl hay vòng benzene.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CH₃NH₂: bậc 1, alkylamine · CH₃NHCH₃: bậc 2, alkylamine</a:t>
            </a:r>
          </a:p>
          <a:p>
            <a:pPr algn="l">
              <a:spcAft>
                <a:spcPts val="600"/>
              </a:spcAft>
            </a:pPr>
            <a:r>
              <a:rPr sz="2300" b="0">
                <a:solidFill>
                  <a:srgbClr val="1E293B"/>
                </a:solidFill>
                <a:latin typeface="Calibri"/>
              </a:rPr>
              <a:t>CH₃N(CH₃)C₂H₅: bậc 3, alkylamine · C₆H₅NH₂: bậc 1, arylamine</a:t>
            </a:r>
          </a:p>
          <a:p>
            <a:pPr algn="l">
              <a:spcAft>
                <a:spcPts val="600"/>
              </a:spcAft>
            </a:pPr>
            <a:r>
              <a:rPr sz="2300" b="0">
                <a:solidFill>
                  <a:srgbClr val="1E293B"/>
                </a:solidFill>
                <a:latin typeface="Calibri"/>
              </a:rPr>
              <a:t>C₃H₉N: CH₃CH₂CH₂NH₂ (bậc 1), CH₃CH(NH₂)CH₃ (bậc 1)</a:t>
            </a:r>
          </a:p>
          <a:p>
            <a:pPr algn="l">
              <a:spcAft>
                <a:spcPts val="600"/>
              </a:spcAft>
            </a:pPr>
            <a:r>
              <a:rPr sz="2300" b="0">
                <a:solidFill>
                  <a:srgbClr val="1E293B"/>
                </a:solidFill>
                <a:latin typeface="Calibri"/>
              </a:rPr>
              <a:t>CH₃CH₂NHCH₃ (bậc 2), (CH₃)₃N (bậc 3)</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C₃H₉N có 4 đồng phân amine.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2. DANH PHÁP AMINE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400" b="1">
                <a:solidFill>
                  <a:srgbClr val="991B1B"/>
                </a:solidFill>
                <a:latin typeface="Calibri"/>
              </a:rPr>
              <a:t>Gốc – chức: tên gốc hydrocarbon + amine (isopropylamine)</a:t>
            </a:r>
          </a:p>
          <a:p>
            <a:pPr algn="l">
              <a:spcAft>
                <a:spcPts val="600"/>
              </a:spcAft>
            </a:pPr>
            <a:r>
              <a:rPr sz="2400" b="1">
                <a:solidFill>
                  <a:srgbClr val="991B1B"/>
                </a:solidFill>
                <a:latin typeface="Calibri"/>
              </a:rPr>
              <a:t>Thay thế: tên hydrocarbon mạch chính (bỏ e) + vị trí + amine</a:t>
            </a:r>
          </a:p>
          <a:p>
            <a:pPr algn="l">
              <a:spcAft>
                <a:spcPts val="600"/>
              </a:spcAft>
            </a:pPr>
            <a:r>
              <a:rPr sz="2400" b="0">
                <a:solidFill>
                  <a:srgbClr val="1E293B"/>
                </a:solidFill>
                <a:latin typeface="Calibri"/>
              </a:rPr>
              <a:t>Ví dụ: propan-2-amine; N,N-dimethylpropan-1-amine</a:t>
            </a:r>
          </a:p>
          <a:p>
            <a:pPr algn="l">
              <a:spcAft>
                <a:spcPts val="600"/>
              </a:spcAft>
            </a:pPr>
            <a:r>
              <a:rPr sz="2400" b="0">
                <a:solidFill>
                  <a:srgbClr val="1E293B"/>
                </a:solidFill>
                <a:latin typeface="Calibri"/>
              </a:rPr>
              <a:t>Dùng N làm chỉ số vị trí nhóm thế gắn với N (bậc 2, bậc 3)</a:t>
            </a:r>
          </a:p>
          <a:p>
            <a:pPr algn="l">
              <a:spcAft>
                <a:spcPts val="600"/>
              </a:spcAft>
            </a:pPr>
            <a:r>
              <a:rPr sz="2400" b="0">
                <a:solidFill>
                  <a:srgbClr val="1E293B"/>
                </a:solidFill>
                <a:latin typeface="Calibri"/>
              </a:rPr>
              <a:t>Tên thông thường: C₆H₅NH₂ – aniline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Gọi tên theo danh pháp gốc – chức và danh pháp thay thế các amine sau:</a:t>
            </a:r>
          </a:p>
          <a:p>
            <a:pPr algn="l">
              <a:spcAft>
                <a:spcPts val="600"/>
              </a:spcAft>
            </a:pPr>
            <a:r>
              <a:rPr sz="2400" b="0">
                <a:solidFill>
                  <a:srgbClr val="1E293B"/>
                </a:solidFill>
                <a:latin typeface="Calibri"/>
              </a:rPr>
              <a:t>CH₃CH₂CH₂NH₂;   CH₃CH₂NHCH₃;   (CH₃)₃N   (SGK tr.37, câu 3).</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Danh pháp thay thế với amine bậc 2, 3: chọn mạch dài nhất làm mạch chính, gốc còn lại ghi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CH₃CH₂CH₂NH₂: propylamine – propan-1-amine</a:t>
            </a:r>
          </a:p>
          <a:p>
            <a:pPr algn="l">
              <a:spcAft>
                <a:spcPts val="600"/>
              </a:spcAft>
            </a:pPr>
            <a:r>
              <a:rPr sz="2300" b="0">
                <a:solidFill>
                  <a:srgbClr val="1E293B"/>
                </a:solidFill>
                <a:latin typeface="Calibri"/>
              </a:rPr>
              <a:t>CH₃CH₂NHCH₃: ethylmethylamine – N-methylethanamine</a:t>
            </a:r>
          </a:p>
          <a:p>
            <a:pPr algn="l">
              <a:spcAft>
                <a:spcPts val="600"/>
              </a:spcAft>
            </a:pPr>
            <a:r>
              <a:rPr sz="2300" b="0">
                <a:solidFill>
                  <a:srgbClr val="1E293B"/>
                </a:solidFill>
                <a:latin typeface="Calibri"/>
              </a:rPr>
              <a:t>(CH₃)₃N: trimethylamine – N,N-dimethylmethanamine</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Mỗi amine có 2 tên theo 2 cách gọi.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3. CẤU TẠO – TÍNH CHẤT VẬT LÍ</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N còn cặp electron chưa liên kết → tính chất tương tự NH₃</a:t>
            </a:r>
          </a:p>
          <a:p>
            <a:pPr algn="l">
              <a:spcAft>
                <a:spcPts val="600"/>
              </a:spcAft>
            </a:pPr>
            <a:r>
              <a:rPr sz="2400" b="0">
                <a:solidFill>
                  <a:srgbClr val="1E293B"/>
                </a:solidFill>
                <a:latin typeface="Calibri"/>
              </a:rPr>
              <a:t>Aniline dễ thế H vòng benzene do ảnh hưởng của –NH₂</a:t>
            </a:r>
          </a:p>
          <a:p>
            <a:pPr algn="l">
              <a:spcAft>
                <a:spcPts val="600"/>
              </a:spcAft>
            </a:pPr>
            <a:r>
              <a:rPr sz="2400" b="0">
                <a:solidFill>
                  <a:srgbClr val="1E293B"/>
                </a:solidFill>
                <a:latin typeface="Calibri"/>
              </a:rPr>
              <a:t>Methylamine, ethylamine, dimethylamine, trimethylamine: chất khí, mùi khai/tanh</a:t>
            </a:r>
          </a:p>
          <a:p>
            <a:pPr algn="l">
              <a:spcAft>
                <a:spcPts val="600"/>
              </a:spcAft>
            </a:pPr>
            <a:r>
              <a:rPr sz="2400" b="0">
                <a:solidFill>
                  <a:srgbClr val="1E293B"/>
                </a:solidFill>
                <a:latin typeface="Calibri"/>
              </a:rPr>
              <a:t>t° sôi amine &gt; hydrocarbon có M tương đương</a:t>
            </a:r>
          </a:p>
          <a:p>
            <a:pPr algn="l">
              <a:spcAft>
                <a:spcPts val="600"/>
              </a:spcAft>
            </a:pPr>
            <a:r>
              <a:rPr sz="2400" b="0">
                <a:solidFill>
                  <a:srgbClr val="1E293B"/>
                </a:solidFill>
                <a:latin typeface="Calibri"/>
              </a:rPr>
              <a:t>Amine ít C tan tốt (liên kết H với nước); aniline lỏng, ít tan</a:t>
            </a:r>
          </a:p>
        </p:txBody>
      </p:sp>
      <p:pic>
        <p:nvPicPr>
          <p:cNvPr id="7" name="Picture 6" descr="b8_bang.png"/>
          <p:cNvPicPr>
            <a:picLocks noChangeAspect="1"/>
          </p:cNvPicPr>
          <p:nvPr/>
        </p:nvPicPr>
        <p:blipFill>
          <a:blip r:embed="rId2"/>
          <a:stretch>
            <a:fillRect/>
          </a:stretch>
        </p:blipFill>
        <p:spPr>
          <a:xfrm>
            <a:off x="7040880" y="2526865"/>
            <a:ext cx="4846320" cy="1987149"/>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Bảng 8.1 – SGK Hóa học 12 KNTT, tr.37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4. TÍNH CHẤT HOÁ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400" b="1">
                <a:solidFill>
                  <a:srgbClr val="991B1B"/>
                </a:solidFill>
                <a:latin typeface="Calibri"/>
              </a:rPr>
              <a:t>CH₃NH₂ + H₂O ⇌ CH₃NH₃⁺ + OH⁻ (quỳ tím hoá xanh; aniline thì không)</a:t>
            </a:r>
          </a:p>
          <a:p>
            <a:pPr algn="l">
              <a:spcAft>
                <a:spcPts val="600"/>
              </a:spcAft>
            </a:pPr>
            <a:r>
              <a:rPr sz="2400" b="1">
                <a:solidFill>
                  <a:srgbClr val="991B1B"/>
                </a:solidFill>
                <a:latin typeface="Calibri"/>
              </a:rPr>
              <a:t>CH₃NH₂ + HCl → CH₃NH₃Cl (methylammonium chloride)</a:t>
            </a:r>
          </a:p>
          <a:p>
            <a:pPr algn="l">
              <a:spcAft>
                <a:spcPts val="600"/>
              </a:spcAft>
            </a:pPr>
            <a:r>
              <a:rPr sz="2400" b="0">
                <a:solidFill>
                  <a:srgbClr val="1E293B"/>
                </a:solidFill>
                <a:latin typeface="Calibri"/>
              </a:rPr>
              <a:t>FeCl₃ + 3CH₃NH₂ + 3H₂O → Fe(OH)₃↓ + 3CH₃NH₃Cl</a:t>
            </a:r>
          </a:p>
          <a:p>
            <a:pPr algn="l">
              <a:spcAft>
                <a:spcPts val="600"/>
              </a:spcAft>
            </a:pPr>
            <a:r>
              <a:rPr sz="2400" b="0">
                <a:solidFill>
                  <a:srgbClr val="1E293B"/>
                </a:solidFill>
                <a:latin typeface="Calibri"/>
              </a:rPr>
              <a:t>Cu(OH)₂ + 4CH₃NH₂ → [Cu(CH₃NH₂)₄](OH)₂ (xanh lam)</a:t>
            </a:r>
          </a:p>
          <a:p>
            <a:pPr algn="l">
              <a:spcAft>
                <a:spcPts val="600"/>
              </a:spcAft>
            </a:pPr>
            <a:r>
              <a:rPr sz="2400" b="0">
                <a:solidFill>
                  <a:srgbClr val="1E293B"/>
                </a:solidFill>
                <a:latin typeface="Calibri"/>
              </a:rPr>
              <a:t>CH₃NH₂ + HONO → CH₃OH + N₂ + H₂O; aniline + HONO + HCl (0–5 °C) → muối diazonium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THÍ NGHIỆM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7" name="TextBox 6"/>
          <p:cNvSpPr txBox="1"/>
          <p:nvPr/>
        </p:nvSpPr>
        <p:spPr>
          <a:xfrm>
            <a:off x="548640" y="1417320"/>
            <a:ext cx="7315200" cy="4023360"/>
          </a:xfrm>
          <a:prstGeom prst="rect">
            <a:avLst/>
          </a:prstGeom>
          <a:noFill/>
        </p:spPr>
        <p:txBody>
          <a:bodyPr wrap="square" anchor="t">
            <a:spAutoFit/>
          </a:bodyPr>
          <a:lstStyle/>
          <a:p>
            <a:pPr algn="l">
              <a:spcAft>
                <a:spcPts val="600"/>
              </a:spcAft>
            </a:pPr>
            <a:r>
              <a:rPr sz="2400" b="0">
                <a:solidFill>
                  <a:srgbClr val="1E293B"/>
                </a:solidFill>
                <a:latin typeface="Calibri"/>
              </a:rPr>
              <a:t>Nhỏ từ từ vài giọt dung dịch aniline loãng vào ống nghiệm chứa 1 mL nước bromine (SGK tr.39).</a:t>
            </a:r>
          </a:p>
          <a:p>
            <a:pPr algn="l">
              <a:spcAft>
                <a:spcPts val="600"/>
              </a:spcAft>
            </a:pPr>
            <a:r>
              <a:rPr sz="2400" b="0">
                <a:solidFill>
                  <a:srgbClr val="1E293B"/>
                </a:solidFill>
                <a:latin typeface="Calibri"/>
              </a:rPr>
              <a:t>Quan sát hiện tượng, giải thích và viết phương trình hoá học.</a:t>
            </a:r>
          </a:p>
        </p:txBody>
      </p:sp>
      <p:pic>
        <p:nvPicPr>
          <p:cNvPr id="8" name="Picture 7" descr="b8_br.png"/>
          <p:cNvPicPr>
            <a:picLocks noChangeAspect="1"/>
          </p:cNvPicPr>
          <p:nvPr/>
        </p:nvPicPr>
        <p:blipFill>
          <a:blip r:embed="rId2"/>
          <a:stretch>
            <a:fillRect/>
          </a:stretch>
        </p:blipFill>
        <p:spPr>
          <a:xfrm>
            <a:off x="8046720" y="2681305"/>
            <a:ext cx="3840480" cy="1403949"/>
          </a:xfrm>
          <a:prstGeom prst="rect">
            <a:avLst/>
          </a:prstGeom>
        </p:spPr>
      </p:pic>
      <p:sp>
        <p:nvSpPr>
          <p:cNvPr id="9" name="Rounded Rectangle 8"/>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Nhóm –NH₂ làm tăng khả năng thế H ở vị trí ortho, para của vòng benzene.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THÍ NGHIỆM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Hiện tượng: nước bromine mất màu, xuất hiện kết tủa trắng</a:t>
            </a:r>
          </a:p>
          <a:p>
            <a:pPr algn="l">
              <a:spcAft>
                <a:spcPts val="600"/>
              </a:spcAft>
            </a:pPr>
            <a:r>
              <a:rPr sz="2300" b="0">
                <a:solidFill>
                  <a:srgbClr val="1E293B"/>
                </a:solidFill>
                <a:latin typeface="Calibri"/>
              </a:rPr>
              <a:t>C₆H₅NH₂ + 3Br₂ → C₆H₂Br₃NH₂↓ + 3HBr</a:t>
            </a:r>
          </a:p>
          <a:p>
            <a:pPr algn="l">
              <a:spcAft>
                <a:spcPts val="600"/>
              </a:spcAft>
            </a:pPr>
            <a:r>
              <a:rPr sz="2300" b="0">
                <a:solidFill>
                  <a:srgbClr val="1E293B"/>
                </a:solidFill>
                <a:latin typeface="Calibri"/>
              </a:rPr>
              <a:t>Sản phẩm: 2,4,6-tribromoaniline (thế ở 2 vị trí ortho và 1 vị trí para)</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Phản ứng dùng nhận biết aniline.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4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Giấm có thể dùng để khử mùi tanh của cá. Giải thích và viết phương trình hoá học.</a:t>
            </a:r>
          </a:p>
          <a:p>
            <a:pPr algn="l">
              <a:spcAft>
                <a:spcPts val="600"/>
              </a:spcAft>
            </a:pPr>
            <a:r>
              <a:rPr sz="2400" b="0">
                <a:solidFill>
                  <a:srgbClr val="1E293B"/>
                </a:solidFill>
                <a:latin typeface="Calibri"/>
              </a:rPr>
              <a:t>(Biết mùi tanh của cá thường do trimethylamine gây ra – SGK tr.39, câu 4.)</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Amine có tính base; giấm chứa acetic acid.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4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(CH₃)₃N có tính base, CH₃COOH có tính acid</a:t>
            </a:r>
          </a:p>
          <a:p>
            <a:pPr algn="l">
              <a:spcAft>
                <a:spcPts val="600"/>
              </a:spcAft>
            </a:pPr>
            <a:r>
              <a:rPr sz="2300" b="0">
                <a:solidFill>
                  <a:srgbClr val="1E293B"/>
                </a:solidFill>
                <a:latin typeface="Calibri"/>
              </a:rPr>
              <a:t>(CH₃)₃N + CH₃COOH → CH₃COO[NH(CH₃)₃]</a:t>
            </a:r>
          </a:p>
          <a:p>
            <a:pPr algn="l">
              <a:spcAft>
                <a:spcPts val="600"/>
              </a:spcAft>
            </a:pPr>
            <a:r>
              <a:rPr sz="2300" b="0">
                <a:solidFill>
                  <a:srgbClr val="1E293B"/>
                </a:solidFill>
                <a:latin typeface="Calibri"/>
              </a:rPr>
              <a:t>Muối tạo thành tan trong nước, không bay hơi → dễ rửa trôi</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Giấm chuyển trimethylamine thành muối tan, khử mùi tanh.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5. ỨNG DỤNG – ĐIỀU CHẾ</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Aniline: nguyên liệu phẩm nhuộm, dược phẩm (paracetamol, sulfonamide), polymer</a:t>
            </a:r>
          </a:p>
          <a:p>
            <a:pPr algn="l">
              <a:spcAft>
                <a:spcPts val="600"/>
              </a:spcAft>
            </a:pPr>
            <a:r>
              <a:rPr sz="2400" b="0">
                <a:solidFill>
                  <a:srgbClr val="1E293B"/>
                </a:solidFill>
                <a:latin typeface="Calibri"/>
              </a:rPr>
              <a:t>Diamine: hexamethylenediamine → nylon-6,6</a:t>
            </a:r>
          </a:p>
          <a:p>
            <a:pPr algn="l">
              <a:spcAft>
                <a:spcPts val="600"/>
              </a:spcAft>
            </a:pPr>
            <a:r>
              <a:rPr sz="2400" b="1">
                <a:solidFill>
                  <a:srgbClr val="991B1B"/>
                </a:solidFill>
                <a:latin typeface="Calibri"/>
              </a:rPr>
              <a:t>Alkyl hoá ammonia: NH₃ + CH₃I → CH₃NH₂ + HI (tiếp tục → bậc 2, 3)</a:t>
            </a:r>
          </a:p>
          <a:p>
            <a:pPr algn="l">
              <a:spcAft>
                <a:spcPts val="600"/>
              </a:spcAft>
            </a:pPr>
            <a:r>
              <a:rPr sz="2400" b="1">
                <a:solidFill>
                  <a:srgbClr val="991B1B"/>
                </a:solidFill>
                <a:latin typeface="Calibri"/>
              </a:rPr>
              <a:t>Khử nitro: C₆H₅NO₂ + 6[H] → C₆H₅NH₂ + 2H₂O (Fe + HCl, t°)</a:t>
            </a:r>
          </a:p>
        </p:txBody>
      </p:sp>
      <p:pic>
        <p:nvPicPr>
          <p:cNvPr id="7" name="Picture 6" descr="3d_aniline.png"/>
          <p:cNvPicPr>
            <a:picLocks noChangeAspect="1"/>
          </p:cNvPicPr>
          <p:nvPr/>
        </p:nvPicPr>
        <p:blipFill>
          <a:blip r:embed="rId2"/>
          <a:stretch>
            <a:fillRect/>
          </a:stretch>
        </p:blipFill>
        <p:spPr>
          <a:xfrm>
            <a:off x="7315200" y="1371600"/>
            <a:ext cx="4297680" cy="429768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Mô hình 3D aniline – PubChem (NIH), CID 6115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VIDEO THAM KHẢO</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Đã kiểm tra liên kết (YouTube oEmbed) – xem trên lớp hoặc ở nhà</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8. Amine</a:t>
            </a:r>
          </a:p>
        </p:txBody>
      </p:sp>
      <p:pic>
        <p:nvPicPr>
          <p:cNvPr id="7" name="Picture 6" descr="_qr_vid_8_0.png"/>
          <p:cNvPicPr>
            <a:picLocks noChangeAspect="1"/>
          </p:cNvPicPr>
          <p:nvPr/>
        </p:nvPicPr>
        <p:blipFill>
          <a:blip r:embed="rId2"/>
          <a:stretch>
            <a:fillRect/>
          </a:stretch>
        </p:blipFill>
        <p:spPr>
          <a:xfrm>
            <a:off x="548640" y="1463040"/>
            <a:ext cx="1417320" cy="1417320"/>
          </a:xfrm>
          <a:prstGeom prst="rect">
            <a:avLst/>
          </a:prstGeom>
        </p:spPr>
      </p:pic>
      <p:sp>
        <p:nvSpPr>
          <p:cNvPr id="8" name="TextBox 7"/>
          <p:cNvSpPr txBox="1"/>
          <p:nvPr/>
        </p:nvSpPr>
        <p:spPr>
          <a:xfrm>
            <a:off x="2194560" y="146304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Thí nghiệm với methylamine. CH3NH2 + Quỳ tím. CH3NH2 + HCl. CH3NH2 + CuSO4. CH3NH2 + FeCl3</a:t>
            </a:r>
          </a:p>
          <a:p>
            <a:pPr algn="l">
              <a:spcAft>
                <a:spcPts val="600"/>
              </a:spcAft>
            </a:pPr>
            <a:r>
              <a:rPr sz="1600" b="0">
                <a:solidFill>
                  <a:srgbClr val="1E293B"/>
                </a:solidFill>
                <a:latin typeface="Calibri"/>
              </a:rPr>
              <a:t>Kênh: Hóa học ABC · Dùng ở: HĐ2.4 – Thí nghiệm với methylamine</a:t>
            </a:r>
          </a:p>
          <a:p>
            <a:pPr algn="l">
              <a:spcAft>
                <a:spcPts val="600"/>
              </a:spcAft>
            </a:pPr>
            <a:r>
              <a:rPr sz="1600" b="0">
                <a:solidFill>
                  <a:srgbClr val="1E293B"/>
                </a:solidFill>
                <a:latin typeface="Calibri"/>
              </a:rPr>
              <a:t>https://www.youtube.com/watch?v=gA7YEzFhTjc</a:t>
            </a:r>
          </a:p>
        </p:txBody>
      </p:sp>
      <p:pic>
        <p:nvPicPr>
          <p:cNvPr id="9" name="Picture 8" descr="_qr_vid_8_1.png"/>
          <p:cNvPicPr>
            <a:picLocks noChangeAspect="1"/>
          </p:cNvPicPr>
          <p:nvPr/>
        </p:nvPicPr>
        <p:blipFill>
          <a:blip r:embed="rId3"/>
          <a:stretch>
            <a:fillRect/>
          </a:stretch>
        </p:blipFill>
        <p:spPr>
          <a:xfrm>
            <a:off x="548640" y="3108960"/>
            <a:ext cx="1417320" cy="1417320"/>
          </a:xfrm>
          <a:prstGeom prst="rect">
            <a:avLst/>
          </a:prstGeom>
        </p:spPr>
      </p:pic>
      <p:sp>
        <p:nvSpPr>
          <p:cNvPr id="10" name="TextBox 9"/>
          <p:cNvSpPr txBox="1"/>
          <p:nvPr/>
        </p:nvSpPr>
        <p:spPr>
          <a:xfrm>
            <a:off x="2194560" y="310896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THÍ NGHIỆM PHẢN ỨNG ANILINE VỚI NƯỚC BROMINE HÓA HỌC 12</a:t>
            </a:r>
          </a:p>
          <a:p>
            <a:pPr algn="l">
              <a:spcAft>
                <a:spcPts val="600"/>
              </a:spcAft>
            </a:pPr>
            <a:r>
              <a:rPr sz="1600" b="0">
                <a:solidFill>
                  <a:srgbClr val="1E293B"/>
                </a:solidFill>
                <a:latin typeface="Calibri"/>
              </a:rPr>
              <a:t>Kênh: Thầy LÊ PHẠM THÀNH · Dùng ở: HĐ2.4 – Aniline với nước bromine</a:t>
            </a:r>
          </a:p>
          <a:p>
            <a:pPr algn="l">
              <a:spcAft>
                <a:spcPts val="600"/>
              </a:spcAft>
            </a:pPr>
            <a:r>
              <a:rPr sz="1600" b="0">
                <a:solidFill>
                  <a:srgbClr val="1E293B"/>
                </a:solidFill>
                <a:latin typeface="Calibri"/>
              </a:rPr>
              <a:t>https://www.youtube.com/watch?v=PjaF_K5jpIM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155680" cy="914400"/>
          </a:xfrm>
          <a:prstGeom prst="rect">
            <a:avLst/>
          </a:prstGeom>
          <a:noFill/>
        </p:spPr>
        <p:txBody>
          <a:bodyPr wrap="square" anchor="t">
            <a:spAutoFit/>
          </a:bodyPr>
          <a:lstStyle/>
          <a:p>
            <a:pPr algn="ctr">
              <a:spcAft>
                <a:spcPts val="600"/>
              </a:spcAft>
            </a:pPr>
            <a:r>
              <a:rPr sz="4000" b="1">
                <a:solidFill>
                  <a:srgbClr val="1E40AF"/>
                </a:solidFill>
                <a:latin typeface="Arial"/>
              </a:rPr>
              <a:t>BÀI TẬP CỦA BẠN</a:t>
            </a:r>
          </a:p>
        </p:txBody>
      </p:sp>
      <p:sp>
        <p:nvSpPr>
          <p:cNvPr id="4" name="Rounded Rectangle 3"/>
          <p:cNvSpPr/>
          <p:nvPr/>
        </p:nvSpPr>
        <p:spPr>
          <a:xfrm>
            <a:off x="4023360" y="1463040"/>
            <a:ext cx="4114800" cy="4114800"/>
          </a:xfrm>
          <a:prstGeom prst="roundRect">
            <a:avLst>
              <a:gd name="adj" fmla="val 6000"/>
            </a:avLst>
          </a:prstGeom>
          <a:solidFill>
            <a:srgbClr val="FFFFFF"/>
          </a:solidFill>
          <a:ln w="381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_hoa_cc_bai8_k12.png"/>
          <p:cNvPicPr>
            <a:picLocks noChangeAspect="1"/>
          </p:cNvPicPr>
          <p:nvPr/>
        </p:nvPicPr>
        <p:blipFill>
          <a:blip r:embed="rId2"/>
          <a:stretch>
            <a:fillRect/>
          </a:stretch>
        </p:blipFill>
        <p:spPr>
          <a:xfrm>
            <a:off x="4251960" y="1691640"/>
            <a:ext cx="3657600" cy="3657600"/>
          </a:xfrm>
          <a:prstGeom prst="rect">
            <a:avLst/>
          </a:prstGeom>
        </p:spPr>
      </p:pic>
      <p:sp>
        <p:nvSpPr>
          <p:cNvPr id="6" name="TextBox 5"/>
          <p:cNvSpPr txBox="1"/>
          <p:nvPr/>
        </p:nvSpPr>
        <p:spPr>
          <a:xfrm>
            <a:off x="548640" y="5669280"/>
            <a:ext cx="11155680" cy="457200"/>
          </a:xfrm>
          <a:prstGeom prst="rect">
            <a:avLst/>
          </a:prstGeom>
          <a:noFill/>
        </p:spPr>
        <p:txBody>
          <a:bodyPr wrap="square" anchor="t">
            <a:spAutoFit/>
          </a:bodyPr>
          <a:lstStyle/>
          <a:p>
            <a:pPr algn="ctr">
              <a:spcAft>
                <a:spcPts val="600"/>
              </a:spcAft>
            </a:pPr>
            <a:r>
              <a:rPr sz="2200" b="1">
                <a:solidFill>
                  <a:srgbClr val="1E40AF"/>
                </a:solidFill>
                <a:latin typeface="Calibri"/>
              </a:rPr>
              <a:t>trangtu66.github.io/Taode_thi_online/hoa_cc_bai8_k12.html</a:t>
            </a:r>
          </a:p>
        </p:txBody>
      </p:sp>
      <p:sp>
        <p:nvSpPr>
          <p:cNvPr id="7" name="TextBox 6"/>
          <p:cNvSpPr txBox="1"/>
          <p:nvPr/>
        </p:nvSpPr>
        <p:spPr>
          <a:xfrm>
            <a:off x="548640" y="6126480"/>
            <a:ext cx="11155680" cy="457200"/>
          </a:xfrm>
          <a:prstGeom prst="rect">
            <a:avLst/>
          </a:prstGeom>
          <a:noFill/>
        </p:spPr>
        <p:txBody>
          <a:bodyPr wrap="square" anchor="t">
            <a:spAutoFit/>
          </a:bodyPr>
          <a:lstStyle/>
          <a:p>
            <a:pPr algn="ctr">
              <a:spcAft>
                <a:spcPts val="600"/>
              </a:spcAft>
            </a:pPr>
            <a:r>
              <a:rPr sz="1600" b="0">
                <a:solidFill>
                  <a:srgbClr val="64748B"/>
                </a:solidFill>
                <a:latin typeface="Calibri"/>
              </a:rPr>
              <a:t>Quét mã bằng điện thoại · 6 câu 4 lựa chọn + 1 câu Đúng/Sai · Kết quả gửi về GV tự động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8. Amine</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