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56832"/>
            <a:ext cx="12191695" cy="2011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509760" y="548640"/>
            <a:ext cx="2194560" cy="2194560"/>
          </a:xfrm>
          <a:prstGeom prst="ellipse">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07040" y="2194560"/>
            <a:ext cx="1371600" cy="1371600"/>
          </a:xfrm>
          <a:prstGeom prst="ellips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2926080"/>
            <a:ext cx="1005840" cy="10058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48640"/>
            <a:ext cx="8229600" cy="457200"/>
          </a:xfrm>
          <a:prstGeom prst="rect">
            <a:avLst/>
          </a:prstGeom>
          <a:noFill/>
        </p:spPr>
        <p:txBody>
          <a:bodyPr wrap="square" anchor="t">
            <a:spAutoFit/>
          </a:bodyPr>
          <a:lstStyle/>
          <a:p>
            <a:pPr algn="l">
              <a:spcAft>
                <a:spcPts val="600"/>
              </a:spcAft>
            </a:pPr>
            <a:r>
              <a:rPr sz="2000" b="0">
                <a:solidFill>
                  <a:srgbClr val="1E40AF"/>
                </a:solidFill>
                <a:latin typeface="Arial"/>
              </a:rPr>
              <a:t>Chương 2. Carbohydrate</a:t>
            </a:r>
          </a:p>
        </p:txBody>
      </p:sp>
      <p:sp>
        <p:nvSpPr>
          <p:cNvPr id="8" name="TextBox 7"/>
          <p:cNvSpPr txBox="1"/>
          <p:nvPr/>
        </p:nvSpPr>
        <p:spPr>
          <a:xfrm>
            <a:off x="731520" y="1463040"/>
            <a:ext cx="8778240" cy="2377440"/>
          </a:xfrm>
          <a:prstGeom prst="rect">
            <a:avLst/>
          </a:prstGeom>
          <a:noFill/>
        </p:spPr>
        <p:txBody>
          <a:bodyPr wrap="square" anchor="ctr">
            <a:spAutoFit/>
          </a:bodyPr>
          <a:lstStyle/>
          <a:p>
            <a:pPr algn="l">
              <a:spcAft>
                <a:spcPts val="600"/>
              </a:spcAft>
            </a:pPr>
            <a:r>
              <a:rPr sz="4000" b="1">
                <a:solidFill>
                  <a:srgbClr val="1E40AF"/>
                </a:solidFill>
                <a:latin typeface="Arial"/>
              </a:rPr>
              <a:t>BÀI 6. TINH BỘT VÀ CELLULOSE</a:t>
            </a:r>
          </a:p>
        </p:txBody>
      </p:sp>
      <p:sp>
        <p:nvSpPr>
          <p:cNvPr id="9" name="TextBox 8"/>
          <p:cNvSpPr txBox="1"/>
          <p:nvPr/>
        </p:nvSpPr>
        <p:spPr>
          <a:xfrm>
            <a:off x="731520" y="4114800"/>
            <a:ext cx="8778240" cy="548640"/>
          </a:xfrm>
          <a:prstGeom prst="rect">
            <a:avLst/>
          </a:prstGeom>
          <a:noFill/>
        </p:spPr>
        <p:txBody>
          <a:bodyPr wrap="square" anchor="t">
            <a:spAutoFit/>
          </a:bodyPr>
          <a:lstStyle/>
          <a:p>
            <a:pPr algn="l">
              <a:spcAft>
                <a:spcPts val="600"/>
              </a:spcAft>
            </a:pPr>
            <a:r>
              <a:rPr sz="2200" b="0">
                <a:solidFill>
                  <a:srgbClr val="1E293B"/>
                </a:solidFill>
                <a:latin typeface="Calibri"/>
              </a:rPr>
              <a:t>Hóa học 12 · Kết nối tri thức với cuộc sống · Tuần 4–5 · Tiết 8–9</a:t>
            </a:r>
          </a:p>
        </p:txBody>
      </p:sp>
      <p:sp>
        <p:nvSpPr>
          <p:cNvPr id="10" name="TextBox 9"/>
          <p:cNvSpPr txBox="1"/>
          <p:nvPr/>
        </p:nvSpPr>
        <p:spPr>
          <a:xfrm>
            <a:off x="731520" y="4754880"/>
            <a:ext cx="8778240" cy="822960"/>
          </a:xfrm>
          <a:prstGeom prst="rect">
            <a:avLst/>
          </a:prstGeom>
          <a:noFill/>
        </p:spPr>
        <p:txBody>
          <a:bodyPr wrap="square" anchor="t">
            <a:spAutoFit/>
          </a:bodyPr>
          <a:lstStyle/>
          <a:p>
            <a:pPr algn="l">
              <a:spcAft>
                <a:spcPts val="600"/>
              </a:spcAft>
            </a:pPr>
            <a:r>
              <a:rPr sz="2000" b="1">
                <a:solidFill>
                  <a:srgbClr val="991B1B"/>
                </a:solidFill>
                <a:latin typeface="Calibri"/>
              </a:rPr>
              <a:t>Tích hợp STEM: ĐỒNG HỒ IODINE</a:t>
            </a:r>
          </a:p>
        </p:txBody>
      </p:sp>
      <p:sp>
        <p:nvSpPr>
          <p:cNvPr id="11" name="TextBox 10"/>
          <p:cNvSpPr txBox="1"/>
          <p:nvPr/>
        </p:nvSpPr>
        <p:spPr>
          <a:xfrm>
            <a:off x="731520" y="5852160"/>
            <a:ext cx="8778240" cy="457200"/>
          </a:xfrm>
          <a:prstGeom prst="rect">
            <a:avLst/>
          </a:prstGeom>
          <a:noFill/>
        </p:spPr>
        <p:txBody>
          <a:bodyPr wrap="square" anchor="t">
            <a:spAutoFit/>
          </a:bodyPr>
          <a:lstStyle/>
          <a:p>
            <a:pPr algn="l">
              <a:spcAft>
                <a:spcPts val="600"/>
              </a:spcAft>
            </a:pPr>
            <a:r>
              <a:rPr sz="1600" b="0">
                <a:solidFill>
                  <a:srgbClr val="64748B"/>
                </a:solidFill>
                <a:latin typeface="Calibri"/>
              </a:rPr>
              <a:t>Trường THPT · Tổ Lý – Hóa – Công nghệ · Biên soạn: TTT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MỤC TIÊU BÀI HỌC</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6. Tinh bột và cellulose</a:t>
            </a:r>
          </a:p>
        </p:txBody>
      </p:sp>
      <p:sp>
        <p:nvSpPr>
          <p:cNvPr id="6" name="TextBox 5"/>
          <p:cNvSpPr txBox="1"/>
          <p:nvPr/>
        </p:nvSpPr>
        <p:spPr>
          <a:xfrm>
            <a:off x="548640" y="1325880"/>
            <a:ext cx="11155680" cy="5029200"/>
          </a:xfrm>
          <a:prstGeom prst="rect">
            <a:avLst/>
          </a:prstGeom>
          <a:noFill/>
        </p:spPr>
        <p:txBody>
          <a:bodyPr wrap="square" anchor="t">
            <a:spAutoFit/>
          </a:bodyPr>
          <a:lstStyle/>
          <a:p>
            <a:pPr algn="l">
              <a:spcAft>
                <a:spcPts val="600"/>
              </a:spcAft>
            </a:pPr>
            <a:r>
              <a:rPr sz="2300" b="0">
                <a:solidFill>
                  <a:srgbClr val="1E293B"/>
                </a:solidFill>
                <a:latin typeface="Calibri"/>
              </a:rPr>
              <a:t>✔  Viết công thức, mô tả cấu tạo tinh bột (amylose, amylopectin) và cellulose</a:t>
            </a:r>
          </a:p>
          <a:p>
            <a:pPr algn="l">
              <a:spcAft>
                <a:spcPts val="600"/>
              </a:spcAft>
            </a:pPr>
            <a:r>
              <a:rPr sz="2300" b="0">
                <a:solidFill>
                  <a:srgbClr val="1E293B"/>
                </a:solidFill>
                <a:latin typeface="Calibri"/>
              </a:rPr>
              <a:t>✔  Trình bày tính chất: thuỷ phân, phản ứng với iodine; cellulose + HNO₃, nước Schweizer</a:t>
            </a:r>
          </a:p>
          <a:p>
            <a:pPr algn="l">
              <a:spcAft>
                <a:spcPts val="600"/>
              </a:spcAft>
            </a:pPr>
            <a:r>
              <a:rPr sz="2300" b="0">
                <a:solidFill>
                  <a:srgbClr val="1E293B"/>
                </a:solidFill>
                <a:latin typeface="Calibri"/>
              </a:rPr>
              <a:t>✔  Thực hiện (hoặc quan sát video) thí nghiệm, giải thích hiện tượng</a:t>
            </a:r>
          </a:p>
          <a:p>
            <a:pPr algn="l">
              <a:spcAft>
                <a:spcPts val="600"/>
              </a:spcAft>
            </a:pPr>
            <a:r>
              <a:rPr sz="2300" b="0">
                <a:solidFill>
                  <a:srgbClr val="1E293B"/>
                </a:solidFill>
                <a:latin typeface="Calibri"/>
              </a:rPr>
              <a:t>✔  Nêu trạng thái tự nhiên, ứng dụng; sự chuyển hoá tinh bột trong cơ thể</a:t>
            </a:r>
          </a:p>
          <a:p>
            <a:pPr algn="l">
              <a:spcAft>
                <a:spcPts val="600"/>
              </a:spcAft>
            </a:pPr>
            <a:r>
              <a:rPr sz="2300" b="0">
                <a:solidFill>
                  <a:srgbClr val="1E293B"/>
                </a:solidFill>
                <a:latin typeface="Calibri"/>
              </a:rPr>
              <a:t>✔  STEM: chế tạo đồng hồ iodine, phân biệt vitamin C thật – giả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KHỞI ĐỘNG – EM CÓ BIẾT?</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Suy nghĩ, dự đoán – chưa cần trả lời ngay</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6. Tinh bột và cellulose</a:t>
            </a:r>
          </a:p>
        </p:txBody>
      </p:sp>
      <p:sp>
        <p:nvSpPr>
          <p:cNvPr id="7" name="Rounded Rectangle 6"/>
          <p:cNvSpPr/>
          <p:nvPr/>
        </p:nvSpPr>
        <p:spPr>
          <a:xfrm>
            <a:off x="548640" y="1600200"/>
            <a:ext cx="6766560" cy="4480560"/>
          </a:xfrm>
          <a:prstGeom prst="roundRect">
            <a:avLst>
              <a:gd name="adj" fmla="val 6000"/>
            </a:avLst>
          </a:prstGeom>
          <a:solidFill>
            <a:srgbClr val="FFF7ED"/>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6309360" cy="4114800"/>
          </a:xfrm>
          <a:prstGeom prst="rect">
            <a:avLst/>
          </a:prstGeom>
          <a:noFill/>
        </p:spPr>
        <p:txBody>
          <a:bodyPr wrap="square" anchor="t">
            <a:spAutoFit/>
          </a:bodyPr>
          <a:lstStyle/>
          <a:p>
            <a:pPr algn="l">
              <a:spcAft>
                <a:spcPts val="600"/>
              </a:spcAft>
            </a:pPr>
            <a:r>
              <a:rPr sz="2400" b="0">
                <a:solidFill>
                  <a:srgbClr val="1E293B"/>
                </a:solidFill>
                <a:latin typeface="Calibri"/>
              </a:rPr>
              <a:t>Tinh bột và cellulose đều là polysaccharide, nhưng chúng đóng những vai trò quan trọng khác nhau trong thực vật và có một số ứng dụng khác nhau trong cuộc sống.
Vậy về cấu tạo và tính chất, tinh bột và cellulose khác nhau như thế nào?</a:t>
            </a:r>
          </a:p>
        </p:txBody>
      </p:sp>
      <p:pic>
        <p:nvPicPr>
          <p:cNvPr id="9" name="Picture 8" descr="b6_h62.png"/>
          <p:cNvPicPr>
            <a:picLocks noChangeAspect="1"/>
          </p:cNvPicPr>
          <p:nvPr/>
        </p:nvPicPr>
        <p:blipFill>
          <a:blip r:embed="rId2"/>
          <a:stretch>
            <a:fillRect/>
          </a:stretch>
        </p:blipFill>
        <p:spPr>
          <a:xfrm>
            <a:off x="7589520" y="2703008"/>
            <a:ext cx="4206240" cy="227494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SƠ ĐỒ TƯ DUY BÀI HỌC</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Bản đồ kiến thức của bài – quét mã QR để làm bài củng cố</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6. Tinh bột và cellulose</a:t>
            </a:r>
          </a:p>
        </p:txBody>
      </p:sp>
      <p:cxnSp>
        <p:nvCxnSpPr>
          <p:cNvPr id="7" name="Connector 6"/>
          <p:cNvCxnSpPr/>
          <p:nvPr/>
        </p:nvCxnSpPr>
        <p:spPr>
          <a:xfrm flipH="1" flipV="1">
            <a:off x="3369056" y="2713024"/>
            <a:ext cx="1294384" cy="1196036"/>
          </a:xfrm>
          <a:prstGeom prst="line">
            <a:avLst/>
          </a:prstGeom>
          <a:ln w="44450">
            <a:solidFill>
              <a:srgbClr val="54823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2653080" y="1895510"/>
            <a:ext cx="715976" cy="817514"/>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01879" y="1624319"/>
            <a:ext cx="2451201" cy="542381"/>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(C₆H₁₀O₅)ₙ – polymer thiên</a:t>
            </a:r>
          </a:p>
          <a:p>
            <a:pPr algn="ctr"/>
            <a:r>
              <a:rPr sz="1300" b="0">
                <a:solidFill>
                  <a:srgbClr val="000000"/>
                </a:solidFill>
                <a:latin typeface="Calibri"/>
              </a:rPr>
              <a:t>nhiên</a:t>
            </a:r>
          </a:p>
        </p:txBody>
      </p:sp>
      <p:cxnSp>
        <p:nvCxnSpPr>
          <p:cNvPr id="10" name="Connector 9"/>
          <p:cNvCxnSpPr/>
          <p:nvPr/>
        </p:nvCxnSpPr>
        <p:spPr>
          <a:xfrm flipH="1" flipV="1">
            <a:off x="2610154" y="2406949"/>
            <a:ext cx="758902" cy="306075"/>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44805" y="2236469"/>
            <a:ext cx="2365349" cy="340959"/>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Amylose: α-1,4, mạch xoắn</a:t>
            </a:r>
          </a:p>
        </p:txBody>
      </p:sp>
      <p:cxnSp>
        <p:nvCxnSpPr>
          <p:cNvPr id="12" name="Connector 11"/>
          <p:cNvCxnSpPr/>
          <p:nvPr/>
        </p:nvCxnSpPr>
        <p:spPr>
          <a:xfrm flipH="1">
            <a:off x="2524302" y="2713024"/>
            <a:ext cx="844754" cy="205364"/>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0657" y="2647198"/>
            <a:ext cx="2193645" cy="542381"/>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Amylopectin: phân nhánh</a:t>
            </a:r>
          </a:p>
          <a:p>
            <a:pPr algn="ctr"/>
            <a:r>
              <a:rPr sz="1300" b="0">
                <a:solidFill>
                  <a:srgbClr val="000000"/>
                </a:solidFill>
                <a:latin typeface="Calibri"/>
              </a:rPr>
              <a:t>α-1,6</a:t>
            </a:r>
          </a:p>
        </p:txBody>
      </p:sp>
      <p:cxnSp>
        <p:nvCxnSpPr>
          <p:cNvPr id="14" name="Connector 13"/>
          <p:cNvCxnSpPr/>
          <p:nvPr/>
        </p:nvCxnSpPr>
        <p:spPr>
          <a:xfrm flipH="1">
            <a:off x="2266746" y="2713024"/>
            <a:ext cx="1102310" cy="817515"/>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88213" y="3259348"/>
            <a:ext cx="1678533" cy="542381"/>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Hạt gạo ~80% tinh</a:t>
            </a:r>
          </a:p>
          <a:p>
            <a:pPr algn="ctr"/>
            <a:r>
              <a:rPr sz="1300" b="0">
                <a:solidFill>
                  <a:srgbClr val="000000"/>
                </a:solidFill>
                <a:latin typeface="Calibri"/>
              </a:rPr>
              <a:t>bột</a:t>
            </a:r>
          </a:p>
        </p:txBody>
      </p:sp>
      <p:sp>
        <p:nvSpPr>
          <p:cNvPr id="16" name="Oval 15"/>
          <p:cNvSpPr/>
          <p:nvPr/>
        </p:nvSpPr>
        <p:spPr>
          <a:xfrm>
            <a:off x="2635453" y="2306261"/>
            <a:ext cx="1467205" cy="813526"/>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① Cấu tạo</a:t>
            </a:r>
          </a:p>
          <a:p>
            <a:pPr algn="ctr"/>
            <a:r>
              <a:rPr sz="1500" b="1">
                <a:solidFill>
                  <a:srgbClr val="000000"/>
                </a:solidFill>
                <a:latin typeface="Calibri"/>
              </a:rPr>
              <a:t>tinh bột</a:t>
            </a:r>
          </a:p>
        </p:txBody>
      </p:sp>
      <p:cxnSp>
        <p:nvCxnSpPr>
          <p:cNvPr id="17" name="Connector 16"/>
          <p:cNvCxnSpPr/>
          <p:nvPr/>
        </p:nvCxnSpPr>
        <p:spPr>
          <a:xfrm flipV="1">
            <a:off x="4663440" y="2713024"/>
            <a:ext cx="1294384" cy="1196036"/>
          </a:xfrm>
          <a:prstGeom prst="line">
            <a:avLst/>
          </a:prstGeom>
          <a:ln w="44450">
            <a:solidFill>
              <a:srgbClr val="BF8F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957824" y="2096932"/>
            <a:ext cx="1402791" cy="616092"/>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60615" y="1926452"/>
            <a:ext cx="1077569" cy="340959"/>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(C₆H₁₀O₅)ₙ</a:t>
            </a:r>
          </a:p>
        </p:txBody>
      </p:sp>
      <p:cxnSp>
        <p:nvCxnSpPr>
          <p:cNvPr id="20" name="Connector 19"/>
          <p:cNvCxnSpPr/>
          <p:nvPr/>
        </p:nvCxnSpPr>
        <p:spPr>
          <a:xfrm flipV="1">
            <a:off x="5957824" y="2507660"/>
            <a:ext cx="676351" cy="205364"/>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634175" y="2337181"/>
            <a:ext cx="2530449" cy="340959"/>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β-glucose, liên kết β-1,4</a:t>
            </a:r>
          </a:p>
        </p:txBody>
      </p:sp>
      <p:cxnSp>
        <p:nvCxnSpPr>
          <p:cNvPr id="22" name="Connector 21"/>
          <p:cNvCxnSpPr/>
          <p:nvPr/>
        </p:nvCxnSpPr>
        <p:spPr>
          <a:xfrm>
            <a:off x="5957824" y="2713024"/>
            <a:ext cx="930605" cy="205364"/>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888429" y="2747909"/>
            <a:ext cx="2021941" cy="340959"/>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Mạch không phân nhánh</a:t>
            </a:r>
          </a:p>
        </p:txBody>
      </p:sp>
      <p:cxnSp>
        <p:nvCxnSpPr>
          <p:cNvPr id="24" name="Connector 23"/>
          <p:cNvCxnSpPr/>
          <p:nvPr/>
        </p:nvCxnSpPr>
        <p:spPr>
          <a:xfrm>
            <a:off x="5957824" y="2713024"/>
            <a:ext cx="1059383" cy="616093"/>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017207" y="3158637"/>
            <a:ext cx="1764385" cy="340959"/>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Bông ~90%, gỗ ~50%</a:t>
            </a:r>
          </a:p>
        </p:txBody>
      </p:sp>
      <p:sp>
        <p:nvSpPr>
          <p:cNvPr id="26" name="Oval 25"/>
          <p:cNvSpPr/>
          <p:nvPr/>
        </p:nvSpPr>
        <p:spPr>
          <a:xfrm>
            <a:off x="5224221" y="2306261"/>
            <a:ext cx="1467205" cy="813526"/>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② Cấu tạo</a:t>
            </a:r>
          </a:p>
          <a:p>
            <a:pPr algn="ctr"/>
            <a:r>
              <a:rPr sz="1500" b="1">
                <a:solidFill>
                  <a:srgbClr val="000000"/>
                </a:solidFill>
                <a:latin typeface="Calibri"/>
              </a:rPr>
              <a:t>cellulose</a:t>
            </a:r>
          </a:p>
        </p:txBody>
      </p:sp>
      <p:cxnSp>
        <p:nvCxnSpPr>
          <p:cNvPr id="27" name="Connector 26"/>
          <p:cNvCxnSpPr/>
          <p:nvPr/>
        </p:nvCxnSpPr>
        <p:spPr>
          <a:xfrm flipH="1">
            <a:off x="3369056" y="3909060"/>
            <a:ext cx="1294384" cy="1196035"/>
          </a:xfrm>
          <a:prstGeom prst="line">
            <a:avLst/>
          </a:prstGeom>
          <a:ln w="44450">
            <a:solidFill>
              <a:srgbClr val="2F559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415336" y="4186869"/>
            <a:ext cx="953720" cy="918226"/>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39623" y="4016390"/>
            <a:ext cx="1975713" cy="340959"/>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Thuỷ phân → glucose</a:t>
            </a:r>
          </a:p>
        </p:txBody>
      </p:sp>
      <p:cxnSp>
        <p:nvCxnSpPr>
          <p:cNvPr id="30" name="Connector 29"/>
          <p:cNvCxnSpPr/>
          <p:nvPr/>
        </p:nvCxnSpPr>
        <p:spPr>
          <a:xfrm flipH="1" flipV="1">
            <a:off x="2137968" y="4698309"/>
            <a:ext cx="1231088" cy="406786"/>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16991" y="4427118"/>
            <a:ext cx="1420977" cy="542381"/>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1">
                <a:solidFill>
                  <a:srgbClr val="8B0000"/>
                </a:solidFill>
                <a:latin typeface="Calibri"/>
              </a:rPr>
              <a:t>Hồ tinh bột +</a:t>
            </a:r>
          </a:p>
          <a:p>
            <a:pPr algn="ctr"/>
            <a:r>
              <a:rPr sz="1300" b="1">
                <a:solidFill>
                  <a:srgbClr val="8B0000"/>
                </a:solidFill>
                <a:latin typeface="Calibri"/>
              </a:rPr>
              <a:t>I₂ → xanh tím</a:t>
            </a:r>
          </a:p>
        </p:txBody>
      </p:sp>
      <p:cxnSp>
        <p:nvCxnSpPr>
          <p:cNvPr id="32" name="Connector 31"/>
          <p:cNvCxnSpPr/>
          <p:nvPr/>
        </p:nvCxnSpPr>
        <p:spPr>
          <a:xfrm flipH="1">
            <a:off x="2309672" y="5105095"/>
            <a:ext cx="1059384" cy="205364"/>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45287" y="5039268"/>
            <a:ext cx="1764385" cy="542381"/>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Cellulose + HNO₃ →</a:t>
            </a:r>
          </a:p>
          <a:p>
            <a:pPr algn="ctr"/>
            <a:r>
              <a:rPr sz="1300" b="0">
                <a:solidFill>
                  <a:srgbClr val="000000"/>
                </a:solidFill>
                <a:latin typeface="Calibri"/>
              </a:rPr>
              <a:t>cellulose nitrate</a:t>
            </a:r>
          </a:p>
        </p:txBody>
      </p:sp>
      <p:cxnSp>
        <p:nvCxnSpPr>
          <p:cNvPr id="34" name="Connector 33"/>
          <p:cNvCxnSpPr/>
          <p:nvPr/>
        </p:nvCxnSpPr>
        <p:spPr>
          <a:xfrm flipH="1">
            <a:off x="2567228" y="5105095"/>
            <a:ext cx="801828" cy="817514"/>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287731" y="5651418"/>
            <a:ext cx="2279497" cy="542381"/>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Cellulose tan trong nước</a:t>
            </a:r>
          </a:p>
          <a:p>
            <a:pPr algn="ctr"/>
            <a:r>
              <a:rPr sz="1300" b="0">
                <a:solidFill>
                  <a:srgbClr val="000000"/>
                </a:solidFill>
                <a:latin typeface="Calibri"/>
              </a:rPr>
              <a:t>Schweizer</a:t>
            </a:r>
          </a:p>
        </p:txBody>
      </p:sp>
      <p:sp>
        <p:nvSpPr>
          <p:cNvPr id="36" name="Oval 35"/>
          <p:cNvSpPr/>
          <p:nvPr/>
        </p:nvSpPr>
        <p:spPr>
          <a:xfrm>
            <a:off x="2496769" y="4698331"/>
            <a:ext cx="1744573" cy="813526"/>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③ Tính chất</a:t>
            </a:r>
          </a:p>
          <a:p>
            <a:pPr algn="ctr"/>
            <a:r>
              <a:rPr sz="1500" b="1">
                <a:solidFill>
                  <a:srgbClr val="000000"/>
                </a:solidFill>
                <a:latin typeface="Calibri"/>
              </a:rPr>
              <a:t>hoá học</a:t>
            </a:r>
          </a:p>
        </p:txBody>
      </p:sp>
      <p:cxnSp>
        <p:nvCxnSpPr>
          <p:cNvPr id="37" name="Connector 36"/>
          <p:cNvCxnSpPr/>
          <p:nvPr/>
        </p:nvCxnSpPr>
        <p:spPr>
          <a:xfrm>
            <a:off x="4663440" y="3909060"/>
            <a:ext cx="1294384" cy="1196035"/>
          </a:xfrm>
          <a:prstGeom prst="line">
            <a:avLst/>
          </a:prstGeom>
          <a:ln w="444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5957824" y="4186869"/>
            <a:ext cx="1059383" cy="918226"/>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017207" y="3915679"/>
            <a:ext cx="1764385" cy="542381"/>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Quang hợp tạo tinh</a:t>
            </a:r>
          </a:p>
          <a:p>
            <a:pPr algn="ctr"/>
            <a:r>
              <a:rPr sz="1300" b="0">
                <a:solidFill>
                  <a:srgbClr val="000000"/>
                </a:solidFill>
                <a:latin typeface="Calibri"/>
              </a:rPr>
              <a:t>bột</a:t>
            </a:r>
          </a:p>
        </p:txBody>
      </p:sp>
      <p:cxnSp>
        <p:nvCxnSpPr>
          <p:cNvPr id="40" name="Connector 39"/>
          <p:cNvCxnSpPr/>
          <p:nvPr/>
        </p:nvCxnSpPr>
        <p:spPr>
          <a:xfrm flipV="1">
            <a:off x="5957824" y="4799020"/>
            <a:ext cx="973531" cy="306075"/>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931355" y="4527829"/>
            <a:ext cx="1936089" cy="542381"/>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Cơ thể: tinh bột</a:t>
            </a:r>
          </a:p>
          <a:p>
            <a:pPr algn="ctr"/>
            <a:r>
              <a:rPr sz="1300" b="0">
                <a:solidFill>
                  <a:srgbClr val="000000"/>
                </a:solidFill>
                <a:latin typeface="Calibri"/>
              </a:rPr>
              <a:t>→ glucose → glycogen</a:t>
            </a:r>
          </a:p>
        </p:txBody>
      </p:sp>
      <p:cxnSp>
        <p:nvCxnSpPr>
          <p:cNvPr id="42" name="Connector 41"/>
          <p:cNvCxnSpPr/>
          <p:nvPr/>
        </p:nvCxnSpPr>
        <p:spPr>
          <a:xfrm>
            <a:off x="5957824" y="5105095"/>
            <a:ext cx="973531" cy="306075"/>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931355" y="5139979"/>
            <a:ext cx="1936089" cy="542381"/>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Lương thực, sản xuất</a:t>
            </a:r>
          </a:p>
          <a:p>
            <a:pPr algn="ctr"/>
            <a:r>
              <a:rPr sz="1300" b="0">
                <a:solidFill>
                  <a:srgbClr val="000000"/>
                </a:solidFill>
                <a:latin typeface="Calibri"/>
              </a:rPr>
              <a:t>ethanol</a:t>
            </a:r>
          </a:p>
        </p:txBody>
      </p:sp>
      <p:cxnSp>
        <p:nvCxnSpPr>
          <p:cNvPr id="44" name="Connector 43"/>
          <p:cNvCxnSpPr/>
          <p:nvPr/>
        </p:nvCxnSpPr>
        <p:spPr>
          <a:xfrm>
            <a:off x="5957824" y="5105095"/>
            <a:ext cx="973531" cy="918225"/>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6931355" y="5752129"/>
            <a:ext cx="1936089" cy="542381"/>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Gỗ, giấy, sợi, thuốc</a:t>
            </a:r>
          </a:p>
          <a:p>
            <a:pPr algn="ctr"/>
            <a:r>
              <a:rPr sz="1300" b="0">
                <a:solidFill>
                  <a:srgbClr val="000000"/>
                </a:solidFill>
                <a:latin typeface="Calibri"/>
              </a:rPr>
              <a:t>súng</a:t>
            </a:r>
          </a:p>
        </p:txBody>
      </p:sp>
      <p:sp>
        <p:nvSpPr>
          <p:cNvPr id="46" name="Oval 45"/>
          <p:cNvSpPr/>
          <p:nvPr/>
        </p:nvSpPr>
        <p:spPr>
          <a:xfrm>
            <a:off x="5154879" y="4698331"/>
            <a:ext cx="1605889" cy="813526"/>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④ Vai trò</a:t>
            </a:r>
          </a:p>
          <a:p>
            <a:pPr algn="ctr"/>
            <a:r>
              <a:rPr sz="1500" b="1">
                <a:solidFill>
                  <a:srgbClr val="000000"/>
                </a:solidFill>
                <a:latin typeface="Calibri"/>
              </a:rPr>
              <a:t>&amp; ứng dụng</a:t>
            </a:r>
          </a:p>
        </p:txBody>
      </p:sp>
      <p:sp>
        <p:nvSpPr>
          <p:cNvPr id="47" name="Oval 46"/>
          <p:cNvSpPr/>
          <p:nvPr/>
        </p:nvSpPr>
        <p:spPr>
          <a:xfrm>
            <a:off x="3139338" y="3641742"/>
            <a:ext cx="3048203" cy="534634"/>
          </a:xfrm>
          <a:prstGeom prst="ellipse">
            <a:avLst/>
          </a:prstGeom>
          <a:solidFill>
            <a:srgbClr val="002060"/>
          </a:solidFill>
          <a:ln w="25400">
            <a:solidFill>
              <a:srgbClr val="000B1E"/>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700" b="1">
                <a:solidFill>
                  <a:srgbClr val="FFFFFF"/>
                </a:solidFill>
                <a:latin typeface="Calibri"/>
              </a:rPr>
              <a:t>TINH BỘT CELLULOSE</a:t>
            </a:r>
          </a:p>
        </p:txBody>
      </p:sp>
      <p:sp>
        <p:nvSpPr>
          <p:cNvPr id="48" name="Rounded Rectangle 47"/>
          <p:cNvSpPr/>
          <p:nvPr/>
        </p:nvSpPr>
        <p:spPr>
          <a:xfrm>
            <a:off x="9326880" y="1463040"/>
            <a:ext cx="2651760" cy="4846320"/>
          </a:xfrm>
          <a:prstGeom prst="roundRect">
            <a:avLst>
              <a:gd name="adj" fmla="val 8000"/>
            </a:avLst>
          </a:prstGeom>
          <a:solidFill>
            <a:srgbClr val="EFF6FF"/>
          </a:solidFill>
          <a:ln w="2540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72600" y="1554480"/>
            <a:ext cx="2560320" cy="457200"/>
          </a:xfrm>
          <a:prstGeom prst="rect">
            <a:avLst/>
          </a:prstGeom>
          <a:noFill/>
        </p:spPr>
        <p:txBody>
          <a:bodyPr wrap="square" anchor="t">
            <a:spAutoFit/>
          </a:bodyPr>
          <a:lstStyle/>
          <a:p>
            <a:pPr algn="ctr">
              <a:spcAft>
                <a:spcPts val="600"/>
              </a:spcAft>
            </a:pPr>
            <a:r>
              <a:rPr sz="1800" b="1">
                <a:solidFill>
                  <a:srgbClr val="1E40AF"/>
                </a:solidFill>
                <a:latin typeface="Arial"/>
              </a:rPr>
              <a:t>QUÉT MÃ CỦNG CỐ</a:t>
            </a:r>
          </a:p>
        </p:txBody>
      </p:sp>
      <p:pic>
        <p:nvPicPr>
          <p:cNvPr id="50" name="Picture 49" descr="QR_hoa_cc_bai6_k12.png"/>
          <p:cNvPicPr>
            <a:picLocks noChangeAspect="1"/>
          </p:cNvPicPr>
          <p:nvPr/>
        </p:nvPicPr>
        <p:blipFill>
          <a:blip r:embed="rId2"/>
          <a:stretch>
            <a:fillRect/>
          </a:stretch>
        </p:blipFill>
        <p:spPr>
          <a:xfrm>
            <a:off x="9464040" y="2103120"/>
            <a:ext cx="2377440" cy="2377440"/>
          </a:xfrm>
          <a:prstGeom prst="rect">
            <a:avLst/>
          </a:prstGeom>
        </p:spPr>
      </p:pic>
      <p:sp>
        <p:nvSpPr>
          <p:cNvPr id="51" name="TextBox 50"/>
          <p:cNvSpPr txBox="1"/>
          <p:nvPr/>
        </p:nvSpPr>
        <p:spPr>
          <a:xfrm>
            <a:off x="9372600" y="4572000"/>
            <a:ext cx="2560320" cy="1645920"/>
          </a:xfrm>
          <a:prstGeom prst="rect">
            <a:avLst/>
          </a:prstGeom>
          <a:noFill/>
        </p:spPr>
        <p:txBody>
          <a:bodyPr wrap="square" anchor="t">
            <a:spAutoFit/>
          </a:bodyPr>
          <a:lstStyle/>
          <a:p>
            <a:pPr algn="ctr">
              <a:spcAft>
                <a:spcPts val="600"/>
              </a:spcAft>
            </a:pPr>
            <a:r>
              <a:rPr sz="1100" b="0">
                <a:solidFill>
                  <a:srgbClr val="1E293B"/>
                </a:solidFill>
                <a:latin typeface="Calibri"/>
              </a:rPr>
              <a:t>6 câu 4 lựa chọn + 1 câu Đúng/Sai</a:t>
            </a:r>
          </a:p>
          <a:p>
            <a:pPr algn="ctr">
              <a:spcAft>
                <a:spcPts val="600"/>
              </a:spcAft>
            </a:pPr>
            <a:r>
              <a:rPr sz="1100" b="0">
                <a:solidFill>
                  <a:srgbClr val="1E293B"/>
                </a:solidFill>
                <a:latin typeface="Calibri"/>
              </a:rPr>
              <a:t>Phòng thi bảo mật – đáp án niêm phong</a:t>
            </a:r>
          </a:p>
          <a:p>
            <a:pPr algn="ctr">
              <a:spcAft>
                <a:spcPts val="600"/>
              </a:spcAft>
            </a:pPr>
            <a:r>
              <a:rPr sz="1100" b="0">
                <a:solidFill>
                  <a:srgbClr val="1E293B"/>
                </a:solidFill>
                <a:latin typeface="Calibri"/>
              </a:rPr>
              <a:t>trangtu66.github.io/Taode_thi_online/hoa_cc_bai6_k12.html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1. CẤU TẠO PHÂN TỬ TINH BỘT</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6. Tinh bột và cellulose</a:t>
            </a:r>
          </a:p>
        </p:txBody>
      </p:sp>
      <p:sp>
        <p:nvSpPr>
          <p:cNvPr id="6" name="TextBox 5"/>
          <p:cNvSpPr txBox="1"/>
          <p:nvPr/>
        </p:nvSpPr>
        <p:spPr>
          <a:xfrm>
            <a:off x="548640" y="1325880"/>
            <a:ext cx="6309360" cy="5029200"/>
          </a:xfrm>
          <a:prstGeom prst="rect">
            <a:avLst/>
          </a:prstGeom>
          <a:noFill/>
        </p:spPr>
        <p:txBody>
          <a:bodyPr wrap="square" anchor="t">
            <a:spAutoFit/>
          </a:bodyPr>
          <a:lstStyle/>
          <a:p>
            <a:pPr algn="l">
              <a:spcAft>
                <a:spcPts val="600"/>
              </a:spcAft>
            </a:pPr>
            <a:r>
              <a:rPr sz="2400" b="0">
                <a:solidFill>
                  <a:srgbClr val="1E293B"/>
                </a:solidFill>
                <a:latin typeface="Calibri"/>
              </a:rPr>
              <a:t>Polymer thiên nhiên (C₆H₁₀O₅)ₙ, gồm amylose và amylopectin</a:t>
            </a:r>
          </a:p>
          <a:p>
            <a:pPr algn="l">
              <a:spcAft>
                <a:spcPts val="600"/>
              </a:spcAft>
            </a:pPr>
            <a:r>
              <a:rPr sz="2400" b="1">
                <a:solidFill>
                  <a:srgbClr val="991B1B"/>
                </a:solidFill>
                <a:latin typeface="Calibri"/>
              </a:rPr>
              <a:t>Amylose: α-glucose, liên kết α-1,4-glycoside, chuỗi xoắn</a:t>
            </a:r>
          </a:p>
          <a:p>
            <a:pPr algn="l">
              <a:spcAft>
                <a:spcPts val="600"/>
              </a:spcAft>
            </a:pPr>
            <a:r>
              <a:rPr sz="2400" b="1">
                <a:solidFill>
                  <a:srgbClr val="991B1B"/>
                </a:solidFill>
                <a:latin typeface="Calibri"/>
              </a:rPr>
              <a:t>Amylopectin: chuỗi α-1,4 nối nhau qua liên kết α-1,6 → phân nhánh</a:t>
            </a:r>
          </a:p>
        </p:txBody>
      </p:sp>
      <p:pic>
        <p:nvPicPr>
          <p:cNvPr id="7" name="Picture 6" descr="b6_amy.png"/>
          <p:cNvPicPr>
            <a:picLocks noChangeAspect="1"/>
          </p:cNvPicPr>
          <p:nvPr/>
        </p:nvPicPr>
        <p:blipFill>
          <a:blip r:embed="rId2"/>
          <a:stretch>
            <a:fillRect/>
          </a:stretch>
        </p:blipFill>
        <p:spPr>
          <a:xfrm>
            <a:off x="7040880" y="2911402"/>
            <a:ext cx="4846320" cy="1218076"/>
          </a:xfrm>
          <a:prstGeom prst="rect">
            <a:avLst/>
          </a:prstGeom>
        </p:spPr>
      </p:pic>
      <p:sp>
        <p:nvSpPr>
          <p:cNvPr id="8" name="TextBox 7"/>
          <p:cNvSpPr txBox="1"/>
          <p:nvPr/>
        </p:nvSpPr>
        <p:spPr>
          <a:xfrm>
            <a:off x="7040880" y="5760720"/>
            <a:ext cx="4846320" cy="548640"/>
          </a:xfrm>
          <a:prstGeom prst="rect">
            <a:avLst/>
          </a:prstGeom>
          <a:noFill/>
        </p:spPr>
        <p:txBody>
          <a:bodyPr wrap="square" anchor="t">
            <a:spAutoFit/>
          </a:bodyPr>
          <a:lstStyle/>
          <a:p>
            <a:pPr algn="ctr">
              <a:spcAft>
                <a:spcPts val="600"/>
              </a:spcAft>
            </a:pPr>
            <a:r>
              <a:rPr sz="1200" b="0">
                <a:solidFill>
                  <a:srgbClr val="64748B"/>
                </a:solidFill>
                <a:latin typeface="Calibri"/>
              </a:rPr>
              <a:t>Cấu tạo amylose – SGK Hóa học 12 KNTT, tr.28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2. CẤU TẠO PHÂN TỬ CELLULOSE</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6. Tinh bột và cellulose</a:t>
            </a:r>
          </a:p>
        </p:txBody>
      </p:sp>
      <p:sp>
        <p:nvSpPr>
          <p:cNvPr id="6" name="TextBox 5"/>
          <p:cNvSpPr txBox="1"/>
          <p:nvPr/>
        </p:nvSpPr>
        <p:spPr>
          <a:xfrm>
            <a:off x="548640" y="1325880"/>
            <a:ext cx="6309360" cy="5029200"/>
          </a:xfrm>
          <a:prstGeom prst="rect">
            <a:avLst/>
          </a:prstGeom>
          <a:noFill/>
        </p:spPr>
        <p:txBody>
          <a:bodyPr wrap="square" anchor="t">
            <a:spAutoFit/>
          </a:bodyPr>
          <a:lstStyle/>
          <a:p>
            <a:pPr algn="l">
              <a:spcAft>
                <a:spcPts val="600"/>
              </a:spcAft>
            </a:pPr>
            <a:r>
              <a:rPr sz="2400" b="0">
                <a:solidFill>
                  <a:srgbClr val="1E293B"/>
                </a:solidFill>
                <a:latin typeface="Calibri"/>
              </a:rPr>
              <a:t>Polymer thiên nhiên (C₆H₁₀O₅)ₙ</a:t>
            </a:r>
          </a:p>
          <a:p>
            <a:pPr algn="l">
              <a:spcAft>
                <a:spcPts val="600"/>
              </a:spcAft>
            </a:pPr>
            <a:r>
              <a:rPr sz="2400" b="1">
                <a:solidFill>
                  <a:srgbClr val="991B1B"/>
                </a:solidFill>
                <a:latin typeface="Calibri"/>
              </a:rPr>
              <a:t>Nhiều đơn vị β-glucose, liên kết β-1,4-glycoside</a:t>
            </a:r>
          </a:p>
          <a:p>
            <a:pPr algn="l">
              <a:spcAft>
                <a:spcPts val="600"/>
              </a:spcAft>
            </a:pPr>
            <a:r>
              <a:rPr sz="2400" b="0">
                <a:solidFill>
                  <a:srgbClr val="1E293B"/>
                </a:solidFill>
                <a:latin typeface="Calibri"/>
              </a:rPr>
              <a:t>Chuỗi không phân nhánh, các chuỗi xếp song song → sợi bền</a:t>
            </a:r>
          </a:p>
          <a:p>
            <a:pPr algn="l">
              <a:spcAft>
                <a:spcPts val="600"/>
              </a:spcAft>
            </a:pPr>
            <a:r>
              <a:rPr sz="2400" b="0">
                <a:solidFill>
                  <a:srgbClr val="1E293B"/>
                </a:solidFill>
                <a:latin typeface="Calibri"/>
              </a:rPr>
              <a:t>Mỗi mắt xích có 3 nhóm –OH: [C₆H₇O₂(OH)₃]ₙ</a:t>
            </a:r>
          </a:p>
        </p:txBody>
      </p:sp>
      <p:pic>
        <p:nvPicPr>
          <p:cNvPr id="7" name="Picture 6" descr="b6_cel.png"/>
          <p:cNvPicPr>
            <a:picLocks noChangeAspect="1"/>
          </p:cNvPicPr>
          <p:nvPr/>
        </p:nvPicPr>
        <p:blipFill>
          <a:blip r:embed="rId2"/>
          <a:stretch>
            <a:fillRect/>
          </a:stretch>
        </p:blipFill>
        <p:spPr>
          <a:xfrm>
            <a:off x="7040880" y="2331645"/>
            <a:ext cx="4846320" cy="2377589"/>
          </a:xfrm>
          <a:prstGeom prst="rect">
            <a:avLst/>
          </a:prstGeom>
        </p:spPr>
      </p:pic>
      <p:sp>
        <p:nvSpPr>
          <p:cNvPr id="8" name="TextBox 7"/>
          <p:cNvSpPr txBox="1"/>
          <p:nvPr/>
        </p:nvSpPr>
        <p:spPr>
          <a:xfrm>
            <a:off x="7040880" y="5760720"/>
            <a:ext cx="4846320" cy="548640"/>
          </a:xfrm>
          <a:prstGeom prst="rect">
            <a:avLst/>
          </a:prstGeom>
          <a:noFill/>
        </p:spPr>
        <p:txBody>
          <a:bodyPr wrap="square" anchor="t">
            <a:spAutoFit/>
          </a:bodyPr>
          <a:lstStyle/>
          <a:p>
            <a:pPr algn="ctr">
              <a:spcAft>
                <a:spcPts val="600"/>
              </a:spcAft>
            </a:pPr>
            <a:r>
              <a:rPr sz="1200" b="0">
                <a:solidFill>
                  <a:srgbClr val="64748B"/>
                </a:solidFill>
                <a:latin typeface="Calibri"/>
              </a:rPr>
              <a:t>Cấu tạo cellulose – SGK Hóa học 12 KNTT, tr.29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1 – ĐỀ BÀI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Thảo luận cặp đôi / nhóm – chưa xem lời giải</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6. Tinh bột và cellulose</a:t>
            </a:r>
          </a:p>
        </p:txBody>
      </p:sp>
      <p:sp>
        <p:nvSpPr>
          <p:cNvPr id="7" name="TextBox 6"/>
          <p:cNvSpPr txBox="1"/>
          <p:nvPr/>
        </p:nvSpPr>
        <p:spPr>
          <a:xfrm>
            <a:off x="548640" y="1417320"/>
            <a:ext cx="11155680" cy="4023360"/>
          </a:xfrm>
          <a:prstGeom prst="rect">
            <a:avLst/>
          </a:prstGeom>
          <a:noFill/>
        </p:spPr>
        <p:txBody>
          <a:bodyPr wrap="square" anchor="t">
            <a:spAutoFit/>
          </a:bodyPr>
          <a:lstStyle/>
          <a:p>
            <a:pPr algn="l">
              <a:spcAft>
                <a:spcPts val="600"/>
              </a:spcAft>
            </a:pPr>
            <a:r>
              <a:rPr sz="2400" b="0">
                <a:solidFill>
                  <a:srgbClr val="1E293B"/>
                </a:solidFill>
                <a:latin typeface="Calibri"/>
              </a:rPr>
              <a:t>Cấu tạo của tinh bột và cellulose có những đặc điểm nào khác nhau? (SGK tr.29, câu 1)</a:t>
            </a:r>
          </a:p>
        </p:txBody>
      </p:sp>
      <p:sp>
        <p:nvSpPr>
          <p:cNvPr id="8" name="Rounded Rectangle 7"/>
          <p:cNvSpPr/>
          <p:nvPr/>
        </p:nvSpPr>
        <p:spPr>
          <a:xfrm>
            <a:off x="548640" y="5486400"/>
            <a:ext cx="11155680" cy="777240"/>
          </a:xfrm>
          <a:prstGeom prst="roundRect">
            <a:avLst/>
          </a:prstGeom>
          <a:solidFill>
            <a:srgbClr val="F0FDF4"/>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559552"/>
            <a:ext cx="10789920" cy="685800"/>
          </a:xfrm>
          <a:prstGeom prst="rect">
            <a:avLst/>
          </a:prstGeom>
          <a:noFill/>
        </p:spPr>
        <p:txBody>
          <a:bodyPr wrap="square" anchor="t">
            <a:spAutoFit/>
          </a:bodyPr>
          <a:lstStyle/>
          <a:p>
            <a:pPr algn="l">
              <a:spcAft>
                <a:spcPts val="600"/>
              </a:spcAft>
            </a:pPr>
            <a:r>
              <a:rPr sz="1800" b="0">
                <a:solidFill>
                  <a:srgbClr val="166534"/>
                </a:solidFill>
                <a:latin typeface="Calibri"/>
              </a:rPr>
              <a:t>💡 Gợi mở: So sánh: đơn vị cấu tạo (α hay β-glucose), loại liên kết, mạch nhánh, hình dạng.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1 – LỜI GIẢI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6. Tinh bột và cellulose</a:t>
            </a:r>
          </a:p>
        </p:txBody>
      </p:sp>
      <p:sp>
        <p:nvSpPr>
          <p:cNvPr id="6" name="TextBox 5"/>
          <p:cNvSpPr txBox="1"/>
          <p:nvPr/>
        </p:nvSpPr>
        <p:spPr>
          <a:xfrm>
            <a:off x="548640" y="1325880"/>
            <a:ext cx="11155680" cy="4023360"/>
          </a:xfrm>
          <a:prstGeom prst="rect">
            <a:avLst/>
          </a:prstGeom>
          <a:noFill/>
        </p:spPr>
        <p:txBody>
          <a:bodyPr wrap="square" anchor="t">
            <a:spAutoFit/>
          </a:bodyPr>
          <a:lstStyle/>
          <a:p>
            <a:pPr algn="l">
              <a:spcAft>
                <a:spcPts val="600"/>
              </a:spcAft>
            </a:pPr>
            <a:r>
              <a:rPr sz="2300" b="0">
                <a:solidFill>
                  <a:srgbClr val="1E293B"/>
                </a:solidFill>
                <a:latin typeface="Calibri"/>
              </a:rPr>
              <a:t>Tinh bột: α-glucose; amylose α-1,4 (xoắn), amylopectin thêm α-1,6 (phân nhánh)</a:t>
            </a:r>
          </a:p>
          <a:p>
            <a:pPr algn="l">
              <a:spcAft>
                <a:spcPts val="600"/>
              </a:spcAft>
            </a:pPr>
            <a:r>
              <a:rPr sz="2300" b="0">
                <a:solidFill>
                  <a:srgbClr val="1E293B"/>
                </a:solidFill>
                <a:latin typeface="Calibri"/>
              </a:rPr>
              <a:t>Cellulose: β-glucose; liên kết β-1,4; chuỗi thẳng, không phân nhánh</a:t>
            </a:r>
          </a:p>
          <a:p>
            <a:pPr algn="l">
              <a:spcAft>
                <a:spcPts val="600"/>
              </a:spcAft>
            </a:pPr>
            <a:r>
              <a:rPr sz="2300" b="0">
                <a:solidFill>
                  <a:srgbClr val="1E293B"/>
                </a:solidFill>
                <a:latin typeface="Calibri"/>
              </a:rPr>
              <a:t>Tinh bột là hỗn hợp 2 loại phân tử; cellulose chỉ 1 loại</a:t>
            </a:r>
          </a:p>
        </p:txBody>
      </p:sp>
      <p:sp>
        <p:nvSpPr>
          <p:cNvPr id="7" name="Rounded Rectangle 6"/>
          <p:cNvSpPr/>
          <p:nvPr/>
        </p:nvSpPr>
        <p:spPr>
          <a:xfrm>
            <a:off x="548640" y="5440680"/>
            <a:ext cx="11155680" cy="868680"/>
          </a:xfrm>
          <a:prstGeom prst="roundRect">
            <a:avLst/>
          </a:prstGeom>
          <a:solidFill>
            <a:srgbClr val="FEF2F2"/>
          </a:solidFill>
          <a:ln w="254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04688"/>
            <a:ext cx="10789920" cy="777240"/>
          </a:xfrm>
          <a:prstGeom prst="rect">
            <a:avLst/>
          </a:prstGeom>
          <a:noFill/>
        </p:spPr>
        <p:txBody>
          <a:bodyPr wrap="square" anchor="t">
            <a:spAutoFit/>
          </a:bodyPr>
          <a:lstStyle/>
          <a:p>
            <a:pPr algn="l">
              <a:spcAft>
                <a:spcPts val="600"/>
              </a:spcAft>
            </a:pPr>
            <a:r>
              <a:rPr sz="2200" b="1">
                <a:solidFill>
                  <a:srgbClr val="991B1B"/>
                </a:solidFill>
                <a:latin typeface="Calibri"/>
              </a:rPr>
              <a:t>Kết luận: Khác nhau ở đơn vị glucose (α/β), kiểu liên kết và mạch nhánh.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3. TÍNH CHẤT HOÁ HỌC CỦA TINH BỘT</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6. Tinh bột và cellulose</a:t>
            </a:r>
          </a:p>
        </p:txBody>
      </p:sp>
      <p:sp>
        <p:nvSpPr>
          <p:cNvPr id="6" name="TextBox 5"/>
          <p:cNvSpPr txBox="1"/>
          <p:nvPr/>
        </p:nvSpPr>
        <p:spPr>
          <a:xfrm>
            <a:off x="548640" y="1325880"/>
            <a:ext cx="6309360" cy="5029200"/>
          </a:xfrm>
          <a:prstGeom prst="rect">
            <a:avLst/>
          </a:prstGeom>
          <a:noFill/>
        </p:spPr>
        <p:txBody>
          <a:bodyPr wrap="square" anchor="t">
            <a:spAutoFit/>
          </a:bodyPr>
          <a:lstStyle/>
          <a:p>
            <a:pPr algn="l">
              <a:spcAft>
                <a:spcPts val="600"/>
              </a:spcAft>
            </a:pPr>
            <a:r>
              <a:rPr sz="2400" b="1">
                <a:solidFill>
                  <a:srgbClr val="991B1B"/>
                </a:solidFill>
                <a:latin typeface="Calibri"/>
              </a:rPr>
              <a:t>(C₆H₁₀O₅)ₙ + nH₂O → nC₆H₁₂O₆ (enzyme hoặc H⁺)</a:t>
            </a:r>
          </a:p>
          <a:p>
            <a:pPr algn="l">
              <a:spcAft>
                <a:spcPts val="600"/>
              </a:spcAft>
            </a:pPr>
            <a:r>
              <a:rPr sz="2400" b="0">
                <a:solidFill>
                  <a:srgbClr val="1E293B"/>
                </a:solidFill>
                <a:latin typeface="Calibri"/>
              </a:rPr>
              <a:t>Thuỷ phân không hoàn toàn: dextrin, maltose, glucose</a:t>
            </a:r>
          </a:p>
          <a:p>
            <a:pPr algn="l">
              <a:spcAft>
                <a:spcPts val="600"/>
              </a:spcAft>
            </a:pPr>
            <a:r>
              <a:rPr sz="2400" b="1">
                <a:solidFill>
                  <a:srgbClr val="991B1B"/>
                </a:solidFill>
                <a:latin typeface="Calibri"/>
              </a:rPr>
              <a:t>Hồ tinh bột + iodine → màu xanh tím (nhận biết tinh bột)</a:t>
            </a:r>
          </a:p>
          <a:p>
            <a:pPr algn="l">
              <a:spcAft>
                <a:spcPts val="600"/>
              </a:spcAft>
            </a:pPr>
            <a:r>
              <a:rPr sz="2400" b="0">
                <a:solidFill>
                  <a:srgbClr val="1E293B"/>
                </a:solidFill>
                <a:latin typeface="Calibri"/>
              </a:rPr>
              <a:t>Amylose xoắn "bọc" phân tử I₂ → hợp chất màu</a:t>
            </a:r>
          </a:p>
        </p:txBody>
      </p:sp>
      <p:pic>
        <p:nvPicPr>
          <p:cNvPr id="7" name="Picture 6" descr="b6_h61.png"/>
          <p:cNvPicPr>
            <a:picLocks noChangeAspect="1"/>
          </p:cNvPicPr>
          <p:nvPr/>
        </p:nvPicPr>
        <p:blipFill>
          <a:blip r:embed="rId2"/>
          <a:stretch>
            <a:fillRect/>
          </a:stretch>
        </p:blipFill>
        <p:spPr>
          <a:xfrm>
            <a:off x="7040880" y="2547121"/>
            <a:ext cx="4846320" cy="1946638"/>
          </a:xfrm>
          <a:prstGeom prst="rect">
            <a:avLst/>
          </a:prstGeom>
        </p:spPr>
      </p:pic>
      <p:sp>
        <p:nvSpPr>
          <p:cNvPr id="8" name="TextBox 7"/>
          <p:cNvSpPr txBox="1"/>
          <p:nvPr/>
        </p:nvSpPr>
        <p:spPr>
          <a:xfrm>
            <a:off x="7040880" y="5760720"/>
            <a:ext cx="4846320" cy="548640"/>
          </a:xfrm>
          <a:prstGeom prst="rect">
            <a:avLst/>
          </a:prstGeom>
          <a:noFill/>
        </p:spPr>
        <p:txBody>
          <a:bodyPr wrap="square" anchor="t">
            <a:spAutoFit/>
          </a:bodyPr>
          <a:lstStyle/>
          <a:p>
            <a:pPr algn="ctr">
              <a:spcAft>
                <a:spcPts val="600"/>
              </a:spcAft>
            </a:pPr>
            <a:r>
              <a:rPr sz="1200" b="0">
                <a:solidFill>
                  <a:srgbClr val="64748B"/>
                </a:solidFill>
                <a:latin typeface="Calibri"/>
              </a:rPr>
              <a:t>Hình 6.1. Tương tác tinh bột – iodine – SGK tr.30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4. TÍNH CHẤT HOÁ HỌC CỦA CELLULOSE</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6. Tinh bột và cellulose</a:t>
            </a:r>
          </a:p>
        </p:txBody>
      </p:sp>
      <p:sp>
        <p:nvSpPr>
          <p:cNvPr id="6" name="TextBox 5"/>
          <p:cNvSpPr txBox="1"/>
          <p:nvPr/>
        </p:nvSpPr>
        <p:spPr>
          <a:xfrm>
            <a:off x="548640" y="1325880"/>
            <a:ext cx="11155680" cy="5029200"/>
          </a:xfrm>
          <a:prstGeom prst="rect">
            <a:avLst/>
          </a:prstGeom>
          <a:noFill/>
        </p:spPr>
        <p:txBody>
          <a:bodyPr wrap="square" anchor="t">
            <a:spAutoFit/>
          </a:bodyPr>
          <a:lstStyle/>
          <a:p>
            <a:pPr algn="l">
              <a:spcAft>
                <a:spcPts val="600"/>
              </a:spcAft>
            </a:pPr>
            <a:r>
              <a:rPr sz="2400" b="1">
                <a:solidFill>
                  <a:srgbClr val="991B1B"/>
                </a:solidFill>
                <a:latin typeface="Calibri"/>
              </a:rPr>
              <a:t>Thuỷ phân (H₂SO₄/enzyme) → glucose</a:t>
            </a:r>
          </a:p>
          <a:p>
            <a:pPr algn="l">
              <a:spcAft>
                <a:spcPts val="600"/>
              </a:spcAft>
            </a:pPr>
            <a:r>
              <a:rPr sz="2400" b="1">
                <a:solidFill>
                  <a:srgbClr val="991B1B"/>
                </a:solidFill>
                <a:latin typeface="Calibri"/>
              </a:rPr>
              <a:t>+ HNO₃ đặc (H₂SO₄ đặc): [C₆H₇O₂(OH)₃]ₙ + 3nHNO₃ → [C₆H₇O₂(ONO₂)₃]ₙ + 3nH₂O</a:t>
            </a:r>
          </a:p>
          <a:p>
            <a:pPr algn="l">
              <a:spcAft>
                <a:spcPts val="600"/>
              </a:spcAft>
            </a:pPr>
            <a:r>
              <a:rPr sz="2400" b="0">
                <a:solidFill>
                  <a:srgbClr val="1E293B"/>
                </a:solidFill>
                <a:latin typeface="Calibri"/>
              </a:rPr>
              <a:t>Cellulose trinitrate: chế tạo thuốc súng không khói</a:t>
            </a:r>
          </a:p>
          <a:p>
            <a:pPr algn="l">
              <a:spcAft>
                <a:spcPts val="600"/>
              </a:spcAft>
            </a:pPr>
            <a:r>
              <a:rPr sz="2400" b="0">
                <a:solidFill>
                  <a:srgbClr val="1E293B"/>
                </a:solidFill>
                <a:latin typeface="Calibri"/>
              </a:rPr>
              <a:t>Tan trong nước Schweizer [Cu(NH₃)₄](OH)₂ → tơ đồng – ammonia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2 – ĐỀ BÀI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Thảo luận cặp đôi / nhóm – chưa xem lời giải</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6. Tinh bột và cellulose</a:t>
            </a:r>
          </a:p>
        </p:txBody>
      </p:sp>
      <p:sp>
        <p:nvSpPr>
          <p:cNvPr id="7" name="TextBox 6"/>
          <p:cNvSpPr txBox="1"/>
          <p:nvPr/>
        </p:nvSpPr>
        <p:spPr>
          <a:xfrm>
            <a:off x="548640" y="1417320"/>
            <a:ext cx="11155680" cy="4023360"/>
          </a:xfrm>
          <a:prstGeom prst="rect">
            <a:avLst/>
          </a:prstGeom>
          <a:noFill/>
        </p:spPr>
        <p:txBody>
          <a:bodyPr wrap="square" anchor="t">
            <a:spAutoFit/>
          </a:bodyPr>
          <a:lstStyle/>
          <a:p>
            <a:pPr algn="l">
              <a:spcAft>
                <a:spcPts val="600"/>
              </a:spcAft>
            </a:pPr>
            <a:r>
              <a:rPr sz="2400" b="0">
                <a:solidFill>
                  <a:srgbClr val="1E293B"/>
                </a:solidFill>
                <a:latin typeface="Calibri"/>
              </a:rPr>
              <a:t>Tại sao tinh bột và cellulose đều có thể dùng để sản xuất ethanol? (SGK tr.30, câu 2)</a:t>
            </a:r>
          </a:p>
          <a:p>
            <a:pPr algn="l">
              <a:spcAft>
                <a:spcPts val="600"/>
              </a:spcAft>
            </a:pPr>
            <a:r>
              <a:rPr sz="2400" b="0">
                <a:solidFill>
                  <a:srgbClr val="1E293B"/>
                </a:solidFill>
                <a:latin typeface="Calibri"/>
              </a:rPr>
              <a:t>Viết sơ đồ phản ứng từ tinh bột đến ethanol.</a:t>
            </a:r>
          </a:p>
        </p:txBody>
      </p:sp>
      <p:sp>
        <p:nvSpPr>
          <p:cNvPr id="8" name="Rounded Rectangle 7"/>
          <p:cNvSpPr/>
          <p:nvPr/>
        </p:nvSpPr>
        <p:spPr>
          <a:xfrm>
            <a:off x="548640" y="5486400"/>
            <a:ext cx="11155680" cy="777240"/>
          </a:xfrm>
          <a:prstGeom prst="roundRect">
            <a:avLst/>
          </a:prstGeom>
          <a:solidFill>
            <a:srgbClr val="F0FDF4"/>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559552"/>
            <a:ext cx="10789920" cy="685800"/>
          </a:xfrm>
          <a:prstGeom prst="rect">
            <a:avLst/>
          </a:prstGeom>
          <a:noFill/>
        </p:spPr>
        <p:txBody>
          <a:bodyPr wrap="square" anchor="t">
            <a:spAutoFit/>
          </a:bodyPr>
          <a:lstStyle/>
          <a:p>
            <a:pPr algn="l">
              <a:spcAft>
                <a:spcPts val="600"/>
              </a:spcAft>
            </a:pPr>
            <a:r>
              <a:rPr sz="1800" b="0">
                <a:solidFill>
                  <a:srgbClr val="166534"/>
                </a:solidFill>
                <a:latin typeface="Calibri"/>
              </a:rPr>
              <a:t>💡 Gợi mở: Sản phẩm thuỷ phân hoàn toàn của cả hai chất là gì?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2 – LỜI GIẢI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6. Tinh bột và cellulose</a:t>
            </a:r>
          </a:p>
        </p:txBody>
      </p:sp>
      <p:sp>
        <p:nvSpPr>
          <p:cNvPr id="6" name="TextBox 5"/>
          <p:cNvSpPr txBox="1"/>
          <p:nvPr/>
        </p:nvSpPr>
        <p:spPr>
          <a:xfrm>
            <a:off x="548640" y="1325880"/>
            <a:ext cx="11155680" cy="4023360"/>
          </a:xfrm>
          <a:prstGeom prst="rect">
            <a:avLst/>
          </a:prstGeom>
          <a:noFill/>
        </p:spPr>
        <p:txBody>
          <a:bodyPr wrap="square" anchor="t">
            <a:spAutoFit/>
          </a:bodyPr>
          <a:lstStyle/>
          <a:p>
            <a:pPr algn="l">
              <a:spcAft>
                <a:spcPts val="600"/>
              </a:spcAft>
            </a:pPr>
            <a:r>
              <a:rPr sz="2300" b="0">
                <a:solidFill>
                  <a:srgbClr val="1E293B"/>
                </a:solidFill>
                <a:latin typeface="Calibri"/>
              </a:rPr>
              <a:t>Thuỷ phân hoàn toàn tinh bột hay cellulose đều tạo glucose</a:t>
            </a:r>
          </a:p>
          <a:p>
            <a:pPr algn="l">
              <a:spcAft>
                <a:spcPts val="600"/>
              </a:spcAft>
            </a:pPr>
            <a:r>
              <a:rPr sz="2300" b="0">
                <a:solidFill>
                  <a:srgbClr val="1E293B"/>
                </a:solidFill>
                <a:latin typeface="Calibri"/>
              </a:rPr>
              <a:t>(C₆H₁₀O₅)ₙ + nH₂O → nC₆H₁₂O₆ (H⁺ hoặc enzyme)</a:t>
            </a:r>
          </a:p>
          <a:p>
            <a:pPr algn="l">
              <a:spcAft>
                <a:spcPts val="600"/>
              </a:spcAft>
            </a:pPr>
            <a:r>
              <a:rPr sz="2300" b="0">
                <a:solidFill>
                  <a:srgbClr val="1E293B"/>
                </a:solidFill>
                <a:latin typeface="Calibri"/>
              </a:rPr>
              <a:t>Glucose lên men: C₆H₁₂O₆ → 2C₂H₅OH + 2CO₂ (enzyme)</a:t>
            </a:r>
          </a:p>
        </p:txBody>
      </p:sp>
      <p:sp>
        <p:nvSpPr>
          <p:cNvPr id="7" name="Rounded Rectangle 6"/>
          <p:cNvSpPr/>
          <p:nvPr/>
        </p:nvSpPr>
        <p:spPr>
          <a:xfrm>
            <a:off x="548640" y="5440680"/>
            <a:ext cx="11155680" cy="868680"/>
          </a:xfrm>
          <a:prstGeom prst="roundRect">
            <a:avLst/>
          </a:prstGeom>
          <a:solidFill>
            <a:srgbClr val="FEF2F2"/>
          </a:solidFill>
          <a:ln w="254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04688"/>
            <a:ext cx="10789920" cy="777240"/>
          </a:xfrm>
          <a:prstGeom prst="rect">
            <a:avLst/>
          </a:prstGeom>
          <a:noFill/>
        </p:spPr>
        <p:txBody>
          <a:bodyPr wrap="square" anchor="t">
            <a:spAutoFit/>
          </a:bodyPr>
          <a:lstStyle/>
          <a:p>
            <a:pPr algn="l">
              <a:spcAft>
                <a:spcPts val="600"/>
              </a:spcAft>
            </a:pPr>
            <a:r>
              <a:rPr sz="2200" b="1">
                <a:solidFill>
                  <a:srgbClr val="991B1B"/>
                </a:solidFill>
                <a:latin typeface="Calibri"/>
              </a:rPr>
              <a:t>Kết luận: Cả hai đều thuỷ phân ra glucose – nguyên liệu lên men ethanol.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3 – ĐỀ BÀI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Thảo luận cặp đôi / nhóm – chưa xem lời giải</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6. Tinh bột và cellulose</a:t>
            </a:r>
          </a:p>
        </p:txBody>
      </p:sp>
      <p:sp>
        <p:nvSpPr>
          <p:cNvPr id="7" name="TextBox 6"/>
          <p:cNvSpPr txBox="1"/>
          <p:nvPr/>
        </p:nvSpPr>
        <p:spPr>
          <a:xfrm>
            <a:off x="548640" y="1417320"/>
            <a:ext cx="11155680" cy="4023360"/>
          </a:xfrm>
          <a:prstGeom prst="rect">
            <a:avLst/>
          </a:prstGeom>
          <a:noFill/>
        </p:spPr>
        <p:txBody>
          <a:bodyPr wrap="square" anchor="t">
            <a:spAutoFit/>
          </a:bodyPr>
          <a:lstStyle/>
          <a:p>
            <a:pPr algn="l">
              <a:spcAft>
                <a:spcPts val="600"/>
              </a:spcAft>
            </a:pPr>
            <a:r>
              <a:rPr sz="2400" b="0">
                <a:solidFill>
                  <a:srgbClr val="1E293B"/>
                </a:solidFill>
                <a:latin typeface="Calibri"/>
              </a:rPr>
              <a:t>Tính khối lượng glucose thu được khi thuỷ phân 162 g tinh bột với hiệu suất 75%.</a:t>
            </a:r>
          </a:p>
          <a:p>
            <a:pPr algn="l">
              <a:spcAft>
                <a:spcPts val="600"/>
              </a:spcAft>
            </a:pPr>
            <a:r>
              <a:rPr sz="2400" b="0">
                <a:solidFill>
                  <a:srgbClr val="1E293B"/>
                </a:solidFill>
                <a:latin typeface="Calibri"/>
              </a:rPr>
              <a:t>Lượng glucose này lên men (H = 80%) thu được bao nhiêu gam ethanol?</a:t>
            </a:r>
          </a:p>
        </p:txBody>
      </p:sp>
      <p:sp>
        <p:nvSpPr>
          <p:cNvPr id="8" name="Rounded Rectangle 7"/>
          <p:cNvSpPr/>
          <p:nvPr/>
        </p:nvSpPr>
        <p:spPr>
          <a:xfrm>
            <a:off x="548640" y="5486400"/>
            <a:ext cx="11155680" cy="777240"/>
          </a:xfrm>
          <a:prstGeom prst="roundRect">
            <a:avLst/>
          </a:prstGeom>
          <a:solidFill>
            <a:srgbClr val="F0FDF4"/>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559552"/>
            <a:ext cx="10789920" cy="685800"/>
          </a:xfrm>
          <a:prstGeom prst="rect">
            <a:avLst/>
          </a:prstGeom>
          <a:noFill/>
        </p:spPr>
        <p:txBody>
          <a:bodyPr wrap="square" anchor="t">
            <a:spAutoFit/>
          </a:bodyPr>
          <a:lstStyle/>
          <a:p>
            <a:pPr algn="l">
              <a:spcAft>
                <a:spcPts val="600"/>
              </a:spcAft>
            </a:pPr>
            <a:r>
              <a:rPr sz="1800" b="0">
                <a:solidFill>
                  <a:srgbClr val="166534"/>
                </a:solidFill>
                <a:latin typeface="Calibri"/>
              </a:rPr>
              <a:t>💡 Gợi mở: Theo mắt xích: 162 g ↔ 1 mol C₆H₁₀O₅ → 1 mol glucose.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BÀI TẬP 3 – LỜI GIẢI</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6. Tinh bột và cellulose</a:t>
            </a:r>
          </a:p>
        </p:txBody>
      </p:sp>
      <p:sp>
        <p:nvSpPr>
          <p:cNvPr id="6" name="TextBox 5"/>
          <p:cNvSpPr txBox="1"/>
          <p:nvPr/>
        </p:nvSpPr>
        <p:spPr>
          <a:xfrm>
            <a:off x="548640" y="1325880"/>
            <a:ext cx="11155680" cy="4023360"/>
          </a:xfrm>
          <a:prstGeom prst="rect">
            <a:avLst/>
          </a:prstGeom>
          <a:noFill/>
        </p:spPr>
        <p:txBody>
          <a:bodyPr wrap="square" anchor="t">
            <a:spAutoFit/>
          </a:bodyPr>
          <a:lstStyle/>
          <a:p>
            <a:pPr algn="l">
              <a:spcAft>
                <a:spcPts val="600"/>
              </a:spcAft>
            </a:pPr>
            <a:r>
              <a:rPr sz="2300" b="0">
                <a:solidFill>
                  <a:srgbClr val="1E293B"/>
                </a:solidFill>
                <a:latin typeface="Calibri"/>
              </a:rPr>
              <a:t>m(glucose) = 1 · 180 · 0,75 = 135 g (0,75 mol)</a:t>
            </a:r>
          </a:p>
          <a:p>
            <a:pPr algn="l">
              <a:spcAft>
                <a:spcPts val="600"/>
              </a:spcAft>
            </a:pPr>
            <a:r>
              <a:rPr sz="2300" b="0">
                <a:solidFill>
                  <a:srgbClr val="1E293B"/>
                </a:solidFill>
                <a:latin typeface="Calibri"/>
              </a:rPr>
              <a:t>n(C₂H₅OH) = 2 · 0,75 · 0,8 = 1,2 mol</a:t>
            </a:r>
          </a:p>
          <a:p>
            <a:pPr algn="l">
              <a:spcAft>
                <a:spcPts val="600"/>
              </a:spcAft>
            </a:pPr>
            <a:r>
              <a:rPr sz="2300" b="0">
                <a:solidFill>
                  <a:srgbClr val="1E293B"/>
                </a:solidFill>
                <a:latin typeface="Calibri"/>
              </a:rPr>
              <a:t>m(C₂H₅OH) = 1,2 · 46</a:t>
            </a:r>
          </a:p>
        </p:txBody>
      </p:sp>
      <p:sp>
        <p:nvSpPr>
          <p:cNvPr id="7" name="Rounded Rectangle 6"/>
          <p:cNvSpPr/>
          <p:nvPr/>
        </p:nvSpPr>
        <p:spPr>
          <a:xfrm>
            <a:off x="548640" y="5440680"/>
            <a:ext cx="11155680" cy="868680"/>
          </a:xfrm>
          <a:prstGeom prst="roundRect">
            <a:avLst/>
          </a:prstGeom>
          <a:solidFill>
            <a:srgbClr val="FEF2F2"/>
          </a:solidFill>
          <a:ln w="2540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04688"/>
            <a:ext cx="10789920" cy="777240"/>
          </a:xfrm>
          <a:prstGeom prst="rect">
            <a:avLst/>
          </a:prstGeom>
          <a:noFill/>
        </p:spPr>
        <p:txBody>
          <a:bodyPr wrap="square" anchor="t">
            <a:spAutoFit/>
          </a:bodyPr>
          <a:lstStyle/>
          <a:p>
            <a:pPr algn="l">
              <a:spcAft>
                <a:spcPts val="600"/>
              </a:spcAft>
            </a:pPr>
            <a:r>
              <a:rPr sz="2200" b="1">
                <a:solidFill>
                  <a:srgbClr val="991B1B"/>
                </a:solidFill>
                <a:latin typeface="Calibri"/>
              </a:rPr>
              <a:t>Kết luận: 135 g glucose; 55,2 g ethanol.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5. TRẠNG THÁI TỰ NHIÊN VÀ ỨNG DỤNG</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6. Tinh bột và cellulose</a:t>
            </a:r>
          </a:p>
        </p:txBody>
      </p:sp>
      <p:sp>
        <p:nvSpPr>
          <p:cNvPr id="6" name="TextBox 5"/>
          <p:cNvSpPr txBox="1"/>
          <p:nvPr/>
        </p:nvSpPr>
        <p:spPr>
          <a:xfrm>
            <a:off x="548640" y="1325880"/>
            <a:ext cx="6309360" cy="5029200"/>
          </a:xfrm>
          <a:prstGeom prst="rect">
            <a:avLst/>
          </a:prstGeom>
          <a:noFill/>
        </p:spPr>
        <p:txBody>
          <a:bodyPr wrap="square" anchor="t">
            <a:spAutoFit/>
          </a:bodyPr>
          <a:lstStyle/>
          <a:p>
            <a:pPr algn="l">
              <a:spcAft>
                <a:spcPts val="600"/>
              </a:spcAft>
            </a:pPr>
            <a:r>
              <a:rPr sz="2400" b="0">
                <a:solidFill>
                  <a:srgbClr val="1E293B"/>
                </a:solidFill>
                <a:latin typeface="Calibri"/>
              </a:rPr>
              <a:t>Tinh bột: chất rắn trắng, không tan trong nước lạnh; nước nóng → hồ tinh bột</a:t>
            </a:r>
          </a:p>
          <a:p>
            <a:pPr algn="l">
              <a:spcAft>
                <a:spcPts val="600"/>
              </a:spcAft>
            </a:pPr>
            <a:r>
              <a:rPr sz="2400" b="1">
                <a:solidFill>
                  <a:srgbClr val="991B1B"/>
                </a:solidFill>
                <a:latin typeface="Calibri"/>
              </a:rPr>
              <a:t>Quang hợp: 6nCO₂ + 5nH₂O → (C₆H₁₀O₅)ₙ + 6nO₂</a:t>
            </a:r>
          </a:p>
          <a:p>
            <a:pPr algn="l">
              <a:spcAft>
                <a:spcPts val="600"/>
              </a:spcAft>
            </a:pPr>
            <a:r>
              <a:rPr sz="2400" b="0">
                <a:solidFill>
                  <a:srgbClr val="1E293B"/>
                </a:solidFill>
                <a:latin typeface="Calibri"/>
              </a:rPr>
              <a:t>Trong cơ thể: tinh bột → maltose, dextrin → glucose → glycogen (gan, cơ)</a:t>
            </a:r>
          </a:p>
          <a:p>
            <a:pPr algn="l">
              <a:spcAft>
                <a:spcPts val="600"/>
              </a:spcAft>
            </a:pPr>
            <a:r>
              <a:rPr sz="2400" b="0">
                <a:solidFill>
                  <a:srgbClr val="1E293B"/>
                </a:solidFill>
                <a:latin typeface="Calibri"/>
              </a:rPr>
              <a:t>Cellulose: bông ~90%, gỗ khô ~50%; giấy, sợi, vật liệu xây dựng</a:t>
            </a:r>
          </a:p>
          <a:p>
            <a:pPr algn="l">
              <a:spcAft>
                <a:spcPts val="600"/>
              </a:spcAft>
            </a:pPr>
            <a:r>
              <a:rPr sz="2400" b="0">
                <a:solidFill>
                  <a:srgbClr val="1E293B"/>
                </a:solidFill>
                <a:latin typeface="Calibri"/>
              </a:rPr>
              <a:t>Cellulose → ethanol, cellulose trinitrate (thuốc súng không khói)</a:t>
            </a:r>
          </a:p>
        </p:txBody>
      </p:sp>
      <p:pic>
        <p:nvPicPr>
          <p:cNvPr id="7" name="Picture 6" descr="b6_h62.png"/>
          <p:cNvPicPr>
            <a:picLocks noChangeAspect="1"/>
          </p:cNvPicPr>
          <p:nvPr/>
        </p:nvPicPr>
        <p:blipFill>
          <a:blip r:embed="rId2"/>
          <a:stretch>
            <a:fillRect/>
          </a:stretch>
        </p:blipFill>
        <p:spPr>
          <a:xfrm>
            <a:off x="7040880" y="2209875"/>
            <a:ext cx="4846320" cy="2621130"/>
          </a:xfrm>
          <a:prstGeom prst="rect">
            <a:avLst/>
          </a:prstGeom>
        </p:spPr>
      </p:pic>
      <p:sp>
        <p:nvSpPr>
          <p:cNvPr id="8" name="TextBox 7"/>
          <p:cNvSpPr txBox="1"/>
          <p:nvPr/>
        </p:nvSpPr>
        <p:spPr>
          <a:xfrm>
            <a:off x="7040880" y="5760720"/>
            <a:ext cx="4846320" cy="548640"/>
          </a:xfrm>
          <a:prstGeom prst="rect">
            <a:avLst/>
          </a:prstGeom>
          <a:noFill/>
        </p:spPr>
        <p:txBody>
          <a:bodyPr wrap="square" anchor="t">
            <a:spAutoFit/>
          </a:bodyPr>
          <a:lstStyle/>
          <a:p>
            <a:pPr algn="ctr">
              <a:spcAft>
                <a:spcPts val="600"/>
              </a:spcAft>
            </a:pPr>
            <a:r>
              <a:rPr sz="1200" b="0">
                <a:solidFill>
                  <a:srgbClr val="64748B"/>
                </a:solidFill>
                <a:latin typeface="Calibri"/>
              </a:rPr>
              <a:t>Hình 6.2. Hạt gạo chứa nhiều tinh bột – SGK tr.31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DỰ ÁN STEM</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ĐỒNG HỒ IODINE · quy trình thiết kế kĩ thuật 5 hoạt động</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6. Tinh bột và cellulose</a:t>
            </a:r>
          </a:p>
        </p:txBody>
      </p:sp>
      <p:sp>
        <p:nvSpPr>
          <p:cNvPr id="7" name="Rounded Rectangle 6"/>
          <p:cNvSpPr/>
          <p:nvPr/>
        </p:nvSpPr>
        <p:spPr>
          <a:xfrm>
            <a:off x="548640" y="1463040"/>
            <a:ext cx="2697480" cy="2377440"/>
          </a:xfrm>
          <a:prstGeom prst="roundRect">
            <a:avLst>
              <a:gd name="adj" fmla="val 8000"/>
            </a:avLst>
          </a:prstGeom>
          <a:solidFill>
            <a:srgbClr val="FFFFFF"/>
          </a:solidFill>
          <a:ln w="2540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08760"/>
            <a:ext cx="2697480" cy="457200"/>
          </a:xfrm>
          <a:prstGeom prst="rect">
            <a:avLst/>
          </a:prstGeom>
          <a:noFill/>
        </p:spPr>
        <p:txBody>
          <a:bodyPr wrap="square" anchor="t">
            <a:spAutoFit/>
          </a:bodyPr>
          <a:lstStyle/>
          <a:p>
            <a:pPr algn="ctr">
              <a:spcAft>
                <a:spcPts val="600"/>
              </a:spcAft>
            </a:pPr>
            <a:r>
              <a:rPr sz="1800" b="1">
                <a:solidFill>
                  <a:srgbClr val="1E40AF"/>
                </a:solidFill>
                <a:latin typeface="Arial"/>
              </a:rPr>
              <a:t>S – Khoa học</a:t>
            </a:r>
          </a:p>
        </p:txBody>
      </p:sp>
      <p:sp>
        <p:nvSpPr>
          <p:cNvPr id="9" name="TextBox 8"/>
          <p:cNvSpPr txBox="1"/>
          <p:nvPr/>
        </p:nvSpPr>
        <p:spPr>
          <a:xfrm>
            <a:off x="658368" y="1965960"/>
            <a:ext cx="2468880" cy="1828800"/>
          </a:xfrm>
          <a:prstGeom prst="rect">
            <a:avLst/>
          </a:prstGeom>
          <a:noFill/>
        </p:spPr>
        <p:txBody>
          <a:bodyPr wrap="square" anchor="t">
            <a:spAutoFit/>
          </a:bodyPr>
          <a:lstStyle/>
          <a:p>
            <a:pPr algn="l">
              <a:spcAft>
                <a:spcPts val="600"/>
              </a:spcAft>
            </a:pPr>
            <a:r>
              <a:rPr sz="1300" b="0">
                <a:solidFill>
                  <a:srgbClr val="1E293B"/>
                </a:solidFill>
                <a:latin typeface="Calibri"/>
              </a:rPr>
              <a:t>Phản ứng màu của hồ tinh bột với iodine; thứ tự phản ứng: iodine sinh ra bị vitamin C khử ngay, chỉ khi vitamin C hết mới xuất hiện màu xanh tím.</a:t>
            </a:r>
          </a:p>
        </p:txBody>
      </p:sp>
      <p:sp>
        <p:nvSpPr>
          <p:cNvPr id="10" name="Rounded Rectangle 9"/>
          <p:cNvSpPr/>
          <p:nvPr/>
        </p:nvSpPr>
        <p:spPr>
          <a:xfrm>
            <a:off x="3364992" y="1463040"/>
            <a:ext cx="2697480" cy="2377440"/>
          </a:xfrm>
          <a:prstGeom prst="roundRect">
            <a:avLst>
              <a:gd name="adj" fmla="val 8000"/>
            </a:avLst>
          </a:prstGeom>
          <a:solidFill>
            <a:srgbClr val="FFFFFF"/>
          </a:solidFill>
          <a:ln w="254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64992" y="1508760"/>
            <a:ext cx="2697480" cy="457200"/>
          </a:xfrm>
          <a:prstGeom prst="rect">
            <a:avLst/>
          </a:prstGeom>
          <a:noFill/>
        </p:spPr>
        <p:txBody>
          <a:bodyPr wrap="square" anchor="t">
            <a:spAutoFit/>
          </a:bodyPr>
          <a:lstStyle/>
          <a:p>
            <a:pPr algn="ctr">
              <a:spcAft>
                <a:spcPts val="600"/>
              </a:spcAft>
            </a:pPr>
            <a:r>
              <a:rPr sz="1800" b="1">
                <a:solidFill>
                  <a:srgbClr val="047857"/>
                </a:solidFill>
                <a:latin typeface="Arial"/>
              </a:rPr>
              <a:t>T – Công nghệ</a:t>
            </a:r>
          </a:p>
        </p:txBody>
      </p:sp>
      <p:sp>
        <p:nvSpPr>
          <p:cNvPr id="12" name="TextBox 11"/>
          <p:cNvSpPr txBox="1"/>
          <p:nvPr/>
        </p:nvSpPr>
        <p:spPr>
          <a:xfrm>
            <a:off x="3474720" y="1965960"/>
            <a:ext cx="2468880" cy="1828800"/>
          </a:xfrm>
          <a:prstGeom prst="rect">
            <a:avLst/>
          </a:prstGeom>
          <a:noFill/>
        </p:spPr>
        <p:txBody>
          <a:bodyPr wrap="square" anchor="t">
            <a:spAutoFit/>
          </a:bodyPr>
          <a:lstStyle/>
          <a:p>
            <a:pPr algn="l">
              <a:spcAft>
                <a:spcPts val="600"/>
              </a:spcAft>
            </a:pPr>
            <a:r>
              <a:rPr sz="1300" b="0">
                <a:solidFill>
                  <a:srgbClr val="1E293B"/>
                </a:solidFill>
                <a:latin typeface="Calibri"/>
              </a:rPr>
              <a:t>Dùng đồng hồ bấm giây, ống đong, pipette để đo thời gian đổi màu; quay video chậm để ghi số liệu.</a:t>
            </a:r>
          </a:p>
        </p:txBody>
      </p:sp>
      <p:sp>
        <p:nvSpPr>
          <p:cNvPr id="13" name="Rounded Rectangle 12"/>
          <p:cNvSpPr/>
          <p:nvPr/>
        </p:nvSpPr>
        <p:spPr>
          <a:xfrm>
            <a:off x="6181344" y="1463040"/>
            <a:ext cx="2697480" cy="2377440"/>
          </a:xfrm>
          <a:prstGeom prst="roundRect">
            <a:avLst>
              <a:gd name="adj" fmla="val 8000"/>
            </a:avLst>
          </a:prstGeom>
          <a:solidFill>
            <a:srgbClr val="FFFFFF"/>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81344" y="1508760"/>
            <a:ext cx="2697480" cy="457200"/>
          </a:xfrm>
          <a:prstGeom prst="rect">
            <a:avLst/>
          </a:prstGeom>
          <a:noFill/>
        </p:spPr>
        <p:txBody>
          <a:bodyPr wrap="square" anchor="t">
            <a:spAutoFit/>
          </a:bodyPr>
          <a:lstStyle/>
          <a:p>
            <a:pPr algn="ctr">
              <a:spcAft>
                <a:spcPts val="600"/>
              </a:spcAft>
            </a:pPr>
            <a:r>
              <a:rPr sz="1800" b="1">
                <a:solidFill>
                  <a:srgbClr val="B45309"/>
                </a:solidFill>
                <a:latin typeface="Arial"/>
              </a:rPr>
              <a:t>E – Kĩ thuật</a:t>
            </a:r>
          </a:p>
        </p:txBody>
      </p:sp>
      <p:sp>
        <p:nvSpPr>
          <p:cNvPr id="15" name="TextBox 14"/>
          <p:cNvSpPr txBox="1"/>
          <p:nvPr/>
        </p:nvSpPr>
        <p:spPr>
          <a:xfrm>
            <a:off x="6291072" y="1965960"/>
            <a:ext cx="2468880" cy="1828800"/>
          </a:xfrm>
          <a:prstGeom prst="rect">
            <a:avLst/>
          </a:prstGeom>
          <a:noFill/>
        </p:spPr>
        <p:txBody>
          <a:bodyPr wrap="square" anchor="t">
            <a:spAutoFit/>
          </a:bodyPr>
          <a:lstStyle/>
          <a:p>
            <a:pPr algn="l">
              <a:spcAft>
                <a:spcPts val="600"/>
              </a:spcAft>
            </a:pPr>
            <a:r>
              <a:rPr sz="1300" b="0">
                <a:solidFill>
                  <a:srgbClr val="1E293B"/>
                </a:solidFill>
                <a:latin typeface="Calibri"/>
              </a:rPr>
              <a:t>Thiết kế bộ thí nghiệm phân biệt vitamin C thật và vitamin C giả dựa trên thời gian đổi màu.</a:t>
            </a:r>
          </a:p>
        </p:txBody>
      </p:sp>
      <p:sp>
        <p:nvSpPr>
          <p:cNvPr id="16" name="Rounded Rectangle 15"/>
          <p:cNvSpPr/>
          <p:nvPr/>
        </p:nvSpPr>
        <p:spPr>
          <a:xfrm>
            <a:off x="8997696" y="1463040"/>
            <a:ext cx="2697480" cy="2377440"/>
          </a:xfrm>
          <a:prstGeom prst="roundRect">
            <a:avLst>
              <a:gd name="adj" fmla="val 8000"/>
            </a:avLst>
          </a:prstGeom>
          <a:solidFill>
            <a:srgbClr val="FFFFFF"/>
          </a:solidFill>
          <a:ln w="254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97696" y="1508760"/>
            <a:ext cx="2697480" cy="457200"/>
          </a:xfrm>
          <a:prstGeom prst="rect">
            <a:avLst/>
          </a:prstGeom>
          <a:noFill/>
        </p:spPr>
        <p:txBody>
          <a:bodyPr wrap="square" anchor="t">
            <a:spAutoFit/>
          </a:bodyPr>
          <a:lstStyle/>
          <a:p>
            <a:pPr algn="ctr">
              <a:spcAft>
                <a:spcPts val="600"/>
              </a:spcAft>
            </a:pPr>
            <a:r>
              <a:rPr sz="1800" b="1">
                <a:solidFill>
                  <a:srgbClr val="7C3AED"/>
                </a:solidFill>
                <a:latin typeface="Arial"/>
              </a:rPr>
              <a:t>M – Toán học</a:t>
            </a:r>
          </a:p>
        </p:txBody>
      </p:sp>
      <p:sp>
        <p:nvSpPr>
          <p:cNvPr id="18" name="TextBox 17"/>
          <p:cNvSpPr txBox="1"/>
          <p:nvPr/>
        </p:nvSpPr>
        <p:spPr>
          <a:xfrm>
            <a:off x="9107424" y="1965960"/>
            <a:ext cx="2468880" cy="1828800"/>
          </a:xfrm>
          <a:prstGeom prst="rect">
            <a:avLst/>
          </a:prstGeom>
          <a:noFill/>
        </p:spPr>
        <p:txBody>
          <a:bodyPr wrap="square" anchor="t">
            <a:spAutoFit/>
          </a:bodyPr>
          <a:lstStyle/>
          <a:p>
            <a:pPr algn="l">
              <a:spcAft>
                <a:spcPts val="600"/>
              </a:spcAft>
            </a:pPr>
            <a:r>
              <a:rPr sz="1300" b="0">
                <a:solidFill>
                  <a:srgbClr val="1E293B"/>
                </a:solidFill>
                <a:latin typeface="Calibri"/>
              </a:rPr>
              <a:t>Tính nồng độ các chất; vẽ đồ thị thời gian đổi màu – nồng độ vitamin C; nhận xét ảnh hưởng của nồng độ đến tốc độ phản ứng.</a:t>
            </a:r>
          </a:p>
        </p:txBody>
      </p:sp>
      <p:sp>
        <p:nvSpPr>
          <p:cNvPr id="19" name="Pentagon 18"/>
          <p:cNvSpPr/>
          <p:nvPr/>
        </p:nvSpPr>
        <p:spPr>
          <a:xfrm>
            <a:off x="548640" y="4114800"/>
            <a:ext cx="2194560" cy="1051560"/>
          </a:xfrm>
          <a:prstGeom prst="homePlate">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1. Xác định</a:t>
            </a:r>
          </a:p>
          <a:p>
            <a:pPr algn="ctr"/>
            <a:r>
              <a:rPr sz="1400" b="1">
                <a:solidFill>
                  <a:srgbClr val="FFFFFF"/>
                </a:solidFill>
              </a:rPr>
              <a:t>vấn đề</a:t>
            </a:r>
          </a:p>
        </p:txBody>
      </p:sp>
      <p:sp>
        <p:nvSpPr>
          <p:cNvPr id="20" name="Chevron 19"/>
          <p:cNvSpPr/>
          <p:nvPr/>
        </p:nvSpPr>
        <p:spPr>
          <a:xfrm>
            <a:off x="2798064" y="4114800"/>
            <a:ext cx="2194560" cy="1051560"/>
          </a:xfrm>
          <a:prstGeom prst="chevron">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2. Nghiên cứu</a:t>
            </a:r>
          </a:p>
          <a:p>
            <a:pPr algn="ctr"/>
            <a:r>
              <a:rPr sz="1400" b="1">
                <a:solidFill>
                  <a:srgbClr val="FFFFFF"/>
                </a:solidFill>
              </a:rPr>
              <a:t>kiến thức nền</a:t>
            </a:r>
          </a:p>
        </p:txBody>
      </p:sp>
      <p:sp>
        <p:nvSpPr>
          <p:cNvPr id="21" name="Chevron 20"/>
          <p:cNvSpPr/>
          <p:nvPr/>
        </p:nvSpPr>
        <p:spPr>
          <a:xfrm>
            <a:off x="5047488" y="4114800"/>
            <a:ext cx="2194560" cy="1051560"/>
          </a:xfrm>
          <a:prstGeom prst="chevron">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3. Lựa chọn</a:t>
            </a:r>
          </a:p>
          <a:p>
            <a:pPr algn="ctr"/>
            <a:r>
              <a:rPr sz="1400" b="1">
                <a:solidFill>
                  <a:srgbClr val="FFFFFF"/>
                </a:solidFill>
              </a:rPr>
              <a:t>giải pháp</a:t>
            </a:r>
          </a:p>
        </p:txBody>
      </p:sp>
      <p:sp>
        <p:nvSpPr>
          <p:cNvPr id="22" name="Chevron 21"/>
          <p:cNvSpPr/>
          <p:nvPr/>
        </p:nvSpPr>
        <p:spPr>
          <a:xfrm>
            <a:off x="7296912" y="4114800"/>
            <a:ext cx="2194560" cy="105156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4. Chế tạo –</a:t>
            </a:r>
          </a:p>
          <a:p>
            <a:pPr algn="ctr"/>
            <a:r>
              <a:rPr sz="1400" b="1">
                <a:solidFill>
                  <a:srgbClr val="FFFFFF"/>
                </a:solidFill>
              </a:rPr>
              <a:t>thử nghiệm</a:t>
            </a:r>
          </a:p>
        </p:txBody>
      </p:sp>
      <p:sp>
        <p:nvSpPr>
          <p:cNvPr id="23" name="Chevron 22"/>
          <p:cNvSpPr/>
          <p:nvPr/>
        </p:nvSpPr>
        <p:spPr>
          <a:xfrm>
            <a:off x="9546336" y="4114800"/>
            <a:ext cx="2194560" cy="1051560"/>
          </a:xfrm>
          <a:prstGeom prst="chevron">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rPr>
              <a:t>5. Chia sẻ –</a:t>
            </a:r>
          </a:p>
          <a:p>
            <a:pPr algn="ctr"/>
            <a:r>
              <a:rPr sz="1400" b="1">
                <a:solidFill>
                  <a:srgbClr val="FFFFFF"/>
                </a:solidFill>
              </a:rPr>
              <a:t>điều chỉnh</a:t>
            </a:r>
          </a:p>
        </p:txBody>
      </p:sp>
      <p:sp>
        <p:nvSpPr>
          <p:cNvPr id="24" name="TextBox 23"/>
          <p:cNvSpPr txBox="1"/>
          <p:nvPr/>
        </p:nvSpPr>
        <p:spPr>
          <a:xfrm>
            <a:off x="548640" y="5349240"/>
            <a:ext cx="11155680" cy="1005840"/>
          </a:xfrm>
          <a:prstGeom prst="rect">
            <a:avLst/>
          </a:prstGeom>
          <a:noFill/>
        </p:spPr>
        <p:txBody>
          <a:bodyPr wrap="square" anchor="t">
            <a:spAutoFit/>
          </a:bodyPr>
          <a:lstStyle/>
          <a:p>
            <a:pPr algn="l">
              <a:spcAft>
                <a:spcPts val="600"/>
              </a:spcAft>
            </a:pPr>
            <a:r>
              <a:rPr sz="1600" b="0">
                <a:solidFill>
                  <a:srgbClr val="1E293B"/>
                </a:solidFill>
                <a:latin typeface="Calibri"/>
              </a:rPr>
              <a:t>Tiết 8: HĐ1 xác định vấn đề, HĐ2 kiến thức nền · Tiết 9: HĐ3 chọn giải pháp · Phòng thí nghiệm/nhà (Tuần 5): chế tạo, đo đạc · Ngày hội STEM Chương 2 (cuối Tuần 5): trình diễn, chia sẻ, điều chỉnh.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28600"/>
            <a:ext cx="11338560" cy="822960"/>
          </a:xfrm>
          <a:prstGeom prst="rect">
            <a:avLst/>
          </a:prstGeom>
          <a:noFill/>
        </p:spPr>
        <p:txBody>
          <a:bodyPr wrap="square" anchor="t">
            <a:spAutoFit/>
          </a:bodyPr>
          <a:lstStyle/>
          <a:p>
            <a:pPr algn="l">
              <a:spcAft>
                <a:spcPts val="600"/>
              </a:spcAft>
            </a:pPr>
            <a:r>
              <a:rPr sz="3600" b="1">
                <a:solidFill>
                  <a:srgbClr val="1E40AF"/>
                </a:solidFill>
                <a:latin typeface="Arial"/>
              </a:rPr>
              <a:t>VIDEO THAM KHẢO</a:t>
            </a:r>
          </a:p>
        </p:txBody>
      </p:sp>
      <p:sp>
        <p:nvSpPr>
          <p:cNvPr id="4" name="Rectangle 3"/>
          <p:cNvSpPr/>
          <p:nvPr/>
        </p:nvSpPr>
        <p:spPr>
          <a:xfrm>
            <a:off x="411480" y="1005840"/>
            <a:ext cx="11338560" cy="25400"/>
          </a:xfrm>
          <a:prstGeom prst="rect">
            <a:avLst/>
          </a:prstGeom>
          <a:solidFill>
            <a:srgbClr val="BFD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51560"/>
            <a:ext cx="11338560" cy="457200"/>
          </a:xfrm>
          <a:prstGeom prst="rect">
            <a:avLst/>
          </a:prstGeom>
          <a:noFill/>
        </p:spPr>
        <p:txBody>
          <a:bodyPr wrap="square" anchor="t">
            <a:spAutoFit/>
          </a:bodyPr>
          <a:lstStyle/>
          <a:p>
            <a:pPr algn="l">
              <a:spcAft>
                <a:spcPts val="600"/>
              </a:spcAft>
            </a:pPr>
            <a:r>
              <a:rPr sz="1600" b="0">
                <a:solidFill>
                  <a:srgbClr val="64748B"/>
                </a:solidFill>
                <a:latin typeface="Calibri"/>
              </a:rPr>
              <a:t>Đã kiểm tra liên kết (YouTube oEmbed) – xem trên lớp hoặc ở nhà</a:t>
            </a:r>
          </a:p>
        </p:txBody>
      </p:sp>
      <p:sp>
        <p:nvSpPr>
          <p:cNvPr id="6" name="TextBox 5"/>
          <p:cNvSpPr txBox="1"/>
          <p:nvPr/>
        </p:nvSpPr>
        <p:spPr>
          <a:xfrm>
            <a:off x="8503920" y="6446520"/>
            <a:ext cx="3566160" cy="320040"/>
          </a:xfrm>
          <a:prstGeom prst="rect">
            <a:avLst/>
          </a:prstGeom>
          <a:noFill/>
        </p:spPr>
        <p:txBody>
          <a:bodyPr wrap="square" anchor="t">
            <a:spAutoFit/>
          </a:bodyPr>
          <a:lstStyle/>
          <a:p>
            <a:pPr algn="r">
              <a:spcAft>
                <a:spcPts val="600"/>
              </a:spcAft>
            </a:pPr>
            <a:r>
              <a:rPr sz="1100" b="0">
                <a:solidFill>
                  <a:srgbClr val="64748B"/>
                </a:solidFill>
                <a:latin typeface="Calibri"/>
              </a:rPr>
              <a:t>Hóa học 12 · Bài 6. Tinh bột và cellulose</a:t>
            </a:r>
          </a:p>
        </p:txBody>
      </p:sp>
      <p:pic>
        <p:nvPicPr>
          <p:cNvPr id="7" name="Picture 6" descr="_qr_vid_6_0.png"/>
          <p:cNvPicPr>
            <a:picLocks noChangeAspect="1"/>
          </p:cNvPicPr>
          <p:nvPr/>
        </p:nvPicPr>
        <p:blipFill>
          <a:blip r:embed="rId2"/>
          <a:stretch>
            <a:fillRect/>
          </a:stretch>
        </p:blipFill>
        <p:spPr>
          <a:xfrm>
            <a:off x="548640" y="1463040"/>
            <a:ext cx="1417320" cy="1417320"/>
          </a:xfrm>
          <a:prstGeom prst="rect">
            <a:avLst/>
          </a:prstGeom>
        </p:spPr>
      </p:pic>
      <p:sp>
        <p:nvSpPr>
          <p:cNvPr id="8" name="TextBox 7"/>
          <p:cNvSpPr txBox="1"/>
          <p:nvPr/>
        </p:nvSpPr>
        <p:spPr>
          <a:xfrm>
            <a:off x="2194560" y="1463040"/>
            <a:ext cx="9509760" cy="1463040"/>
          </a:xfrm>
          <a:prstGeom prst="rect">
            <a:avLst/>
          </a:prstGeom>
          <a:noFill/>
        </p:spPr>
        <p:txBody>
          <a:bodyPr wrap="square" anchor="t">
            <a:spAutoFit/>
          </a:bodyPr>
          <a:lstStyle/>
          <a:p>
            <a:pPr algn="l">
              <a:spcAft>
                <a:spcPts val="600"/>
              </a:spcAft>
            </a:pPr>
            <a:r>
              <a:rPr sz="1600" b="0">
                <a:solidFill>
                  <a:srgbClr val="1E293B"/>
                </a:solidFill>
                <a:latin typeface="Calibri"/>
              </a:rPr>
              <a:t>THÍ NGHIỆM PHẢN ỨNG HỒ TINH BỘT VỚI IODINE (HÓA HỌC 12)</a:t>
            </a:r>
          </a:p>
          <a:p>
            <a:pPr algn="l">
              <a:spcAft>
                <a:spcPts val="600"/>
              </a:spcAft>
            </a:pPr>
            <a:r>
              <a:rPr sz="1600" b="0">
                <a:solidFill>
                  <a:srgbClr val="1E293B"/>
                </a:solidFill>
                <a:latin typeface="Calibri"/>
              </a:rPr>
              <a:t>Kênh: Thầy Nguyễn Phú Hoạt · Dùng ở: HĐ2.3 – Phản ứng màu hồ tinh bột với iodine</a:t>
            </a:r>
          </a:p>
          <a:p>
            <a:pPr algn="l">
              <a:spcAft>
                <a:spcPts val="600"/>
              </a:spcAft>
            </a:pPr>
            <a:r>
              <a:rPr sz="1600" b="0">
                <a:solidFill>
                  <a:srgbClr val="1E293B"/>
                </a:solidFill>
                <a:latin typeface="Calibri"/>
              </a:rPr>
              <a:t>https://www.youtube.com/watch?v=JSP0pBrKcx4</a:t>
            </a:r>
          </a:p>
        </p:txBody>
      </p:sp>
      <p:pic>
        <p:nvPicPr>
          <p:cNvPr id="9" name="Picture 8" descr="_qr_vid_6_1.png"/>
          <p:cNvPicPr>
            <a:picLocks noChangeAspect="1"/>
          </p:cNvPicPr>
          <p:nvPr/>
        </p:nvPicPr>
        <p:blipFill>
          <a:blip r:embed="rId3"/>
          <a:stretch>
            <a:fillRect/>
          </a:stretch>
        </p:blipFill>
        <p:spPr>
          <a:xfrm>
            <a:off x="548640" y="3108960"/>
            <a:ext cx="1417320" cy="1417320"/>
          </a:xfrm>
          <a:prstGeom prst="rect">
            <a:avLst/>
          </a:prstGeom>
        </p:spPr>
      </p:pic>
      <p:sp>
        <p:nvSpPr>
          <p:cNvPr id="10" name="TextBox 9"/>
          <p:cNvSpPr txBox="1"/>
          <p:nvPr/>
        </p:nvSpPr>
        <p:spPr>
          <a:xfrm>
            <a:off x="2194560" y="3108960"/>
            <a:ext cx="9509760" cy="1463040"/>
          </a:xfrm>
          <a:prstGeom prst="rect">
            <a:avLst/>
          </a:prstGeom>
          <a:noFill/>
        </p:spPr>
        <p:txBody>
          <a:bodyPr wrap="square" anchor="t">
            <a:spAutoFit/>
          </a:bodyPr>
          <a:lstStyle/>
          <a:p>
            <a:pPr algn="l">
              <a:spcAft>
                <a:spcPts val="600"/>
              </a:spcAft>
            </a:pPr>
            <a:r>
              <a:rPr sz="1600" b="0">
                <a:solidFill>
                  <a:srgbClr val="1E293B"/>
                </a:solidFill>
                <a:latin typeface="Calibri"/>
              </a:rPr>
              <a:t>THÍ NGHIỆM PHẢN ỨNG THỦY PHÂN TINH BỘT VÀ CELLULOSE (HÓA HỌC 12)</a:t>
            </a:r>
          </a:p>
          <a:p>
            <a:pPr algn="l">
              <a:spcAft>
                <a:spcPts val="600"/>
              </a:spcAft>
            </a:pPr>
            <a:r>
              <a:rPr sz="1600" b="0">
                <a:solidFill>
                  <a:srgbClr val="1E293B"/>
                </a:solidFill>
                <a:latin typeface="Calibri"/>
              </a:rPr>
              <a:t>Kênh: Thầy Nguyễn Phú Hoạt · Dùng ở: HĐ2.3 – Thuỷ phân tinh bột và cellulose</a:t>
            </a:r>
          </a:p>
          <a:p>
            <a:pPr algn="l">
              <a:spcAft>
                <a:spcPts val="600"/>
              </a:spcAft>
            </a:pPr>
            <a:r>
              <a:rPr sz="1600" b="0">
                <a:solidFill>
                  <a:srgbClr val="1E293B"/>
                </a:solidFill>
                <a:latin typeface="Calibri"/>
              </a:rPr>
              <a:t>https://www.youtube.com/watch?v=fLUWy2g5F_Y</a:t>
            </a:r>
          </a:p>
        </p:txBody>
      </p:sp>
      <p:pic>
        <p:nvPicPr>
          <p:cNvPr id="11" name="Picture 10" descr="_qr_vid_6_2.png"/>
          <p:cNvPicPr>
            <a:picLocks noChangeAspect="1"/>
          </p:cNvPicPr>
          <p:nvPr/>
        </p:nvPicPr>
        <p:blipFill>
          <a:blip r:embed="rId4"/>
          <a:stretch>
            <a:fillRect/>
          </a:stretch>
        </p:blipFill>
        <p:spPr>
          <a:xfrm>
            <a:off x="548640" y="4754880"/>
            <a:ext cx="1417320" cy="1417320"/>
          </a:xfrm>
          <a:prstGeom prst="rect">
            <a:avLst/>
          </a:prstGeom>
        </p:spPr>
      </p:pic>
      <p:sp>
        <p:nvSpPr>
          <p:cNvPr id="12" name="TextBox 11"/>
          <p:cNvSpPr txBox="1"/>
          <p:nvPr/>
        </p:nvSpPr>
        <p:spPr>
          <a:xfrm>
            <a:off x="2194560" y="4754880"/>
            <a:ext cx="9509760" cy="1463040"/>
          </a:xfrm>
          <a:prstGeom prst="rect">
            <a:avLst/>
          </a:prstGeom>
          <a:noFill/>
        </p:spPr>
        <p:txBody>
          <a:bodyPr wrap="square" anchor="t">
            <a:spAutoFit/>
          </a:bodyPr>
          <a:lstStyle/>
          <a:p>
            <a:pPr algn="l">
              <a:spcAft>
                <a:spcPts val="600"/>
              </a:spcAft>
            </a:pPr>
            <a:r>
              <a:rPr sz="1600" b="0">
                <a:solidFill>
                  <a:srgbClr val="1E293B"/>
                </a:solidFill>
                <a:latin typeface="Calibri"/>
              </a:rPr>
              <a:t>Get set...demonstrate Iodine clock 360p</a:t>
            </a:r>
          </a:p>
          <a:p>
            <a:pPr algn="l">
              <a:spcAft>
                <a:spcPts val="600"/>
              </a:spcAft>
            </a:pPr>
            <a:r>
              <a:rPr sz="1600" b="0">
                <a:solidFill>
                  <a:srgbClr val="1E293B"/>
                </a:solidFill>
                <a:latin typeface="Calibri"/>
              </a:rPr>
              <a:t>Kênh: Royal Society of Chemistry · Dùng ở: HĐ1, HĐ4 – STEM: Đồng hồ iodine (Royal Society of Chemistry)</a:t>
            </a:r>
          </a:p>
          <a:p>
            <a:pPr algn="l">
              <a:spcAft>
                <a:spcPts val="600"/>
              </a:spcAft>
            </a:pPr>
            <a:r>
              <a:rPr sz="1600" b="0">
                <a:solidFill>
                  <a:srgbClr val="1E293B"/>
                </a:solidFill>
                <a:latin typeface="Calibri"/>
              </a:rPr>
              <a:t>https://www.youtube.com/watch?v=18SvABAaOCA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155680" cy="914400"/>
          </a:xfrm>
          <a:prstGeom prst="rect">
            <a:avLst/>
          </a:prstGeom>
          <a:noFill/>
        </p:spPr>
        <p:txBody>
          <a:bodyPr wrap="square" anchor="t">
            <a:spAutoFit/>
          </a:bodyPr>
          <a:lstStyle/>
          <a:p>
            <a:pPr algn="ctr">
              <a:spcAft>
                <a:spcPts val="600"/>
              </a:spcAft>
            </a:pPr>
            <a:r>
              <a:rPr sz="4000" b="1">
                <a:solidFill>
                  <a:srgbClr val="1E40AF"/>
                </a:solidFill>
                <a:latin typeface="Arial"/>
              </a:rPr>
              <a:t>BÀI TẬP CỦA BẠN</a:t>
            </a:r>
          </a:p>
        </p:txBody>
      </p:sp>
      <p:sp>
        <p:nvSpPr>
          <p:cNvPr id="4" name="Rounded Rectangle 3"/>
          <p:cNvSpPr/>
          <p:nvPr/>
        </p:nvSpPr>
        <p:spPr>
          <a:xfrm>
            <a:off x="4023360" y="1463040"/>
            <a:ext cx="4114800" cy="4114800"/>
          </a:xfrm>
          <a:prstGeom prst="roundRect">
            <a:avLst>
              <a:gd name="adj" fmla="val 6000"/>
            </a:avLst>
          </a:prstGeom>
          <a:solidFill>
            <a:srgbClr val="FFFFFF"/>
          </a:solidFill>
          <a:ln w="3810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_hoa_cc_bai6_k12.png"/>
          <p:cNvPicPr>
            <a:picLocks noChangeAspect="1"/>
          </p:cNvPicPr>
          <p:nvPr/>
        </p:nvPicPr>
        <p:blipFill>
          <a:blip r:embed="rId2"/>
          <a:stretch>
            <a:fillRect/>
          </a:stretch>
        </p:blipFill>
        <p:spPr>
          <a:xfrm>
            <a:off x="4251960" y="1691640"/>
            <a:ext cx="3657600" cy="3657600"/>
          </a:xfrm>
          <a:prstGeom prst="rect">
            <a:avLst/>
          </a:prstGeom>
        </p:spPr>
      </p:pic>
      <p:sp>
        <p:nvSpPr>
          <p:cNvPr id="6" name="TextBox 5"/>
          <p:cNvSpPr txBox="1"/>
          <p:nvPr/>
        </p:nvSpPr>
        <p:spPr>
          <a:xfrm>
            <a:off x="548640" y="5669280"/>
            <a:ext cx="11155680" cy="457200"/>
          </a:xfrm>
          <a:prstGeom prst="rect">
            <a:avLst/>
          </a:prstGeom>
          <a:noFill/>
        </p:spPr>
        <p:txBody>
          <a:bodyPr wrap="square" anchor="t">
            <a:spAutoFit/>
          </a:bodyPr>
          <a:lstStyle/>
          <a:p>
            <a:pPr algn="ctr">
              <a:spcAft>
                <a:spcPts val="600"/>
              </a:spcAft>
            </a:pPr>
            <a:r>
              <a:rPr sz="2200" b="1">
                <a:solidFill>
                  <a:srgbClr val="1E40AF"/>
                </a:solidFill>
                <a:latin typeface="Calibri"/>
              </a:rPr>
              <a:t>trangtu66.github.io/Taode_thi_online/hoa_cc_bai6_k12.html</a:t>
            </a:r>
          </a:p>
        </p:txBody>
      </p:sp>
      <p:sp>
        <p:nvSpPr>
          <p:cNvPr id="7" name="TextBox 6"/>
          <p:cNvSpPr txBox="1"/>
          <p:nvPr/>
        </p:nvSpPr>
        <p:spPr>
          <a:xfrm>
            <a:off x="548640" y="6126480"/>
            <a:ext cx="11155680" cy="457200"/>
          </a:xfrm>
          <a:prstGeom prst="rect">
            <a:avLst/>
          </a:prstGeom>
          <a:noFill/>
        </p:spPr>
        <p:txBody>
          <a:bodyPr wrap="square" anchor="t">
            <a:spAutoFit/>
          </a:bodyPr>
          <a:lstStyle/>
          <a:p>
            <a:pPr algn="ctr">
              <a:spcAft>
                <a:spcPts val="600"/>
              </a:spcAft>
            </a:pPr>
            <a:r>
              <a:rPr sz="1600" b="0">
                <a:solidFill>
                  <a:srgbClr val="64748B"/>
                </a:solidFill>
                <a:latin typeface="Calibri"/>
              </a:rPr>
              <a:t>Quét mã bằng điện thoại · 6 câu 4 lựa chọn + 1 câu Đúng/Sai · Kết quả gửi về GV tự động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6. Tinh bột và cellulose</dc:title>
  <dc:subject/>
  <dc:creator>TTT</dc:creator>
  <cp:keywords/>
  <dc:description>generated using python-pptx</dc:description>
  <cp:lastModifiedBy>TTT</cp:lastModifiedBy>
  <cp:revision>1</cp:revision>
  <dcterms:created xsi:type="dcterms:W3CDTF">2013-01-27T09:14:16Z</dcterms:created>
  <dcterms:modified xsi:type="dcterms:W3CDTF">2013-01-27T09:15:58Z</dcterms:modified>
  <cp:category/>
</cp:coreProperties>
</file>