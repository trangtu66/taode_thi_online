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chiếu video Nữ Oa vá trời; HS chia sẻ (1.1.NC1a). Dẫn vào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Gợi Chuyện người con gái Nam Xương; dẫn vào truyện truyền kì.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4NCoNS5K028" TargetMode="External"/><Relationship Id="rId4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SỨC HẤP DẪN CỦA TRUYỆN KỂ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10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của truyện, thần thoại: cốt truyện, không gian, thời gian, nhân vật, người kể chuyện ngôi thứ ba.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chủ đề, tư tưởng, thông điệp; căn cứ xác định chủ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Hiểu đặc điểm và biết sử dụng từ Hán Việt.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phân tích, đánh giá chủ đề và nét đặc sắc nghệ thuật của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Thuyết trình giới thiệu, đánh giá nội dung, nghệ thuật của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Sống có khát vọng, hoài bão; sống ngay thẳng, liêm chính, trách nhiệm với cộng đồng.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2: TRUYỆN VỀ CÁC VỊ THẦN SÁNG TẠO THẾ GIỚI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Em có biết tên một truyện hoặc bộ phim nào có nhân vật chính là các vị thần không?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con người thuở sơ khai lại hình thành nên những câu chuyện về các vị thần sáng tạo vũ trụ?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THOẠI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Thần thoại</a:t>
            </a:r>
            <a:r>
              <a:rPr sz="2400">
                <a:solidFill>
                  <a:srgbClr val="1E293B"/>
                </a:solidFill>
                <a:latin typeface="Calibri"/>
              </a:rPr>
              <a:t>: truyện kể xa xưa nhất, kể về các vị thần, thể hiện quan niệm về vũ trụ và khát vọng chinh phục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Thời gian phiếm chỉ, ước lệ; không gian vũ trụ nhiều cõi.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Nhân vật thần có hình dạng khổng lồ, năng lực siêu nhiên; chức năng lí giải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Thủ pháp cường điệu, phóng đại; lối tư duy hồn nhiên, trí tưởng tượng bay bổng.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TRỤ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Thần Trụ Trời được miêu tả như thế nào? Thần đã làm gì để tạo lập trời đất?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hình dạng và công việc của thần.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TRỤ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Thân thể to lớn, vóc dáng kì vĩ.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Dùng đầu đội trời, đào đất, đá đắp cột chống trời.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Phá cột, ném đá, đất khắp nơi → núi, đảo, cồn đồi, cao nguyên; chỗ đào thành biển.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Lí giải nguồn gốc trời đất, núi sông, biển cả.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SÉT VÀ THẦN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dạng, tính khí, công việc của thần Sét và thần Gió có gì đặc biệt? Các chi tiết ấy lí giải hiện tượng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Liên hệ đặc điểm của sấm sét, gió bão.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SÉT VÀ THẦN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Sét: mặt mũi nanh ác, nóng nảy; lưỡi búa đá; thi hành luật pháp ở trần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Gió: không có đầu, quạt màu nhiệm; tạo gió bão; con thần Gió hoá cây ngải gió.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giải sấm sét, gió bão, tập tục bắt chước tiếng gà, kinh nghiệm dùng lá ngải.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Nhân hoá tự nhiên thành các vị thần – thế giới quan “vạn vật hữu linh”.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KHÁT VỌNG CỦA NGƯỜI XƯA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Qua chùm truyện, người xưa thể hiện quan niệm, nhận thức và khát vọng gì về thế giới tự nhiên?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Vì sao các vị thần đều vĩ đại, phi thường?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KHÁT VỌNG CỦA NGƯỜI XƯA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Tự nhiên bí ẩn → tạo các vị thần để lí giải.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Gửi gắm khát vọng khám phá, chinh phục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Thái độ tôn kính, ngưỡng mộ, niềm 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Thần thoại – “vẻ đẹp một đi không trở lại”.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 – 4: CHUYỆN CHỨC PHÁN SỰ ĐỀN TẢN VIÊN (Nguyễn Dữ)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gợi em nhớ đến tác phẩm nào của Nguyễn Dữ đã học ở THCS?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tác phẩm ấy có chi tiết kì ảo nào?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TRUYỆN TRUYỀN KÌ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Thể văn xuôi tự sự thời trung đại, phản ánh hiện thực qua yếu tố hoang đường, kì ảo.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Thế giới người và cõi âm có sự giao thoa.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Nguyễn Dữ (thế kỉ XVI), học trò Nguyễn Bỉnh Khiêm; tác phẩm Truyền kì mạn lục – “thiên cổ kì bút”.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NGÔ TỬ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Đoạn mở đầu giới thiệu và nhấn mạnh nét tính cách nào ở Tử Văn? Tính cách ấy được khắc hoạ qua những chi tiết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hành động đốt đền và thái độ trước quỷ, Diêm Vương.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NGÔ TỬ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Khảng khái, nóng nảy, thấy gian tà không chịu được.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Đốt đền tà của hồn tên bách hộ họ Thôi.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Cứng cỏi, không khuất phục ở phiên toà cõi âm; đấu tranh đến cùng.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trí thức cương trực, dũng cảm bảo vệ công lí.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YẾU TỐ KÌ ẢO VÀ CHỦ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giá trị của một số yếu tố kì ảo trong truyện. Truyện gửi gắm thông điệp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Cõi âm phản chiếu điều gì của cõi trần?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YẾU TỐ KÌ ẢO VÀ CHỦ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Hồn ma tên tướng giặc, phiên toà Diêm Vương, Tử Văn làm Phán sự đền Tản Viên.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Cõi âm phản chiếu cõi trần: tham nhũng, cường quyền, hối lộ.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Chính nghĩa thắng gian tà; ca ngợi người dám đấu tranh.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Giáo dục liêm chính: dũng cảm chống cái sai, cái ác.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5 – 7: CHỮ NGƯỜI TỬ TÙ (Nguyễn Tuân)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20</a:t>
            </a:r>
          </a:p>
        </p:txBody>
      </p:sp>
      <p:pic>
        <p:nvPicPr>
          <p:cNvPr id="7" name="Picture 6" descr="QR_video_4NCoNS5K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Nhà văn Nguyễn Tuân – Bậc thầy về tùy bút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Báo Nhân Dân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Nguyễn Tuân (Văn bản 5)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https://www.youtube.com/watch?v=4NCoNS5K028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TÁC GIẢ NGUYỄN TUÂN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Nguyễn Tuân (1910 – 1987), quê Hà Nội; sở trường truyện ngắn, tuỳ bút.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Phong cách tài hoa, uyên bác; suốt đời đi tìm và tôn vinh cái đẹp.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Chữ người tử tù in trong tập Vang bóng một thời (1940).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HUẤN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Nhân vật Huấn Cao được khắc hoạ với những vẻ đẹp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Tài hoa – khí phách – thiên lương.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HUẤN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Tài viết chữ đẹp nổi tiếng.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Khí phách hiên ngang: dỡ gông, thản nhiên trước cái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Thiên lương trong sáng: chỉ cho chữ người biết quý cái đẹp.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Hình tượng con người tài hoa, khí phách, thiên lương.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QUẢN NGỤC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nói quản ngục là “một thanh âm trong trẻo chen vào giữa bản đàn mà nhạc luật đều hỗn loạn xô bồ”?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Quản ngục làm nghề gì, nhưng tâm hồn ra sao?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QUẢN NGỤC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Sống giữa nhà ngục tàn bạo nhưng giữ thiên lương.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Biệt nhỡn liên tài, kính trọng Huấn Cao, liều mình xin chữ.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Biết quý cái đẹp, cái thiện.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Cái đẹp có thể nảy nở ngay nơi tăm tối.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CHO CHỮ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cảnh cho chữ được xem là “cảnh tượng xưa nay chưa từng có”?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không gian, tư thế các nhân vật.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CHO CHỮ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Diễn ra trong nhà ngục tối tăm, bẩn thỉu.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Tử tù đường hoàng cho chữ; quản ngục khúm núm nhận chữ – trật tự đảo ngược.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Lời khuyên: giữ thiên lương, tránh xa chốn ô uế.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Cái đẹp, cái thiện chiến thắng cái xấu, cái ác.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8: THỰC HÀNH TIẾNG VIỆT – TỪ HÁN VIỆT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NGHĨA CỦA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nghĩa các từ: tiên triều, hàn sĩ, khoan dung, hiếu sinh (Chuyện chức Phán sự đền Tản Viên).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Tách nghĩa từng yếu tố Hán Việt.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NGHĨA CỦA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Tiên triều: triều vua trước.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Hàn sĩ: học trò nghèo.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Khoan dung: rộng lượng tha thứ.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Hiếu sinh: quý trọng sự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Dùng từ Hán Việt đúng nghĩa, đúng sắc thái.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LỖI DÙNG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và sửa lỗi dùng từ: “Anh ấy luôn bàng quang trước việc chung.”; “Tiếng Anh là yếu điểm của em.”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 từ gần âm.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LỖI DÙNG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“bàng quang” → “bàng quan” (thờ ơ, đứng ngoài).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“yếu điểm” (điểm quan trọng) → “điểm yếu”.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Hiểu đúng nghĩa từng yếu tố để tránh lỗi.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9 – 11: VIẾT – NÓI VÀ NGHE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VIẾT BÀI NGHỊ LUẬN PHÂN TÍCH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tác phẩm, nêu chủ đề và nét đặc sắc nghệ thuật sẽ phân tích.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chủ đề: căn cứ xác định (nhan đề, nhân vật, chi tiết).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nét đặc sắc về hình thức: cốt truyện, nhân vật, chi tiết kì ảo, lời kể.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Đánh giá giá trị tác phẩm; lí lẽ và bằng chứng thuyết phục.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35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827515" y="1931116"/>
            <a:ext cx="1511373" cy="73984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5126" y="1654804"/>
            <a:ext cx="2042389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Thần Trụ Trời, Sét,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Gió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764777" y="2457917"/>
            <a:ext cx="1574111" cy="213045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7864" y="2282317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Thời gian phiếm chỉ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635999" y="2670962"/>
            <a:ext cx="1702889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76642" y="2708407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Nhân vật thần kì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vĩ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635999" y="2670962"/>
            <a:ext cx="1702889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6642" y="3335919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Lí giải tự nhiên</a:t>
            </a:r>
          </a:p>
        </p:txBody>
      </p:sp>
      <p:sp>
        <p:nvSpPr>
          <p:cNvPr id="16" name="Oval 15"/>
          <p:cNvSpPr/>
          <p:nvPr/>
        </p:nvSpPr>
        <p:spPr>
          <a:xfrm>
            <a:off x="3363922" y="2427575"/>
            <a:ext cx="1949933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Thần thoại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830405"/>
            <a:ext cx="1511373" cy="840557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019" y="1654804"/>
            <a:ext cx="2042389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Chuyện chức Phán sự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357206"/>
            <a:ext cx="1702889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418535" y="2080894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Ngô Tử Văn cương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trực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874593" cy="213045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90239" y="2708407"/>
            <a:ext cx="1315949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Yếu tố kì ảo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445333" cy="73984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60979" y="3134497"/>
            <a:ext cx="2174469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Chính nghĩa thắng gian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tà</a:t>
            </a:r>
          </a:p>
        </p:txBody>
      </p:sp>
      <p:sp>
        <p:nvSpPr>
          <p:cNvPr id="26" name="Oval 25"/>
          <p:cNvSpPr/>
          <p:nvPr/>
        </p:nvSpPr>
        <p:spPr>
          <a:xfrm>
            <a:off x="6810021" y="2259078"/>
            <a:ext cx="1811249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Truyền kì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Nguyễn Dữ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642603" y="4498751"/>
            <a:ext cx="1696285" cy="73984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70038" y="4222440"/>
            <a:ext cx="167256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Huấn Cao – tài,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khí phách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678925" y="5126263"/>
            <a:ext cx="1659963" cy="112334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33716" y="4849952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Quản ngục – thiên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lương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464295" y="5238597"/>
            <a:ext cx="1874593" cy="414467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148346" y="5477464"/>
            <a:ext cx="1315949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Cảnh cho chữ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721851" y="5238597"/>
            <a:ext cx="1617037" cy="840557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90790" y="5903554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Cái đẹp, cái thiện</a:t>
            </a:r>
          </a:p>
        </p:txBody>
      </p:sp>
      <p:sp>
        <p:nvSpPr>
          <p:cNvPr id="36" name="Oval 35"/>
          <p:cNvSpPr/>
          <p:nvPr/>
        </p:nvSpPr>
        <p:spPr>
          <a:xfrm>
            <a:off x="3433264" y="4826713"/>
            <a:ext cx="1811249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Chữ người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tử tù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498751"/>
            <a:ext cx="1917519" cy="73984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633165" y="4323151"/>
            <a:ext cx="1230097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Từ Hán Việt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924841"/>
            <a:ext cx="1511373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227019" y="4749241"/>
            <a:ext cx="2042389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NL phân tích truyện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445333" cy="112334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160979" y="5175331"/>
            <a:ext cx="2174469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Thuyết trình về truyện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617037" cy="639135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332683" y="5601421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Củng cố trực tuyến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(QR)</a:t>
            </a:r>
          </a:p>
        </p:txBody>
      </p:sp>
      <p:sp>
        <p:nvSpPr>
          <p:cNvPr id="46" name="Oval 45"/>
          <p:cNvSpPr/>
          <p:nvPr/>
        </p:nvSpPr>
        <p:spPr>
          <a:xfrm>
            <a:off x="6740679" y="4658216"/>
            <a:ext cx="1949933" cy="1160762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Tiếng Việt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Viết –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Nói</a:t>
            </a:r>
          </a:p>
        </p:txBody>
      </p:sp>
      <p:sp>
        <p:nvSpPr>
          <p:cNvPr id="47" name="Oval 46"/>
          <p:cNvSpPr/>
          <p:nvPr/>
        </p:nvSpPr>
        <p:spPr>
          <a:xfrm>
            <a:off x="4862765" y="3484793"/>
            <a:ext cx="2329003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SỨC HẤP DẪN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CỦA TRUYỆN KỂ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36</a:t>
            </a:r>
          </a:p>
        </p:txBody>
      </p:sp>
      <p:pic>
        <p:nvPicPr>
          <p:cNvPr id="7" name="Picture 6" descr="QR_van_cc_bai1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Thần Trụ Trời, Thần Sét, Thần Gió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trangtu66.github.io/Taode_thi_online/van_cc_bai1_k10.html</a:t>
            </a:r>
          </a:p>
        </p:txBody>
      </p:sp>
      <p:pic>
        <p:nvPicPr>
          <p:cNvPr id="9" name="Picture 8" descr="QR_van_tv_hanviet_k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Ôn luyện – Sử dụng từ Hán Việt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trangtu66.github.io/Taode_thi_online/van_tv_hanviet_k10.html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