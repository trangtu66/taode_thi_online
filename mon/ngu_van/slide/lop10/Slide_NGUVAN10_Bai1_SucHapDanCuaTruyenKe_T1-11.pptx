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chiếu video Nữ Oa vá trời; HS chia sẻ (1.1.NC1a). Dẫn vào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Chuyện người con gái Nam Xương; dẫn vào truyện truyền kì.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do học sinh chuyển thể; GV xem trước, chọn đoạn phù hợp.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Phim ngắn học sinh dựng; GV xem trước, chiếu đoạn cảnh cho chữ.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fTcd5BwvYEs" TargetMode="Externa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uldNwX0oGCA" TargetMode="External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youtube.com/watch?v=4lhy4C12iXg" TargetMode="External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youtube.com/watch?v=c0y19m_qMqg" TargetMode="External"/><Relationship Id="rId4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1: SỨC HẤP DẪN CỦA TRUYỆN KỂ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10 – Kết nối tri thức với cuộc sống · 11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biết, phân tích yếu tố của truyện, thần thoại: cốt truyện, không gian, thời gian, nhân vật, người kể chuyện ngôi thứ ba.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tích, đánh giá chủ đề, tư tưởng, thông điệp; căn cứ xác định chủ đề.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Hiểu đặc điểm và biết sử dụng từ Hán Việt.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văn bản nghị luận phân tích, đánh giá chủ đề và nét đặc sắc nghệ thuật của một tác phẩm truyện.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Thuyết trình giới thiệu, đánh giá nội dung, nghệ thuật của một tác phẩm truyện.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Sống có khát vọng, hoài bão; sống ngay thẳng, liêm chính, trách nhiệm với cộng đồng.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 – 2: TRUYỆN VỀ CÁC VỊ THẦN SÁNG TẠO THẾ GIỚI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Em có biết tên một truyện hoặc bộ phim nào có nhân vật chính là các vị thần không?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con người thuở sơ khai lại hình thành nên những câu chuyện về các vị thần sáng tạo vũ trụ?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5</a:t>
            </a:r>
          </a:p>
        </p:txBody>
      </p:sp>
      <p:pic>
        <p:nvPicPr>
          <p:cNvPr id="7" name="Picture 6" descr="QR_video_fTcd5Bwv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Nữ Oa vá trời – Truyện thần thoại Trung Quốc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Thế giới cổ tích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Hoạt động Mở đầu (văn bản 1–3)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https://www.youtube.com/watch?v=fTcd5BwvYEs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THẦN THOẠI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Thần thoại</a:t>
            </a:r>
            <a:r>
              <a:rPr sz="2400">
                <a:solidFill>
                  <a:srgbClr val="1E293B"/>
                </a:solidFill>
                <a:latin typeface="Calibri"/>
              </a:rPr>
              <a:t>: truyện kể xa xưa nhất, kể về các vị thần, thể hiện quan niệm về vũ trụ và khát vọng chinh phục tự nhiên.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Thời gian phiếm chỉ, ước lệ; không gian vũ trụ nhiều cõi.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Nhân vật thần có hình dạng khổng lồ, năng lực siêu nhiên; chức năng lí giải tự nhiên.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Thủ pháp cường điệu, phóng đại; lối tư duy hồn nhiên, trí tưởng tượng bay bổng.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7</a:t>
            </a:r>
          </a:p>
        </p:txBody>
      </p:sp>
      <p:pic>
        <p:nvPicPr>
          <p:cNvPr id="7" name="Picture 6" descr="QR_video_uldNwX0oG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Thần Trụ Trời – Truyện thần thoại Việt Nam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Thế giới cổ tích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Khám phá văn bản Thần Trụ Trời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https://www.youtube.com/watch?v=uldNwX0oGCA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THẦN TRỤ TRỜI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Thần Trụ Trời được miêu tả như thế nào? Thần đã làm gì để tạo lập trời đất?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hình dạng và công việc của thần.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THẦN TRỤ TRỜI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Thân thể to lớn, vóc dáng kì vĩ.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Dùng đầu đội trời, đào đất, đá đắp cột chống trời.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Phá cột, ném đá, đất khắp nơi → núi, đảo, cồn đồi, cao nguyên; chỗ đào thành biển.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Lí giải nguồn gốc trời đất, núi sông, biển cả.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THẦN SÉT VÀ THẦN GIÓ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Hình dạng, tính khí, công việc của thần Sét và thần Gió có gì đặc biệt? Các chi tiết ấy lí giải hiện tượng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Liên hệ đặc điểm của sấm sét, gió bão.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THẦN SÉT VÀ THẦN GIÓ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Thần Sét: mặt mũi nanh ác, nóng nảy; lưỡi búa đá; thi hành luật pháp ở trần gian.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Thần Gió: không có đầu, quạt màu nhiệm; tạo gió bão; con thần Gió hoá cây ngải gió.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Lí giải sấm sét, gió bão, tập tục bắt chước tiếng gà, kinh nghiệm dùng lá ngải.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Nhân hoá tự nhiên thành các vị thần – thế giới quan “vạn vật hữu linh”.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KHÁT VỌNG CỦA NGƯỜI XƯA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Qua chùm truyện, người xưa thể hiện quan niệm, nhận thức và khát vọng gì về thế giới tự nhiên?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Vì sao các vị thần đều vĩ đại, phi thường?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KHÁT VỌNG CỦA NGƯỜI XƯA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Tự nhiên bí ẩn → tạo các vị thần để lí giải.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Gửi gắm khát vọng khám phá, chinh phục tự nhiên.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Thái độ tôn kính, ngưỡng mộ, niềm 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Thần thoại – “vẻ đẹp một đi không trở lại”.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 – 4: CHUYỆN CHỨC PHÁN SỰ ĐỀN TẢN VIÊN (Nguyễn Dữ)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Hình ảnh gợi em nhớ đến tác phẩm nào của Nguyễn Dữ đã học ở THCS?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Trong tác phẩm ấy có chi tiết kì ảo nào?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16</a:t>
            </a:r>
          </a:p>
        </p:txBody>
      </p:sp>
      <p:pic>
        <p:nvPicPr>
          <p:cNvPr id="7" name="Picture 6" descr="QR_video_4lhy4C12iX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Chuyện chức phán sự đền Tản Viên – Chuyển thể tác phẩm văn học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Tùng Linh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Mở đầu Văn bản 4 (sản phẩm chuyển thể của học sinh – tham khảo)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https://www.youtube.com/watch?v=4lhy4C12iXg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TRUYỆN TRUYỀN KÌ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Thể văn xuôi tự sự thời trung đại, phản ánh hiện thực qua yếu tố hoang đường, kì ảo.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Thế giới người và cõi âm có sự giao thoa.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Nguyễn Dữ (thế kỉ XVI), học trò Nguyễn Bỉnh Khiêm; tác phẩm Truyền kì mạn lục – “thiên cổ kì bút”.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NGÔ TỬ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Đoạn mở đầu giới thiệu và nhấn mạnh nét tính cách nào ở Tử Văn? Tính cách ấy được khắc hoạ qua những chi tiết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hành động đốt đền và thái độ trước quỷ, Diêm Vương.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NGÔ TỬ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Khảng khái, nóng nảy, thấy gian tà không chịu được.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Đốt đền tà của hồn tên bách hộ họ Thôi.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Cứng cỏi, không khuất phục ở phiên toà cõi âm; đấu tranh đến cùng.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Người trí thức cương trực, dũng cảm bảo vệ công lí.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YẾU TỐ KÌ ẢO VÀ CHỦ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giá trị của một số yếu tố kì ảo trong truyện. Truyện gửi gắm thông điệp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Cõi âm phản chiếu điều gì của cõi trần?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YẾU TỐ KÌ ẢO VÀ CHỦ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Hồn ma tên tướng giặc, phiên toà Diêm Vương, Tử Văn làm Phán sự đền Tản Viên.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Cõi âm phản chiếu cõi trần: tham nhũng, cường quyền, hối lộ.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Chính nghĩa thắng gian tà; ca ngợi người dám đấu tranh.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Giáo dục liêm chính: dũng cảm chống cái sai, cái ác.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5 – 7: CHỮ NGƯỜI TỬ TÙ (Nguyễn Tuân)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TÁC GIẢ NGUYỄN TUÂN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Nguyễn Tuân (1910 – 1987), quê Hà Nội; sở trường truyện ngắn, tuỳ bút.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Phong cách tài hoa, uyên bác; suốt đời đi tìm và tôn vinh cái đẹp.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Chữ người tử tù in trong tập Vang bóng một thời (1940).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HUẤN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Nhân vật Huấn Cao được khắc hoạ với những vẻ đẹp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Tài hoa – khí phách – thiên lương.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HUẤN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Tài viết chữ đẹp nổi tiếng.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Khí phách hiên ngang: dỡ gông, thản nhiên trước cái chết.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Thiên lương trong sáng: chỉ cho chữ người biết quý cái đẹp.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Hình tượng con người tài hoa, khí phách, thiên lương.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QUẢN NGỤC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nói quản ngục là “một thanh âm trong trẻo chen vào giữa bản đàn mà nhạc luật đều hỗn loạn xô bồ”?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Quản ngục làm nghề gì, nhưng tâm hồn ra sao?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NHÂN VẬT QUẢN NGỤC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Sống giữa nhà ngục tàn bạo nhưng giữ thiên lương.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Biệt nhỡn liên tài, kính trọng Huấn Cao, liều mình xin chữ.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Biết quý cái đẹp, cái thiện.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Cái đẹp có thể nảy nở ngay nơi tăm tối.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28</a:t>
            </a:r>
          </a:p>
        </p:txBody>
      </p:sp>
      <p:pic>
        <p:nvPicPr>
          <p:cNvPr id="7" name="Picture 6" descr="QR_video_c0y19m_qM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[Phim ngắn] Chữ người tử tù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Alex Victor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Phân tích cảnh cho chữ (phim ngắn do học sinh dựng – tham khảo)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https://www.youtube.com/watch?v=c0y19m_qMqg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CẢNH CHO CHỮ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cảnh cho chữ được xem là “cảnh tượng xưa nay chưa từng có”?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không gian, tư thế các nhân vật.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CẢNH CHO CHỮ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Diễn ra trong nhà ngục tối tăm, bẩn thỉu.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Tử tù đường hoàng cho chữ; quản ngục khúm núm nhận chữ – trật tự đảo ngược.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Lời khuyên: giữ thiên lương, tránh xa chốn ô uế.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Cái đẹp, cái thiện chiến thắng cái xấu, cái ác.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8: THỰC HÀNH TIẾNG VIỆT – TỪ HÁN VIỆT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NGHĨA CỦA TỪ HÁN VIỆT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Giải nghĩa các từ: tiên triều, hàn sĩ, khoan dung, hiếu sinh (Chuyện chức Phán sự đền Tản Viên).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Tách nghĩa từng yếu tố Hán Việt.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NGHĨA CỦA TỪ HÁN VIỆT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Tiên triều: triều vua trước.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Hàn sĩ: học trò nghèo.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Khoan dung: rộng lượng tha thứ.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Hiếu sinh: quý trọng sự sống.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Dùng từ Hán Việt đúng nghĩa, đúng sắc thái.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SỬA LỖI DÙNG TỪ HÁN VIỆT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Tìm và sửa lỗi dùng từ: “Anh ấy luôn bàng quang trước việc chung.”; “Tiếng Anh là yếu điểm của em.”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các từ gần âm.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SỬA LỖI DÙNG TỪ HÁN VIỆT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“bàng quang” → “bàng quan” (thờ ơ, đứng ngoài).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“yếu điểm” (điểm quan trọng) → “điểm yếu”.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Hiểu đúng nghĩa từng yếu tố để tránh lỗi.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9 – 11: VIẾT – NÓI VÀ NGHE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VIẾT BÀI NGHỊ LUẬN PHÂN TÍCH TRUYỆN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Giới thiệu tác phẩm, nêu chủ đề và nét đặc sắc nghệ thuật sẽ phân tích.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tích chủ đề: căn cứ xác định (nhan đề, nhân vật, chi tiết).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Phân tích nét đặc sắc về hình thức: cốt truyện, nhân vật, chi tiết kì ảo, lời kể.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Đánh giá giá trị tác phẩm; lí lẽ và bằng chứng thuyết phục.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38</a:t>
            </a:r>
          </a:p>
        </p:txBody>
      </p:sp>
      <p:pic>
        <p:nvPicPr>
          <p:cNvPr id="7" name="Picture 6" descr="SoDoTuDuy_NGUVAN10_Bai1_SucHapDanCuaTruyenKe_T1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10 · Bài 1: Sức Hấp Dẫn Của Truyện Kể          39</a:t>
            </a:r>
          </a:p>
        </p:txBody>
      </p:sp>
      <p:pic>
        <p:nvPicPr>
          <p:cNvPr id="7" name="Picture 6" descr="QR_van_cc_bai1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Thần Trụ Trời, Thần Sét, Thần Gió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trangtu66.github.io/Taode_thi_online/van_cc_bai1_k10.html</a:t>
            </a:r>
          </a:p>
        </p:txBody>
      </p:sp>
      <p:pic>
        <p:nvPicPr>
          <p:cNvPr id="9" name="Picture 8" descr="QR_van_tv_hanviet_k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Ôn luyện – Sử dụng từ Hán Việt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trangtu66.github.io/Taode_thi_online/van_tv_hanviet_k10.html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