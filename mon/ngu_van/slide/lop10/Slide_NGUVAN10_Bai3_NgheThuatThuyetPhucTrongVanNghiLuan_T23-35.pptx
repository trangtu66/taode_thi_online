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nêu mục tiêu; HS ghi vào vở. Nhắc HS chuẩn bị điện thoại để làm bài củng cố cuối tiết.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khoảng 2,5 phút.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Bấm vào đường link hoặc quét mã QR để mở video (cần Internet). Video dài khoảng 15 phút – GV chiếu trích đoạn hoặc giao xem ở nhà.</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tr.77.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Trước khi đọc SGK tr.82.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ĐỀ BÀI – cho HS suy nghĩ, thảo luận (không chiếu lời giải).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LỜI GIẢI – GV chốt sau khi HS trình bày.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youtube.com/watch?v=t7Iebj6R_sg" TargetMode="External"/><Relationship Id="rId4"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www.youtube.com/watch?v=wk5hcMymviE" TargetMode="External"/><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2011680"/>
            <a:ext cx="12191695" cy="237744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698480" cy="2011680"/>
          </a:xfrm>
          <a:prstGeom prst="rect">
            <a:avLst/>
          </a:prstGeom>
          <a:noFill/>
        </p:spPr>
        <p:txBody>
          <a:bodyPr wrap="square" anchor="ctr" lIns="45720" rIns="45720">
            <a:spAutoFit/>
          </a:bodyPr>
          <a:lstStyle/>
          <a:p>
            <a:pPr algn="ctr">
              <a:spcAft>
                <a:spcPts val="800"/>
              </a:spcAft>
            </a:pPr>
            <a:r>
              <a:rPr sz="4000" b="1">
                <a:solidFill>
                  <a:srgbClr val="FFFFFF"/>
                </a:solidFill>
                <a:latin typeface="Calibri"/>
              </a:rPr>
              <a:t>BÀI 3: NGHỆ THUẬT THUYẾT PHỤC TRONG VĂN NGHỊ LUẬN</a:t>
            </a:r>
          </a:p>
          <a:p>
            <a:pPr algn="ctr">
              <a:spcAft>
                <a:spcPts val="800"/>
              </a:spcAft>
            </a:pPr>
            <a:r>
              <a:rPr sz="2400">
                <a:solidFill>
                  <a:srgbClr val="FFFFFF"/>
                </a:solidFill>
                <a:latin typeface="Calibri"/>
              </a:rPr>
              <a:t>Ngữ văn 10 – Kết nối tri thức với cuộc sống · 11 tiết</a:t>
            </a:r>
          </a:p>
        </p:txBody>
      </p:sp>
      <p:sp>
        <p:nvSpPr>
          <p:cNvPr id="4" name="TextBox 3"/>
          <p:cNvSpPr txBox="1"/>
          <p:nvPr/>
        </p:nvSpPr>
        <p:spPr>
          <a:xfrm>
            <a:off x="731520" y="4846320"/>
            <a:ext cx="10698480" cy="914400"/>
          </a:xfrm>
          <a:prstGeom prst="rect">
            <a:avLst/>
          </a:prstGeom>
          <a:noFill/>
        </p:spPr>
        <p:txBody>
          <a:bodyPr wrap="square" anchor="t" lIns="45720" rIns="45720">
            <a:spAutoFit/>
          </a:bodyPr>
          <a:lstStyle/>
          <a:p>
            <a:pPr algn="l">
              <a:spcAft>
                <a:spcPts val="800"/>
              </a:spcAft>
            </a:pPr>
            <a:r>
              <a:rPr sz="2000">
                <a:solidFill>
                  <a:srgbClr val="64748B"/>
                </a:solidFill>
                <a:latin typeface="Calibri"/>
              </a:rPr>
              <a:t>Trường THPT Vĩnh Thạnh – Tổ Ngữ văn – Tiếng Anh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MỤC TIÊU</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Nhận biết, phân tích luận đề, luận điểm, lí lẽ, bằng chứng tiêu biểu và mối quan hệ giữa chúng.</a:t>
            </a:r>
          </a:p>
          <a:p>
            <a:pPr algn="l" marL="365760" indent="-365760">
              <a:spcAft>
                <a:spcPts val="800"/>
              </a:spcAft>
              <a:buClr>
                <a:srgbClr val="1E40AF"/>
              </a:buClr>
              <a:buFont typeface="Arial"/>
              <a:buChar char="•"/>
            </a:pPr>
            <a:r>
              <a:rPr sz="2200">
                <a:solidFill>
                  <a:srgbClr val="1E293B"/>
                </a:solidFill>
                <a:latin typeface="Calibri"/>
              </a:rPr>
              <a:t>Xác định ý nghĩa văn bản; nhận biết mục đích, quan điểm của người viết.</a:t>
            </a:r>
          </a:p>
          <a:p>
            <a:pPr algn="l" marL="365760" indent="-365760">
              <a:spcAft>
                <a:spcPts val="800"/>
              </a:spcAft>
              <a:buClr>
                <a:srgbClr val="1E40AF"/>
              </a:buClr>
              <a:buFont typeface="Arial"/>
              <a:buChar char="•"/>
            </a:pPr>
            <a:r>
              <a:rPr sz="2200">
                <a:solidFill>
                  <a:srgbClr val="1E293B"/>
                </a:solidFill>
                <a:latin typeface="Calibri"/>
              </a:rPr>
              <a:t>Nhận ra và khắc phục lỗi về mạch lạc, liên kết trong đoạn văn, văn bản.</a:t>
            </a:r>
          </a:p>
          <a:p>
            <a:pPr algn="l" marL="365760" indent="-365760">
              <a:spcAft>
                <a:spcPts val="800"/>
              </a:spcAft>
              <a:buClr>
                <a:srgbClr val="1E40AF"/>
              </a:buClr>
              <a:buFont typeface="Arial"/>
              <a:buChar char="•"/>
            </a:pPr>
            <a:r>
              <a:rPr sz="2200">
                <a:solidFill>
                  <a:srgbClr val="1E293B"/>
                </a:solidFill>
                <a:latin typeface="Calibri"/>
              </a:rPr>
              <a:t>Viết bài luận thuyết phục người khác từ bỏ một thói quen hay một quan niệm.</a:t>
            </a:r>
          </a:p>
          <a:p>
            <a:pPr algn="l" marL="365760" indent="-365760">
              <a:spcAft>
                <a:spcPts val="800"/>
              </a:spcAft>
              <a:buClr>
                <a:srgbClr val="1E40AF"/>
              </a:buClr>
              <a:buFont typeface="Arial"/>
              <a:buChar char="•"/>
            </a:pPr>
            <a:r>
              <a:rPr sz="2200">
                <a:solidFill>
                  <a:srgbClr val="1E293B"/>
                </a:solidFill>
                <a:latin typeface="Calibri"/>
              </a:rPr>
              <a:t>Thảo luận về một vấn đề xã hội có những ý kiến khác nhau.</a:t>
            </a:r>
          </a:p>
          <a:p>
            <a:pPr algn="l" marL="365760" indent="-365760">
              <a:spcAft>
                <a:spcPts val="800"/>
              </a:spcAft>
              <a:buClr>
                <a:srgbClr val="1E40AF"/>
              </a:buClr>
              <a:buFont typeface="Arial"/>
              <a:buChar char="•"/>
            </a:pPr>
            <a:r>
              <a:rPr sz="2200">
                <a:solidFill>
                  <a:srgbClr val="1E293B"/>
                </a:solidFill>
                <a:latin typeface="Calibri"/>
              </a:rPr>
              <a:t>Quý trọng hiền tài, biết đồng cảm với người khác và sống có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23 – 24: HIỀN TÀI LÀ NGUYÊN KHÍ CỦA QUỐC GIA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a:t>
            </a:r>
          </a:p>
        </p:txBody>
      </p:sp>
      <p:pic>
        <p:nvPicPr>
          <p:cNvPr id="7" name="Picture 6" descr="QR_video_t7Iebj6R_sg.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Khi công nghệ “đánh thức” di sản tại Văn Miếu – Quốc Tử Giám</a:t>
            </a:r>
          </a:p>
          <a:p>
            <a:pPr algn="l">
              <a:spcAft>
                <a:spcPts val="800"/>
              </a:spcAft>
            </a:pPr>
            <a:r>
              <a:rPr sz="2000">
                <a:solidFill>
                  <a:srgbClr val="64748B"/>
                </a:solidFill>
                <a:latin typeface="Calibri"/>
              </a:rPr>
              <a:t>Kênh: VTV24</a:t>
            </a:r>
          </a:p>
          <a:p>
            <a:pPr algn="l" marL="365760" indent="-365760">
              <a:spcAft>
                <a:spcPts val="800"/>
              </a:spcAft>
              <a:buClr>
                <a:srgbClr val="1E40AF"/>
              </a:buClr>
              <a:buFont typeface="Arial"/>
              <a:buChar char="•"/>
            </a:pPr>
            <a:r>
              <a:rPr sz="2000">
                <a:solidFill>
                  <a:srgbClr val="1E293B"/>
                </a:solidFill>
                <a:latin typeface="Calibri"/>
              </a:rPr>
              <a:t>Khởi động: hình ảnh bia tiến sĩ, Văn Miếu – Quốc Tử Giám</a:t>
            </a:r>
          </a:p>
          <a:p>
            <a:pPr algn="l">
              <a:spcAft>
                <a:spcPts val="800"/>
              </a:spcAft>
            </a:pPr>
            <a:r>
              <a:rPr sz="1600">
                <a:solidFill>
                  <a:srgbClr val="64748B"/>
                </a:solidFill>
                <a:latin typeface="Calibri"/>
                <a:hlinkClick r:id="rId3"/>
              </a:rPr>
              <a:t>https://www.youtube.com/watch?v=t7Iebj6R_sg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KHỞI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nghĩ gì khi nhìn thấy những hàng bia tiến sĩ ở Văn Miếu – Quốc Tử Giám?</a:t>
            </a:r>
          </a:p>
          <a:p>
            <a:pPr algn="l">
              <a:spcAft>
                <a:spcPts val="800"/>
              </a:spcAft>
            </a:pPr>
            <a:r>
              <a:rPr sz="2600" b="1">
                <a:solidFill>
                  <a:srgbClr val="1E293B"/>
                </a:solidFill>
                <a:latin typeface="Calibri"/>
              </a:rPr>
              <a:t>Bạn đã thấy, đã nghe câu “Hiền tài là nguyên khí của quốc gia” ở đâu?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08615" y="457200"/>
            <a:ext cx="1234440"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VIDEO</a:t>
            </a:r>
          </a:p>
        </p:txBody>
      </p:sp>
      <p:sp>
        <p:nvSpPr>
          <p:cNvPr id="4" name="TextBox 3"/>
          <p:cNvSpPr txBox="1"/>
          <p:nvPr/>
        </p:nvSpPr>
        <p:spPr>
          <a:xfrm>
            <a:off x="731520" y="274320"/>
            <a:ext cx="9738360" cy="868680"/>
          </a:xfrm>
          <a:prstGeom prst="rect">
            <a:avLst/>
          </a:prstGeom>
          <a:noFill/>
        </p:spPr>
        <p:txBody>
          <a:bodyPr wrap="square" anchor="ctr">
            <a:spAutoFit/>
          </a:bodyPr>
          <a:lstStyle/>
          <a:p>
            <a:r>
              <a:rPr sz="3600" b="1">
                <a:solidFill>
                  <a:srgbClr val="1E40AF"/>
                </a:solidFill>
                <a:latin typeface="Arial"/>
              </a:rPr>
              <a:t>VIDEO THAM KHẢO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6</a:t>
            </a:r>
          </a:p>
        </p:txBody>
      </p:sp>
      <p:pic>
        <p:nvPicPr>
          <p:cNvPr id="7" name="Picture 6" descr="QR_video_wk5hcMymviE.png"/>
          <p:cNvPicPr>
            <a:picLocks noChangeAspect="1"/>
          </p:cNvPicPr>
          <p:nvPr/>
        </p:nvPicPr>
        <p:blipFill>
          <a:blip r:embed="rId2"/>
          <a:stretch>
            <a:fillRect/>
          </a:stretch>
        </p:blipFill>
        <p:spPr>
          <a:xfrm>
            <a:off x="8412480" y="1554480"/>
            <a:ext cx="3108960" cy="3108960"/>
          </a:xfrm>
          <a:prstGeom prst="rect">
            <a:avLst/>
          </a:prstGeom>
        </p:spPr>
      </p:pic>
      <p:sp>
        <p:nvSpPr>
          <p:cNvPr id="8" name="TextBox 7"/>
          <p:cNvSpPr txBox="1"/>
          <p:nvPr/>
        </p:nvSpPr>
        <p:spPr>
          <a:xfrm>
            <a:off x="731520" y="1554480"/>
            <a:ext cx="7498079" cy="420624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 Thân Nhân Trung – Nguyên khí quốc gia (Danh nhân Thăng Long – Hà Nội)</a:t>
            </a:r>
          </a:p>
          <a:p>
            <a:pPr algn="l">
              <a:spcAft>
                <a:spcPts val="800"/>
              </a:spcAft>
            </a:pPr>
            <a:r>
              <a:rPr sz="2000">
                <a:solidFill>
                  <a:srgbClr val="64748B"/>
                </a:solidFill>
                <a:latin typeface="Calibri"/>
              </a:rPr>
              <a:t>Kênh: HTV – Đài Hà Nội</a:t>
            </a:r>
          </a:p>
          <a:p>
            <a:pPr algn="l" marL="365760" indent="-365760">
              <a:spcAft>
                <a:spcPts val="800"/>
              </a:spcAft>
              <a:buClr>
                <a:srgbClr val="1E40AF"/>
              </a:buClr>
              <a:buFont typeface="Arial"/>
              <a:buChar char="•"/>
            </a:pPr>
            <a:r>
              <a:rPr sz="2000">
                <a:solidFill>
                  <a:srgbClr val="1E293B"/>
                </a:solidFill>
                <a:latin typeface="Calibri"/>
              </a:rPr>
              <a:t>Tìm hiểu tác giả Thân Nhân Trung (Hiền tài là nguyên khí của quốc gia)</a:t>
            </a:r>
          </a:p>
          <a:p>
            <a:pPr algn="l">
              <a:spcAft>
                <a:spcPts val="800"/>
              </a:spcAft>
            </a:pPr>
            <a:r>
              <a:rPr sz="1600">
                <a:solidFill>
                  <a:srgbClr val="64748B"/>
                </a:solidFill>
                <a:latin typeface="Calibri"/>
                <a:hlinkClick r:id="rId3"/>
              </a:rPr>
              <a:t>https://www.youtube.com/watch?v=wk5hcMymviE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TRI THỨC NGỮ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Văn bản nghị luận</a:t>
            </a:r>
            <a:r>
              <a:rPr sz="2400">
                <a:solidFill>
                  <a:srgbClr val="1E293B"/>
                </a:solidFill>
                <a:latin typeface="Calibri"/>
              </a:rPr>
              <a:t>: thuyết phục bằng hệ thống luận điểm, lí lẽ, bằng chứng chặt chẽ.</a:t>
            </a:r>
          </a:p>
          <a:p>
            <a:pPr algn="l" marL="365760" indent="-365760">
              <a:spcAft>
                <a:spcPts val="800"/>
              </a:spcAft>
              <a:buClr>
                <a:srgbClr val="1E40AF"/>
              </a:buClr>
              <a:buFont typeface="Arial"/>
              <a:buChar char="•"/>
            </a:pPr>
            <a:r>
              <a:rPr sz="2400" b="1">
                <a:solidFill>
                  <a:srgbClr val="1E293B"/>
                </a:solidFill>
                <a:latin typeface="Calibri"/>
              </a:rPr>
              <a:t>Luận đề</a:t>
            </a:r>
            <a:r>
              <a:rPr sz="2400">
                <a:solidFill>
                  <a:srgbClr val="1E293B"/>
                </a:solidFill>
                <a:latin typeface="Calibri"/>
              </a:rPr>
              <a:t>: vấn đề được tập trung bàn luận, thường thể hiện ở nhan đề.</a:t>
            </a:r>
          </a:p>
          <a:p>
            <a:pPr algn="l" marL="365760" indent="-365760">
              <a:spcAft>
                <a:spcPts val="800"/>
              </a:spcAft>
              <a:buClr>
                <a:srgbClr val="1E40AF"/>
              </a:buClr>
              <a:buFont typeface="Arial"/>
              <a:buChar char="•"/>
            </a:pPr>
            <a:r>
              <a:rPr sz="2400" b="1">
                <a:solidFill>
                  <a:srgbClr val="1E293B"/>
                </a:solidFill>
                <a:latin typeface="Calibri"/>
              </a:rPr>
              <a:t>Luận điểm</a:t>
            </a:r>
            <a:r>
              <a:rPr sz="2400">
                <a:solidFill>
                  <a:srgbClr val="1E293B"/>
                </a:solidFill>
                <a:latin typeface="Calibri"/>
              </a:rPr>
              <a:t>: ý kiến khái quát thể hiện quan điểm của tác giả về luận đề.</a:t>
            </a:r>
          </a:p>
          <a:p>
            <a:pPr algn="l" marL="365760" indent="-365760">
              <a:spcAft>
                <a:spcPts val="800"/>
              </a:spcAft>
              <a:buClr>
                <a:srgbClr val="1E40AF"/>
              </a:buClr>
              <a:buFont typeface="Arial"/>
              <a:buChar char="•"/>
            </a:pPr>
            <a:r>
              <a:rPr sz="2400" b="1">
                <a:solidFill>
                  <a:srgbClr val="1E293B"/>
                </a:solidFill>
                <a:latin typeface="Calibri"/>
              </a:rPr>
              <a:t>Lí lẽ, bằng chứng</a:t>
            </a:r>
            <a:r>
              <a:rPr sz="2400">
                <a:solidFill>
                  <a:srgbClr val="1E293B"/>
                </a:solidFill>
                <a:latin typeface="Calibri"/>
              </a:rPr>
              <a:t> (luận cứ): làm sáng tỏ, vững vàng luận điểm.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Tìm trong đoạn 2 những từ ngữ thể hiện thái độ trọng dụng hiền tài của “các đấng thánh đế minh vương”.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Các vị vua đã ban ân gì cho kẻ sĩ?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THÁI ĐỘ TRỌNG DỤNG HIỀN TÀI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Bồi dưỡng nhân tài, kén chọn kẻ sĩ, vun trồng nguyên khí – “làm việc đầu tiên”.</a:t>
            </a:r>
          </a:p>
          <a:p>
            <a:pPr algn="l" marL="365760" indent="-365760">
              <a:spcAft>
                <a:spcPts val="800"/>
              </a:spcAft>
              <a:buClr>
                <a:srgbClr val="1E40AF"/>
              </a:buClr>
              <a:buFont typeface="Arial"/>
              <a:buChar char="•"/>
            </a:pPr>
            <a:r>
              <a:rPr sz="2300">
                <a:solidFill>
                  <a:srgbClr val="1E293B"/>
                </a:solidFill>
                <a:latin typeface="Calibri"/>
              </a:rPr>
              <a:t>Quý chuộng kẻ sĩ “không biết thế nào là cùng”.</a:t>
            </a:r>
          </a:p>
          <a:p>
            <a:pPr algn="l" marL="365760" indent="-365760">
              <a:spcAft>
                <a:spcPts val="800"/>
              </a:spcAft>
              <a:buClr>
                <a:srgbClr val="1E40AF"/>
              </a:buClr>
              <a:buFont typeface="Arial"/>
              <a:buChar char="•"/>
            </a:pPr>
            <a:r>
              <a:rPr sz="2300">
                <a:solidFill>
                  <a:srgbClr val="1E293B"/>
                </a:solidFill>
                <a:latin typeface="Calibri"/>
              </a:rPr>
              <a:t>Yêu mến khoa danh, đề cao tước trật; nêu tên tháp Nhạn, ban danh hiệu Long hổ, bày tiệc Văn hỉ.</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Triều đình làm mọi việc “đến mức cao nhất” để trọng đãi hiền tài.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Xác định luận đề của văn bản. Câu nào trực tiếp nói về mục đích của việc dựng bia ghi danh tiến sĩ?</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Đọc kĩ đoạn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LUẬN ĐỀ VÀ MỤC ĐÍCH DỰNG BIA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Luận đề: vai trò của hiền tài đối với vận mệnh đất nước (nhan đề, câu mở đầu đoạn 2).</a:t>
            </a:r>
          </a:p>
          <a:p>
            <a:pPr algn="l" marL="365760" indent="-365760">
              <a:spcAft>
                <a:spcPts val="800"/>
              </a:spcAft>
              <a:buClr>
                <a:srgbClr val="1E40AF"/>
              </a:buClr>
              <a:buFont typeface="Arial"/>
              <a:buChar char="•"/>
            </a:pPr>
            <a:r>
              <a:rPr sz="2300">
                <a:solidFill>
                  <a:srgbClr val="1E293B"/>
                </a:solidFill>
                <a:latin typeface="Calibri"/>
              </a:rPr>
              <a:t>Mục đích (đoạn 3): “…lời khen tiếng thơm chưa đủ lưu vẻ sáng lâu dài, cho nên lại dựng đá đề danh…</a:t>
            </a:r>
          </a:p>
          <a:p>
            <a:pPr algn="l" marL="365760" indent="-365760">
              <a:spcAft>
                <a:spcPts val="800"/>
              </a:spcAft>
              <a:buClr>
                <a:srgbClr val="1E40AF"/>
              </a:buClr>
              <a:buFont typeface="Arial"/>
              <a:buChar char="•"/>
            </a:pPr>
            <a:r>
              <a:rPr sz="2300">
                <a:solidFill>
                  <a:srgbClr val="1E293B"/>
                </a:solidFill>
                <a:latin typeface="Calibri"/>
              </a:rPr>
              <a:t>…khiến cho kẻ sĩ trông vào mà phấn chấn hâm mộ, rèn luyện danh tiết, gắng sức giúp vua”.</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Hiền tài thịnh thì nước mạnh – dựng bia để khuyến khích hiền tài.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Đoạn 3 có quan hệ thế nào với đoạn 2? Đoạn 4 đảm nhận chức năng gì trong mạch lập luận?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Đoạn 4 là một câu hỏi tu từ.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MẠCH LẬP LUẬN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Đoạn 3 triển khai thêm ý trọng đãi hiền tài ở đoạn 2: chuyển từ nguyên lí chung sang chuyện dựng bia.</a:t>
            </a:r>
          </a:p>
          <a:p>
            <a:pPr algn="l" marL="365760" indent="-365760">
              <a:spcAft>
                <a:spcPts val="800"/>
              </a:spcAft>
              <a:buClr>
                <a:srgbClr val="1E40AF"/>
              </a:buClr>
              <a:buFont typeface="Arial"/>
              <a:buChar char="•"/>
            </a:pPr>
            <a:r>
              <a:rPr sz="2300">
                <a:solidFill>
                  <a:srgbClr val="1E293B"/>
                </a:solidFill>
                <a:latin typeface="Calibri"/>
              </a:rPr>
              <a:t>Đoạn 4: lời tự vấn – thái độ tự trọng của kẻ sĩ; bước chuyển sang lời khuyến cáo (đoạn 5).</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Khái quát → cụ thể → trách nhiệm → ý nghĩa: lập luận chặt chẽ.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vừa là người truyền đạt “thánh ý”, vừa là kẻ sĩ được trọng dụng. Điều đó chi phối cách triển khai luận điểm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ý giọng văn.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HAI TƯ CÁCH CỦA NGƯỜI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Truyền đạt thánh ý → giọng trang trọng, khẳng định, mang tính răn dạy.</a:t>
            </a:r>
          </a:p>
          <a:p>
            <a:pPr algn="l" marL="365760" indent="-365760">
              <a:spcAft>
                <a:spcPts val="800"/>
              </a:spcAft>
              <a:buClr>
                <a:srgbClr val="1E40AF"/>
              </a:buClr>
              <a:buFont typeface="Arial"/>
              <a:buChar char="•"/>
            </a:pPr>
            <a:r>
              <a:rPr sz="2300">
                <a:solidFill>
                  <a:srgbClr val="1E293B"/>
                </a:solidFill>
                <a:latin typeface="Calibri"/>
              </a:rPr>
              <a:t>Kẻ sĩ được trọng dụng → khiêm nhường, tự nhắc mình phải báo đáp.</a:t>
            </a:r>
          </a:p>
          <a:p>
            <a:pPr algn="l" marL="365760" indent="-365760">
              <a:spcAft>
                <a:spcPts val="800"/>
              </a:spcAft>
              <a:buClr>
                <a:srgbClr val="1E40AF"/>
              </a:buClr>
              <a:buFont typeface="Arial"/>
              <a:buChar char="•"/>
            </a:pPr>
            <a:r>
              <a:rPr sz="2300">
                <a:solidFill>
                  <a:srgbClr val="1E293B"/>
                </a:solidFill>
                <a:latin typeface="Calibri"/>
              </a:rPr>
              <a:t>Luận điểm vừa khẳng định chủ trương của triều đình vừa khuyên răn sĩ phu.</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Xác định rõ mục đích, quan điểm – tăng sức thuyết phục.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25 – 26: YÊU VÀ ĐỒNG CẢM (Phong Tử Khải)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17</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Bạn hiểu thế nào về sự đồng cảm trong cuộc sống?</a:t>
            </a:r>
          </a:p>
          <a:p>
            <a:pPr algn="l">
              <a:spcAft>
                <a:spcPts val="800"/>
              </a:spcAft>
            </a:pPr>
            <a:r>
              <a:rPr sz="2600" b="1">
                <a:solidFill>
                  <a:srgbClr val="1E293B"/>
                </a:solidFill>
                <a:latin typeface="Calibri"/>
              </a:rPr>
              <a:t>Bạn có cảm xúc gì mỗi lần tiếp xúc với một tác phẩm nghệ thuật?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mở đầu bằng câu chuyện chú bé sắp xếp đồ đạc. Câu chuyện ấy có vai trò gì? Nếu không có nó, sức thuyết phục bị ảnh hưởng thế nào?</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Chú bé làm vì chăm chỉ hay vì điều gì khác?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CÂU CHUYỆN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19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Chú bé “bứt rứt không yên” khi đồ vật ở vị trí khó chịu – tấm lòng đồng cảm.</a:t>
            </a:r>
          </a:p>
          <a:p>
            <a:pPr algn="l" marL="365760" indent="-365760">
              <a:spcAft>
                <a:spcPts val="800"/>
              </a:spcAft>
              <a:buClr>
                <a:srgbClr val="1E40AF"/>
              </a:buClr>
              <a:buFont typeface="Arial"/>
              <a:buChar char="•"/>
            </a:pPr>
            <a:r>
              <a:rPr sz="2300">
                <a:solidFill>
                  <a:srgbClr val="1E293B"/>
                </a:solidFill>
                <a:latin typeface="Calibri"/>
              </a:rPr>
              <a:t>Câu chuyện là bằng chứng gần gũi, sinh động, dẫn dắt tự nhiên.</a:t>
            </a:r>
          </a:p>
          <a:p>
            <a:pPr algn="l" marL="365760" indent="-365760">
              <a:spcAft>
                <a:spcPts val="800"/>
              </a:spcAft>
              <a:buClr>
                <a:srgbClr val="1E40AF"/>
              </a:buClr>
              <a:buFont typeface="Arial"/>
              <a:buChar char="•"/>
            </a:pPr>
            <a:r>
              <a:rPr sz="2300">
                <a:solidFill>
                  <a:srgbClr val="1E293B"/>
                </a:solidFill>
                <a:latin typeface="Calibri"/>
              </a:rPr>
              <a:t>Thiếu câu chuyện, lí lẽ trở nên khô khan, trừu tượng, kém sức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Kết hợp tự sự với nghị luận tạo sức hấp dẫn.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Nhà khoa học, bác làm vườn, chú thợ mộc, anh hoạ sĩ nhìn một gốc cây khác nhau thế nào? Cái nhìn của hoạ sĩ có gì khác?</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Ai không có mục đích thực tiễn?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GÓC NHÌN VỀ MỘT GỐC CÂY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Nhà khoa học: tính chất, trạng thái; bác làm vườn: sức sống; thợ mộc: chất liệu.</a:t>
            </a:r>
          </a:p>
          <a:p>
            <a:pPr algn="l" marL="365760" indent="-365760">
              <a:spcAft>
                <a:spcPts val="800"/>
              </a:spcAft>
              <a:buClr>
                <a:srgbClr val="1E40AF"/>
              </a:buClr>
              <a:buFont typeface="Arial"/>
              <a:buChar char="•"/>
            </a:pPr>
            <a:r>
              <a:rPr sz="2300">
                <a:solidFill>
                  <a:srgbClr val="1E293B"/>
                </a:solidFill>
                <a:latin typeface="Calibri"/>
              </a:rPr>
              <a:t>Ba người kia nghĩ tới quan hệ nhân quả, có mục đích thực tiễn.</a:t>
            </a:r>
          </a:p>
          <a:p>
            <a:pPr algn="l" marL="365760" indent="-365760">
              <a:spcAft>
                <a:spcPts val="800"/>
              </a:spcAft>
              <a:buClr>
                <a:srgbClr val="1E40AF"/>
              </a:buClr>
              <a:buFont typeface="Arial"/>
              <a:buChar char="•"/>
            </a:pPr>
            <a:r>
              <a:rPr sz="2300">
                <a:solidFill>
                  <a:srgbClr val="1E293B"/>
                </a:solidFill>
                <a:latin typeface="Calibri"/>
              </a:rPr>
              <a:t>Hoạ sĩ chỉ thưởng thức dáng vẻ – thế giới của Mĩ, “đại đồng, bình đẳng”.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Nghệ sĩ đồng cảm với vạn vật, không vụ lợi.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22</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phát hiện những điểm tương đồng gì giữa trẻ em và người nghệ sĩ? Vì sao Xuân Diệu đề nghị “Hãy nhìn đời bằng đôi mắt xanh non”?</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“Bản chất của trẻ thơ là…”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TRẺ EM VÀ NGƯỜI NGHỆ SĨ</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23</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Trẻ em hồn nhiên trò chuyện với chó mèo, hôn hoa cỏ – tấm lòng chân thành, tự nhiên.</a:t>
            </a:r>
          </a:p>
          <a:p>
            <a:pPr algn="l" marL="365760" indent="-365760">
              <a:spcAft>
                <a:spcPts val="800"/>
              </a:spcAft>
              <a:buClr>
                <a:srgbClr val="1E40AF"/>
              </a:buClr>
              <a:buFont typeface="Arial"/>
              <a:buChar char="•"/>
            </a:pPr>
            <a:r>
              <a:rPr sz="2300">
                <a:solidFill>
                  <a:srgbClr val="1E293B"/>
                </a:solidFill>
                <a:latin typeface="Calibri"/>
              </a:rPr>
              <a:t>“Bản chất của trẻ thơ là nghệ thuật”; nghệ sĩ là người giữ được lòng đồng cảm.</a:t>
            </a:r>
          </a:p>
          <a:p>
            <a:pPr algn="l" marL="365760" indent="-365760">
              <a:spcAft>
                <a:spcPts val="800"/>
              </a:spcAft>
              <a:buClr>
                <a:srgbClr val="1E40AF"/>
              </a:buClr>
              <a:buFont typeface="Arial"/>
              <a:buChar char="•"/>
            </a:pPr>
            <a:r>
              <a:rPr sz="2300">
                <a:solidFill>
                  <a:srgbClr val="1E293B"/>
                </a:solidFill>
                <a:latin typeface="Calibri"/>
              </a:rPr>
              <a:t>Đôi mắt xanh non: cái nhìn trong trẻo, đồng cảm, phát hiện vẻ đẹp đời sống.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Giữ tấm lòng trẻ thơ để cảm nhận cái đẹp.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27 – 28: CHỮ BẦU LÊN NHÀ THƠ (Lê Đạt)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786823" y="457200"/>
            <a:ext cx="18562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KHỞI ĐỘNG</a:t>
            </a:r>
          </a:p>
        </p:txBody>
      </p:sp>
      <p:sp>
        <p:nvSpPr>
          <p:cNvPr id="4" name="TextBox 3"/>
          <p:cNvSpPr txBox="1"/>
          <p:nvPr/>
        </p:nvSpPr>
        <p:spPr>
          <a:xfrm>
            <a:off x="731520" y="274320"/>
            <a:ext cx="9116568" cy="868680"/>
          </a:xfrm>
          <a:prstGeom prst="rect">
            <a:avLst/>
          </a:prstGeom>
          <a:noFill/>
        </p:spPr>
        <p:txBody>
          <a:bodyPr wrap="square" anchor="ctr">
            <a:spAutoFit/>
          </a:bodyPr>
          <a:lstStyle/>
          <a:p>
            <a:r>
              <a:rPr sz="3600" b="1">
                <a:solidFill>
                  <a:srgbClr val="1E40AF"/>
                </a:solidFill>
                <a:latin typeface="Arial"/>
              </a:rPr>
              <a:t>TRƯỚC KHI ĐỌC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25</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Trong hình dung của bạn, nhà thơ phải là người thế nào?</a:t>
            </a:r>
          </a:p>
          <a:p>
            <a:pPr algn="l">
              <a:spcAft>
                <a:spcPts val="800"/>
              </a:spcAft>
            </a:pPr>
            <a:r>
              <a:rPr sz="2600" b="1">
                <a:solidFill>
                  <a:srgbClr val="1E293B"/>
                </a:solidFill>
                <a:latin typeface="Calibri"/>
              </a:rPr>
              <a:t>Việc làm thơ có gắn liền với những phút cao hứng, “bốc đồng”?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26</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Vấn đề chính được bàn luận là gì? Tìm một câu nêu bật ý cốt lõi trong quan niệm về thơ của tác giả.</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Thơ “ý tại ngôn ngoại”…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Ý CỐT LÕI TRONG QUAN NIỆM VỀ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27</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Vấn đề: quan hệ nhà thơ – chữ; lao động chữ nghĩa của nhà thơ.</a:t>
            </a:r>
          </a:p>
          <a:p>
            <a:pPr algn="l" marL="365760" indent="-365760">
              <a:spcAft>
                <a:spcPts val="800"/>
              </a:spcAft>
              <a:buClr>
                <a:srgbClr val="1E40AF"/>
              </a:buClr>
              <a:buFont typeface="Arial"/>
              <a:buChar char="•"/>
            </a:pPr>
            <a:r>
              <a:rPr sz="2300">
                <a:solidFill>
                  <a:srgbClr val="1E293B"/>
                </a:solidFill>
                <a:latin typeface="Calibri"/>
              </a:rPr>
              <a:t>Câu cốt lõi: “Người ta làm thơ không phải bằng ý mà bằng chữ.”</a:t>
            </a:r>
          </a:p>
          <a:p>
            <a:pPr algn="l" marL="365760" indent="-365760">
              <a:spcAft>
                <a:spcPts val="800"/>
              </a:spcAft>
              <a:buClr>
                <a:srgbClr val="1E40AF"/>
              </a:buClr>
              <a:buFont typeface="Arial"/>
              <a:buChar char="•"/>
            </a:pPr>
            <a:r>
              <a:rPr sz="2300">
                <a:solidFill>
                  <a:srgbClr val="1E293B"/>
                </a:solidFill>
                <a:latin typeface="Calibri"/>
              </a:rPr>
              <a:t>Nhà thơ làm chữ ở diện mạo, âm lượng, độ vang vọng, sức gợi cảm của chữ.</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Chữ quyết định danh vị nhà thơ.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Tác giả tranh luận với hai quan niệm: thơ gắn với cảm xúc “bốc đồng”; thơ là năng khiếu đặc biệt, xa lạ với lao động. Lí lẽ, bằng chứng có thuyết phục không?</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Tác giả “ghét” định kiến nào?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TRANH LUẬN VỚI QUAN NIỆM PHỔ BIẾN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29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“Những cơn bốc đồng thường ngắn ngủi”; “Làm thơ không phải đánh quả”.</a:t>
            </a:r>
          </a:p>
          <a:p>
            <a:pPr algn="l" marL="365760" indent="-365760">
              <a:spcAft>
                <a:spcPts val="800"/>
              </a:spcAft>
              <a:buClr>
                <a:srgbClr val="1E40AF"/>
              </a:buClr>
              <a:buFont typeface="Arial"/>
              <a:buChar char="•"/>
            </a:pPr>
            <a:r>
              <a:rPr sz="2300">
                <a:solidFill>
                  <a:srgbClr val="1E293B"/>
                </a:solidFill>
                <a:latin typeface="Calibri"/>
              </a:rPr>
              <a:t>Không mê nhà thơ thần đồng; ưa nhà thơ “một nắng hai sương”, lầm lũi, lực điền.</a:t>
            </a:r>
          </a:p>
          <a:p>
            <a:pPr algn="l" marL="365760" indent="-365760">
              <a:spcAft>
                <a:spcPts val="800"/>
              </a:spcAft>
              <a:buClr>
                <a:srgbClr val="1E40AF"/>
              </a:buClr>
              <a:buFont typeface="Arial"/>
              <a:buChar char="•"/>
            </a:pPr>
            <a:r>
              <a:rPr sz="2300">
                <a:solidFill>
                  <a:srgbClr val="1E293B"/>
                </a:solidFill>
                <a:latin typeface="Calibri"/>
              </a:rPr>
              <a:t>Bằng chứng: Tôn-xtôi, Phlô-be; Lý Bạch, Xa-a-đi, Gớt, Ta-go tóc bạc vẫn “thu hoạch những mùa thơ dậy thì”.</a:t>
            </a:r>
          </a:p>
          <a:p>
            <a:pPr algn="l" marL="365760" indent="-365760">
              <a:spcAft>
                <a:spcPts val="800"/>
              </a:spcAft>
              <a:buClr>
                <a:srgbClr val="1E40AF"/>
              </a:buClr>
              <a:buFont typeface="Arial"/>
              <a:buChar char="•"/>
            </a:pPr>
            <a:r>
              <a:rPr sz="2300">
                <a:solidFill>
                  <a:srgbClr val="1E293B"/>
                </a:solidFill>
                <a:latin typeface="Calibri"/>
              </a:rPr>
              <a:t>Lí lẽ sắc sảo, bằng chứng tiêu biểu → thuyết phục.</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Làm thơ là lao động nghiêm túc, công phu.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30</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Giải thích ý nghĩa nhan đề. Bài viết giúp bạn hiểu thêm gì về hoạt động sáng tạo thơ ca?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Chức vị nhà thơ có phải suốt đời?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 BẦU LÊN NHÀ THƠ”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31</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Lời của nhà thơ Pháp Ét-mông Gia-bét: không có chức nhà thơ suốt đời.</a:t>
            </a:r>
          </a:p>
          <a:p>
            <a:pPr algn="l" marL="365760" indent="-365760">
              <a:spcAft>
                <a:spcPts val="800"/>
              </a:spcAft>
              <a:buClr>
                <a:srgbClr val="1E40AF"/>
              </a:buClr>
              <a:buFont typeface="Arial"/>
              <a:buChar char="•"/>
            </a:pPr>
            <a:r>
              <a:rPr sz="2300">
                <a:solidFill>
                  <a:srgbClr val="1E293B"/>
                </a:solidFill>
                <a:latin typeface="Calibri"/>
              </a:rPr>
              <a:t>Mỗi lần làm thơ, nhà thơ lại ứng cử trước “cử tri chữ”.</a:t>
            </a:r>
          </a:p>
          <a:p>
            <a:pPr algn="l" marL="365760" indent="-365760">
              <a:spcAft>
                <a:spcPts val="800"/>
              </a:spcAft>
              <a:buClr>
                <a:srgbClr val="1E40AF"/>
              </a:buClr>
              <a:buFont typeface="Arial"/>
              <a:buChar char="•"/>
            </a:pPr>
            <a:r>
              <a:rPr sz="2300">
                <a:solidFill>
                  <a:srgbClr val="1E293B"/>
                </a:solidFill>
                <a:latin typeface="Calibri"/>
              </a:rPr>
              <a:t>Danh hiệu nhà thơ do chất lượng chữ quyết định, không do danh tiếng.</a:t>
            </a:r>
          </a:p>
          <a:p>
            <a:pPr algn="l" marL="365760" indent="-365760">
              <a:spcAft>
                <a:spcPts val="800"/>
              </a:spcAft>
              <a:buClr>
                <a:srgbClr val="1E40AF"/>
              </a:buClr>
              <a:buFont typeface="Arial"/>
              <a:buChar char="•"/>
            </a:pPr>
            <a:r>
              <a:rPr sz="2300">
                <a:solidFill>
                  <a:srgbClr val="1E293B"/>
                </a:solidFill>
                <a:latin typeface="Calibri"/>
              </a:rPr>
              <a:t>Sáng tạo thơ đòi hỏi tìm tòi, cách tân, lao động chữ không ngừng.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Nhà thơ – “phu chữ” trên cánh đồng giấy.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31: THỰC HÀNH TIẾNG VIỆT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LỖI MẠCH LẠC VÀ LIÊN KẾT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b="1">
                <a:solidFill>
                  <a:srgbClr val="1E293B"/>
                </a:solidFill>
                <a:latin typeface="Calibri"/>
              </a:rPr>
              <a:t>Lỗi mạch lạc</a:t>
            </a:r>
            <a:r>
              <a:rPr sz="2400">
                <a:solidFill>
                  <a:srgbClr val="1E293B"/>
                </a:solidFill>
                <a:latin typeface="Calibri"/>
              </a:rPr>
              <a:t>: câu, đoạn không cùng hướng vào một chủ đề hoặc lạc khỏi chủ đề chung.</a:t>
            </a:r>
          </a:p>
          <a:p>
            <a:pPr algn="l" marL="365760" indent="-365760">
              <a:spcAft>
                <a:spcPts val="800"/>
              </a:spcAft>
              <a:buClr>
                <a:srgbClr val="1E40AF"/>
              </a:buClr>
              <a:buFont typeface="Arial"/>
              <a:buChar char="•"/>
            </a:pPr>
            <a:r>
              <a:rPr sz="2400">
                <a:solidFill>
                  <a:srgbClr val="1E293B"/>
                </a:solidFill>
                <a:latin typeface="Calibri"/>
              </a:rPr>
              <a:t>Sửa: xác định chủ đề; bỏ, sửa câu lạc ý; viết thêm câu phát triển chủ đề.</a:t>
            </a:r>
          </a:p>
          <a:p>
            <a:pPr algn="l" marL="365760" indent="-365760">
              <a:spcAft>
                <a:spcPts val="800"/>
              </a:spcAft>
              <a:buClr>
                <a:srgbClr val="1E40AF"/>
              </a:buClr>
              <a:buFont typeface="Arial"/>
              <a:buChar char="•"/>
            </a:pPr>
            <a:r>
              <a:rPr sz="2400" b="1">
                <a:solidFill>
                  <a:srgbClr val="1E293B"/>
                </a:solidFill>
                <a:latin typeface="Calibri"/>
              </a:rPr>
              <a:t>Lỗi liên kết</a:t>
            </a:r>
            <a:r>
              <a:rPr sz="2400">
                <a:solidFill>
                  <a:srgbClr val="1E293B"/>
                </a:solidFill>
                <a:latin typeface="Calibri"/>
              </a:rPr>
              <a:t>: thiếu phương tiện kết nối hoặc dùng sai (lặp, thế, nối).</a:t>
            </a:r>
          </a:p>
          <a:p>
            <a:pPr algn="l" marL="365760" indent="-365760">
              <a:spcAft>
                <a:spcPts val="800"/>
              </a:spcAft>
              <a:buClr>
                <a:srgbClr val="1E40AF"/>
              </a:buClr>
              <a:buFont typeface="Arial"/>
              <a:buChar char="•"/>
            </a:pPr>
            <a:r>
              <a:rPr sz="2400">
                <a:solidFill>
                  <a:srgbClr val="1E293B"/>
                </a:solidFill>
                <a:latin typeface="Calibri"/>
              </a:rPr>
              <a:t>Sửa: bổ sung, thay thế phương tiện kết nối; viết thêm câu nối.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34</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“Thay vì cầm một cuốn sách để đọc, nhiều người bây giờ chỉ biết lăm lăm trong tay một chiếc điện thoại thông minh. […] Nhưng họ hầu như đã vứt bỏ thói quen đọc sách. Nó tuy rất tiện lợi…” Chỉ ra lỗi và sửa.</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Từ “Nhưng” và đại từ “Nó” có hợp lí?</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CHỮA ĐOẠN VĂN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35</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“Nhưng” dùng sai quan hệ (ý sau là hệ quả, không đối lập).</a:t>
            </a:r>
          </a:p>
          <a:p>
            <a:pPr algn="l" marL="365760" indent="-365760">
              <a:spcAft>
                <a:spcPts val="800"/>
              </a:spcAft>
              <a:buClr>
                <a:srgbClr val="1E40AF"/>
              </a:buClr>
              <a:buFont typeface="Arial"/>
              <a:buChar char="•"/>
            </a:pPr>
            <a:r>
              <a:rPr sz="2300">
                <a:solidFill>
                  <a:srgbClr val="1E293B"/>
                </a:solidFill>
                <a:latin typeface="Calibri"/>
              </a:rPr>
              <a:t>“Nó” không rõ thay cho “điện thoại” hay “sách” → lỗi liên kết.</a:t>
            </a:r>
          </a:p>
          <a:p>
            <a:pPr algn="l" marL="365760" indent="-365760">
              <a:spcAft>
                <a:spcPts val="800"/>
              </a:spcAft>
              <a:buClr>
                <a:srgbClr val="1E40AF"/>
              </a:buClr>
              <a:buFont typeface="Arial"/>
              <a:buChar char="•"/>
            </a:pPr>
            <a:r>
              <a:rPr sz="2300">
                <a:solidFill>
                  <a:srgbClr val="1E293B"/>
                </a:solidFill>
                <a:latin typeface="Calibri"/>
              </a:rPr>
              <a:t>Sửa: “Vì thế, họ hầu như từ bỏ thói quen đọc sách. Chiếc điện thoại tuy rất tiện lợi… nhưng…”.</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Chọn đúng phương tiện liên kết theo quan hệ 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548640" y="2926080"/>
            <a:ext cx="164592" cy="1005840"/>
          </a:xfrm>
          <a:prstGeom prst="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515600" cy="1371600"/>
          </a:xfrm>
          <a:prstGeom prst="rect">
            <a:avLst/>
          </a:prstGeom>
          <a:noFill/>
        </p:spPr>
        <p:txBody>
          <a:bodyPr wrap="square" anchor="ctr" lIns="45720" rIns="45720">
            <a:spAutoFit/>
          </a:bodyPr>
          <a:lstStyle/>
          <a:p>
            <a:pPr algn="l">
              <a:spcAft>
                <a:spcPts val="800"/>
              </a:spcAft>
            </a:pPr>
            <a:r>
              <a:rPr sz="3600" b="1">
                <a:solidFill>
                  <a:srgbClr val="1E40AF"/>
                </a:solidFill>
                <a:latin typeface="Calibri"/>
              </a:rPr>
              <a:t>TIẾT 32 – 35: VIẾT – NÓI VÀ NGHE – ĐỌC MỞ RỘNG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GHI NHỚ</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LUẬN THUYẾT PHỤC TỪ BỎ MỘT THÓI QUEN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Nêu thói quen/quan niệm cần từ bỏ; xác lập vị thế người viết.</a:t>
            </a:r>
          </a:p>
          <a:p>
            <a:pPr algn="l" marL="365760" indent="-365760">
              <a:spcAft>
                <a:spcPts val="800"/>
              </a:spcAft>
              <a:buClr>
                <a:srgbClr val="1E40AF"/>
              </a:buClr>
              <a:buFont typeface="Arial"/>
              <a:buChar char="•"/>
            </a:pPr>
            <a:r>
              <a:rPr sz="2400">
                <a:solidFill>
                  <a:srgbClr val="1E293B"/>
                </a:solidFill>
                <a:latin typeface="Calibri"/>
              </a:rPr>
              <a:t>Chỉ ra biểu hiện, phân tích tác động tiêu cực với cá nhân, cộng đồng.</a:t>
            </a:r>
          </a:p>
          <a:p>
            <a:pPr algn="l" marL="365760" indent="-365760">
              <a:spcAft>
                <a:spcPts val="800"/>
              </a:spcAft>
              <a:buClr>
                <a:srgbClr val="1E40AF"/>
              </a:buClr>
              <a:buFont typeface="Arial"/>
              <a:buChar char="•"/>
            </a:pPr>
            <a:r>
              <a:rPr sz="2400">
                <a:solidFill>
                  <a:srgbClr val="1E293B"/>
                </a:solidFill>
                <a:latin typeface="Calibri"/>
              </a:rPr>
              <a:t>Đề xuất giải pháp; bày tỏ sự sẵn sàng hỗ trợ.</a:t>
            </a:r>
          </a:p>
          <a:p>
            <a:pPr algn="l" marL="365760" indent="-365760">
              <a:spcAft>
                <a:spcPts val="800"/>
              </a:spcAft>
              <a:buClr>
                <a:srgbClr val="1E40AF"/>
              </a:buClr>
              <a:buFont typeface="Arial"/>
              <a:buChar char="•"/>
            </a:pPr>
            <a:r>
              <a:rPr sz="2400">
                <a:solidFill>
                  <a:srgbClr val="1E293B"/>
                </a:solidFill>
                <a:latin typeface="Calibri"/>
              </a:rPr>
              <a:t>Giọng ân cần, cảm thông; tránh mệnh lệnh, lên lớp.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253167" y="457200"/>
            <a:ext cx="1389888"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ĐỀ BÀI</a:t>
            </a:r>
          </a:p>
        </p:txBody>
      </p:sp>
      <p:sp>
        <p:nvSpPr>
          <p:cNvPr id="4" name="TextBox 3"/>
          <p:cNvSpPr txBox="1"/>
          <p:nvPr/>
        </p:nvSpPr>
        <p:spPr>
          <a:xfrm>
            <a:off x="731520" y="274320"/>
            <a:ext cx="9582912"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38</a:t>
            </a:r>
          </a:p>
        </p:txBody>
      </p:sp>
      <p:sp>
        <p:nvSpPr>
          <p:cNvPr id="7" name="TextBox 6"/>
          <p:cNvSpPr txBox="1"/>
          <p:nvPr/>
        </p:nvSpPr>
        <p:spPr>
          <a:xfrm>
            <a:off x="731520" y="1463040"/>
            <a:ext cx="10789920" cy="3566160"/>
          </a:xfrm>
          <a:prstGeom prst="rect">
            <a:avLst/>
          </a:prstGeom>
          <a:noFill/>
        </p:spPr>
        <p:txBody>
          <a:bodyPr wrap="square" anchor="t" lIns="45720" rIns="45720">
            <a:spAutoFit/>
          </a:bodyPr>
          <a:lstStyle/>
          <a:p>
            <a:pPr algn="l">
              <a:spcAft>
                <a:spcPts val="800"/>
              </a:spcAft>
            </a:pPr>
            <a:r>
              <a:rPr sz="2600" b="1">
                <a:solidFill>
                  <a:srgbClr val="1E293B"/>
                </a:solidFill>
                <a:latin typeface="Calibri"/>
              </a:rPr>
              <a:t>Viết bài luận thuyết phục một người bạn từ bỏ thói quen không chuẩn bị bài trước khi đến lớp.</a:t>
            </a:r>
          </a:p>
        </p:txBody>
      </p:sp>
      <p:sp>
        <p:nvSpPr>
          <p:cNvPr id="8" name="Rounded Rectangle 7"/>
          <p:cNvSpPr/>
          <p:nvPr/>
        </p:nvSpPr>
        <p:spPr>
          <a:xfrm>
            <a:off x="731520" y="5120640"/>
            <a:ext cx="10789920" cy="693420"/>
          </a:xfrm>
          <a:prstGeom prst="roundRect">
            <a:avLst>
              <a:gd name="adj" fmla="val 8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93420"/>
          </a:xfrm>
          <a:prstGeom prst="rect">
            <a:avLst/>
          </a:prstGeom>
          <a:noFill/>
        </p:spPr>
        <p:txBody>
          <a:bodyPr wrap="square" anchor="ctr" lIns="45720" rIns="45720">
            <a:spAutoFit/>
          </a:bodyPr>
          <a:lstStyle/>
          <a:p>
            <a:pPr algn="l">
              <a:spcAft>
                <a:spcPts val="400"/>
              </a:spcAft>
            </a:pPr>
            <a:r>
              <a:rPr sz="2200" b="1">
                <a:solidFill>
                  <a:srgbClr val="1E40AF"/>
                </a:solidFill>
                <a:latin typeface="Calibri"/>
              </a:rPr>
              <a:t>💡 Hình dung cụ thể người bạn đang nghe mình nói.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942271" y="457200"/>
            <a:ext cx="1700784"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LỜI GIẢI</a:t>
            </a:r>
          </a:p>
        </p:txBody>
      </p:sp>
      <p:sp>
        <p:nvSpPr>
          <p:cNvPr id="4" name="TextBox 3"/>
          <p:cNvSpPr txBox="1"/>
          <p:nvPr/>
        </p:nvSpPr>
        <p:spPr>
          <a:xfrm>
            <a:off x="731520" y="274320"/>
            <a:ext cx="9272016" cy="868680"/>
          </a:xfrm>
          <a:prstGeom prst="rect">
            <a:avLst/>
          </a:prstGeom>
          <a:noFill/>
        </p:spPr>
        <p:txBody>
          <a:bodyPr wrap="square" anchor="ctr">
            <a:spAutoFit/>
          </a:bodyPr>
          <a:lstStyle/>
          <a:p>
            <a:r>
              <a:rPr sz="3600" b="1">
                <a:solidFill>
                  <a:srgbClr val="1E40AF"/>
                </a:solidFill>
                <a:latin typeface="Arial"/>
              </a:rPr>
              <a:t>ĐỀ THỰC HÀNH VIẾT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39</a:t>
            </a:r>
          </a:p>
        </p:txBody>
      </p:sp>
      <p:sp>
        <p:nvSpPr>
          <p:cNvPr id="7" name="TextBox 6"/>
          <p:cNvSpPr txBox="1"/>
          <p:nvPr/>
        </p:nvSpPr>
        <p:spPr>
          <a:xfrm>
            <a:off x="731520" y="1463040"/>
            <a:ext cx="10789920" cy="34747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300">
                <a:solidFill>
                  <a:srgbClr val="1E293B"/>
                </a:solidFill>
                <a:latin typeface="Calibri"/>
              </a:rPr>
              <a:t>MB: nêu thói quen, vị thế người bạn cùng lớp.</a:t>
            </a:r>
          </a:p>
          <a:p>
            <a:pPr algn="l" marL="365760" indent="-365760">
              <a:spcAft>
                <a:spcPts val="800"/>
              </a:spcAft>
              <a:buClr>
                <a:srgbClr val="1E40AF"/>
              </a:buClr>
              <a:buFont typeface="Arial"/>
              <a:buChar char="•"/>
            </a:pPr>
            <a:r>
              <a:rPr sz="2300">
                <a:solidFill>
                  <a:srgbClr val="1E293B"/>
                </a:solidFill>
                <a:latin typeface="Calibri"/>
              </a:rPr>
              <a:t>TB: biểu hiện → tác hại (học hổng kiến thức, mất tự tin, ảnh hưởng nhóm).</a:t>
            </a:r>
          </a:p>
          <a:p>
            <a:pPr algn="l" marL="365760" indent="-365760">
              <a:spcAft>
                <a:spcPts val="800"/>
              </a:spcAft>
              <a:buClr>
                <a:srgbClr val="1E40AF"/>
              </a:buClr>
              <a:buFont typeface="Arial"/>
              <a:buChar char="•"/>
            </a:pPr>
            <a:r>
              <a:rPr sz="2300">
                <a:solidFill>
                  <a:srgbClr val="1E293B"/>
                </a:solidFill>
                <a:latin typeface="Calibri"/>
              </a:rPr>
              <a:t>Giải pháp: lập thời gian biểu, học nhóm; mình sẵn sàng giúp.</a:t>
            </a:r>
          </a:p>
          <a:p>
            <a:pPr algn="l" marL="365760" indent="-365760">
              <a:spcAft>
                <a:spcPts val="800"/>
              </a:spcAft>
              <a:buClr>
                <a:srgbClr val="1E40AF"/>
              </a:buClr>
              <a:buFont typeface="Arial"/>
              <a:buChar char="•"/>
            </a:pPr>
            <a:r>
              <a:rPr sz="2300">
                <a:solidFill>
                  <a:srgbClr val="1E293B"/>
                </a:solidFill>
                <a:latin typeface="Calibri"/>
              </a:rPr>
              <a:t>KB: ý nghĩa của việc thay đổi.</a:t>
            </a:r>
          </a:p>
        </p:txBody>
      </p:sp>
      <p:sp>
        <p:nvSpPr>
          <p:cNvPr id="8" name="Rounded Rectangle 7"/>
          <p:cNvSpPr/>
          <p:nvPr/>
        </p:nvSpPr>
        <p:spPr>
          <a:xfrm>
            <a:off x="731520" y="5074920"/>
            <a:ext cx="10789920" cy="731520"/>
          </a:xfrm>
          <a:prstGeom prst="roundRect">
            <a:avLst>
              <a:gd name="adj" fmla="val 8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074920"/>
            <a:ext cx="10424160" cy="731520"/>
          </a:xfrm>
          <a:prstGeom prst="rect">
            <a:avLst/>
          </a:prstGeom>
          <a:noFill/>
        </p:spPr>
        <p:txBody>
          <a:bodyPr wrap="square" anchor="ctr" lIns="45720" rIns="45720">
            <a:spAutoFit/>
          </a:bodyPr>
          <a:lstStyle/>
          <a:p>
            <a:pPr algn="l">
              <a:spcAft>
                <a:spcPts val="400"/>
              </a:spcAft>
            </a:pPr>
            <a:r>
              <a:rPr sz="2400" b="1">
                <a:solidFill>
                  <a:srgbClr val="991B1B"/>
                </a:solidFill>
                <a:latin typeface="Calibri"/>
              </a:rPr>
              <a:t>Lí lẽ + cảm thông + giải pháp khả thi.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40</a:t>
            </a:r>
          </a:p>
        </p:txBody>
      </p:sp>
      <p:pic>
        <p:nvPicPr>
          <p:cNvPr id="7" name="Picture 6" descr="SoDoTuDuy_NGUVAN10_Bai3_NgheThuatThuyetPhucTrongVanNghiLuan_T23-35.png"/>
          <p:cNvPicPr>
            <a:picLocks noChangeAspect="1"/>
          </p:cNvPicPr>
          <p:nvPr/>
        </p:nvPicPr>
        <p:blipFill>
          <a:blip r:embed="rId2"/>
          <a:stretch>
            <a:fillRect/>
          </a:stretch>
        </p:blipFill>
        <p:spPr>
          <a:xfrm>
            <a:off x="1788855" y="1371600"/>
            <a:ext cx="8675250" cy="484632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097719" y="457200"/>
            <a:ext cx="154533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1400" b="1">
                <a:solidFill>
                  <a:srgbClr val="FFFFFF"/>
                </a:solidFill>
                <a:latin typeface="Arial"/>
              </a:rPr>
              <a:t>CỦNG CỐ</a:t>
            </a:r>
          </a:p>
        </p:txBody>
      </p:sp>
      <p:sp>
        <p:nvSpPr>
          <p:cNvPr id="4" name="TextBox 3"/>
          <p:cNvSpPr txBox="1"/>
          <p:nvPr/>
        </p:nvSpPr>
        <p:spPr>
          <a:xfrm>
            <a:off x="731520" y="274320"/>
            <a:ext cx="9427464" cy="868680"/>
          </a:xfrm>
          <a:prstGeom prst="rect">
            <a:avLst/>
          </a:prstGeom>
          <a:noFill/>
        </p:spPr>
        <p:txBody>
          <a:bodyPr wrap="square" anchor="ctr">
            <a:spAutoFit/>
          </a:bodyPr>
          <a:lstStyle/>
          <a:p>
            <a:r>
              <a:rPr sz="3600" b="1">
                <a:solidFill>
                  <a:srgbClr val="1E40AF"/>
                </a:solidFill>
                <a:latin typeface="Arial"/>
              </a:rPr>
              <a:t>BÀI TẬP CỦA BẠN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Ngữ văn 10 · Bài 3: Nghệ Thuật Thuyết Phục Trong Văn Nghị Luận          41</a:t>
            </a:r>
          </a:p>
        </p:txBody>
      </p:sp>
      <p:pic>
        <p:nvPicPr>
          <p:cNvPr id="7" name="Picture 6" descr="QR_van_cc_bai3_k10.png"/>
          <p:cNvPicPr>
            <a:picLocks noChangeAspect="1"/>
          </p:cNvPicPr>
          <p:nvPr/>
        </p:nvPicPr>
        <p:blipFill>
          <a:blip r:embed="rId2"/>
          <a:stretch>
            <a:fillRect/>
          </a:stretch>
        </p:blipFill>
        <p:spPr>
          <a:xfrm>
            <a:off x="1920240" y="1463040"/>
            <a:ext cx="3017520" cy="3017520"/>
          </a:xfrm>
          <a:prstGeom prst="rect">
            <a:avLst/>
          </a:prstGeom>
        </p:spPr>
      </p:pic>
      <p:sp>
        <p:nvSpPr>
          <p:cNvPr id="8" name="TextBox 7"/>
          <p:cNvSpPr txBox="1"/>
          <p:nvPr/>
        </p:nvSpPr>
        <p:spPr>
          <a:xfrm>
            <a:off x="73152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Hiền tài…, Yêu và đồng cảm</a:t>
            </a:r>
          </a:p>
          <a:p>
            <a:pPr algn="ctr">
              <a:spcAft>
                <a:spcPts val="800"/>
              </a:spcAft>
            </a:pPr>
            <a:r>
              <a:rPr sz="1400">
                <a:solidFill>
                  <a:srgbClr val="64748B"/>
                </a:solidFill>
                <a:latin typeface="Calibri"/>
              </a:rPr>
              <a:t>trangtu66.github.io/Taode_thi_online/van_cc_bai3_k10.html</a:t>
            </a:r>
          </a:p>
        </p:txBody>
      </p:sp>
      <p:pic>
        <p:nvPicPr>
          <p:cNvPr id="9" name="Picture 8" descr="QR_van_cc_chubaulen_k10.png"/>
          <p:cNvPicPr>
            <a:picLocks noChangeAspect="1"/>
          </p:cNvPicPr>
          <p:nvPr/>
        </p:nvPicPr>
        <p:blipFill>
          <a:blip r:embed="rId3"/>
          <a:stretch>
            <a:fillRect/>
          </a:stretch>
        </p:blipFill>
        <p:spPr>
          <a:xfrm>
            <a:off x="7315200" y="1463040"/>
            <a:ext cx="3017520" cy="3017520"/>
          </a:xfrm>
          <a:prstGeom prst="rect">
            <a:avLst/>
          </a:prstGeom>
        </p:spPr>
      </p:pic>
      <p:sp>
        <p:nvSpPr>
          <p:cNvPr id="10" name="TextBox 9"/>
          <p:cNvSpPr txBox="1"/>
          <p:nvPr/>
        </p:nvSpPr>
        <p:spPr>
          <a:xfrm>
            <a:off x="6126480" y="4572000"/>
            <a:ext cx="5394960" cy="1463040"/>
          </a:xfrm>
          <a:prstGeom prst="rect">
            <a:avLst/>
          </a:prstGeom>
          <a:noFill/>
        </p:spPr>
        <p:txBody>
          <a:bodyPr wrap="square" anchor="t" lIns="45720" rIns="45720">
            <a:spAutoFit/>
          </a:bodyPr>
          <a:lstStyle/>
          <a:p>
            <a:pPr algn="ctr">
              <a:spcAft>
                <a:spcPts val="800"/>
              </a:spcAft>
            </a:pPr>
            <a:r>
              <a:rPr sz="2000" b="1">
                <a:solidFill>
                  <a:srgbClr val="1E293B"/>
                </a:solidFill>
                <a:latin typeface="Calibri"/>
              </a:rPr>
              <a:t>Củng cố – Chữ bầu lên nhà thơ</a:t>
            </a:r>
          </a:p>
          <a:p>
            <a:pPr algn="ctr">
              <a:spcAft>
                <a:spcPts val="800"/>
              </a:spcAft>
            </a:pPr>
            <a:r>
              <a:rPr sz="1400">
                <a:solidFill>
                  <a:srgbClr val="64748B"/>
                </a:solidFill>
                <a:latin typeface="Calibri"/>
              </a:rPr>
              <a:t>trangtu66.github.io/Taode_thi_online/van_cc_chubaulen_k10.html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