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nêu mục tiêu; HS ghi vào vở. Nhắc HS chuẩn bị điện thoại để làm bài củng cố cuối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vào đường link hoặc quét mã QR để mở video (cần Internet). Video khoảng 2,5 phút.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tr.74.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Bấm vào đường link hoặc quét mã QR để mở video (cần Internet). Video dài khoảng 15 phút – GV chiếu trích đoạn hoặc giao xem ở nhà.</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tr.77.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Trước khi đọc SGK tr.82.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ĐỀ BÀI – cho HS suy nghĩ, thảo luận (không chiếu lời giải).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LỜI GIẢI – GV chốt sau khi HS trình bày.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youtube.com/watch?v=t7Iebj6R_sg" TargetMode="Externa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youtube.com/watch?v=wk5hcMymviE" TargetMode="External"/><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2011680"/>
            <a:ext cx="12191695" cy="23774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2011680"/>
          </a:xfrm>
          <a:prstGeom prst="rect">
            <a:avLst/>
          </a:prstGeom>
          <a:noFill/>
        </p:spPr>
        <p:txBody>
          <a:bodyPr wrap="square" anchor="ctr" lIns="45720" rIns="45720">
            <a:spAutoFit/>
          </a:bodyPr>
          <a:lstStyle/>
          <a:p>
            <a:pPr algn="ctr">
              <a:spcAft>
                <a:spcPts val="800"/>
              </a:spcAft>
            </a:pPr>
            <a:r>
              <a:rPr sz="4000" b="1">
                <a:solidFill>
                  <a:srgbClr val="FFFFFF"/>
                </a:solidFill>
                <a:latin typeface="Calibri"/>
              </a:rPr>
              <a:t>BÀI 3: NGHỆ THUẬT THUYẾT PHỤC TRONG VĂN NGHỊ LUẬN</a:t>
            </a:r>
          </a:p>
          <a:p>
            <a:pPr algn="ctr">
              <a:spcAft>
                <a:spcPts val="800"/>
              </a:spcAft>
            </a:pPr>
            <a:r>
              <a:rPr sz="2400">
                <a:solidFill>
                  <a:srgbClr val="FFFFFF"/>
                </a:solidFill>
                <a:latin typeface="Calibri"/>
              </a:rPr>
              <a:t>Ngữ văn 10 – Kết nối tri thức với cuộc sống · 11 tiết</a:t>
            </a:r>
          </a:p>
        </p:txBody>
      </p:sp>
      <p:sp>
        <p:nvSpPr>
          <p:cNvPr id="4" name="TextBox 3"/>
          <p:cNvSpPr txBox="1"/>
          <p:nvPr/>
        </p:nvSpPr>
        <p:spPr>
          <a:xfrm>
            <a:off x="731520" y="4846320"/>
            <a:ext cx="10698480" cy="914400"/>
          </a:xfrm>
          <a:prstGeom prst="rect">
            <a:avLst/>
          </a:prstGeom>
          <a:noFill/>
        </p:spPr>
        <p:txBody>
          <a:bodyPr wrap="square" anchor="t" lIns="45720" rIns="45720">
            <a:spAutoFit/>
          </a:bodyPr>
          <a:lstStyle/>
          <a:p>
            <a:pPr algn="l">
              <a:spcAft>
                <a:spcPts val="800"/>
              </a:spcAft>
            </a:pPr>
            <a:r>
              <a:rPr sz="2000">
                <a:solidFill>
                  <a:srgbClr val="64748B"/>
                </a:solidFill>
                <a:latin typeface="Calibri"/>
              </a:rPr>
              <a:t>Trường THPT – Tổ Ngữ văn – Tiếng Anh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MỤC TIÊU</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Nhận biết, phân tích luận đề, luận điểm, lí lẽ, bằng chứng tiêu biểu và mối quan hệ giữa chúng.</a:t>
            </a:r>
          </a:p>
          <a:p>
            <a:pPr algn="l" marL="365760" indent="-365760">
              <a:spcAft>
                <a:spcPts val="800"/>
              </a:spcAft>
              <a:buClr>
                <a:srgbClr val="1E40AF"/>
              </a:buClr>
              <a:buFont typeface="Arial"/>
              <a:buChar char="•"/>
            </a:pPr>
            <a:r>
              <a:rPr sz="2200">
                <a:solidFill>
                  <a:srgbClr val="1E293B"/>
                </a:solidFill>
                <a:latin typeface="Calibri"/>
              </a:rPr>
              <a:t>Xác định ý nghĩa văn bản; nhận biết mục đích, quan điểm của người viết.</a:t>
            </a:r>
          </a:p>
          <a:p>
            <a:pPr algn="l" marL="365760" indent="-365760">
              <a:spcAft>
                <a:spcPts val="800"/>
              </a:spcAft>
              <a:buClr>
                <a:srgbClr val="1E40AF"/>
              </a:buClr>
              <a:buFont typeface="Arial"/>
              <a:buChar char="•"/>
            </a:pPr>
            <a:r>
              <a:rPr sz="2200">
                <a:solidFill>
                  <a:srgbClr val="1E293B"/>
                </a:solidFill>
                <a:latin typeface="Calibri"/>
              </a:rPr>
              <a:t>Nhận ra và khắc phục lỗi về mạch lạc, liên kết trong đoạn văn, văn bản.</a:t>
            </a:r>
          </a:p>
          <a:p>
            <a:pPr algn="l" marL="365760" indent="-365760">
              <a:spcAft>
                <a:spcPts val="800"/>
              </a:spcAft>
              <a:buClr>
                <a:srgbClr val="1E40AF"/>
              </a:buClr>
              <a:buFont typeface="Arial"/>
              <a:buChar char="•"/>
            </a:pPr>
            <a:r>
              <a:rPr sz="2200">
                <a:solidFill>
                  <a:srgbClr val="1E293B"/>
                </a:solidFill>
                <a:latin typeface="Calibri"/>
              </a:rPr>
              <a:t>Viết bài luận thuyết phục người khác từ bỏ một thói quen hay một quan niệm.</a:t>
            </a:r>
          </a:p>
          <a:p>
            <a:pPr algn="l" marL="365760" indent="-365760">
              <a:spcAft>
                <a:spcPts val="800"/>
              </a:spcAft>
              <a:buClr>
                <a:srgbClr val="1E40AF"/>
              </a:buClr>
              <a:buFont typeface="Arial"/>
              <a:buChar char="•"/>
            </a:pPr>
            <a:r>
              <a:rPr sz="2200">
                <a:solidFill>
                  <a:srgbClr val="1E293B"/>
                </a:solidFill>
                <a:latin typeface="Calibri"/>
              </a:rPr>
              <a:t>Thảo luận về một vấn đề xã hội có những ý kiến khác nhau.</a:t>
            </a:r>
          </a:p>
          <a:p>
            <a:pPr algn="l" marL="365760" indent="-365760">
              <a:spcAft>
                <a:spcPts val="800"/>
              </a:spcAft>
              <a:buClr>
                <a:srgbClr val="1E40AF"/>
              </a:buClr>
              <a:buFont typeface="Arial"/>
              <a:buChar char="•"/>
            </a:pPr>
            <a:r>
              <a:rPr sz="2200">
                <a:solidFill>
                  <a:srgbClr val="1E293B"/>
                </a:solidFill>
                <a:latin typeface="Calibri"/>
              </a:rPr>
              <a:t>Quý trọng hiền tài, biết đồng cảm với người khác và sống có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23 – 24: HIỀN TÀI LÀ NGUYÊN KHÍ CỦA QUỐC GIA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08615" y="457200"/>
            <a:ext cx="1234440"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VIDEO</a:t>
            </a:r>
          </a:p>
        </p:txBody>
      </p:sp>
      <p:sp>
        <p:nvSpPr>
          <p:cNvPr id="4" name="TextBox 3"/>
          <p:cNvSpPr txBox="1"/>
          <p:nvPr/>
        </p:nvSpPr>
        <p:spPr>
          <a:xfrm>
            <a:off x="731520" y="274320"/>
            <a:ext cx="9738360" cy="868680"/>
          </a:xfrm>
          <a:prstGeom prst="rect">
            <a:avLst/>
          </a:prstGeom>
          <a:noFill/>
        </p:spPr>
        <p:txBody>
          <a:bodyPr wrap="square" anchor="ctr">
            <a:spAutoFit/>
          </a:bodyPr>
          <a:lstStyle/>
          <a:p>
            <a:r>
              <a:rPr sz="3600" b="1">
                <a:solidFill>
                  <a:srgbClr val="1E40AF"/>
                </a:solidFill>
                <a:latin typeface="Arial"/>
              </a:rPr>
              <a:t>VIDEO THAM KHẢO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4</a:t>
            </a:r>
          </a:p>
        </p:txBody>
      </p:sp>
      <p:pic>
        <p:nvPicPr>
          <p:cNvPr id="7" name="Picture 6" descr="QR_video_t7Iebj6R_sg.png"/>
          <p:cNvPicPr>
            <a:picLocks noChangeAspect="1"/>
          </p:cNvPicPr>
          <p:nvPr/>
        </p:nvPicPr>
        <p:blipFill>
          <a:blip r:embed="rId2"/>
          <a:stretch>
            <a:fillRect/>
          </a:stretch>
        </p:blipFill>
        <p:spPr>
          <a:xfrm>
            <a:off x="8412480" y="1554480"/>
            <a:ext cx="3108960" cy="3108960"/>
          </a:xfrm>
          <a:prstGeom prst="rect">
            <a:avLst/>
          </a:prstGeom>
        </p:spPr>
      </p:pic>
      <p:sp>
        <p:nvSpPr>
          <p:cNvPr id="8" name="TextBox 7"/>
          <p:cNvSpPr txBox="1"/>
          <p:nvPr/>
        </p:nvSpPr>
        <p:spPr>
          <a:xfrm>
            <a:off x="731520" y="1554480"/>
            <a:ext cx="7498079" cy="420624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 Khi công nghệ “đánh thức” di sản tại Văn Miếu – Quốc Tử Giám</a:t>
            </a:r>
          </a:p>
          <a:p>
            <a:pPr algn="l">
              <a:spcAft>
                <a:spcPts val="800"/>
              </a:spcAft>
            </a:pPr>
            <a:r>
              <a:rPr sz="2000">
                <a:solidFill>
                  <a:srgbClr val="64748B"/>
                </a:solidFill>
                <a:latin typeface="Calibri"/>
              </a:rPr>
              <a:t>Kênh: VTV24</a:t>
            </a:r>
          </a:p>
          <a:p>
            <a:pPr algn="l" marL="365760" indent="-365760">
              <a:spcAft>
                <a:spcPts val="800"/>
              </a:spcAft>
              <a:buClr>
                <a:srgbClr val="1E40AF"/>
              </a:buClr>
              <a:buFont typeface="Arial"/>
              <a:buChar char="•"/>
            </a:pPr>
            <a:r>
              <a:rPr sz="2000">
                <a:solidFill>
                  <a:srgbClr val="1E293B"/>
                </a:solidFill>
                <a:latin typeface="Calibri"/>
              </a:rPr>
              <a:t>Khởi động: hình ảnh bia tiến sĩ, Văn Miếu – Quốc Tử Giám</a:t>
            </a:r>
          </a:p>
          <a:p>
            <a:pPr algn="l">
              <a:spcAft>
                <a:spcPts val="800"/>
              </a:spcAft>
            </a:pPr>
            <a:r>
              <a:rPr sz="1600">
                <a:solidFill>
                  <a:srgbClr val="64748B"/>
                </a:solidFill>
                <a:latin typeface="Calibri"/>
                <a:hlinkClick r:id="rId3"/>
              </a:rPr>
              <a:t>https://www.youtube.com/watch?v=t7Iebj6R_sg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KHỞI ĐỘNG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5</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Bạn nghĩ gì khi nhìn thấy những hàng bia tiến sĩ ở Văn Miếu – Quốc Tử Giám?</a:t>
            </a:r>
          </a:p>
          <a:p>
            <a:pPr algn="l">
              <a:spcAft>
                <a:spcPts val="800"/>
              </a:spcAft>
            </a:pPr>
            <a:r>
              <a:rPr sz="2600" b="1">
                <a:solidFill>
                  <a:srgbClr val="1E293B"/>
                </a:solidFill>
                <a:latin typeface="Calibri"/>
              </a:rPr>
              <a:t>Bạn đã thấy, đã nghe câu “Hiền tài là nguyên khí của quốc gia” ở đâu?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08615" y="457200"/>
            <a:ext cx="1234440"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VIDEO</a:t>
            </a:r>
          </a:p>
        </p:txBody>
      </p:sp>
      <p:sp>
        <p:nvSpPr>
          <p:cNvPr id="4" name="TextBox 3"/>
          <p:cNvSpPr txBox="1"/>
          <p:nvPr/>
        </p:nvSpPr>
        <p:spPr>
          <a:xfrm>
            <a:off x="731520" y="274320"/>
            <a:ext cx="9738360" cy="868680"/>
          </a:xfrm>
          <a:prstGeom prst="rect">
            <a:avLst/>
          </a:prstGeom>
          <a:noFill/>
        </p:spPr>
        <p:txBody>
          <a:bodyPr wrap="square" anchor="ctr">
            <a:spAutoFit/>
          </a:bodyPr>
          <a:lstStyle/>
          <a:p>
            <a:r>
              <a:rPr sz="3600" b="1">
                <a:solidFill>
                  <a:srgbClr val="1E40AF"/>
                </a:solidFill>
                <a:latin typeface="Arial"/>
              </a:rPr>
              <a:t>VIDEO THAM KHẢO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6</a:t>
            </a:r>
          </a:p>
        </p:txBody>
      </p:sp>
      <p:pic>
        <p:nvPicPr>
          <p:cNvPr id="7" name="Picture 6" descr="QR_video_wk5hcMymviE.png"/>
          <p:cNvPicPr>
            <a:picLocks noChangeAspect="1"/>
          </p:cNvPicPr>
          <p:nvPr/>
        </p:nvPicPr>
        <p:blipFill>
          <a:blip r:embed="rId2"/>
          <a:stretch>
            <a:fillRect/>
          </a:stretch>
        </p:blipFill>
        <p:spPr>
          <a:xfrm>
            <a:off x="8412480" y="1554480"/>
            <a:ext cx="3108960" cy="3108960"/>
          </a:xfrm>
          <a:prstGeom prst="rect">
            <a:avLst/>
          </a:prstGeom>
        </p:spPr>
      </p:pic>
      <p:sp>
        <p:nvSpPr>
          <p:cNvPr id="8" name="TextBox 7"/>
          <p:cNvSpPr txBox="1"/>
          <p:nvPr/>
        </p:nvSpPr>
        <p:spPr>
          <a:xfrm>
            <a:off x="731520" y="1554480"/>
            <a:ext cx="7498079" cy="420624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 Thân Nhân Trung – Nguyên khí quốc gia (Danh nhân Thăng Long – Hà Nội)</a:t>
            </a:r>
          </a:p>
          <a:p>
            <a:pPr algn="l">
              <a:spcAft>
                <a:spcPts val="800"/>
              </a:spcAft>
            </a:pPr>
            <a:r>
              <a:rPr sz="2000">
                <a:solidFill>
                  <a:srgbClr val="64748B"/>
                </a:solidFill>
                <a:latin typeface="Calibri"/>
              </a:rPr>
              <a:t>Kênh: HTV – Đài Hà Nội</a:t>
            </a:r>
          </a:p>
          <a:p>
            <a:pPr algn="l" marL="365760" indent="-365760">
              <a:spcAft>
                <a:spcPts val="800"/>
              </a:spcAft>
              <a:buClr>
                <a:srgbClr val="1E40AF"/>
              </a:buClr>
              <a:buFont typeface="Arial"/>
              <a:buChar char="•"/>
            </a:pPr>
            <a:r>
              <a:rPr sz="2000">
                <a:solidFill>
                  <a:srgbClr val="1E293B"/>
                </a:solidFill>
                <a:latin typeface="Calibri"/>
              </a:rPr>
              <a:t>Tìm hiểu tác giả Thân Nhân Trung (Hiền tài là nguyên khí của quốc gia)</a:t>
            </a:r>
          </a:p>
          <a:p>
            <a:pPr algn="l">
              <a:spcAft>
                <a:spcPts val="800"/>
              </a:spcAft>
            </a:pPr>
            <a:r>
              <a:rPr sz="1600">
                <a:solidFill>
                  <a:srgbClr val="64748B"/>
                </a:solidFill>
                <a:latin typeface="Calibri"/>
                <a:hlinkClick r:id="rId3"/>
              </a:rPr>
              <a:t>https://www.youtube.com/watch?v=wk5hcMymviE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GHI NHỚ</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TRI THỨC NGỮ VĂN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Văn bản nghị luận</a:t>
            </a:r>
            <a:r>
              <a:rPr sz="2400">
                <a:solidFill>
                  <a:srgbClr val="1E293B"/>
                </a:solidFill>
                <a:latin typeface="Calibri"/>
              </a:rPr>
              <a:t>: thuyết phục bằng hệ thống luận điểm, lí lẽ, bằng chứng chặt chẽ.</a:t>
            </a:r>
          </a:p>
          <a:p>
            <a:pPr algn="l" marL="365760" indent="-365760">
              <a:spcAft>
                <a:spcPts val="800"/>
              </a:spcAft>
              <a:buClr>
                <a:srgbClr val="1E40AF"/>
              </a:buClr>
              <a:buFont typeface="Arial"/>
              <a:buChar char="•"/>
            </a:pPr>
            <a:r>
              <a:rPr sz="2400" b="1">
                <a:solidFill>
                  <a:srgbClr val="1E293B"/>
                </a:solidFill>
                <a:latin typeface="Calibri"/>
              </a:rPr>
              <a:t>Luận đề</a:t>
            </a:r>
            <a:r>
              <a:rPr sz="2400">
                <a:solidFill>
                  <a:srgbClr val="1E293B"/>
                </a:solidFill>
                <a:latin typeface="Calibri"/>
              </a:rPr>
              <a:t>: vấn đề được tập trung bàn luận, thường thể hiện ở nhan đề.</a:t>
            </a:r>
          </a:p>
          <a:p>
            <a:pPr algn="l" marL="365760" indent="-365760">
              <a:spcAft>
                <a:spcPts val="800"/>
              </a:spcAft>
              <a:buClr>
                <a:srgbClr val="1E40AF"/>
              </a:buClr>
              <a:buFont typeface="Arial"/>
              <a:buChar char="•"/>
            </a:pPr>
            <a:r>
              <a:rPr sz="2400" b="1">
                <a:solidFill>
                  <a:srgbClr val="1E293B"/>
                </a:solidFill>
                <a:latin typeface="Calibri"/>
              </a:rPr>
              <a:t>Luận điểm</a:t>
            </a:r>
            <a:r>
              <a:rPr sz="2400">
                <a:solidFill>
                  <a:srgbClr val="1E293B"/>
                </a:solidFill>
                <a:latin typeface="Calibri"/>
              </a:rPr>
              <a:t>: ý kiến khái quát thể hiện quan điểm của tác giả về luận đề.</a:t>
            </a:r>
          </a:p>
          <a:p>
            <a:pPr algn="l" marL="365760" indent="-365760">
              <a:spcAft>
                <a:spcPts val="800"/>
              </a:spcAft>
              <a:buClr>
                <a:srgbClr val="1E40AF"/>
              </a:buClr>
              <a:buFont typeface="Arial"/>
              <a:buChar char="•"/>
            </a:pPr>
            <a:r>
              <a:rPr sz="2400" b="1">
                <a:solidFill>
                  <a:srgbClr val="1E293B"/>
                </a:solidFill>
                <a:latin typeface="Calibri"/>
              </a:rPr>
              <a:t>Lí lẽ, bằng chứng</a:t>
            </a:r>
            <a:r>
              <a:rPr sz="2400">
                <a:solidFill>
                  <a:srgbClr val="1E293B"/>
                </a:solidFill>
                <a:latin typeface="Calibri"/>
              </a:rPr>
              <a:t> (luận cứ): làm sáng tỏ, vững vàng luận điểm.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THÁI ĐỘ TRỌNG DỤNG HIỀN TÀI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Tìm trong đoạn 2 những từ ngữ thể hiện thái độ trọng dụng hiền tài của “các đấng thánh đế minh vương”.</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Các vị vua đã ban ân gì cho kẻ sĩ?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THÁI ĐỘ TRỌNG DỤNG HIỀN TÀI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Bồi dưỡng nhân tài, kén chọn kẻ sĩ, vun trồng nguyên khí – “làm việc đầu tiên”.</a:t>
            </a:r>
          </a:p>
          <a:p>
            <a:pPr algn="l" marL="365760" indent="-365760">
              <a:spcAft>
                <a:spcPts val="800"/>
              </a:spcAft>
              <a:buClr>
                <a:srgbClr val="1E40AF"/>
              </a:buClr>
              <a:buFont typeface="Arial"/>
              <a:buChar char="•"/>
            </a:pPr>
            <a:r>
              <a:rPr sz="2300">
                <a:solidFill>
                  <a:srgbClr val="1E293B"/>
                </a:solidFill>
                <a:latin typeface="Calibri"/>
              </a:rPr>
              <a:t>Quý chuộng kẻ sĩ “không biết thế nào là cùng”.</a:t>
            </a:r>
          </a:p>
          <a:p>
            <a:pPr algn="l" marL="365760" indent="-365760">
              <a:spcAft>
                <a:spcPts val="800"/>
              </a:spcAft>
              <a:buClr>
                <a:srgbClr val="1E40AF"/>
              </a:buClr>
              <a:buFont typeface="Arial"/>
              <a:buChar char="•"/>
            </a:pPr>
            <a:r>
              <a:rPr sz="2300">
                <a:solidFill>
                  <a:srgbClr val="1E293B"/>
                </a:solidFill>
                <a:latin typeface="Calibri"/>
              </a:rPr>
              <a:t>Yêu mến khoa danh, đề cao tước trật; nêu tên tháp Nhạn, ban danh hiệu Long hổ, bày tiệc Văn hỉ.</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Triều đình làm mọi việc “đến mức cao nhất” để trọng đãi hiền tài.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LUẬN ĐỀ VÀ MỤC ĐÍCH DỰNG BIA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Xác định luận đề của văn bản. Câu nào trực tiếp nói về mục đích của việc dựng bia ghi danh tiến sĩ?</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Đọc kĩ đoạn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LUẬN ĐỀ VÀ MỤC ĐÍCH DỰNG BIA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Luận đề: vai trò của hiền tài đối với vận mệnh đất nước (nhan đề, câu mở đầu đoạn 2).</a:t>
            </a:r>
          </a:p>
          <a:p>
            <a:pPr algn="l" marL="365760" indent="-365760">
              <a:spcAft>
                <a:spcPts val="800"/>
              </a:spcAft>
              <a:buClr>
                <a:srgbClr val="1E40AF"/>
              </a:buClr>
              <a:buFont typeface="Arial"/>
              <a:buChar char="•"/>
            </a:pPr>
            <a:r>
              <a:rPr sz="2300">
                <a:solidFill>
                  <a:srgbClr val="1E293B"/>
                </a:solidFill>
                <a:latin typeface="Calibri"/>
              </a:rPr>
              <a:t>Mục đích (đoạn 3): “…lời khen tiếng thơm chưa đủ lưu vẻ sáng lâu dài, cho nên lại dựng đá đề danh…</a:t>
            </a:r>
          </a:p>
          <a:p>
            <a:pPr algn="l" marL="365760" indent="-365760">
              <a:spcAft>
                <a:spcPts val="800"/>
              </a:spcAft>
              <a:buClr>
                <a:srgbClr val="1E40AF"/>
              </a:buClr>
              <a:buFont typeface="Arial"/>
              <a:buChar char="•"/>
            </a:pPr>
            <a:r>
              <a:rPr sz="2300">
                <a:solidFill>
                  <a:srgbClr val="1E293B"/>
                </a:solidFill>
                <a:latin typeface="Calibri"/>
              </a:rPr>
              <a:t>…khiến cho kẻ sĩ trông vào mà phấn chấn hâm mộ, rèn luyện danh tiết, gắng sức giúp vua”.</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Hiền tài thịnh thì nước mạnh – dựng bia để khuyến khích hiền tài.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MẠCH LẬP LUẬN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12</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Đoạn 3 có quan hệ thế nào với đoạn 2? Đoạn 4 đảm nhận chức năng gì trong mạch lập luận?</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Đoạn 4 là một câu hỏi tu từ.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MẠCH LẬP LUẬN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13</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Đoạn 3 triển khai thêm ý trọng đãi hiền tài ở đoạn 2: chuyển từ nguyên lí chung sang chuyện dựng bia.</a:t>
            </a:r>
          </a:p>
          <a:p>
            <a:pPr algn="l" marL="365760" indent="-365760">
              <a:spcAft>
                <a:spcPts val="800"/>
              </a:spcAft>
              <a:buClr>
                <a:srgbClr val="1E40AF"/>
              </a:buClr>
              <a:buFont typeface="Arial"/>
              <a:buChar char="•"/>
            </a:pPr>
            <a:r>
              <a:rPr sz="2300">
                <a:solidFill>
                  <a:srgbClr val="1E293B"/>
                </a:solidFill>
                <a:latin typeface="Calibri"/>
              </a:rPr>
              <a:t>Đoạn 4: lời tự vấn – thái độ tự trọng của kẻ sĩ; bước chuyển sang lời khuyến cáo (đoạn 5).</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Khái quát → cụ thể → trách nhiệm → ý nghĩa: lập luận chặt chẽ.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HAI TƯ CÁCH CỦA NGƯỜI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14</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Tác giả vừa là người truyền đạt “thánh ý”, vừa là kẻ sĩ được trọng dụng. Điều đó chi phối cách triển khai luận điểm thế nào?</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Chú ý giọng văn.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HAI TƯ CÁCH CỦA NGƯỜI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15</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Truyền đạt thánh ý → giọng trang trọng, khẳng định, mang tính răn dạy.</a:t>
            </a:r>
          </a:p>
          <a:p>
            <a:pPr algn="l" marL="365760" indent="-365760">
              <a:spcAft>
                <a:spcPts val="800"/>
              </a:spcAft>
              <a:buClr>
                <a:srgbClr val="1E40AF"/>
              </a:buClr>
              <a:buFont typeface="Arial"/>
              <a:buChar char="•"/>
            </a:pPr>
            <a:r>
              <a:rPr sz="2300">
                <a:solidFill>
                  <a:srgbClr val="1E293B"/>
                </a:solidFill>
                <a:latin typeface="Calibri"/>
              </a:rPr>
              <a:t>Kẻ sĩ được trọng dụng → khiêm nhường, tự nhắc mình phải báo đáp.</a:t>
            </a:r>
          </a:p>
          <a:p>
            <a:pPr algn="l" marL="365760" indent="-365760">
              <a:spcAft>
                <a:spcPts val="800"/>
              </a:spcAft>
              <a:buClr>
                <a:srgbClr val="1E40AF"/>
              </a:buClr>
              <a:buFont typeface="Arial"/>
              <a:buChar char="•"/>
            </a:pPr>
            <a:r>
              <a:rPr sz="2300">
                <a:solidFill>
                  <a:srgbClr val="1E293B"/>
                </a:solidFill>
                <a:latin typeface="Calibri"/>
              </a:rPr>
              <a:t>Luận điểm vừa khẳng định chủ trương của triều đình vừa khuyên răn sĩ phu.</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Xác định rõ mục đích, quan điểm – tăng sức thuyết phục.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25 – 26: YÊU VÀ ĐỒNG CẢM (Phong Tử Khải)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TRƯỚC KHI ĐỌC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17</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Bạn hiểu thế nào về sự đồng cảm trong cuộc sống?</a:t>
            </a:r>
          </a:p>
          <a:p>
            <a:pPr algn="l">
              <a:spcAft>
                <a:spcPts val="800"/>
              </a:spcAft>
            </a:pPr>
            <a:r>
              <a:rPr sz="2600" b="1">
                <a:solidFill>
                  <a:srgbClr val="1E293B"/>
                </a:solidFill>
                <a:latin typeface="Calibri"/>
              </a:rPr>
              <a:t>Bạn có cảm xúc gì mỗi lần tiếp xúc với một tác phẩm nghệ thuật?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CÂU CHUYỆN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Tác giả mở đầu bằng câu chuyện chú bé sắp xếp đồ đạc. Câu chuyện ấy có vai trò gì? Nếu không có nó, sức thuyết phục bị ảnh hưởng thế nào?</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Chú bé làm vì chăm chỉ hay vì điều gì khác?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CÂU CHUYỆN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19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Chú bé “bứt rứt không yên” khi đồ vật ở vị trí khó chịu – tấm lòng đồng cảm.</a:t>
            </a:r>
          </a:p>
          <a:p>
            <a:pPr algn="l" marL="365760" indent="-365760">
              <a:spcAft>
                <a:spcPts val="800"/>
              </a:spcAft>
              <a:buClr>
                <a:srgbClr val="1E40AF"/>
              </a:buClr>
              <a:buFont typeface="Arial"/>
              <a:buChar char="•"/>
            </a:pPr>
            <a:r>
              <a:rPr sz="2300">
                <a:solidFill>
                  <a:srgbClr val="1E293B"/>
                </a:solidFill>
                <a:latin typeface="Calibri"/>
              </a:rPr>
              <a:t>Câu chuyện là bằng chứng gần gũi, sinh động, dẫn dắt tự nhiên.</a:t>
            </a:r>
          </a:p>
          <a:p>
            <a:pPr algn="l" marL="365760" indent="-365760">
              <a:spcAft>
                <a:spcPts val="800"/>
              </a:spcAft>
              <a:buClr>
                <a:srgbClr val="1E40AF"/>
              </a:buClr>
              <a:buFont typeface="Arial"/>
              <a:buChar char="•"/>
            </a:pPr>
            <a:r>
              <a:rPr sz="2300">
                <a:solidFill>
                  <a:srgbClr val="1E293B"/>
                </a:solidFill>
                <a:latin typeface="Calibri"/>
              </a:rPr>
              <a:t>Thiếu câu chuyện, lí lẽ trở nên khô khan, trừu tượng, kém sức thuyết phục.</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Kết hợp tự sự với nghị luận tạo sức hấp dẫn.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GÓC NHÌN VỀ MỘT GỐC CÂY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Nhà khoa học, bác làm vườn, chú thợ mộc, anh hoạ sĩ nhìn một gốc cây khác nhau thế nào? Cái nhìn của hoạ sĩ có gì khác?</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Ai không có mục đích thực tiễn?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GÓC NHÌN VỀ MỘT GỐC CÂY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Nhà khoa học: tính chất, trạng thái; bác làm vườn: sức sống; thợ mộc: chất liệu.</a:t>
            </a:r>
          </a:p>
          <a:p>
            <a:pPr algn="l" marL="365760" indent="-365760">
              <a:spcAft>
                <a:spcPts val="800"/>
              </a:spcAft>
              <a:buClr>
                <a:srgbClr val="1E40AF"/>
              </a:buClr>
              <a:buFont typeface="Arial"/>
              <a:buChar char="•"/>
            </a:pPr>
            <a:r>
              <a:rPr sz="2300">
                <a:solidFill>
                  <a:srgbClr val="1E293B"/>
                </a:solidFill>
                <a:latin typeface="Calibri"/>
              </a:rPr>
              <a:t>Ba người kia nghĩ tới quan hệ nhân quả, có mục đích thực tiễn.</a:t>
            </a:r>
          </a:p>
          <a:p>
            <a:pPr algn="l" marL="365760" indent="-365760">
              <a:spcAft>
                <a:spcPts val="800"/>
              </a:spcAft>
              <a:buClr>
                <a:srgbClr val="1E40AF"/>
              </a:buClr>
              <a:buFont typeface="Arial"/>
              <a:buChar char="•"/>
            </a:pPr>
            <a:r>
              <a:rPr sz="2300">
                <a:solidFill>
                  <a:srgbClr val="1E293B"/>
                </a:solidFill>
                <a:latin typeface="Calibri"/>
              </a:rPr>
              <a:t>Hoạ sĩ chỉ thưởng thức dáng vẻ – thế giới của Mĩ, “đại đồng, bình đẳng”.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Nghệ sĩ đồng cảm với vạn vật, không vụ lợi.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TRẺ EM VÀ NGƯỜI NGHỆ SĨ</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22</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Tác giả phát hiện những điểm tương đồng gì giữa trẻ em và người nghệ sĩ? Vì sao Xuân Diệu đề nghị “Hãy nhìn đời bằng đôi mắt xanh non”?</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“Bản chất của trẻ thơ là…”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TRẺ EM VÀ NGƯỜI NGHỆ SĨ</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23</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Trẻ em hồn nhiên trò chuyện với chó mèo, hôn hoa cỏ – tấm lòng chân thành, tự nhiên.</a:t>
            </a:r>
          </a:p>
          <a:p>
            <a:pPr algn="l" marL="365760" indent="-365760">
              <a:spcAft>
                <a:spcPts val="800"/>
              </a:spcAft>
              <a:buClr>
                <a:srgbClr val="1E40AF"/>
              </a:buClr>
              <a:buFont typeface="Arial"/>
              <a:buChar char="•"/>
            </a:pPr>
            <a:r>
              <a:rPr sz="2300">
                <a:solidFill>
                  <a:srgbClr val="1E293B"/>
                </a:solidFill>
                <a:latin typeface="Calibri"/>
              </a:rPr>
              <a:t>“Bản chất của trẻ thơ là nghệ thuật”; nghệ sĩ là người giữ được lòng đồng cảm.</a:t>
            </a:r>
          </a:p>
          <a:p>
            <a:pPr algn="l" marL="365760" indent="-365760">
              <a:spcAft>
                <a:spcPts val="800"/>
              </a:spcAft>
              <a:buClr>
                <a:srgbClr val="1E40AF"/>
              </a:buClr>
              <a:buFont typeface="Arial"/>
              <a:buChar char="•"/>
            </a:pPr>
            <a:r>
              <a:rPr sz="2300">
                <a:solidFill>
                  <a:srgbClr val="1E293B"/>
                </a:solidFill>
                <a:latin typeface="Calibri"/>
              </a:rPr>
              <a:t>Đôi mắt xanh non: cái nhìn trong trẻo, đồng cảm, phát hiện vẻ đẹp đời sống.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Giữ tấm lòng trẻ thơ để cảm nhận cái đẹp.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27 – 28: CHỮ BẦU LÊN NHÀ THƠ (Lê Đạt)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786823" y="457200"/>
            <a:ext cx="18562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KHỞI ĐỘNG</a:t>
            </a:r>
          </a:p>
        </p:txBody>
      </p:sp>
      <p:sp>
        <p:nvSpPr>
          <p:cNvPr id="4" name="TextBox 3"/>
          <p:cNvSpPr txBox="1"/>
          <p:nvPr/>
        </p:nvSpPr>
        <p:spPr>
          <a:xfrm>
            <a:off x="731520" y="274320"/>
            <a:ext cx="9116568" cy="868680"/>
          </a:xfrm>
          <a:prstGeom prst="rect">
            <a:avLst/>
          </a:prstGeom>
          <a:noFill/>
        </p:spPr>
        <p:txBody>
          <a:bodyPr wrap="square" anchor="ctr">
            <a:spAutoFit/>
          </a:bodyPr>
          <a:lstStyle/>
          <a:p>
            <a:r>
              <a:rPr sz="3600" b="1">
                <a:solidFill>
                  <a:srgbClr val="1E40AF"/>
                </a:solidFill>
                <a:latin typeface="Arial"/>
              </a:rPr>
              <a:t>TRƯỚC KHI ĐỌC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25</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Trong hình dung của bạn, nhà thơ phải là người thế nào?</a:t>
            </a:r>
          </a:p>
          <a:p>
            <a:pPr algn="l">
              <a:spcAft>
                <a:spcPts val="800"/>
              </a:spcAft>
            </a:pPr>
            <a:r>
              <a:rPr sz="2600" b="1">
                <a:solidFill>
                  <a:srgbClr val="1E293B"/>
                </a:solidFill>
                <a:latin typeface="Calibri"/>
              </a:rPr>
              <a:t>Việc làm thơ có gắn liền với những phút cao hứng, “bốc đồng”?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Ý CỐT LÕI TRONG QUAN NIỆM VỀ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26</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Vấn đề chính được bàn luận là gì? Tìm một câu nêu bật ý cốt lõi trong quan niệm về thơ của tác giả.</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Thơ “ý tại ngôn ngoại”…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Ý CỐT LÕI TRONG QUAN NIỆM VỀ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27</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Vấn đề: quan hệ nhà thơ – chữ; lao động chữ nghĩa của nhà thơ.</a:t>
            </a:r>
          </a:p>
          <a:p>
            <a:pPr algn="l" marL="365760" indent="-365760">
              <a:spcAft>
                <a:spcPts val="800"/>
              </a:spcAft>
              <a:buClr>
                <a:srgbClr val="1E40AF"/>
              </a:buClr>
              <a:buFont typeface="Arial"/>
              <a:buChar char="•"/>
            </a:pPr>
            <a:r>
              <a:rPr sz="2300">
                <a:solidFill>
                  <a:srgbClr val="1E293B"/>
                </a:solidFill>
                <a:latin typeface="Calibri"/>
              </a:rPr>
              <a:t>Câu cốt lõi: “Người ta làm thơ không phải bằng ý mà bằng chữ.”</a:t>
            </a:r>
          </a:p>
          <a:p>
            <a:pPr algn="l" marL="365760" indent="-365760">
              <a:spcAft>
                <a:spcPts val="800"/>
              </a:spcAft>
              <a:buClr>
                <a:srgbClr val="1E40AF"/>
              </a:buClr>
              <a:buFont typeface="Arial"/>
              <a:buChar char="•"/>
            </a:pPr>
            <a:r>
              <a:rPr sz="2300">
                <a:solidFill>
                  <a:srgbClr val="1E293B"/>
                </a:solidFill>
                <a:latin typeface="Calibri"/>
              </a:rPr>
              <a:t>Nhà thơ làm chữ ở diện mạo, âm lượng, độ vang vọng, sức gợi cảm của chữ.</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Chữ quyết định danh vị nhà thơ.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TRANH LUẬN VỚI QUAN NIỆM PHỔ BIẾN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Tác giả tranh luận với hai quan niệm: thơ gắn với cảm xúc “bốc đồng”; thơ là năng khiếu đặc biệt, xa lạ với lao động. Lí lẽ, bằng chứng có thuyết phục không?</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Tác giả “ghét” định kiến nào?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TRANH LUẬN VỚI QUAN NIỆM PHỔ BIẾN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29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“Những cơn bốc đồng thường ngắn ngủi”; “Làm thơ không phải đánh quả”.</a:t>
            </a:r>
          </a:p>
          <a:p>
            <a:pPr algn="l" marL="365760" indent="-365760">
              <a:spcAft>
                <a:spcPts val="800"/>
              </a:spcAft>
              <a:buClr>
                <a:srgbClr val="1E40AF"/>
              </a:buClr>
              <a:buFont typeface="Arial"/>
              <a:buChar char="•"/>
            </a:pPr>
            <a:r>
              <a:rPr sz="2300">
                <a:solidFill>
                  <a:srgbClr val="1E293B"/>
                </a:solidFill>
                <a:latin typeface="Calibri"/>
              </a:rPr>
              <a:t>Không mê nhà thơ thần đồng; ưa nhà thơ “một nắng hai sương”, lầm lũi, lực điền.</a:t>
            </a:r>
          </a:p>
          <a:p>
            <a:pPr algn="l" marL="365760" indent="-365760">
              <a:spcAft>
                <a:spcPts val="800"/>
              </a:spcAft>
              <a:buClr>
                <a:srgbClr val="1E40AF"/>
              </a:buClr>
              <a:buFont typeface="Arial"/>
              <a:buChar char="•"/>
            </a:pPr>
            <a:r>
              <a:rPr sz="2300">
                <a:solidFill>
                  <a:srgbClr val="1E293B"/>
                </a:solidFill>
                <a:latin typeface="Calibri"/>
              </a:rPr>
              <a:t>Bằng chứng: Tôn-xtôi, Phlô-be; Lý Bạch, Xa-a-đi, Gớt, Ta-go tóc bạc vẫn “thu hoạch những mùa thơ dậy thì”.</a:t>
            </a:r>
          </a:p>
          <a:p>
            <a:pPr algn="l" marL="365760" indent="-365760">
              <a:spcAft>
                <a:spcPts val="800"/>
              </a:spcAft>
              <a:buClr>
                <a:srgbClr val="1E40AF"/>
              </a:buClr>
              <a:buFont typeface="Arial"/>
              <a:buChar char="•"/>
            </a:pPr>
            <a:r>
              <a:rPr sz="2300">
                <a:solidFill>
                  <a:srgbClr val="1E293B"/>
                </a:solidFill>
                <a:latin typeface="Calibri"/>
              </a:rPr>
              <a:t>Lí lẽ sắc sảo, bằng chứng tiêu biểu → thuyết phục.</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Làm thơ là lao động nghiêm túc, công phu.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“CHỮ BẦU LÊN NHÀ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30</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Giải thích ý nghĩa nhan đề. Bài viết giúp bạn hiểu thêm gì về hoạt động sáng tạo thơ ca?</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Chức vị nhà thơ có phải suốt đời?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“CHỮ BẦU LÊN NHÀ THƠ”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31</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Lời của nhà thơ Pháp Ét-mông Gia-bét: không có chức nhà thơ suốt đời.</a:t>
            </a:r>
          </a:p>
          <a:p>
            <a:pPr algn="l" marL="365760" indent="-365760">
              <a:spcAft>
                <a:spcPts val="800"/>
              </a:spcAft>
              <a:buClr>
                <a:srgbClr val="1E40AF"/>
              </a:buClr>
              <a:buFont typeface="Arial"/>
              <a:buChar char="•"/>
            </a:pPr>
            <a:r>
              <a:rPr sz="2300">
                <a:solidFill>
                  <a:srgbClr val="1E293B"/>
                </a:solidFill>
                <a:latin typeface="Calibri"/>
              </a:rPr>
              <a:t>Mỗi lần làm thơ, nhà thơ lại ứng cử trước “cử tri chữ”.</a:t>
            </a:r>
          </a:p>
          <a:p>
            <a:pPr algn="l" marL="365760" indent="-365760">
              <a:spcAft>
                <a:spcPts val="800"/>
              </a:spcAft>
              <a:buClr>
                <a:srgbClr val="1E40AF"/>
              </a:buClr>
              <a:buFont typeface="Arial"/>
              <a:buChar char="•"/>
            </a:pPr>
            <a:r>
              <a:rPr sz="2300">
                <a:solidFill>
                  <a:srgbClr val="1E293B"/>
                </a:solidFill>
                <a:latin typeface="Calibri"/>
              </a:rPr>
              <a:t>Danh hiệu nhà thơ do chất lượng chữ quyết định, không do danh tiếng.</a:t>
            </a:r>
          </a:p>
          <a:p>
            <a:pPr algn="l" marL="365760" indent="-365760">
              <a:spcAft>
                <a:spcPts val="800"/>
              </a:spcAft>
              <a:buClr>
                <a:srgbClr val="1E40AF"/>
              </a:buClr>
              <a:buFont typeface="Arial"/>
              <a:buChar char="•"/>
            </a:pPr>
            <a:r>
              <a:rPr sz="2300">
                <a:solidFill>
                  <a:srgbClr val="1E293B"/>
                </a:solidFill>
                <a:latin typeface="Calibri"/>
              </a:rPr>
              <a:t>Sáng tạo thơ đòi hỏi tìm tòi, cách tân, lao động chữ không ngừng.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Nhà thơ – “phu chữ” trên cánh đồng giấy.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31: THỰC HÀNH TIẾNG VIỆT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GHI NHỚ</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LỖI MẠCH LẠC VÀ LIÊN KẾT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33</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Lỗi mạch lạc</a:t>
            </a:r>
            <a:r>
              <a:rPr sz="2400">
                <a:solidFill>
                  <a:srgbClr val="1E293B"/>
                </a:solidFill>
                <a:latin typeface="Calibri"/>
              </a:rPr>
              <a:t>: câu, đoạn không cùng hướng vào một chủ đề hoặc lạc khỏi chủ đề chung.</a:t>
            </a:r>
          </a:p>
          <a:p>
            <a:pPr algn="l" marL="365760" indent="-365760">
              <a:spcAft>
                <a:spcPts val="800"/>
              </a:spcAft>
              <a:buClr>
                <a:srgbClr val="1E40AF"/>
              </a:buClr>
              <a:buFont typeface="Arial"/>
              <a:buChar char="•"/>
            </a:pPr>
            <a:r>
              <a:rPr sz="2400">
                <a:solidFill>
                  <a:srgbClr val="1E293B"/>
                </a:solidFill>
                <a:latin typeface="Calibri"/>
              </a:rPr>
              <a:t>Sửa: xác định chủ đề; bỏ, sửa câu lạc ý; viết thêm câu phát triển chủ đề.</a:t>
            </a:r>
          </a:p>
          <a:p>
            <a:pPr algn="l" marL="365760" indent="-365760">
              <a:spcAft>
                <a:spcPts val="800"/>
              </a:spcAft>
              <a:buClr>
                <a:srgbClr val="1E40AF"/>
              </a:buClr>
              <a:buFont typeface="Arial"/>
              <a:buChar char="•"/>
            </a:pPr>
            <a:r>
              <a:rPr sz="2400" b="1">
                <a:solidFill>
                  <a:srgbClr val="1E293B"/>
                </a:solidFill>
                <a:latin typeface="Calibri"/>
              </a:rPr>
              <a:t>Lỗi liên kết</a:t>
            </a:r>
            <a:r>
              <a:rPr sz="2400">
                <a:solidFill>
                  <a:srgbClr val="1E293B"/>
                </a:solidFill>
                <a:latin typeface="Calibri"/>
              </a:rPr>
              <a:t>: thiếu phương tiện kết nối hoặc dùng sai (lặp, thế, nối).</a:t>
            </a:r>
          </a:p>
          <a:p>
            <a:pPr algn="l" marL="365760" indent="-365760">
              <a:spcAft>
                <a:spcPts val="800"/>
              </a:spcAft>
              <a:buClr>
                <a:srgbClr val="1E40AF"/>
              </a:buClr>
              <a:buFont typeface="Arial"/>
              <a:buChar char="•"/>
            </a:pPr>
            <a:r>
              <a:rPr sz="2400">
                <a:solidFill>
                  <a:srgbClr val="1E293B"/>
                </a:solidFill>
                <a:latin typeface="Calibri"/>
              </a:rPr>
              <a:t>Sửa: bổ sung, thay thế phương tiện kết nối; viết thêm câu nối.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CHỮA ĐOẠN VĂN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34</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“Thay vì cầm một cuốn sách để đọc, nhiều người bây giờ chỉ biết lăm lăm trong tay một chiếc điện thoại thông minh. […] Nhưng họ hầu như đã vứt bỏ thói quen đọc sách. Nó tuy rất tiện lợi…” Chỉ ra lỗi và sửa.</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Từ “Nhưng” và đại từ “Nó” có hợp lí?</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CHỮA ĐOẠN VĂN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35</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“Nhưng” dùng sai quan hệ (ý sau là hệ quả, không đối lập).</a:t>
            </a:r>
          </a:p>
          <a:p>
            <a:pPr algn="l" marL="365760" indent="-365760">
              <a:spcAft>
                <a:spcPts val="800"/>
              </a:spcAft>
              <a:buClr>
                <a:srgbClr val="1E40AF"/>
              </a:buClr>
              <a:buFont typeface="Arial"/>
              <a:buChar char="•"/>
            </a:pPr>
            <a:r>
              <a:rPr sz="2300">
                <a:solidFill>
                  <a:srgbClr val="1E293B"/>
                </a:solidFill>
                <a:latin typeface="Calibri"/>
              </a:rPr>
              <a:t>“Nó” không rõ thay cho “điện thoại” hay “sách” → lỗi liên kết.</a:t>
            </a:r>
          </a:p>
          <a:p>
            <a:pPr algn="l" marL="365760" indent="-365760">
              <a:spcAft>
                <a:spcPts val="800"/>
              </a:spcAft>
              <a:buClr>
                <a:srgbClr val="1E40AF"/>
              </a:buClr>
              <a:buFont typeface="Arial"/>
              <a:buChar char="•"/>
            </a:pPr>
            <a:r>
              <a:rPr sz="2300">
                <a:solidFill>
                  <a:srgbClr val="1E293B"/>
                </a:solidFill>
                <a:latin typeface="Calibri"/>
              </a:rPr>
              <a:t>Sửa: “Vì thế, họ hầu như từ bỏ thói quen đọc sách. Chiếc điện thoại tuy rất tiện lợi… nhưng…”.</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đúng phương tiện liên kết theo quan hệ 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548640" y="2926080"/>
            <a:ext cx="164592" cy="100584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515600" cy="1371600"/>
          </a:xfrm>
          <a:prstGeom prst="rect">
            <a:avLst/>
          </a:prstGeom>
          <a:noFill/>
        </p:spPr>
        <p:txBody>
          <a:bodyPr wrap="square" anchor="ctr" lIns="45720" rIns="45720">
            <a:spAutoFit/>
          </a:bodyPr>
          <a:lstStyle/>
          <a:p>
            <a:pPr algn="l">
              <a:spcAft>
                <a:spcPts val="800"/>
              </a:spcAft>
            </a:pPr>
            <a:r>
              <a:rPr sz="3600" b="1">
                <a:solidFill>
                  <a:srgbClr val="1E40AF"/>
                </a:solidFill>
                <a:latin typeface="Calibri"/>
              </a:rPr>
              <a:t>TIẾT 32 – 35: VIẾT – NÓI VÀ NGHE – ĐỌC MỞ RỘNG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GHI NHỚ</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BÀI LUẬN THUYẾT PHỤC TỪ BỎ MỘT THÓI QUEN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37</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Nêu thói quen/quan niệm cần từ bỏ; xác lập vị thế người viết.</a:t>
            </a:r>
          </a:p>
          <a:p>
            <a:pPr algn="l" marL="365760" indent="-365760">
              <a:spcAft>
                <a:spcPts val="800"/>
              </a:spcAft>
              <a:buClr>
                <a:srgbClr val="1E40AF"/>
              </a:buClr>
              <a:buFont typeface="Arial"/>
              <a:buChar char="•"/>
            </a:pPr>
            <a:r>
              <a:rPr sz="2400">
                <a:solidFill>
                  <a:srgbClr val="1E293B"/>
                </a:solidFill>
                <a:latin typeface="Calibri"/>
              </a:rPr>
              <a:t>Chỉ ra biểu hiện, phân tích tác động tiêu cực với cá nhân, cộng đồng.</a:t>
            </a:r>
          </a:p>
          <a:p>
            <a:pPr algn="l" marL="365760" indent="-365760">
              <a:spcAft>
                <a:spcPts val="800"/>
              </a:spcAft>
              <a:buClr>
                <a:srgbClr val="1E40AF"/>
              </a:buClr>
              <a:buFont typeface="Arial"/>
              <a:buChar char="•"/>
            </a:pPr>
            <a:r>
              <a:rPr sz="2400">
                <a:solidFill>
                  <a:srgbClr val="1E293B"/>
                </a:solidFill>
                <a:latin typeface="Calibri"/>
              </a:rPr>
              <a:t>Đề xuất giải pháp; bày tỏ sự sẵn sàng hỗ trợ.</a:t>
            </a:r>
          </a:p>
          <a:p>
            <a:pPr algn="l" marL="365760" indent="-365760">
              <a:spcAft>
                <a:spcPts val="800"/>
              </a:spcAft>
              <a:buClr>
                <a:srgbClr val="1E40AF"/>
              </a:buClr>
              <a:buFont typeface="Arial"/>
              <a:buChar char="•"/>
            </a:pPr>
            <a:r>
              <a:rPr sz="2400">
                <a:solidFill>
                  <a:srgbClr val="1E293B"/>
                </a:solidFill>
                <a:latin typeface="Calibri"/>
              </a:rPr>
              <a:t>Giọng ân cần, cảm thông; tránh mệnh lệnh, lên lớp.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53167" y="457200"/>
            <a:ext cx="138988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ĐỀ BÀI</a:t>
            </a:r>
          </a:p>
        </p:txBody>
      </p:sp>
      <p:sp>
        <p:nvSpPr>
          <p:cNvPr id="4" name="TextBox 3"/>
          <p:cNvSpPr txBox="1"/>
          <p:nvPr/>
        </p:nvSpPr>
        <p:spPr>
          <a:xfrm>
            <a:off x="731520" y="274320"/>
            <a:ext cx="9582912" cy="868680"/>
          </a:xfrm>
          <a:prstGeom prst="rect">
            <a:avLst/>
          </a:prstGeom>
          <a:noFill/>
        </p:spPr>
        <p:txBody>
          <a:bodyPr wrap="square" anchor="ctr">
            <a:spAutoFit/>
          </a:bodyPr>
          <a:lstStyle/>
          <a:p>
            <a:r>
              <a:rPr sz="3600" b="1">
                <a:solidFill>
                  <a:srgbClr val="1E40AF"/>
                </a:solidFill>
                <a:latin typeface="Arial"/>
              </a:rPr>
              <a:t>ĐỀ THỰC HÀNH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38</a:t>
            </a:r>
          </a:p>
        </p:txBody>
      </p:sp>
      <p:sp>
        <p:nvSpPr>
          <p:cNvPr id="7" name="TextBox 6"/>
          <p:cNvSpPr txBox="1"/>
          <p:nvPr/>
        </p:nvSpPr>
        <p:spPr>
          <a:xfrm>
            <a:off x="731520" y="1463040"/>
            <a:ext cx="10789920" cy="3566160"/>
          </a:xfrm>
          <a:prstGeom prst="rect">
            <a:avLst/>
          </a:prstGeom>
          <a:noFill/>
        </p:spPr>
        <p:txBody>
          <a:bodyPr wrap="square" anchor="t" lIns="45720" rIns="45720">
            <a:spAutoFit/>
          </a:bodyPr>
          <a:lstStyle/>
          <a:p>
            <a:pPr algn="l">
              <a:spcAft>
                <a:spcPts val="800"/>
              </a:spcAft>
            </a:pPr>
            <a:r>
              <a:rPr sz="2600" b="1">
                <a:solidFill>
                  <a:srgbClr val="1E293B"/>
                </a:solidFill>
                <a:latin typeface="Calibri"/>
              </a:rPr>
              <a:t>Viết bài luận thuyết phục một người bạn từ bỏ thói quen không chuẩn bị bài trước khi đến lớp.</a:t>
            </a:r>
          </a:p>
        </p:txBody>
      </p:sp>
      <p:sp>
        <p:nvSpPr>
          <p:cNvPr id="8" name="Rounded Rectangle 7"/>
          <p:cNvSpPr/>
          <p:nvPr/>
        </p:nvSpPr>
        <p:spPr>
          <a:xfrm>
            <a:off x="731520" y="5120640"/>
            <a:ext cx="10789920" cy="693420"/>
          </a:xfrm>
          <a:prstGeom prst="roundRect">
            <a:avLst>
              <a:gd name="adj" fmla="val 8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20640"/>
            <a:ext cx="10424160" cy="693420"/>
          </a:xfrm>
          <a:prstGeom prst="rect">
            <a:avLst/>
          </a:prstGeom>
          <a:noFill/>
        </p:spPr>
        <p:txBody>
          <a:bodyPr wrap="square" anchor="ctr" lIns="45720" rIns="45720">
            <a:spAutoFit/>
          </a:bodyPr>
          <a:lstStyle/>
          <a:p>
            <a:pPr algn="l">
              <a:spcAft>
                <a:spcPts val="400"/>
              </a:spcAft>
            </a:pPr>
            <a:r>
              <a:rPr sz="2200" b="1">
                <a:solidFill>
                  <a:srgbClr val="1E40AF"/>
                </a:solidFill>
                <a:latin typeface="Calibri"/>
              </a:rPr>
              <a:t>💡 Hình dung cụ thể người bạn đang nghe mình nói.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942271" y="457200"/>
            <a:ext cx="170078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LỜI GIẢI</a:t>
            </a:r>
          </a:p>
        </p:txBody>
      </p:sp>
      <p:sp>
        <p:nvSpPr>
          <p:cNvPr id="4" name="TextBox 3"/>
          <p:cNvSpPr txBox="1"/>
          <p:nvPr/>
        </p:nvSpPr>
        <p:spPr>
          <a:xfrm>
            <a:off x="731520" y="274320"/>
            <a:ext cx="9272016" cy="868680"/>
          </a:xfrm>
          <a:prstGeom prst="rect">
            <a:avLst/>
          </a:prstGeom>
          <a:noFill/>
        </p:spPr>
        <p:txBody>
          <a:bodyPr wrap="square" anchor="ctr">
            <a:spAutoFit/>
          </a:bodyPr>
          <a:lstStyle/>
          <a:p>
            <a:r>
              <a:rPr sz="3600" b="1">
                <a:solidFill>
                  <a:srgbClr val="1E40AF"/>
                </a:solidFill>
                <a:latin typeface="Arial"/>
              </a:rPr>
              <a:t>ĐỀ THỰC HÀNH VIẾT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39</a:t>
            </a:r>
          </a:p>
        </p:txBody>
      </p:sp>
      <p:sp>
        <p:nvSpPr>
          <p:cNvPr id="7" name="TextBox 6"/>
          <p:cNvSpPr txBox="1"/>
          <p:nvPr/>
        </p:nvSpPr>
        <p:spPr>
          <a:xfrm>
            <a:off x="731520" y="1463040"/>
            <a:ext cx="10789920" cy="34747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300">
                <a:solidFill>
                  <a:srgbClr val="1E293B"/>
                </a:solidFill>
                <a:latin typeface="Calibri"/>
              </a:rPr>
              <a:t>MB: nêu thói quen, vị thế người bạn cùng lớp.</a:t>
            </a:r>
          </a:p>
          <a:p>
            <a:pPr algn="l" marL="365760" indent="-365760">
              <a:spcAft>
                <a:spcPts val="800"/>
              </a:spcAft>
              <a:buClr>
                <a:srgbClr val="1E40AF"/>
              </a:buClr>
              <a:buFont typeface="Arial"/>
              <a:buChar char="•"/>
            </a:pPr>
            <a:r>
              <a:rPr sz="2300">
                <a:solidFill>
                  <a:srgbClr val="1E293B"/>
                </a:solidFill>
                <a:latin typeface="Calibri"/>
              </a:rPr>
              <a:t>TB: biểu hiện → tác hại (học hổng kiến thức, mất tự tin, ảnh hưởng nhóm).</a:t>
            </a:r>
          </a:p>
          <a:p>
            <a:pPr algn="l" marL="365760" indent="-365760">
              <a:spcAft>
                <a:spcPts val="800"/>
              </a:spcAft>
              <a:buClr>
                <a:srgbClr val="1E40AF"/>
              </a:buClr>
              <a:buFont typeface="Arial"/>
              <a:buChar char="•"/>
            </a:pPr>
            <a:r>
              <a:rPr sz="2300">
                <a:solidFill>
                  <a:srgbClr val="1E293B"/>
                </a:solidFill>
                <a:latin typeface="Calibri"/>
              </a:rPr>
              <a:t>Giải pháp: lập thời gian biểu, học nhóm; mình sẵn sàng giúp.</a:t>
            </a:r>
          </a:p>
          <a:p>
            <a:pPr algn="l" marL="365760" indent="-365760">
              <a:spcAft>
                <a:spcPts val="800"/>
              </a:spcAft>
              <a:buClr>
                <a:srgbClr val="1E40AF"/>
              </a:buClr>
              <a:buFont typeface="Arial"/>
              <a:buChar char="•"/>
            </a:pPr>
            <a:r>
              <a:rPr sz="2300">
                <a:solidFill>
                  <a:srgbClr val="1E293B"/>
                </a:solidFill>
                <a:latin typeface="Calibri"/>
              </a:rPr>
              <a:t>KB: ý nghĩa của việc thay đổi.</a:t>
            </a:r>
          </a:p>
        </p:txBody>
      </p:sp>
      <p:sp>
        <p:nvSpPr>
          <p:cNvPr id="8" name="Rounded Rectangle 7"/>
          <p:cNvSpPr/>
          <p:nvPr/>
        </p:nvSpPr>
        <p:spPr>
          <a:xfrm>
            <a:off x="731520" y="5074920"/>
            <a:ext cx="1078992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42416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Lí lẽ + cảm thông + giải pháp khả thi.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SƠ ĐỒ TƯ DUY</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40</a:t>
            </a:r>
          </a:p>
        </p:txBody>
      </p:sp>
      <p:cxnSp>
        <p:nvCxnSpPr>
          <p:cNvPr id="7" name="Connector 6"/>
          <p:cNvCxnSpPr/>
          <p:nvPr/>
        </p:nvCxnSpPr>
        <p:spPr>
          <a:xfrm flipH="1" flipV="1">
            <a:off x="4338888" y="2670962"/>
            <a:ext cx="16883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596375" y="1931116"/>
            <a:ext cx="1742513" cy="73984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016266" y="1654804"/>
            <a:ext cx="1580109"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Luận đề – luận</a:t>
            </a:r>
          </a:p>
          <a:p>
            <a:pPr algn="ctr"/>
            <a:r>
              <a:rPr sz="1300" b="1">
                <a:solidFill>
                  <a:srgbClr val="8B0000"/>
                </a:solidFill>
                <a:latin typeface="Calibri"/>
              </a:rPr>
              <a:t>điểm</a:t>
            </a:r>
          </a:p>
        </p:txBody>
      </p:sp>
      <p:cxnSp>
        <p:nvCxnSpPr>
          <p:cNvPr id="10" name="Connector 9"/>
          <p:cNvCxnSpPr/>
          <p:nvPr/>
        </p:nvCxnSpPr>
        <p:spPr>
          <a:xfrm flipH="1" flipV="1">
            <a:off x="2678925" y="2457917"/>
            <a:ext cx="1659963" cy="21304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33716" y="2282317"/>
            <a:ext cx="1745209"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Lí lẽ, bằng chứng</a:t>
            </a:r>
          </a:p>
        </p:txBody>
      </p:sp>
      <p:cxnSp>
        <p:nvCxnSpPr>
          <p:cNvPr id="12" name="Connector 11"/>
          <p:cNvCxnSpPr/>
          <p:nvPr/>
        </p:nvCxnSpPr>
        <p:spPr>
          <a:xfrm flipH="1">
            <a:off x="2635999" y="2670962"/>
            <a:ext cx="1702889" cy="21304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6642" y="2708407"/>
            <a:ext cx="1659357"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Nghị luận xã hội</a:t>
            </a:r>
          </a:p>
        </p:txBody>
      </p:sp>
      <p:cxnSp>
        <p:nvCxnSpPr>
          <p:cNvPr id="14" name="Connector 13"/>
          <p:cNvCxnSpPr/>
          <p:nvPr/>
        </p:nvCxnSpPr>
        <p:spPr>
          <a:xfrm flipH="1">
            <a:off x="2721851" y="2670962"/>
            <a:ext cx="1617037" cy="73984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90790" y="3134497"/>
            <a:ext cx="1831061"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Lỗi mạch lạc, liên</a:t>
            </a:r>
          </a:p>
          <a:p>
            <a:pPr algn="ctr"/>
            <a:r>
              <a:rPr sz="1300" b="0">
                <a:solidFill>
                  <a:srgbClr val="000000"/>
                </a:solidFill>
                <a:latin typeface="Calibri"/>
              </a:rPr>
              <a:t>kết</a:t>
            </a:r>
          </a:p>
        </p:txBody>
      </p:sp>
      <p:sp>
        <p:nvSpPr>
          <p:cNvPr id="16" name="Oval 15"/>
          <p:cNvSpPr/>
          <p:nvPr/>
        </p:nvSpPr>
        <p:spPr>
          <a:xfrm>
            <a:off x="3502606" y="2259078"/>
            <a:ext cx="1672565"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Tri thức</a:t>
            </a:r>
          </a:p>
          <a:p>
            <a:pPr algn="ctr"/>
            <a:r>
              <a:rPr sz="1500" b="1">
                <a:solidFill>
                  <a:srgbClr val="000000"/>
                </a:solidFill>
                <a:latin typeface="Calibri"/>
              </a:rPr>
              <a:t>ngữ văn</a:t>
            </a:r>
          </a:p>
        </p:txBody>
      </p:sp>
      <p:cxnSp>
        <p:nvCxnSpPr>
          <p:cNvPr id="17" name="Connector 16"/>
          <p:cNvCxnSpPr/>
          <p:nvPr/>
        </p:nvCxnSpPr>
        <p:spPr>
          <a:xfrm flipV="1">
            <a:off x="6027267" y="2670962"/>
            <a:ext cx="1688379"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715646" y="1729694"/>
            <a:ext cx="1603829" cy="941268"/>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19475" y="1453382"/>
            <a:ext cx="1857477"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Hiền tài = nguyên</a:t>
            </a:r>
          </a:p>
          <a:p>
            <a:pPr algn="ctr"/>
            <a:r>
              <a:rPr sz="1300" b="1">
                <a:solidFill>
                  <a:srgbClr val="8B0000"/>
                </a:solidFill>
                <a:latin typeface="Calibri"/>
              </a:rPr>
              <a:t>khí</a:t>
            </a:r>
          </a:p>
        </p:txBody>
      </p:sp>
      <p:cxnSp>
        <p:nvCxnSpPr>
          <p:cNvPr id="20" name="Connector 19"/>
          <p:cNvCxnSpPr/>
          <p:nvPr/>
        </p:nvCxnSpPr>
        <p:spPr>
          <a:xfrm flipV="1">
            <a:off x="7715646" y="2357206"/>
            <a:ext cx="1702889" cy="313756"/>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535" y="2080895"/>
            <a:ext cx="1659357"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Ý nghĩa dựng bia</a:t>
            </a:r>
          </a:p>
          <a:p>
            <a:pPr algn="ctr"/>
            <a:r>
              <a:rPr sz="1300" b="0">
                <a:solidFill>
                  <a:srgbClr val="000000"/>
                </a:solidFill>
                <a:latin typeface="Calibri"/>
              </a:rPr>
              <a:t>tiến sĩ</a:t>
            </a:r>
          </a:p>
        </p:txBody>
      </p:sp>
      <p:cxnSp>
        <p:nvCxnSpPr>
          <p:cNvPr id="22" name="Connector 21"/>
          <p:cNvCxnSpPr/>
          <p:nvPr/>
        </p:nvCxnSpPr>
        <p:spPr>
          <a:xfrm>
            <a:off x="7715646" y="2670962"/>
            <a:ext cx="1788741" cy="313756"/>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504387" y="2708407"/>
            <a:ext cx="148765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Đồng cảm – gốc</a:t>
            </a:r>
          </a:p>
          <a:p>
            <a:pPr algn="ctr"/>
            <a:r>
              <a:rPr sz="1300" b="0">
                <a:solidFill>
                  <a:srgbClr val="000000"/>
                </a:solidFill>
                <a:latin typeface="Calibri"/>
              </a:rPr>
              <a:t>nghệ thuật</a:t>
            </a:r>
          </a:p>
        </p:txBody>
      </p:sp>
      <p:cxnSp>
        <p:nvCxnSpPr>
          <p:cNvPr id="24" name="Connector 23"/>
          <p:cNvCxnSpPr/>
          <p:nvPr/>
        </p:nvCxnSpPr>
        <p:spPr>
          <a:xfrm>
            <a:off x="7715646" y="2670962"/>
            <a:ext cx="1574111" cy="941268"/>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289757" y="3335919"/>
            <a:ext cx="191691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Câu chuyện làm bằng</a:t>
            </a:r>
          </a:p>
          <a:p>
            <a:pPr algn="ctr"/>
            <a:r>
              <a:rPr sz="1300" b="0">
                <a:solidFill>
                  <a:srgbClr val="000000"/>
                </a:solidFill>
                <a:latin typeface="Calibri"/>
              </a:rPr>
              <a:t>chứng</a:t>
            </a:r>
          </a:p>
        </p:txBody>
      </p:sp>
      <p:sp>
        <p:nvSpPr>
          <p:cNvPr id="26" name="Oval 25"/>
          <p:cNvSpPr/>
          <p:nvPr/>
        </p:nvSpPr>
        <p:spPr>
          <a:xfrm>
            <a:off x="6810021" y="2090581"/>
            <a:ext cx="1811249" cy="1160762"/>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Hiền tài…</a:t>
            </a:r>
          </a:p>
          <a:p>
            <a:pPr algn="ctr"/>
            <a:r>
              <a:rPr sz="1500" b="1">
                <a:solidFill>
                  <a:srgbClr val="000000"/>
                </a:solidFill>
                <a:latin typeface="Calibri"/>
              </a:rPr>
              <a:t>– Yêu và</a:t>
            </a:r>
          </a:p>
          <a:p>
            <a:pPr algn="ctr"/>
            <a:r>
              <a:rPr sz="1500" b="1">
                <a:solidFill>
                  <a:srgbClr val="000000"/>
                </a:solidFill>
                <a:latin typeface="Calibri"/>
              </a:rPr>
              <a:t>đồng cảm</a:t>
            </a:r>
          </a:p>
        </p:txBody>
      </p:sp>
      <p:cxnSp>
        <p:nvCxnSpPr>
          <p:cNvPr id="27" name="Connector 26"/>
          <p:cNvCxnSpPr/>
          <p:nvPr/>
        </p:nvCxnSpPr>
        <p:spPr>
          <a:xfrm flipH="1">
            <a:off x="4338888" y="3954780"/>
            <a:ext cx="16883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88831" y="4599462"/>
            <a:ext cx="1650057" cy="63913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23810" y="4423862"/>
            <a:ext cx="1765021"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Làm thơ bằng chữ</a:t>
            </a:r>
          </a:p>
        </p:txBody>
      </p:sp>
      <p:cxnSp>
        <p:nvCxnSpPr>
          <p:cNvPr id="30" name="Connector 29"/>
          <p:cNvCxnSpPr/>
          <p:nvPr/>
        </p:nvCxnSpPr>
        <p:spPr>
          <a:xfrm flipH="1" flipV="1">
            <a:off x="2721851" y="5025552"/>
            <a:ext cx="1617037" cy="21304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0790" y="4849952"/>
            <a:ext cx="1831061"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“Ý tại ngôn ngoại”</a:t>
            </a:r>
          </a:p>
        </p:txBody>
      </p:sp>
      <p:cxnSp>
        <p:nvCxnSpPr>
          <p:cNvPr id="32" name="Connector 31"/>
          <p:cNvCxnSpPr/>
          <p:nvPr/>
        </p:nvCxnSpPr>
        <p:spPr>
          <a:xfrm flipH="1">
            <a:off x="2764777" y="5238597"/>
            <a:ext cx="1574111" cy="21304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47864" y="5276042"/>
            <a:ext cx="1916913"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Phản bác “bốc đồng”</a:t>
            </a:r>
          </a:p>
        </p:txBody>
      </p:sp>
      <p:cxnSp>
        <p:nvCxnSpPr>
          <p:cNvPr id="34" name="Connector 33"/>
          <p:cNvCxnSpPr/>
          <p:nvPr/>
        </p:nvCxnSpPr>
        <p:spPr>
          <a:xfrm flipH="1">
            <a:off x="2678925" y="5238597"/>
            <a:ext cx="1659963" cy="63913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33716" y="5702132"/>
            <a:ext cx="1745209"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Nhà thơ “phu chữ”</a:t>
            </a:r>
          </a:p>
        </p:txBody>
      </p:sp>
      <p:sp>
        <p:nvSpPr>
          <p:cNvPr id="36" name="Oval 35"/>
          <p:cNvSpPr/>
          <p:nvPr/>
        </p:nvSpPr>
        <p:spPr>
          <a:xfrm>
            <a:off x="3433264" y="4826713"/>
            <a:ext cx="1811249"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Chữ bầu</a:t>
            </a:r>
          </a:p>
          <a:p>
            <a:pPr algn="ctr"/>
            <a:r>
              <a:rPr sz="1500" b="1">
                <a:solidFill>
                  <a:srgbClr val="000000"/>
                </a:solidFill>
                <a:latin typeface="Calibri"/>
              </a:rPr>
              <a:t>lên nhà thơ</a:t>
            </a:r>
          </a:p>
        </p:txBody>
      </p:sp>
      <p:cxnSp>
        <p:nvCxnSpPr>
          <p:cNvPr id="37" name="Connector 36"/>
          <p:cNvCxnSpPr/>
          <p:nvPr/>
        </p:nvCxnSpPr>
        <p:spPr>
          <a:xfrm>
            <a:off x="6027267" y="3954780"/>
            <a:ext cx="1688379"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715646" y="4398040"/>
            <a:ext cx="1659963" cy="840557"/>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375609" y="4121729"/>
            <a:ext cx="1745209"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Sửa lỗi mạch lạc,</a:t>
            </a:r>
          </a:p>
          <a:p>
            <a:pPr algn="ctr"/>
            <a:r>
              <a:rPr sz="1300" b="0">
                <a:solidFill>
                  <a:srgbClr val="000000"/>
                </a:solidFill>
                <a:latin typeface="Calibri"/>
              </a:rPr>
              <a:t>liên kết</a:t>
            </a:r>
          </a:p>
        </p:txBody>
      </p:sp>
      <p:cxnSp>
        <p:nvCxnSpPr>
          <p:cNvPr id="40" name="Connector 39"/>
          <p:cNvCxnSpPr/>
          <p:nvPr/>
        </p:nvCxnSpPr>
        <p:spPr>
          <a:xfrm flipV="1">
            <a:off x="7715646" y="4924841"/>
            <a:ext cx="1465145"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180791" y="4749241"/>
            <a:ext cx="2134845" cy="351200"/>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Bài luận thuyết phục</a:t>
            </a:r>
          </a:p>
        </p:txBody>
      </p:sp>
      <p:cxnSp>
        <p:nvCxnSpPr>
          <p:cNvPr id="42" name="Connector 41"/>
          <p:cNvCxnSpPr/>
          <p:nvPr/>
        </p:nvCxnSpPr>
        <p:spPr>
          <a:xfrm>
            <a:off x="7715646" y="5238597"/>
            <a:ext cx="1702889" cy="21304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418535" y="5175331"/>
            <a:ext cx="1659357"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Thảo luận ý kiến</a:t>
            </a:r>
          </a:p>
          <a:p>
            <a:pPr algn="ctr"/>
            <a:r>
              <a:rPr sz="1300" b="0">
                <a:solidFill>
                  <a:srgbClr val="000000"/>
                </a:solidFill>
                <a:latin typeface="Calibri"/>
              </a:rPr>
              <a:t>khác nhau</a:t>
            </a:r>
          </a:p>
        </p:txBody>
      </p:sp>
      <p:cxnSp>
        <p:nvCxnSpPr>
          <p:cNvPr id="44" name="Connector 43"/>
          <p:cNvCxnSpPr/>
          <p:nvPr/>
        </p:nvCxnSpPr>
        <p:spPr>
          <a:xfrm>
            <a:off x="7715646" y="5238597"/>
            <a:ext cx="1617037" cy="840557"/>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332683" y="5802843"/>
            <a:ext cx="1831061"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Củng cố trực tuyến</a:t>
            </a:r>
          </a:p>
          <a:p>
            <a:pPr algn="ctr"/>
            <a:r>
              <a:rPr sz="1300" b="0">
                <a:solidFill>
                  <a:srgbClr val="000000"/>
                </a:solidFill>
                <a:latin typeface="Calibri"/>
              </a:rPr>
              <a:t>(QR)</a:t>
            </a:r>
          </a:p>
        </p:txBody>
      </p:sp>
      <p:sp>
        <p:nvSpPr>
          <p:cNvPr id="46" name="Oval 45"/>
          <p:cNvSpPr/>
          <p:nvPr/>
        </p:nvSpPr>
        <p:spPr>
          <a:xfrm>
            <a:off x="6740679" y="4658216"/>
            <a:ext cx="1949933" cy="1160762"/>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Tiếng Việt</a:t>
            </a:r>
          </a:p>
          <a:p>
            <a:pPr algn="ctr"/>
            <a:r>
              <a:rPr sz="1500" b="1">
                <a:solidFill>
                  <a:srgbClr val="000000"/>
                </a:solidFill>
                <a:latin typeface="Calibri"/>
              </a:rPr>
              <a:t>– Viết –</a:t>
            </a:r>
          </a:p>
          <a:p>
            <a:pPr algn="ctr"/>
            <a:r>
              <a:rPr sz="1500" b="1">
                <a:solidFill>
                  <a:srgbClr val="000000"/>
                </a:solidFill>
                <a:latin typeface="Calibri"/>
              </a:rPr>
              <a:t>Nói</a:t>
            </a:r>
          </a:p>
        </p:txBody>
      </p:sp>
      <p:sp>
        <p:nvSpPr>
          <p:cNvPr id="47" name="Oval 46"/>
          <p:cNvSpPr/>
          <p:nvPr/>
        </p:nvSpPr>
        <p:spPr>
          <a:xfrm>
            <a:off x="4548415" y="3287245"/>
            <a:ext cx="2957704" cy="1335069"/>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NGHỆ THUẬT THUYẾT</a:t>
            </a:r>
          </a:p>
          <a:p>
            <a:pPr algn="ctr"/>
            <a:r>
              <a:rPr sz="1700" b="1">
                <a:solidFill>
                  <a:srgbClr val="FFFFFF"/>
                </a:solidFill>
                <a:latin typeface="Calibri"/>
              </a:rPr>
              <a:t>PHỤC TRONG VĂN</a:t>
            </a:r>
          </a:p>
          <a:p>
            <a:pPr algn="ctr"/>
            <a:r>
              <a:rPr sz="1700" b="1">
                <a:solidFill>
                  <a:srgbClr val="FFFFFF"/>
                </a:solidFill>
                <a:latin typeface="Calibri"/>
              </a:rPr>
              <a:t>NGHỊ LUẬN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097719" y="457200"/>
            <a:ext cx="154533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400" b="1">
                <a:solidFill>
                  <a:srgbClr val="FFFFFF"/>
                </a:solidFill>
                <a:latin typeface="Arial"/>
              </a:rPr>
              <a:t>CỦNG CỐ</a:t>
            </a:r>
          </a:p>
        </p:txBody>
      </p:sp>
      <p:sp>
        <p:nvSpPr>
          <p:cNvPr id="4" name="TextBox 3"/>
          <p:cNvSpPr txBox="1"/>
          <p:nvPr/>
        </p:nvSpPr>
        <p:spPr>
          <a:xfrm>
            <a:off x="731520" y="274320"/>
            <a:ext cx="9427464"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Ngữ văn 10 · Bài 3: Nghệ Thuật Thuyết Phục Trong Văn Nghị Luận          41</a:t>
            </a:r>
          </a:p>
        </p:txBody>
      </p:sp>
      <p:pic>
        <p:nvPicPr>
          <p:cNvPr id="7" name="Picture 6" descr="QR_van_cc_bai3_k10.png"/>
          <p:cNvPicPr>
            <a:picLocks noChangeAspect="1"/>
          </p:cNvPicPr>
          <p:nvPr/>
        </p:nvPicPr>
        <p:blipFill>
          <a:blip r:embed="rId2"/>
          <a:stretch>
            <a:fillRect/>
          </a:stretch>
        </p:blipFill>
        <p:spPr>
          <a:xfrm>
            <a:off x="1920240" y="1463040"/>
            <a:ext cx="3017520" cy="3017520"/>
          </a:xfrm>
          <a:prstGeom prst="rect">
            <a:avLst/>
          </a:prstGeom>
        </p:spPr>
      </p:pic>
      <p:sp>
        <p:nvSpPr>
          <p:cNvPr id="8" name="TextBox 7"/>
          <p:cNvSpPr txBox="1"/>
          <p:nvPr/>
        </p:nvSpPr>
        <p:spPr>
          <a:xfrm>
            <a:off x="731520" y="4572000"/>
            <a:ext cx="5394960" cy="1463040"/>
          </a:xfrm>
          <a:prstGeom prst="rect">
            <a:avLst/>
          </a:prstGeom>
          <a:noFill/>
        </p:spPr>
        <p:txBody>
          <a:bodyPr wrap="square" anchor="t" lIns="45720" rIns="45720">
            <a:spAutoFit/>
          </a:bodyPr>
          <a:lstStyle/>
          <a:p>
            <a:pPr algn="ctr">
              <a:spcAft>
                <a:spcPts val="800"/>
              </a:spcAft>
            </a:pPr>
            <a:r>
              <a:rPr sz="2000" b="1">
                <a:solidFill>
                  <a:srgbClr val="1E293B"/>
                </a:solidFill>
                <a:latin typeface="Calibri"/>
              </a:rPr>
              <a:t>Củng cố – Hiền tài…, Yêu và đồng cảm</a:t>
            </a:r>
          </a:p>
          <a:p>
            <a:pPr algn="ctr">
              <a:spcAft>
                <a:spcPts val="800"/>
              </a:spcAft>
            </a:pPr>
            <a:r>
              <a:rPr sz="1400">
                <a:solidFill>
                  <a:srgbClr val="64748B"/>
                </a:solidFill>
                <a:latin typeface="Calibri"/>
              </a:rPr>
              <a:t>trangtu66.github.io/Taode_thi_online/van_cc_bai3_k10.html</a:t>
            </a:r>
          </a:p>
        </p:txBody>
      </p:sp>
      <p:pic>
        <p:nvPicPr>
          <p:cNvPr id="9" name="Picture 8" descr="QR_van_cc_chubaulen_k10.png"/>
          <p:cNvPicPr>
            <a:picLocks noChangeAspect="1"/>
          </p:cNvPicPr>
          <p:nvPr/>
        </p:nvPicPr>
        <p:blipFill>
          <a:blip r:embed="rId3"/>
          <a:stretch>
            <a:fillRect/>
          </a:stretch>
        </p:blipFill>
        <p:spPr>
          <a:xfrm>
            <a:off x="7315200" y="1463040"/>
            <a:ext cx="3017520" cy="3017520"/>
          </a:xfrm>
          <a:prstGeom prst="rect">
            <a:avLst/>
          </a:prstGeom>
        </p:spPr>
      </p:pic>
      <p:sp>
        <p:nvSpPr>
          <p:cNvPr id="10" name="TextBox 9"/>
          <p:cNvSpPr txBox="1"/>
          <p:nvPr/>
        </p:nvSpPr>
        <p:spPr>
          <a:xfrm>
            <a:off x="6126480" y="4572000"/>
            <a:ext cx="5394960" cy="1463040"/>
          </a:xfrm>
          <a:prstGeom prst="rect">
            <a:avLst/>
          </a:prstGeom>
          <a:noFill/>
        </p:spPr>
        <p:txBody>
          <a:bodyPr wrap="square" anchor="t" lIns="45720" rIns="45720">
            <a:spAutoFit/>
          </a:bodyPr>
          <a:lstStyle/>
          <a:p>
            <a:pPr algn="ctr">
              <a:spcAft>
                <a:spcPts val="800"/>
              </a:spcAft>
            </a:pPr>
            <a:r>
              <a:rPr sz="2000" b="1">
                <a:solidFill>
                  <a:srgbClr val="1E293B"/>
                </a:solidFill>
                <a:latin typeface="Calibri"/>
              </a:rPr>
              <a:t>Củng cố – Chữ bầu lên nhà thơ</a:t>
            </a:r>
          </a:p>
          <a:p>
            <a:pPr algn="ctr">
              <a:spcAft>
                <a:spcPts val="800"/>
              </a:spcAft>
            </a:pPr>
            <a:r>
              <a:rPr sz="1400">
                <a:solidFill>
                  <a:srgbClr val="64748B"/>
                </a:solidFill>
                <a:latin typeface="Calibri"/>
              </a:rPr>
              <a:t>trangtu66.github.io/Taode_thi_online/van_cc_chubaulen_k10.html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