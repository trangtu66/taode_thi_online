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nêu mục tiêu; HS ghi vào vở. Nhắc HS chuẩn bị điện thoại để làm bài củng cố cuối tiết.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tr.47.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tr.50.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youtube.com/watch?v=uS7Hxn7RKDo" TargetMode="External"/><Relationship Id="rId4"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www.youtube.com/watch?v=WJr3ux-UmG4" TargetMode="External"/><Relationship Id="rId4"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youtube.com/watch?v=Qvss02_9RAk" TargetMode="External"/><Relationship Id="rId4"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youtube.com/watch?v=0Ff0pYhbatU" TargetMode="External"/><Relationship Id="rId4"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youtube.com/watch?v=c5RVyHI_TeU" TargetMode="External"/><Relationship Id="rId4"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2011680"/>
            <a:ext cx="12191695" cy="237744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2011680"/>
          </a:xfrm>
          <a:prstGeom prst="rect">
            <a:avLst/>
          </a:prstGeom>
          <a:noFill/>
        </p:spPr>
        <p:txBody>
          <a:bodyPr wrap="square" anchor="ctr" lIns="45720" rIns="45720">
            <a:spAutoFit/>
          </a:bodyPr>
          <a:lstStyle/>
          <a:p>
            <a:pPr algn="ctr">
              <a:spcAft>
                <a:spcPts val="800"/>
              </a:spcAft>
            </a:pPr>
            <a:r>
              <a:rPr sz="4000" b="1">
                <a:solidFill>
                  <a:srgbClr val="FFFFFF"/>
                </a:solidFill>
                <a:latin typeface="Calibri"/>
              </a:rPr>
              <a:t>BÀI 2: VẺ ĐẸP CỦA THƠ CA</a:t>
            </a:r>
          </a:p>
          <a:p>
            <a:pPr algn="ctr">
              <a:spcAft>
                <a:spcPts val="800"/>
              </a:spcAft>
            </a:pPr>
            <a:r>
              <a:rPr sz="2400">
                <a:solidFill>
                  <a:srgbClr val="FFFFFF"/>
                </a:solidFill>
                <a:latin typeface="Calibri"/>
              </a:rPr>
              <a:t>Ngữ văn 10 – Kết nối tri thức với cuộc sống · 11 tiết</a:t>
            </a:r>
          </a:p>
        </p:txBody>
      </p:sp>
      <p:sp>
        <p:nvSpPr>
          <p:cNvPr id="4" name="TextBox 3"/>
          <p:cNvSpPr txBox="1"/>
          <p:nvPr/>
        </p:nvSpPr>
        <p:spPr>
          <a:xfrm>
            <a:off x="731520" y="4846320"/>
            <a:ext cx="10698480" cy="914400"/>
          </a:xfrm>
          <a:prstGeom prst="rect">
            <a:avLst/>
          </a:prstGeom>
          <a:noFill/>
        </p:spPr>
        <p:txBody>
          <a:bodyPr wrap="square" anchor="t" lIns="45720" rIns="45720">
            <a:spAutoFit/>
          </a:bodyPr>
          <a:lstStyle/>
          <a:p>
            <a:pPr algn="l">
              <a:spcAft>
                <a:spcPts val="800"/>
              </a:spcAft>
            </a:pPr>
            <a:r>
              <a:rPr sz="2000">
                <a:solidFill>
                  <a:srgbClr val="64748B"/>
                </a:solidFill>
                <a:latin typeface="Calibri"/>
              </a:rPr>
              <a:t>Trường THPT Vĩnh Thạnh – Tổ Ngữ văn – Tiếng Anh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MỤC TIÊU</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Phân tích, đánh giá giá trị thẩm mĩ của từ ngữ, hình ảnh, vần, nhịp, đối, nhân vật trữ tình trong thơ.</a:t>
            </a:r>
          </a:p>
          <a:p>
            <a:pPr algn="l" marL="365760" indent="-365760">
              <a:spcAft>
                <a:spcPts val="800"/>
              </a:spcAft>
              <a:buClr>
                <a:srgbClr val="1E40AF"/>
              </a:buClr>
              <a:buFont typeface="Arial"/>
              <a:buChar char="•"/>
            </a:pPr>
            <a:r>
              <a:rPr sz="2200">
                <a:solidFill>
                  <a:srgbClr val="1E293B"/>
                </a:solidFill>
                <a:latin typeface="Calibri"/>
              </a:rPr>
              <a:t>Liên hệ điểm gần gũi về nội dung giữa các tác phẩm thơ thuộc hai nền văn hoá khác nhau.</a:t>
            </a:r>
          </a:p>
          <a:p>
            <a:pPr algn="l" marL="365760" indent="-365760">
              <a:spcAft>
                <a:spcPts val="800"/>
              </a:spcAft>
              <a:buClr>
                <a:srgbClr val="1E40AF"/>
              </a:buClr>
              <a:buFont typeface="Arial"/>
              <a:buChar char="•"/>
            </a:pPr>
            <a:r>
              <a:rPr sz="2200">
                <a:solidFill>
                  <a:srgbClr val="1E293B"/>
                </a:solidFill>
                <a:latin typeface="Calibri"/>
              </a:rPr>
              <a:t>Nhận biết lỗi dùng từ, lỗi về trật tự từ và biết cách sửa.</a:t>
            </a:r>
          </a:p>
          <a:p>
            <a:pPr algn="l" marL="365760" indent="-365760">
              <a:spcAft>
                <a:spcPts val="800"/>
              </a:spcAft>
              <a:buClr>
                <a:srgbClr val="1E40AF"/>
              </a:buClr>
              <a:buFont typeface="Arial"/>
              <a:buChar char="•"/>
            </a:pPr>
            <a:r>
              <a:rPr sz="2200">
                <a:solidFill>
                  <a:srgbClr val="1E293B"/>
                </a:solidFill>
                <a:latin typeface="Calibri"/>
              </a:rPr>
              <a:t>Viết văn bản nghị luận phân tích, đánh giá chủ đề và nét đặc sắc nghệ thuật của một tác phẩm thơ.</a:t>
            </a:r>
          </a:p>
          <a:p>
            <a:pPr algn="l" marL="365760" indent="-365760">
              <a:spcAft>
                <a:spcPts val="800"/>
              </a:spcAft>
              <a:buClr>
                <a:srgbClr val="1E40AF"/>
              </a:buClr>
              <a:buFont typeface="Arial"/>
              <a:buChar char="•"/>
            </a:pPr>
            <a:r>
              <a:rPr sz="2200">
                <a:solidFill>
                  <a:srgbClr val="1E293B"/>
                </a:solidFill>
                <a:latin typeface="Calibri"/>
              </a:rPr>
              <a:t>Thuyết trình giới thiệu, đánh giá nội dung và nghệ thuật của một tác phẩm thơ.</a:t>
            </a:r>
          </a:p>
          <a:p>
            <a:pPr algn="l" marL="365760" indent="-365760">
              <a:spcAft>
                <a:spcPts val="800"/>
              </a:spcAft>
              <a:buClr>
                <a:srgbClr val="1E40AF"/>
              </a:buClr>
              <a:buFont typeface="Arial"/>
              <a:buChar char="•"/>
            </a:pPr>
            <a:r>
              <a:rPr sz="2200">
                <a:solidFill>
                  <a:srgbClr val="1E293B"/>
                </a:solidFill>
                <a:latin typeface="Calibri"/>
              </a:rPr>
              <a:t>Nuôi dưỡng đời sống tâm hồn phong phú, rung động trước vẻ đẹp đa dạng của cuộc sống.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12: CHÙM THƠ HAI-CƯ NHẬT BẢN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KHỞI ĐỘNG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Bài thơ ngắn nhất mà bạn từng đọc là bài nào?</a:t>
            </a:r>
          </a:p>
          <a:p>
            <a:pPr algn="l">
              <a:spcAft>
                <a:spcPts val="800"/>
              </a:spcAft>
            </a:pPr>
            <a:r>
              <a:rPr sz="2600" b="1">
                <a:solidFill>
                  <a:srgbClr val="1E293B"/>
                </a:solidFill>
                <a:latin typeface="Calibri"/>
              </a:rPr>
              <a:t>Điều gì khiến nó được bạn nhớ tới?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5</a:t>
            </a:r>
          </a:p>
        </p:txBody>
      </p:sp>
      <p:pic>
        <p:nvPicPr>
          <p:cNvPr id="7" name="Picture 6" descr="QR_video_uS7Hxn7RKDo.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Matsuo Bashō – Người khai sáng thơ Haiku Nhật Bản</a:t>
            </a:r>
          </a:p>
          <a:p>
            <a:pPr algn="l">
              <a:spcAft>
                <a:spcPts val="800"/>
              </a:spcAft>
            </a:pPr>
            <a:r>
              <a:rPr sz="2000">
                <a:solidFill>
                  <a:srgbClr val="64748B"/>
                </a:solidFill>
                <a:latin typeface="Calibri"/>
              </a:rPr>
              <a:t>Kênh: Người Nổi Tiếng</a:t>
            </a:r>
          </a:p>
          <a:p>
            <a:pPr algn="l" marL="365760" indent="-365760">
              <a:spcAft>
                <a:spcPts val="800"/>
              </a:spcAft>
              <a:buClr>
                <a:srgbClr val="1E40AF"/>
              </a:buClr>
              <a:buFont typeface="Arial"/>
              <a:buChar char="•"/>
            </a:pPr>
            <a:r>
              <a:rPr sz="2000">
                <a:solidFill>
                  <a:srgbClr val="1E293B"/>
                </a:solidFill>
                <a:latin typeface="Calibri"/>
              </a:rPr>
              <a:t>Tìm hiểu tác giả Ba-sô, thể thơ hai-cư</a:t>
            </a:r>
          </a:p>
          <a:p>
            <a:pPr algn="l">
              <a:spcAft>
                <a:spcPts val="800"/>
              </a:spcAft>
            </a:pPr>
            <a:r>
              <a:rPr sz="1600">
                <a:solidFill>
                  <a:srgbClr val="64748B"/>
                </a:solidFill>
                <a:latin typeface="Calibri"/>
                <a:hlinkClick r:id="rId3"/>
              </a:rPr>
              <a:t>https://www.youtube.com/watch?v=uS7Hxn7RKDo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TRI THỨC NGỮ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6</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Nhân vật trữ tình</a:t>
            </a:r>
            <a:r>
              <a:rPr sz="2400">
                <a:solidFill>
                  <a:srgbClr val="1E293B"/>
                </a:solidFill>
                <a:latin typeface="Calibri"/>
              </a:rPr>
              <a:t>: người trực tiếp bộc lộ rung động, tình cảm trong bài thơ.</a:t>
            </a:r>
          </a:p>
          <a:p>
            <a:pPr algn="l" marL="365760" indent="-365760">
              <a:spcAft>
                <a:spcPts val="800"/>
              </a:spcAft>
              <a:buClr>
                <a:srgbClr val="1E40AF"/>
              </a:buClr>
              <a:buFont typeface="Arial"/>
              <a:buChar char="•"/>
            </a:pPr>
            <a:r>
              <a:rPr sz="2400" b="1">
                <a:solidFill>
                  <a:srgbClr val="1E293B"/>
                </a:solidFill>
                <a:latin typeface="Calibri"/>
              </a:rPr>
              <a:t>Hình ảnh thơ</a:t>
            </a:r>
            <a:r>
              <a:rPr sz="2400">
                <a:solidFill>
                  <a:srgbClr val="1E293B"/>
                </a:solidFill>
                <a:latin typeface="Calibri"/>
              </a:rPr>
              <a:t>: sự vật, hiện tượng tái tạo cụ thể bằng ngôn từ, khơi cảm giác.</a:t>
            </a:r>
          </a:p>
          <a:p>
            <a:pPr algn="l" marL="365760" indent="-365760">
              <a:spcAft>
                <a:spcPts val="800"/>
              </a:spcAft>
              <a:buClr>
                <a:srgbClr val="1E40AF"/>
              </a:buClr>
              <a:buFont typeface="Arial"/>
              <a:buChar char="•"/>
            </a:pPr>
            <a:r>
              <a:rPr sz="2400" b="1">
                <a:solidFill>
                  <a:srgbClr val="1E293B"/>
                </a:solidFill>
                <a:latin typeface="Calibri"/>
              </a:rPr>
              <a:t>Vần, nhịp, nhạc điệu, đối</a:t>
            </a:r>
            <a:r>
              <a:rPr sz="2400">
                <a:solidFill>
                  <a:srgbClr val="1E293B"/>
                </a:solidFill>
                <a:latin typeface="Calibri"/>
              </a:rPr>
              <a:t>: tạo âm hưởng, liên kết, sự cân xứng.</a:t>
            </a:r>
          </a:p>
          <a:p>
            <a:pPr algn="l" marL="365760" indent="-365760">
              <a:spcAft>
                <a:spcPts val="800"/>
              </a:spcAft>
              <a:buClr>
                <a:srgbClr val="1E40AF"/>
              </a:buClr>
              <a:buFont typeface="Arial"/>
              <a:buChar char="•"/>
            </a:pPr>
            <a:r>
              <a:rPr sz="2400" b="1">
                <a:solidFill>
                  <a:srgbClr val="1E293B"/>
                </a:solidFill>
                <a:latin typeface="Calibri"/>
              </a:rPr>
              <a:t>Thi luật, thể thơ</a:t>
            </a:r>
            <a:r>
              <a:rPr sz="2400">
                <a:solidFill>
                  <a:srgbClr val="1E293B"/>
                </a:solidFill>
                <a:latin typeface="Calibri"/>
              </a:rPr>
              <a:t>: quy tắc tổ chức ngôn từ; hai-cư, Đường luật, Thơ mới…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HÌNH ẢNH TRUNG TÂM CỦA THƠ HAI-CƯ</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7</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Nhận diện hình ảnh trung tâm ở từng bài thơ hai-cư và cho biết đặc điểm chung của các hình ảnh ấy.</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Mỗi bài thơ xoay quanh một sự vật nào?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HÌNH ẢNH TRUNG TÂM CỦA THƠ HAI-CƯ</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8</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Ba-sô: cánh quạ trên cành khô.</a:t>
            </a:r>
          </a:p>
          <a:p>
            <a:pPr algn="l" marL="365760" indent="-365760">
              <a:spcAft>
                <a:spcPts val="800"/>
              </a:spcAft>
              <a:buClr>
                <a:srgbClr val="1E40AF"/>
              </a:buClr>
              <a:buFont typeface="Arial"/>
              <a:buChar char="•"/>
            </a:pPr>
            <a:r>
              <a:rPr sz="2300">
                <a:solidFill>
                  <a:srgbClr val="1E293B"/>
                </a:solidFill>
                <a:latin typeface="Calibri"/>
              </a:rPr>
              <a:t>Chi-y-ô: hoa triêu nhan quấn dây gàu.</a:t>
            </a:r>
          </a:p>
          <a:p>
            <a:pPr algn="l" marL="365760" indent="-365760">
              <a:spcAft>
                <a:spcPts val="800"/>
              </a:spcAft>
              <a:buClr>
                <a:srgbClr val="1E40AF"/>
              </a:buClr>
              <a:buFont typeface="Arial"/>
              <a:buChar char="•"/>
            </a:pPr>
            <a:r>
              <a:rPr sz="2300">
                <a:solidFill>
                  <a:srgbClr val="1E293B"/>
                </a:solidFill>
                <a:latin typeface="Calibri"/>
              </a:rPr>
              <a:t>Ít-sa: con ốc nhỏ trèo núi Phú Sĩ.</a:t>
            </a:r>
          </a:p>
          <a:p>
            <a:pPr algn="l" marL="365760" indent="-365760">
              <a:spcAft>
                <a:spcPts val="800"/>
              </a:spcAft>
              <a:buClr>
                <a:srgbClr val="1E40AF"/>
              </a:buClr>
              <a:buFont typeface="Arial"/>
              <a:buChar char="•"/>
            </a:pPr>
            <a:r>
              <a:rPr sz="2300">
                <a:solidFill>
                  <a:srgbClr val="1E293B"/>
                </a:solidFill>
                <a:latin typeface="Calibri"/>
              </a:rPr>
              <a:t>Điểm chung: sự vật bình dị, nhỏ bé của thiên nhiên, mang tính tượng trưng.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Thơ hai-cư: hình ảnh bình dị, khơi gợi nhiều hơn diễn giải.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PHÁT HIỆN VÀ TRIẾT LÍ</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9</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Bài thơ của Chi-y-ô xoay quanh phát hiện nào? Vì sao phát hiện ấy dẫn nhân vật trữ tình sang “xin nước nhà bên”? Ý nghĩa triết lí?</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Nhân vật trữ tình có nỡ làm đứt dây hoa?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PHÁT HIỆN VÀ TRIẾT LÍ</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10</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Phát hiện: dây gàu bị hoa triêu nhan quấn vướng.</a:t>
            </a:r>
          </a:p>
          <a:p>
            <a:pPr algn="l" marL="365760" indent="-365760">
              <a:spcAft>
                <a:spcPts val="800"/>
              </a:spcAft>
              <a:buClr>
                <a:srgbClr val="1E40AF"/>
              </a:buClr>
              <a:buFont typeface="Arial"/>
              <a:buChar char="•"/>
            </a:pPr>
            <a:r>
              <a:rPr sz="2300">
                <a:solidFill>
                  <a:srgbClr val="1E293B"/>
                </a:solidFill>
                <a:latin typeface="Calibri"/>
              </a:rPr>
              <a:t>Không nỡ làm tổn thương bông hoa → đành xin nước nhà bên.</a:t>
            </a:r>
          </a:p>
          <a:p>
            <a:pPr algn="l" marL="365760" indent="-365760">
              <a:spcAft>
                <a:spcPts val="800"/>
              </a:spcAft>
              <a:buClr>
                <a:srgbClr val="1E40AF"/>
              </a:buClr>
              <a:buFont typeface="Arial"/>
              <a:buChar char="•"/>
            </a:pPr>
            <a:r>
              <a:rPr sz="2300">
                <a:solidFill>
                  <a:srgbClr val="1E293B"/>
                </a:solidFill>
                <a:latin typeface="Calibri"/>
              </a:rPr>
              <a:t>Triết lí: trân trọng, nâng niu sự sống; ứng xử hài hoà với thiên nhiên.</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Tình yêu thiên nhiên tinh tế, nhân hậu.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HÀNH TRÌNH “CHẬM RÌ” CỦA CON ỐC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11</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cảm nhận như thế nào về hành trình “chậm rì” của con ốc trong bài thơ của Ít-sa?</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Đặt con ốc cạnh núi Phú Sĩ.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HÀNH TRÌNH “CHẬM RÌ” CỦA CON ỐC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12</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Con ốc nhỏ bé, chậm chạp ↔ núi Phú Sĩ cao lớn.</a:t>
            </a:r>
          </a:p>
          <a:p>
            <a:pPr algn="l" marL="365760" indent="-365760">
              <a:spcAft>
                <a:spcPts val="800"/>
              </a:spcAft>
              <a:buClr>
                <a:srgbClr val="1E40AF"/>
              </a:buClr>
              <a:buFont typeface="Arial"/>
              <a:buChar char="•"/>
            </a:pPr>
            <a:r>
              <a:rPr sz="2300">
                <a:solidFill>
                  <a:srgbClr val="1E293B"/>
                </a:solidFill>
                <a:latin typeface="Calibri"/>
              </a:rPr>
              <a:t>Hành trình bền bỉ, kiên nhẫn.</a:t>
            </a:r>
          </a:p>
          <a:p>
            <a:pPr algn="l" marL="365760" indent="-365760">
              <a:spcAft>
                <a:spcPts val="800"/>
              </a:spcAft>
              <a:buClr>
                <a:srgbClr val="1E40AF"/>
              </a:buClr>
              <a:buFont typeface="Arial"/>
              <a:buChar char="•"/>
            </a:pPr>
            <a:r>
              <a:rPr sz="2300">
                <a:solidFill>
                  <a:srgbClr val="1E293B"/>
                </a:solidFill>
                <a:latin typeface="Calibri"/>
              </a:rPr>
              <a:t>Gợi niềm tin: cái nhỏ bé vẫn có thể vươn tới cái lớn lao.</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Ngợi ca ý chí kiên trì.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13 – 14: THU HỨNG (Đỗ Phủ)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14</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Chia sẻ ấn tượng về đặc điểm hình thức, nội dung của những bài thơ Đường luật đã học ở THCS.</a:t>
            </a:r>
          </a:p>
          <a:p>
            <a:pPr algn="l">
              <a:spcAft>
                <a:spcPts val="800"/>
              </a:spcAft>
            </a:pPr>
            <a:r>
              <a:rPr sz="2600" b="1">
                <a:solidFill>
                  <a:srgbClr val="1E293B"/>
                </a:solidFill>
                <a:latin typeface="Calibri"/>
              </a:rPr>
              <a:t>Bạn đã bao giờ xa gia đình và thấy nhớ nhà?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15</a:t>
            </a:r>
          </a:p>
        </p:txBody>
      </p:sp>
      <p:pic>
        <p:nvPicPr>
          <p:cNvPr id="7" name="Picture 6" descr="QR_video_WJr3ux-UmG4.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Cảm xúc mùa thu (Thu hứng bài 1, Đỗ Phủ) – Ngữ văn 10 KNTT</a:t>
            </a:r>
          </a:p>
          <a:p>
            <a:pPr algn="l">
              <a:spcAft>
                <a:spcPts val="800"/>
              </a:spcAft>
            </a:pPr>
            <a:r>
              <a:rPr sz="2000">
                <a:solidFill>
                  <a:srgbClr val="64748B"/>
                </a:solidFill>
                <a:latin typeface="Calibri"/>
              </a:rPr>
              <a:t>Kênh: Học liệu số giáo dục</a:t>
            </a:r>
          </a:p>
          <a:p>
            <a:pPr algn="l" marL="365760" indent="-365760">
              <a:spcAft>
                <a:spcPts val="800"/>
              </a:spcAft>
              <a:buClr>
                <a:srgbClr val="1E40AF"/>
              </a:buClr>
              <a:buFont typeface="Arial"/>
              <a:buChar char="•"/>
            </a:pPr>
            <a:r>
              <a:rPr sz="2000">
                <a:solidFill>
                  <a:srgbClr val="1E293B"/>
                </a:solidFill>
                <a:latin typeface="Calibri"/>
              </a:rPr>
              <a:t>Đọc, tìm hiểu Thu hứng</a:t>
            </a:r>
          </a:p>
          <a:p>
            <a:pPr algn="l">
              <a:spcAft>
                <a:spcPts val="800"/>
              </a:spcAft>
            </a:pPr>
            <a:r>
              <a:rPr sz="1600">
                <a:solidFill>
                  <a:srgbClr val="64748B"/>
                </a:solidFill>
                <a:latin typeface="Calibri"/>
                <a:hlinkClick r:id="rId3"/>
              </a:rPr>
              <a:t>https://www.youtube.com/watch?v=WJr3ux-UmG4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ĐẶC ĐIỂM THƠ ĐƯỜNG LUẬT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Mô tả một số đặc điểm cơ bản của thơ Đường luật (bố cục, gieo vần, luật bằng – trắc, phép đối) được thể hiện trong bài Thu hứng.</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Bài thơ có bao nhiêu câu, mỗi câu mấy chữ?</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ĐẶC ĐIỂM THƠ ĐƯỜNG LUẬT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Thất ngôn bát cú: 8 câu, mỗi câu 7 chữ.</a:t>
            </a:r>
          </a:p>
          <a:p>
            <a:pPr algn="l" marL="365760" indent="-365760">
              <a:spcAft>
                <a:spcPts val="800"/>
              </a:spcAft>
              <a:buClr>
                <a:srgbClr val="1E40AF"/>
              </a:buClr>
              <a:buFont typeface="Arial"/>
              <a:buChar char="•"/>
            </a:pPr>
            <a:r>
              <a:rPr sz="2300">
                <a:solidFill>
                  <a:srgbClr val="1E293B"/>
                </a:solidFill>
                <a:latin typeface="Calibri"/>
              </a:rPr>
              <a:t>Bố cục đề – thực – luận – kết.</a:t>
            </a:r>
          </a:p>
          <a:p>
            <a:pPr algn="l" marL="365760" indent="-365760">
              <a:spcAft>
                <a:spcPts val="800"/>
              </a:spcAft>
              <a:buClr>
                <a:srgbClr val="1E40AF"/>
              </a:buClr>
              <a:buFont typeface="Arial"/>
              <a:buChar char="•"/>
            </a:pPr>
            <a:r>
              <a:rPr sz="2300">
                <a:solidFill>
                  <a:srgbClr val="1E293B"/>
                </a:solidFill>
                <a:latin typeface="Calibri"/>
              </a:rPr>
              <a:t>Gieo một vần bằng ở câu 1, 2, 4, 6, 8.</a:t>
            </a:r>
          </a:p>
          <a:p>
            <a:pPr algn="l" marL="365760" indent="-365760">
              <a:spcAft>
                <a:spcPts val="800"/>
              </a:spcAft>
              <a:buClr>
                <a:srgbClr val="1E40AF"/>
              </a:buClr>
              <a:buFont typeface="Arial"/>
              <a:buChar char="•"/>
            </a:pPr>
            <a:r>
              <a:rPr sz="2300">
                <a:solidFill>
                  <a:srgbClr val="1E293B"/>
                </a:solidFill>
                <a:latin typeface="Calibri"/>
              </a:rPr>
              <a:t>Đối ở câu 3 – 4 và 5 – 6.</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Thi luật chặt chẽ, cân đối, hài hoà.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CẢNH THU TRONG BỐN CÂU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Những hình ảnh và từ ngữ nào gợi không khí cảnh thu trong bốn câu đầu? Khung cảnh ấy gợi cho bạn ấn tượng gì?</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ý không gian cao – thấp, gần – xa.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CẢNH THU TRONG BỐN CÂU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Rừng phong tiêu điều, sương móc trắng xoá.</a:t>
            </a:r>
          </a:p>
          <a:p>
            <a:pPr algn="l" marL="365760" indent="-365760">
              <a:spcAft>
                <a:spcPts val="800"/>
              </a:spcAft>
              <a:buClr>
                <a:srgbClr val="1E40AF"/>
              </a:buClr>
              <a:buFont typeface="Arial"/>
              <a:buChar char="•"/>
            </a:pPr>
            <a:r>
              <a:rPr sz="2300">
                <a:solidFill>
                  <a:srgbClr val="1E293B"/>
                </a:solidFill>
                <a:latin typeface="Calibri"/>
              </a:rPr>
              <a:t>Núi Vu, kẽm Vu hơi thu hiu hắt.</a:t>
            </a:r>
          </a:p>
          <a:p>
            <a:pPr algn="l" marL="365760" indent="-365760">
              <a:spcAft>
                <a:spcPts val="800"/>
              </a:spcAft>
              <a:buClr>
                <a:srgbClr val="1E40AF"/>
              </a:buClr>
              <a:buFont typeface="Arial"/>
              <a:buChar char="•"/>
            </a:pPr>
            <a:r>
              <a:rPr sz="2300">
                <a:solidFill>
                  <a:srgbClr val="1E293B"/>
                </a:solidFill>
                <a:latin typeface="Calibri"/>
              </a:rPr>
              <a:t>Sóng vọt lưng trời, mây sà mặt đất.</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Cảnh thu hùng vĩ mà ảm đạm – gợi thời thế loạn li.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TÂM TRẠNG NHÂN VẬT TRỮ TÌNH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Qua hai câu 5 – 6 và hai câu kết, người đọc nhận biết được điều gì về nhân vật trữ tình?</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“Lệ cũ”, “tình nhà”, tiếng chày đập vải…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TÂM TRẠNG NHÂN VẬT TRỮ TÌNH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Khóm cúc nở hai lần – hai năm xa quê; “lệ cũ” tuôn rơi.</a:t>
            </a:r>
          </a:p>
          <a:p>
            <a:pPr algn="l" marL="365760" indent="-365760">
              <a:spcAft>
                <a:spcPts val="800"/>
              </a:spcAft>
              <a:buClr>
                <a:srgbClr val="1E40AF"/>
              </a:buClr>
              <a:buFont typeface="Arial"/>
              <a:buChar char="•"/>
            </a:pPr>
            <a:r>
              <a:rPr sz="2300">
                <a:solidFill>
                  <a:srgbClr val="1E293B"/>
                </a:solidFill>
                <a:latin typeface="Calibri"/>
              </a:rPr>
              <a:t>Con thuyền buộc chặt tấm lòng nhớ vườn cũ.</a:t>
            </a:r>
          </a:p>
          <a:p>
            <a:pPr algn="l" marL="365760" indent="-365760">
              <a:spcAft>
                <a:spcPts val="800"/>
              </a:spcAft>
              <a:buClr>
                <a:srgbClr val="1E40AF"/>
              </a:buClr>
              <a:buFont typeface="Arial"/>
              <a:buChar char="•"/>
            </a:pPr>
            <a:r>
              <a:rPr sz="2300">
                <a:solidFill>
                  <a:srgbClr val="1E293B"/>
                </a:solidFill>
                <a:latin typeface="Calibri"/>
              </a:rPr>
              <a:t>Tiếng dao thước, tiếng chày dồn dập → nỗi nhớ nhà da diết.</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Nỗi nhớ quê, nỗi buồn thân phận tha hương.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CHỈ LÀ NỖI NIỀM CÁ NHÂN?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22</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Thu hứng viết trong hoàn cảnh đặc biệt của cuộc đời Đỗ Phủ. Phải chăng tác phẩm chỉ thể hiện nỗi niềm thân phận cá nhân?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Liên hệ hoàn cảnh sau loạn An – Sử.</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CHỈ LÀ NỖI NIỀM CÁ NHÂN?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23</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Nỗi niềm cá nhân gắn với nỗi đau thời thế, đất nước loạn li.</a:t>
            </a:r>
          </a:p>
          <a:p>
            <a:pPr algn="l" marL="365760" indent="-365760">
              <a:spcAft>
                <a:spcPts val="800"/>
              </a:spcAft>
              <a:buClr>
                <a:srgbClr val="1E40AF"/>
              </a:buClr>
              <a:buFont typeface="Arial"/>
              <a:buChar char="•"/>
            </a:pPr>
            <a:r>
              <a:rPr sz="2300">
                <a:solidFill>
                  <a:srgbClr val="1E293B"/>
                </a:solidFill>
                <a:latin typeface="Calibri"/>
              </a:rPr>
              <a:t>Cảnh thu u uất – hình ảnh thời cuộc.</a:t>
            </a:r>
          </a:p>
          <a:p>
            <a:pPr algn="l" marL="365760" indent="-365760">
              <a:spcAft>
                <a:spcPts val="800"/>
              </a:spcAft>
              <a:buClr>
                <a:srgbClr val="1E40AF"/>
              </a:buClr>
              <a:buFont typeface="Arial"/>
              <a:buChar char="•"/>
            </a:pPr>
            <a:r>
              <a:rPr sz="2300">
                <a:solidFill>
                  <a:srgbClr val="1E293B"/>
                </a:solidFill>
                <a:latin typeface="Calibri"/>
              </a:rPr>
              <a:t>Tấm lòng yêu nước, thương đời của Thi thánh.</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Tả cảnh ngụ tình; cá nhân hoà vào thời đại.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15 – 16: MÙA XUÂN CHÍN (Hàn Mặc Tử)</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25</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nhớ những bài thơ, câu thơ nào về mùa xuân?</a:t>
            </a:r>
          </a:p>
          <a:p>
            <a:pPr algn="l">
              <a:spcAft>
                <a:spcPts val="800"/>
              </a:spcAft>
            </a:pPr>
            <a:r>
              <a:rPr sz="2600" b="1">
                <a:solidFill>
                  <a:srgbClr val="1E293B"/>
                </a:solidFill>
                <a:latin typeface="Calibri"/>
              </a:rPr>
              <a:t>Điều gì khiến bạn ấn tượng ở những câu thơ ấy?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26</a:t>
            </a:r>
          </a:p>
        </p:txBody>
      </p:sp>
      <p:pic>
        <p:nvPicPr>
          <p:cNvPr id="7" name="Picture 6" descr="QR_video_Qvss02_9RAk.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Bài thơ Mùa xuân chín – Hàn Mặc Tử – NSƯT Trần Thị Tuyết diễn ngâm</a:t>
            </a:r>
          </a:p>
          <a:p>
            <a:pPr algn="l">
              <a:spcAft>
                <a:spcPts val="800"/>
              </a:spcAft>
            </a:pPr>
            <a:r>
              <a:rPr sz="2000">
                <a:solidFill>
                  <a:srgbClr val="64748B"/>
                </a:solidFill>
                <a:latin typeface="Calibri"/>
              </a:rPr>
              <a:t>Kênh: Lê &amp; H</a:t>
            </a:r>
          </a:p>
          <a:p>
            <a:pPr algn="l" marL="365760" indent="-365760">
              <a:spcAft>
                <a:spcPts val="800"/>
              </a:spcAft>
              <a:buClr>
                <a:srgbClr val="1E40AF"/>
              </a:buClr>
              <a:buFont typeface="Arial"/>
              <a:buChar char="•"/>
            </a:pPr>
            <a:r>
              <a:rPr sz="2000">
                <a:solidFill>
                  <a:srgbClr val="1E293B"/>
                </a:solidFill>
                <a:latin typeface="Calibri"/>
              </a:rPr>
              <a:t>Đọc diễn cảm Mùa xuân chín</a:t>
            </a:r>
          </a:p>
          <a:p>
            <a:pPr algn="l">
              <a:spcAft>
                <a:spcPts val="800"/>
              </a:spcAft>
            </a:pPr>
            <a:r>
              <a:rPr sz="1600">
                <a:solidFill>
                  <a:srgbClr val="64748B"/>
                </a:solidFill>
                <a:latin typeface="Calibri"/>
                <a:hlinkClick r:id="rId3"/>
              </a:rPr>
              <a:t>https://www.youtube.com/watch?v=Qvss02_9RAk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NHAN ĐỀ VÀ TRẠNG THÁI “CHÍN”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27</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Nhan đề Mùa xuân chín được cấu tạo bởi những từ thuộc từ loại nào, gợi liên tưởng gì? Trạng thái “chín” được thể hiện bằng những từ ngữ nào?</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“Chín” thường dùng cho sự vật nào?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NHAN ĐỀ VÀ TRẠNG THÁI “CHÍN”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28</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Danh từ “mùa xuân” + tính từ “chín”.</a:t>
            </a:r>
          </a:p>
          <a:p>
            <a:pPr algn="l" marL="365760" indent="-365760">
              <a:spcAft>
                <a:spcPts val="800"/>
              </a:spcAft>
              <a:buClr>
                <a:srgbClr val="1E40AF"/>
              </a:buClr>
              <a:buFont typeface="Arial"/>
              <a:buChar char="•"/>
            </a:pPr>
            <a:r>
              <a:rPr sz="2300">
                <a:solidFill>
                  <a:srgbClr val="1E293B"/>
                </a:solidFill>
                <a:latin typeface="Calibri"/>
              </a:rPr>
              <a:t>Gợi mùa xuân viên mãn, căng tràn như trái chín.</a:t>
            </a:r>
          </a:p>
          <a:p>
            <a:pPr algn="l" marL="365760" indent="-365760">
              <a:spcAft>
                <a:spcPts val="800"/>
              </a:spcAft>
              <a:buClr>
                <a:srgbClr val="1E40AF"/>
              </a:buClr>
              <a:buFont typeface="Arial"/>
              <a:buChar char="•"/>
            </a:pPr>
            <a:r>
              <a:rPr sz="2300">
                <a:solidFill>
                  <a:srgbClr val="1E293B"/>
                </a:solidFill>
                <a:latin typeface="Calibri"/>
              </a:rPr>
              <a:t>“lấm tấm vàng”, “bóng xuân sang”, “sóng cỏ xanh tươi gợn tới trời”.</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Mùa xuân ở độ đẹp nhất, rạo rực nhất.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NGÔN TỪ, NHỊP VÀ VẦN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29</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Bài thơ có những lựa chọn, kết hợp ngôn từ nào đặc biệt? Mô tả cách ngắt nhịp, gieo vần và so sánh với thơ Đường luật.</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ý dấu chấm giữa dòng, gạch ngang đầu dòng.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NGÔN TỪ, NHỊP VÀ VẦN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30</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“làn nắng ửng”, “sột soạt gió trêu”, “tiếng ca vắt vẻo”, “hổn hển như lời của nước mây”.</a:t>
            </a:r>
          </a:p>
          <a:p>
            <a:pPr algn="l" marL="365760" indent="-365760">
              <a:spcAft>
                <a:spcPts val="800"/>
              </a:spcAft>
              <a:buClr>
                <a:srgbClr val="1E40AF"/>
              </a:buClr>
              <a:buFont typeface="Arial"/>
              <a:buChar char="•"/>
            </a:pPr>
            <a:r>
              <a:rPr sz="2300">
                <a:solidFill>
                  <a:srgbClr val="1E293B"/>
                </a:solidFill>
                <a:latin typeface="Calibri"/>
              </a:rPr>
              <a:t>Ngắt nhịp linh hoạt: “Trên giàn thiên lí. Bóng xuân sang”.</a:t>
            </a:r>
          </a:p>
          <a:p>
            <a:pPr algn="l" marL="365760" indent="-365760">
              <a:spcAft>
                <a:spcPts val="800"/>
              </a:spcAft>
              <a:buClr>
                <a:srgbClr val="1E40AF"/>
              </a:buClr>
              <a:buFont typeface="Arial"/>
              <a:buChar char="•"/>
            </a:pPr>
            <a:r>
              <a:rPr sz="2300">
                <a:solidFill>
                  <a:srgbClr val="1E293B"/>
                </a:solidFill>
                <a:latin typeface="Calibri"/>
              </a:rPr>
              <a:t>Vần phóng khoáng, ít ràng buộc hơn thơ Đường luật.</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Thơ mới: tự do, giàu cảm giác, cá tính.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31</a:t>
            </a:r>
          </a:p>
        </p:txBody>
      </p:sp>
      <p:pic>
        <p:nvPicPr>
          <p:cNvPr id="7" name="Picture 6" descr="QR_video_0Ff0pYhbatU.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Radio Văn học: “Mùa xuân chín” (Hàn Mặc Tử) qua lời bình của TS. Chu Văn Sơn</a:t>
            </a:r>
          </a:p>
          <a:p>
            <a:pPr algn="l">
              <a:spcAft>
                <a:spcPts val="800"/>
              </a:spcAft>
            </a:pPr>
            <a:r>
              <a:rPr sz="2000">
                <a:solidFill>
                  <a:srgbClr val="64748B"/>
                </a:solidFill>
                <a:latin typeface="Calibri"/>
              </a:rPr>
              <a:t>Kênh: Học Văn Cô Sương Mai</a:t>
            </a:r>
          </a:p>
          <a:p>
            <a:pPr algn="l" marL="365760" indent="-365760">
              <a:spcAft>
                <a:spcPts val="800"/>
              </a:spcAft>
              <a:buClr>
                <a:srgbClr val="1E40AF"/>
              </a:buClr>
              <a:buFont typeface="Arial"/>
              <a:buChar char="•"/>
            </a:pPr>
            <a:r>
              <a:rPr sz="2000">
                <a:solidFill>
                  <a:srgbClr val="1E293B"/>
                </a:solidFill>
                <a:latin typeface="Calibri"/>
              </a:rPr>
              <a:t>Mở rộng – nghe bình thơ (ở nhà)</a:t>
            </a:r>
          </a:p>
          <a:p>
            <a:pPr algn="l">
              <a:spcAft>
                <a:spcPts val="800"/>
              </a:spcAft>
            </a:pPr>
            <a:r>
              <a:rPr sz="1600">
                <a:solidFill>
                  <a:srgbClr val="64748B"/>
                </a:solidFill>
                <a:latin typeface="Calibri"/>
                <a:hlinkClick r:id="rId3"/>
              </a:rPr>
              <a:t>https://www.youtube.com/watch?v=0Ff0pYhbatU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CON NGƯỜI VÀ MẠCH CẢM XÚC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32</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Con người hiện diện qua những hình ảnh nào? Hình ảnh nào nằm trong tâm tưởng nhân vật trữ tình? Nêu cảm nhận về nhân vật trữ tình.</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Phân biệt cảnh đang ngắm và cảnh hồi tưởng.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CON NGƯỜI VÀ MẠCH CẢM XÚC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33</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Thôn nữ hát trên đồi, người theo chồng bỏ cuộc chơi.</a:t>
            </a:r>
          </a:p>
          <a:p>
            <a:pPr algn="l" marL="365760" indent="-365760">
              <a:spcAft>
                <a:spcPts val="800"/>
              </a:spcAft>
              <a:buClr>
                <a:srgbClr val="1E40AF"/>
              </a:buClr>
              <a:buFont typeface="Arial"/>
              <a:buChar char="•"/>
            </a:pPr>
            <a:r>
              <a:rPr sz="2300">
                <a:solidFill>
                  <a:srgbClr val="1E293B"/>
                </a:solidFill>
                <a:latin typeface="Calibri"/>
              </a:rPr>
              <a:t>Người chị gánh thóc – hình ảnh trong tâm tưởng.</a:t>
            </a:r>
          </a:p>
          <a:p>
            <a:pPr algn="l" marL="365760" indent="-365760">
              <a:spcAft>
                <a:spcPts val="800"/>
              </a:spcAft>
              <a:buClr>
                <a:srgbClr val="1E40AF"/>
              </a:buClr>
              <a:buFont typeface="Arial"/>
              <a:buChar char="•"/>
            </a:pPr>
            <a:r>
              <a:rPr sz="2300">
                <a:solidFill>
                  <a:srgbClr val="1E293B"/>
                </a:solidFill>
                <a:latin typeface="Calibri"/>
              </a:rPr>
              <a:t>“Khách xa” bâng khuâng, sực nhớ làng.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Say sưa cảnh xuân → tiếc nuối → nhớ thương.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17: BẢN HOÀ ÂM NGÔN TỪ TRONG TIẾNG THU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35</a:t>
            </a:r>
          </a:p>
        </p:txBody>
      </p:sp>
      <p:pic>
        <p:nvPicPr>
          <p:cNvPr id="7" name="Picture 6" descr="QR_video_c5RVyHI_TeU.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Bài thơ Tiếng thu – Lưu Trọng Lư – Ngọc Sang diễn ngâm</a:t>
            </a:r>
          </a:p>
          <a:p>
            <a:pPr algn="l">
              <a:spcAft>
                <a:spcPts val="800"/>
              </a:spcAft>
            </a:pPr>
            <a:r>
              <a:rPr sz="2000">
                <a:solidFill>
                  <a:srgbClr val="64748B"/>
                </a:solidFill>
                <a:latin typeface="Calibri"/>
              </a:rPr>
              <a:t>Kênh: Nghệ sĩ ngâm thơ Ngọc Sang</a:t>
            </a:r>
          </a:p>
          <a:p>
            <a:pPr algn="l" marL="365760" indent="-365760">
              <a:spcAft>
                <a:spcPts val="800"/>
              </a:spcAft>
              <a:buClr>
                <a:srgbClr val="1E40AF"/>
              </a:buClr>
              <a:buFont typeface="Arial"/>
              <a:buChar char="•"/>
            </a:pPr>
            <a:r>
              <a:rPr sz="2000">
                <a:solidFill>
                  <a:srgbClr val="1E293B"/>
                </a:solidFill>
                <a:latin typeface="Calibri"/>
              </a:rPr>
              <a:t>Mở đầu Văn bản 6 (thay cho bài hát phổ thơ)</a:t>
            </a:r>
          </a:p>
          <a:p>
            <a:pPr algn="l">
              <a:spcAft>
                <a:spcPts val="800"/>
              </a:spcAft>
            </a:pPr>
            <a:r>
              <a:rPr sz="1600">
                <a:solidFill>
                  <a:srgbClr val="64748B"/>
                </a:solidFill>
                <a:latin typeface="Calibri"/>
                <a:hlinkClick r:id="rId3"/>
              </a:rPr>
              <a:t>https://www.youtube.com/watch?v=c5RVyHI_TeU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TIẾNG THU VÀ TIẾNG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Theo Chu Văn Sơn, “tiếng thu” và “tiếng thơ” tương ứng với những bình diện nào? Khác biệt lớn nhất trong cách miêu tả thiên nhiên của Thơ mới so với thơ cổ điển?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Thơ cổ “nhìn” thiên nhiên, Thơ mới thì sao?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TIẾNG THU VÀ TIẾNG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“Tiếng thu”: điệu hồn (nội dung); “tiếng thơ”: âm hưởng ngôn từ (hình thức).</a:t>
            </a:r>
          </a:p>
          <a:p>
            <a:pPr algn="l" marL="365760" indent="-365760">
              <a:spcAft>
                <a:spcPts val="800"/>
              </a:spcAft>
              <a:buClr>
                <a:srgbClr val="1E40AF"/>
              </a:buClr>
              <a:buFont typeface="Arial"/>
              <a:buChar char="•"/>
            </a:pPr>
            <a:r>
              <a:rPr sz="2300">
                <a:solidFill>
                  <a:srgbClr val="1E293B"/>
                </a:solidFill>
                <a:latin typeface="Calibri"/>
              </a:rPr>
              <a:t>Thơ cổ điển: thiên nhiên qua thị giác.</a:t>
            </a:r>
          </a:p>
          <a:p>
            <a:pPr algn="l" marL="365760" indent="-365760">
              <a:spcAft>
                <a:spcPts val="800"/>
              </a:spcAft>
              <a:buClr>
                <a:srgbClr val="1E40AF"/>
              </a:buClr>
              <a:buFont typeface="Arial"/>
              <a:buChar char="•"/>
            </a:pPr>
            <a:r>
              <a:rPr sz="2300">
                <a:solidFill>
                  <a:srgbClr val="1E293B"/>
                </a:solidFill>
                <a:latin typeface="Calibri"/>
              </a:rPr>
              <a:t>Thơ mới: thiên nhiên qua thính giác, cái tôi rung cảm.</a:t>
            </a:r>
          </a:p>
          <a:p>
            <a:pPr algn="l" marL="365760" indent="-365760">
              <a:spcAft>
                <a:spcPts val="800"/>
              </a:spcAft>
              <a:buClr>
                <a:srgbClr val="1E40AF"/>
              </a:buClr>
              <a:buFont typeface="Arial"/>
              <a:buChar char="•"/>
            </a:pPr>
            <a:r>
              <a:rPr sz="2300">
                <a:solidFill>
                  <a:srgbClr val="1E293B"/>
                </a:solidFill>
                <a:latin typeface="Calibri"/>
              </a:rPr>
              <a:t>Thống kê 45 âm – 33 âm bằng → điệu êm đềm, tiêu tao.</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Sức hấp dẫn của thơ: cảm xúc hoà với nhạc điệu ngôn từ.</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18: THỰC HÀNH TIẾNG VIỆT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LỖI DÙNG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39</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Tìm lỗi và sửa: “Đề tài, chủ đề, cảm hứng cũng như nội dung của các bài thơ hai-cư rất đa dạng, khác nhau.”</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Có từ nào thừa, trùng nghĩa?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LỖI DÙNG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40</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“cũng như nội dung” thừa (đề tài, chủ đề đã là nội dung).</a:t>
            </a:r>
          </a:p>
          <a:p>
            <a:pPr algn="l" marL="365760" indent="-365760">
              <a:spcAft>
                <a:spcPts val="800"/>
              </a:spcAft>
              <a:buClr>
                <a:srgbClr val="1E40AF"/>
              </a:buClr>
              <a:buFont typeface="Arial"/>
              <a:buChar char="•"/>
            </a:pPr>
            <a:r>
              <a:rPr sz="2300">
                <a:solidFill>
                  <a:srgbClr val="1E293B"/>
                </a:solidFill>
                <a:latin typeface="Calibri"/>
              </a:rPr>
              <a:t>“đa dạng, khác nhau” trùng nghĩa.</a:t>
            </a:r>
          </a:p>
          <a:p>
            <a:pPr algn="l" marL="365760" indent="-365760">
              <a:spcAft>
                <a:spcPts val="800"/>
              </a:spcAft>
              <a:buClr>
                <a:srgbClr val="1E40AF"/>
              </a:buClr>
              <a:buFont typeface="Arial"/>
              <a:buChar char="•"/>
            </a:pPr>
            <a:r>
              <a:rPr sz="2300">
                <a:solidFill>
                  <a:srgbClr val="1E293B"/>
                </a:solidFill>
                <a:latin typeface="Calibri"/>
              </a:rPr>
              <a:t>Sửa: “Đề tài, chủ đề, cảm hứng của các bài thơ hai-cư rất đa dạng.”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Tránh lặp, thừa từ.</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LỖI TRẬT TỰ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41</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Câu nào mắc lỗi trật tự từ? Sửa lại: “Một bộ phận độc giả đông đảo đã không cảm nhận được cái mới ngay trong thơ Hàn Mặc Tử.”</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“đông đảo” bổ nghĩa cho từ nào?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LỖI TRẬT TỰ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42</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Sai trật tự: “bộ phận độc giả đông đảo”.</a:t>
            </a:r>
          </a:p>
          <a:p>
            <a:pPr algn="l" marL="365760" indent="-365760">
              <a:spcAft>
                <a:spcPts val="800"/>
              </a:spcAft>
              <a:buClr>
                <a:srgbClr val="1E40AF"/>
              </a:buClr>
              <a:buFont typeface="Arial"/>
              <a:buChar char="•"/>
            </a:pPr>
            <a:r>
              <a:rPr sz="2300">
                <a:solidFill>
                  <a:srgbClr val="1E293B"/>
                </a:solidFill>
                <a:latin typeface="Calibri"/>
              </a:rPr>
              <a:t>Sửa: “Một bộ phận đông đảo độc giả…”.</a:t>
            </a:r>
          </a:p>
          <a:p>
            <a:pPr algn="l" marL="365760" indent="-365760">
              <a:spcAft>
                <a:spcPts val="800"/>
              </a:spcAft>
              <a:buClr>
                <a:srgbClr val="1E40AF"/>
              </a:buClr>
              <a:buFont typeface="Arial"/>
              <a:buChar char="•"/>
            </a:pPr>
            <a:r>
              <a:rPr sz="2300">
                <a:solidFill>
                  <a:srgbClr val="1E293B"/>
                </a:solidFill>
                <a:latin typeface="Calibri"/>
              </a:rPr>
              <a:t>Phân biệt lỗi trật tự từ với phép đảo ngữ trong văn học.</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Sắp xếp từ đúng quy tắc ngữ pháp.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19 – 22: VIẾT – NÓI VÀ NGHE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YÊU CẦU BÀI PHÂN TÍCH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44</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Giới thiệu bài thơ: tác giả, hoàn cảnh, trào lưu, lí do chọn.</a:t>
            </a:r>
          </a:p>
          <a:p>
            <a:pPr algn="l" marL="365760" indent="-365760">
              <a:spcAft>
                <a:spcPts val="800"/>
              </a:spcAft>
              <a:buClr>
                <a:srgbClr val="1E40AF"/>
              </a:buClr>
              <a:buFont typeface="Arial"/>
              <a:buChar char="•"/>
            </a:pPr>
            <a:r>
              <a:rPr sz="2400">
                <a:solidFill>
                  <a:srgbClr val="1E293B"/>
                </a:solidFill>
                <a:latin typeface="Calibri"/>
              </a:rPr>
              <a:t>Phân tích nét đặc sắc: từ ngữ, hình ảnh, nhịp điệu, nhạc điệu, mạch cảm xúc.</a:t>
            </a:r>
          </a:p>
          <a:p>
            <a:pPr algn="l" marL="365760" indent="-365760">
              <a:spcAft>
                <a:spcPts val="800"/>
              </a:spcAft>
              <a:buClr>
                <a:srgbClr val="1E40AF"/>
              </a:buClr>
              <a:buFont typeface="Arial"/>
              <a:buChar char="•"/>
            </a:pPr>
            <a:r>
              <a:rPr sz="2400">
                <a:solidFill>
                  <a:srgbClr val="1E293B"/>
                </a:solidFill>
                <a:latin typeface="Calibri"/>
              </a:rPr>
              <a:t>Đánh giá giá trị nghệ thuật và ý nghĩa nhân sinh.</a:t>
            </a:r>
          </a:p>
          <a:p>
            <a:pPr algn="l" marL="365760" indent="-365760">
              <a:spcAft>
                <a:spcPts val="800"/>
              </a:spcAft>
              <a:buClr>
                <a:srgbClr val="1E40AF"/>
              </a:buClr>
              <a:buFont typeface="Arial"/>
              <a:buChar char="•"/>
            </a:pPr>
            <a:r>
              <a:rPr sz="2400">
                <a:solidFill>
                  <a:srgbClr val="1E293B"/>
                </a:solidFill>
                <a:latin typeface="Calibri"/>
              </a:rPr>
              <a:t>Tránh diễn xuôi bài thơ.</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45</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Phân tích, đánh giá chủ đề và nét đặc sắc nghệ thuật của bài thơ Mùa xuân chín (Hàn Mặc Tử).</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Lập dàn ý theo mạch khổ thơ hoặc theo luận điểm.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46</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MB: giới thiệu Hàn Mặc Tử, bài thơ.</a:t>
            </a:r>
          </a:p>
          <a:p>
            <a:pPr algn="l" marL="365760" indent="-365760">
              <a:spcAft>
                <a:spcPts val="800"/>
              </a:spcAft>
              <a:buClr>
                <a:srgbClr val="1E40AF"/>
              </a:buClr>
              <a:buFont typeface="Arial"/>
              <a:buChar char="•"/>
            </a:pPr>
            <a:r>
              <a:rPr sz="2300">
                <a:solidFill>
                  <a:srgbClr val="1E293B"/>
                </a:solidFill>
                <a:latin typeface="Calibri"/>
              </a:rPr>
              <a:t>TB: bức tranh xuân “chín” → âm thanh, con người → nỗi nhớ làng → nghệ thuật.</a:t>
            </a:r>
          </a:p>
          <a:p>
            <a:pPr algn="l" marL="365760" indent="-365760">
              <a:spcAft>
                <a:spcPts val="800"/>
              </a:spcAft>
              <a:buClr>
                <a:srgbClr val="1E40AF"/>
              </a:buClr>
              <a:buFont typeface="Arial"/>
              <a:buChar char="•"/>
            </a:pPr>
            <a:r>
              <a:rPr sz="2300">
                <a:solidFill>
                  <a:srgbClr val="1E293B"/>
                </a:solidFill>
                <a:latin typeface="Calibri"/>
              </a:rPr>
              <a:t>Đánh giá giá trị nghệ thuật, ý nghĩa nhân sinh.</a:t>
            </a:r>
          </a:p>
          <a:p>
            <a:pPr algn="l" marL="365760" indent="-365760">
              <a:spcAft>
                <a:spcPts val="800"/>
              </a:spcAft>
              <a:buClr>
                <a:srgbClr val="1E40AF"/>
              </a:buClr>
              <a:buFont typeface="Arial"/>
              <a:buChar char="•"/>
            </a:pPr>
            <a:r>
              <a:rPr sz="2300">
                <a:solidFill>
                  <a:srgbClr val="1E293B"/>
                </a:solidFill>
                <a:latin typeface="Calibri"/>
              </a:rPr>
              <a:t>KB: khẳng định giá trị, cảm nghĩ riêng.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Gắn phân tích hình thức với cảm xúc.</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CỦNG CỐ</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47</a:t>
            </a:r>
          </a:p>
        </p:txBody>
      </p:sp>
      <p:pic>
        <p:nvPicPr>
          <p:cNvPr id="7" name="Picture 6" descr="SoDoTuDuy_NGUVAN10_Bai2_VeDepCuaThoCa_T12-22.png"/>
          <p:cNvPicPr>
            <a:picLocks noChangeAspect="1"/>
          </p:cNvPicPr>
          <p:nvPr/>
        </p:nvPicPr>
        <p:blipFill>
          <a:blip r:embed="rId2"/>
          <a:stretch>
            <a:fillRect/>
          </a:stretch>
        </p:blipFill>
        <p:spPr>
          <a:xfrm>
            <a:off x="1788855" y="1371600"/>
            <a:ext cx="8675250" cy="484632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CỦNG CỐ</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BÀI TẬP CỦA BẠN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48</a:t>
            </a:r>
          </a:p>
        </p:txBody>
      </p:sp>
      <p:pic>
        <p:nvPicPr>
          <p:cNvPr id="7" name="Picture 6" descr="QR_van_cc_bai2_k10.png"/>
          <p:cNvPicPr>
            <a:picLocks noChangeAspect="1"/>
          </p:cNvPicPr>
          <p:nvPr/>
        </p:nvPicPr>
        <p:blipFill>
          <a:blip r:embed="rId2"/>
          <a:stretch>
            <a:fillRect/>
          </a:stretch>
        </p:blipFill>
        <p:spPr>
          <a:xfrm>
            <a:off x="1920240" y="1463040"/>
            <a:ext cx="3017520" cy="3017520"/>
          </a:xfrm>
          <a:prstGeom prst="rect">
            <a:avLst/>
          </a:prstGeom>
        </p:spPr>
      </p:pic>
      <p:sp>
        <p:nvSpPr>
          <p:cNvPr id="8" name="TextBox 7"/>
          <p:cNvSpPr txBox="1"/>
          <p:nvPr/>
        </p:nvSpPr>
        <p:spPr>
          <a:xfrm>
            <a:off x="73152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Hai-cư, Thu hứng</a:t>
            </a:r>
          </a:p>
          <a:p>
            <a:pPr algn="ctr">
              <a:spcAft>
                <a:spcPts val="800"/>
              </a:spcAft>
            </a:pPr>
            <a:r>
              <a:rPr sz="1400">
                <a:solidFill>
                  <a:srgbClr val="64748B"/>
                </a:solidFill>
                <a:latin typeface="Calibri"/>
              </a:rPr>
              <a:t>trangtu66.github.io/Taode_thi_online/van_cc_bai2_k10.html</a:t>
            </a:r>
          </a:p>
        </p:txBody>
      </p:sp>
      <p:pic>
        <p:nvPicPr>
          <p:cNvPr id="9" name="Picture 8" descr="QR_van_cc_muaxuanchin_k10.png"/>
          <p:cNvPicPr>
            <a:picLocks noChangeAspect="1"/>
          </p:cNvPicPr>
          <p:nvPr/>
        </p:nvPicPr>
        <p:blipFill>
          <a:blip r:embed="rId3"/>
          <a:stretch>
            <a:fillRect/>
          </a:stretch>
        </p:blipFill>
        <p:spPr>
          <a:xfrm>
            <a:off x="7315200" y="1463040"/>
            <a:ext cx="3017520" cy="3017520"/>
          </a:xfrm>
          <a:prstGeom prst="rect">
            <a:avLst/>
          </a:prstGeom>
        </p:spPr>
      </p:pic>
      <p:sp>
        <p:nvSpPr>
          <p:cNvPr id="10" name="TextBox 9"/>
          <p:cNvSpPr txBox="1"/>
          <p:nvPr/>
        </p:nvSpPr>
        <p:spPr>
          <a:xfrm>
            <a:off x="612648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Mùa xuân chín</a:t>
            </a:r>
          </a:p>
          <a:p>
            <a:pPr algn="ctr">
              <a:spcAft>
                <a:spcPts val="800"/>
              </a:spcAft>
            </a:pPr>
            <a:r>
              <a:rPr sz="1400">
                <a:solidFill>
                  <a:srgbClr val="64748B"/>
                </a:solidFill>
                <a:latin typeface="Calibri"/>
              </a:rPr>
              <a:t>trangtu66.github.io/Taode_thi_online/van_cc_muaxuanchin_k10.html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