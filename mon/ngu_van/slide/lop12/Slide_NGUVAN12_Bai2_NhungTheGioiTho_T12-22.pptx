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tr.44; chiếu bản đồ địa bàn Tây Tiến.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tr.48; nghe nhạc ghi ta Tây Ban Nha.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KEmXIneA0fs" TargetMode="External"/><Relationship Id="rId4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youtube.com/watch?v=CEAto-bbJ6g" TargetMode="External"/><Relationship Id="rId4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2: NHỮNG THẾ GIỚI THƠ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Ngữ văn 12 – Kết nối tri thức với cuộc sống · 11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– Tổ Ngữ văn – Tiếng Anh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 đặc điểm cơ bản của phong cách cổ điển và lãng mạn qua các bài thơ tiêu biểu.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ngôn ngữ, hình tượng, biểu tượng, yếu tố tượng trưng, siêu thực trong thơ trữ tình hiện đại.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Vận dụng kinh nghiệm đọc, trải nghiệm để đánh giá, phê bình văn bản; thể hiện suy nghĩ, cảm xúc cá nhân.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tích, đánh giá tác dụng của một số biện pháp tu từ trong thơ.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Viết và trình bày bài văn nghị luận so sánh, đánh giá hai tác phẩm thơ.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Ngưỡng mộ những tấm gương sống đẹp vì đất nước, cộng đồng, vì nền nghệ thuật lớn hướng tới con người.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12 – 13: CẢM HOÀI (Đặng Dung)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Có những thất bại khiến người đời không chỉ tiếc nuối mà còn nể phục, kính trọng.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Hãy kể về một thất bại như thế và cho biết điều gì gây ấn tượng với bạn.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TRI THỨC NGỮ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Biểu tượng</a:t>
            </a:r>
            <a:r>
              <a:rPr sz="2400">
                <a:solidFill>
                  <a:srgbClr val="1E293B"/>
                </a:solidFill>
                <a:latin typeface="Calibri"/>
              </a:rPr>
              <a:t>: hình ảnh ngụ ý, nhiều tầng nghĩa, gợi suy tư phổ quát.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Siêu thực</a:t>
            </a:r>
            <a:r>
              <a:rPr sz="2400">
                <a:solidFill>
                  <a:srgbClr val="1E293B"/>
                </a:solidFill>
                <a:latin typeface="Calibri"/>
              </a:rPr>
              <a:t>: hình ảnh kì lạ, logic khác thường, gắn tiềm thức, vô thức.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Cổ điển</a:t>
            </a:r>
            <a:r>
              <a:rPr sz="2400">
                <a:solidFill>
                  <a:srgbClr val="1E293B"/>
                </a:solidFill>
                <a:latin typeface="Calibri"/>
              </a:rPr>
              <a:t>: đề tài cao nhã, cái vĩnh hằng, mẫu hình lí tưởng, quy phạm.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Lãng mạn</a:t>
            </a:r>
            <a:r>
              <a:rPr sz="2400">
                <a:solidFill>
                  <a:srgbClr val="1E293B"/>
                </a:solidFill>
                <a:latin typeface="Calibri"/>
              </a:rPr>
              <a:t>: cái phi thường, cá tính, tưởng tượng, cảm xúc mạnh, tương phản.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HOÀN CẢNH – TÌNH THẾ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Hình ảnh nào trong bốn câu thơ đầu gợi ra hoàn cảnh – tình thế của nhân vật trữ tình? Hoàn cảnh đó có đặc điểm gì?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Đặt “thế sự” cạnh “đã vội già”.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HOÀN CẢNH – TÌNH THẾ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Thế sự ngổn ngang – mà đã già.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Gặp thời đồ điếu công thành dễ – lỡ vận anh hùng hận xót xa.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Mâu thuẫn chí lớn – thời vận, tuổi tác.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Bi kịch của người anh hùng thất thế.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BIỂU TƯỢNG TRONG HAI CÂU LUẬN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Giải thích ý nghĩa các biểu tượng “xoay trục đất”, “rửa binh khí”, “kéo sông Ngân” và nêu cảm nhận về nỗi lòng nhân vật trữ tình.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Các biểu tượng gắn với khát vọng gì?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BIỂU TƯỢNG TRONG HAI CÂU LUẬN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“Xoay trục đất”: xoay chuyển vận mệnh đất nước.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“Rửa binh khí”, “kéo sông Ngân”: dẹp yên chiến tranh, lập lại thái bình.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Chí lớn kinh bang tế thế mà “khôn lối” – nỗi đau bất lực.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Biểu tượng mang tầm vũ trụ – chí lớn của bậc anh hùng.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ẢNH MÀI GƯƠM DƯỚI TRĂNG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ý nghĩa hình ảnh người tráng sĩ mài gươm trong hai câu kết. Nêu biểu hiện của phong cách cổ điển.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“Bao phen” gợi điều gì?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ẢNH MÀI GƯƠM DƯỚI TRĂNG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“Thù nước chưa trả mà đầu đã bạc” – bi kịch.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“Bao phen mài gươm dưới trăng” – ý chí bền bỉ, khát vọng không nguôi.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Cổ điển: Đường luật, điển cố, đề tài cao nhã, hình tượng tầm vũ trụ.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Vẻ đẹp bi tráng của khí tiết trung nghĩa.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14 – 16: TÂY TIẾN (Quang Dũng)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Bạn đã học, đã đọc những bài thơ nào viết về người lính cách mạng Việt Nam?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Đọc diễn cảm một đoạn thơ bạn yêu thích.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14</a:t>
            </a:r>
          </a:p>
        </p:txBody>
      </p:sp>
      <p:pic>
        <p:nvPicPr>
          <p:cNvPr id="7" name="Picture 6" descr="QR_video_KEmXIneA0f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Quang Dũng: Một tâm hồn thơ lớn, một chiến sĩ cách mạng (Danh nhân Thăng Long – Hà Nội)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HTV – Đài Hà Nội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Tìm hiểu tác giả Quang Dũng (Tây Tiến)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https://www.youtube.com/watch?v=KEmXIneA0fs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THIÊN NHIÊN VÀ CON ĐƯỜNG HÀNH QUÂN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Đọc đoạn thơ 1: Nêu ấn tượng về cảm xúc ở hai câu mở đầu; hình dung bức tranh thiên nhiên, con đường hành quân; cảm nhận chất nhạc, chất hoạ trong bốn câu “Dốc lên khúc khuỷu…”.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Đếm thanh bằng, thanh trắc trong bốn câu thơ.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THIÊN NHIÊN VÀ CON ĐƯỜNG HÀNH QUÂN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“Nhớ về rừng núi nhớ chơi vơi” – nỗi nhớ trào dâng, chơi vơi.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Thiên nhiên hiểm trở, hùng vĩ, dữ dội: dốc thăm thẳm, cồn mây, thác gầm, cọp trêu.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Ba câu nhiều thanh trắc – gian nan; câu “Nhà ai Pha Luông mưa xa khơi” toàn thanh bằng – thư thái.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Điệp từ, phép đối lên – xuống: bức tranh núi rừng sống động.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Chất nhạc, chất hoạ – bút pháp lãng mạn.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TƯỢNG NGƯỜI LÍNH TÂY TIẾN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Trong đoạn thơ 3, 4, hình tượng người lính được gợi ra qua những từ ngữ, hình ảnh nào? Khái quát đặc điểm hình tượng này.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các từ Hán Việt trang trọng.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TƯỢNG NGƯỜI LÍNH TÂY TIẾN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“không mọc tóc”, “quân xanh màu lá dữ oai hùm” – gian khổ mà oai phong.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“mắt trừng gửi mộng”, “đêm mơ Hà Nội dáng kiều thơm” – hào hoa, lãng mạn.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“áo bào thay chiếu, anh về đất”, “sông Mã gầm lên khúc độc hành” – bi tráng.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Người lính hào hùng, hào hoa, bi tráng.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17 – 18: ĐÀN GHI TA CỦA LOR-CA (Thanh Thảo)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Theo bạn, sứ mệnh cao cả của người nghệ sĩ là gì?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Bạn biết gì về đất nước Tây Ban Nha?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TƯỢNG LOR-CA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Hình tượng Lor-ca được thể hiện thế nào trong hai đoạn thơ đầu? Chi tiết nào cho thấy mối quan hệ giữa nghệ sĩ với đất nước Tây Ban Nha?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So sánh “áo choàng đỏ gắt” với “áo choàng bê bết đỏ”.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TƯỢNG LOR-CA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Nghệ sĩ lãng du, tự do: “đi lang thang về miền đơn độc / với vầng trăng chếnh choáng”.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“Tây Ban Nha / hát nghêu ngao / bỗng kinh hoàng” – gắn với số phận đất nước.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“áo choàng bê bết đỏ / Lor-ca bị điệu về bãi bắn” – cái chết oan khuất.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Người nghệ sĩ tự do, cô đơn, bị bạo lực vùi dập.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TIẾNG ĐÀN – CÁI CHẾT VÀ SỰ BẤT TỬ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Chỉ ra biện pháp tu từ miêu tả tiếng đàn; ý nghĩa hình ảnh biểu tượng; hình ảnh thực – ảo về cái chết và sự bất tử của Lor-ca.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Tiếng đàn được “nhìn” bằng màu sắc, hình khối nào?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TIẾNG ĐÀN – CÁI CHẾT VÀ SỰ BẤT TỬ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Điệp “tiếng ghi ta” + chuyển đổi cảm giác: nâu, lá xanh, tròn bọt nước, ròng ròng máu chảy.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“không ai chôn cất tiếng đàn / tiếng đàn như cỏ mọc hoang” – bất tử.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“Lor-ca bơi sang ngang trên chiếc ghi ta màu bạc” – cái chết hoá giải thoát.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Dòng kết “li-la li-la li-la…” – tiếng đàn tiễn biệt.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Nghệ thuật chân chính bất tử.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19: THỰC HÀNH TIẾNG VIỆT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ẨN DỤ TRONG TÂY TIẾN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Làm rõ mục đích và cách sử dụng ẩn dụ trong đoạn: “Tây Tiến đoàn binh không mọc tóc / Quân xanh màu lá dữ oai hùm / Mắt trừng gửi mộng qua biên giới / Đêm mơ Hà Nội dáng kiều thơm”.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“Không mọc tóc”, “xanh màu lá” nói tới hiện thực nào?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ẨN DỤ TRONG TÂY TIẾN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“Không mọc tóc”, “xanh màu lá” – hậu quả sốt rét rừng.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“dữ oai hùm” – khí thế oai phong.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Hiện thực được nhìn bằng cảm hứng lãng mạn, tránh bi luỵ.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Ẩn dụ tạo vẻ đẹp vừa chân thực vừa hào hùng.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PHÉP ĐỐI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So sánh cách dùng phép đối trong Cảm hoài (“Gặp thời đồ điếu công thành dễ / Lỡ vận anh hùng hận xót xa”) và Tây Tiến (“Sài Khao sương lấp đoàn quân mỏi / Mường Lát hoa về trong đêm hơi”).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Đối chỉnh hay đối linh hoạt?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PHÉP ĐỐI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Cảm hoài: đối chỉnh theo luật Đường, ý đối lập rõ: gặp thời – lỡ vận.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Tây Tiến: đối linh hoạt, tương phản gian khổ – thơ mộng.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Cả hai: tạo cân xứng, nhấn mạnh cảm xúc.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Đối – cổ điển chuẩn mực và lãng mạn phóng khoáng.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20 – 22: VIẾT – NÓI VÀ NGHE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31</a:t>
            </a:r>
          </a:p>
        </p:txBody>
      </p:sp>
      <p:pic>
        <p:nvPicPr>
          <p:cNvPr id="7" name="Picture 6" descr="QR_video_CEAto-bbJ6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Nguyễn Khuyến – bậc đại thi nhân của văn học dân tộc cuối thế kỷ XIX (Danh nhân Thăng Long – Hà Nội)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HTV – Đài Hà Nội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Viết – tìm hiểu bài tham khảo Thu vịnh và Đây mùa thu tới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https://www.youtube.com/watch?v=CEAto-bbJ6g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YÊU CẦU BÀI SO SÁNH HAI BÀI THƠ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Giới thiệu hai bài thơ, cơ sở lựa chọn.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Tương đồng – khác biệt, có bằng chứng cụ thể.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Nhận xét đóng góp riêng của mỗi bài.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Ba cách triển khai: từng bài – lồng ghép – từng phương diện.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So sánh, đánh giá hình tượng người anh hùng/người lính trong Cảm hoài (Đặng Dung) và Tây Tiến (Quang Dũng).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Chọn cách triển khai theo từng phương diện.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Hoàn cảnh: anh hùng thất thế – người lính giữa núi rừng gian khổ.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Lí tưởng: xoay trục đất – “gửi mộng qua biên giới”.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Vẻ đẹp bi tráng; phong cách cổ điển – lãng mạn.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Nguyên nhân khác biệt: thời đại, quan điểm thẩm mĩ.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Đan xen tương đồng và khác biệt.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35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4338888" y="2670962"/>
            <a:ext cx="16883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2411463" y="1931116"/>
            <a:ext cx="1927425" cy="739846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01178" y="1755515"/>
            <a:ext cx="1210285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Biểu tượng</a:t>
            </a:r>
          </a:p>
        </p:txBody>
      </p:sp>
      <p:cxnSp>
        <p:nvCxnSpPr>
          <p:cNvPr id="10" name="Connector 9"/>
          <p:cNvCxnSpPr/>
          <p:nvPr/>
        </p:nvCxnSpPr>
        <p:spPr>
          <a:xfrm flipH="1" flipV="1">
            <a:off x="2721851" y="2457917"/>
            <a:ext cx="1617037" cy="213045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90790" y="2181605"/>
            <a:ext cx="1831061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Tượng trưng – siêu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thực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2721851" y="2670962"/>
            <a:ext cx="1617037" cy="313756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90790" y="2809118"/>
            <a:ext cx="1831061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Phong cách cổ điển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764777" y="2670962"/>
            <a:ext cx="1574111" cy="739846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47864" y="3235208"/>
            <a:ext cx="1916913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Phong cách lãng mạn</a:t>
            </a:r>
          </a:p>
        </p:txBody>
      </p:sp>
      <p:sp>
        <p:nvSpPr>
          <p:cNvPr id="16" name="Oval 15"/>
          <p:cNvSpPr/>
          <p:nvPr/>
        </p:nvSpPr>
        <p:spPr>
          <a:xfrm>
            <a:off x="3502606" y="2259078"/>
            <a:ext cx="1672565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① Tri thức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ngữ văn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027267" y="2670962"/>
            <a:ext cx="1688379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715646" y="1931116"/>
            <a:ext cx="1603829" cy="739846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319475" y="1755515"/>
            <a:ext cx="1857477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Anh hùng thất thế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7715646" y="2457917"/>
            <a:ext cx="1617037" cy="213045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332683" y="2181605"/>
            <a:ext cx="1831061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Xoay trục đất, kéo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sông Ngân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15646" y="2670962"/>
            <a:ext cx="1574111" cy="313756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289757" y="2809118"/>
            <a:ext cx="1916913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Mài gươm dưới trăng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15646" y="2670962"/>
            <a:ext cx="1617037" cy="739846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332683" y="3235208"/>
            <a:ext cx="1831061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Phong cách cổ điển</a:t>
            </a:r>
          </a:p>
        </p:txBody>
      </p:sp>
      <p:sp>
        <p:nvSpPr>
          <p:cNvPr id="26" name="Oval 25"/>
          <p:cNvSpPr/>
          <p:nvPr/>
        </p:nvSpPr>
        <p:spPr>
          <a:xfrm>
            <a:off x="6810021" y="2259078"/>
            <a:ext cx="1811249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② Cảm hoài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– Đặng Dung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4338888" y="3954780"/>
            <a:ext cx="16883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2873743" y="4599462"/>
            <a:ext cx="1465145" cy="639135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38898" y="4323151"/>
            <a:ext cx="2134845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Người lính hào hùng,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hào hoa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764777" y="5126263"/>
            <a:ext cx="1574111" cy="112334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47864" y="4950663"/>
            <a:ext cx="1916913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Chất nhạc, chất hoạ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2635999" y="5238597"/>
            <a:ext cx="1702889" cy="31375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76642" y="5376753"/>
            <a:ext cx="1659357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Tiếng đàn bất tử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893555" y="5238597"/>
            <a:ext cx="1445333" cy="73984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19086" y="5802843"/>
            <a:ext cx="2174469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Siêu thực, tượng trưng</a:t>
            </a:r>
          </a:p>
        </p:txBody>
      </p:sp>
      <p:sp>
        <p:nvSpPr>
          <p:cNvPr id="36" name="Oval 35"/>
          <p:cNvSpPr/>
          <p:nvPr/>
        </p:nvSpPr>
        <p:spPr>
          <a:xfrm>
            <a:off x="3502606" y="4826713"/>
            <a:ext cx="1672565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③ Tây Tiến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– Lor-ca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27267" y="3954780"/>
            <a:ext cx="1688379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715646" y="4297329"/>
            <a:ext cx="1745815" cy="941268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461461" y="4021018"/>
            <a:ext cx="1573505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Biện pháp tu từ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trong thơ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7715646" y="4924841"/>
            <a:ext cx="1603829" cy="31375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319475" y="4648530"/>
            <a:ext cx="1857477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So sánh, đánh giá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2 bài thơ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715646" y="5238597"/>
            <a:ext cx="1659963" cy="31375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375609" y="5276042"/>
            <a:ext cx="1745209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Trình bày kết quả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so sánh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715646" y="5238597"/>
            <a:ext cx="1617037" cy="941268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332683" y="5903554"/>
            <a:ext cx="1831061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Củng cố trực tuyến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(QR)</a:t>
            </a:r>
          </a:p>
        </p:txBody>
      </p:sp>
      <p:sp>
        <p:nvSpPr>
          <p:cNvPr id="46" name="Oval 45"/>
          <p:cNvSpPr/>
          <p:nvPr/>
        </p:nvSpPr>
        <p:spPr>
          <a:xfrm>
            <a:off x="6740679" y="4658216"/>
            <a:ext cx="1949933" cy="1160762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④ Tiếng Việt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– Viết –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Nói</a:t>
            </a:r>
          </a:p>
        </p:txBody>
      </p:sp>
      <p:sp>
        <p:nvSpPr>
          <p:cNvPr id="47" name="Oval 46"/>
          <p:cNvSpPr/>
          <p:nvPr/>
        </p:nvSpPr>
        <p:spPr>
          <a:xfrm>
            <a:off x="4784178" y="3484793"/>
            <a:ext cx="2486178" cy="939972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NHỮNG THẾ GIỚI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THƠ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36</a:t>
            </a:r>
          </a:p>
        </p:txBody>
      </p:sp>
      <p:pic>
        <p:nvPicPr>
          <p:cNvPr id="7" name="Picture 6" descr="QR_van_cc_bai2_k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Cảm hoài, Tây Tiến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trangtu66.github.io/Taode_thi_online/van_cc_bai2_k12.html</a:t>
            </a:r>
          </a:p>
        </p:txBody>
      </p:sp>
      <p:pic>
        <p:nvPicPr>
          <p:cNvPr id="9" name="Picture 8" descr="QR_van_cc_danghita_k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463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Đàn ghi ta của Lor-ca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trangtu66.github.io/Taode_thi_online/van_cc_danghita_k12.html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