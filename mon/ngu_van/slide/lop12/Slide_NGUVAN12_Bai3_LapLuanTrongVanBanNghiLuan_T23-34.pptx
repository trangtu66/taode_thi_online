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tr.68.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3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Bản tin khoảng 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IpP94uv6j5A" TargetMode="External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iGJ9GG1g9Nk" TargetMode="External"/><Relationship Id="rId4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3: LẬP LUẬN TRONG VĂN BẢN NGHỊ LUẬN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10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luận đề, luận điểm, lí lẽ, bằng chứng; đánh giá sự phù hợp giữa nội dung nghị luận và nhan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mục đích người viết; tiếp nhận, đánh giá văn bản bằng tư duy phản biện.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các thao tác: chứng minh, bình luận, bác bỏ, giải thích, phân tích,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và sửa lỗi logic, lỗi câu mơ hồ.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nghị luận và thuyết trình về một vấn đề liên quan đến tuổi trẻ.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bảo tồn và phát huy các giá trị của văn hoá dân tộc.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23 – 24: NHÌN VỀ VỐN VĂN HOÁ DÂN TỘC (Trần Đình Hượu)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hiểu biết về một di tích văn hoá tiêu biểu của nước ta.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trong hội nhập, người Việt cần hiểu văn hoá truyền thống của mình?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VĂN: CÁC THAO TÁC NGHỊ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Chứng minh</a:t>
            </a:r>
            <a:r>
              <a:rPr sz="2400">
                <a:solidFill>
                  <a:srgbClr val="1E293B"/>
                </a:solidFill>
                <a:latin typeface="Calibri"/>
              </a:rPr>
              <a:t>: lí lẽ, bằng chứng cho thấy ý kiến có cơ sở, đáng tin.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Bình luận</a:t>
            </a:r>
            <a:r>
              <a:rPr sz="2400">
                <a:solidFill>
                  <a:srgbClr val="1E293B"/>
                </a:solidFill>
                <a:latin typeface="Calibri"/>
              </a:rPr>
              <a:t>: đánh giá đúng – sai, hay – dở để thể hiện chủ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Bác bỏ</a:t>
            </a:r>
            <a:r>
              <a:rPr sz="2400">
                <a:solidFill>
                  <a:srgbClr val="1E293B"/>
                </a:solidFill>
                <a:latin typeface="Calibri"/>
              </a:rPr>
              <a:t>: chỉ ra sai lầm, phiến diện của một quan điểm.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Giải thích – Phân tích – So sánh</a:t>
            </a:r>
            <a:r>
              <a:rPr sz="2400">
                <a:solidFill>
                  <a:srgbClr val="1E293B"/>
                </a:solidFill>
                <a:latin typeface="Calibri"/>
              </a:rPr>
              <a:t>: làm rõ các khía cạnh của vấn đề.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NGHỊ LUẬN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vấn đề nghị luận của văn bản. Chỉ ra mối liên hệ giữa vấn đề đó với nhan đề.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“Nhìn về” gợi tư thế gì?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NGHỊ LUẬN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Vấn đề: đặc điểm của vốn văn hoá dân tộc (cái ổn định, tồn tại đến trước thời cận – hiện đại).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Nhan đề nêu rõ đối tượng (vốn văn hoá dân tộc).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“Nhìn về”: tư thế quan sát khách quan, toàn diện.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Nhan đề phù hợp với nội dung nghị luận.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“KHÔNG THỂ TỰ HÀO LÀ ĐỒ SỘ”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Luận điểm “Giữa các dân tộc, chúng ta không thể tự hào là nền văn hoá của ta đồ sộ…” được chứng minh thế nào? Có thuyết phục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Tác giả xét lần lượt những lĩnh vực nào?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“KHÔNG THỂ TỰ HÀO LÀ ĐỒ SỘ”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thoại không phong phú; tôn giáo, triết học không phát triển.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Khoa học, kĩ thuật không thành truyền thống; âm nhạc, hội hoạ, kiến trúc không đến tuyệt kĩ.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Thơ ca phát triển nhất nhưng ít nhà thơ coi thơ là sự nghiệp.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giải: văn hoá của dân nông nghiệp định cư.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Chứng minh + lí giải nguyên nhân → khách quan, thuyết phục.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TINH THẦN CHUNG VÀ THÁI ĐỘ NGHIÊN CỨU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Tinh thần chung của văn hoá Việt Nam là gì? Tác giả bộc lộ thái độ gì khi nghiên cứu?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câu in nghiêng trong văn bản.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TINH THẦN CHUNG VÀ THÁI ĐỘ NGHIÊN CỨU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“Tinh thần chung của văn hoá Việt Nam là thiết thực, linh hoạt, dung hoà.”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Dung hợp vốn có với Phật giáo, Nho giáo – “dân tộc Việt Nam có bản lĩnh”.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độ: khách quan, trung thực; không tự tôn, không tự 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Hiểu đúng mình để giữ bản sắc khi hội nhập.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25 – 26: NĂNG LỰC SÁNG TẠO (Phan Đình Diệu)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Gần đây có những thành tựu sáng tạo nổi bật nào của con người mà bạn biết?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Điểm chung nhất của những thành tựu đó là gì?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14</a:t>
            </a:r>
          </a:p>
        </p:txBody>
      </p:sp>
      <p:pic>
        <p:nvPicPr>
          <p:cNvPr id="7" name="Picture 6" descr="QR_video_IpP94uv6j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GS.TSKH Phan Đình Diệu: Nhà khoa học và khát vọng phát triển công nghệ thông tin ở Việt Nam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Trung tâm Thư viện và Tri thức số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Phan Đình Diệu (Năng lực sáng tạo)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https://www.youtube.com/watch?v=IpP94uv6j5A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bàn về năng lực sáng tạo, tác giả đã triển khai những luận điểm nào? Nêu mối quan hệ giữa các luận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Khái niệm → phạm vi → bản chất → vai trò.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Giải thích khái niệm: tính mới, tính độc đáo; ý tưởng là “ánh chớp”.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Phạm vi: mọi người đều có năng lực sáng tạo.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Bản chất: tìm cái mới để giải quyết vấn đề của cuộc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Vai trò, điều kiện: vấn đề chiến lược, hưng vong quốc gia.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Luận điểm nối tiếp, mở rộng, làm sâu luận đề.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TRÍCH DẪN NHÀ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Việc trích dẫn câu nói của nhà khoa học nổi tiếng có phải là cách nêu bằng chứng không? Vì sao?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Poanh-ca-rê, Ê-đi-xơn nói gì?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TRÍCH DẪN NHÀ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Poanh-ca-rê: “ý tưởng chỉ là những ánh chớp, nhưng ánh chớp đó là tất cả”.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Ê-đi-xơn: “Trong mỗi phát minh có 1% cảm hứng và 99% việc đổ mồ hôi”.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Là bằng chứng: lời của người có uy tín, từ trải nghiệm thực tế → tăng độ tin cậy.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Trích dẫn uy tín – một dạng bằng chứng thuyết phục.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27 – 28: MẤY Ý NGHĨ VỀ THƠ (Nguyễn Đình Thi)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các bài nghiên cứu, phê bình về thơ bạn đã đọc, bạn thích nhất bài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bạn thích bài ấy?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21</a:t>
            </a:r>
          </a:p>
        </p:txBody>
      </p:sp>
      <p:pic>
        <p:nvPicPr>
          <p:cNvPr id="7" name="Picture 6" descr="QR_video_iGJ9GG1g9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Di sản văn hoá, văn nghệ của Nguyễn Đình Thi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Nguyễn Đình Thi (Mấy ý nghĩ về thơ)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https://www.youtube.com/watch?v=iGJ9GG1g9Nk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QUAN NIỆM Ở PHẦN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Ở phần 1, những quan niệm nào về thơ được tác giả nêu lên để nhận xét? Mục đích?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Thao tác nào được dùng?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QUAN NIỆM Ở PHẦN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“Thơ là những lời đẹp” – bác bỏ bằng Hồ Xuân Hương, Nguyễn Du.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Thơ ở đề tài “đẹp” – bác bỏ bằng Bô-đơ-le, cái ba lô, dây thép gai.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Thơ “in sâu vào trí nhớ” – chưa cắt nghĩa được vì sao thơ làm ta nhớ.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dọn đường để nêu quan niệm riêng.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Thao tác bác bỏ mở đường cho luận điểm.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 CHẤT THƠ THEO NGUYỄN ĐÌNH 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tác giả, điều gì đóng vai trò quan trọng trong sáng tạo thơ? Bạn có tán thành: “không nên lo thơ đi vào hình thức này hay hình thức khác”?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“Bài thơ là sợi dây…”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 CHẤT THƠ THEO NGUYỄN ĐÌNH 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Cảm xúc, tâm hồn: “Bài thơ là sợi dây truyền tình cảm cho người đọc”.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Hình ảnh: nhìn “bằng con mắt của người đầu tiên”; chữ có sức gợi.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“Chỉ có thơ thực và thơ giả, thơ hay và thơ không hay”.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Hình thức phục vụ tâm hồn con người mới; luật lệ phải từ bên trong.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Thơ: cảm xúc chân thật + hình ảnh mới + sức gợi của chữ.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31: THỰC HÀNH TIẾNG VIỆT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LỖI LOGIC, LỖI CÂU MƠ HỒ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Lỗi logic</a:t>
            </a:r>
            <a:r>
              <a:rPr sz="2400">
                <a:solidFill>
                  <a:srgbClr val="1E293B"/>
                </a:solidFill>
                <a:latin typeface="Calibri"/>
              </a:rPr>
              <a:t>: mâu thuẫn giữa các ý; lẫn lộn bình diện; đặt đối tượng không cùng cấp độ.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Câu mơ hồ</a:t>
            </a:r>
            <a:r>
              <a:rPr sz="2400">
                <a:solidFill>
                  <a:srgbClr val="1E293B"/>
                </a:solidFill>
                <a:latin typeface="Calibri"/>
              </a:rPr>
              <a:t>: có thể hiểu theo nhiều cách khác nhau.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Sửa: xác định ý cần nói → sắp xếp lại, thêm từ ngữ, dấu câu.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biệt với câu đa nghĩa có dụng ý nghệ thuật.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CHỮA CÂU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lỗi và sửa: “Bên cạnh từ đơn và từ ghép, tiếng Việt còn có bộ phận từ Hán Việt.”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Từ Hán Việt phân loại theo tiêu chí nào?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CHỮA CÂU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đơn, từ ghép: phân loại theo cấu tạo.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Hán Việt: phân loại theo nguồn gốc → không cùng cấp độ.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Sửa: “Xét về nguồn gốc, bên cạnh từ thuần Việt, tiếng Việt còn có bộ phận từ Hán Việt.”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Đặt các đối tượng cùng một tiêu chí phân loại.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32 – 34: VIẾT – NÓI VÀ NGHE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NGHỊ LUẬN VỀ VẤN ĐỀ LIÊN QUAN ĐẾN TUỔI TRẺ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vấn đề có ý nghĩa về hoài bão, ước mơ.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Luận điểm chặt chẽ; phối hợp chứng minh, bình luận, bác bỏ…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và phản bác ý kiến trái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bài thúc giục tuổi trẻ hành động.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Viết bài văn nghị luận về ý kiến: “Tuổi trẻ cần dám ước mơ và dám hành động để biến ước mơ thành hiện thực.”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Ý kiến trái chiều: “Ước mơ lớn chỉ là viển vông”.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nêu vấn đề, quan điểm đồng tình.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giải thích; vai trò của ước mơ và hành động; bằng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Bác bỏ: ước mơ không viển vông khi gắn với hành động, kế hoạch.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thúc giục bạn trẻ hành động từ hôm nay.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Giải thích + chứng minh + bác bỏ + bình luận.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34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642603" y="1729694"/>
            <a:ext cx="1696285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70038" y="1453382"/>
            <a:ext cx="1672565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Lập luận: lí lẽ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+ bằng chứng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678925" y="2357206"/>
            <a:ext cx="1659963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33716" y="2080895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Chứng minh – bình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luận – bác bỏ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678925" y="2670962"/>
            <a:ext cx="1659963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3716" y="2708407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Giải thích – phân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tích – so sánh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678925" y="2670962"/>
            <a:ext cx="1659963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3716" y="3335919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Lỗi logic, câu mơ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hồ</a:t>
            </a:r>
          </a:p>
        </p:txBody>
      </p:sp>
      <p:sp>
        <p:nvSpPr>
          <p:cNvPr id="16" name="Oval 15"/>
          <p:cNvSpPr/>
          <p:nvPr/>
        </p:nvSpPr>
        <p:spPr>
          <a:xfrm>
            <a:off x="3502606" y="2259078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Tri thức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ngữ văn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830405"/>
            <a:ext cx="1372689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88335" y="1554093"/>
            <a:ext cx="2319757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Thiết thực, linh hoạt,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dung hoà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457917"/>
            <a:ext cx="1574111" cy="213045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89757" y="2181606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Không tự tôn, không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tự ti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574111" cy="41446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289757" y="2809118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Văn hoá nông nghiệp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định cư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659963" cy="941268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375609" y="3436630"/>
            <a:ext cx="1745209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Bản lĩnh dung hợp</a:t>
            </a:r>
          </a:p>
        </p:txBody>
      </p:sp>
      <p:sp>
        <p:nvSpPr>
          <p:cNvPr id="26" name="Oval 25"/>
          <p:cNvSpPr/>
          <p:nvPr/>
        </p:nvSpPr>
        <p:spPr>
          <a:xfrm>
            <a:off x="6810021" y="2090581"/>
            <a:ext cx="1811249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Nhìn về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vốn văn hoá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dân tộc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781287" y="4297329"/>
            <a:ext cx="1557601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31354" y="4021018"/>
            <a:ext cx="194993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Mọi người đều sáng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tạo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550147" y="4924841"/>
            <a:ext cx="1788741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62494" y="4648530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Ý tưởng – “ánh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chớp”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635999" y="5238597"/>
            <a:ext cx="1702889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6642" y="5276042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1% cảm hứng, 99%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mồ hôi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635999" y="5238597"/>
            <a:ext cx="170288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6642" y="5903554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Vấn đề hưng vong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quốc gia</a:t>
            </a:r>
          </a:p>
        </p:txBody>
      </p:sp>
      <p:sp>
        <p:nvSpPr>
          <p:cNvPr id="36" name="Oval 35"/>
          <p:cNvSpPr/>
          <p:nvPr/>
        </p:nvSpPr>
        <p:spPr>
          <a:xfrm>
            <a:off x="3502606" y="4826713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Năng lực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sáng tạo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398040"/>
            <a:ext cx="1696285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411931" y="4121729"/>
            <a:ext cx="1672565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Thơ – sợi dây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truyền tình cảm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5025552"/>
            <a:ext cx="1574111" cy="213045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289757" y="4749241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Hình ảnh: mắt người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đầu tiên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745815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61461" y="5376753"/>
            <a:ext cx="157350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Sức gợi của chữ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788741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504387" y="5802843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Thơ thực – thơ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giả</a:t>
            </a:r>
          </a:p>
        </p:txBody>
      </p:sp>
      <p:sp>
        <p:nvSpPr>
          <p:cNvPr id="46" name="Oval 45"/>
          <p:cNvSpPr/>
          <p:nvPr/>
        </p:nvSpPr>
        <p:spPr>
          <a:xfrm>
            <a:off x="6810021" y="4826713"/>
            <a:ext cx="1811249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Mấy ý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nghĩ về thơ</a:t>
            </a:r>
          </a:p>
        </p:txBody>
      </p:sp>
      <p:sp>
        <p:nvSpPr>
          <p:cNvPr id="47" name="Oval 46"/>
          <p:cNvSpPr/>
          <p:nvPr/>
        </p:nvSpPr>
        <p:spPr>
          <a:xfrm>
            <a:off x="4784178" y="3287245"/>
            <a:ext cx="248617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LẬP LUẬN TRONG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VĂN BẢN NGHỊ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LUẬN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35</a:t>
            </a:r>
          </a:p>
        </p:txBody>
      </p:sp>
      <p:pic>
        <p:nvPicPr>
          <p:cNvPr id="7" name="Picture 6" descr="QR_van_cc_bai3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Nhìn về vốn văn hoá dân tộc, Năng lực sáng tạo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trangtu66.github.io/Taode_thi_online/van_cc_bai3_k12.html</a:t>
            </a:r>
          </a:p>
        </p:txBody>
      </p:sp>
      <p:pic>
        <p:nvPicPr>
          <p:cNvPr id="9" name="Picture 8" descr="QR_van_cc_mayynghivetho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Mấy ý nghĩ về thơ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trangtu66.github.io/Taode_thi_online/van_cc_mayynghivetho_k12.html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