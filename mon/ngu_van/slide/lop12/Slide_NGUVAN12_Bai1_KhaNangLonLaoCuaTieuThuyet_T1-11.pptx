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một vài tranh biếm hoạ; HS chia sẻ. Dẫn vào Số đỏ.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Rzx8PfOKMaY" TargetMode="External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D1lNT4WIta0" TargetMode="External"/><Relationship Id="rId4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KHẢ NĂNG LỚN LAO CỦA TIỂU THUYẾT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12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của tiểu thuyết hiện đại: ngôn ngữ, diễn biến tâm lí, hành động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đề tài, câu chuyện, sự kiện, nhân vật, chi tiết; đánh giá người kể chuyện, điểm nhìn trong việc thể hiện chủ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cơ bản của phong cách hiện thực.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và phân tích đặc điểm, tác dụng của biện pháp tu từ nói mỉa, nghịch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bài văn nghị luận so sánh, đánh giá hai tác phẩm truyện; trình bày kết quả so sánh.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Trau dồi nhân cách, ứng xử chuẩn mực; trân trọng giá trị văn hoá truyền thống.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3: XUÂN TÓC ĐỎ CỨU QUỐC (Vũ Trọng Phụng)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có những tiếng cười khiến ta phải suy nghĩ?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Kể tên một tác phẩm văn học trào phúng em đã đọc.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5</a:t>
            </a:r>
          </a:p>
        </p:txBody>
      </p:sp>
      <p:pic>
        <p:nvPicPr>
          <p:cNvPr id="7" name="Picture 6" descr="QR_video_Rzx8PfOKM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Vũ Trọng Phụng – Nhà văn xuất sắc thế kỷ 20 (Danh nhân Thăng Long – Hà Nội)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Vũ Trọng Phụng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https://www.youtube.com/watch?v=Rzx8PfOKMaY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Tiểu thuyết hiện đại</a:t>
            </a:r>
            <a:r>
              <a:rPr sz="2400">
                <a:solidFill>
                  <a:srgbClr val="1E293B"/>
                </a:solidFill>
                <a:latin typeface="Calibri"/>
              </a:rPr>
              <a:t>: góc độ đời tư, “con người nếm trải”, kết cấu nhiều tầng, nhiều “bè” ngôn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Phong cách hiện thực</a:t>
            </a:r>
            <a:r>
              <a:rPr sz="2400">
                <a:solidFill>
                  <a:srgbClr val="1E293B"/>
                </a:solidFill>
                <a:latin typeface="Calibri"/>
              </a:rPr>
              <a:t>: quan hệ hoàn cảnh – tính cách, miêu tả “như thật”.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Nói mỉa</a:t>
            </a:r>
            <a:r>
              <a:rPr sz="2400">
                <a:solidFill>
                  <a:srgbClr val="1E293B"/>
                </a:solidFill>
                <a:latin typeface="Calibri"/>
              </a:rPr>
              <a:t>: mâu thuẫn cố ý giữa hiển ngôn và hàm ngôn.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Nghịch ngữ</a:t>
            </a:r>
            <a:r>
              <a:rPr sz="2400">
                <a:solidFill>
                  <a:srgbClr val="1E293B"/>
                </a:solidFill>
                <a:latin typeface="Calibri"/>
              </a:rPr>
              <a:t>: cụm từ có nghĩa đối lập, phát lộ sự thật.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CHÍNH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tắt các sự việc chính được kể trong đoạn trích Xuân Tóc Đỏ cứu quốc bằng một sơ đồ phù hợp.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Trận đấu – mệnh lệnh – kết quả – diễn thuyết.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CHÍNH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Trận quần vợt Xuân Tóc Đỏ – quán quân Xiêm La.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Quan chức ép Xuân phải thua vì sợ “nạn chiến tranh”.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thua, công chúng phẫn nộ.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diễn thuyết, được tung hô “anh hùng cứu quốc”.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Thất bại hoá thành “vinh quang” – đỉnh điểm trào phúng.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NGÔI KỂ VÀ ĐIỂM NHÌN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ngôi kể, điểm nhìn nhà văn lựa chọn và ý nghĩa của chúng trong việc làm sáng tỏ bản chất hiện thực.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Người kể có tham gia câu chuyện không?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NGÔI KỂ VÀ ĐIỂM NHÌN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Ngôi thứ ba, điểm nhìn toàn tri.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giễu nhại: lời lẽ trang trọng cho sự việc lố bịch.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Soi thấu cả quan chức, vua Xiêm, đám đông.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Phơi bày bản chất nhố nhăng của xã hội thượng lưu.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THEN CHỐT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Tình huống nào đóng vai trò quan trọng nhất trong việc tạo nên kịch tính và bước ngoặt của đoạn trích? Phân tích tính chất của tình huống.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Vì sao quán quân lại được lệnh phải thua?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THEN CHỐT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được lệnh phải thua vua Xiêm.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Tính chất: nghịch lí, trớ trêu – thắng thì “chiến tranh”, thua thì “cứu quốc”.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Lột trần sự hèn nhát của bộ máy cai trị.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huống trào phúng tạo kịch tính và bước ngoặt.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HÙNG BIỆN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nét đặc sắc của cảnh Xuân Tóc Đỏ hùng biện trước công chúng. Những ghi chú trong ngoặc đơn gợi liên tưởng đến thể loại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cách xưng hô “ta – mi”.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HÙNG BIỆN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trịch thượng, lời lẽ rỗng tuếch mà được hoan hô.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Đám đông như bị thôi miên.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Ghi chú trong ngoặc đơn → gợi kịch bản sân khấu (hài kịch).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Kẻ vô học thành “vĩ nhân” – tiếng cười phê phán.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NÓI MỈA VÀ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những câu văn có sử dụng biện pháp tu từ nói mỉa và nghịch ngữ trong văn bản.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các cụm từ đặt cạnh nhau mà nghĩa đối chọi.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NÓI MỈA VÀ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“chết một cách rất thể thao” – nghịch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“…lộ ra mặt rồng tất cả sự thịnh nộ của vị thiên tử…” – nói mỉa.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“anh hùng cứu quốc”, “vĩ nhân” gán cho Xuân – nói mỉa.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Nói mỉa, nghịch ngữ là vũ khí trào phúng sắc bén.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PHONG CÁCH HIỆN THỰC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Đoạn trích cho thấy điều gì về phong cách hiện thực của Vũ Trọng Phụng? Nêu thủ pháp tăng khả năng bao quát hiện thực.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Nhân vật thuộc những tầng lớp nào?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PHONG CÁCH HIỆN THỰC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“như thật” nhiều tầng lớp: quan chức, vua, đám đông.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Phóng đại, giễu nhại, đa giọng.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Tình huống điển hình, nhân vật điển hình.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Tiểu thuyết bao quát bức tranh xã hội rộng lớn.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 – 6: MÙA LÁ RỤNG TRONG VƯỜN (Ma Văn Kháng)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Mối quan hệ gắn kết giữa các thành viên trong gia đình thường bộc lộ rõ nhất ở thời điểm, tình huống nào? Vì sao?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Chia sẻ ấn tượng về một tác phẩm viết về đề tài gia đình.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21</a:t>
            </a:r>
          </a:p>
        </p:txBody>
      </p:sp>
      <p:pic>
        <p:nvPicPr>
          <p:cNvPr id="7" name="Picture 6" descr="QR_video_D1lNT4WIt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Phóng sự: Ma Văn Kháng và tiểu thuyết Mùa lá rụng trong vườn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Báo Nhân Dân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chung về tác giả, tác phẩm Mùa lá rụng trong vườn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https://www.youtube.com/watch?v=D1lNT4WIta0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lược các sự việc chính được kể trong đoạn trích. Nếu đặt cho đoạn trích một nhan đề riêng, bạn đề xuất gì? Vì sao?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Sự việc xảy ra vào thời điểm đặc biệt nào?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Chị Hoài từ quê lên đúng chiều ba mươi Tết.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Mọi người đón chị xúc động; ông Bằng gặp lại chị.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nhà quây quần bên mâm cỗ Tết.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Gợi ý nhan đề: “Chiều ba mươi Tết”, “Người dâu cũ”.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CHỊ HOÀI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bày ấn tượng của bạn về nhân vật chị Hoài. Nhận xét cách tác giả khắc hoạ nhân vật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chi tiết ngoại hình, lời nói, hành động.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CHỊ HOÀI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Đẹp người, đẹp nết, hồn hậu, chu đáo.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Quà quê, lời hỏi han từng người – nặng tình nghĩa.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Khắc hoạ qua ngoại hình, lời thoại, hành động và cảm nhận của người khác.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Chị Hoài – hiện thân của vẻ đẹp tình nghĩa truyền thống.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ÔNG BẰNG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hiểu các thủ pháp tác giả vận dụng để giới thiệu, thể hiện nhân vật ông Bằng.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Ông Bằng xuất hiện trực tiếp lúc nào?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ÔNG BẰNG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Giới thiệu gián tiếp trước qua lời kể, sự chờ đợi.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ngoại hình, cử chỉ: “mắt chớp liên hồi, môi lật bật”.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Bộc lộ xúc động sâu sắc của người cha.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Nhân vật được khắc hoạ bằng nhiều thủ pháp đan xen.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VĂN HOÁ GIA ĐÌNH –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Sự đồng cảm giữa người kể chuyện và nhân vật về giá trị văn hoá gia đình thể hiện qua dấu hiệu nào? Ý nghĩa ẩn dụ của nhan đề?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mâm cỗ Tết và lễ cúng tất niên.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VĂN HOÁ GIA ĐÌNH –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tỉ mỉ mâm cỗ, nghi lễ cúng tất niên.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Trân trọng tình nghĩa với người dâu cũ.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“Mùa lá rụng”: quy luật đổi thay – thử thách các giá trị truyền thống.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Trân trọng, gìn giữ giá trị văn hoá gia đình Việt Nam.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THỰC HÀNH TIẾNG VIỆT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NHẬN BIẾT NÓI MỈA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nói mỉa và phân tích hiệu quả: “Công chúng luôn luôn vỗ tay hoan hô Xuân, còn trên khán đài, đức vua Xiêm đã lộ ra mặt rồng tất cả sự thịnh nộ…” (Số đỏ).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Hiển ngôn trang trọng – hàm ngôn là gì?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NHẬN BIẾT NÓI MỈA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Hiển ngôn: “mặt rồng”, “thiên tử thế thiên hành đạo” – trang trọng.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Hàm ngôn: giễu cợt sự thịnh nộ vô lối của vua Xiêm.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“cái nước có hàng triệu con voi” – tương phản, gây cười.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Nói mỉa tạo tiếng cười châm biếm sâu cay.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HIỆU QUẢ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hiệu quả nghệ thuật của nghịch ngữ: “Đá ở đây từ ngàn năm vẫn mai phục hết trong lòng sông…” (Người lái đò Sông Đà).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“Mai phục” thường dùng cho đối tượng nào?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HIỆU QUẢ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“Mai phục” – hành động của kẻ thù phục kích.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 được nhân hoá thành “kẻ thù” nham hiểm.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Tô đậm sự hung bạo của sông Đà.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Nghịch ngữ làm nổi bật tính chất của đối tượng.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 – 11: VIẾT – NÓI VÀ NGHE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VĂN SO SÁNH, ĐÁNH GIÁ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mục đích và cơ sở so sánh.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Thông tin khái quát về hai tác phẩm.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Điểm tương đồng và khác biệt trên một số phương diện.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xét, đánh giá; ý nghĩa của việc so sánh.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sánh, đánh giá hai truyện ngắn Vợ nhặt (Kim Lân) và Chí Phèo (Nam Cao) ở phương diện số phận người nông dân và cách kết thúc tác phẩm.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bảng: phương diện – truyện A – truyện B – nhận xét.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Tương đồng: người nông dân ở đáy xã hội, khát vọng sống, khát vọng làm người.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Khác biệt: kết bi kịch, vòng luẩn quẩn ↔ kết mở, lá cờ đỏ.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Nguyên nhân: thời điểm sáng tác, quan điểm nghệ thuật.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Đánh giá giá trị riêng của mỗi tác phẩm.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Tránh lắp ghép hai bài phân tích riêng rẽ.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39</a:t>
            </a:r>
          </a:p>
        </p:txBody>
      </p:sp>
      <p:pic>
        <p:nvPicPr>
          <p:cNvPr id="7" name="Picture 6" descr="SoDoTuDuy_NGUVAN12_Bai1_KhaNangLonLaoCuaTieuThuyet_T1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40</a:t>
            </a:r>
          </a:p>
        </p:txBody>
      </p:sp>
      <p:pic>
        <p:nvPicPr>
          <p:cNvPr id="7" name="Picture 6" descr="QR_van_cc_bai1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Xuân Tóc Đỏ cứu quốc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trangtu66.github.io/Taode_thi_online/van_cc_bai1_k12.html</a:t>
            </a:r>
          </a:p>
        </p:txBody>
      </p:sp>
      <p:pic>
        <p:nvPicPr>
          <p:cNvPr id="9" name="Picture 8" descr="QR_van_cc_mualarung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Mùa lá rụng trong vườn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trangtu66.github.io/Taode_thi_online/van_cc_mualarung_k12.html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