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1: CÂU CHUYỆN VÀ ĐIỂM NHÌN TRONG TRUYỆN KỂ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11 – Kết nối tri thức với cuộc sống · 11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 – 3: VỢ NHẶT (Kim Lân)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Câu chuyện</a:t>
            </a:r>
            <a:r>
              <a:rPr sz="2400">
                <a:solidFill>
                  <a:srgbClr val="1E293B"/>
                </a:solidFill>
                <a:latin typeface="Calibri"/>
              </a:rPr>
              <a:t>: nhân vật, bối cảnh, sự kiện theo trật tự thời gian.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Truyện kể</a:t>
            </a:r>
            <a:r>
              <a:rPr sz="2400">
                <a:solidFill>
                  <a:srgbClr val="1E293B"/>
                </a:solidFill>
                <a:latin typeface="Calibri"/>
              </a:rPr>
              <a:t>: sự kiện tổ chức theo mạch kể, gắn người kể chuyện, điểm nhìn, lời văn.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Điểm nhìn</a:t>
            </a:r>
            <a:r>
              <a:rPr sz="2400">
                <a:solidFill>
                  <a:srgbClr val="1E293B"/>
                </a:solidFill>
                <a:latin typeface="Calibri"/>
              </a:rPr>
              <a:t>: vị trí để quan sát, trần thuật, đánh giá.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Bên ngoài (ngoại hiện) – bên trong (qua cảm nhận, ý thức nhân vật).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 VỢ NHẶT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Giữa nhan đề </a:t>
            </a:r>
            <a:r>
              <a:rPr sz="2600" b="1">
                <a:solidFill>
                  <a:srgbClr val="1E293B"/>
                </a:solidFill>
                <a:latin typeface="Calibri"/>
              </a:rPr>
              <a:t>Vợ nhặt</a:t>
            </a:r>
            <a:r>
              <a:rPr sz="2600" b="1">
                <a:solidFill>
                  <a:srgbClr val="1E293B"/>
                </a:solidFill>
                <a:latin typeface="Calibri"/>
              </a:rPr>
              <a:t> và nội dung câu chuyện có mối quan hệ với nhau như thế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Gợi ý: “vợ” là việc hệ trọng; “nhặt” gợi điều gì?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 VỢ NHẶT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“Vợ” – việc trọng đại của đời người; “nhặt” – nhặt nhạnh, rẻ rúng.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Giá trị con người bị rẻ rúng trong nạn đói.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Nhưng “nhặt” cũng là cưu mang, mở ra khát vọng sống.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Nhan đề vừa tố cáo nạn đói, vừa ngợi ca tình người.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TÌNH HUỐNG TRUYỆN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Xác định tình huống truyện và nêu ý nghĩa của nó.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phản ứng của dân xóm, bà cụ Tứ và chính Tràng.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TÌNH HUỐNG TRUYỆN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Tràng – nghèo, xấu, dân ngụ cư – “nhặt” được vợ giữa nạn đói.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 xóm ngạc nhiên; bà cụ Tứ ngạc nhiên, ai oán; Tràng “ngờ ngợ”.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Tình huống vừa lạ, vừa éo le: hạnh phúc nảy sinh bên bờ cái chết.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11887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Bộc lộ thảm cảnh nạn đói và khát vọng sống, tình thương của con người.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TRÌNH TỰ KỂ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Câu chuyện trong Vợ nhặt được kể theo trình tự nào và có thể chia làm mấy phần?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Đâu là hiện tại, đâu là hồi tưởng?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TRÌNH TỰ KỂ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1: Tràng đưa vợ về, xóm ngụ cư bàn tán (hiện tại) + hồi tưởng hai lần gặp.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2: bà cụ Tứ về, đón nhận nàng dâu.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3: buổi sáng đầu tiên – bữa cơm, tiếng trống thuế, lá cờ đỏ.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theo trật tự thời gian tuyến tính → tạo tò mò, hấp dẫn.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THAY ĐỔI CỦA NHÂN VẬT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Theo trình tự câu chuyện, Tràng, người vợ nhặt, bà cụ Tứ thay đổi thế nào từ diện mạo, tâm trạng đến cách ứng xử?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Lập bảng: lúc đầu – về sau.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THAY ĐỔI CỦA NHÂN VẬT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Tràng: “phớn phở”, ngượng nghịu → thấy mình nên người, gắn bó với gia đình.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Người vợ: chao chát, chỏng lỏn → hiền hậu, đúng mực.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Bà cụ Tứ: ngạc nhiên, ai oán → cảm thông, vun vén, nói chuyện vui, tin tương lai.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Tình thương làm con người đẹp lên ngay giữa cái đói.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ĐIỂM NHÌN VÀ GIỌNG ĐIỆU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nét đáng chú ý trong cách người kể chuyện quan sát, miêu tả sự thay đổi của nhân vật (điểm nhìn, lời kể, giọng điệu).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11125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1112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So sánh đoạn “người trong xóm bỗng thấy…” với đoạn bà cụ Tứ nghĩ về con.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ĐIỂM NHÌN VÀ GIỌNG ĐIỆU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Ngôi thứ ba, điểm nhìn linh hoạt: bên ngoài (dân xóm) ↔ bên trong (Tràng, bà cụ Tứ).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Lời kể hòa vào lời nửa trực tiếp của nhân vật.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Giọng điệu xót xa mà ấm áp, hóm hỉnh.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Điểm nhìn linh hoạt giúp soi thấu tâm lí, tạo sự đồng cảm.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CHỦ ĐỀ – “CỔ TÍCH TRONG NẠN ĐÓI”?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Nêu chủ đề, đánh giá giá trị tư tưởng. Có thể xem Vợ nhặt là “câu chuyện cổ tích trong nạn đói” không?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Có phép màu nào không? Niềm tin đến từ đâu?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CHỦ ĐỀ – “CỔ TÍCH TRONG NẠN ĐÓI”?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Chủ đề: khát vọng sống, tình thương của người lao động bên bờ cái chết.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Giống cổ tích: người nghèo “đổi đời”, có hạnh phúc.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Khác: không có phép màu; niềm tin đến từ tình người và lá cờ đỏ cách mạng.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Giá trị hiện thực và giá trị nhân đạo sâu sắc.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4 – 6: CHÍ PHÈO (Nam Cao)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CỐT TRUYỆN VÀ TRÌNH TỰ KỂ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Tóm tắt cốt truyện Chí Phèo theo trình tự thời gian cuộc đời nhân vật. Đánh giá hiệu quả của việc phá vỡ trình tự này.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Truyện mở đầu bằng sự việc nào?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CỐT TRUYỆN VÀ TRÌNH TỰ KỂ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Bị bỏ ở lò gạch → canh điền nhà lí Kiến → vào tù → thành “con quỷ dữ”.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Gặp thị Nở, thức tỉnh → bị cự tuyệt → giết Bá Kiến, tự sát.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Mở đầu bằng tiếng chửi → gây ấn tượng, tô đậm bi kịch.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Kết cấu mới lạ, gợi vòng luẩn quẩn của bi kịch.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ĐIỂM NHÌN TRONG ĐOẠN MỞ ĐẦU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loại điểm nhìn trong đoạn mở đầu (người kể – nhân vật; bên ngoài – bên trong). Nhận xét sự dịch chuyển giữa các điểm nhìn.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Tìm câu thể hiện suy nghĩ của Chí Phèo, của dân làng.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ĐIỂM NHÌN TRONG ĐOẠN MỞ ĐẦU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Người kể quan sát hành động chửi (bên ngoài).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“Tức thật! Tức thật!” – điểm nhìn bên trong Chí Phèo (lời nửa trực tiếp).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“Chắc nó trừ mình ra!” – điểm nhìn dân làng Vũ Đại.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Tiếng chửi là tiếng kêu của kẻ bị cự tuyệt quyền làm người.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BUỔI SÁNG SAU KHI GẶP THỊ NỞ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diễn biến tâm trạng Chí Phèo buổi sáng sau cuộc gặp thị Nở. Nhân tố nào quyết định sự hồi sinh nhân tính?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âm thanh cuộc sống và bát cháo hành.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BUỔI SÁNG SAU KHI GẶP THỊ NỞ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Tỉnh rượu, nghe tiếng chim, tiếng người đi chợ; nhớ ước mơ xưa.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Lo sợ tuổi già cô độc.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Bát cháo hành → “ngạc nhiên”, “mắt ươn ướt”, muốn “làm hòa với mọi người”.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Tình thương mộc mạc của thị Nở đánh thức nhân tính.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BỊ CỰ TUYỆT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phản ứng tâm lí và hành động của Chí Phèo sau khi bị thị Nở từ chối. Người kể có đưa ra phán đoán đáng tin cậy không?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“Càng uống lại càng tỉnh ra” gợi điều gì?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BỊ CỰ TUYỆT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Ngạc nhiên, níu kéo; uống rượu nhưng “càng uống lại càng tỉnh”.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Ôm mặt khóc rưng rức; xách dao đến nhà Bá Kiến.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“Ai cho tao lương thiện?” – người kể thấu hiểu, phán đoán tin cậy.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Bi kịch bị cự tuyệt quyền làm người.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ĐOẠN KẾT – SO SÁNH VỚI VỢ NHẶT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Nhận xét điểm nhìn, giọng điệu ở đoạn kết; ý nghĩa cái chết của Chí Phèo. So sánh đoạn kết Chí Phèo và Vợ nhặt.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Hình ảnh cuối cùng của mỗi truyện là gì?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ĐOẠN KẾT – SO SÁNH VỚI VỢ NHẶT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Chí Phèo: dân làng hả hê bàn tán; thị Nở nghĩ đến “cái lò gạch cũ bỏ không” → vòng luẩn quẩn.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Vợ nhặt: lá cờ đỏ trong óc Tràng → niềm tin, lối thoát.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Cái chết của Chí Phèo: tố cáo xã hội, khẳng định khát vọng lương thiện.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Hai cách kết – hai tư tưởng nhân đạo.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NGHỆ THUẬT KỂ CHUYỆN CỦA NAM CAO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Người kể chuyện ngôi thứ ba, vừa khách quan vừa cảm thông.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Phối hợp nhiều điểm nhìn; lời nửa trực tiếp.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Kết cấu phá vỡ trình tự thời gian.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Ngôn ngữ sinh động, gần đời thường.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7: THỰC HÀNH TIẾNG VIỆT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NGÔN NGỮ NÓI ĐƯỢC TÁI TẠO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đặc điểm ngôn ngữ nói được tái tạo trong lời Bá Kiến: “Cái anh này nói mới hay! Ai làm gì anh mà anh phải chết? Đời người chứ có phải con ngoé đâu?”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trợ từ, ngữ điệu, cách xưng hô.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NGÔN NGỮ NÓI ĐƯỢC TÁI TẠO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Khẩu ngữ, trợ từ “chứ”, “đâu”; câu hỏi tu từ.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Xưng hô thân mật – “anh”; ngữ điệu dịu giọng.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Mục đích: xoa dịu, khống chế Chí Phèo.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Ngữ điệu là phương tiện quan trọng của ngôn ngữ nói.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ĐẶC ĐIỂM NGÔN NGỮ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đặc điểm ngôn ngữ viết trong đoạn: “Cái đói đã tràn đến xóm này tự lúc nào…” (Vợ nhặt).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Câu văn, từ ngữ, phép tu từ có gì đặc biệt?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ĐẶC ĐIỂM NGÔN NGỮ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Câu dài, nhiều thành phần.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Từ ngữ chọn lọc, giàu hình ảnh: “xanh xám như những bóng ma”.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Trình tự miêu tả mạch lạc, đúng chuẩn.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Ngôn ngữ viết được gọt giũa, lưu trữ lâu dài.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8 – 11: VIẾT – NÓI VÀ NGHE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YÊU CẦU BÀI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Giới thiệu tác phẩm, các phương diện nghệ thuật sẽ phân tích.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Phân tích cụ thể: tình huống, cốt truyện, người kể chuyện, điểm nhìn, lời văn, giọng điệu.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Nhận định, đánh giá bằng lí lẽ, bằng chứng.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Khẳng định giá trị tác phẩm.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nghệ thuật xây dựng tình huống và cách kể chuyện của Kim Lân trong truyện ngắn Vợ nhặt.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Lập dàn ý: mở bài – thân bài (4 – 5 luận điểm) – kết bài.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MB: giới thiệu tác phẩm, nêu vấn đề.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TB: tình huống; trình tự kể; người kể, điểm nhìn; giọng điệu, ngôn ngữ; đánh giá.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KB: khẳng định giá trị nghệ thuật.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Phân tích CÁCH KỂ, tránh kể lại nội dung.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37</a:t>
            </a:r>
          </a:p>
        </p:txBody>
      </p:sp>
      <p:pic>
        <p:nvPicPr>
          <p:cNvPr id="7" name="Picture 6" descr="SoDoTuDuy_NGUVAN11_Bai1_CauChuyenVaDiemNhin_T1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38</a:t>
            </a:r>
          </a:p>
        </p:txBody>
      </p:sp>
      <p:pic>
        <p:nvPicPr>
          <p:cNvPr id="7" name="Picture 6" descr="QR_van_cc_bai1_k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08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3596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Vợ nhặt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trangtu66.github.io/Taode_thi_online/van_cc_bai1_k11.html</a:t>
            </a:r>
          </a:p>
        </p:txBody>
      </p:sp>
      <p:pic>
        <p:nvPicPr>
          <p:cNvPr id="9" name="Picture 8" descr="QR_van_cc_chipheo_k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8160" y="4572000"/>
            <a:ext cx="3596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Chí Phèo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trangtu66.github.io/Taode_thi_online/van_cc_chipheo_k11.html</a:t>
            </a:r>
          </a:p>
        </p:txBody>
      </p:sp>
      <p:pic>
        <p:nvPicPr>
          <p:cNvPr id="11" name="Picture 10" descr="QR_van_tv_noiviet_k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4360" y="1463040"/>
            <a:ext cx="301752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4800" y="4572000"/>
            <a:ext cx="3596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Ôn luyện – Ngôn ngữ nói và ngôn ngữ viết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trangtu66.github.io/Taode_thi_online/van_tv_noiviet_k11.html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