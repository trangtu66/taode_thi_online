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Relationship Id="rId50" Type="http://schemas.openxmlformats.org/officeDocument/2006/relationships/slide" Target="slides/slide43.xml"/><Relationship Id="rId51" Type="http://schemas.openxmlformats.org/officeDocument/2006/relationships/slide" Target="slides/slide4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GV nêu mục tiêu; HS ghi vào vở. Nhắc HS chuẩn bị điện thoại để làm bài củng cố cuối tiết.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GV chiếu ảnh tư liệu nạn đói 1945; HS chia sẻ tư liệu đã tìm trên nguồn chính thống (1.1.NC1a). Không chốt đáp án – dẫn vào Vợ nhặt.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Bấm vào đường link hoặc quét mã QR để mở video (cần Internet). Phim tư liệu có hình ảnh nặng nề – chỉ chiếu trích đoạn ngắn.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Bấm vào đường link hoặc quét mã QR để mở video (cần Internet).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ĐỀ BÀI – cho HS suy nghĩ, thảo luận (không chiếu lời giải).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LỜI GIẢI – GV chốt sau khi HS trình bày.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ĐỀ BÀI – cho HS suy nghĩ, thảo luận (không chiếu lời giải).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LỜI GIẢI – GV chốt sau khi HS trình bày.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ĐỀ BÀI – cho HS suy nghĩ, thảo luận (không chiếu lời giải).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LỜI GIẢI – GV chốt sau khi HS trình bày.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ĐỀ BÀI – cho HS suy nghĩ, thảo luận (không chiếu lời giải).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LỜI GIẢI – GV chốt sau khi HS trình bày.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ĐỀ BÀI – cho HS suy nghĩ, thảo luận (không chiếu lời giải).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LỜI GIẢI – GV chốt sau khi HS trình bày.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ĐỀ BÀI – cho HS suy nghĩ, thảo luận (không chiếu lời giải).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LỜI GIẢI – GV chốt sau khi HS trình bày.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Câu hỏi Trước khi đọc SGK tr.23; HS trao đổi cặp đôi.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Bấm vào đường link hoặc quét mã QR để mở video (cần Internet). Phim truyện dài; GV chọn trích đoạn bát cháo hành, không chiếu toàn bộ.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ĐỀ BÀI – cho HS suy nghĩ, thảo luận (không chiếu lời giải).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LỜI GIẢI – GV chốt sau khi HS trình bày.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ĐỀ BÀI – cho HS suy nghĩ, thảo luận (không chiếu lời giải).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LỜI GIẢI – GV chốt sau khi HS trình bày.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ĐỀ BÀI – cho HS suy nghĩ, thảo luận (không chiếu lời giải).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LỜI GIẢI – GV chốt sau khi HS trình bày.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ĐỀ BÀI – cho HS suy nghĩ, thảo luận (không chiếu lời giải).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LỜI GIẢI – GV chốt sau khi HS trình bày.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ĐỀ BÀI – cho HS suy nghĩ, thảo luận (không chiếu lời giải).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LỜI GIẢI – GV chốt sau khi HS trình bày.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ĐỀ BÀI – cho HS suy nghĩ, thảo luận (không chiếu lời giải).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LỜI GIẢI – GV chốt sau khi HS trình bày.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ĐỀ BÀI – cho HS suy nghĩ, thảo luận (không chiếu lời giải).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LỜI GIẢI – GV chốt sau khi HS trình bày.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ĐỀ BÀI – cho HS suy nghĩ, thảo luận (không chiếu lời giải).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LỜI GIẢI – GV chốt sau khi HS trình bày.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hyperlink" Target="https://www.youtube.com/watch?v=l00C8vSGTso" TargetMode="External"/><Relationship Id="rId4" Type="http://schemas.openxmlformats.org/officeDocument/2006/relationships/notesSlide" Target="../notesSlides/notesSlide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hyperlink" Target="https://www.youtube.com/watch?v=6PGr8iYB83I" TargetMode="External"/><Relationship Id="rId4" Type="http://schemas.openxmlformats.org/officeDocument/2006/relationships/notesSlide" Target="../notesSlides/notesSlide4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hyperlink" Target="https://www.youtube.com/watch?v=FShtDV29lXQ" TargetMode="External"/><Relationship Id="rId4" Type="http://schemas.openxmlformats.org/officeDocument/2006/relationships/notesSlide" Target="../notesSlides/notesSlide18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1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2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3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4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011680"/>
            <a:ext cx="12191695" cy="2377440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194560"/>
            <a:ext cx="10698480" cy="201168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8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BÀI 1: CÂU CHUYỆN VÀ ĐIỂM NHÌN TRONG TRUYỆN KỂ</a:t>
            </a:r>
          </a:p>
          <a:p>
            <a:pPr algn="ctr">
              <a:spcAft>
                <a:spcPts val="800"/>
              </a:spcAft>
            </a:pPr>
            <a:r>
              <a:rPr sz="2400">
                <a:solidFill>
                  <a:srgbClr val="FFFFFF"/>
                </a:solidFill>
                <a:latin typeface="Calibri"/>
              </a:rPr>
              <a:t>Ngữ văn 11 – Kết nối tri thức với cuộc sống · 11 tiết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846320"/>
            <a:ext cx="10698480" cy="914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2000">
                <a:solidFill>
                  <a:srgbClr val="64748B"/>
                </a:solidFill>
                <a:latin typeface="Calibri"/>
              </a:rPr>
              <a:t>Trường THPT Vĩnh Thạnh – Tổ Ngữ văn – Tiếng Anh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942271" y="457200"/>
            <a:ext cx="1700784" cy="457200"/>
          </a:xfrm>
          <a:prstGeom prst="round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MỤC TIÊU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272016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MỤC TIÊU BÀI HỌC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Ngữ văn 11 · Bài 1: Câu Chuyện Và Điểm Nhìn Trong Truyện Kể         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463040"/>
            <a:ext cx="10789920" cy="47548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200">
                <a:solidFill>
                  <a:srgbClr val="1E293B"/>
                </a:solidFill>
                <a:latin typeface="Calibri"/>
              </a:rPr>
              <a:t>Nhận biết, phân tích yếu tố truyện ngắn hiện đại: không gian, thời gian, câu chuyện, nhân vật, người kể chuyện.</a:t>
            </a:r>
          </a:p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200">
                <a:solidFill>
                  <a:srgbClr val="1E293B"/>
                </a:solidFill>
                <a:latin typeface="Calibri"/>
              </a:rPr>
              <a:t>Phân tích sự thay đổi điểm nhìn, nối kết lời người kể chuyện và lời nhân vật.</a:t>
            </a:r>
          </a:p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200">
                <a:solidFill>
                  <a:srgbClr val="1E293B"/>
                </a:solidFill>
                <a:latin typeface="Calibri"/>
              </a:rPr>
              <a:t>Nhận biết đặc điểm ngôn ngữ nói và ngôn ngữ viết.</a:t>
            </a:r>
          </a:p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200">
                <a:solidFill>
                  <a:srgbClr val="1E293B"/>
                </a:solidFill>
                <a:latin typeface="Calibri"/>
              </a:rPr>
              <a:t>Viết văn bản nghị luận về cách kể của tác giả trong một tác phẩm truyện.</a:t>
            </a:r>
          </a:p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200">
                <a:solidFill>
                  <a:srgbClr val="1E293B"/>
                </a:solidFill>
                <a:latin typeface="Calibri"/>
              </a:rPr>
              <a:t>Thuyết trình về nghệ thuật kể chuyện; đồng cảm với số phận bất hạnh, trân trọng khát khao yêu thương.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2926080"/>
            <a:ext cx="164592" cy="1005840"/>
          </a:xfrm>
          <a:prstGeom prst="rect">
            <a:avLst/>
          </a:prstGeom>
          <a:solidFill>
            <a:srgbClr val="99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743200"/>
            <a:ext cx="10515600" cy="137160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3600" b="1">
                <a:solidFill>
                  <a:srgbClr val="1E40AF"/>
                </a:solidFill>
                <a:latin typeface="Calibri"/>
              </a:rPr>
              <a:t>TIẾT 1 – 3: VỢ NHẶT (Kim Lân)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786823" y="457200"/>
            <a:ext cx="1856232" cy="457200"/>
          </a:xfrm>
          <a:prstGeom prst="round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KHỞI ĐỘNG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116568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KHỞI ĐỘNG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Ngữ văn 11 · Bài 1: Câu Chuyện Và Điểm Nhìn Trong Truyện Kể         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463040"/>
            <a:ext cx="10789920" cy="45720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2600" b="1">
                <a:solidFill>
                  <a:srgbClr val="1E293B"/>
                </a:solidFill>
                <a:latin typeface="Calibri"/>
              </a:rPr>
              <a:t>Theo em, giữa lúc cái chết cận kề, điều gì giúp con người vẫn muốn sống, muốn hi vọng?</a:t>
            </a:r>
          </a:p>
          <a:p>
            <a:pPr algn="l">
              <a:spcAft>
                <a:spcPts val="800"/>
              </a:spcAft>
            </a:pPr>
            <a:r>
              <a:rPr sz="2600" b="1">
                <a:solidFill>
                  <a:srgbClr val="1E293B"/>
                </a:solidFill>
                <a:latin typeface="Calibri"/>
              </a:rPr>
              <a:t>Chia sẻ một tư liệu em tìm được về nạn đói năm Ất Dậu (1945).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408615" y="457200"/>
            <a:ext cx="1234440" cy="457200"/>
          </a:xfrm>
          <a:prstGeom prst="roundRect">
            <a:avLst/>
          </a:prstGeom>
          <a:solidFill>
            <a:srgbClr val="99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VIDEO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73836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VIDEO THAM KHẢO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Ngữ văn 11 · Bài 1: Câu Chuyện Và Điểm Nhìn Trong Truyện Kể          5</a:t>
            </a:r>
          </a:p>
        </p:txBody>
      </p:sp>
      <p:pic>
        <p:nvPicPr>
          <p:cNvPr id="7" name="Picture 6" descr="QR_video_l00C8vSGTs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12480" y="1554480"/>
            <a:ext cx="3108960" cy="310896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31520" y="1554480"/>
            <a:ext cx="7498079" cy="42062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2600" b="1">
                <a:solidFill>
                  <a:srgbClr val="1E293B"/>
                </a:solidFill>
                <a:latin typeface="Calibri"/>
              </a:rPr>
              <a:t>🎬 Phim tài liệu đặc biệt: Nạn đói khủng khiếp năm 1945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64748B"/>
                </a:solidFill>
                <a:latin typeface="Calibri"/>
              </a:rPr>
              <a:t>Kênh: Trực tiếp TV</a:t>
            </a:r>
          </a:p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000">
                <a:solidFill>
                  <a:srgbClr val="1E293B"/>
                </a:solidFill>
                <a:latin typeface="Calibri"/>
              </a:rPr>
              <a:t>Hoạt động Mở đầu – Vợ nhặt (chiếu trích đoạn 2–3 phút)</a:t>
            </a:r>
          </a:p>
          <a:p>
            <a:pPr algn="l">
              <a:spcAft>
                <a:spcPts val="800"/>
              </a:spcAft>
            </a:pPr>
            <a:r>
              <a:rPr sz="1600">
                <a:solidFill>
                  <a:srgbClr val="64748B"/>
                </a:solidFill>
                <a:latin typeface="Calibri"/>
                <a:hlinkClick r:id="rId3"/>
              </a:rPr>
              <a:t>https://www.youtube.com/watch?v=l00C8vSGTso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097719" y="457200"/>
            <a:ext cx="1545336" cy="457200"/>
          </a:xfrm>
          <a:prstGeom prst="roundRect">
            <a:avLst/>
          </a:prstGeom>
          <a:solidFill>
            <a:srgbClr val="1665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GHI NHỚ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427464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TRI THỨC NGỮ VĂN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Ngữ văn 11 · Bài 1: Câu Chuyện Và Điểm Nhìn Trong Truyện Kể          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463040"/>
            <a:ext cx="10789920" cy="47548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400" b="1">
                <a:solidFill>
                  <a:srgbClr val="1E293B"/>
                </a:solidFill>
                <a:latin typeface="Calibri"/>
              </a:rPr>
              <a:t>Câu chuyện</a:t>
            </a:r>
            <a:r>
              <a:rPr sz="2400">
                <a:solidFill>
                  <a:srgbClr val="1E293B"/>
                </a:solidFill>
                <a:latin typeface="Calibri"/>
              </a:rPr>
              <a:t>: nhân vật, bối cảnh, sự kiện theo trật tự thời gian.</a:t>
            </a:r>
          </a:p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400" b="1">
                <a:solidFill>
                  <a:srgbClr val="1E293B"/>
                </a:solidFill>
                <a:latin typeface="Calibri"/>
              </a:rPr>
              <a:t>Truyện kể</a:t>
            </a:r>
            <a:r>
              <a:rPr sz="2400">
                <a:solidFill>
                  <a:srgbClr val="1E293B"/>
                </a:solidFill>
                <a:latin typeface="Calibri"/>
              </a:rPr>
              <a:t>: sự kiện tổ chức theo mạch kể, gắn người kể chuyện, điểm nhìn, lời văn.</a:t>
            </a:r>
          </a:p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400" b="1">
                <a:solidFill>
                  <a:srgbClr val="1E293B"/>
                </a:solidFill>
                <a:latin typeface="Calibri"/>
              </a:rPr>
              <a:t>Điểm nhìn</a:t>
            </a:r>
            <a:r>
              <a:rPr sz="2400">
                <a:solidFill>
                  <a:srgbClr val="1E293B"/>
                </a:solidFill>
                <a:latin typeface="Calibri"/>
              </a:rPr>
              <a:t>: vị trí để quan sát, trần thuật, đánh giá.</a:t>
            </a:r>
          </a:p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Bên ngoài (ngoại hiện) – bên trong (qua cảm nhận, ý thức nhân vật).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408615" y="457200"/>
            <a:ext cx="1234440" cy="457200"/>
          </a:xfrm>
          <a:prstGeom prst="roundRect">
            <a:avLst/>
          </a:prstGeom>
          <a:solidFill>
            <a:srgbClr val="99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VIDEO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73836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VIDEO THAM KHẢO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Ngữ văn 11 · Bài 1: Câu Chuyện Và Điểm Nhìn Trong Truyện Kể          7</a:t>
            </a:r>
          </a:p>
        </p:txBody>
      </p:sp>
      <p:pic>
        <p:nvPicPr>
          <p:cNvPr id="7" name="Picture 6" descr="QR_video_6PGr8iYB83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12480" y="1554480"/>
            <a:ext cx="3108960" cy="310896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31520" y="1554480"/>
            <a:ext cx="7498079" cy="42062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2600" b="1">
                <a:solidFill>
                  <a:srgbClr val="1E293B"/>
                </a:solidFill>
                <a:latin typeface="Calibri"/>
              </a:rPr>
              <a:t>🎬 Tác phẩm: Truyện ngắn Vợ nhặt – Nhà văn Kim Lân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64748B"/>
                </a:solidFill>
                <a:latin typeface="Calibri"/>
              </a:rPr>
              <a:t>Kênh: Văn học Việt Nam và Thế giới</a:t>
            </a:r>
          </a:p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000">
                <a:solidFill>
                  <a:srgbClr val="1E293B"/>
                </a:solidFill>
                <a:latin typeface="Calibri"/>
              </a:rPr>
              <a:t>Đọc văn bản ở nhà (nghe toàn văn truyện)</a:t>
            </a:r>
          </a:p>
          <a:p>
            <a:pPr algn="l">
              <a:spcAft>
                <a:spcPts val="800"/>
              </a:spcAft>
            </a:pPr>
            <a:r>
              <a:rPr sz="1600">
                <a:solidFill>
                  <a:srgbClr val="64748B"/>
                </a:solidFill>
                <a:latin typeface="Calibri"/>
                <a:hlinkClick r:id="rId3"/>
              </a:rPr>
              <a:t>https://www.youtube.com/watch?v=6PGr8iYB83I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253167" y="457200"/>
            <a:ext cx="1389888" cy="457200"/>
          </a:xfrm>
          <a:prstGeom prst="round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ĐỀ BÀI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582912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NHAN ĐỀ VỢ NHẶT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Ngữ văn 11 · Bài 1: Câu Chuyện Và Điểm Nhìn Trong Truyện Kể          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463040"/>
            <a:ext cx="10789920" cy="35661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2600" b="1">
                <a:solidFill>
                  <a:srgbClr val="1E293B"/>
                </a:solidFill>
                <a:latin typeface="Calibri"/>
              </a:rPr>
              <a:t>Giữa nhan đề </a:t>
            </a:r>
            <a:r>
              <a:rPr sz="2600" b="1">
                <a:solidFill>
                  <a:srgbClr val="1E293B"/>
                </a:solidFill>
                <a:latin typeface="Calibri"/>
              </a:rPr>
              <a:t>Vợ nhặt</a:t>
            </a:r>
            <a:r>
              <a:rPr sz="2600" b="1">
                <a:solidFill>
                  <a:srgbClr val="1E293B"/>
                </a:solidFill>
                <a:latin typeface="Calibri"/>
              </a:rPr>
              <a:t> và nội dung câu chuyện có mối quan hệ với nhau như thế nào?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5120640"/>
            <a:ext cx="10789920" cy="693420"/>
          </a:xfrm>
          <a:prstGeom prst="roundRect">
            <a:avLst>
              <a:gd name="adj" fmla="val 8000"/>
            </a:avLst>
          </a:prstGeom>
          <a:solidFill>
            <a:srgbClr val="EFF4FF"/>
          </a:solidFill>
          <a:ln w="19050">
            <a:solidFill>
              <a:srgbClr val="1E40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5120640"/>
            <a:ext cx="10424160" cy="6934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>
                <a:solidFill>
                  <a:srgbClr val="1E40AF"/>
                </a:solidFill>
                <a:latin typeface="Calibri"/>
              </a:rPr>
              <a:t>💡 Gợi ý: “vợ” là việc hệ trọng; “nhặt” gợi điều gì?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942271" y="457200"/>
            <a:ext cx="1700784" cy="457200"/>
          </a:xfrm>
          <a:prstGeom prst="roundRect">
            <a:avLst/>
          </a:prstGeom>
          <a:solidFill>
            <a:srgbClr val="99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LỜI GIẢI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272016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NHAN ĐỀ VỢ NHẶT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Ngữ văn 11 · Bài 1: Câu Chuyện Và Điểm Nhìn Trong Truyện Kể          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463040"/>
            <a:ext cx="10789920" cy="34747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300">
                <a:solidFill>
                  <a:srgbClr val="1E293B"/>
                </a:solidFill>
                <a:latin typeface="Calibri"/>
              </a:rPr>
              <a:t>“Vợ” – việc trọng đại của đời người; “nhặt” – nhặt nhạnh, rẻ rúng.</a:t>
            </a:r>
          </a:p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300">
                <a:solidFill>
                  <a:srgbClr val="1E293B"/>
                </a:solidFill>
                <a:latin typeface="Calibri"/>
              </a:rPr>
              <a:t>Giá trị con người bị rẻ rúng trong nạn đói.</a:t>
            </a:r>
          </a:p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300">
                <a:solidFill>
                  <a:srgbClr val="1E293B"/>
                </a:solidFill>
                <a:latin typeface="Calibri"/>
              </a:rPr>
              <a:t>Nhưng “nhặt” cũng là cưu mang, mở ra khát vọng sống.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5074920"/>
            <a:ext cx="10789920" cy="731520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905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5074920"/>
            <a:ext cx="10424160" cy="7315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991B1B"/>
                </a:solidFill>
                <a:latin typeface="Calibri"/>
              </a:rPr>
              <a:t>Nhan đề vừa tố cáo nạn đói, vừa ngợi ca tình người.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253167" y="457200"/>
            <a:ext cx="1389888" cy="457200"/>
          </a:xfrm>
          <a:prstGeom prst="round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ĐỀ BÀI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582912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TÌNH HUỐNG TRUYỆN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Ngữ văn 11 · Bài 1: Câu Chuyện Và Điểm Nhìn Trong Truyện Kể          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463040"/>
            <a:ext cx="10789920" cy="35661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2600" b="1">
                <a:solidFill>
                  <a:srgbClr val="1E293B"/>
                </a:solidFill>
                <a:latin typeface="Calibri"/>
              </a:rPr>
              <a:t>Xác định tình huống truyện và nêu ý nghĩa của nó.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5120640"/>
            <a:ext cx="10789920" cy="693420"/>
          </a:xfrm>
          <a:prstGeom prst="roundRect">
            <a:avLst>
              <a:gd name="adj" fmla="val 8000"/>
            </a:avLst>
          </a:prstGeom>
          <a:solidFill>
            <a:srgbClr val="EFF4FF"/>
          </a:solidFill>
          <a:ln w="19050">
            <a:solidFill>
              <a:srgbClr val="1E40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5120640"/>
            <a:ext cx="10424160" cy="6934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>
                <a:solidFill>
                  <a:srgbClr val="1E40AF"/>
                </a:solidFill>
                <a:latin typeface="Calibri"/>
              </a:rPr>
              <a:t>💡 Chú ý phản ứng của dân xóm, bà cụ Tứ và chính Tràng.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942271" y="457200"/>
            <a:ext cx="1700784" cy="457200"/>
          </a:xfrm>
          <a:prstGeom prst="roundRect">
            <a:avLst/>
          </a:prstGeom>
          <a:solidFill>
            <a:srgbClr val="99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LỜI GIẢI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272016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TÌNH HUỐNG TRUYỆN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Ngữ văn 11 · Bài 1: Câu Chuyện Và Điểm Nhìn Trong Truyện Kể          11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463040"/>
            <a:ext cx="10789920" cy="34747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300">
                <a:solidFill>
                  <a:srgbClr val="1E293B"/>
                </a:solidFill>
                <a:latin typeface="Calibri"/>
              </a:rPr>
              <a:t>Tràng – nghèo, xấu, dân ngụ cư – “nhặt” được vợ giữa nạn đói.</a:t>
            </a:r>
          </a:p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300">
                <a:solidFill>
                  <a:srgbClr val="1E293B"/>
                </a:solidFill>
                <a:latin typeface="Calibri"/>
              </a:rPr>
              <a:t>Cả xóm ngạc nhiên; bà cụ Tứ ngạc nhiên, ai oán; Tràng “ngờ ngợ”.</a:t>
            </a:r>
          </a:p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300">
                <a:solidFill>
                  <a:srgbClr val="1E293B"/>
                </a:solidFill>
                <a:latin typeface="Calibri"/>
              </a:rPr>
              <a:t>Tình huống vừa lạ, vừa éo le: hạnh phúc nảy sinh bên bờ cái chết.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5074920"/>
            <a:ext cx="10789920" cy="1188720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905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5074920"/>
            <a:ext cx="10424160" cy="11887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991B1B"/>
                </a:solidFill>
                <a:latin typeface="Calibri"/>
              </a:rPr>
              <a:t>Bộc lộ thảm cảnh nạn đói và khát vọng sống, tình thương của con người.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253167" y="457200"/>
            <a:ext cx="1389888" cy="457200"/>
          </a:xfrm>
          <a:prstGeom prst="round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ĐỀ BÀI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582912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TRÌNH TỰ KỂ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Ngữ văn 11 · Bài 1: Câu Chuyện Và Điểm Nhìn Trong Truyện Kể          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463040"/>
            <a:ext cx="10789920" cy="35661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2600" b="1">
                <a:solidFill>
                  <a:srgbClr val="1E293B"/>
                </a:solidFill>
                <a:latin typeface="Calibri"/>
              </a:rPr>
              <a:t>Câu chuyện trong Vợ nhặt được kể theo trình tự nào và có thể chia làm mấy phần?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5120640"/>
            <a:ext cx="10789920" cy="693420"/>
          </a:xfrm>
          <a:prstGeom prst="roundRect">
            <a:avLst>
              <a:gd name="adj" fmla="val 8000"/>
            </a:avLst>
          </a:prstGeom>
          <a:solidFill>
            <a:srgbClr val="EFF4FF"/>
          </a:solidFill>
          <a:ln w="19050">
            <a:solidFill>
              <a:srgbClr val="1E40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5120640"/>
            <a:ext cx="10424160" cy="6934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>
                <a:solidFill>
                  <a:srgbClr val="1E40AF"/>
                </a:solidFill>
                <a:latin typeface="Calibri"/>
              </a:rPr>
              <a:t>💡 Đâu là hiện tại, đâu là hồi tưởng?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942271" y="457200"/>
            <a:ext cx="1700784" cy="457200"/>
          </a:xfrm>
          <a:prstGeom prst="roundRect">
            <a:avLst/>
          </a:prstGeom>
          <a:solidFill>
            <a:srgbClr val="99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LỜI GIẢI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272016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TRÌNH TỰ KỂ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Ngữ văn 11 · Bài 1: Câu Chuyện Và Điểm Nhìn Trong Truyện Kể          13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463040"/>
            <a:ext cx="10789920" cy="34747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300">
                <a:solidFill>
                  <a:srgbClr val="1E293B"/>
                </a:solidFill>
                <a:latin typeface="Calibri"/>
              </a:rPr>
              <a:t>Phần 1: Tràng đưa vợ về, xóm ngụ cư bàn tán (hiện tại) + hồi tưởng hai lần gặp.</a:t>
            </a:r>
          </a:p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300">
                <a:solidFill>
                  <a:srgbClr val="1E293B"/>
                </a:solidFill>
                <a:latin typeface="Calibri"/>
              </a:rPr>
              <a:t>Phần 2: bà cụ Tứ về, đón nhận nàng dâu.</a:t>
            </a:r>
          </a:p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300">
                <a:solidFill>
                  <a:srgbClr val="1E293B"/>
                </a:solidFill>
                <a:latin typeface="Calibri"/>
              </a:rPr>
              <a:t>Phần 3: buổi sáng đầu tiên – bữa cơm, tiếng trống thuế, lá cờ đỏ.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5074920"/>
            <a:ext cx="10789920" cy="731520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905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5074920"/>
            <a:ext cx="10424160" cy="7315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991B1B"/>
                </a:solidFill>
                <a:latin typeface="Calibri"/>
              </a:rPr>
              <a:t>Không theo trật tự thời gian tuyến tính → tạo tò mò, hấp dẫn.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253167" y="457200"/>
            <a:ext cx="1389888" cy="457200"/>
          </a:xfrm>
          <a:prstGeom prst="round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ĐỀ BÀI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582912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SỰ THAY ĐỔI CỦA NHÂN VẬT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Ngữ văn 11 · Bài 1: Câu Chuyện Và Điểm Nhìn Trong Truyện Kể          14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463040"/>
            <a:ext cx="10789920" cy="35661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2600" b="1">
                <a:solidFill>
                  <a:srgbClr val="1E293B"/>
                </a:solidFill>
                <a:latin typeface="Calibri"/>
              </a:rPr>
              <a:t>Theo trình tự câu chuyện, Tràng, người vợ nhặt, bà cụ Tứ thay đổi thế nào từ diện mạo, tâm trạng đến cách ứng xử?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5120640"/>
            <a:ext cx="10789920" cy="693420"/>
          </a:xfrm>
          <a:prstGeom prst="roundRect">
            <a:avLst>
              <a:gd name="adj" fmla="val 8000"/>
            </a:avLst>
          </a:prstGeom>
          <a:solidFill>
            <a:srgbClr val="EFF4FF"/>
          </a:solidFill>
          <a:ln w="19050">
            <a:solidFill>
              <a:srgbClr val="1E40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5120640"/>
            <a:ext cx="10424160" cy="6934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>
                <a:solidFill>
                  <a:srgbClr val="1E40AF"/>
                </a:solidFill>
                <a:latin typeface="Calibri"/>
              </a:rPr>
              <a:t>💡 Lập bảng: lúc đầu – về sau.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942271" y="457200"/>
            <a:ext cx="1700784" cy="457200"/>
          </a:xfrm>
          <a:prstGeom prst="roundRect">
            <a:avLst/>
          </a:prstGeom>
          <a:solidFill>
            <a:srgbClr val="99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LỜI GIẢI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272016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SỰ THAY ĐỔI CỦA NHÂN VẬT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Ngữ văn 11 · Bài 1: Câu Chuyện Và Điểm Nhìn Trong Truyện Kể          15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463040"/>
            <a:ext cx="10789920" cy="34747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300">
                <a:solidFill>
                  <a:srgbClr val="1E293B"/>
                </a:solidFill>
                <a:latin typeface="Calibri"/>
              </a:rPr>
              <a:t>Tràng: “phớn phở”, ngượng nghịu → thấy mình nên người, gắn bó với gia đình.</a:t>
            </a:r>
          </a:p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300">
                <a:solidFill>
                  <a:srgbClr val="1E293B"/>
                </a:solidFill>
                <a:latin typeface="Calibri"/>
              </a:rPr>
              <a:t>Người vợ: chao chát, chỏng lỏn → hiền hậu, đúng mực.</a:t>
            </a:r>
          </a:p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300">
                <a:solidFill>
                  <a:srgbClr val="1E293B"/>
                </a:solidFill>
                <a:latin typeface="Calibri"/>
              </a:rPr>
              <a:t>Bà cụ Tứ: ngạc nhiên, ai oán → cảm thông, vun vén, nói chuyện vui, tin tương lai.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5074920"/>
            <a:ext cx="10789920" cy="731520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905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5074920"/>
            <a:ext cx="10424160" cy="7315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991B1B"/>
                </a:solidFill>
                <a:latin typeface="Calibri"/>
              </a:rPr>
              <a:t>Tình thương làm con người đẹp lên ngay giữa cái đói.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253167" y="457200"/>
            <a:ext cx="1389888" cy="457200"/>
          </a:xfrm>
          <a:prstGeom prst="round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ĐỀ BÀI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582912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ĐIỂM NHÌN VÀ GIỌNG ĐIỆU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Ngữ văn 11 · Bài 1: Câu Chuyện Và Điểm Nhìn Trong Truyện Kể          16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463040"/>
            <a:ext cx="10789920" cy="35661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2600" b="1">
                <a:solidFill>
                  <a:srgbClr val="1E293B"/>
                </a:solidFill>
                <a:latin typeface="Calibri"/>
              </a:rPr>
              <a:t>Phân tích nét đáng chú ý trong cách người kể chuyện quan sát, miêu tả sự thay đổi của nhân vật (điểm nhìn, lời kể, giọng điệu).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5120640"/>
            <a:ext cx="10789920" cy="1112520"/>
          </a:xfrm>
          <a:prstGeom prst="roundRect">
            <a:avLst>
              <a:gd name="adj" fmla="val 8000"/>
            </a:avLst>
          </a:prstGeom>
          <a:solidFill>
            <a:srgbClr val="EFF4FF"/>
          </a:solidFill>
          <a:ln w="19050">
            <a:solidFill>
              <a:srgbClr val="1E40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5120640"/>
            <a:ext cx="10424160" cy="11125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>
                <a:solidFill>
                  <a:srgbClr val="1E40AF"/>
                </a:solidFill>
                <a:latin typeface="Calibri"/>
              </a:rPr>
              <a:t>💡 So sánh đoạn “người trong xóm bỗng thấy…” với đoạn bà cụ Tứ nghĩ về con.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942271" y="457200"/>
            <a:ext cx="1700784" cy="457200"/>
          </a:xfrm>
          <a:prstGeom prst="roundRect">
            <a:avLst/>
          </a:prstGeom>
          <a:solidFill>
            <a:srgbClr val="99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LỜI GIẢI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272016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ĐIỂM NHÌN VÀ GIỌNG ĐIỆU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Ngữ văn 11 · Bài 1: Câu Chuyện Và Điểm Nhìn Trong Truyện Kể          17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463040"/>
            <a:ext cx="10789920" cy="34747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300">
                <a:solidFill>
                  <a:srgbClr val="1E293B"/>
                </a:solidFill>
                <a:latin typeface="Calibri"/>
              </a:rPr>
              <a:t>Ngôi thứ ba, điểm nhìn linh hoạt: bên ngoài (dân xóm) ↔ bên trong (Tràng, bà cụ Tứ).</a:t>
            </a:r>
          </a:p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300">
                <a:solidFill>
                  <a:srgbClr val="1E293B"/>
                </a:solidFill>
                <a:latin typeface="Calibri"/>
              </a:rPr>
              <a:t>Lời kể hòa vào lời nửa trực tiếp của nhân vật.</a:t>
            </a:r>
          </a:p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300">
                <a:solidFill>
                  <a:srgbClr val="1E293B"/>
                </a:solidFill>
                <a:latin typeface="Calibri"/>
              </a:rPr>
              <a:t>Giọng điệu xót xa mà ấm áp, hóm hỉnh.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5074920"/>
            <a:ext cx="10789920" cy="731520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905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5074920"/>
            <a:ext cx="10424160" cy="7315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991B1B"/>
                </a:solidFill>
                <a:latin typeface="Calibri"/>
              </a:rPr>
              <a:t>Điểm nhìn linh hoạt giúp soi thấu tâm lí, tạo sự đồng cảm.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253167" y="457200"/>
            <a:ext cx="1389888" cy="457200"/>
          </a:xfrm>
          <a:prstGeom prst="round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ĐỀ BÀI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582912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CHỦ ĐỀ – “CỔ TÍCH TRONG NẠN ĐÓI”?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Ngữ văn 11 · Bài 1: Câu Chuyện Và Điểm Nhìn Trong Truyện Kể          18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463040"/>
            <a:ext cx="10789920" cy="35661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2600" b="1">
                <a:solidFill>
                  <a:srgbClr val="1E293B"/>
                </a:solidFill>
                <a:latin typeface="Calibri"/>
              </a:rPr>
              <a:t>Nêu chủ đề, đánh giá giá trị tư tưởng. Có thể xem Vợ nhặt là “câu chuyện cổ tích trong nạn đói” không?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5120640"/>
            <a:ext cx="10789920" cy="693420"/>
          </a:xfrm>
          <a:prstGeom prst="roundRect">
            <a:avLst>
              <a:gd name="adj" fmla="val 8000"/>
            </a:avLst>
          </a:prstGeom>
          <a:solidFill>
            <a:srgbClr val="EFF4FF"/>
          </a:solidFill>
          <a:ln w="19050">
            <a:solidFill>
              <a:srgbClr val="1E40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5120640"/>
            <a:ext cx="10424160" cy="6934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>
                <a:solidFill>
                  <a:srgbClr val="1E40AF"/>
                </a:solidFill>
                <a:latin typeface="Calibri"/>
              </a:rPr>
              <a:t>💡 Có phép màu nào không? Niềm tin đến từ đâu?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942271" y="457200"/>
            <a:ext cx="1700784" cy="457200"/>
          </a:xfrm>
          <a:prstGeom prst="roundRect">
            <a:avLst/>
          </a:prstGeom>
          <a:solidFill>
            <a:srgbClr val="99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LỜI GIẢI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272016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CHỦ ĐỀ – “CỔ TÍCH TRONG NẠN ĐÓI”?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Ngữ văn 11 · Bài 1: Câu Chuyện Và Điểm Nhìn Trong Truyện Kể          19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463040"/>
            <a:ext cx="10789920" cy="34747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300">
                <a:solidFill>
                  <a:srgbClr val="1E293B"/>
                </a:solidFill>
                <a:latin typeface="Calibri"/>
              </a:rPr>
              <a:t>Chủ đề: khát vọng sống, tình thương của người lao động bên bờ cái chết.</a:t>
            </a:r>
          </a:p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300">
                <a:solidFill>
                  <a:srgbClr val="1E293B"/>
                </a:solidFill>
                <a:latin typeface="Calibri"/>
              </a:rPr>
              <a:t>Giống cổ tích: người nghèo “đổi đời”, có hạnh phúc.</a:t>
            </a:r>
          </a:p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300">
                <a:solidFill>
                  <a:srgbClr val="1E293B"/>
                </a:solidFill>
                <a:latin typeface="Calibri"/>
              </a:rPr>
              <a:t>Khác: không có phép màu; niềm tin đến từ tình người và lá cờ đỏ cách mạng.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5074920"/>
            <a:ext cx="10789920" cy="731520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905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5074920"/>
            <a:ext cx="10424160" cy="7315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991B1B"/>
                </a:solidFill>
                <a:latin typeface="Calibri"/>
              </a:rPr>
              <a:t>Giá trị hiện thực và giá trị nhân đạo sâu sắc.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2926080"/>
            <a:ext cx="164592" cy="1005840"/>
          </a:xfrm>
          <a:prstGeom prst="rect">
            <a:avLst/>
          </a:prstGeom>
          <a:solidFill>
            <a:srgbClr val="99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743200"/>
            <a:ext cx="10515600" cy="137160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3600" b="1">
                <a:solidFill>
                  <a:srgbClr val="1E40AF"/>
                </a:solidFill>
                <a:latin typeface="Calibri"/>
              </a:rPr>
              <a:t>TIẾT 4 – 6: CHÍ PHÈO (Nam Cao)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786823" y="457200"/>
            <a:ext cx="1856232" cy="457200"/>
          </a:xfrm>
          <a:prstGeom prst="round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KHỞI ĐỘNG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116568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TRƯỚC KHI ĐỌC CHÍ PHÈO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Ngữ văn 11 · Bài 1: Câu Chuyện Và Điểm Nhìn Trong Truyện Kể          21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463040"/>
            <a:ext cx="10789920" cy="45720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2600" b="1">
                <a:solidFill>
                  <a:srgbClr val="1E293B"/>
                </a:solidFill>
                <a:latin typeface="Calibri"/>
              </a:rPr>
              <a:t>Thế nào là định kiến xã hội? Định kiến có thể ảnh hưởng đến cá nhân và cộng đồng như thế nào?</a:t>
            </a:r>
          </a:p>
          <a:p>
            <a:pPr algn="l">
              <a:spcAft>
                <a:spcPts val="800"/>
              </a:spcAft>
            </a:pPr>
            <a:r>
              <a:rPr sz="2600" b="1">
                <a:solidFill>
                  <a:srgbClr val="1E293B"/>
                </a:solidFill>
                <a:latin typeface="Calibri"/>
              </a:rPr>
              <a:t>Khi nghe gọi ai đó là “Chí Phèo”, cách gọi ấy hàm ẩn đánh giá gì?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408615" y="457200"/>
            <a:ext cx="1234440" cy="457200"/>
          </a:xfrm>
          <a:prstGeom prst="roundRect">
            <a:avLst/>
          </a:prstGeom>
          <a:solidFill>
            <a:srgbClr val="99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VIDEO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73836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VIDEO THAM KHẢO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Ngữ văn 11 · Bài 1: Câu Chuyện Và Điểm Nhìn Trong Truyện Kể          22</a:t>
            </a:r>
          </a:p>
        </p:txBody>
      </p:sp>
      <p:pic>
        <p:nvPicPr>
          <p:cNvPr id="7" name="Picture 6" descr="QR_video_FShtDV29lXQ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12480" y="1554480"/>
            <a:ext cx="3108960" cy="310896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31520" y="1554480"/>
            <a:ext cx="7498079" cy="42062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2600" b="1">
                <a:solidFill>
                  <a:srgbClr val="1E293B"/>
                </a:solidFill>
                <a:latin typeface="Calibri"/>
              </a:rPr>
              <a:t>🎬 Làng Vũ Đại ngày ấy (1982)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64748B"/>
                </a:solidFill>
                <a:latin typeface="Calibri"/>
              </a:rPr>
              <a:t>Kênh: Sao Vàng</a:t>
            </a:r>
          </a:p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000">
                <a:solidFill>
                  <a:srgbClr val="1E293B"/>
                </a:solidFill>
                <a:latin typeface="Calibri"/>
              </a:rPr>
              <a:t>Mở đầu Chí Phèo – chiếu trích đoạn phim chuyển thể (Chí Phèo – Thị Nở)</a:t>
            </a:r>
          </a:p>
          <a:p>
            <a:pPr algn="l">
              <a:spcAft>
                <a:spcPts val="800"/>
              </a:spcAft>
            </a:pPr>
            <a:r>
              <a:rPr sz="1600">
                <a:solidFill>
                  <a:srgbClr val="64748B"/>
                </a:solidFill>
                <a:latin typeface="Calibri"/>
                <a:hlinkClick r:id="rId3"/>
              </a:rPr>
              <a:t>https://www.youtube.com/watch?v=FShtDV29lXQ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253167" y="457200"/>
            <a:ext cx="1389888" cy="457200"/>
          </a:xfrm>
          <a:prstGeom prst="round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ĐỀ BÀI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582912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CỐT TRUYỆN VÀ TRÌNH TỰ KỂ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Ngữ văn 11 · Bài 1: Câu Chuyện Và Điểm Nhìn Trong Truyện Kể          23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463040"/>
            <a:ext cx="10789920" cy="35661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2600" b="1">
                <a:solidFill>
                  <a:srgbClr val="1E293B"/>
                </a:solidFill>
                <a:latin typeface="Calibri"/>
              </a:rPr>
              <a:t>Tóm tắt cốt truyện Chí Phèo theo trình tự thời gian cuộc đời nhân vật. Đánh giá hiệu quả của việc phá vỡ trình tự này.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5120640"/>
            <a:ext cx="10789920" cy="693420"/>
          </a:xfrm>
          <a:prstGeom prst="roundRect">
            <a:avLst>
              <a:gd name="adj" fmla="val 8000"/>
            </a:avLst>
          </a:prstGeom>
          <a:solidFill>
            <a:srgbClr val="EFF4FF"/>
          </a:solidFill>
          <a:ln w="19050">
            <a:solidFill>
              <a:srgbClr val="1E40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5120640"/>
            <a:ext cx="10424160" cy="6934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>
                <a:solidFill>
                  <a:srgbClr val="1E40AF"/>
                </a:solidFill>
                <a:latin typeface="Calibri"/>
              </a:rPr>
              <a:t>💡 Truyện mở đầu bằng sự việc nào?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942271" y="457200"/>
            <a:ext cx="1700784" cy="457200"/>
          </a:xfrm>
          <a:prstGeom prst="roundRect">
            <a:avLst/>
          </a:prstGeom>
          <a:solidFill>
            <a:srgbClr val="99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LỜI GIẢI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272016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CỐT TRUYỆN VÀ TRÌNH TỰ KỂ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Ngữ văn 11 · Bài 1: Câu Chuyện Và Điểm Nhìn Trong Truyện Kể          24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463040"/>
            <a:ext cx="10789920" cy="34747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300">
                <a:solidFill>
                  <a:srgbClr val="1E293B"/>
                </a:solidFill>
                <a:latin typeface="Calibri"/>
              </a:rPr>
              <a:t>Bị bỏ ở lò gạch → canh điền nhà lí Kiến → vào tù → thành “con quỷ dữ”.</a:t>
            </a:r>
          </a:p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300">
                <a:solidFill>
                  <a:srgbClr val="1E293B"/>
                </a:solidFill>
                <a:latin typeface="Calibri"/>
              </a:rPr>
              <a:t>Gặp thị Nở, thức tỉnh → bị cự tuyệt → giết Bá Kiến, tự sát.</a:t>
            </a:r>
          </a:p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300">
                <a:solidFill>
                  <a:srgbClr val="1E293B"/>
                </a:solidFill>
                <a:latin typeface="Calibri"/>
              </a:rPr>
              <a:t>Mở đầu bằng tiếng chửi → gây ấn tượng, tô đậm bi kịch.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5074920"/>
            <a:ext cx="10789920" cy="731520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905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5074920"/>
            <a:ext cx="10424160" cy="7315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991B1B"/>
                </a:solidFill>
                <a:latin typeface="Calibri"/>
              </a:rPr>
              <a:t>Kết cấu mới lạ, gợi vòng luẩn quẩn của bi kịch.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253167" y="457200"/>
            <a:ext cx="1389888" cy="457200"/>
          </a:xfrm>
          <a:prstGeom prst="round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ĐỀ BÀI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582912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ĐIỂM NHÌN TRONG ĐOẠN MỞ ĐẦU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Ngữ văn 11 · Bài 1: Câu Chuyện Và Điểm Nhìn Trong Truyện Kể          25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463040"/>
            <a:ext cx="10789920" cy="35661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2600" b="1">
                <a:solidFill>
                  <a:srgbClr val="1E293B"/>
                </a:solidFill>
                <a:latin typeface="Calibri"/>
              </a:rPr>
              <a:t>Phân loại điểm nhìn trong đoạn mở đầu (người kể – nhân vật; bên ngoài – bên trong). Nhận xét sự dịch chuyển giữa các điểm nhìn.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5120640"/>
            <a:ext cx="10789920" cy="693420"/>
          </a:xfrm>
          <a:prstGeom prst="roundRect">
            <a:avLst>
              <a:gd name="adj" fmla="val 8000"/>
            </a:avLst>
          </a:prstGeom>
          <a:solidFill>
            <a:srgbClr val="EFF4FF"/>
          </a:solidFill>
          <a:ln w="19050">
            <a:solidFill>
              <a:srgbClr val="1E40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5120640"/>
            <a:ext cx="10424160" cy="6934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>
                <a:solidFill>
                  <a:srgbClr val="1E40AF"/>
                </a:solidFill>
                <a:latin typeface="Calibri"/>
              </a:rPr>
              <a:t>💡 Tìm câu thể hiện suy nghĩ của Chí Phèo, của dân làng.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942271" y="457200"/>
            <a:ext cx="1700784" cy="457200"/>
          </a:xfrm>
          <a:prstGeom prst="roundRect">
            <a:avLst/>
          </a:prstGeom>
          <a:solidFill>
            <a:srgbClr val="99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LỜI GIẢI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272016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ĐIỂM NHÌN TRONG ĐOẠN MỞ ĐẦU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Ngữ văn 11 · Bài 1: Câu Chuyện Và Điểm Nhìn Trong Truyện Kể          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463040"/>
            <a:ext cx="10789920" cy="34747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300">
                <a:solidFill>
                  <a:srgbClr val="1E293B"/>
                </a:solidFill>
                <a:latin typeface="Calibri"/>
              </a:rPr>
              <a:t>Người kể quan sát hành động chửi (bên ngoài).</a:t>
            </a:r>
          </a:p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300">
                <a:solidFill>
                  <a:srgbClr val="1E293B"/>
                </a:solidFill>
                <a:latin typeface="Calibri"/>
              </a:rPr>
              <a:t>“Tức thật! Tức thật!” – điểm nhìn bên trong Chí Phèo (lời nửa trực tiếp).</a:t>
            </a:r>
          </a:p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300">
                <a:solidFill>
                  <a:srgbClr val="1E293B"/>
                </a:solidFill>
                <a:latin typeface="Calibri"/>
              </a:rPr>
              <a:t>“Chắc nó trừ mình ra!” – điểm nhìn dân làng Vũ Đại.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5074920"/>
            <a:ext cx="10789920" cy="731520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905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5074920"/>
            <a:ext cx="10424160" cy="7315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991B1B"/>
                </a:solidFill>
                <a:latin typeface="Calibri"/>
              </a:rPr>
              <a:t>Tiếng chửi là tiếng kêu của kẻ bị cự tuyệt quyền làm người.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253167" y="457200"/>
            <a:ext cx="1389888" cy="457200"/>
          </a:xfrm>
          <a:prstGeom prst="round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ĐỀ BÀI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582912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BUỔI SÁNG SAU KHI GẶP THỊ NỞ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Ngữ văn 11 · Bài 1: Câu Chuyện Và Điểm Nhìn Trong Truyện Kể          27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463040"/>
            <a:ext cx="10789920" cy="35661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2600" b="1">
                <a:solidFill>
                  <a:srgbClr val="1E293B"/>
                </a:solidFill>
                <a:latin typeface="Calibri"/>
              </a:rPr>
              <a:t>Phân tích diễn biến tâm trạng Chí Phèo buổi sáng sau cuộc gặp thị Nở. Nhân tố nào quyết định sự hồi sinh nhân tính?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5120640"/>
            <a:ext cx="10789920" cy="693420"/>
          </a:xfrm>
          <a:prstGeom prst="roundRect">
            <a:avLst>
              <a:gd name="adj" fmla="val 8000"/>
            </a:avLst>
          </a:prstGeom>
          <a:solidFill>
            <a:srgbClr val="EFF4FF"/>
          </a:solidFill>
          <a:ln w="19050">
            <a:solidFill>
              <a:srgbClr val="1E40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5120640"/>
            <a:ext cx="10424160" cy="6934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>
                <a:solidFill>
                  <a:srgbClr val="1E40AF"/>
                </a:solidFill>
                <a:latin typeface="Calibri"/>
              </a:rPr>
              <a:t>💡 Chú ý âm thanh cuộc sống và bát cháo hành.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942271" y="457200"/>
            <a:ext cx="1700784" cy="457200"/>
          </a:xfrm>
          <a:prstGeom prst="roundRect">
            <a:avLst/>
          </a:prstGeom>
          <a:solidFill>
            <a:srgbClr val="99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LỜI GIẢI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272016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BUỔI SÁNG SAU KHI GẶP THỊ NỞ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Ngữ văn 11 · Bài 1: Câu Chuyện Và Điểm Nhìn Trong Truyện Kể          28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463040"/>
            <a:ext cx="10789920" cy="34747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300">
                <a:solidFill>
                  <a:srgbClr val="1E293B"/>
                </a:solidFill>
                <a:latin typeface="Calibri"/>
              </a:rPr>
              <a:t>Tỉnh rượu, nghe tiếng chim, tiếng người đi chợ; nhớ ước mơ xưa.</a:t>
            </a:r>
          </a:p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300">
                <a:solidFill>
                  <a:srgbClr val="1E293B"/>
                </a:solidFill>
                <a:latin typeface="Calibri"/>
              </a:rPr>
              <a:t>Lo sợ tuổi già cô độc.</a:t>
            </a:r>
          </a:p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300">
                <a:solidFill>
                  <a:srgbClr val="1E293B"/>
                </a:solidFill>
                <a:latin typeface="Calibri"/>
              </a:rPr>
              <a:t>Bát cháo hành → “ngạc nhiên”, “mắt ươn ướt”, muốn “làm hòa với mọi người”.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5074920"/>
            <a:ext cx="10789920" cy="731520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905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5074920"/>
            <a:ext cx="10424160" cy="7315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991B1B"/>
                </a:solidFill>
                <a:latin typeface="Calibri"/>
              </a:rPr>
              <a:t>Tình thương mộc mạc của thị Nở đánh thức nhân tính.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253167" y="457200"/>
            <a:ext cx="1389888" cy="457200"/>
          </a:xfrm>
          <a:prstGeom prst="round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ĐỀ BÀI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582912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BỊ CỰ TUYỆT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Ngữ văn 11 · Bài 1: Câu Chuyện Và Điểm Nhìn Trong Truyện Kể          29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463040"/>
            <a:ext cx="10789920" cy="35661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2600" b="1">
                <a:solidFill>
                  <a:srgbClr val="1E293B"/>
                </a:solidFill>
                <a:latin typeface="Calibri"/>
              </a:rPr>
              <a:t>Phân tích phản ứng tâm lí và hành động của Chí Phèo sau khi bị thị Nở từ chối. Người kể có đưa ra phán đoán đáng tin cậy không?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5120640"/>
            <a:ext cx="10789920" cy="693420"/>
          </a:xfrm>
          <a:prstGeom prst="roundRect">
            <a:avLst>
              <a:gd name="adj" fmla="val 8000"/>
            </a:avLst>
          </a:prstGeom>
          <a:solidFill>
            <a:srgbClr val="EFF4FF"/>
          </a:solidFill>
          <a:ln w="19050">
            <a:solidFill>
              <a:srgbClr val="1E40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5120640"/>
            <a:ext cx="10424160" cy="6934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>
                <a:solidFill>
                  <a:srgbClr val="1E40AF"/>
                </a:solidFill>
                <a:latin typeface="Calibri"/>
              </a:rPr>
              <a:t>💡 “Càng uống lại càng tỉnh ra” gợi điều gì?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942271" y="457200"/>
            <a:ext cx="1700784" cy="457200"/>
          </a:xfrm>
          <a:prstGeom prst="roundRect">
            <a:avLst/>
          </a:prstGeom>
          <a:solidFill>
            <a:srgbClr val="99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LỜI GIẢI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272016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BỊ CỰ TUYỆT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Ngữ văn 11 · Bài 1: Câu Chuyện Và Điểm Nhìn Trong Truyện Kể          30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463040"/>
            <a:ext cx="10789920" cy="34747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300">
                <a:solidFill>
                  <a:srgbClr val="1E293B"/>
                </a:solidFill>
                <a:latin typeface="Calibri"/>
              </a:rPr>
              <a:t>Ngạc nhiên, níu kéo; uống rượu nhưng “càng uống lại càng tỉnh”.</a:t>
            </a:r>
          </a:p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300">
                <a:solidFill>
                  <a:srgbClr val="1E293B"/>
                </a:solidFill>
                <a:latin typeface="Calibri"/>
              </a:rPr>
              <a:t>Ôm mặt khóc rưng rức; xách dao đến nhà Bá Kiến.</a:t>
            </a:r>
          </a:p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300">
                <a:solidFill>
                  <a:srgbClr val="1E293B"/>
                </a:solidFill>
                <a:latin typeface="Calibri"/>
              </a:rPr>
              <a:t>“Ai cho tao lương thiện?” – người kể thấu hiểu, phán đoán tin cậy.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5074920"/>
            <a:ext cx="10789920" cy="731520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905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5074920"/>
            <a:ext cx="10424160" cy="7315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991B1B"/>
                </a:solidFill>
                <a:latin typeface="Calibri"/>
              </a:rPr>
              <a:t>Bi kịch bị cự tuyệt quyền làm người.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253167" y="457200"/>
            <a:ext cx="1389888" cy="457200"/>
          </a:xfrm>
          <a:prstGeom prst="round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ĐỀ BÀI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582912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ĐOẠN KẾT – SO SÁNH VỚI VỢ NHẶT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Ngữ văn 11 · Bài 1: Câu Chuyện Và Điểm Nhìn Trong Truyện Kể          31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463040"/>
            <a:ext cx="10789920" cy="35661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2600" b="1">
                <a:solidFill>
                  <a:srgbClr val="1E293B"/>
                </a:solidFill>
                <a:latin typeface="Calibri"/>
              </a:rPr>
              <a:t>Nhận xét điểm nhìn, giọng điệu ở đoạn kết; ý nghĩa cái chết của Chí Phèo. So sánh đoạn kết Chí Phèo và Vợ nhặt.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5120640"/>
            <a:ext cx="10789920" cy="693420"/>
          </a:xfrm>
          <a:prstGeom prst="roundRect">
            <a:avLst>
              <a:gd name="adj" fmla="val 8000"/>
            </a:avLst>
          </a:prstGeom>
          <a:solidFill>
            <a:srgbClr val="EFF4FF"/>
          </a:solidFill>
          <a:ln w="19050">
            <a:solidFill>
              <a:srgbClr val="1E40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5120640"/>
            <a:ext cx="10424160" cy="6934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>
                <a:solidFill>
                  <a:srgbClr val="1E40AF"/>
                </a:solidFill>
                <a:latin typeface="Calibri"/>
              </a:rPr>
              <a:t>💡 Hình ảnh cuối cùng của mỗi truyện là gì?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942271" y="457200"/>
            <a:ext cx="1700784" cy="457200"/>
          </a:xfrm>
          <a:prstGeom prst="roundRect">
            <a:avLst/>
          </a:prstGeom>
          <a:solidFill>
            <a:srgbClr val="99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LỜI GIẢI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272016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ĐOẠN KẾT – SO SÁNH VỚI VỢ NHẶT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Ngữ văn 11 · Bài 1: Câu Chuyện Và Điểm Nhìn Trong Truyện Kể          32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463040"/>
            <a:ext cx="10789920" cy="34747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300">
                <a:solidFill>
                  <a:srgbClr val="1E293B"/>
                </a:solidFill>
                <a:latin typeface="Calibri"/>
              </a:rPr>
              <a:t>Chí Phèo: dân làng hả hê bàn tán; thị Nở nghĩ đến “cái lò gạch cũ bỏ không” → vòng luẩn quẩn.</a:t>
            </a:r>
          </a:p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300">
                <a:solidFill>
                  <a:srgbClr val="1E293B"/>
                </a:solidFill>
                <a:latin typeface="Calibri"/>
              </a:rPr>
              <a:t>Vợ nhặt: lá cờ đỏ trong óc Tràng → niềm tin, lối thoát.</a:t>
            </a:r>
          </a:p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300">
                <a:solidFill>
                  <a:srgbClr val="1E293B"/>
                </a:solidFill>
                <a:latin typeface="Calibri"/>
              </a:rPr>
              <a:t>Cái chết của Chí Phèo: tố cáo xã hội, khẳng định khát vọng lương thiện.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5074920"/>
            <a:ext cx="10789920" cy="731520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905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5074920"/>
            <a:ext cx="10424160" cy="7315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991B1B"/>
                </a:solidFill>
                <a:latin typeface="Calibri"/>
              </a:rPr>
              <a:t>Hai cách kết – hai tư tưởng nhân đạo.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097719" y="457200"/>
            <a:ext cx="1545336" cy="457200"/>
          </a:xfrm>
          <a:prstGeom prst="roundRect">
            <a:avLst/>
          </a:prstGeom>
          <a:solidFill>
            <a:srgbClr val="1665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GHI NHỚ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427464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NGHỆ THUẬT KỂ CHUYỆN CỦA NAM CAO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Ngữ văn 11 · Bài 1: Câu Chuyện Và Điểm Nhìn Trong Truyện Kể          33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463040"/>
            <a:ext cx="10789920" cy="47548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Người kể chuyện ngôi thứ ba, vừa khách quan vừa cảm thông.</a:t>
            </a:r>
          </a:p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Phối hợp nhiều điểm nhìn; lời nửa trực tiếp.</a:t>
            </a:r>
          </a:p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Kết cấu phá vỡ trình tự thời gian.</a:t>
            </a:r>
          </a:p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Ngôn ngữ sinh động, gần đời thường.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2926080"/>
            <a:ext cx="164592" cy="1005840"/>
          </a:xfrm>
          <a:prstGeom prst="rect">
            <a:avLst/>
          </a:prstGeom>
          <a:solidFill>
            <a:srgbClr val="99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743200"/>
            <a:ext cx="10515600" cy="137160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3600" b="1">
                <a:solidFill>
                  <a:srgbClr val="1E40AF"/>
                </a:solidFill>
                <a:latin typeface="Calibri"/>
              </a:rPr>
              <a:t>TIẾT 7: THỰC HÀNH TIẾNG VIỆT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253167" y="457200"/>
            <a:ext cx="1389888" cy="457200"/>
          </a:xfrm>
          <a:prstGeom prst="round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ĐỀ BÀI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582912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NGÔN NGỮ NÓI ĐƯỢC TÁI TẠO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Ngữ văn 11 · Bài 1: Câu Chuyện Và Điểm Nhìn Trong Truyện Kể          35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463040"/>
            <a:ext cx="10789920" cy="35661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2600" b="1">
                <a:solidFill>
                  <a:srgbClr val="1E293B"/>
                </a:solidFill>
                <a:latin typeface="Calibri"/>
              </a:rPr>
              <a:t>Phân tích đặc điểm ngôn ngữ nói được tái tạo trong lời Bá Kiến: “Cái anh này nói mới hay! Ai làm gì anh mà anh phải chết? Đời người chứ có phải con ngoé đâu?”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5120640"/>
            <a:ext cx="10789920" cy="693420"/>
          </a:xfrm>
          <a:prstGeom prst="roundRect">
            <a:avLst>
              <a:gd name="adj" fmla="val 8000"/>
            </a:avLst>
          </a:prstGeom>
          <a:solidFill>
            <a:srgbClr val="EFF4FF"/>
          </a:solidFill>
          <a:ln w="19050">
            <a:solidFill>
              <a:srgbClr val="1E40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5120640"/>
            <a:ext cx="10424160" cy="6934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>
                <a:solidFill>
                  <a:srgbClr val="1E40AF"/>
                </a:solidFill>
                <a:latin typeface="Calibri"/>
              </a:rPr>
              <a:t>💡 Chú ý trợ từ, ngữ điệu, cách xưng hô.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942271" y="457200"/>
            <a:ext cx="1700784" cy="457200"/>
          </a:xfrm>
          <a:prstGeom prst="roundRect">
            <a:avLst/>
          </a:prstGeom>
          <a:solidFill>
            <a:srgbClr val="99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LỜI GIẢI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272016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NGÔN NGỮ NÓI ĐƯỢC TÁI TẠO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Ngữ văn 11 · Bài 1: Câu Chuyện Và Điểm Nhìn Trong Truyện Kể          36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463040"/>
            <a:ext cx="10789920" cy="34747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300">
                <a:solidFill>
                  <a:srgbClr val="1E293B"/>
                </a:solidFill>
                <a:latin typeface="Calibri"/>
              </a:rPr>
              <a:t>Khẩu ngữ, trợ từ “chứ”, “đâu”; câu hỏi tu từ.</a:t>
            </a:r>
          </a:p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300">
                <a:solidFill>
                  <a:srgbClr val="1E293B"/>
                </a:solidFill>
                <a:latin typeface="Calibri"/>
              </a:rPr>
              <a:t>Xưng hô thân mật – “anh”; ngữ điệu dịu giọng.</a:t>
            </a:r>
          </a:p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300">
                <a:solidFill>
                  <a:srgbClr val="1E293B"/>
                </a:solidFill>
                <a:latin typeface="Calibri"/>
              </a:rPr>
              <a:t>Mục đích: xoa dịu, khống chế Chí Phèo.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5074920"/>
            <a:ext cx="10789920" cy="731520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905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5074920"/>
            <a:ext cx="10424160" cy="7315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991B1B"/>
                </a:solidFill>
                <a:latin typeface="Calibri"/>
              </a:rPr>
              <a:t>Ngữ điệu là phương tiện quan trọng của ngôn ngữ nói.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253167" y="457200"/>
            <a:ext cx="1389888" cy="457200"/>
          </a:xfrm>
          <a:prstGeom prst="round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ĐỀ BÀI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582912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ĐẶC ĐIỂM NGÔN NGỮ VIẾT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Ngữ văn 11 · Bài 1: Câu Chuyện Và Điểm Nhìn Trong Truyện Kể          37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463040"/>
            <a:ext cx="10789920" cy="35661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2600" b="1">
                <a:solidFill>
                  <a:srgbClr val="1E293B"/>
                </a:solidFill>
                <a:latin typeface="Calibri"/>
              </a:rPr>
              <a:t>Phân tích đặc điểm ngôn ngữ viết trong đoạn: “Cái đói đã tràn đến xóm này tự lúc nào…” (Vợ nhặt).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5120640"/>
            <a:ext cx="10789920" cy="693420"/>
          </a:xfrm>
          <a:prstGeom prst="roundRect">
            <a:avLst>
              <a:gd name="adj" fmla="val 8000"/>
            </a:avLst>
          </a:prstGeom>
          <a:solidFill>
            <a:srgbClr val="EFF4FF"/>
          </a:solidFill>
          <a:ln w="19050">
            <a:solidFill>
              <a:srgbClr val="1E40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5120640"/>
            <a:ext cx="10424160" cy="6934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>
                <a:solidFill>
                  <a:srgbClr val="1E40AF"/>
                </a:solidFill>
                <a:latin typeface="Calibri"/>
              </a:rPr>
              <a:t>💡 Câu văn, từ ngữ, phép tu từ có gì đặc biệt?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942271" y="457200"/>
            <a:ext cx="1700784" cy="457200"/>
          </a:xfrm>
          <a:prstGeom prst="roundRect">
            <a:avLst/>
          </a:prstGeom>
          <a:solidFill>
            <a:srgbClr val="99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LỜI GIẢI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272016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ĐẶC ĐIỂM NGÔN NGỮ VIẾT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Ngữ văn 11 · Bài 1: Câu Chuyện Và Điểm Nhìn Trong Truyện Kể          38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463040"/>
            <a:ext cx="10789920" cy="34747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300">
                <a:solidFill>
                  <a:srgbClr val="1E293B"/>
                </a:solidFill>
                <a:latin typeface="Calibri"/>
              </a:rPr>
              <a:t>Câu dài, nhiều thành phần.</a:t>
            </a:r>
          </a:p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300">
                <a:solidFill>
                  <a:srgbClr val="1E293B"/>
                </a:solidFill>
                <a:latin typeface="Calibri"/>
              </a:rPr>
              <a:t>Từ ngữ chọn lọc, giàu hình ảnh: “xanh xám như những bóng ma”.</a:t>
            </a:r>
          </a:p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300">
                <a:solidFill>
                  <a:srgbClr val="1E293B"/>
                </a:solidFill>
                <a:latin typeface="Calibri"/>
              </a:rPr>
              <a:t>Trình tự miêu tả mạch lạc, đúng chuẩn.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5074920"/>
            <a:ext cx="10789920" cy="731520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905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5074920"/>
            <a:ext cx="10424160" cy="7315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991B1B"/>
                </a:solidFill>
                <a:latin typeface="Calibri"/>
              </a:rPr>
              <a:t>Ngôn ngữ viết được gọt giũa, lưu trữ lâu dài.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2926080"/>
            <a:ext cx="164592" cy="1005840"/>
          </a:xfrm>
          <a:prstGeom prst="rect">
            <a:avLst/>
          </a:prstGeom>
          <a:solidFill>
            <a:srgbClr val="99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743200"/>
            <a:ext cx="10515600" cy="137160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3600" b="1">
                <a:solidFill>
                  <a:srgbClr val="1E40AF"/>
                </a:solidFill>
                <a:latin typeface="Calibri"/>
              </a:rPr>
              <a:t>TIẾT 8 – 11: VIẾT – NÓI VÀ NGHE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097719" y="457200"/>
            <a:ext cx="1545336" cy="457200"/>
          </a:xfrm>
          <a:prstGeom prst="roundRect">
            <a:avLst/>
          </a:prstGeom>
          <a:solidFill>
            <a:srgbClr val="1665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GHI NHỚ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427464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YÊU CẦU BÀI VIẾT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Ngữ văn 11 · Bài 1: Câu Chuyện Và Điểm Nhìn Trong Truyện Kể          40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463040"/>
            <a:ext cx="10789920" cy="47548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Giới thiệu tác phẩm, các phương diện nghệ thuật sẽ phân tích.</a:t>
            </a:r>
          </a:p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Phân tích cụ thể: tình huống, cốt truyện, người kể chuyện, điểm nhìn, lời văn, giọng điệu.</a:t>
            </a:r>
          </a:p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Nhận định, đánh giá bằng lí lẽ, bằng chứng.</a:t>
            </a:r>
          </a:p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Khẳng định giá trị tác phẩm.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253167" y="457200"/>
            <a:ext cx="1389888" cy="457200"/>
          </a:xfrm>
          <a:prstGeom prst="round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ĐỀ BÀI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582912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ĐỀ THỰC HÀNH VIẾT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Ngữ văn 11 · Bài 1: Câu Chuyện Và Điểm Nhìn Trong Truyện Kể          41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463040"/>
            <a:ext cx="10789920" cy="35661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2600" b="1">
                <a:solidFill>
                  <a:srgbClr val="1E293B"/>
                </a:solidFill>
                <a:latin typeface="Calibri"/>
              </a:rPr>
              <a:t>Phân tích nghệ thuật xây dựng tình huống và cách kể chuyện của Kim Lân trong truyện ngắn Vợ nhặt.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5120640"/>
            <a:ext cx="10789920" cy="693420"/>
          </a:xfrm>
          <a:prstGeom prst="roundRect">
            <a:avLst>
              <a:gd name="adj" fmla="val 8000"/>
            </a:avLst>
          </a:prstGeom>
          <a:solidFill>
            <a:srgbClr val="EFF4FF"/>
          </a:solidFill>
          <a:ln w="19050">
            <a:solidFill>
              <a:srgbClr val="1E40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5120640"/>
            <a:ext cx="10424160" cy="6934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>
                <a:solidFill>
                  <a:srgbClr val="1E40AF"/>
                </a:solidFill>
                <a:latin typeface="Calibri"/>
              </a:rPr>
              <a:t>💡 Lập dàn ý: mở bài – thân bài (4 – 5 luận điểm) – kết bài.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942271" y="457200"/>
            <a:ext cx="1700784" cy="457200"/>
          </a:xfrm>
          <a:prstGeom prst="roundRect">
            <a:avLst/>
          </a:prstGeom>
          <a:solidFill>
            <a:srgbClr val="99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LỜI GIẢI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272016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ĐỀ THỰC HÀNH VIẾT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Ngữ văn 11 · Bài 1: Câu Chuyện Và Điểm Nhìn Trong Truyện Kể          42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463040"/>
            <a:ext cx="10789920" cy="34747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300">
                <a:solidFill>
                  <a:srgbClr val="1E293B"/>
                </a:solidFill>
                <a:latin typeface="Calibri"/>
              </a:rPr>
              <a:t>MB: giới thiệu tác phẩm, nêu vấn đề.</a:t>
            </a:r>
          </a:p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300">
                <a:solidFill>
                  <a:srgbClr val="1E293B"/>
                </a:solidFill>
                <a:latin typeface="Calibri"/>
              </a:rPr>
              <a:t>TB: tình huống; trình tự kể; người kể, điểm nhìn; giọng điệu, ngôn ngữ; đánh giá.</a:t>
            </a:r>
          </a:p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300">
                <a:solidFill>
                  <a:srgbClr val="1E293B"/>
                </a:solidFill>
                <a:latin typeface="Calibri"/>
              </a:rPr>
              <a:t>KB: khẳng định giá trị nghệ thuật.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5074920"/>
            <a:ext cx="10789920" cy="731520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905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5074920"/>
            <a:ext cx="10424160" cy="7315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991B1B"/>
                </a:solidFill>
                <a:latin typeface="Calibri"/>
              </a:rPr>
              <a:t>Phân tích CÁCH KỂ, tránh kể lại nội dung.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097719" y="457200"/>
            <a:ext cx="1545336" cy="457200"/>
          </a:xfrm>
          <a:prstGeom prst="roundRect">
            <a:avLst/>
          </a:prstGeom>
          <a:solidFill>
            <a:srgbClr val="1665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CỦNG CỐ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427464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SƠ ĐỒ TƯ DUY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Ngữ văn 11 · Bài 1: Câu Chuyện Và Điểm Nhìn Trong Truyện Kể          43</a:t>
            </a:r>
          </a:p>
        </p:txBody>
      </p:sp>
      <p:pic>
        <p:nvPicPr>
          <p:cNvPr id="7" name="Picture 6" descr="SoDoTuDuy_NGUVAN11_Bai1_CauChuyenVaDiemNhin_T1-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88855" y="1371600"/>
            <a:ext cx="867525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097719" y="457200"/>
            <a:ext cx="1545336" cy="457200"/>
          </a:xfrm>
          <a:prstGeom prst="roundRect">
            <a:avLst/>
          </a:prstGeom>
          <a:solidFill>
            <a:srgbClr val="99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CỦNG CỐ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427464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BÀI TẬP CỦA BẠN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Ngữ văn 11 · Bài 1: Câu Chuyện Và Điểm Nhìn Trong Truyện Kể          44</a:t>
            </a:r>
          </a:p>
        </p:txBody>
      </p:sp>
      <p:pic>
        <p:nvPicPr>
          <p:cNvPr id="7" name="Picture 6" descr="QR_van_cc_bai1_k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1080" y="1463040"/>
            <a:ext cx="3017520" cy="30175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31520" y="4572000"/>
            <a:ext cx="3596640" cy="1463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800"/>
              </a:spcAft>
            </a:pPr>
            <a:r>
              <a:rPr sz="2000" b="1">
                <a:solidFill>
                  <a:srgbClr val="1E293B"/>
                </a:solidFill>
                <a:latin typeface="Calibri"/>
              </a:rPr>
              <a:t>Củng cố – Vợ nhặt</a:t>
            </a:r>
          </a:p>
          <a:p>
            <a:pPr algn="ctr">
              <a:spcAft>
                <a:spcPts val="800"/>
              </a:spcAft>
            </a:pPr>
            <a:r>
              <a:rPr sz="1400">
                <a:solidFill>
                  <a:srgbClr val="64748B"/>
                </a:solidFill>
                <a:latin typeface="Calibri"/>
              </a:rPr>
              <a:t>trangtu66.github.io/Taode_thi_online/van_cc_bai1_k11.html</a:t>
            </a:r>
          </a:p>
        </p:txBody>
      </p:sp>
      <p:pic>
        <p:nvPicPr>
          <p:cNvPr id="9" name="Picture 8" descr="QR_van_cc_chipheo_k1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17720" y="1463040"/>
            <a:ext cx="3017520" cy="301752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328160" y="4572000"/>
            <a:ext cx="3596640" cy="1463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800"/>
              </a:spcAft>
            </a:pPr>
            <a:r>
              <a:rPr sz="2000" b="1">
                <a:solidFill>
                  <a:srgbClr val="1E293B"/>
                </a:solidFill>
                <a:latin typeface="Calibri"/>
              </a:rPr>
              <a:t>Củng cố – Chí Phèo</a:t>
            </a:r>
          </a:p>
          <a:p>
            <a:pPr algn="ctr">
              <a:spcAft>
                <a:spcPts val="800"/>
              </a:spcAft>
            </a:pPr>
            <a:r>
              <a:rPr sz="1400">
                <a:solidFill>
                  <a:srgbClr val="64748B"/>
                </a:solidFill>
                <a:latin typeface="Calibri"/>
              </a:rPr>
              <a:t>trangtu66.github.io/Taode_thi_online/van_cc_chipheo_k11.html</a:t>
            </a:r>
          </a:p>
        </p:txBody>
      </p:sp>
      <p:pic>
        <p:nvPicPr>
          <p:cNvPr id="11" name="Picture 10" descr="QR_van_tv_noiviet_k1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14360" y="1463040"/>
            <a:ext cx="3017520" cy="301752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7924800" y="4572000"/>
            <a:ext cx="3596640" cy="1463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800"/>
              </a:spcAft>
            </a:pPr>
            <a:r>
              <a:rPr sz="2000" b="1">
                <a:solidFill>
                  <a:srgbClr val="1E293B"/>
                </a:solidFill>
                <a:latin typeface="Calibri"/>
              </a:rPr>
              <a:t>Ôn luyện – Ngôn ngữ nói và ngôn ngữ viết</a:t>
            </a:r>
          </a:p>
          <a:p>
            <a:pPr algn="ctr">
              <a:spcAft>
                <a:spcPts val="800"/>
              </a:spcAft>
            </a:pPr>
            <a:r>
              <a:rPr sz="1400">
                <a:solidFill>
                  <a:srgbClr val="64748B"/>
                </a:solidFill>
                <a:latin typeface="Calibri"/>
              </a:rPr>
              <a:t>trangtu66.github.io/Taode_thi_online/van_tv_noiviet_k11.html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