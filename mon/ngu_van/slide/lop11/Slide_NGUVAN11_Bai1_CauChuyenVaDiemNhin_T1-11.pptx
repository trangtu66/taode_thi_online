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nêu mục tiêu; HS ghi vào vở. Nhắc HS chuẩn bị điện thoại để làm bài củng cố cuối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chiếu ảnh tư liệu nạn đói 1945; HS chia sẻ tư liệu đã tìm trên nguồn chính thống (1.1.NC1a). Không chốt đáp án – dẫn vào Vợ nhặt.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Phim tư liệu có hình ảnh nặng nề – GV xem trước.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Trước khi đọc SGK tr.23; HS trao đổi cặp đôi.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youtube.com/watch?v=QTEXDAI5g2A" TargetMode="External"/><Relationship Id="rId4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youtube.com/watch?v=g79uSESWGdA" TargetMode="External"/><Relationship Id="rId4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www.youtube.com/watch?v=EDUX_REhg-0" TargetMode="External"/><Relationship Id="rId4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1: CÂU CHUYỆN VÀ ĐIỂM NHÌN TRONG TRUYỆN KỂ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Ngữ văn 11 – Kết nối tri thức với cuộc sống · 11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– Tổ Ngữ văn – Tiếng Anh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Nhận biết, phân tích yếu tố truyện ngắn hiện đại: không gian, thời gian, câu chuyện, nhân vật, người kể chuyện.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 sự thay đổi điểm nhìn, nối kết lời người kể chuyện và lời nhân vật.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Nhận biết đặc điểm ngôn ngữ nói và ngôn ngữ viết.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Viết văn bản nghị luận về cách kể của tác giả trong một tác phẩm truyện.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Thuyết trình về nghệ thuật kể chuyện; đồng cảm với số phận bất hạnh, trân trọng khát khao yêu thương.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 – 3: VỢ NHẶT (Kim Lân)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Theo em, giữa lúc cái chết cận kề, điều gì giúp con người vẫn muốn sống, muốn hi vọng?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Chia sẻ một tư liệu em tìm được về nạn đói năm Ất Dậu (1945).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5</a:t>
            </a:r>
          </a:p>
        </p:txBody>
      </p:sp>
      <p:pic>
        <p:nvPicPr>
          <p:cNvPr id="7" name="Picture 6" descr="QR_video_QTEXDAI5g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Nạn đói 1945: Thảm cảnh đầy nước mắt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Kênh VTC16 (Đài THVN)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Hoạt động Mở đầu – Vợ nhặt (3 phút)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https://www.youtube.com/watch?v=QTEXDAI5g2A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TRI THỨC NGỮ VĂN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Câu chuyện</a:t>
            </a:r>
            <a:r>
              <a:rPr sz="2400">
                <a:solidFill>
                  <a:srgbClr val="1E293B"/>
                </a:solidFill>
                <a:latin typeface="Calibri"/>
              </a:rPr>
              <a:t>: nhân vật, bối cảnh, sự kiện theo trật tự thời gian.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Truyện kể</a:t>
            </a:r>
            <a:r>
              <a:rPr sz="2400">
                <a:solidFill>
                  <a:srgbClr val="1E293B"/>
                </a:solidFill>
                <a:latin typeface="Calibri"/>
              </a:rPr>
              <a:t>: sự kiện tổ chức theo mạch kể, gắn người kể chuyện, điểm nhìn, lời văn.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Điểm nhìn</a:t>
            </a:r>
            <a:r>
              <a:rPr sz="2400">
                <a:solidFill>
                  <a:srgbClr val="1E293B"/>
                </a:solidFill>
                <a:latin typeface="Calibri"/>
              </a:rPr>
              <a:t>: vị trí để quan sát, trần thuật, đánh giá.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Bên ngoài (ngoại hiện) – bên trong (qua cảm nhận, ý thức nhân vật).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7</a:t>
            </a:r>
          </a:p>
        </p:txBody>
      </p:sp>
      <p:pic>
        <p:nvPicPr>
          <p:cNvPr id="7" name="Picture 6" descr="QR_video_g79uSESWG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Truyện ngắn Vợ nhặt – Kim Lân (Chương trình Thư viện sách nói)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Thư viện Thành phố Bắc Giang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Giao HS nghe toàn văn ở nhà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https://www.youtube.com/watch?v=g79uSESWGdA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NHAN ĐỀ VỢ NHẶT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Giữa nhan đề </a:t>
            </a:r>
            <a:r>
              <a:rPr sz="2600" b="1">
                <a:solidFill>
                  <a:srgbClr val="1E293B"/>
                </a:solidFill>
                <a:latin typeface="Calibri"/>
              </a:rPr>
              <a:t>Vợ nhặt</a:t>
            </a:r>
            <a:r>
              <a:rPr sz="2600" b="1">
                <a:solidFill>
                  <a:srgbClr val="1E293B"/>
                </a:solidFill>
                <a:latin typeface="Calibri"/>
              </a:rPr>
              <a:t> và nội dung câu chuyện có mối quan hệ với nhau như thế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Gợi ý: “vợ” là việc hệ trọng; “nhặt” gợi điều gì?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NHAN ĐỀ VỢ NHẶT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“Vợ” – việc trọng đại của đời người; “nhặt” – nhặt nhạnh, rẻ rúng.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Giá trị con người bị rẻ rúng trong nạn đói.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Nhưng “nhặt” cũng là cưu mang, mở ra khát vọng sống.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Nhan đề vừa tố cáo nạn đói, vừa ngợi ca tình người.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TÌNH HUỐNG TRUYỆN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Xác định tình huống truyện và nêu ý nghĩa của nó.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phản ứng của dân xóm, bà cụ Tứ và chính Tràng.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TÌNH HUỐNG TRUYỆN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Tràng – nghèo, xấu, dân ngụ cư – “nhặt” được vợ giữa nạn đói.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Cả xóm ngạc nhiên; bà cụ Tứ ngạc nhiên, ai oán; Tràng “ngờ ngợ”.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Tình huống vừa lạ, vừa éo le: hạnh phúc nảy sinh bên bờ cái chết.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11887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Bộc lộ thảm cảnh nạn đói và khát vọng sống, tình thương của con người.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TRÌNH TỰ KỂ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Câu chuyện trong Vợ nhặt được kể theo trình tự nào và có thể chia làm mấy phần?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Đâu là hiện tại, đâu là hồi tưởng?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TRÌNH TỰ KỂ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Phần 1: Tràng đưa vợ về, xóm ngụ cư bàn tán (hiện tại) + hồi tưởng hai lần gặp.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Phần 2: bà cụ Tứ về, đón nhận nàng dâu.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Phần 3: buổi sáng đầu tiên – bữa cơm, tiếng trống thuế, lá cờ đỏ.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Không theo trật tự thời gian tuyến tính → tạo tò mò, hấp dẫn.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SỰ THAY ĐỔI CỦA NHÂN VẬT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Theo trình tự câu chuyện, Tràng, người vợ nhặt, bà cụ Tứ thay đổi thế nào từ diện mạo, tâm trạng đến cách ứng xử?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Lập bảng: lúc đầu – về sau.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SỰ THAY ĐỔI CỦA NHÂN VẬT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Tràng: “phớn phở”, ngượng nghịu → thấy mình nên người, gắn bó với gia đình.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Người vợ: chao chát, chỏng lỏn → hiền hậu, đúng mực.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Bà cụ Tứ: ngạc nhiên, ai oán → cảm thông, vun vén, nói chuyện vui, tin tương lai.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Tình thương làm con người đẹp lên ngay giữa cái đói.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ĐIỂM NHÌN VÀ GIỌNG ĐIỆU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nét đáng chú ý trong cách người kể chuyện quan sát, miêu tả sự thay đổi của nhân vật (điểm nhìn, lời kể, giọng điệu).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11125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1112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So sánh đoạn “người trong xóm bỗng thấy…” với đoạn bà cụ Tứ nghĩ về con.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ĐIỂM NHÌN VÀ GIỌNG ĐIỆU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Ngôi thứ ba, điểm nhìn linh hoạt: bên ngoài (dân xóm) ↔ bên trong (Tràng, bà cụ Tứ).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Lời kể hòa vào lời nửa trực tiếp của nhân vật.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Giọng điệu xót xa mà ấm áp, hóm hỉnh.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Điểm nhìn linh hoạt giúp soi thấu tâm lí, tạo sự đồng cảm.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CHỦ ĐỀ – “CỔ TÍCH TRONG NẠN ĐÓI”?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Nêu chủ đề, đánh giá giá trị tư tưởng. Có thể xem Vợ nhặt là “câu chuyện cổ tích trong nạn đói” không?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Có phép màu nào không? Niềm tin đến từ đâu?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CHỦ ĐỀ – “CỔ TÍCH TRONG NẠN ĐÓI”?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Chủ đề: khát vọng sống, tình thương của người lao động bên bờ cái chết.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Giống cổ tích: người nghèo “đổi đời”, có hạnh phúc.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Khác: không có phép màu; niềm tin đến từ tình người và lá cờ đỏ cách mạng.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Giá trị hiện thực và giá trị nhân đạo sâu sắc.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4 – 6: CHÍ PHÈO (Nam Cao)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TRƯỚC KHI ĐỌC CHÍ PHÈO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Thế nào là định kiến xã hội? Định kiến có thể ảnh hưởng đến cá nhân và cộng đồng như thế nào?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Khi nghe gọi ai đó là “Chí Phèo”, cách gọi ấy hàm ẩn đánh giá gì?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22</a:t>
            </a:r>
          </a:p>
        </p:txBody>
      </p:sp>
      <p:pic>
        <p:nvPicPr>
          <p:cNvPr id="7" name="Picture 6" descr="QR_video_EDUX_REhg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Trước giờ xem phim “Làng Vũ Đại ngày ấy”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VTV24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Mở đầu Chí Phèo – giới thiệu phim chuyển thể từ tác phẩm Nam Cao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https://www.youtube.com/watch?v=EDUX_REhg-0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CỐT TRUYỆN VÀ TRÌNH TỰ KỂ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Tóm tắt cốt truyện Chí Phèo theo trình tự thời gian cuộc đời nhân vật. Đánh giá hiệu quả của việc phá vỡ trình tự này.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Truyện mở đầu bằng sự việc nào?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CỐT TRUYỆN VÀ TRÌNH TỰ KỂ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Bị bỏ ở lò gạch → canh điền nhà lí Kiến → vào tù → thành “con quỷ dữ”.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Gặp thị Nở, thức tỉnh → bị cự tuyệt → giết Bá Kiến, tự sát.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Mở đầu bằng tiếng chửi → gây ấn tượng, tô đậm bi kịch.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Kết cấu mới lạ, gợi vòng luẩn quẩn của bi kịch.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ĐIỂM NHÌN TRONG ĐOẠN MỞ ĐẦU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loại điểm nhìn trong đoạn mở đầu (người kể – nhân vật; bên ngoài – bên trong). Nhận xét sự dịch chuyển giữa các điểm nhìn.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Tìm câu thể hiện suy nghĩ của Chí Phèo, của dân làng.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ĐIỂM NHÌN TRONG ĐOẠN MỞ ĐẦU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Người kể quan sát hành động chửi (bên ngoài).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“Tức thật! Tức thật!” – điểm nhìn bên trong Chí Phèo (lời nửa trực tiếp).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“Chắc nó trừ mình ra!” – điểm nhìn dân làng Vũ Đại.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Tiếng chửi là tiếng kêu của kẻ bị cự tuyệt quyền làm người.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BUỔI SÁNG SAU KHI GẶP THỊ NỞ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diễn biến tâm trạng Chí Phèo buổi sáng sau cuộc gặp thị Nở. Nhân tố nào quyết định sự hồi sinh nhân tính?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âm thanh cuộc sống và bát cháo hành.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BUỔI SÁNG SAU KHI GẶP THỊ NỞ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Tỉnh rượu, nghe tiếng chim, tiếng người đi chợ; nhớ ước mơ xưa.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Lo sợ tuổi già cô độc.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Bát cháo hành → “ngạc nhiên”, “mắt ươn ướt”, muốn “làm hòa với mọi người”.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Tình thương mộc mạc của thị Nở đánh thức nhân tính.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BỊ CỰ TUYỆT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phản ứng tâm lí và hành động của Chí Phèo sau khi bị thị Nở từ chối. Người kể có đưa ra phán đoán đáng tin cậy không?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“Càng uống lại càng tỉnh ra” gợi điều gì?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BỊ CỰ TUYỆT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Ngạc nhiên, níu kéo; uống rượu nhưng “càng uống lại càng tỉnh”.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Ôm mặt khóc rưng rức; xách dao đến nhà Bá Kiến.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“Ai cho tao lương thiện?” – người kể thấu hiểu, phán đoán tin cậy.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Bi kịch bị cự tuyệt quyền làm người.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ĐOẠN KẾT – SO SÁNH VỚI VỢ NHẶT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Nhận xét điểm nhìn, giọng điệu ở đoạn kết; ý nghĩa cái chết của Chí Phèo. So sánh đoạn kết Chí Phèo và Vợ nhặt.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Hình ảnh cuối cùng của mỗi truyện là gì?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ĐOẠN KẾT – SO SÁNH VỚI VỢ NHẶT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Chí Phèo: dân làng hả hê bàn tán; thị Nở nghĩ đến “cái lò gạch cũ bỏ không” → vòng luẩn quẩn.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Vợ nhặt: lá cờ đỏ trong óc Tràng → niềm tin, lối thoát.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Cái chết của Chí Phèo: tố cáo xã hội, khẳng định khát vọng lương thiện.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Hai cách kết – hai tư tưởng nhân đạo.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NGHỆ THUẬT KỂ CHUYỆN CỦA NAM CAO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Người kể chuyện ngôi thứ ba, vừa khách quan vừa cảm thông.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Phối hợp nhiều điểm nhìn; lời nửa trực tiếp.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Kết cấu phá vỡ trình tự thời gian.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Ngôn ngữ sinh động, gần đời thường.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7: THỰC HÀNH TIẾNG VIỆT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NGÔN NGỮ NÓI ĐƯỢC TÁI TẠO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đặc điểm ngôn ngữ nói được tái tạo trong lời Bá Kiến: “Cái anh này nói mới hay! Ai làm gì anh mà anh phải chết? Đời người chứ có phải con ngoé đâu?”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trợ từ, ngữ điệu, cách xưng hô.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NGÔN NGỮ NÓI ĐƯỢC TÁI TẠO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Khẩu ngữ, trợ từ “chứ”, “đâu”; câu hỏi tu từ.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Xưng hô thân mật – “anh”; ngữ điệu dịu giọng.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Mục đích: xoa dịu, khống chế Chí Phèo.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Ngữ điệu là phương tiện quan trọng của ngôn ngữ nói.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ĐẶC ĐIỂM NGÔN NGỮ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đặc điểm ngôn ngữ viết trong đoạn: “Cái đói đã tràn đến xóm này tự lúc nào…” (Vợ nhặt).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Câu văn, từ ngữ, phép tu từ có gì đặc biệt?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ĐẶC ĐIỂM NGÔN NGỮ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Câu dài, nhiều thành phần.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Từ ngữ chọn lọc, giàu hình ảnh: “xanh xám như những bóng ma”.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Trình tự miêu tả mạch lạc, đúng chuẩn.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Ngôn ngữ viết được gọt giũa, lưu trữ lâu dài.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8 – 11: VIẾT – NÓI VÀ NGHE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YÊU CẦU BÀI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Giới thiệu tác phẩm, các phương diện nghệ thuật sẽ phân tích.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Phân tích cụ thể: tình huống, cốt truyện, người kể chuyện, điểm nhìn, lời văn, giọng điệu.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Nhận định, đánh giá bằng lí lẽ, bằng chứng.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Khẳng định giá trị tác phẩm.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nghệ thuật xây dựng tình huống và cách kể chuyện của Kim Lân trong truyện ngắn Vợ nhặt.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Lập dàn ý: mở bài – thân bài (4 – 5 luận điểm) – kết bài.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MB: giới thiệu tác phẩm, nêu vấn đề.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TB: tình huống; trình tự kể; người kể, điểm nhìn; giọng điệu, ngôn ngữ; đánh giá.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KB: khẳng định giá trị nghệ thuật.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Phân tích CÁCH KỂ, tránh kể lại nội dung.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43</a:t>
            </a:r>
          </a:p>
        </p:txBody>
      </p:sp>
      <p:cxnSp>
        <p:nvCxnSpPr>
          <p:cNvPr id="7" name="Connector 6"/>
          <p:cNvCxnSpPr/>
          <p:nvPr/>
        </p:nvCxnSpPr>
        <p:spPr>
          <a:xfrm flipH="1" flipV="1">
            <a:off x="4338888" y="2670962"/>
            <a:ext cx="1688379" cy="1283818"/>
          </a:xfrm>
          <a:prstGeom prst="line">
            <a:avLst/>
          </a:prstGeom>
          <a:ln w="444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2827515" y="1830405"/>
            <a:ext cx="1511373" cy="840557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85126" y="1554093"/>
            <a:ext cx="2042389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Câu chuyện ≠ truyện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kể</a:t>
            </a:r>
          </a:p>
        </p:txBody>
      </p:sp>
      <p:cxnSp>
        <p:nvCxnSpPr>
          <p:cNvPr id="10" name="Connector 9"/>
          <p:cNvCxnSpPr/>
          <p:nvPr/>
        </p:nvCxnSpPr>
        <p:spPr>
          <a:xfrm flipH="1" flipV="1">
            <a:off x="2721851" y="2457917"/>
            <a:ext cx="1617037" cy="213045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90790" y="2181606"/>
            <a:ext cx="1831061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Điểm nhìn: ngoài /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trong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2464295" y="2670962"/>
            <a:ext cx="1874593" cy="414467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148346" y="2809118"/>
            <a:ext cx="1315949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Lời kể – lời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nhân vật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2807703" y="2670962"/>
            <a:ext cx="1531185" cy="941268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04938" y="3436630"/>
            <a:ext cx="2002765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Truyện ngắn hiện đại</a:t>
            </a:r>
          </a:p>
        </p:txBody>
      </p:sp>
      <p:sp>
        <p:nvSpPr>
          <p:cNvPr id="16" name="Oval 15"/>
          <p:cNvSpPr/>
          <p:nvPr/>
        </p:nvSpPr>
        <p:spPr>
          <a:xfrm>
            <a:off x="3502606" y="2259078"/>
            <a:ext cx="1672565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① Tri thức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ngữ văn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6027267" y="2670962"/>
            <a:ext cx="1688379" cy="1283818"/>
          </a:xfrm>
          <a:prstGeom prst="line">
            <a:avLst/>
          </a:prstGeom>
          <a:ln w="44450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7715646" y="1830405"/>
            <a:ext cx="1418917" cy="840557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134563" y="1654804"/>
            <a:ext cx="2227301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Tình huống: “nhặt” vợ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7715646" y="2256495"/>
            <a:ext cx="1574111" cy="414467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289757" y="2080894"/>
            <a:ext cx="1916913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Điểm nhìn linh hoạt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15646" y="2670962"/>
            <a:ext cx="1445333" cy="112334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160979" y="2506985"/>
            <a:ext cx="2174469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Tình thương, khát vọng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sống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715646" y="2670962"/>
            <a:ext cx="1831667" cy="739846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547313" y="3134497"/>
            <a:ext cx="1401801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Kết: lá cờ đỏ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– niềm tin</a:t>
            </a:r>
          </a:p>
        </p:txBody>
      </p:sp>
      <p:sp>
        <p:nvSpPr>
          <p:cNvPr id="26" name="Oval 25"/>
          <p:cNvSpPr/>
          <p:nvPr/>
        </p:nvSpPr>
        <p:spPr>
          <a:xfrm>
            <a:off x="6948705" y="2259078"/>
            <a:ext cx="1533881" cy="823767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② Vợ nhặt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– Kim Lân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4338888" y="3954780"/>
            <a:ext cx="1688379" cy="1283817"/>
          </a:xfrm>
          <a:prstGeom prst="line">
            <a:avLst/>
          </a:prstGeom>
          <a:ln w="444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2642603" y="4297329"/>
            <a:ext cx="1696285" cy="941268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70038" y="4021018"/>
            <a:ext cx="1672565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Phá vỡ trình tự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thời gian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593073" y="4924841"/>
            <a:ext cx="1745815" cy="313756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1019568" y="4648530"/>
            <a:ext cx="1573505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Bát cháo hành –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thức tỉnh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2678925" y="5238597"/>
            <a:ext cx="1659963" cy="313756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33716" y="5276042"/>
            <a:ext cx="1745209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“Ai cho tao lương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thiện?”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2635999" y="5238597"/>
            <a:ext cx="1702889" cy="941268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76642" y="5903554"/>
            <a:ext cx="1659357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Kết: cái lò gạch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cũ</a:t>
            </a:r>
          </a:p>
        </p:txBody>
      </p:sp>
      <p:sp>
        <p:nvSpPr>
          <p:cNvPr id="36" name="Oval 35"/>
          <p:cNvSpPr/>
          <p:nvPr/>
        </p:nvSpPr>
        <p:spPr>
          <a:xfrm>
            <a:off x="3502606" y="4826713"/>
            <a:ext cx="1672565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③ Chí Phèo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– Nam Cao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27267" y="3954780"/>
            <a:ext cx="1688379" cy="1283817"/>
          </a:xfrm>
          <a:prstGeom prst="line">
            <a:avLst/>
          </a:prstGeom>
          <a:ln w="4445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7715646" y="4297329"/>
            <a:ext cx="1788741" cy="941268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9504387" y="4021018"/>
            <a:ext cx="1487653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Ngôn ngữ nói ↔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ngôn ngữ viết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7715646" y="4924841"/>
            <a:ext cx="1788741" cy="313756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504387" y="4648530"/>
            <a:ext cx="1487653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NL về cách kể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của tác giả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715646" y="5238597"/>
            <a:ext cx="1402407" cy="313756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118053" y="5276042"/>
            <a:ext cx="2260321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Thuyết trình nghệ thuật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kể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715646" y="5238597"/>
            <a:ext cx="1617037" cy="941268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9332683" y="5903554"/>
            <a:ext cx="1831061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Củng cố trực tuyến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(QR)</a:t>
            </a:r>
          </a:p>
        </p:txBody>
      </p:sp>
      <p:sp>
        <p:nvSpPr>
          <p:cNvPr id="46" name="Oval 45"/>
          <p:cNvSpPr/>
          <p:nvPr/>
        </p:nvSpPr>
        <p:spPr>
          <a:xfrm>
            <a:off x="6740679" y="4658216"/>
            <a:ext cx="1949933" cy="1160762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④ Tiếng Việt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– Viết –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Nói</a:t>
            </a:r>
          </a:p>
        </p:txBody>
      </p:sp>
      <p:sp>
        <p:nvSpPr>
          <p:cNvPr id="47" name="Oval 46"/>
          <p:cNvSpPr/>
          <p:nvPr/>
        </p:nvSpPr>
        <p:spPr>
          <a:xfrm>
            <a:off x="4862765" y="3484793"/>
            <a:ext cx="2329003" cy="939972"/>
          </a:xfrm>
          <a:prstGeom prst="ellipse">
            <a:avLst/>
          </a:prstGeom>
          <a:solidFill>
            <a:srgbClr val="002060"/>
          </a:solidFill>
          <a:ln w="25400">
            <a:solidFill>
              <a:srgbClr val="000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CÂU CHUYỆN VÀ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ĐIỂM NHÌN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44</a:t>
            </a:r>
          </a:p>
        </p:txBody>
      </p:sp>
      <p:pic>
        <p:nvPicPr>
          <p:cNvPr id="7" name="Picture 6" descr="QR_van_cc_bai1_k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08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3596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Vợ nhặt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trangtu66.github.io/Taode_thi_online/van_cc_bai1_k11.html</a:t>
            </a:r>
          </a:p>
        </p:txBody>
      </p:sp>
      <p:pic>
        <p:nvPicPr>
          <p:cNvPr id="9" name="Picture 8" descr="QR_van_cc_chipheo_k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463040"/>
            <a:ext cx="3017520" cy="3017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8160" y="4572000"/>
            <a:ext cx="3596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Chí Phèo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trangtu66.github.io/Taode_thi_online/van_cc_chipheo_k11.html</a:t>
            </a:r>
          </a:p>
        </p:txBody>
      </p:sp>
      <p:pic>
        <p:nvPicPr>
          <p:cNvPr id="11" name="Picture 10" descr="QR_van_tv_noiviet_k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4360" y="1463040"/>
            <a:ext cx="3017520" cy="3017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24800" y="4572000"/>
            <a:ext cx="3596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Ôn luyện – Ngôn ngữ nói và ngôn ngữ viết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trangtu66.github.io/Taode_thi_online/van_tv_noiviet_k11.html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TTT</dc:creator>
  <cp:keywords/>
  <dc:description>generated using python-pptx</dc:description>
  <cp:lastModifiedBy>TTT</cp:lastModifiedBy>
  <cp:revision>1</cp:revision>
  <dcterms:created xsi:type="dcterms:W3CDTF">2013-01-27T09:14:16Z</dcterms:created>
  <dcterms:modified xsi:type="dcterms:W3CDTF">2013-01-27T09:15:58Z</dcterms:modified>
  <cp:category/>
</cp:coreProperties>
</file>