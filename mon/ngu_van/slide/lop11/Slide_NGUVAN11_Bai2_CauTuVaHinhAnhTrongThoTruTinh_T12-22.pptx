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tr.56.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tr.59.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PaS9osKcC4E" TargetMode="External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GjkqYB9E38U" TargetMode="External"/><Relationship Id="rId4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youtube.com/watch?v=nV4ovO1sp74" TargetMode="External"/><Relationship Id="rId4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2: CẤU TỨ VÀ HÌNH ẢNH TRONG THƠ TRỮ TÌNH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11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Đánh giá giá trị thẩm mĩ của ngôn từ, cấu tứ, hình thức bài thơ; phân tích vai trò của yếu tố tượng trưng.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tình cảm, cảm xúc, cảm hứng chủ đạo; phát hiện giá trị văn hoá, triết lí nhân sinh.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tính đa nghĩa của ngôn từ; nhận biết hiện tượng phá vỡ quy tắc ngôn ngữ thông thường.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văn bản nghị luận về cấu tứ và hình ảnh của một bài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Giới thiệu (nói) về một tác phẩm nghệ thuật theo lựa chọn cá nhân.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Sống hoà đồng với con người, thiên nhiên; trân trọng nỗi buồn trong sáng gắn bó với cuộc đời.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12 – 14: NHỚ ĐỒNG (Tố Hữu)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trải nghiệm của bạn, một nỗi nhớ thường được khởi đầu và phát triển như thế nào?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Nếu viết về nỗi nhớ của mình, điều gì sẽ được nói đến trước hết? Vì sao?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5</a:t>
            </a:r>
          </a:p>
        </p:txBody>
      </p:sp>
      <p:pic>
        <p:nvPicPr>
          <p:cNvPr id="7" name="Picture 6" descr="QR_video_PaS9osKcC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Tố Hữu – Nhà thơ lớn của cách mạng Việt Nam (Danh nhân Thăng Long – Hà Nội)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HTV – Đài Hà Nội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Tố Hữu (Nhớ đồng)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https://www.youtube.com/watch?v=PaS9osKcC4E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Cấu tứ</a:t>
            </a:r>
            <a:r>
              <a:rPr sz="2400">
                <a:solidFill>
                  <a:srgbClr val="1E293B"/>
                </a:solidFill>
                <a:latin typeface="Calibri"/>
              </a:rPr>
              <a:t>: hình dung hướng phát triển hình tượng, cách triển khai bài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Tứ thơ</a:t>
            </a:r>
            <a:r>
              <a:rPr sz="2400">
                <a:solidFill>
                  <a:srgbClr val="1E293B"/>
                </a:solidFill>
                <a:latin typeface="Calibri"/>
              </a:rPr>
              <a:t>: sản phẩm của cấu tứ – mọi yếu tố hướng về hình ảnh trung tâm.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Yếu tố tượng trưng</a:t>
            </a:r>
            <a:r>
              <a:rPr sz="2400">
                <a:solidFill>
                  <a:srgbClr val="1E293B"/>
                </a:solidFill>
                <a:latin typeface="Calibri"/>
              </a:rPr>
              <a:t>: hình ảnh nhiều tầng nghĩa, gợi cảm nhận đa chiều.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Ngôn ngữ văn học</a:t>
            </a:r>
            <a:r>
              <a:rPr sz="2400">
                <a:solidFill>
                  <a:srgbClr val="1E293B"/>
                </a:solidFill>
                <a:latin typeface="Calibri"/>
              </a:rPr>
              <a:t>: tính hình tượng, thẩm mĩ, đa nghĩa.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VÀ CÁC KHỔ LẶP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Nhan đề Nhớ đồng đã bao quát toàn bộ cảm xúc chưa? Nhận xét các khổ 1, 4, 7, 13 và “quy luật” phân bố của chúng.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Nghĩa của từ “đồng” có thể mở rộng thế nào?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VÀ CÁC KHỔ LẶP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“Đồng”: ruộng đồng → quê hương, đồng bào, đồng chí, cuộc đời tự do.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Khổ 1, 4, 7, 13 lặp lại, biến đổi: “trưa thương nhớ” → “trưa hiu quạnh”.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Là điểm tựa, nhịp “trở về” của mạch nhớ.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Cấu tứ theo mạch nhớ có điểm tựa lặp lại.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THỐNG HÌNH ẢNH VÀ TỪ “ĐÂU”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Hệ thống hình ảnh biểu đạt nội dung gì? Từ “đâu” xuất hiện nhiều lần đóng vai trò gì trong cấu tứ?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Phân loại: cảnh quê – người quê – cái tôi.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THỐNG HÌNH ẢNH VÀ TỪ “ĐÂU”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Cảnh quê: gió, ruộng tre, ô mạ, nương khoai.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quê: lưng cong xuống luống cày, bàn tay vãi giống, mẹ già.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Cái tôi: băn khoăn → say đồng hương nắng → cánh chim nhớ gió mây.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“Đâu” mở ra chuỗi hồi tưởng, liên kết mạch nhớ.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Cảnh – người – mình đan cài trong nỗi nhớ.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TƯỢNG TRƯNG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ảnh nào trong bài thơ mang tính tượng trưng rõ nét hơn cả? Làm rõ tính tượng trưng ấy.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Người tù tự so sánh mình với gì?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TƯỢNG TRƯNG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“Như cánh chim buồn nhớ gió mây”.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Cánh chim bị nhốt – người chiến sĩ trong tù.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Gió mây – tự do, cuộc đời, cách mạng.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Khát vọng tự do, lí tưởng của người thanh niên yêu nước.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15 – 17: TRÀNG GIANG (Huy Cận)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ta có thể rung động trước bài thơ của một người xa lạ?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Cảnh trời đất mênh mông buổi chiều tà có ý nghĩa gì với tâm hồn mỗi người?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15</a:t>
            </a:r>
          </a:p>
        </p:txBody>
      </p:sp>
      <p:pic>
        <p:nvPicPr>
          <p:cNvPr id="7" name="Picture 6" descr="QR_video_GjkqYB9E38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Nhà thơ Cù Huy Cận: Người suốt đời gắn bó với cách mạng và thơ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Trung tâm Thư viện và Tri thức số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Huy Cận (Tràng giang)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https://www.youtube.com/watch?v=GjkqYB9E38U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ĐỀ, ĐỀ TỪ VÀ KHUNG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Cảm nhận về nhan đề Tràng giang? Nhan đề và đề từ liên quan thế nào với nội dung cảm xúc? Khung cảnh được “vẽ” ra có tính chất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Đề từ: “Bâng khuâng trời rộng nhớ sông dài”.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ĐỀ, ĐỀ TỪ VÀ KHUNG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“Tràng giang”: âm Hán Việt, vần “ang” vang mở – dòng sông mang tầm vũ trụ.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Đề từ gợi cảm xúc chủ đạo: bâng khuâng, nhớ nhung.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Khung cảnh: mênh mông, hiu quạnh, vắng lặng, cổ kính.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Nỗi buồn của cái tôi trước không gian vô tận.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TỨ VÀ SỰ TƯƠNG PHẢN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Bài thơ được cấu tứ như thế nào? Chỉ ra sự tương phản giữa các hình ảnh trong khổ thứ hai và sự triển khai ở các khổ sau.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Cái gì nhỏ bé, cái gì rộng lớn?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TỨ VÀ SỰ TƯƠNG PHẢN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Cấu tứ: vô hạn của vũ trụ ↔ hữu hạn, nhỏ bé của con người.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Khổ 2: “lơ thơ cồn nhỏ” ↔ “sông dài, trời rộng”.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Khổ 3: bèo dạt – không đò, không cầu; khổ 4: mây núi bạc – cánh chim nhỏ.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Tương phản làm nổi bật nỗi cô đơn.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VÀ THI LIỆU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Bài thơ có những điểm khác lạ nào trong cách dùng ngôn ngữ? Nêu một số thi liệu truyền thống và ý nghĩa của chúng.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“buồn điệp điệp”, “sâu chót vót”.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VÀ THI LIỆU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“buồn điệp điệp”, “sâu chót vót”, “củi / một cành khô”, dấu hai chấm “cánh nhỏ: bóng chiều sa”.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 liệu: tràng giang, thuyền, cánh chim, bóng chiều, khói hoàng hôn.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khói hoàng hôn cũng nhớ nhà” – mượn tứ Thôi Hiệu nhưng mới.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Cổ điển mà hiện đại.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18: CON ĐƯỜNG MÙA ĐÔNG (Pu-skin)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23</a:t>
            </a:r>
          </a:p>
        </p:txBody>
      </p:sp>
      <p:pic>
        <p:nvPicPr>
          <p:cNvPr id="7" name="Picture 6" descr="QR_video_nV4ovO1sp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Phóng sự quốc tế: Aleksandr Sergeyevich Pushkin – Nhà thơ tình nổi tiếng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Báo Nhân Dân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Pu-skin (Con đường mùa đông)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https://www.youtube.com/watch?v=nV4ovO1sp74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NỖI BUỒN VÀ Ý THỨC VƯỢT QUA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Những hình ảnh, âm thanh trong bài thơ diễn tả mâu thuẫn giữa nỗi buồn với ý thức vượt qua trở ngại của nhân vật trữ tình như thế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Trăng, cột sọc chỉ đường, tiếng lục lạc, kim đồng hồ…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NỖI BUỒN VÀ Ý THỨC VƯỢT QUA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Trăng buồn, đường vắng, tiếng lục lạc đơn điệu – nỗi buồn.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Xe tam mã lao nhanh, cột sọc chỉ đường – hành trình tiếp diễn.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Tâm tưởng: Nhi-na, lò lửa đỏ – hơi ấm phía trước.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chìm trong u buồn, luôn hướng tới niềm vui.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19: THỰC HÀNH TIẾNG VIỆT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PHÁ VỠ QUY TẮC NGÔN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Chỉ ra nét độc đáo trong kết hợp từ “buồn điệp điệp” và cụm từ “sâu chót vót” trong Tràng giang.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Thông thường “điệp điệp”, “chót vót” đi với từ nào?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PHÁ VỠ QUY TẮC NGÔN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“trùng trùng điệp điệp” – chỉ sự vật; ghép với “buồn” → nỗi buồn chồng chất.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“sâu” (chiều thẳm) + “chót vót” (chiều cao) → kết hợp lạ.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Mở rộng không gian ba chiều, nỗi buồn thăm thẳm.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Phá vỡ quy tắc để “lạ hoá”, tăng sức gợi.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20 – 22: VIẾT – NÓI VÀ NGHE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bài thơ, lí do chọn.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Xác định trọng tâm: cấu tứ độc đáo, sự chi phối tới hệ thống hình ảnh.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Lí lẽ, bằng chứng xác đáng; nêu hàm nghĩa thận trọng.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Đánh giá giá trị cấu tứ, hình ảnh.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cấu tứ và hình ảnh trong bài thơ Tràng giang (Huy Cận).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Vẽ sơ đồ cấu tứ trước khi viết.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MB: giới thiệu, nêu vấn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TB: nhan đề – đề từ; cấu tứ tương phản qua 4 khổ; hệ thống hình ảnh, thi liệu.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Yếu tố tượng trưng, ngôn ngữ phá cách; đánh giá.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KB: khẳng định giá trị.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Gắn cấu tứ với hệ thống hình ảnh.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33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457691" y="2031827"/>
            <a:ext cx="1881197" cy="639135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154950" y="1755515"/>
            <a:ext cx="1302741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Cấu tứ – tứ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thơ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721851" y="2558628"/>
            <a:ext cx="1617037" cy="112334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90790" y="2383028"/>
            <a:ext cx="1831061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Yếu tố tượng trưng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635999" y="2670962"/>
            <a:ext cx="1702889" cy="31375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76642" y="2809118"/>
            <a:ext cx="1659357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Ngôn ngữ văn học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507221" y="2670962"/>
            <a:ext cx="1831667" cy="73984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105420" y="3235208"/>
            <a:ext cx="1401801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Tính đa nghĩa</a:t>
            </a:r>
          </a:p>
        </p:txBody>
      </p:sp>
      <p:sp>
        <p:nvSpPr>
          <p:cNvPr id="16" name="Oval 15"/>
          <p:cNvSpPr/>
          <p:nvPr/>
        </p:nvSpPr>
        <p:spPr>
          <a:xfrm>
            <a:off x="3502606" y="2259078"/>
            <a:ext cx="1672565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Tri thức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ngữ văn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715646" y="1830405"/>
            <a:ext cx="1650057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365703" y="1654804"/>
            <a:ext cx="1765021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Mạch nhớ: “đâu…”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715646" y="2357206"/>
            <a:ext cx="1659963" cy="31375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375609" y="2080894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Khổ lặp: trưa hiu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quạnh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15646" y="2670962"/>
            <a:ext cx="1659963" cy="31375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375609" y="2708407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Cánh chim nhớ gió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mây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15646" y="2670962"/>
            <a:ext cx="1745815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461461" y="3335919"/>
            <a:ext cx="1573505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Khát vọng tự do</a:t>
            </a:r>
          </a:p>
        </p:txBody>
      </p:sp>
      <p:sp>
        <p:nvSpPr>
          <p:cNvPr id="26" name="Oval 25"/>
          <p:cNvSpPr/>
          <p:nvPr/>
        </p:nvSpPr>
        <p:spPr>
          <a:xfrm>
            <a:off x="6879363" y="2259078"/>
            <a:ext cx="1672565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Nhớ đồng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Tố Hữu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503919" y="4498751"/>
            <a:ext cx="1834969" cy="73984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108722" y="4222440"/>
            <a:ext cx="1395197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Vô hạn ↔ hữu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hạn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721851" y="5025552"/>
            <a:ext cx="1617037" cy="213045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90790" y="4849952"/>
            <a:ext cx="1831061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“Củi một cành khô”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550147" y="5238597"/>
            <a:ext cx="1788741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62494" y="5276042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Cổ điển + hiện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đại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893555" y="5238597"/>
            <a:ext cx="1445333" cy="840557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19086" y="5903554"/>
            <a:ext cx="2174469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Pu-skin: vượt nỗi buồn</a:t>
            </a:r>
          </a:p>
        </p:txBody>
      </p:sp>
      <p:sp>
        <p:nvSpPr>
          <p:cNvPr id="36" name="Oval 35"/>
          <p:cNvSpPr/>
          <p:nvPr/>
        </p:nvSpPr>
        <p:spPr>
          <a:xfrm>
            <a:off x="3294580" y="4826713"/>
            <a:ext cx="2088617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Tràng giang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Đường đông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15646" y="4297329"/>
            <a:ext cx="1788741" cy="941268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504387" y="4021018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Phá vỡ quy tắc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ngôn ngữ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715646" y="4924841"/>
            <a:ext cx="1696285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411931" y="4648530"/>
            <a:ext cx="1672565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NL cấu tứ, hình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ảnh thơ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15646" y="5238597"/>
            <a:ext cx="1574111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289757" y="5276042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Giới thiệu tác phẩm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nghệ thuật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715646" y="5238597"/>
            <a:ext cx="1617037" cy="941268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332683" y="5903554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Củng cố trực tuyến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(QR)</a:t>
            </a:r>
          </a:p>
        </p:txBody>
      </p:sp>
      <p:sp>
        <p:nvSpPr>
          <p:cNvPr id="46" name="Oval 45"/>
          <p:cNvSpPr/>
          <p:nvPr/>
        </p:nvSpPr>
        <p:spPr>
          <a:xfrm>
            <a:off x="6740679" y="4658216"/>
            <a:ext cx="1949933" cy="1160762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Tiếng Việt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Viết –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Nói</a:t>
            </a:r>
          </a:p>
        </p:txBody>
      </p:sp>
      <p:sp>
        <p:nvSpPr>
          <p:cNvPr id="47" name="Oval 46"/>
          <p:cNvSpPr/>
          <p:nvPr/>
        </p:nvSpPr>
        <p:spPr>
          <a:xfrm>
            <a:off x="5177116" y="3484793"/>
            <a:ext cx="1700302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CẤU TỨ VÀ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HÌNH ẢNH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34</a:t>
            </a:r>
          </a:p>
        </p:txBody>
      </p:sp>
      <p:pic>
        <p:nvPicPr>
          <p:cNvPr id="7" name="Picture 6" descr="QR_van_cc_bai2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Nhớ đồng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trangtu66.github.io/Taode_thi_online/van_cc_bai2_k11.html</a:t>
            </a:r>
          </a:p>
        </p:txBody>
      </p:sp>
      <p:pic>
        <p:nvPicPr>
          <p:cNvPr id="9" name="Picture 8" descr="QR_van_cc_trangian_k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Tràng giang, Con đường mùa đông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trangtu66.github.io/Taode_thi_online/van_cc_trangian_k11.html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