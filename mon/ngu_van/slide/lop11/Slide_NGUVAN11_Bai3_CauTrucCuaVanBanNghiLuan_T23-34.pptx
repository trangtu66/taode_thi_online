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Dẫn vào hoàn cảnh ra đời Cầu hiền chiếu.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khoảng 3,5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Bản tiếng Anh, 17 phút – chiếu trích đoạn “I have a dream” (khoảng phút 11 – 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tr.85.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Y7GJRBv3Rro" TargetMode="External"/><Relationship Id="rId4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Qyk8sYGghiQ" TargetMode="Externa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3: CẤU TRÚC CỦA VĂN BẢN NGHỊ LUẬN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10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luận đề, luận điểm, lí lẽ, bằng chứng và mối quan hệ giữa chúng trong văn bản nghị luận.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vai trò của yếu tố biểu cảm; mục đích, quan điểm, tình cảm của người viết.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biệt và sử dụng phù hợp ngôn ngữ nói, ngôn ngữ viết.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bài văn nghị luận về một vấn đề xã hội (con người với cuộc sống xung quanh).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ý kiến đánh giá, bình luận về một vấn đề xã hội.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trách nhiệm với cộng đồng; trân trọng khát vọng tự do, bình đẳng.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23 – 24: CẦU HIỀN CHIẾU (Ngô Thì Nhậm)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Bạn biết những văn bản nghị luận nào thời trung đại?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các triều đại thường ban chiếu cầu hiền?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Cấu trúc văn bản nghị luận</a:t>
            </a:r>
            <a:r>
              <a:rPr sz="2400">
                <a:solidFill>
                  <a:srgbClr val="1E293B"/>
                </a:solidFill>
                <a:latin typeface="Calibri"/>
              </a:rPr>
              <a:t>: luận đề – luận điểm – lí lẽ – bằng chứng gắn bó chặt chẽ.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Yếu tố biểu cảm</a:t>
            </a:r>
            <a:r>
              <a:rPr sz="2400">
                <a:solidFill>
                  <a:srgbClr val="1E293B"/>
                </a:solidFill>
                <a:latin typeface="Calibri"/>
              </a:rPr>
              <a:t>: thể hiện tình cảm, thái độ người viết, tác động đến cảm xúc người đọc.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Mục đích, quan điểm</a:t>
            </a:r>
            <a:r>
              <a:rPr sz="2400">
                <a:solidFill>
                  <a:srgbClr val="1E293B"/>
                </a:solidFill>
                <a:latin typeface="Calibri"/>
              </a:rPr>
              <a:t> của người viết: qua cách nêu vấn đề, chọn lí lẽ, bằng chứng, giọng điệu.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DO, MỤC ĐÍCH VÀ ĐỐI TƯỢNG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Cầu hiền chiếu được ban bố với lí do và mục đích gì? Văn bản hướng tới đối tượng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Thái độ của sĩ phu Bắc Hà với triều Tây Sơn?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DO, MỤC ĐÍCH VÀ ĐỐI TƯỢNG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do: triều đại mới cần người tài; sĩ phu Bắc Hà gắn bó triều cũ, chưa đồng lòng.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thuyết phục người hiền ra giúp nước, xây dựng đất nước.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Đối tượng: sĩ phu Bắc Hà – trí thức của triều đại cũ (Lê – Trịnh).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Chiếu cầu hiền – chính sách thu phục nhân tâm của vua Quang Trung.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BỐ CỤC VÀ MẠCH LẬP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Văn bản có mấy phần? Phân tích mối quan hệ giữa nội dung các phần.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Từ quy luật → thực trạng → nhu cầu → giải pháp.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BỐ CỤC VÀ MẠCH LẬP LUẬN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1: người hiền như sao sáng, phải được thiên tử sử dụng.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2: kẻ sĩ ở ẩn, “trốn tránh việc đời”; vua ngày đêm mong mỏi.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3: buổi đầu đại định – “một cái cột không thể đỡ nổi một căn nhà lớn”.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4: các cách tiến cử; lời khuyến dụ “gặp hội gió mây”.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Lập luận chặt chẽ, đi từ lí lẽ chung đến hành động cụ thể.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10</a:t>
            </a:r>
          </a:p>
        </p:txBody>
      </p:sp>
      <p:pic>
        <p:nvPicPr>
          <p:cNvPr id="7" name="Picture 6" descr="QR_video_Y7GJRBv3R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Thu hút và trọng dụng nhân tài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Liên hệ thời sự: chủ trương trọng dụng nhân tài hôm nay (Cầu hiền chiếu)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https://www.youtube.com/watch?v=Y7GJRBv3Rro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SỨC THUYẾT PHỤC CỦA CẦU HIỀN CHIẾU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Điều gì tạo nên sức thuyết phục của Cầu hiền chiếu?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giọng điệu và cách nêu giải pháp.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SỨC THUYẾT PHỤC CỦA CẦU HIỀN CHIẾU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lẽ vững: quy luật “người hiền như sao sáng”; “một cái cột không thể đỡ nổi một căn nhà lớn”.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Thái độ chân thành, khiêm nhường: “Hay trẫm ít đức không đáng để phò tá chăng?”.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Giải pháp thiết thực: dâng sớ, được tiến cử, tự tiến cử.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Lí + tình + giải pháp cụ thể = sức thuyết phục.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25 – 26: TÔI CÓ MỘT ƯỚC MƠ (Mác-tin Lu-thơ Kinh)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Kể tên một văn kiện chính trị trở thành áng văn có sức lay động lớn.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Nhân vật lịch sử nào thể hiện ước mơ hạnh phúc cho nhân dân qua lời phát biểu tâm huyết?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15</a:t>
            </a:r>
          </a:p>
        </p:txBody>
      </p:sp>
      <p:pic>
        <p:nvPicPr>
          <p:cNvPr id="7" name="Picture 6" descr="QR_video_Qyk8sYGghi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‘I Have A Dream’ – Rev. Dr. MLK, Jr. at the March on Washington (August 28, 1963)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The Martin Luther King, Jr. Center for Nonviolent Social Change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Nghe đoạn kết bài diễn văn gốc (Tôi có một ước mơ)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https://www.youtube.com/watch?v=Qyk8sYGghiQ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VÀ 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Vấn đề trọng tâm của bài diễn văn là gì? Chỉ ra các luận điểm được triển khai.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Theo dõi từ “Một trăm năm sau” đến “Tôi mơ rằng”.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VẤN ĐỀ VÀ HỆ THỐNG LUẬN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Vấn đề: quyền tự do, bình đẳng của người da đen.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Thực trạng: “Một trăm năm sau”, người da đen vẫn chưa được tự do.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Tính cấp bách của “thời khắc Ngay Bây Giờ”; đấu tranh không bạo lực.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Ước mơ: nước Mỹ bình đẳng; “Hãy để tự do ngân vang”.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Thực trạng → cấp bách → cách đấu tranh → ước mơ.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LẼ, 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Tác giả dùng lí lẽ, bằng chứng và biện pháp tu từ nào để thuyết phục người nghe?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Những văn kiện nào được dẫn ra?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LÍ LẼ, 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Văn kiện: Tuyên ngôn Giải phóng Nô lệ; Tuyên ngôn Độc lập “Con người sinh ra vốn bình đẳng”.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Thực tế: biệt khu, bảng “Chỉ dành cho người da trắng”, không được bầu cử.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ngữ “Một trăm năm sau”, “Tôi mơ rằng”; ẩn dụ “ngọn hải đăng của hi vọng”.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Lập luận chặt chẽ + biểu cảm mãnh liệt.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27 – 28: MỘT THỜI ĐẠI TRONG THI CA (Hoài Thanh)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Có bao giờ bạn băn khoăn khi phân biệt cái mới với cái cũ?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 một bài Thơ mới với một bài thơ trung đại: khác biệt ở đâu?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LÀM SÁNG TỎ “TINH THẦN THƠ MỚI”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Để làm sáng tỏ luận đề “tinh thần thơ mới”, Hoài Thanh đã nêu những luận điểm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Hai chữ “ta” và “tôi”.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LUẬN ĐIỂM LÀM SÁNG TỎ “TINH THẦN THƠ MỚI”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Phải “sánh bài hay với bài hay”, nhìn vào đại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“Ngày trước là thời chữ ta, bây giờ là thời chữ tôi.”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 kịch của cái tôi: “Mất bề rộng ta đi tìm bề sâu. Nhưng càng đi sâu càng lạnh.”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Lối thoát: gửi hồn vào tiếng Việt.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Tinh thần thơ mới = sự thức tỉnh của cái tôi cá nhân.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cách dùng bằng chứng và biện pháp tu từ ở cuối văn bản.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“Chưa bao giờ như bây giờ…”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BẰNG CHỨNG VÀ BIỆN PHÁP TU TỪ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Bằng chứng: Thế Lữ, Lưu Trọng Lư, Hàn Mặc Tử, Chế Lan Viên, Xuân Diệu, Huy Cận.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Điệp cấu trúc “Chưa bao giờ như bây giờ…” nhấn mạnh niềm tin.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Ẩn dụ tiếng Việt – “tấm lụa đã hứng vong hồn những thế hệ qua”.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Phê bình tài hoa, giàu cảm xúc.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31: THỰC HÀNH TIẾNG VIỆT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VÀ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Dùng dạng nào thì phải </a:t>
            </a:r>
            <a:r>
              <a:rPr sz="2400" b="1">
                <a:solidFill>
                  <a:srgbClr val="1E293B"/>
                </a:solidFill>
                <a:latin typeface="Calibri"/>
              </a:rPr>
              <a:t>nhất quán</a:t>
            </a:r>
            <a:r>
              <a:rPr sz="2400">
                <a:solidFill>
                  <a:srgbClr val="1E293B"/>
                </a:solidFill>
                <a:latin typeface="Calibri"/>
              </a:rPr>
              <a:t> với dạng đó.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Lạc phong cách</a:t>
            </a:r>
            <a:r>
              <a:rPr sz="2400">
                <a:solidFill>
                  <a:srgbClr val="1E293B"/>
                </a:solidFill>
                <a:latin typeface="Calibri"/>
              </a:rPr>
              <a:t>: dùng phương tiện khẩu ngữ trong văn bản viết (và ngược lại).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“Chí Phèo là truyện ngắn đỉnh nhất…” – từ “đỉnh”, “quá ư”.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Truyện: lời nửa trực tiếp, độc thoại nội tâm, lời nhại.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CÂU “GIỐNG VĂN NÓI”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Sửa câu: “Hoài Thanh viết phê bình hay cực, đọc xong là thấy mê Thơ mới luôn.”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Từ nào mang đậm khẩu ngữ?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CÂU “GIỐNG VĂN NÓI”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Khẩu ngữ: “cực”, “là thấy”, “luôn”.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Sửa: “Hoài Thanh có lối phê bình tài hoa, tinh tế, khiến người đọc thêm yêu Thơ mới.”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Văn bản viết: từ ngữ chuẩn mực, câu hoàn chỉnh.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32 – 34: VIẾT – NÓI VÀ NGHE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NGHỊ LUẬN VỀ MỘT VẤN ĐỀ XÃ HỘI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vấn đề giàu ý nghĩa về con người với cuộc sống xung quanh.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Hệ thống luận điểm chặt chẽ, lí lẽ sắc bén, bằng chứng sinh động.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Dẫn và phản bác ý kiến trái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Rút ra ý nghĩa của việc nhận thức đúng.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Viết bài văn nghị luận về sự thờ ơ, vô cảm của một bộ phận giới trẻ trước nỗi đau của người khác.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Ý kiến trái chiều: “Mặc kệ người khác cho đỡ phiền”.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nêu vấn đề bằng một tình huống thực tế.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biểu hiện; nguyên nhân; tác hại.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Phản bác quan niệm “mặc kệ cho đỡ phiền”.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sống biết lắng nghe, sẻ chia.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Lí lẽ + bằng chứng + phản biện.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34</a:t>
            </a:r>
          </a:p>
        </p:txBody>
      </p:sp>
      <p:pic>
        <p:nvPicPr>
          <p:cNvPr id="7" name="Picture 6" descr="SoDoTuDuy_NGUVAN11_Bai3_CauTrucCuaVanBanNghiLuan_T23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3: Cấu Trúc Của Văn Bản Nghị Luận          35</a:t>
            </a:r>
          </a:p>
        </p:txBody>
      </p:sp>
      <p:pic>
        <p:nvPicPr>
          <p:cNvPr id="7" name="Picture 6" descr="QR_van_cc_bai3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Cầu hiền chiếu, Tôi có một ước mơ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trangtu66.github.io/Taode_thi_online/van_cc_bai3_k11.html</a:t>
            </a:r>
          </a:p>
        </p:txBody>
      </p:sp>
      <p:pic>
        <p:nvPicPr>
          <p:cNvPr id="9" name="Picture 8" descr="QR_van_cc_thoidaithica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Một thời đại trong thi ca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trangtu66.github.io/Taode_thi_online/van_cc_thoidaithica_k11.html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