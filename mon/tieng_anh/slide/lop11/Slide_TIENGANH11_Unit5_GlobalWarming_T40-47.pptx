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48640"/>
            <a:ext cx="2194560" cy="21945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94560"/>
            <a:ext cx="1371600" cy="137160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2926080"/>
            <a:ext cx="1005840" cy="1005840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E40AF"/>
                </a:solidFill>
                <a:latin typeface="Arial"/>
              </a:rPr>
              <a:t>English 11 · Global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877824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UNIT 5: GLOBAL WARMING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8778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E293B"/>
                </a:solidFill>
                <a:latin typeface="Calibri"/>
              </a:rPr>
              <a:t>English 11 · Global Success · Periods 40–47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Trường THPT · Tổ Ngữ văn – Tiếng Anh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OBJECTIVES ·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Sentence stress and rhythm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Words and phrases about global warming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Present and past participle clauses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Read, talk, listen and write about global warming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Give warnings; farming and climate (CLIL)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✔  Project: local survey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WARM-UP · KHỞI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Think, guess and share – Suy nghĩ, dự đoán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155680" cy="448056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98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Look at the pictures of melting ice and flooded houses.
What is happening to our planet? Why?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MIND MAP · 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Unit overview – scan the QR code for the online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3369056" y="2713024"/>
            <a:ext cx="1294384" cy="1196036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266746" y="2096932"/>
            <a:ext cx="1102310" cy="61609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8213" y="1926452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coal, fossil fuel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309672" y="2507660"/>
            <a:ext cx="1059384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5287" y="2337181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release, emissions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23820" y="2713024"/>
            <a:ext cx="1145236" cy="20536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1139" y="2747909"/>
            <a:ext cx="1592681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renewable, waste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66746" y="2713024"/>
            <a:ext cx="1102310" cy="616093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8213" y="3158637"/>
            <a:ext cx="1678533" cy="340959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greenhouse effect</a:t>
            </a:r>
          </a:p>
        </p:txBody>
      </p:sp>
      <p:sp>
        <p:nvSpPr>
          <p:cNvPr id="16" name="Oval 15"/>
          <p:cNvSpPr/>
          <p:nvPr/>
        </p:nvSpPr>
        <p:spPr>
          <a:xfrm>
            <a:off x="2566111" y="2474758"/>
            <a:ext cx="1605889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Vocabulary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663440" y="2713024"/>
            <a:ext cx="1294384" cy="1196036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57824" y="1996221"/>
            <a:ext cx="630123" cy="71680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7947" y="1825741"/>
            <a:ext cx="2622905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Present participle: active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957824" y="2406949"/>
            <a:ext cx="722579" cy="30607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80403" y="2236469"/>
            <a:ext cx="2437993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Past participle: passive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57824" y="2713024"/>
            <a:ext cx="973531" cy="20536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31355" y="2647198"/>
            <a:ext cx="1936089" cy="542381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Reason / condition /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same time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57824" y="2713024"/>
            <a:ext cx="801827" cy="71680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59651" y="3259348"/>
            <a:ext cx="2279497" cy="340959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Sentence stress &amp; rhythm</a:t>
            </a:r>
          </a:p>
        </p:txBody>
      </p:sp>
      <p:sp>
        <p:nvSpPr>
          <p:cNvPr id="26" name="Oval 25"/>
          <p:cNvSpPr/>
          <p:nvPr/>
        </p:nvSpPr>
        <p:spPr>
          <a:xfrm>
            <a:off x="4946853" y="2306261"/>
            <a:ext cx="2021941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Grammar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Pronunciation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369056" y="3909060"/>
            <a:ext cx="1294384" cy="1196035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352598" y="4489002"/>
            <a:ext cx="1016458" cy="61609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361" y="4217812"/>
            <a:ext cx="1850237" cy="542381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Reading: UN Climate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Conference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653080" y="5000442"/>
            <a:ext cx="715976" cy="10465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1879" y="4829962"/>
            <a:ext cx="2451201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Speaking: human activities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24302" y="5105095"/>
            <a:ext cx="844754" cy="30607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0657" y="5240690"/>
            <a:ext cx="2193645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Listening: black carbon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09672" y="5105095"/>
            <a:ext cx="1059384" cy="716803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5287" y="5651418"/>
            <a:ext cx="1764385" cy="340959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Writing: a leaflet</a:t>
            </a:r>
          </a:p>
        </p:txBody>
      </p:sp>
      <p:sp>
        <p:nvSpPr>
          <p:cNvPr id="36" name="Oval 35"/>
          <p:cNvSpPr/>
          <p:nvPr/>
        </p:nvSpPr>
        <p:spPr>
          <a:xfrm>
            <a:off x="2843479" y="4866829"/>
            <a:ext cx="1051153" cy="476531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Skills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3909060"/>
            <a:ext cx="1294384" cy="1196035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57824" y="4388291"/>
            <a:ext cx="1188161" cy="71680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45985" y="4217812"/>
            <a:ext cx="1506829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Giving warnings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57824" y="4799020"/>
            <a:ext cx="930605" cy="30607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888429" y="4628540"/>
            <a:ext cx="2021941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Farming impact (CLIL)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57824" y="5105095"/>
            <a:ext cx="1316939" cy="104653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74763" y="5039268"/>
            <a:ext cx="1249273" cy="340959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Local survey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57824" y="5105095"/>
            <a:ext cx="1231087" cy="616092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188911" y="5449996"/>
            <a:ext cx="1420977" cy="542381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Act now – save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energy</a:t>
            </a:r>
          </a:p>
        </p:txBody>
      </p:sp>
      <p:sp>
        <p:nvSpPr>
          <p:cNvPr id="46" name="Oval 45"/>
          <p:cNvSpPr/>
          <p:nvPr/>
        </p:nvSpPr>
        <p:spPr>
          <a:xfrm>
            <a:off x="4808169" y="4698331"/>
            <a:ext cx="2299309" cy="813526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Communication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Project</a:t>
            </a:r>
          </a:p>
        </p:txBody>
      </p:sp>
      <p:sp>
        <p:nvSpPr>
          <p:cNvPr id="47" name="Oval 46"/>
          <p:cNvSpPr/>
          <p:nvPr/>
        </p:nvSpPr>
        <p:spPr>
          <a:xfrm>
            <a:off x="3532276" y="3444194"/>
            <a:ext cx="2262327" cy="929731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UNIT 5 GLOBAL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WARMING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6880" y="1463040"/>
            <a:ext cx="2651760" cy="4846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55448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E40AF"/>
                </a:solidFill>
                <a:latin typeface="Arial"/>
              </a:rPr>
              <a:t>SCAN FOR THE QUIZ</a:t>
            </a:r>
          </a:p>
        </p:txBody>
      </p:sp>
      <p:pic>
        <p:nvPicPr>
          <p:cNvPr id="50" name="Picture 49" descr="QR_anh_cc_unit5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103120"/>
            <a:ext cx="2377440" cy="23774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372600" y="4572000"/>
            <a:ext cx="2560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6 MCQ + 1 True/False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Secure quiz room – answers sealed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1E293B"/>
                </a:solidFill>
                <a:latin typeface="Calibri"/>
              </a:rPr>
              <a:t>trangtu66.github.io/Taode_thi_online/anh_cc_unit5_k11.html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VOCABULARY – GLOBAL WARMING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coal: a black rock burnt to produce heat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fossil fuel: formed from dead animals or plants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release (v): let a substance flow out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renewable (adj): replaced naturally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waste: materials not needed and thrown 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GRAMMAR – PARTICIPLE CLAUSES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Present participle (V-ing) – active meaning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Trapping too much heat, greenhouse gases stop it from escaping.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Past participle (V3) – passive meaning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Worried about climate change, many young people joined the protests.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PRESENT PARTICIPLE – CORRECT THE MISTAKES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Was waiting for the train, I read some articles.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Saw the forest fire, the children called the police.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The students took part in green activities, were planting more than 100 trees.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Same subject, active meaning → V-ing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PRESENT PARTICIPLE – CORRECT THE MISTAKES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Waiting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Seeing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planting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V-ing clause: reason or actions at the same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PARTICIPLE – REWRITE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If farm animals are not kept cool, they suffer from heat stress.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Some farmers were worried about deforestation, so they stopped burning trees.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3. If carbon dioxide is produced in huge amounts, it causes air pollution.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Passive meaning → 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PAST PARTICIPLE – REWRITE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Not kept cool in hot weather, farm animals…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Worried about the consequences of deforestation, some farmers…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3. Produced in huge amounts, carbon dioxide…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V3 clause: reason or condition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COP GOALS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1. Which is NOT a COP key goal? A. stop cutting down forests  B. replace coal  C. end methane emissions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2. Why is reducing methane a key goal?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Read the four goals carefully.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READING – COP GOALS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1. C – the goal is to reduce, not end, methane emissions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2. Its warming power is stronger than that of CO₂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Limit 1.5°C · reduce coal · end deforestation · reduce methane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WARNINGS – TASK · 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Work in pairs/groups – answers come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Complete: A. Thanks so much  B. I must warn you  C. Don't worry  D. Watch out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Jane: (1) ___! You're too close.  Nga: (2) ___. I'm very careful.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1E293B"/>
                </a:solidFill>
                <a:latin typeface="Calibri"/>
              </a:rPr>
              <a:t>Jane: … but (3) ___ burning coal produces soot.  Nga: Oh no. (4) ___.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1115568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5955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66534"/>
                </a:solidFill>
                <a:latin typeface="Calibri"/>
              </a:rPr>
              <a:t>💡 Hint: Warning →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E40AF"/>
                </a:solidFill>
                <a:latin typeface="Arial"/>
              </a:rPr>
              <a:t>EVERYDAY ENGLISH – WARNINGS – ANSWER KEY ·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38560" cy="2540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English 11 · Unit 5. Global warming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(1) D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(2) C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(3) B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1E293B"/>
                </a:solidFill>
                <a:latin typeface="Calibri"/>
              </a:rPr>
              <a:t>(4)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40680"/>
            <a:ext cx="11155680" cy="8686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0468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Key: Watch out! / I must warn you… / Thanks for the warning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40AF"/>
                </a:solidFill>
                <a:latin typeface="Arial"/>
              </a:rPr>
              <a:t>BÀI TẬP CỦA BẠN · YOUR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_anh_cc_unit5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trangtu66.github.io/Taode_thi_online/anh_cc_unit5_k11.html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4748B"/>
                </a:solidFill>
                <a:latin typeface="Calibri"/>
              </a:rPr>
              <a:t>Scan with your phone · 6 multiple-choice + 1 True/False question · Results go to your teacher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5. Global warming</dc:title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