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548640"/>
            <a:ext cx="2194560" cy="219456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2194560"/>
            <a:ext cx="1371600" cy="1371600"/>
          </a:xfrm>
          <a:prstGeom prst="ellipse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2926080"/>
            <a:ext cx="1005840" cy="1005840"/>
          </a:xfrm>
          <a:prstGeom prst="ellipse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E40AF"/>
                </a:solidFill>
                <a:latin typeface="Arial"/>
              </a:rPr>
              <a:t>English 10 · Global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877824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E40AF"/>
                </a:solidFill>
                <a:latin typeface="Arial"/>
              </a:rPr>
              <a:t>UNIT 2: HUMANS AND THE 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8778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E293B"/>
                </a:solidFill>
                <a:latin typeface="Calibri"/>
              </a:rPr>
              <a:t>English 10 · Global Success · Periods 10–17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Trường THPT · Tổ Ngữ văn – Tiếng Anh · Biên soạn: TTT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OBJECTIVES · MỤC TIÊU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2. Humans and the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Pronounce /kl/, /pl/, /gr/, /pr/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Use words about humans and the environment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Future: will / be going to; passive voice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Read, talk, listen and write about green living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Ask for and give advice; carbon footprint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Project: Go Green Weekend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WARM-UP · KHỞI ĐỘNG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Think, guess and share – Suy nghĩ, dự đoán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2. Humans and the environment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155680" cy="448056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6984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Look at the picture of the Go Green Club.
What are the students doing? Why?
What can you do this weekend to make your neighbourhood greener?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MIND MAP · SƠ ĐỒ TƯ DUY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Unit overview – scan the QR code for the online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2. Humans and the environment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3369056" y="2713024"/>
            <a:ext cx="1294384" cy="1196036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2438450" y="1996221"/>
            <a:ext cx="930606" cy="716803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16509" y="1725030"/>
            <a:ext cx="2021941" cy="542381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household appliances,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energy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567228" y="2507660"/>
            <a:ext cx="801828" cy="205364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7731" y="2337181"/>
            <a:ext cx="2279497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carbon footprint, litter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352598" y="2713024"/>
            <a:ext cx="1016458" cy="306075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361" y="2747909"/>
            <a:ext cx="1850237" cy="542381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eco-friendly, green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lifestyle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524302" y="2713024"/>
            <a:ext cx="844754" cy="817515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30657" y="3360059"/>
            <a:ext cx="2193645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raise awareness, reduce</a:t>
            </a:r>
          </a:p>
        </p:txBody>
      </p:sp>
      <p:sp>
        <p:nvSpPr>
          <p:cNvPr id="16" name="Oval 15"/>
          <p:cNvSpPr/>
          <p:nvPr/>
        </p:nvSpPr>
        <p:spPr>
          <a:xfrm>
            <a:off x="2566111" y="2474758"/>
            <a:ext cx="1605889" cy="476531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Vocabulary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663440" y="2713024"/>
            <a:ext cx="1294384" cy="1196036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957824" y="1996221"/>
            <a:ext cx="676351" cy="716803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634175" y="1825741"/>
            <a:ext cx="2530449" cy="340959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will: decide now, opinion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5957824" y="2507660"/>
            <a:ext cx="953719" cy="205364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911543" y="2236469"/>
            <a:ext cx="1975713" cy="542381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be going to: plans,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evidence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57824" y="2713024"/>
            <a:ext cx="1092403" cy="306075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050227" y="2848620"/>
            <a:ext cx="1698345" cy="340959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Passive: be + V3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57824" y="2713024"/>
            <a:ext cx="1016457" cy="716804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974281" y="3259348"/>
            <a:ext cx="1850237" cy="340959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/kl/ /pl/ /gr/ /pr/</a:t>
            </a:r>
          </a:p>
        </p:txBody>
      </p:sp>
      <p:sp>
        <p:nvSpPr>
          <p:cNvPr id="26" name="Oval 25"/>
          <p:cNvSpPr/>
          <p:nvPr/>
        </p:nvSpPr>
        <p:spPr>
          <a:xfrm>
            <a:off x="4946853" y="2306261"/>
            <a:ext cx="2021941" cy="813526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Grammar &amp;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Pronunciation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3369056" y="3909060"/>
            <a:ext cx="1294384" cy="1196035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438450" y="4388291"/>
            <a:ext cx="930606" cy="716804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16509" y="4217812"/>
            <a:ext cx="2021941" cy="340959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Reading: green living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2481376" y="4799020"/>
            <a:ext cx="887680" cy="30607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73583" y="4628540"/>
            <a:ext cx="2107793" cy="340959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Speaking: living green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567228" y="5105095"/>
            <a:ext cx="801828" cy="104653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287731" y="5039268"/>
            <a:ext cx="2279497" cy="340959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Listening: a green event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395524" y="5105095"/>
            <a:ext cx="973532" cy="616092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59435" y="5449996"/>
            <a:ext cx="1936089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Writing: improve the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environment</a:t>
            </a:r>
          </a:p>
        </p:txBody>
      </p:sp>
      <p:sp>
        <p:nvSpPr>
          <p:cNvPr id="36" name="Oval 35"/>
          <p:cNvSpPr/>
          <p:nvPr/>
        </p:nvSpPr>
        <p:spPr>
          <a:xfrm>
            <a:off x="2843479" y="4866829"/>
            <a:ext cx="1051153" cy="476531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Skills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663440" y="3909060"/>
            <a:ext cx="1294384" cy="1196035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957824" y="4388291"/>
            <a:ext cx="1016457" cy="716804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974281" y="4117101"/>
            <a:ext cx="1850237" cy="542381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Asking for / giving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advice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5957824" y="4899731"/>
            <a:ext cx="844753" cy="205364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802577" y="4729251"/>
            <a:ext cx="2193645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Carbon footprint (CLIL)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957824" y="5105095"/>
            <a:ext cx="1145235" cy="205364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103059" y="5139979"/>
            <a:ext cx="1592681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Go Green Weekend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957824" y="5105095"/>
            <a:ext cx="1145235" cy="716803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103059" y="5550707"/>
            <a:ext cx="1592681" cy="542381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Reduce – Reuse –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Recycle</a:t>
            </a:r>
          </a:p>
        </p:txBody>
      </p:sp>
      <p:sp>
        <p:nvSpPr>
          <p:cNvPr id="46" name="Oval 45"/>
          <p:cNvSpPr/>
          <p:nvPr/>
        </p:nvSpPr>
        <p:spPr>
          <a:xfrm>
            <a:off x="4808169" y="4698331"/>
            <a:ext cx="2299309" cy="813526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Communication &amp;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Project</a:t>
            </a:r>
          </a:p>
        </p:txBody>
      </p:sp>
      <p:sp>
        <p:nvSpPr>
          <p:cNvPr id="47" name="Oval 46"/>
          <p:cNvSpPr/>
          <p:nvPr/>
        </p:nvSpPr>
        <p:spPr>
          <a:xfrm>
            <a:off x="3060750" y="3444194"/>
            <a:ext cx="3205378" cy="929731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UNIT 2 HUMANS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AND THE ENVIRONMENT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26880" y="1463040"/>
            <a:ext cx="2651760" cy="48463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254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72600" y="155448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E40AF"/>
                </a:solidFill>
                <a:latin typeface="Arial"/>
              </a:rPr>
              <a:t>SCAN FOR THE QUIZ</a:t>
            </a:r>
          </a:p>
        </p:txBody>
      </p:sp>
      <p:pic>
        <p:nvPicPr>
          <p:cNvPr id="50" name="Picture 49" descr="QR_anh_cc_unit2_k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103120"/>
            <a:ext cx="2377440" cy="237744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372600" y="4572000"/>
            <a:ext cx="25603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6 MCQ + 1 True/False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Secure quiz room – answers sealed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trangtu66.github.io/Taode_thi_online/anh_cc_unit2_k10.html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VOCABULARY – THE ENVIRONMENT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2. Humans and the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household appliances: fridges, TVs used at home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energy: power for machines, heat and light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carbon footprint: amount of CO₂ produced by a person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litter: rubbish in a public place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eco-friendly: causing no harm to the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VOCABULARY 2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2. Humans and the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Complete: eco-friendly, household appliances, carbon footprint, energy, litter.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1. ___ car models attract great attention at exhibitions.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2. Turn off your ___ when they are not used.  3. Small changes can reduce the ___ you produce.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4. One important source of ___ is the sun.  5. Pick up ___ on the ground.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Use Vocabulary 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VOCABULARY 2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2. Humans and the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1. Eco-friendly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2. household appliances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3. carbon footprint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4. energy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5. litter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Eco-friendly – appliances – carbon footprint – energy – litter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GRAMMAR – WILL vs. BE GOING 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2. Humans and the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will: decisions at the moment of speaking; predictions based on opinion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This shirt looks beautiful. I will buy it.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be going to: plans made before; predictions based on evidence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Look at the dark clouds. It is going to rain soon.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GRAMMAR – WILL / BE GOING TO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2. Humans and the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1. I don't think she ___ come tonight.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2. We have already made the decision. We ___ buy a new house.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3. I'm sure she ___ pass the final exam.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4. Look at the sun. It ___ be a beautiful day.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5. I forgot to phone Dad. I ___ do it right after lunch.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Opinion or evidence? Plan or instant decision?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GRAMMAR – WILL / BE GOING TO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2. Humans and the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1. will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2. are going to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3. will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4. is going to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5. will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will: opinion / instant decision; be going to: plan / evidence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GRAMMAR – PASSIVE VOICE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2. Humans and the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 + be + past participle (+ by …)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Focus on the action, not the doer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The school playground is cleaned up every day (by students).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More trees will be planted. · Activities are going to be organised.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PASSIVE VOICE – REWRITE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2. Humans and the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1. More and more people adopt a green lifestyle. → A green lifestyle …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2. The students didn't put the rubbish in the bins. → The rubbish …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3. We will plant more trees in the neighbourhood. → More trees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Keep the tense; object → subject.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PASSIVE VOICE – REWRITE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2. Humans and the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1. A green lifestyle is adopted by more and more people.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2. The rubbish wasn't put in the bins.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3. More trees will be planted in the neighbourhood.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be (same tense) + V3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SPEAKING – SHOULD OR SHOULDN'T?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2. Humans and the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Tick: 1. leaving appliances on  2. recycling used items  3. using plastic bags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4. buying organic food  5. dropping litter  6. planting trees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Match reasons a–f with the activities.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Which actions harm the environment?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SPEAKING – SHOULD OR SHOULDN'T?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2. Humans and the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Should: 2, 4, 6 · Shouldn't: 1, 3, 5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a-5, b-1, c-3, d-4, e-2, f-6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We should…, because… / We shouldn't…, because…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CLIL – CARBON FOOTPRINT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2. Humans and the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Read the text (SB p.26) and complete the table: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Definition: the total amount of (1) ___ produced by human activities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Effects: increasing (2) ___ and air pollution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Ways to reduce it: taking shorter (3) ___, using (4) ___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Scan the text for each gap.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CLIL – CARBON FOOTPRINT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2. Humans and the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(1) CO₂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(2) global temperatures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(3) showers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(4) public transport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Make daily activities eco-friendly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E40AF"/>
                </a:solidFill>
                <a:latin typeface="Arial"/>
              </a:rPr>
              <a:t>BÀI TẬP CỦA BẠN · YOUR TASK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0" y="1463040"/>
            <a:ext cx="41148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R_anh_cc_unit2_k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691640"/>
            <a:ext cx="36576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6692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trangtu66.github.io/Taode_thi_online/anh_cc_unit2_k10.html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Scan with your phone · 6 multiple-choice + 1 True/False question · Results go to your teacher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2. Humans and the environment</dc:title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