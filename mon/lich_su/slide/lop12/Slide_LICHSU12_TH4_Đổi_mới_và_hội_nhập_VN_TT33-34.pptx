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TH4. Đổi mới và hội nhập VN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T33-34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Tổng kết hành trình Đổi mới–Hội nhập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Liên hệ địa phương địa phương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TH4. Đổi mới và hội nhập VN</a:t>
            </a:r>
          </a:p>
        </p:txBody>
      </p:sp>
      <p:pic>
        <p:nvPicPr>
          <p:cNvPr id="5" name="Picture 4" descr="_qr_su_cc_th4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111532" y="2244872"/>
            <a:ext cx="1397325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52647" y="2069271"/>
            <a:ext cx="1258884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1986 Đổi mới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240310" y="2670962"/>
            <a:ext cx="1268547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3869" y="2495362"/>
            <a:ext cx="1516440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1995 ASEAN + Mỹ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939828" y="2670962"/>
            <a:ext cx="1569029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24351" y="2921452"/>
            <a:ext cx="91547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2007 WTO</a:t>
            </a:r>
          </a:p>
        </p:txBody>
      </p:sp>
      <p:sp>
        <p:nvSpPr>
          <p:cNvPr id="13" name="Oval 12"/>
          <p:cNvSpPr/>
          <p:nvPr/>
        </p:nvSpPr>
        <p:spPr>
          <a:xfrm>
            <a:off x="2562423" y="2427575"/>
            <a:ext cx="1892868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Mốc hội nhập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244872"/>
            <a:ext cx="1483177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94391" y="2069271"/>
            <a:ext cx="1087180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CPTPP 2019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483177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94391" y="2495362"/>
            <a:ext cx="1087180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EVFTA 2020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311473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22687" y="2921452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HĐBA 2020-2021</a:t>
            </a:r>
          </a:p>
        </p:txBody>
      </p:sp>
      <p:sp>
        <p:nvSpPr>
          <p:cNvPr id="21" name="Oval 20"/>
          <p:cNvSpPr/>
          <p:nvPr/>
        </p:nvSpPr>
        <p:spPr>
          <a:xfrm>
            <a:off x="5334121" y="2259078"/>
            <a:ext cx="1754184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Cột mốc gần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đây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412014" y="4711796"/>
            <a:ext cx="1096843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52165" y="4435485"/>
            <a:ext cx="1859848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địa phương: cà phê,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lúa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326162" y="5238597"/>
            <a:ext cx="1182695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8017" y="5062997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KKT Nhơn Hội phát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triển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369088" y="5238597"/>
            <a:ext cx="1139769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5091" y="5690509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Đời sống cải thiện</a:t>
            </a:r>
          </a:p>
        </p:txBody>
      </p:sp>
      <p:sp>
        <p:nvSpPr>
          <p:cNvPr id="29" name="Oval 28"/>
          <p:cNvSpPr/>
          <p:nvPr/>
        </p:nvSpPr>
        <p:spPr>
          <a:xfrm>
            <a:off x="2493081" y="4826713"/>
            <a:ext cx="2031552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Thành tựu địa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phương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711796"/>
            <a:ext cx="1397325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608539" y="4536196"/>
            <a:ext cx="1258884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Thu nhập cao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053917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265131" y="4962286"/>
            <a:ext cx="1945700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Công nghiệp hóa hoàn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thành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182695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93909" y="5589798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Bền vững–bao trùm</a:t>
            </a:r>
          </a:p>
        </p:txBody>
      </p:sp>
      <p:sp>
        <p:nvSpPr>
          <p:cNvPr id="37" name="Oval 36"/>
          <p:cNvSpPr/>
          <p:nvPr/>
        </p:nvSpPr>
        <p:spPr>
          <a:xfrm>
            <a:off x="5195437" y="4995210"/>
            <a:ext cx="2031552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Mục tiêu 2045</a:t>
            </a:r>
          </a:p>
        </p:txBody>
      </p:sp>
      <p:sp>
        <p:nvSpPr>
          <p:cNvPr id="38" name="Oval 37"/>
          <p:cNvSpPr/>
          <p:nvPr/>
        </p:nvSpPr>
        <p:spPr>
          <a:xfrm>
            <a:off x="3802654" y="3287245"/>
            <a:ext cx="2114763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TH4. ĐỔI MỚI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VÀ HỘI NHẬP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Hành trình hội nhập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1986→ĐM; 1989→XK gạo; 1995→ASEAN+MỸ
1998→APEC; 2007→WTO; 2019→CPTPP; 2020→EVFTA
2045: mục tiêu nước phát triển thu nhập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Hành trình hội nhập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1986→ĐM; 1989→XK gạo; 1995→ASEAN+MỸ
1998→APEC; 2007→WTO; 2019→CPTPP; 2020→EVFTA
2045: mục tiêu nước phát triển thu nhập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Ngoại giao cây tre: linh hoạt, kiên định lợi ích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Liên hệ địa phương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địa phương–Bình Định: cà phê, lúa, kinh tế hộ
Hạ tầng: điện, đường, trường, trạm về vùng sâu
Thu hút FDI: KKT Nhơn Hội, cảng Quy Nhơn
Thách thức: chuyển đổi số, giảm nghèo bền vững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Liên hệ địa phương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địa phương–Bình Định: cà phê, lúa, kinh tế hộ
Hạ tầng: điện, đường, trường, trạm về vùng sâu
Thu hút FDI: KKT Nhơn Hội, cảng Quy Nhơn
Thách thức: chuyển đổi số, giảm nghèo bền vững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địa phương: phát triển gắn bảo tồn văn hóa Ba 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TH4. Đổi mới và hội nhập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https://trangtu66.github.io/Taode_thi_online/su_cc_th4_k12.html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TH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