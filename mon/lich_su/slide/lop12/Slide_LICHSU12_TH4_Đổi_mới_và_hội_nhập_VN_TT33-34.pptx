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TH4. Đổi mới và hội nhập VN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T33-34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Tổng kết hành trình Đổi mới–Hội nhập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 địa phương Vĩnh Thạnh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SO DO TU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LỊCH SỬ 12  |  TH4. Đổi mới và hội nhập VN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8476" y="804672"/>
            <a:ext cx="4572000" cy="640080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TH4. Đổi mới và hội nhập VN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412748.0" y="1124712.0"/>
            <a:ext cx="4681728.0" cy="864108.0"/>
          </a:xfrm>
          <a:prstGeom prst="line">
            <a:avLst/>
          </a:prstGeom>
          <a:ln w="2286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9728" y="1691640"/>
            <a:ext cx="2606040" cy="594360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Mốc hội nhập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412748.0" y="1568196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399032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1986 Đổi mới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12748.0" y="1988820.0"/>
            <a:ext cx="2839212.0" cy="0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819656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1995 ASEAN + Mỹ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12748.0" y="1988820.0"/>
            <a:ext cx="2839212.0" cy="420624.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2240280"/>
            <a:ext cx="2743200" cy="33832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C1D95"/>
                </a:solidFill>
                <a:latin typeface="Calibri"/>
              </a:rPr>
              <a:t>2007 WTO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1412748.0" y="1124712.0"/>
            <a:ext cx="4681728.0" cy="3058668.0"/>
          </a:xfrm>
          <a:prstGeom prst="line">
            <a:avLst/>
          </a:prstGeom>
          <a:ln w="2286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9728" y="3886200"/>
            <a:ext cx="2606040" cy="594360"/>
          </a:xfrm>
          <a:prstGeom prst="ellipse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Cột mốc gần đây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12748.0" y="3762756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3593592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CPTPP 2019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2748.0" y="4183380.0"/>
            <a:ext cx="2839212.0" cy="0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80360" y="4014216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EVFTA 2020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12748.0" y="4183380.0"/>
            <a:ext cx="2839212.0" cy="420624.0"/>
          </a:xfrm>
          <a:prstGeom prst="line">
            <a:avLst/>
          </a:prstGeom>
          <a:ln w="12700">
            <a:solidFill>
              <a:srgbClr val="065F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880360" y="4434840"/>
            <a:ext cx="2743200" cy="338328"/>
          </a:xfrm>
          <a:prstGeom prst="roundRect">
            <a:avLst/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022C22"/>
                </a:solidFill>
                <a:latin typeface="Calibri"/>
              </a:rPr>
              <a:t>HĐBA 2020-2021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4476.0" y="1124712.0"/>
            <a:ext cx="4681728.0" cy="864108.0"/>
          </a:xfrm>
          <a:prstGeom prst="line">
            <a:avLst/>
          </a:prstGeom>
          <a:ln w="2286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473184" y="1691640"/>
            <a:ext cx="2606040" cy="594360"/>
          </a:xfrm>
          <a:prstGeom prst="ellipse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Thành tựu địa phương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7936992.0" y="1568196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565392" y="1399032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Vĩnh Thạnh: cà phê, lúa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936992.0" y="1988820.0"/>
            <a:ext cx="2839212.0" cy="0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65392" y="1819656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KKT Nhơn Hội phát triển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936992.0" y="1988820.0"/>
            <a:ext cx="2839212.0" cy="420624.0"/>
          </a:xfrm>
          <a:prstGeom prst="line">
            <a:avLst/>
          </a:prstGeom>
          <a:ln w="1270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565392" y="2240280"/>
            <a:ext cx="2743200" cy="338328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0A0A"/>
                </a:solidFill>
                <a:latin typeface="Calibri"/>
              </a:rPr>
              <a:t>Đời sống cải thiện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4476.0" y="1124712.0"/>
            <a:ext cx="4681728.0" cy="3058668.0"/>
          </a:xfrm>
          <a:prstGeom prst="line">
            <a:avLst/>
          </a:prstGeom>
          <a:ln w="2286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9473184" y="3886200"/>
            <a:ext cx="2606040" cy="594360"/>
          </a:xfrm>
          <a:prstGeom prst="ellipse">
            <a:avLst/>
          </a:prstGeom>
          <a:solidFill>
            <a:srgbClr val="B45309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Mục tiêu 2045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36992.0" y="3762756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65392" y="3593592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Thu nhập cao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36992.0" y="4183380.0"/>
            <a:ext cx="2839212.0" cy="0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65392" y="4014216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Công nghiệp hóa hoàn thành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36992.0" y="4183380.0"/>
            <a:ext cx="2839212.0" cy="420624.0"/>
          </a:xfrm>
          <a:prstGeom prst="line">
            <a:avLst/>
          </a:prstGeom>
          <a:ln w="127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565392" y="4434840"/>
            <a:ext cx="2743200" cy="33832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451A03"/>
                </a:solidFill>
                <a:latin typeface="Calibri"/>
              </a:rPr>
              <a:t>Bền vững–bao trùm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Hành trình hội nhập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1986→ĐM; 1989→XK gạo; 1995→ASEAN+MỸ
1998→APEC; 2007→WTO; 2019→CPTPP; 2020→EVFTA
2045: mục tiêu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Hành trình hội nhập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1986→ĐM; 1989→XK gạo; 1995→ASEAN+MỸ
1998→APEC; 2007→WTO; 2019→CPTPP; 2020→EVFTA
2045: mục tiêu nước phát triển thu nhập cao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Ngoại giao cây tre: linh hoạt, kiên định lợi ích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Liên hệ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Vĩnh Thạnh–Bình Định: cà phê, lúa, kinh tế hộ
Hạ tầng: điện, đường, trường, trạm về vùng sâu
Thu hút FDI: KKT Nhơn Hội, cảng Quy Nhơn
Thách thức: chuyển đổi số, giảm nghèo bền vững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Liên hệ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Vĩnh Thạnh–Bình Định: cà phê, lúa, kinh tế hộ
Hạ tầng: điện, đường, trường, trạm về vùng sâu
Thu hút FDI: KKT Nhơn Hội, cảng Quy Nhơn
Thách thức: chuyển đổi số, giảm nghèo bền vững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Vĩnh Thạnh: phát triển gắn bảo tồn văn hóa Ba 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Lịch sử 12 – TH4. Đổi mới và hội nhập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https://trangtu66.github.io/Taode_thi_online/su_cc_th4_k12.html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SU12_TH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