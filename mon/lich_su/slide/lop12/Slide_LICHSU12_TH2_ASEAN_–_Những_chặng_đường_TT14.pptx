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TH2. ASEAN – Những chặng đường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Lập niên biểu ASEAN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bản đồ ĐNA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vai trò Việt Nam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SƠ ĐỒ TƯ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LỊCH SỬ 12  |  TH2. ASEAN – Những chặng đường</a:t>
            </a:r>
          </a:p>
        </p:txBody>
      </p:sp>
      <p:pic>
        <p:nvPicPr>
          <p:cNvPr id="5" name="Picture 4" descr="_qr_su_cc_th2_k12.ht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352" y="1463040"/>
            <a:ext cx="2286000" cy="22860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 flipH="1" flipV="1">
            <a:off x="3508857" y="2670962"/>
            <a:ext cx="13511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2326162" y="2244872"/>
            <a:ext cx="1182695" cy="426090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38017" y="1968560"/>
            <a:ext cx="1688144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5 thành viên sáng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lập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283236" y="2670962"/>
            <a:ext cx="1225621" cy="100711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0943" y="2596073"/>
            <a:ext cx="1602292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Hợp tác lỏng lẻo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111532" y="2670962"/>
            <a:ext cx="1397325" cy="526801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2647" y="3022163"/>
            <a:ext cx="1258884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Bối cảnh CTL</a:t>
            </a:r>
          </a:p>
        </p:txBody>
      </p:sp>
      <p:sp>
        <p:nvSpPr>
          <p:cNvPr id="13" name="Oval 12"/>
          <p:cNvSpPr/>
          <p:nvPr/>
        </p:nvSpPr>
        <p:spPr>
          <a:xfrm>
            <a:off x="2631765" y="2259078"/>
            <a:ext cx="1754184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Giai đoạn 1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(1967-1975)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4860036" y="2670962"/>
            <a:ext cx="1351178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6211214" y="2244872"/>
            <a:ext cx="1397325" cy="42609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608539" y="2069271"/>
            <a:ext cx="1258884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TAC + ZOPFAN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11214" y="2670962"/>
            <a:ext cx="1268547" cy="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79761" y="2495362"/>
            <a:ext cx="1516440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Hội nghị Bali I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11214" y="2670962"/>
            <a:ext cx="1182695" cy="42609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393909" y="2921452"/>
            <a:ext cx="1688144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ASEAN mở rộng dần</a:t>
            </a:r>
          </a:p>
        </p:txBody>
      </p:sp>
      <p:sp>
        <p:nvSpPr>
          <p:cNvPr id="21" name="Oval 20"/>
          <p:cNvSpPr/>
          <p:nvPr/>
        </p:nvSpPr>
        <p:spPr>
          <a:xfrm>
            <a:off x="5334121" y="2259078"/>
            <a:ext cx="1754184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Giai đoạn 2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(1976-1991)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3508857" y="3954780"/>
            <a:ext cx="13511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1982754" y="4711796"/>
            <a:ext cx="1526103" cy="526801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81425" y="4536196"/>
            <a:ext cx="1001328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AFTA, ARF</a:t>
            </a:r>
          </a:p>
        </p:txBody>
      </p:sp>
      <p:cxnSp>
        <p:nvCxnSpPr>
          <p:cNvPr id="25" name="Connector 24"/>
          <p:cNvCxnSpPr/>
          <p:nvPr/>
        </p:nvCxnSpPr>
        <p:spPr>
          <a:xfrm flipH="1" flipV="1">
            <a:off x="1939828" y="5137886"/>
            <a:ext cx="1569029" cy="100711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024351" y="4962286"/>
            <a:ext cx="915476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ASEAN-10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2369088" y="5238597"/>
            <a:ext cx="1139769" cy="42609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95091" y="5388376"/>
            <a:ext cx="1773996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Hiến chương + Cộng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đồng</a:t>
            </a:r>
          </a:p>
        </p:txBody>
      </p:sp>
      <p:sp>
        <p:nvSpPr>
          <p:cNvPr id="29" name="Oval 28"/>
          <p:cNvSpPr/>
          <p:nvPr/>
        </p:nvSpPr>
        <p:spPr>
          <a:xfrm>
            <a:off x="2631765" y="4826713"/>
            <a:ext cx="1754184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Giai đoạn 3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(1992-2015)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60036" y="3954780"/>
            <a:ext cx="1351178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211214" y="4711796"/>
            <a:ext cx="1397325" cy="526801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608539" y="4536196"/>
            <a:ext cx="1258884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ASEAN+3, EAS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6211214" y="5137886"/>
            <a:ext cx="1354399" cy="100711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565613" y="4962286"/>
            <a:ext cx="1344736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Tầm nhìn 2025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211214" y="5238597"/>
            <a:ext cx="1354399" cy="426090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565613" y="5388376"/>
            <a:ext cx="1344736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Củng cố 3 trụ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cột</a:t>
            </a:r>
          </a:p>
        </p:txBody>
      </p:sp>
      <p:sp>
        <p:nvSpPr>
          <p:cNvPr id="37" name="Oval 36"/>
          <p:cNvSpPr/>
          <p:nvPr/>
        </p:nvSpPr>
        <p:spPr>
          <a:xfrm>
            <a:off x="4848727" y="4995210"/>
            <a:ext cx="2724972" cy="486773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Hiện tại–Tương lai</a:t>
            </a:r>
          </a:p>
        </p:txBody>
      </p:sp>
      <p:sp>
        <p:nvSpPr>
          <p:cNvPr id="38" name="Oval 37"/>
          <p:cNvSpPr/>
          <p:nvPr/>
        </p:nvSpPr>
        <p:spPr>
          <a:xfrm>
            <a:off x="3409716" y="3484793"/>
            <a:ext cx="2900639" cy="939972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TH2. ASEAN –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NHỮNG CHẶNG ĐƯỜNG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Niên biểu ASEAN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1967→5 thành viên; 1976→TAC; 1984→Brunei; 1992→AFTA
1995→VN; 1999→Campuchia; 2007→Hiến chương; 2015→CĐ ASEAN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Niên biểu ASEAN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1967→5 thành viên; 1976→TAC; 1984→Brunei; 1992→AFTA
1995→VN; 1999→Campuchia; 2007→Hiến chương; 2015→CĐ ASEAN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32 năm từ 5 → 10 thành viên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Thực hành phân tích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1. Bản đồ ĐNA 10 thành viên
2. Phân tích 3 giai đoạn ASEAN
3. Quan hệ VN–ASEAN
4. Triển vọng đến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Thực hành phân tích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1. Bản đồ ĐNA 10 thành viên
2. Phân tích 3 giai đoạn ASEAN
3. Quan hệ VN–ASEAN
4. Triển vọng đến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ASEAN+3 là cơ chế liên khu vực quan trọng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Lịch sử 12 – TH2. ASEAN – Những chặng đường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https://trangtu66.github.io/Taode_thi_online/su_cc_th2_k12.html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SU12_TH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Trường THPT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