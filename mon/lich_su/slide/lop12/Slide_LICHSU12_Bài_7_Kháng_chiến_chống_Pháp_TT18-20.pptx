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7. Kháng chiến chống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đường lối kháng chiến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giai đoạn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 ĐBP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7. Kháng chiến chống Pháp</a:t>
            </a:r>
          </a:p>
        </p:txBody>
      </p:sp>
      <p:pic>
        <p:nvPicPr>
          <p:cNvPr id="5" name="Picture 4" descr="_qr_su_cc_bai7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583718" y="2244872"/>
            <a:ext cx="925139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0461" y="2069271"/>
            <a:ext cx="220325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19/12/1946: lời kêu gọi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69088" y="2670962"/>
            <a:ext cx="1139769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5091" y="2495362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lối 4 'toàn'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69088" y="2670962"/>
            <a:ext cx="1139769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5091" y="2921452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Chiến khu Việt Bắc</a:t>
            </a:r>
          </a:p>
        </p:txBody>
      </p:sp>
      <p:sp>
        <p:nvSpPr>
          <p:cNvPr id="13" name="Oval 12"/>
          <p:cNvSpPr/>
          <p:nvPr/>
        </p:nvSpPr>
        <p:spPr>
          <a:xfrm>
            <a:off x="2562423" y="2259078"/>
            <a:ext cx="1892868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Toàn quốc KC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1946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043450"/>
            <a:ext cx="1139769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50983" y="1767138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Việt Bắc 1947: giữ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vững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05391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65131" y="2394651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Chiến dịch Biên giới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1950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139769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50983" y="3022163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Thế chủ động chiến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lược</a:t>
            </a:r>
          </a:p>
        </p:txBody>
      </p:sp>
      <p:sp>
        <p:nvSpPr>
          <p:cNvPr id="21" name="Oval 20"/>
          <p:cNvSpPr/>
          <p:nvPr/>
        </p:nvSpPr>
        <p:spPr>
          <a:xfrm>
            <a:off x="4779385" y="2427575"/>
            <a:ext cx="2863656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Giai đoạn 1947-1950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40792" y="4711796"/>
            <a:ext cx="968065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3387" y="4536196"/>
            <a:ext cx="211740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56 ngày đêm (13/3–7/5)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412014" y="5137886"/>
            <a:ext cx="1096843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2165" y="4962286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'Lừng lẫy năm châu'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497866" y="5238597"/>
            <a:ext cx="1010991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66313" y="5388376"/>
            <a:ext cx="2031552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Tướng De Castries đầu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hàng</a:t>
            </a:r>
          </a:p>
        </p:txBody>
      </p:sp>
      <p:sp>
        <p:nvSpPr>
          <p:cNvPr id="29" name="Oval 28"/>
          <p:cNvSpPr/>
          <p:nvPr/>
        </p:nvSpPr>
        <p:spPr>
          <a:xfrm>
            <a:off x="2493081" y="4826713"/>
            <a:ext cx="2031552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Điện Biên Phủ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1954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611085"/>
            <a:ext cx="1225621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36835" y="4435485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21/7/1954 ký kết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211214" y="5137886"/>
            <a:ext cx="1139769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50983" y="4861575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Pháp công nhận độc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lập ĐD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268547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79761" y="5489087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VN chia đôi tạm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thời vĩ 17</a:t>
            </a:r>
          </a:p>
        </p:txBody>
      </p:sp>
      <p:sp>
        <p:nvSpPr>
          <p:cNvPr id="37" name="Oval 36"/>
          <p:cNvSpPr/>
          <p:nvPr/>
        </p:nvSpPr>
        <p:spPr>
          <a:xfrm>
            <a:off x="4987411" y="4995210"/>
            <a:ext cx="2447604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Hiệp định Genève</a:t>
            </a:r>
          </a:p>
        </p:txBody>
      </p:sp>
      <p:sp>
        <p:nvSpPr>
          <p:cNvPr id="38" name="Oval 37"/>
          <p:cNvSpPr/>
          <p:nvPr/>
        </p:nvSpPr>
        <p:spPr>
          <a:xfrm>
            <a:off x="3488303" y="3484793"/>
            <a:ext cx="2743464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7. KHÁNG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CHIẾN CHỐNG PHÁP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Đường lối kháng chiến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Toàn quốc KC 19/12/1946
Đường lối: toàn dân, toàn diện, trường kỳ, tự lực cánh sinh
Chiến thắng Việt Bắc 1947 → phá đánh nhanh thắng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Đường lối kháng chiến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Toàn quốc KC 19/12/1946
Đường lối: toàn dân, toàn diện, trường kỳ, tự lực cánh sinh
Chiến thắng Việt Bắc 1947 → phá đánh nhanh thắng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Căn cứ địa Việt Bắc là 'đầu não' kháng chiến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Chiến thắng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Chiến dịch Biên giới 1950
Điện Biên Phủ (13/3–7/5/1954): 'lừng lẫy năm châu'
Hiệp định Genève 21/7/1954: VN chia đôi tạm thời vĩ tuyến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Chiến thắng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Chiến dịch Biên giới 1950
Điện Biên Phủ (13/3–7/5/1954): 'lừng lẫy năm châu'
Hiệp định Genève 21/7/1954: VN chia đôi tạm thời vĩ tuyến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chiến tranh nhân dân + quân sự + ngoại giao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7. Kháng chiến chống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