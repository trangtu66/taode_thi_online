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3. Trật tự sau Chiến tranh lạnh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T5-6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Hà Thị Lam Huyền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nguyên nhân kết thúc CTL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đặc điểm trật tự thế giới mới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Liên hệ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SƠ ĐỒ TƯ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Bài 3. Trật tự sau Chiến tranh lạnh</a:t>
            </a:r>
          </a:p>
        </p:txBody>
      </p:sp>
      <p:pic>
        <p:nvPicPr>
          <p:cNvPr id="5" name="Picture 4" descr="_qr_su_cc_bai3_k12.htm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1463040"/>
            <a:ext cx="2286000" cy="22860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 flipH="1" flipV="1">
            <a:off x="3508857" y="2670962"/>
            <a:ext cx="13511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497866" y="2043450"/>
            <a:ext cx="1010991" cy="627512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66313" y="1867849"/>
            <a:ext cx="2031552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Berlin sụp đổ 11/1989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497866" y="2570251"/>
            <a:ext cx="1010991" cy="10071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13" y="2293940"/>
            <a:ext cx="2031552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Malta: Bush–Gorbachev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12/1989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197384" y="2670962"/>
            <a:ext cx="1311473" cy="526801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66795" y="2921452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Liên Xô tan rã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25/12/1991</a:t>
            </a:r>
          </a:p>
        </p:txBody>
      </p:sp>
      <p:sp>
        <p:nvSpPr>
          <p:cNvPr id="13" name="Oval 12"/>
          <p:cNvSpPr/>
          <p:nvPr/>
        </p:nvSpPr>
        <p:spPr>
          <a:xfrm>
            <a:off x="2562423" y="2427575"/>
            <a:ext cx="1892868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Kết thúc CTL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4860036" y="2670962"/>
            <a:ext cx="1351178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211214" y="2043450"/>
            <a:ext cx="126854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79761" y="1767138"/>
            <a:ext cx="151644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Đa cực hóa quan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hệ quốc tế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11214" y="2670962"/>
            <a:ext cx="1225621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36835" y="2394651"/>
            <a:ext cx="1602292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Mỹ là siêu cường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duy nhất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1214" y="2670962"/>
            <a:ext cx="1053917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265131" y="3022163"/>
            <a:ext cx="1945700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Hòa bình–hợp tác chủ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đạo</a:t>
            </a:r>
          </a:p>
        </p:txBody>
      </p:sp>
      <p:sp>
        <p:nvSpPr>
          <p:cNvPr id="21" name="Oval 20"/>
          <p:cNvSpPr/>
          <p:nvPr/>
        </p:nvSpPr>
        <p:spPr>
          <a:xfrm>
            <a:off x="5334121" y="2427575"/>
            <a:ext cx="1754184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Trật tự mới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508857" y="3954780"/>
            <a:ext cx="13511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2154458" y="4711796"/>
            <a:ext cx="1354399" cy="52680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9721" y="4435485"/>
            <a:ext cx="1344736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WTO 1995 – tự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do thương mại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2197384" y="5238597"/>
            <a:ext cx="1311473" cy="100711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66795" y="5062997"/>
            <a:ext cx="1430588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FDI, di cư lao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động tăng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240310" y="5238597"/>
            <a:ext cx="1268547" cy="627512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23869" y="5690509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Cách mạng KH–KT</a:t>
            </a:r>
          </a:p>
        </p:txBody>
      </p:sp>
      <p:sp>
        <p:nvSpPr>
          <p:cNvPr id="29" name="Oval 28"/>
          <p:cNvSpPr/>
          <p:nvPr/>
        </p:nvSpPr>
        <p:spPr>
          <a:xfrm>
            <a:off x="2562423" y="4995210"/>
            <a:ext cx="1892868" cy="486773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Toàn cầu hóa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60036" y="3954780"/>
            <a:ext cx="1351178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211214" y="4711796"/>
            <a:ext cx="1225621" cy="52680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436835" y="4536196"/>
            <a:ext cx="1602292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Khủng bố quốc tế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6211214" y="5137886"/>
            <a:ext cx="1268547" cy="100711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79761" y="4962286"/>
            <a:ext cx="1516440" cy="351200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Xung đột cục bộ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211214" y="5238597"/>
            <a:ext cx="1182695" cy="426090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93909" y="5388376"/>
            <a:ext cx="1688144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Biến đổi khí hậu,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dịch bệnh</a:t>
            </a:r>
          </a:p>
        </p:txBody>
      </p:sp>
      <p:sp>
        <p:nvSpPr>
          <p:cNvPr id="37" name="Oval 36"/>
          <p:cNvSpPr/>
          <p:nvPr/>
        </p:nvSpPr>
        <p:spPr>
          <a:xfrm>
            <a:off x="5126095" y="4995210"/>
            <a:ext cx="2170236" cy="486773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Thách thức mới</a:t>
            </a:r>
          </a:p>
        </p:txBody>
      </p:sp>
      <p:sp>
        <p:nvSpPr>
          <p:cNvPr id="38" name="Oval 37"/>
          <p:cNvSpPr/>
          <p:nvPr/>
        </p:nvSpPr>
        <p:spPr>
          <a:xfrm>
            <a:off x="3802654" y="3287245"/>
            <a:ext cx="2114763" cy="1335069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BÀI 3. TRẬT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TỰ SAU CHIẾN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TRANH LẠNH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Kết thúc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Bức tường Berlin sụp đổ (11/1989)
• Hội nghị Malta (12/1989)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Kết thúc CTL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Bức tường Berlin sụp đổ (11/1989)
• Hội nghị Malta (12/1989)
• Liên Xô tan rã (25/12/1991)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Trật tự hai cực Yalta sụp đổ hoàn toàn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• Xu thế: đa cực hóa
• Toàn cầu hóa mở rộng: WTO (1995)
• Thách thức: khủng bố, xung đột cục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Trật tự thế giới mới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• Xu thế: đa cực hóa
• Toàn cầu hóa mở rộng: WTO (1995)
• Thách thức: khủng bố, xung đột cục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Hòa bình–hợp tác–phát triển là xu thế chủ đạo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Bài 3. Trật tự sau Chiến tranh lạnh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https://trangtu66.github.io/Taode_thi_online/su_cc_bai3_k12.html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Ba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