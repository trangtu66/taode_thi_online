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403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TRƯỜNG THPT VĨNH THẠNH  |  LỊCH SỬ 12  |  NĂM HỌC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40AF"/>
                </a:solidFill>
                <a:latin typeface="Arial"/>
              </a:rPr>
              <a:t>Bài 3. Trật tự sau Chiến tranh lạnh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Thời gian thực hiện: Tiết T5-6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Giáo viên: Hà Thị Lam Huyền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Trường THPT Vĩnh Thạnh – Bình Định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86868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7840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Phân tích nguyên nhân kết thúc CTL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Nhận xét đặc điểm trật tự thế giới mới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19456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219456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671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Liên hệ Việt Nam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SO DO TU DUY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4008"/>
            <a:ext cx="7342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LỊCH SỬ 12  |  Bài 3. Trật tự sau Chiến tranh lạnh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08476" y="804672"/>
            <a:ext cx="4572000" cy="640080"/>
          </a:xfrm>
          <a:prstGeom prst="roundRect">
            <a:avLst/>
          </a:prstGeom>
          <a:solidFill>
            <a:srgbClr val="1E40AF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Bài 3. Trật tự sau Chiến tranh lạnh</a:t>
            </a:r>
          </a:p>
        </p:txBody>
      </p:sp>
      <p:cxnSp>
        <p:nvCxnSpPr>
          <p:cNvPr id="6" name="Connector 5"/>
          <p:cNvCxnSpPr/>
          <p:nvPr/>
        </p:nvCxnSpPr>
        <p:spPr>
          <a:xfrm flipH="1">
            <a:off x="1412748.0" y="1124712.0"/>
            <a:ext cx="4681728.0" cy="864108.0"/>
          </a:xfrm>
          <a:prstGeom prst="line">
            <a:avLst/>
          </a:prstGeom>
          <a:ln w="2286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9728" y="1691640"/>
            <a:ext cx="2606040" cy="59436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Kết thúc CTL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1412748.0" y="1568196.0"/>
            <a:ext cx="2839212.0" cy="420624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880360" y="1399032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Berlin sụp đổ 11/1989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412748.0" y="1988820.0"/>
            <a:ext cx="2839212.0" cy="0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880360" y="1819656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Malta: Bush–Gorbachev 12/1989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412748.0" y="1988820.0"/>
            <a:ext cx="2839212.0" cy="420624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80360" y="2240280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Liên Xô tan rã 25/12/1991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1412748.0" y="1124712.0"/>
            <a:ext cx="4681728.0" cy="3058668.0"/>
          </a:xfrm>
          <a:prstGeom prst="line">
            <a:avLst/>
          </a:prstGeom>
          <a:ln w="2286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09728" y="3886200"/>
            <a:ext cx="2606040" cy="594360"/>
          </a:xfrm>
          <a:prstGeom prst="ellipse">
            <a:avLst/>
          </a:prstGeom>
          <a:solidFill>
            <a:srgbClr val="065F46"/>
          </a:solidFill>
          <a:ln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Trật tự mới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1412748.0" y="3762756.0"/>
            <a:ext cx="2839212.0" cy="420624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880360" y="3593592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Đa cực hóa quan hệ quốc tế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412748.0" y="4183380.0"/>
            <a:ext cx="2839212.0" cy="0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880360" y="4014216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Mỹ là siêu cường duy nhất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412748.0" y="4183380.0"/>
            <a:ext cx="2839212.0" cy="420624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2880360" y="4434840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Hòa bình–hợp tác chủ đạo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94476.0" y="1124712.0"/>
            <a:ext cx="4681728.0" cy="864108.0"/>
          </a:xfrm>
          <a:prstGeom prst="line">
            <a:avLst/>
          </a:prstGeom>
          <a:ln w="2286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9473184" y="1691640"/>
            <a:ext cx="2606040" cy="594360"/>
          </a:xfrm>
          <a:prstGeom prst="ellipse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Toàn cầu hóa</a:t>
            </a:r>
          </a:p>
        </p:txBody>
      </p:sp>
      <p:cxnSp>
        <p:nvCxnSpPr>
          <p:cNvPr id="24" name="Connector 23"/>
          <p:cNvCxnSpPr/>
          <p:nvPr/>
        </p:nvCxnSpPr>
        <p:spPr>
          <a:xfrm flipH="1" flipV="1">
            <a:off x="7936992.0" y="1568196.0"/>
            <a:ext cx="2839212.0" cy="420624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565392" y="1399032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WTO 1995 – tự do thương mại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7936992.0" y="1988820.0"/>
            <a:ext cx="2839212.0" cy="0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565392" y="1819656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FDI, di cư lao động tăng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7936992.0" y="1988820.0"/>
            <a:ext cx="2839212.0" cy="420624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6565392" y="2240280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Cách mạng KH–KT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4476.0" y="1124712.0"/>
            <a:ext cx="4681728.0" cy="3058668.0"/>
          </a:xfrm>
          <a:prstGeom prst="line">
            <a:avLst/>
          </a:prstGeom>
          <a:ln w="2286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9473184" y="3886200"/>
            <a:ext cx="2606040" cy="594360"/>
          </a:xfrm>
          <a:prstGeom prst="ellipse">
            <a:avLst/>
          </a:prstGeom>
          <a:solidFill>
            <a:srgbClr val="B45309"/>
          </a:solidFill>
          <a:ln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Thách thức mới</a:t>
            </a:r>
          </a:p>
        </p:txBody>
      </p:sp>
      <p:cxnSp>
        <p:nvCxnSpPr>
          <p:cNvPr id="32" name="Connector 31"/>
          <p:cNvCxnSpPr/>
          <p:nvPr/>
        </p:nvCxnSpPr>
        <p:spPr>
          <a:xfrm flipH="1" flipV="1">
            <a:off x="7936992.0" y="3762756.0"/>
            <a:ext cx="2839212.0" cy="420624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565392" y="3593592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Khủng bố quốc tế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7936992.0" y="4183380.0"/>
            <a:ext cx="2839212.0" cy="0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565392" y="4014216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Xung đột cục bộ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7936992.0" y="4183380.0"/>
            <a:ext cx="2839212.0" cy="420624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6565392" y="4434840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Biến đổi khí hậu, dịch bệnh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Kết thúc CTL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• Bức tường Berlin sụp đổ (11/1989)
• Hội nghị Malta (12/1989)
• Liên Xô tan rã (25/12/1991)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Kết thúc CTL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• Bức tường Berlin sụp đổ (11/1989)
• Hội nghị Malta (12/1989)
• Liên Xô tan rã (25/12/1991)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Trật tự hai cực Yalta sụp đổ hoàn toàn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Trật tự thế giới mới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• Xu thế: đa cực hóa
• Toàn cầu hóa mở rộng: WTO (1995)
• Thách thức: khủng bố, xung đột cục bộ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Trật tự thế giới mới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• Xu thế: đa cực hóa
• Toàn cầu hóa mở rộng: WTO (1995)
• Thách thức: khủng bố, xung đột cục bộ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Hòa bình–hợp tác–phát triển là xu thế chủ đạo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403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1732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40AF"/>
                </a:solidFill>
                <a:latin typeface="Calibri"/>
              </a:rPr>
              <a:t>Lịch sử 12 – Bài 3. Trật tự sau Chiến tranh lạnh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103120"/>
            <a:ext cx="6858000" cy="68580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176272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5783A"/>
                </a:solidFill>
                <a:latin typeface="Calibri"/>
              </a:rPr>
              <a:t>🔗  https://trangtu66.github.io/Taode_thi_online/su_cc_bai3_k12.html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92608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6 câu trắc nghiệm + 1 câu đúng/sai
Kết quả ngay lập tức – Xếp hạng lớp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8404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E40AF"/>
                </a:solidFill>
                <a:latin typeface="Arial"/>
              </a:rPr>
              <a:t>📱  Quét mã QR để làm bài ngay →</a:t>
            </a:r>
          </a:p>
        </p:txBody>
      </p:sp>
      <p:pic>
        <p:nvPicPr>
          <p:cNvPr id="9" name="Picture 8" descr="QR_CungCo_SU12_Bai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114800" cy="41148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419088"/>
            <a:ext cx="116403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Chúc các em học tốt! – THPT Vĩnh Thạnh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