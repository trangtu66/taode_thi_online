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TH1. Thế giới trong và sau 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So sánh hai giai đoạn lịch sử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số liệu, bản đồ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TH1. Thế giới trong và sau CTL</a:t>
            </a:r>
          </a:p>
        </p:txBody>
      </p:sp>
      <p:pic>
        <p:nvPicPr>
          <p:cNvPr id="5" name="Picture 4" descr="_qr_su_cc_th1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283236" y="2244872"/>
            <a:ext cx="1225621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0943" y="1968560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Thế giới hai cực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Mỹ–LX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69088" y="2670962"/>
            <a:ext cx="1139769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5091" y="2596073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Đối đầu căng thẳng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69088" y="2670962"/>
            <a:ext cx="1139769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91" y="3022163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tranh cục bộ</a:t>
            </a:r>
          </a:p>
        </p:txBody>
      </p:sp>
      <p:sp>
        <p:nvSpPr>
          <p:cNvPr id="13" name="Oval 12"/>
          <p:cNvSpPr/>
          <p:nvPr/>
        </p:nvSpPr>
        <p:spPr>
          <a:xfrm>
            <a:off x="2631765" y="2259078"/>
            <a:ext cx="1754184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Trong CTL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(1947-1991)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48317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94391" y="1968560"/>
            <a:ext cx="108718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 cực hóa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010991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22205" y="2394651"/>
            <a:ext cx="203155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Hòa bình–hợp tác–phát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triển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8269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3909" y="3022163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Toàn cầu hóa mạnh</a:t>
            </a:r>
          </a:p>
        </p:txBody>
      </p:sp>
      <p:sp>
        <p:nvSpPr>
          <p:cNvPr id="21" name="Oval 20"/>
          <p:cNvSpPr/>
          <p:nvPr/>
        </p:nvSpPr>
        <p:spPr>
          <a:xfrm>
            <a:off x="4848727" y="2427575"/>
            <a:ext cx="2724972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Sau CTL (1991–nay)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26162" y="4812507"/>
            <a:ext cx="118269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017" y="4536196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Sức mạnh tổng hợp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quyết định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12014" y="5238597"/>
            <a:ext cx="1096843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2165" y="5163708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Ngoại giao khéo léo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197384" y="5238597"/>
            <a:ext cx="131147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6795" y="5589798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Độc lập tự chủ</a:t>
            </a:r>
          </a:p>
        </p:txBody>
      </p:sp>
      <p:sp>
        <p:nvSpPr>
          <p:cNvPr id="29" name="Oval 28"/>
          <p:cNvSpPr/>
          <p:nvPr/>
        </p:nvSpPr>
        <p:spPr>
          <a:xfrm>
            <a:off x="2562423" y="4826713"/>
            <a:ext cx="1892868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lịch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18269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93909" y="4435485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Đổi mới 1986 đúng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hướng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096843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08057" y="5062997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Hội nhập thành công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225621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6835" y="5489087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Vị thế ngày càng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cao</a:t>
            </a:r>
          </a:p>
        </p:txBody>
      </p:sp>
      <p:sp>
        <p:nvSpPr>
          <p:cNvPr id="37" name="Oval 36"/>
          <p:cNvSpPr/>
          <p:nvPr/>
        </p:nvSpPr>
        <p:spPr>
          <a:xfrm>
            <a:off x="5126095" y="4826713"/>
            <a:ext cx="217023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Việt Nam trong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bối cảnh</a:t>
            </a:r>
          </a:p>
        </p:txBody>
      </p:sp>
      <p:sp>
        <p:nvSpPr>
          <p:cNvPr id="38" name="Oval 37"/>
          <p:cNvSpPr/>
          <p:nvPr/>
        </p:nvSpPr>
        <p:spPr>
          <a:xfrm>
            <a:off x="3488303" y="3287245"/>
            <a:ext cx="2743464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TH1. THẾ GIỚI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TRONG VÀ SAU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CHIẾN TRANH LẠNH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So sánh hai giai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Trong CTL: hai cực, đối đầu, chạy đua vũ trang
Sau CTL: đa cực, hòa bình, toàn cầu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So sánh hai giai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Trong CTL: hai cực, đối đầu, chạy đua vũ trang
Sau CTL: đa cực, hòa bình, toàn cầu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Cách mạng KH–KT là nền tảng của toàn cầu hóa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Số liệu chi tiêu quân sự hai siêu cường
2. Bản đồ phân chia NATO/Warsaw
3. Tác động với Việt Nam
4. Cơ hội–thách thức VN hiện nay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Số liệu chi tiêu quân sự hai siêu cường
2. Bản đồ phân chia NATO/Warsaw
3. Tác động với Việt Nam
4. Cơ hội–thách thức VN hiện nay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Liên hệ: Việt Nam hội nhập quốc tế sau Đổi mới 1986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TH1. Thế giới trong và sau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