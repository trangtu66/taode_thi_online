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1828800"/>
            <a:ext cx="10698480" cy="2743200"/>
          </a:xfrm>
          <a:prstGeom prst="rect">
            <a:avLst/>
          </a:prstGeom>
          <a:noFill/>
        </p:spPr>
        <p:txBody>
          <a:bodyPr wrap="square" anchor="ctr" lIns="45720" rIns="45720">
            <a:spAutoFit/>
          </a:bodyPr>
          <a:lstStyle/>
          <a:p>
            <a:pPr algn="ctr">
              <a:spcAft>
                <a:spcPts val="800"/>
              </a:spcAft>
            </a:pPr>
            <a:r>
              <a:rPr sz="4000" b="1">
                <a:solidFill>
                  <a:srgbClr val="1E293B"/>
                </a:solidFill>
                <a:latin typeface="Calibri"/>
              </a:rPr>
              <a:t>ĐỀ CƯƠNG ÔN TẬP GIỮA HỌC KÌ I</a:t>
            </a:r>
          </a:p>
          <a:p>
            <a:pPr algn="ctr">
              <a:spcAft>
                <a:spcPts val="800"/>
              </a:spcAft>
            </a:pPr>
            <a:r>
              <a:rPr sz="2800">
                <a:solidFill>
                  <a:srgbClr val="1E293B"/>
                </a:solidFill>
                <a:latin typeface="Calibri"/>
              </a:rPr>
              <a:t>Môn Sinh học – Lớp 10 · Năm học 2026 – 2027</a:t>
            </a:r>
          </a:p>
          <a:p>
            <a:pPr algn="ctr">
              <a:spcAft>
                <a:spcPts val="800"/>
              </a:spcAft>
            </a:pPr>
            <a:r>
              <a:rPr sz="2000">
                <a:solidFill>
                  <a:srgbClr val="1E293B"/>
                </a:solidFill>
                <a:latin typeface="Calibri"/>
              </a:rPr>
              <a:t>Trường THPT · Biên soạn: TTT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CƯƠNG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CẤU TRÚC ĐỀ CƯƠNG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Phần 1. Tóm tắt lý thuyết – Bài 1: Giới thiệu khái quát môn Sinh học, Bài 2: Phương pháp nghiên cứu và học tập môn Sinh học, Bài 3: Các cấp độ tổ chức của thế giới sống, Bài 4: Các nguyên tố hoá học và nước, Bài 5: Các phân tử sinh học</a:t>
            </a:r>
          </a:p>
          <a:p>
            <a:pPr algn="l" marL="365760" indent="-365760">
              <a:spcAft>
                <a:spcPts val="800"/>
              </a:spcAft>
              <a:buClr>
                <a:srgbClr val="1E40AF"/>
              </a:buClr>
              <a:buFont typeface="Arial"/>
              <a:buChar char="•"/>
            </a:pPr>
            <a:r>
              <a:rPr sz="2400">
                <a:solidFill>
                  <a:srgbClr val="1E293B"/>
                </a:solidFill>
                <a:latin typeface="Calibri"/>
              </a:rPr>
              <a:t>Phần 2. Bài tập luyện tập (gấp đôi ma trận) – trong file Word</a:t>
            </a:r>
          </a:p>
          <a:p>
            <a:pPr algn="l" marL="365760" indent="-365760">
              <a:spcAft>
                <a:spcPts val="800"/>
              </a:spcAft>
              <a:buClr>
                <a:srgbClr val="1E40AF"/>
              </a:buClr>
              <a:buFont typeface="Arial"/>
              <a:buChar char="•"/>
            </a:pPr>
            <a:r>
              <a:rPr sz="2400">
                <a:solidFill>
                  <a:srgbClr val="1E293B"/>
                </a:solidFill>
                <a:latin typeface="Calibri"/>
              </a:rPr>
              <a:t>Phần 3. Đề minh họa – mỗi câu: slide đề → slide lời giải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LÝ THUYẾT</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BÀI 1: GIỚI THIỆU KHÁI QUÁT MÔN SINH HỌC · SƠ ĐỒ TƯ DUY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a:t>
            </a:r>
          </a:p>
        </p:txBody>
      </p:sp>
      <p:pic>
        <p:nvPicPr>
          <p:cNvPr id="7" name="Picture 6" descr="SoDoTuDuy_SINH10_Bai1_GioiThieuKhaiQuatMonSinhHoc_T1-2.png"/>
          <p:cNvPicPr>
            <a:picLocks noChangeAspect="1"/>
          </p:cNvPicPr>
          <p:nvPr/>
        </p:nvPicPr>
        <p:blipFill>
          <a:blip r:embed="rId2"/>
          <a:stretch>
            <a:fillRect/>
          </a:stretch>
        </p:blipFill>
        <p:spPr>
          <a:xfrm>
            <a:off x="1811117" y="1371600"/>
            <a:ext cx="8630725" cy="4846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LÝ THUYẾT</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BÀI 2: PHƯƠNG PHÁP NGHIÊN CỨU VÀ HỌC TẬP MÔN SINH HỌC · SƠ ĐỒ TƯ DUY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a:t>
            </a:r>
          </a:p>
        </p:txBody>
      </p:sp>
      <p:pic>
        <p:nvPicPr>
          <p:cNvPr id="7" name="Picture 6" descr="SoDoTuDuy_SINH10_Bai2_PhuongPhapNghienCuuVaHocTapMonSinhHoc_T3-4.png"/>
          <p:cNvPicPr>
            <a:picLocks noChangeAspect="1"/>
          </p:cNvPicPr>
          <p:nvPr/>
        </p:nvPicPr>
        <p:blipFill>
          <a:blip r:embed="rId2"/>
          <a:stretch>
            <a:fillRect/>
          </a:stretch>
        </p:blipFill>
        <p:spPr>
          <a:xfrm>
            <a:off x="1811117" y="1371600"/>
            <a:ext cx="8630725" cy="48463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LÝ THUYẾT</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BÀI 3: CÁC CẤP ĐỘ TỔ CHỨC CỦA THẾ GIỚI SỐNG · SƠ ĐỒ TƯ DUY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5</a:t>
            </a:r>
          </a:p>
        </p:txBody>
      </p:sp>
      <p:pic>
        <p:nvPicPr>
          <p:cNvPr id="7" name="Picture 6" descr="SoDoTuDuy_SINH10_Bai3_CacCapDoToChucCuaTheGioiSong_T5-6.png"/>
          <p:cNvPicPr>
            <a:picLocks noChangeAspect="1"/>
          </p:cNvPicPr>
          <p:nvPr/>
        </p:nvPicPr>
        <p:blipFill>
          <a:blip r:embed="rId2"/>
          <a:stretch>
            <a:fillRect/>
          </a:stretch>
        </p:blipFill>
        <p:spPr>
          <a:xfrm>
            <a:off x="1811117" y="1371600"/>
            <a:ext cx="8630725" cy="48463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LÝ THUYẾT</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BÀI 4: CÁC NGUYÊN TỐ HOÁ HỌC VÀ NƯỚC · SƠ ĐỒ TƯ DUY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6</a:t>
            </a:r>
          </a:p>
        </p:txBody>
      </p:sp>
      <p:pic>
        <p:nvPicPr>
          <p:cNvPr id="7" name="Picture 6" descr="SoDoTuDuy_SINH10_Bai4_CacNguyenToHoaHocVaNuoc_T7-8.png"/>
          <p:cNvPicPr>
            <a:picLocks noChangeAspect="1"/>
          </p:cNvPicPr>
          <p:nvPr/>
        </p:nvPicPr>
        <p:blipFill>
          <a:blip r:embed="rId2"/>
          <a:stretch>
            <a:fillRect/>
          </a:stretch>
        </p:blipFill>
        <p:spPr>
          <a:xfrm>
            <a:off x="1811117" y="1371600"/>
            <a:ext cx="8630725" cy="4846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LÝ THUYẾT</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BÀI 5: CÁC PHÂN TỬ SINH HỌC · SƠ ĐỒ TƯ DUY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7</a:t>
            </a:r>
          </a:p>
        </p:txBody>
      </p:sp>
      <p:pic>
        <p:nvPicPr>
          <p:cNvPr id="7" name="Picture 6" descr="SoDoTuDuy_SINH10_Bai5_CacPhanTuSinhHoc_T9-13.png"/>
          <p:cNvPicPr>
            <a:picLocks noChangeAspect="1"/>
          </p:cNvPicPr>
          <p:nvPr/>
        </p:nvPicPr>
        <p:blipFill>
          <a:blip r:embed="rId2"/>
          <a:stretch>
            <a:fillRect/>
          </a:stretch>
        </p:blipFill>
        <p:spPr>
          <a:xfrm>
            <a:off x="1811117" y="1371600"/>
            <a:ext cx="8630725"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8</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Loài vi khuẩn được biết đến là chống chịu phóng xạ tốt nhất, có thể giúp làm sạch các địa điểm bị ô nhiễm phóng xạ là</a:t>
            </a:r>
          </a:p>
          <a:p>
            <a:pPr algn="l">
              <a:spcAft>
                <a:spcPts val="800"/>
              </a:spcAft>
            </a:pPr>
            <a:r>
              <a:rPr sz="2000" b="1">
                <a:solidFill>
                  <a:srgbClr val="1E293B"/>
                </a:solidFill>
                <a:latin typeface="Calibri"/>
              </a:rPr>
              <a:t>A. Deinococcus radiodurans</a:t>
            </a:r>
          </a:p>
          <a:p>
            <a:pPr algn="l">
              <a:spcAft>
                <a:spcPts val="800"/>
              </a:spcAft>
            </a:pPr>
            <a:r>
              <a:rPr sz="2000" b="1">
                <a:solidFill>
                  <a:srgbClr val="1E293B"/>
                </a:solidFill>
                <a:latin typeface="Calibri"/>
              </a:rPr>
              <a:t>B. Shewanella oneidensis</a:t>
            </a:r>
          </a:p>
          <a:p>
            <a:pPr algn="l">
              <a:spcAft>
                <a:spcPts val="800"/>
              </a:spcAft>
            </a:pPr>
            <a:r>
              <a:rPr sz="2000" b="1">
                <a:solidFill>
                  <a:srgbClr val="1E293B"/>
                </a:solidFill>
                <a:latin typeface="Calibri"/>
              </a:rPr>
              <a:t>C. Chlorobium tepidum</a:t>
            </a:r>
          </a:p>
          <a:p>
            <a:pPr algn="l">
              <a:spcAft>
                <a:spcPts val="800"/>
              </a:spcAft>
            </a:pPr>
            <a:r>
              <a:rPr sz="2000" b="1">
                <a:solidFill>
                  <a:srgbClr val="1E293B"/>
                </a:solidFill>
                <a:latin typeface="Calibri"/>
              </a:rPr>
              <a:t>D. Escherichia coli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9</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SGK tr.8: Deinococcus radiodurans chịu phóng xạ tốt nhất; Shewanella oneidensis sinh năng lượng điện; Chlorobium tepidum sinh năng lượng từ ánh sáng.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10</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Phương pháp chủ động tác động, kiểm soát điều kiện để kiểm tra giả thuyết là phương pháp</a:t>
            </a:r>
          </a:p>
          <a:p>
            <a:pPr algn="l">
              <a:spcAft>
                <a:spcPts val="800"/>
              </a:spcAft>
            </a:pPr>
            <a:r>
              <a:rPr sz="2000" b="1">
                <a:solidFill>
                  <a:srgbClr val="1E293B"/>
                </a:solidFill>
                <a:latin typeface="Calibri"/>
              </a:rPr>
              <a:t>A. tra cứu tài liệu</a:t>
            </a:r>
          </a:p>
          <a:p>
            <a:pPr algn="l">
              <a:spcAft>
                <a:spcPts val="800"/>
              </a:spcAft>
            </a:pPr>
            <a:r>
              <a:rPr sz="2000" b="1">
                <a:solidFill>
                  <a:srgbClr val="1E293B"/>
                </a:solidFill>
                <a:latin typeface="Calibri"/>
              </a:rPr>
              <a:t>B. quan sát</a:t>
            </a:r>
          </a:p>
          <a:p>
            <a:pPr algn="l">
              <a:spcAft>
                <a:spcPts val="800"/>
              </a:spcAft>
            </a:pPr>
            <a:r>
              <a:rPr sz="2000" b="1">
                <a:solidFill>
                  <a:srgbClr val="1E293B"/>
                </a:solidFill>
                <a:latin typeface="Calibri"/>
              </a:rPr>
              <a:t>C. điều tra xã hội học</a:t>
            </a:r>
          </a:p>
          <a:p>
            <a:pPr algn="l">
              <a:spcAft>
                <a:spcPts val="800"/>
              </a:spcAft>
            </a:pPr>
            <a:r>
              <a:rPr sz="2000" b="1">
                <a:solidFill>
                  <a:srgbClr val="1E293B"/>
                </a:solidFill>
                <a:latin typeface="Calibri"/>
              </a:rPr>
              <a:t>D. thực nghiệm khoa học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11</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D.</a:t>
            </a:r>
          </a:p>
          <a:p>
            <a:pPr algn="l" marL="365760" indent="-365760">
              <a:spcAft>
                <a:spcPts val="800"/>
              </a:spcAft>
              <a:buClr>
                <a:srgbClr val="1E40AF"/>
              </a:buClr>
              <a:buFont typeface="Arial"/>
              <a:buChar char="•"/>
            </a:pPr>
            <a:r>
              <a:rPr sz="2000">
                <a:solidFill>
                  <a:srgbClr val="1E293B"/>
                </a:solidFill>
                <a:latin typeface="Calibri"/>
              </a:rPr>
              <a:t>SGK mục I.3.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Một con robot có thể di chuyển, trả lời câu hỏi. Đặc điểm nào cho thấy robot không phải vật sống?</a:t>
            </a:r>
          </a:p>
          <a:p>
            <a:pPr algn="l">
              <a:spcAft>
                <a:spcPts val="800"/>
              </a:spcAft>
            </a:pPr>
            <a:r>
              <a:rPr sz="2000" b="1">
                <a:solidFill>
                  <a:srgbClr val="1E293B"/>
                </a:solidFill>
                <a:latin typeface="Calibri"/>
              </a:rPr>
              <a:t>A. Robot tương tác với môi trường</a:t>
            </a:r>
          </a:p>
          <a:p>
            <a:pPr algn="l">
              <a:spcAft>
                <a:spcPts val="800"/>
              </a:spcAft>
            </a:pPr>
            <a:r>
              <a:rPr sz="2000" b="1">
                <a:solidFill>
                  <a:srgbClr val="1E293B"/>
                </a:solidFill>
                <a:latin typeface="Calibri"/>
              </a:rPr>
              <a:t>B. Robot có thể di chuyển</a:t>
            </a:r>
          </a:p>
          <a:p>
            <a:pPr algn="l">
              <a:spcAft>
                <a:spcPts val="800"/>
              </a:spcAft>
            </a:pPr>
            <a:r>
              <a:rPr sz="2000" b="1">
                <a:solidFill>
                  <a:srgbClr val="1E293B"/>
                </a:solidFill>
                <a:latin typeface="Calibri"/>
              </a:rPr>
              <a:t>C. Robot tiêu thụ năng lượng</a:t>
            </a:r>
          </a:p>
          <a:p>
            <a:pPr algn="l">
              <a:spcAft>
                <a:spcPts val="800"/>
              </a:spcAft>
            </a:pPr>
            <a:r>
              <a:rPr sz="2000" b="1">
                <a:solidFill>
                  <a:srgbClr val="1E293B"/>
                </a:solidFill>
                <a:latin typeface="Calibri"/>
              </a:rPr>
              <a:t>D. Robot không tự sinh trưởng, sinh sản và không cấu tạo từ tế bào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13</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D.</a:t>
            </a:r>
          </a:p>
          <a:p>
            <a:pPr algn="l" marL="365760" indent="-365760">
              <a:spcAft>
                <a:spcPts val="800"/>
              </a:spcAft>
              <a:buClr>
                <a:srgbClr val="1E40AF"/>
              </a:buClr>
              <a:buFont typeface="Arial"/>
              <a:buChar char="•"/>
            </a:pPr>
            <a:r>
              <a:rPr sz="2000">
                <a:solidFill>
                  <a:srgbClr val="1E293B"/>
                </a:solidFill>
                <a:latin typeface="Calibri"/>
              </a:rPr>
              <a:t>Luyện tập và vận dụng câu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14</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Nguyên tố nào sau đây là nguyên tố vi lượng?</a:t>
            </a:r>
          </a:p>
          <a:p>
            <a:pPr algn="l">
              <a:spcAft>
                <a:spcPts val="800"/>
              </a:spcAft>
            </a:pPr>
            <a:r>
              <a:rPr sz="2000" b="1">
                <a:solidFill>
                  <a:srgbClr val="1E293B"/>
                </a:solidFill>
                <a:latin typeface="Calibri"/>
              </a:rPr>
              <a:t>A. Iodine (I)</a:t>
            </a:r>
          </a:p>
          <a:p>
            <a:pPr algn="l">
              <a:spcAft>
                <a:spcPts val="800"/>
              </a:spcAft>
            </a:pPr>
            <a:r>
              <a:rPr sz="2000" b="1">
                <a:solidFill>
                  <a:srgbClr val="1E293B"/>
                </a:solidFill>
                <a:latin typeface="Calibri"/>
              </a:rPr>
              <a:t>B. Carbon (C)</a:t>
            </a:r>
          </a:p>
          <a:p>
            <a:pPr algn="l">
              <a:spcAft>
                <a:spcPts val="800"/>
              </a:spcAft>
            </a:pPr>
            <a:r>
              <a:rPr sz="2000" b="1">
                <a:solidFill>
                  <a:srgbClr val="1E293B"/>
                </a:solidFill>
                <a:latin typeface="Calibri"/>
              </a:rPr>
              <a:t>C. Oxygen (O)</a:t>
            </a:r>
          </a:p>
          <a:p>
            <a:pPr algn="l">
              <a:spcAft>
                <a:spcPts val="800"/>
              </a:spcAft>
            </a:pPr>
            <a:r>
              <a:rPr sz="2000" b="1">
                <a:solidFill>
                  <a:srgbClr val="1E293B"/>
                </a:solidFill>
                <a:latin typeface="Calibri"/>
              </a:rPr>
              <a:t>D. Nitrogen (N)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15</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Vi lượng chỉ cần một lượng rất nhỏ.</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16</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Cấu trúc bậc 1 của protein là</a:t>
            </a:r>
          </a:p>
          <a:p>
            <a:pPr algn="l">
              <a:spcAft>
                <a:spcPts val="800"/>
              </a:spcAft>
            </a:pPr>
            <a:r>
              <a:rPr sz="2000" b="1">
                <a:solidFill>
                  <a:srgbClr val="1E293B"/>
                </a:solidFill>
                <a:latin typeface="Calibri"/>
              </a:rPr>
              <a:t>A. chuỗi polypeptide cuộn xoắn α hoặc gấp nếp β</a:t>
            </a:r>
          </a:p>
          <a:p>
            <a:pPr algn="l">
              <a:spcAft>
                <a:spcPts val="800"/>
              </a:spcAft>
            </a:pPr>
            <a:r>
              <a:rPr sz="2000" b="1">
                <a:solidFill>
                  <a:srgbClr val="1E293B"/>
                </a:solidFill>
                <a:latin typeface="Calibri"/>
              </a:rPr>
              <a:t>B. trình tự sắp xếp các amino acid trong chuỗi polypeptide</a:t>
            </a:r>
          </a:p>
          <a:p>
            <a:pPr algn="l">
              <a:spcAft>
                <a:spcPts val="800"/>
              </a:spcAft>
            </a:pPr>
            <a:r>
              <a:rPr sz="2000" b="1">
                <a:solidFill>
                  <a:srgbClr val="1E293B"/>
                </a:solidFill>
                <a:latin typeface="Calibri"/>
              </a:rPr>
              <a:t>C. cấu trúc không gian ba chiều đặc trưng</a:t>
            </a:r>
          </a:p>
          <a:p>
            <a:pPr algn="l">
              <a:spcAft>
                <a:spcPts val="800"/>
              </a:spcAft>
            </a:pPr>
            <a:r>
              <a:rPr sz="2000" b="1">
                <a:solidFill>
                  <a:srgbClr val="1E293B"/>
                </a:solidFill>
                <a:latin typeface="Calibri"/>
              </a:rPr>
              <a:t>D. nhiều chuỗi polypeptide liên kết với nhau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17</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SGK tr.35: bậc 1 là trình tự amino acid; bậc 2 xoắn/gấp nếp; bậc 3 không gian ba chiều; bậc 4 nhiều chuỗi.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18</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Theo Chương trình Giáo dục phổ thông, ở lớp 10 học sinh tìm hiểu</a:t>
            </a:r>
          </a:p>
          <a:p>
            <a:pPr algn="l">
              <a:spcAft>
                <a:spcPts val="800"/>
              </a:spcAft>
            </a:pPr>
            <a:r>
              <a:rPr sz="2000" b="1">
                <a:solidFill>
                  <a:srgbClr val="1E293B"/>
                </a:solidFill>
                <a:latin typeface="Calibri"/>
              </a:rPr>
              <a:t>A. sinh học tế bào và thế giới vi sinh vật</a:t>
            </a:r>
          </a:p>
          <a:p>
            <a:pPr algn="l">
              <a:spcAft>
                <a:spcPts val="800"/>
              </a:spcAft>
            </a:pPr>
            <a:r>
              <a:rPr sz="2000" b="1">
                <a:solidFill>
                  <a:srgbClr val="1E293B"/>
                </a:solidFill>
                <a:latin typeface="Calibri"/>
              </a:rPr>
              <a:t>B. sinh học cơ thể</a:t>
            </a:r>
          </a:p>
          <a:p>
            <a:pPr algn="l">
              <a:spcAft>
                <a:spcPts val="800"/>
              </a:spcAft>
            </a:pPr>
            <a:r>
              <a:rPr sz="2000" b="1">
                <a:solidFill>
                  <a:srgbClr val="1E293B"/>
                </a:solidFill>
                <a:latin typeface="Calibri"/>
              </a:rPr>
              <a:t>C. di truyền học, tiến hoá và sinh thái học</a:t>
            </a:r>
          </a:p>
          <a:p>
            <a:pPr algn="l">
              <a:spcAft>
                <a:spcPts val="800"/>
              </a:spcAft>
            </a:pPr>
            <a:r>
              <a:rPr sz="2000" b="1">
                <a:solidFill>
                  <a:srgbClr val="1E293B"/>
                </a:solidFill>
                <a:latin typeface="Calibri"/>
              </a:rPr>
              <a:t>D. giải phẫu người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19</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SGK: lớp 10 – sinh học tế bào và thế giới vi sinh vật; lớp 11 – sinh học cơ thể; lớp 12 – di truyền học, tiến hoá và sinh thái học.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20</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Khi làm việc trong phòng thí nghiệm, việc làm nào sau đây không đảm bảo an toàn?</a:t>
            </a:r>
          </a:p>
          <a:p>
            <a:pPr algn="l">
              <a:spcAft>
                <a:spcPts val="800"/>
              </a:spcAft>
            </a:pPr>
            <a:r>
              <a:rPr sz="2000" b="1">
                <a:solidFill>
                  <a:srgbClr val="1E293B"/>
                </a:solidFill>
                <a:latin typeface="Calibri"/>
              </a:rPr>
              <a:t>A. Ngửi trực tiếp, nếm thử hoá chất để nhận biết</a:t>
            </a:r>
          </a:p>
          <a:p>
            <a:pPr algn="l">
              <a:spcAft>
                <a:spcPts val="800"/>
              </a:spcAft>
            </a:pPr>
            <a:r>
              <a:rPr sz="2000" b="1">
                <a:solidFill>
                  <a:srgbClr val="1E293B"/>
                </a:solidFill>
                <a:latin typeface="Calibri"/>
              </a:rPr>
              <a:t>B. Đeo găng tay, kính bảo hộ</a:t>
            </a:r>
          </a:p>
          <a:p>
            <a:pPr algn="l">
              <a:spcAft>
                <a:spcPts val="800"/>
              </a:spcAft>
            </a:pPr>
            <a:r>
              <a:rPr sz="2000" b="1">
                <a:solidFill>
                  <a:srgbClr val="1E293B"/>
                </a:solidFill>
                <a:latin typeface="Calibri"/>
              </a:rPr>
              <a:t>C. Đọc kĩ quy trình trước khi làm</a:t>
            </a:r>
          </a:p>
          <a:p>
            <a:pPr algn="l">
              <a:spcAft>
                <a:spcPts val="800"/>
              </a:spcAft>
            </a:pPr>
            <a:r>
              <a:rPr sz="2000" b="1">
                <a:solidFill>
                  <a:srgbClr val="1E293B"/>
                </a:solidFill>
                <a:latin typeface="Calibri"/>
              </a:rPr>
              <a:t>D. Vệ sinh dụng cụ sau khi làm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21</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Tuyệt đối không ngửi trực tiếp, nếm hoá chất.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Tập hợp các cá thể cùng loài sống trong một khu vực địa lí nhất định, vào một thời điểm nhất định là</a:t>
            </a:r>
          </a:p>
          <a:p>
            <a:pPr algn="l">
              <a:spcAft>
                <a:spcPts val="800"/>
              </a:spcAft>
            </a:pPr>
            <a:r>
              <a:rPr sz="2000" b="1">
                <a:solidFill>
                  <a:srgbClr val="1E293B"/>
                </a:solidFill>
                <a:latin typeface="Calibri"/>
              </a:rPr>
              <a:t>A. hệ sinh thái</a:t>
            </a:r>
          </a:p>
          <a:p>
            <a:pPr algn="l">
              <a:spcAft>
                <a:spcPts val="800"/>
              </a:spcAft>
            </a:pPr>
            <a:r>
              <a:rPr sz="2000" b="1">
                <a:solidFill>
                  <a:srgbClr val="1E293B"/>
                </a:solidFill>
                <a:latin typeface="Calibri"/>
              </a:rPr>
              <a:t>B. quần xã</a:t>
            </a:r>
          </a:p>
          <a:p>
            <a:pPr algn="l">
              <a:spcAft>
                <a:spcPts val="800"/>
              </a:spcAft>
            </a:pPr>
            <a:r>
              <a:rPr sz="2000" b="1">
                <a:solidFill>
                  <a:srgbClr val="1E293B"/>
                </a:solidFill>
                <a:latin typeface="Calibri"/>
              </a:rPr>
              <a:t>C. quần thể</a:t>
            </a:r>
          </a:p>
          <a:p>
            <a:pPr algn="l">
              <a:spcAft>
                <a:spcPts val="800"/>
              </a:spcAft>
            </a:pPr>
            <a:r>
              <a:rPr sz="2000" b="1">
                <a:solidFill>
                  <a:srgbClr val="1E293B"/>
                </a:solidFill>
                <a:latin typeface="Calibri"/>
              </a:rPr>
              <a:t>D. cơ thể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23</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C.</a:t>
            </a:r>
          </a:p>
          <a:p>
            <a:pPr algn="l" marL="365760" indent="-365760">
              <a:spcAft>
                <a:spcPts val="800"/>
              </a:spcAft>
              <a:buClr>
                <a:srgbClr val="1E40AF"/>
              </a:buClr>
              <a:buFont typeface="Arial"/>
              <a:buChar char="•"/>
            </a:pPr>
            <a:r>
              <a:rPr sz="2000">
                <a:solidFill>
                  <a:srgbClr val="1E293B"/>
                </a:solidFill>
                <a:latin typeface="Calibri"/>
              </a:rPr>
              <a:t>SGK mục I.2.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24</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Phân tử nước có tính phân cực là do</a:t>
            </a:r>
          </a:p>
          <a:p>
            <a:pPr algn="l">
              <a:spcAft>
                <a:spcPts val="800"/>
              </a:spcAft>
            </a:pPr>
            <a:r>
              <a:rPr sz="2000" b="1">
                <a:solidFill>
                  <a:srgbClr val="1E293B"/>
                </a:solidFill>
                <a:latin typeface="Calibri"/>
              </a:rPr>
              <a:t>A. nước có nhiều nguyên tử oxygen</a:t>
            </a:r>
          </a:p>
          <a:p>
            <a:pPr algn="l">
              <a:spcAft>
                <a:spcPts val="800"/>
              </a:spcAft>
            </a:pPr>
            <a:r>
              <a:rPr sz="2000" b="1">
                <a:solidFill>
                  <a:srgbClr val="1E293B"/>
                </a:solidFill>
                <a:latin typeface="Calibri"/>
              </a:rPr>
              <a:t>B. oxygen hút electron mạnh hơn hydrogen nên phía O tích điện âm, phía H tích điện dương</a:t>
            </a:r>
          </a:p>
          <a:p>
            <a:pPr algn="l">
              <a:spcAft>
                <a:spcPts val="800"/>
              </a:spcAft>
            </a:pPr>
            <a:r>
              <a:rPr sz="2000" b="1">
                <a:solidFill>
                  <a:srgbClr val="1E293B"/>
                </a:solidFill>
                <a:latin typeface="Calibri"/>
              </a:rPr>
              <a:t>C. nước ở thể lỏng</a:t>
            </a:r>
          </a:p>
          <a:p>
            <a:pPr algn="l">
              <a:spcAft>
                <a:spcPts val="800"/>
              </a:spcAft>
            </a:pPr>
            <a:r>
              <a:rPr sz="2000" b="1">
                <a:solidFill>
                  <a:srgbClr val="1E293B"/>
                </a:solidFill>
                <a:latin typeface="Calibri"/>
              </a:rPr>
              <a:t>D. nước có khối lượng nhỏ</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25</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SGK mục III.1.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26</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Đường đôi sucrose được cấu tạo từ</a:t>
            </a:r>
          </a:p>
          <a:p>
            <a:pPr algn="l">
              <a:spcAft>
                <a:spcPts val="800"/>
              </a:spcAft>
            </a:pPr>
            <a:r>
              <a:rPr sz="2000" b="1">
                <a:solidFill>
                  <a:srgbClr val="1E293B"/>
                </a:solidFill>
                <a:latin typeface="Calibri"/>
              </a:rPr>
              <a:t>A. hai phân tử fructose</a:t>
            </a:r>
          </a:p>
          <a:p>
            <a:pPr algn="l">
              <a:spcAft>
                <a:spcPts val="800"/>
              </a:spcAft>
            </a:pPr>
            <a:r>
              <a:rPr sz="2000" b="1">
                <a:solidFill>
                  <a:srgbClr val="1E293B"/>
                </a:solidFill>
                <a:latin typeface="Calibri"/>
              </a:rPr>
              <a:t>B. hai phân tử glucose</a:t>
            </a:r>
          </a:p>
          <a:p>
            <a:pPr algn="l">
              <a:spcAft>
                <a:spcPts val="800"/>
              </a:spcAft>
            </a:pPr>
            <a:r>
              <a:rPr sz="2000" b="1">
                <a:solidFill>
                  <a:srgbClr val="1E293B"/>
                </a:solidFill>
                <a:latin typeface="Calibri"/>
              </a:rPr>
              <a:t>C. một phân tử glucose và một phân tử galactose</a:t>
            </a:r>
          </a:p>
          <a:p>
            <a:pPr algn="l">
              <a:spcAft>
                <a:spcPts val="800"/>
              </a:spcAft>
            </a:pPr>
            <a:r>
              <a:rPr sz="2000" b="1">
                <a:solidFill>
                  <a:srgbClr val="1E293B"/>
                </a:solidFill>
                <a:latin typeface="Calibri"/>
              </a:rPr>
              <a:t>D. một phân tử glucose và một phân tử fructose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27</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D.</a:t>
            </a:r>
          </a:p>
          <a:p>
            <a:pPr algn="l" marL="365760" indent="-365760">
              <a:spcAft>
                <a:spcPts val="800"/>
              </a:spcAft>
              <a:buClr>
                <a:srgbClr val="1E40AF"/>
              </a:buClr>
              <a:buFont typeface="Arial"/>
              <a:buChar char="•"/>
            </a:pPr>
            <a:r>
              <a:rPr sz="2000">
                <a:solidFill>
                  <a:srgbClr val="1E293B"/>
                </a:solidFill>
                <a:latin typeface="Calibri"/>
              </a:rPr>
              <a:t>SGK tr.29: sucrose = glucose + fructose; maltose = glucose + glucose; lactose = glucose + galactose.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28</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Một hợp tác xã định trồng trên diện tích lớn chỉ một giống cây tạo ra từ nuôi cấy mô tế bào. Theo SGK, rủi ro cần cân nhắc là</a:t>
            </a:r>
          </a:p>
          <a:p>
            <a:pPr algn="l">
              <a:spcAft>
                <a:spcPts val="800"/>
              </a:spcAft>
            </a:pPr>
            <a:r>
              <a:rPr sz="2000" b="1">
                <a:solidFill>
                  <a:srgbClr val="1E293B"/>
                </a:solidFill>
                <a:latin typeface="Calibri"/>
              </a:rPr>
              <a:t>A. dễ mất mùa đồng loạt nếu điều kiện môi trường bất lợi với giống cây đó</a:t>
            </a:r>
          </a:p>
          <a:p>
            <a:pPr algn="l">
              <a:spcAft>
                <a:spcPts val="800"/>
              </a:spcAft>
            </a:pPr>
            <a:r>
              <a:rPr sz="2000" b="1">
                <a:solidFill>
                  <a:srgbClr val="1E293B"/>
                </a:solidFill>
                <a:latin typeface="Calibri"/>
              </a:rPr>
              <a:t>B. cây sẽ không bao giờ ra hoa, kết quả</a:t>
            </a:r>
          </a:p>
          <a:p>
            <a:pPr algn="l">
              <a:spcAft>
                <a:spcPts val="800"/>
              </a:spcAft>
            </a:pPr>
            <a:r>
              <a:rPr sz="2000" b="1">
                <a:solidFill>
                  <a:srgbClr val="1E293B"/>
                </a:solidFill>
                <a:latin typeface="Calibri"/>
              </a:rPr>
              <a:t>C. chi phí giống cao hơn gieo hạt truyền thống gấp nhiều lần</a:t>
            </a:r>
          </a:p>
          <a:p>
            <a:pPr algn="l">
              <a:spcAft>
                <a:spcPts val="800"/>
              </a:spcAft>
            </a:pPr>
            <a:r>
              <a:rPr sz="2000" b="1">
                <a:solidFill>
                  <a:srgbClr val="1E293B"/>
                </a:solidFill>
                <a:latin typeface="Calibri"/>
              </a:rPr>
              <a:t>D. cây sẽ lai tạp với cỏ dại quanh ruộng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29</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SGK mục III.3b: trồng cây giống tạo từ nuôi cấy mô trên diện tích lớn tiềm ẩn rủi ro mất mùa nếu điều kiện môi trường bất lợi.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30</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Để phân loại thực vật theo đặc điểm rễ, thân, lá, hoa, quả, ta dùng phương pháp</a:t>
            </a:r>
          </a:p>
          <a:p>
            <a:pPr algn="l">
              <a:spcAft>
                <a:spcPts val="800"/>
              </a:spcAft>
            </a:pPr>
            <a:r>
              <a:rPr sz="2000" b="1">
                <a:solidFill>
                  <a:srgbClr val="1E293B"/>
                </a:solidFill>
                <a:latin typeface="Calibri"/>
              </a:rPr>
              <a:t>A. tin sinh học</a:t>
            </a:r>
          </a:p>
          <a:p>
            <a:pPr algn="l">
              <a:spcAft>
                <a:spcPts val="800"/>
              </a:spcAft>
            </a:pPr>
            <a:r>
              <a:rPr sz="2000" b="1">
                <a:solidFill>
                  <a:srgbClr val="1E293B"/>
                </a:solidFill>
                <a:latin typeface="Calibri"/>
              </a:rPr>
              <a:t>B. thực nghiệm khoa học</a:t>
            </a:r>
          </a:p>
          <a:p>
            <a:pPr algn="l">
              <a:spcAft>
                <a:spcPts val="800"/>
              </a:spcAft>
            </a:pPr>
            <a:r>
              <a:rPr sz="2000" b="1">
                <a:solidFill>
                  <a:srgbClr val="1E293B"/>
                </a:solidFill>
                <a:latin typeface="Calibri"/>
              </a:rPr>
              <a:t>C. quan sát</a:t>
            </a:r>
          </a:p>
          <a:p>
            <a:pPr algn="l">
              <a:spcAft>
                <a:spcPts val="800"/>
              </a:spcAft>
            </a:pPr>
            <a:r>
              <a:rPr sz="2000" b="1">
                <a:solidFill>
                  <a:srgbClr val="1E293B"/>
                </a:solidFill>
                <a:latin typeface="Calibri"/>
              </a:rPr>
              <a:t>D. nuôi cấy mô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31</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C.</a:t>
            </a:r>
          </a:p>
          <a:p>
            <a:pPr algn="l" marL="365760" indent="-365760">
              <a:spcAft>
                <a:spcPts val="800"/>
              </a:spcAft>
              <a:buClr>
                <a:srgbClr val="1E40AF"/>
              </a:buClr>
              <a:buFont typeface="Arial"/>
              <a:buChar char="•"/>
            </a:pPr>
            <a:r>
              <a:rPr sz="2000">
                <a:solidFill>
                  <a:srgbClr val="1E293B"/>
                </a:solidFill>
                <a:latin typeface="Calibri"/>
              </a:rPr>
              <a:t>Chỉ cần quan sát, mô tả, so sánh hình thái.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Khả năng duy trì môi trường bên trong ổn định dù môi trường ngoài thay đổi được gọi là</a:t>
            </a:r>
          </a:p>
          <a:p>
            <a:pPr algn="l">
              <a:spcAft>
                <a:spcPts val="800"/>
              </a:spcAft>
            </a:pPr>
            <a:r>
              <a:rPr sz="2000" b="1">
                <a:solidFill>
                  <a:srgbClr val="1E293B"/>
                </a:solidFill>
                <a:latin typeface="Calibri"/>
              </a:rPr>
              <a:t>A. đặc tính nổi trội</a:t>
            </a:r>
          </a:p>
          <a:p>
            <a:pPr algn="l">
              <a:spcAft>
                <a:spcPts val="800"/>
              </a:spcAft>
            </a:pPr>
            <a:r>
              <a:rPr sz="2000" b="1">
                <a:solidFill>
                  <a:srgbClr val="1E293B"/>
                </a:solidFill>
                <a:latin typeface="Calibri"/>
              </a:rPr>
              <a:t>B. cân bằng nội môi</a:t>
            </a:r>
          </a:p>
          <a:p>
            <a:pPr algn="l">
              <a:spcAft>
                <a:spcPts val="800"/>
              </a:spcAft>
            </a:pPr>
            <a:r>
              <a:rPr sz="2000" b="1">
                <a:solidFill>
                  <a:srgbClr val="1E293B"/>
                </a:solidFill>
                <a:latin typeface="Calibri"/>
              </a:rPr>
              <a:t>C. tiến hoá</a:t>
            </a:r>
          </a:p>
          <a:p>
            <a:pPr algn="l">
              <a:spcAft>
                <a:spcPts val="800"/>
              </a:spcAft>
            </a:pPr>
            <a:r>
              <a:rPr sz="2000" b="1">
                <a:solidFill>
                  <a:srgbClr val="1E293B"/>
                </a:solidFill>
                <a:latin typeface="Calibri"/>
              </a:rPr>
              <a:t>D. chuyển hoá năng lượng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33</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SGK mục II.2.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34</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Mọi sinh vật có thành phần nguyên tố hoá học về cơ bản giống nhau chứng tỏ</a:t>
            </a:r>
          </a:p>
          <a:p>
            <a:pPr algn="l">
              <a:spcAft>
                <a:spcPts val="800"/>
              </a:spcAft>
            </a:pPr>
            <a:r>
              <a:rPr sz="2000" b="1">
                <a:solidFill>
                  <a:srgbClr val="1E293B"/>
                </a:solidFill>
                <a:latin typeface="Calibri"/>
              </a:rPr>
              <a:t>A. các sinh vật có chung nguồn gốc</a:t>
            </a:r>
          </a:p>
          <a:p>
            <a:pPr algn="l">
              <a:spcAft>
                <a:spcPts val="800"/>
              </a:spcAft>
            </a:pPr>
            <a:r>
              <a:rPr sz="2000" b="1">
                <a:solidFill>
                  <a:srgbClr val="1E293B"/>
                </a:solidFill>
                <a:latin typeface="Calibri"/>
              </a:rPr>
              <a:t>B. các sinh vật sống cùng một môi trường</a:t>
            </a:r>
          </a:p>
          <a:p>
            <a:pPr algn="l">
              <a:spcAft>
                <a:spcPts val="800"/>
              </a:spcAft>
            </a:pPr>
            <a:r>
              <a:rPr sz="2000" b="1">
                <a:solidFill>
                  <a:srgbClr val="1E293B"/>
                </a:solidFill>
                <a:latin typeface="Calibri"/>
              </a:rPr>
              <a:t>C. các sinh vật có cùng kích thước</a:t>
            </a:r>
          </a:p>
          <a:p>
            <a:pPr algn="l">
              <a:spcAft>
                <a:spcPts val="800"/>
              </a:spcAft>
            </a:pPr>
            <a:r>
              <a:rPr sz="2000" b="1">
                <a:solidFill>
                  <a:srgbClr val="1E293B"/>
                </a:solidFill>
                <a:latin typeface="Calibri"/>
              </a:rPr>
              <a:t>D. các sinh vật không tiến hoá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35</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SGV tr.36.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36</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Một đoạn DNA có 1 000 nucleotide, trong đó số nucleotide loại A là 200. Số nucleotide loại G của đoạn DNA này là</a:t>
            </a:r>
          </a:p>
          <a:p>
            <a:pPr algn="l">
              <a:spcAft>
                <a:spcPts val="800"/>
              </a:spcAft>
            </a:pPr>
            <a:r>
              <a:rPr sz="2000" b="1">
                <a:solidFill>
                  <a:srgbClr val="1E293B"/>
                </a:solidFill>
                <a:latin typeface="Calibri"/>
              </a:rPr>
              <a:t>A. 300</a:t>
            </a:r>
          </a:p>
          <a:p>
            <a:pPr algn="l">
              <a:spcAft>
                <a:spcPts val="800"/>
              </a:spcAft>
            </a:pPr>
            <a:r>
              <a:rPr sz="2000" b="1">
                <a:solidFill>
                  <a:srgbClr val="1E293B"/>
                </a:solidFill>
                <a:latin typeface="Calibri"/>
              </a:rPr>
              <a:t>B. 200</a:t>
            </a:r>
          </a:p>
          <a:p>
            <a:pPr algn="l">
              <a:spcAft>
                <a:spcPts val="800"/>
              </a:spcAft>
            </a:pPr>
            <a:r>
              <a:rPr sz="2000" b="1">
                <a:solidFill>
                  <a:srgbClr val="1E293B"/>
                </a:solidFill>
                <a:latin typeface="Calibri"/>
              </a:rPr>
              <a:t>C. 600</a:t>
            </a:r>
          </a:p>
          <a:p>
            <a:pPr algn="l">
              <a:spcAft>
                <a:spcPts val="800"/>
              </a:spcAft>
            </a:pPr>
            <a:r>
              <a:rPr sz="2000" b="1">
                <a:solidFill>
                  <a:srgbClr val="1E293B"/>
                </a:solidFill>
                <a:latin typeface="Calibri"/>
              </a:rPr>
              <a:t>D. 800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37</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Theo nguyên tắc bổ sung A = T = 200 nên G = C = (1 000 − 2·200) : 2 = 300.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38</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Hình 1.1 (SGK) cho thấy chuối được nhân giống với số lượng lớn. Biện pháp được sử dụng là</a:t>
            </a:r>
          </a:p>
          <a:p>
            <a:pPr algn="l">
              <a:spcAft>
                <a:spcPts val="800"/>
              </a:spcAft>
            </a:pPr>
            <a:r>
              <a:rPr sz="2000" b="1">
                <a:solidFill>
                  <a:srgbClr val="1E293B"/>
                </a:solidFill>
                <a:latin typeface="Calibri"/>
              </a:rPr>
              <a:t>A. gây đột biến bằng phóng xạ</a:t>
            </a:r>
          </a:p>
          <a:p>
            <a:pPr algn="l">
              <a:spcAft>
                <a:spcPts val="800"/>
              </a:spcAft>
            </a:pPr>
            <a:r>
              <a:rPr sz="2000" b="1">
                <a:solidFill>
                  <a:srgbClr val="1E293B"/>
                </a:solidFill>
                <a:latin typeface="Calibri"/>
              </a:rPr>
              <a:t>B. lai hữu tính</a:t>
            </a:r>
          </a:p>
          <a:p>
            <a:pPr algn="l">
              <a:spcAft>
                <a:spcPts val="800"/>
              </a:spcAft>
            </a:pPr>
            <a:r>
              <a:rPr sz="2000" b="1">
                <a:solidFill>
                  <a:srgbClr val="1E293B"/>
                </a:solidFill>
                <a:latin typeface="Calibri"/>
              </a:rPr>
              <a:t>C. nuôi cấy mô</a:t>
            </a:r>
          </a:p>
          <a:p>
            <a:pPr algn="l">
              <a:spcAft>
                <a:spcPts val="800"/>
              </a:spcAft>
            </a:pPr>
            <a:r>
              <a:rPr sz="2000" b="1">
                <a:solidFill>
                  <a:srgbClr val="1E293B"/>
                </a:solidFill>
                <a:latin typeface="Calibri"/>
              </a:rPr>
              <a:t>D. chiết cành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39</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C.</a:t>
            </a:r>
          </a:p>
          <a:p>
            <a:pPr algn="l" marL="365760" indent="-365760">
              <a:spcAft>
                <a:spcPts val="800"/>
              </a:spcAft>
              <a:buClr>
                <a:srgbClr val="1E40AF"/>
              </a:buClr>
              <a:buFont typeface="Arial"/>
              <a:buChar char="•"/>
            </a:pPr>
            <a:r>
              <a:rPr sz="2000">
                <a:solidFill>
                  <a:srgbClr val="1E293B"/>
                </a:solidFill>
                <a:latin typeface="Calibri"/>
              </a:rPr>
              <a:t>Chú thích Hình 1.1: chuối được nhân giống số lượng lớn bằng biện pháp nuôi cấy mô.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40</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Phương pháp sử dụng tri giác và các phương tiện hỗ trợ để thu thập thông tin về đối tượng là phương pháp</a:t>
            </a:r>
          </a:p>
          <a:p>
            <a:pPr algn="l">
              <a:spcAft>
                <a:spcPts val="800"/>
              </a:spcAft>
            </a:pPr>
            <a:r>
              <a:rPr sz="2000" b="1">
                <a:solidFill>
                  <a:srgbClr val="1E293B"/>
                </a:solidFill>
                <a:latin typeface="Calibri"/>
              </a:rPr>
              <a:t>A. thực nghiệm khoa học</a:t>
            </a:r>
          </a:p>
          <a:p>
            <a:pPr algn="l">
              <a:spcAft>
                <a:spcPts val="800"/>
              </a:spcAft>
            </a:pPr>
            <a:r>
              <a:rPr sz="2000" b="1">
                <a:solidFill>
                  <a:srgbClr val="1E293B"/>
                </a:solidFill>
                <a:latin typeface="Calibri"/>
              </a:rPr>
              <a:t>B. quan sát</a:t>
            </a:r>
          </a:p>
          <a:p>
            <a:pPr algn="l">
              <a:spcAft>
                <a:spcPts val="800"/>
              </a:spcAft>
            </a:pPr>
            <a:r>
              <a:rPr sz="2000" b="1">
                <a:solidFill>
                  <a:srgbClr val="1E293B"/>
                </a:solidFill>
                <a:latin typeface="Calibri"/>
              </a:rPr>
              <a:t>C. làm việc trong phòng thí nghiệm</a:t>
            </a:r>
          </a:p>
          <a:p>
            <a:pPr algn="l">
              <a:spcAft>
                <a:spcPts val="800"/>
              </a:spcAft>
            </a:pPr>
            <a:r>
              <a:rPr sz="2000" b="1">
                <a:solidFill>
                  <a:srgbClr val="1E293B"/>
                </a:solidFill>
                <a:latin typeface="Calibri"/>
              </a:rPr>
              <a:t>D. tin sinh học</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41</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SGK mục I.1.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Câu “Nếu Mặt Trời không còn tồn tại thì Trái Đất sẽ bị huỷ diệt” được giải thích đúng nhất là:</a:t>
            </a:r>
          </a:p>
          <a:p>
            <a:pPr algn="l">
              <a:spcAft>
                <a:spcPts val="800"/>
              </a:spcAft>
            </a:pPr>
            <a:r>
              <a:rPr sz="2000" b="1">
                <a:solidFill>
                  <a:srgbClr val="1E293B"/>
                </a:solidFill>
                <a:latin typeface="Calibri"/>
              </a:rPr>
              <a:t>A. Nguồn năng lượng cung cấp cho thế giới sống chủ yếu đến từ Mặt Trời</a:t>
            </a:r>
          </a:p>
          <a:p>
            <a:pPr algn="l">
              <a:spcAft>
                <a:spcPts val="800"/>
              </a:spcAft>
            </a:pPr>
            <a:r>
              <a:rPr sz="2000" b="1">
                <a:solidFill>
                  <a:srgbClr val="1E293B"/>
                </a:solidFill>
                <a:latin typeface="Calibri"/>
              </a:rPr>
              <a:t>B. Mặt Trời cung cấp nước cho Trái Đất</a:t>
            </a:r>
          </a:p>
          <a:p>
            <a:pPr algn="l">
              <a:spcAft>
                <a:spcPts val="800"/>
              </a:spcAft>
            </a:pPr>
            <a:r>
              <a:rPr sz="2000" b="1">
                <a:solidFill>
                  <a:srgbClr val="1E293B"/>
                </a:solidFill>
                <a:latin typeface="Calibri"/>
              </a:rPr>
              <a:t>C. Mặt Trời tạo ra các nguyên tố hoá học hằng ngày</a:t>
            </a:r>
          </a:p>
          <a:p>
            <a:pPr algn="l">
              <a:spcAft>
                <a:spcPts val="800"/>
              </a:spcAft>
            </a:pPr>
            <a:r>
              <a:rPr sz="2000" b="1">
                <a:solidFill>
                  <a:srgbClr val="1E293B"/>
                </a:solidFill>
                <a:latin typeface="Calibri"/>
              </a:rPr>
              <a:t>D. Mặt Trời giữ Trái Đất không bị va chạm thiên thạch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43</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Luyện tập và vận dụng câu 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44</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Đọc thông tin (SGK tr.6): Giải trình tự hệ gene của SARS – CoV – 2 giúp các nhà khoa học tìm ra trình tự nucleotide của gene quy định gai protein. Từ đó tổng hợp mRNA nhân tạo, bao bọc trong màng phospholipid rồi tiêm vào người để tế bào người tạo ra protein gai của virus.</a:t>
            </a:r>
          </a:p>
          <a:p>
            <a:pPr algn="l">
              <a:spcAft>
                <a:spcPts val="800"/>
              </a:spcAft>
            </a:pPr>
            <a:r>
              <a:rPr sz="2000" b="1">
                <a:solidFill>
                  <a:srgbClr val="1E293B"/>
                </a:solidFill>
                <a:latin typeface="Calibri"/>
              </a:rPr>
              <a:t>a) Giải trình tự hệ gene virus là bước giúp xác định gene quy định gai protein.</a:t>
            </a:r>
          </a:p>
          <a:p>
            <a:pPr algn="l">
              <a:spcAft>
                <a:spcPts val="800"/>
              </a:spcAft>
            </a:pPr>
            <a:r>
              <a:rPr sz="2000" b="1">
                <a:solidFill>
                  <a:srgbClr val="1E293B"/>
                </a:solidFill>
                <a:latin typeface="Calibri"/>
              </a:rPr>
              <a:t>b) Vaccine mRNA đưa virus SARS – CoV – 2 còn sống vào cơ thể người.</a:t>
            </a:r>
          </a:p>
          <a:p>
            <a:pPr algn="l">
              <a:spcAft>
                <a:spcPts val="800"/>
              </a:spcAft>
            </a:pPr>
            <a:r>
              <a:rPr sz="2000" b="1">
                <a:solidFill>
                  <a:srgbClr val="1E293B"/>
                </a:solidFill>
                <a:latin typeface="Calibri"/>
              </a:rPr>
              <a:t>c) Sau khi tiêm, hệ thống miễn dịch được kích hoạt tạo ra kháng thể chống lại virus.</a:t>
            </a:r>
          </a:p>
          <a:p>
            <a:pPr algn="l">
              <a:spcAft>
                <a:spcPts val="800"/>
              </a:spcAft>
            </a:pPr>
            <a:r>
              <a:rPr sz="2000" b="1">
                <a:solidFill>
                  <a:srgbClr val="1E293B"/>
                </a:solidFill>
                <a:latin typeface="Calibri"/>
              </a:rPr>
              <a:t>d) Đây là ví dụ cho thấy vai trò của sinh học trong y – dược và triển vọng của sinh học trong tương lai.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45</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Đúng như thông tin trong SGK.</a:t>
            </a:r>
          </a:p>
          <a:p>
            <a:pPr algn="l" marL="365760" indent="-365760">
              <a:spcAft>
                <a:spcPts val="800"/>
              </a:spcAft>
              <a:buClr>
                <a:srgbClr val="1E40AF"/>
              </a:buClr>
              <a:buFont typeface="Arial"/>
              <a:buChar char="•"/>
            </a:pPr>
            <a:r>
              <a:rPr sz="2000">
                <a:solidFill>
                  <a:srgbClr val="1E293B"/>
                </a:solidFill>
                <a:latin typeface="Calibri"/>
              </a:rPr>
              <a:t>b) Sai: Vaccine chỉ chứa mRNA nhân tạo quy định protein gai, không chứa virus sống.</a:t>
            </a:r>
          </a:p>
          <a:p>
            <a:pPr algn="l" marL="365760" indent="-365760">
              <a:spcAft>
                <a:spcPts val="800"/>
              </a:spcAft>
              <a:buClr>
                <a:srgbClr val="1E40AF"/>
              </a:buClr>
              <a:buFont typeface="Arial"/>
              <a:buChar char="•"/>
            </a:pPr>
            <a:r>
              <a:rPr sz="2000">
                <a:solidFill>
                  <a:srgbClr val="1E293B"/>
                </a:solidFill>
                <a:latin typeface="Calibri"/>
              </a:rPr>
              <a:t>c) Đúng: Tế bào người tạo protein gai; hệ miễn dịch nhận diện và tạo kháng thể.</a:t>
            </a:r>
          </a:p>
          <a:p>
            <a:pPr algn="l" marL="365760" indent="-365760">
              <a:spcAft>
                <a:spcPts val="800"/>
              </a:spcAft>
              <a:buClr>
                <a:srgbClr val="1E40AF"/>
              </a:buClr>
              <a:buFont typeface="Arial"/>
              <a:buChar char="•"/>
            </a:pPr>
            <a:r>
              <a:rPr sz="2000">
                <a:solidFill>
                  <a:srgbClr val="1E293B"/>
                </a:solidFill>
                <a:latin typeface="Calibri"/>
              </a:rPr>
              <a:t>d) Đúng: SGK dùng ví dụ vaccine mRNA ở mục “Sinh học trong tương lai” – loại vaccine mới sản xuất thành công trong thời gian ngắn.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46</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Một nhà khoa học dùng móc nhỏ loại bỏ nhân tế bào của trùng giày; tế bào mất nhân bị chết. Ở thí nghiệm đối chứng, nhân được lấy ra rồi đặt lại vị trí cũ.</a:t>
            </a:r>
          </a:p>
          <a:p>
            <a:pPr algn="l">
              <a:spcAft>
                <a:spcPts val="800"/>
              </a:spcAft>
            </a:pPr>
            <a:r>
              <a:rPr sz="2000" b="1">
                <a:solidFill>
                  <a:srgbClr val="1E293B"/>
                </a:solidFill>
                <a:latin typeface="Calibri"/>
              </a:rPr>
              <a:t>a) Mục đích là kiểm chứng giả thuyết nhân có vai trò quyết định sự sống của tế bào.</a:t>
            </a:r>
          </a:p>
          <a:p>
            <a:pPr algn="l">
              <a:spcAft>
                <a:spcPts val="800"/>
              </a:spcAft>
            </a:pPr>
            <a:r>
              <a:rPr sz="2000" b="1">
                <a:solidFill>
                  <a:srgbClr val="1E293B"/>
                </a:solidFill>
                <a:latin typeface="Calibri"/>
              </a:rPr>
              <a:t>b) Nếu tế bào ở lô đối chứng cũng chết thì chưa kết luận được tế bào chết do mất nhân.</a:t>
            </a:r>
          </a:p>
          <a:p>
            <a:pPr algn="l">
              <a:spcAft>
                <a:spcPts val="800"/>
              </a:spcAft>
            </a:pPr>
            <a:r>
              <a:rPr sz="2000" b="1">
                <a:solidFill>
                  <a:srgbClr val="1E293B"/>
                </a:solidFill>
                <a:latin typeface="Calibri"/>
              </a:rPr>
              <a:t>c) Lô đối chứng là không cần thiết vì đã thấy tế bào mất nhân bị chết.</a:t>
            </a:r>
          </a:p>
          <a:p>
            <a:pPr algn="l">
              <a:spcAft>
                <a:spcPts val="800"/>
              </a:spcAft>
            </a:pPr>
            <a:r>
              <a:rPr sz="2000" b="1">
                <a:solidFill>
                  <a:srgbClr val="1E293B"/>
                </a:solidFill>
                <a:latin typeface="Calibri"/>
              </a:rPr>
              <a:t>d) Nếu tế bào ở lô đối chứng sống, lô thực nghiệm chết thì thí nghiệm ủng hộ giả thuyết nhân có vai trò sống còn.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47</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Đúng như SGK.</a:t>
            </a:r>
          </a:p>
          <a:p>
            <a:pPr algn="l" marL="365760" indent="-365760">
              <a:spcAft>
                <a:spcPts val="800"/>
              </a:spcAft>
              <a:buClr>
                <a:srgbClr val="1E40AF"/>
              </a:buClr>
              <a:buFont typeface="Arial"/>
              <a:buChar char="•"/>
            </a:pPr>
            <a:r>
              <a:rPr sz="2000">
                <a:solidFill>
                  <a:srgbClr val="1E293B"/>
                </a:solidFill>
                <a:latin typeface="Calibri"/>
              </a:rPr>
              <a:t>b) Đúng: Có thể do tác động cơ học khi lấy nhân (SGV).</a:t>
            </a:r>
          </a:p>
          <a:p>
            <a:pPr algn="l" marL="365760" indent="-365760">
              <a:spcAft>
                <a:spcPts val="800"/>
              </a:spcAft>
              <a:buClr>
                <a:srgbClr val="1E40AF"/>
              </a:buClr>
              <a:buFont typeface="Arial"/>
              <a:buChar char="•"/>
            </a:pPr>
            <a:r>
              <a:rPr sz="2000">
                <a:solidFill>
                  <a:srgbClr val="1E293B"/>
                </a:solidFill>
                <a:latin typeface="Calibri"/>
              </a:rPr>
              <a:t>c) Sai: Đối chứng loại trừ ảnh hưởng của thao tác lấy nhân.</a:t>
            </a:r>
          </a:p>
          <a:p>
            <a:pPr algn="l" marL="365760" indent="-365760">
              <a:spcAft>
                <a:spcPts val="800"/>
              </a:spcAft>
              <a:buClr>
                <a:srgbClr val="1E40AF"/>
              </a:buClr>
              <a:buFont typeface="Arial"/>
              <a:buChar char="•"/>
            </a:pPr>
            <a:r>
              <a:rPr sz="2000">
                <a:solidFill>
                  <a:srgbClr val="1E293B"/>
                </a:solidFill>
                <a:latin typeface="Calibri"/>
              </a:rPr>
              <a:t>d) Đúng: SGV tr.25.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48</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Cơ thể người có các cơ chế duy trì thân nhiệt, pH, đường huyết, nồng độ các ion ở mức tương đối ổn định; đồng thời luôn lấy thức ăn, nước, O₂ và thải chất thải ra môi trường.</a:t>
            </a:r>
          </a:p>
          <a:p>
            <a:pPr algn="l">
              <a:spcAft>
                <a:spcPts val="800"/>
              </a:spcAft>
            </a:pPr>
            <a:r>
              <a:rPr sz="2000" b="1">
                <a:solidFill>
                  <a:srgbClr val="1E293B"/>
                </a:solidFill>
                <a:latin typeface="Calibri"/>
              </a:rPr>
              <a:t>a) Cơ thể người là một hệ mở.</a:t>
            </a:r>
          </a:p>
          <a:p>
            <a:pPr algn="l">
              <a:spcAft>
                <a:spcPts val="800"/>
              </a:spcAft>
            </a:pPr>
            <a:r>
              <a:rPr sz="2000" b="1">
                <a:solidFill>
                  <a:srgbClr val="1E293B"/>
                </a:solidFill>
                <a:latin typeface="Calibri"/>
              </a:rPr>
              <a:t>b) Duy trì thân nhiệt ổn định là biểu hiện của khả năng tự điều chỉnh.</a:t>
            </a:r>
          </a:p>
          <a:p>
            <a:pPr algn="l">
              <a:spcAft>
                <a:spcPts val="800"/>
              </a:spcAft>
            </a:pPr>
            <a:r>
              <a:rPr sz="2000" b="1">
                <a:solidFill>
                  <a:srgbClr val="1E293B"/>
                </a:solidFill>
                <a:latin typeface="Calibri"/>
              </a:rPr>
              <a:t>c) Khi môi trường thay đổi, các thông số bên trong cơ thể thay đổi theo hoàn toàn.</a:t>
            </a:r>
          </a:p>
          <a:p>
            <a:pPr algn="l">
              <a:spcAft>
                <a:spcPts val="800"/>
              </a:spcAft>
            </a:pPr>
            <a:r>
              <a:rPr sz="2000" b="1">
                <a:solidFill>
                  <a:srgbClr val="1E293B"/>
                </a:solidFill>
                <a:latin typeface="Calibri"/>
              </a:rPr>
              <a:t>d) Nếu khả năng tự điều chỉnh bị trục trặc, cơ thể có thể bị bệnh, thậm chí tử vong.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49</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Không ngừng trao đổi vật chất, năng lượng với môi trường.</a:t>
            </a:r>
          </a:p>
          <a:p>
            <a:pPr algn="l" marL="365760" indent="-365760">
              <a:spcAft>
                <a:spcPts val="800"/>
              </a:spcAft>
              <a:buClr>
                <a:srgbClr val="1E40AF"/>
              </a:buClr>
              <a:buFont typeface="Arial"/>
              <a:buChar char="•"/>
            </a:pPr>
            <a:r>
              <a:rPr sz="2000">
                <a:solidFill>
                  <a:srgbClr val="1E293B"/>
                </a:solidFill>
                <a:latin typeface="Calibri"/>
              </a:rPr>
              <a:t>b) Đúng: Cân bằng nội môi.</a:t>
            </a:r>
          </a:p>
          <a:p>
            <a:pPr algn="l" marL="365760" indent="-365760">
              <a:spcAft>
                <a:spcPts val="800"/>
              </a:spcAft>
              <a:buClr>
                <a:srgbClr val="1E40AF"/>
              </a:buClr>
              <a:buFont typeface="Arial"/>
              <a:buChar char="•"/>
            </a:pPr>
            <a:r>
              <a:rPr sz="2000">
                <a:solidFill>
                  <a:srgbClr val="1E293B"/>
                </a:solidFill>
                <a:latin typeface="Calibri"/>
              </a:rPr>
              <a:t>c) Sai: Cơ thể tự điều chỉnh để duy trì ổn định.</a:t>
            </a:r>
          </a:p>
          <a:p>
            <a:pPr algn="l" marL="365760" indent="-365760">
              <a:spcAft>
                <a:spcPts val="800"/>
              </a:spcAft>
              <a:buClr>
                <a:srgbClr val="1E40AF"/>
              </a:buClr>
              <a:buFont typeface="Arial"/>
              <a:buChar char="•"/>
            </a:pPr>
            <a:r>
              <a:rPr sz="2000">
                <a:solidFill>
                  <a:srgbClr val="1E293B"/>
                </a:solidFill>
                <a:latin typeface="Calibri"/>
              </a:rPr>
              <a:t>d) Đúng: SGK mục II.2.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50</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Mùa đông, để giữ ấm cho cây mạ, bà con nông dân thường tát nước vào ruộng mạ.</a:t>
            </a:r>
          </a:p>
          <a:p>
            <a:pPr algn="l">
              <a:spcAft>
                <a:spcPts val="800"/>
              </a:spcAft>
            </a:pPr>
            <a:r>
              <a:rPr sz="2000" b="1">
                <a:solidFill>
                  <a:srgbClr val="1E293B"/>
                </a:solidFill>
                <a:latin typeface="Calibri"/>
              </a:rPr>
              <a:t>a) Nước có nhiệt dung đặc trưng cao.</a:t>
            </a:r>
          </a:p>
          <a:p>
            <a:pPr algn="l">
              <a:spcAft>
                <a:spcPts val="800"/>
              </a:spcAft>
            </a:pPr>
            <a:r>
              <a:rPr sz="2000" b="1">
                <a:solidFill>
                  <a:srgbClr val="1E293B"/>
                </a:solidFill>
                <a:latin typeface="Calibri"/>
              </a:rPr>
              <a:t>b) Ban ngày nước hấp thụ nhiệt, ban đêm toả nhiệt làm không khí quanh cây mạ ấm hơn.</a:t>
            </a:r>
          </a:p>
          <a:p>
            <a:pPr algn="l">
              <a:spcAft>
                <a:spcPts val="800"/>
              </a:spcAft>
            </a:pPr>
            <a:r>
              <a:rPr sz="2000" b="1">
                <a:solidFill>
                  <a:srgbClr val="1E293B"/>
                </a:solidFill>
                <a:latin typeface="Calibri"/>
              </a:rPr>
              <a:t>c) Tính chất này có được là do giữa các phân tử nước có nhiều liên kết ion.</a:t>
            </a:r>
          </a:p>
          <a:p>
            <a:pPr algn="l">
              <a:spcAft>
                <a:spcPts val="800"/>
              </a:spcAft>
            </a:pPr>
            <a:r>
              <a:rPr sz="2000" b="1">
                <a:solidFill>
                  <a:srgbClr val="1E293B"/>
                </a:solidFill>
                <a:latin typeface="Calibri"/>
              </a:rPr>
              <a:t>d) Vùng biển mùa đông thường ấm hơn vùng xa biển cũng được giải thích bằng tính chất này.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51</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Phải cung cấp nhiệt lượng lớn mới làm tăng nhiệt độ của nước.</a:t>
            </a:r>
          </a:p>
          <a:p>
            <a:pPr algn="l" marL="365760" indent="-365760">
              <a:spcAft>
                <a:spcPts val="800"/>
              </a:spcAft>
              <a:buClr>
                <a:srgbClr val="1E40AF"/>
              </a:buClr>
              <a:buFont typeface="Arial"/>
              <a:buChar char="•"/>
            </a:pPr>
            <a:r>
              <a:rPr sz="2000">
                <a:solidFill>
                  <a:srgbClr val="1E293B"/>
                </a:solidFill>
                <a:latin typeface="Calibri"/>
              </a:rPr>
              <a:t>b) Đúng: SGV tr.36.</a:t>
            </a:r>
          </a:p>
          <a:p>
            <a:pPr algn="l" marL="365760" indent="-365760">
              <a:spcAft>
                <a:spcPts val="800"/>
              </a:spcAft>
              <a:buClr>
                <a:srgbClr val="1E40AF"/>
              </a:buClr>
              <a:buFont typeface="Arial"/>
              <a:buChar char="•"/>
            </a:pPr>
            <a:r>
              <a:rPr sz="2000">
                <a:solidFill>
                  <a:srgbClr val="1E293B"/>
                </a:solidFill>
                <a:latin typeface="Calibri"/>
              </a:rPr>
              <a:t>c) Sai: Do nhiều liên kết hydrogen.</a:t>
            </a:r>
          </a:p>
          <a:p>
            <a:pPr algn="l" marL="365760" indent="-365760">
              <a:spcAft>
                <a:spcPts val="800"/>
              </a:spcAft>
              <a:buClr>
                <a:srgbClr val="1E40AF"/>
              </a:buClr>
              <a:buFont typeface="Arial"/>
              <a:buChar char="•"/>
            </a:pPr>
            <a:r>
              <a:rPr sz="2000">
                <a:solidFill>
                  <a:srgbClr val="1E293B"/>
                </a:solidFill>
                <a:latin typeface="Calibri"/>
              </a:rPr>
              <a:t>d) Đúng: Cùng cơ sở nhiệt dung cao của nước.</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52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Uỷ ban Môi trường và Phát triển Thế giới (WCED) của Liên hợp quốc đưa ra định nghĩa về phát triển bền vững vào năm nào?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Sinh học 10 · Giữa học kì I          53</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số: 1987.</a:t>
            </a:r>
          </a:p>
          <a:p>
            <a:pPr algn="l" marL="365760" indent="-365760">
              <a:spcAft>
                <a:spcPts val="800"/>
              </a:spcAft>
              <a:buClr>
                <a:srgbClr val="1E40AF"/>
              </a:buClr>
              <a:buFont typeface="Arial"/>
              <a:buChar char="•"/>
            </a:pPr>
            <a:r>
              <a:rPr sz="2000">
                <a:solidFill>
                  <a:srgbClr val="1E293B"/>
                </a:solidFill>
                <a:latin typeface="Calibri"/>
              </a:rPr>
              <a:t>SGK mục III.1: “Theo định nghĩa của Uỷ ban Môi trường và Phát triển Thế giới (WCED) của Liên hợp quốc (1987)...”.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