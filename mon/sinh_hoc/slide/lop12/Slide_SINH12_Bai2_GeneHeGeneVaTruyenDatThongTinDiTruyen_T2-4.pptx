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gần 3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ef9_owQpcd4" TargetMode="External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2. GENE, HỆ GENE VÀ QUÁ TRÌNH TRUYỀN ĐẠT THÔNG TIN DI TRUYỀN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12 – Kết nối tri thức với cuộc sống · 03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khái niệm, cấu trúc gene; phân biệt các loại gene.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biệt các loại RNA; phân tích bản chất phiên mã; nêu khái niệm phiên mã ngược.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khái niệm, đặc điểm mã di truyền; trình bày cơ chế dịch mã.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Vẽ, giải thích sơ đồ DNA – RNA – protein.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Phát biểu khái niệm hệ gene; nêu thành tựu, ứng dụng giải trình tự hệ gene người.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2: GENE VÀ HỆ GENE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Cơ chế phân tử của quá trình truyền thông tin di truyền từ gene tới protein xảy ra như thế nào?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GENE LÀ GÌ?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Một trình tự nucleotide như thế nào được gọi là gene? Phân biệt cấu trúc gene ở sinh vật nhân sơ với nhân thực.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Quan sát Hình 2.1, 2.2.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GENE LÀ GÌ?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Gene: đoạn DNA mang thông tin quy định chuỗi polypeptide hoặc RNA; gồm vùng điều hoà – mã hoá – kết thúc.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Nhân sơ: gene liên quan thành nhóm, chung vùng điều hoà; không phân mảnh.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Nhân thực: mỗi gene riêng; phần lớn phân mảnh (exon – intron).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Gene cấu trúc – gene điều hoà; phân mảnh – không phân mảnh.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7</a:t>
            </a:r>
          </a:p>
        </p:txBody>
      </p:sp>
      <p:pic>
        <p:nvPicPr>
          <p:cNvPr id="7" name="Picture 6" descr="QR_video_ef9_owQpc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Nobel y sinh 2022: Giải mã gene để hiểu về sự tiến hòa của loài người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VTV24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Ứng dụng giải trình tự hệ gene trong nghiên cứu tiến hoá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https://www.youtube.com/watch?v=ef9_owQpcd4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GENE VÀ GIẢI TRÌNH TỰ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Tập hợp tất cả các gene có được gọi là hệ gene không? Giải trình tự hệ gene người đem lại ứng dụng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Hệ gene gồm những trình tự nào?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GENE VÀ GIẢI TRÌNH TỰ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Không – hệ gene là toàn bộ DNA, gồm cả trình tự không phải gene.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Hệ gene người: hơn 3,2 tỉ cặp nucleotide, ~21 300 gene mã hoá protein.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Ứng dụng: phát hiện gene bệnh, thuốc hướng đích, pháp y, nghiên cứu tiến hoá.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Giải trình tự hệ gene – chìa khoá y học hiện đại.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3: PHIÊN MÃ – CÁC LOẠI RNA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QUÁ TRÌNH PHIÊN MÃ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Trình bày quá trình phiên mã. Phiên mã ở nhân thực có gì khác nhân sơ?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RNA polymerase tổng hợp theo chiều nào?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QUÁ TRÌNH PHIÊN MÃ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Khởi đầu: RNA polymerase liên kết promoter.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Tổng hợp mRNA 5’ → 3’; A – U, T – A, G – C, C – 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Kết thúc: gặp tín hiệu kết thúc ở đầu 5’ mạch khuôn.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Nhân thực: tiền mRNA → gắn mũ, đuôi poly A, cắt intron, nối exon.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Phiên mã: DNA → RNA theo NTBS.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LOẠI RNA VÀ PHIÊN MÃ NGƯỢC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biệt cấu trúc, chức năng mRNA, tRNA, rRNA. Phiên mã ngược có vai trò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tRNA có anticodon.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CÁC LOẠI RNA VÀ PHIÊN MÃ NGƯỢC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mRNA: mạch thẳng, khuôn dịch mã.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tRNA: ba thuỳ, anticodon, mang amino acid.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rRNA: cấu tạo ribosome.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Phiên mã ngược: virus RNA (HIV) tích hợp vào hệ gene chủ; telomerase kéo dài đầu mút NST; tạo cDNA, xét nghiệm virus.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RNA – cầu nối giữa gene và protein.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4: MÃ DI TRUYỀN – DỊCH MÃ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MÃ DI TRUYỀN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Mã di truyền là gì? Trình bày các đặc điểm. Dịch trình tự 5’AUG GUU GCC3’.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Tra Bảng 2.1.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MÃ DI TRUYỀN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Bộ ba nucleotide trên mRNA quy định amino acid; 61 bộ ba mã hoá, 3 bộ ba kết thúc.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Đặc điểm: mã bộ ba, đọc liên tục không gối, thoái hoá, đặc hiệu, vạn năng.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5’AUG GUU GCC3’ → Met – Val – Ala.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AUG: mở đầu; UAA, UAG, UGA: kết thúc.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QUÁ TRÌNH DỊCH MÃ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Trình bày ba giai đoạn dịch mã. Vì sao tổng hợp protein được gọi là dịch mã?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Vị trí A, P, E của ribosome.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QUÁ TRÌNH DỊCH MÃ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Khởi đầu: tiểu phần nhỏ gắn AUG, tRNA-fMet, tiểu phần lớn gắn vào.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Kéo dài: tRNA vào A, liên kết peptide, ribosome dịch 5’ → 3’.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Kết thúc: gặp bộ ba kết thúc, yếu tố giải phóng tách chuỗi.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“Dịch” trình tự nucleotide sang trình tự amino acid.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DNA → mRNA → protein.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GENE PHÂN MẢNH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Biết tổng số nucleotide vùng mã hoá của gene nhân thực có tính được số amino acid không? Gene phân mảnh có lợi ích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Intron bị cắt bỏ.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GENE PHÂN MẢNH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Không tính được: intron bị loại bỏ, một số exon cũng có thể bị loại.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Lợi ích: một gene tạo nhiều loại protein ở các tế bào khác nhau.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→ Tiết kiệm vật chất di truyền, tiết kiệm năng lượng.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Gene phân mảnh – ưu thế tiến hoá.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22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735059" y="1830405"/>
            <a:ext cx="1603829" cy="84055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77582" y="1554093"/>
            <a:ext cx="1857477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Đoạn DNA quy định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polypeptide/RNA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550147" y="2457917"/>
            <a:ext cx="1788741" cy="213045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62494" y="2181606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Điều hoà – mã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hoá – kết thúc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936481" y="2670962"/>
            <a:ext cx="1402407" cy="313756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76160" y="2809118"/>
            <a:ext cx="2260321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Nhân thực: exon, intron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764777" y="2670962"/>
            <a:ext cx="1574111" cy="84055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47864" y="3235208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Gene cấu trúc, gene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điều hoà</a:t>
            </a:r>
          </a:p>
        </p:txBody>
      </p:sp>
      <p:sp>
        <p:nvSpPr>
          <p:cNvPr id="16" name="Oval 15"/>
          <p:cNvSpPr/>
          <p:nvPr/>
        </p:nvSpPr>
        <p:spPr>
          <a:xfrm>
            <a:off x="3779974" y="2427575"/>
            <a:ext cx="1117829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Gene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715646" y="1729694"/>
            <a:ext cx="1603829" cy="941268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319475" y="1453382"/>
            <a:ext cx="1857477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Toàn bộ DNA trong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tế bào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715646" y="2357206"/>
            <a:ext cx="1659963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375609" y="2080895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Người: 3,2 tỉ cặp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nucleotide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15646" y="2670962"/>
            <a:ext cx="1745815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461461" y="2708407"/>
            <a:ext cx="1573505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~21 300 gene mã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hoá protein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15646" y="2670962"/>
            <a:ext cx="1788741" cy="941268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504387" y="3335919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Y học, pháp y,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tiến hoá</a:t>
            </a:r>
          </a:p>
        </p:txBody>
      </p:sp>
      <p:sp>
        <p:nvSpPr>
          <p:cNvPr id="26" name="Oval 25"/>
          <p:cNvSpPr/>
          <p:nvPr/>
        </p:nvSpPr>
        <p:spPr>
          <a:xfrm>
            <a:off x="6948705" y="2427575"/>
            <a:ext cx="1533881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Hệ gene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873743" y="4498751"/>
            <a:ext cx="1465145" cy="73984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38898" y="4222440"/>
            <a:ext cx="2134845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RNA polymerase, 5’ →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3’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635999" y="5025552"/>
            <a:ext cx="1702889" cy="213045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6642" y="4849952"/>
            <a:ext cx="1659357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mRNA, tRNA, rRNA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807703" y="5238597"/>
            <a:ext cx="1531185" cy="213045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04938" y="5276042"/>
            <a:ext cx="2002765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Cắt intron, nối exon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807703" y="5238597"/>
            <a:ext cx="1531185" cy="73984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04938" y="5702132"/>
            <a:ext cx="2002765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Phiên mã ngược: HIV,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telomerase</a:t>
            </a:r>
          </a:p>
        </p:txBody>
      </p:sp>
      <p:sp>
        <p:nvSpPr>
          <p:cNvPr id="36" name="Oval 35"/>
          <p:cNvSpPr/>
          <p:nvPr/>
        </p:nvSpPr>
        <p:spPr>
          <a:xfrm>
            <a:off x="3502606" y="4826713"/>
            <a:ext cx="1672565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Phiên mã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– RNA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15646" y="4297329"/>
            <a:ext cx="1834969" cy="941268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550615" y="4021018"/>
            <a:ext cx="1395197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Mã bộ ba, 61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+ 3 bộ ba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15646" y="4924841"/>
            <a:ext cx="1531185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246831" y="4648530"/>
            <a:ext cx="2002765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Thoái hoá, đặc hiệu,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vạn năng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15646" y="5238597"/>
            <a:ext cx="1788741" cy="31375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504387" y="5276042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Khởi đầu – kéo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dài – kết thúc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15646" y="5238597"/>
            <a:ext cx="1917519" cy="941268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633165" y="5903554"/>
            <a:ext cx="1230097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DNA → RNA →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protein</a:t>
            </a:r>
          </a:p>
        </p:txBody>
      </p:sp>
      <p:sp>
        <p:nvSpPr>
          <p:cNvPr id="46" name="Oval 45"/>
          <p:cNvSpPr/>
          <p:nvPr/>
        </p:nvSpPr>
        <p:spPr>
          <a:xfrm>
            <a:off x="6671337" y="4658216"/>
            <a:ext cx="2088617" cy="1160762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Mã di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truyền – dịch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mã</a:t>
            </a:r>
          </a:p>
        </p:txBody>
      </p:sp>
      <p:sp>
        <p:nvSpPr>
          <p:cNvPr id="47" name="Oval 46"/>
          <p:cNvSpPr/>
          <p:nvPr/>
        </p:nvSpPr>
        <p:spPr>
          <a:xfrm>
            <a:off x="4862765" y="3287245"/>
            <a:ext cx="2329003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GENE, HỆ GENE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VÀ TRUYỀN ĐẠT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TTDT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12 · Bài 2. Gene, hệ gene và truyền đạt thông tin di truyền          23</a:t>
            </a:r>
          </a:p>
        </p:txBody>
      </p:sp>
      <p:pic>
        <p:nvPicPr>
          <p:cNvPr id="7" name="Picture 6" descr="QR_sinh_cc_bai2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2. Gene, hệ gene và truyền đạt thông tin di truyền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trangtu66.github.io/Taode_thi_online/sinh_cc_bai2_k12.html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