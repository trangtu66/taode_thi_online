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mở đầu SGK tr.5; tình huống 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Video mô phỏng 2 phút 21 giây (lời tiếng Anh) – GV tắt tiếng, tự thuyết minh.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5l7jQAuxqu8" TargetMode="External"/><Relationship Id="rId4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1. DNA VÀ CƠ CHẾ TÁI BẢN DNA (BÀI HỌC STEM)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Sinh học 12 – Kết nối tri thức với cuộc sống · 01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– Tổ Sử – Địa – Sinh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– STEM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Trình bày chức năng của DNA dựa vào cấu trúc hoá học; ý nghĩa kết cặp A – T, G – 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tích cơ chế tái bản DNA (bán bảo toàn, mạch liên tục – gián đoạn).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Chế tạo mô hình không gian DNA đúng tỉ lệ và mô hình chạc tái bản bằng vật liệu tái chế.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Thực hiện quy trình thiết kế kĩ thuật: tiêu chí → giải pháp → chế tạo → thử nghiệm → điều chỉnh.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Dùng AI có kiểm chứng; trung thực, tiết kiệm, bảo vệ môi trường (tái chế vật liệu).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CHỦ ĐỀ STEM: MÔ HÌNH DNA VÀ SỰ NHÂN ĐÔI DNA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HOẠT ĐỘNG 1: XÁC ĐỊNH VẤN ĐỀ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– STEM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Một phân tử hữu cơ cần có đặc điểm cấu trúc như thế nào để đảm nhận chức năng vật chất di truyền?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Nhiệm vụ: chế tạo mô hình DNA và chạc tái bản tặng phòng bộ môn.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TIÊU CHÍ SẢN PHẨM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– STEM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Đúng khoa học</a:t>
            </a:r>
            <a:r>
              <a:rPr sz="2400">
                <a:solidFill>
                  <a:srgbClr val="1E293B"/>
                </a:solidFill>
                <a:latin typeface="Calibri"/>
              </a:rPr>
              <a:t>: 2 mạch ngược chiều; 10 cặp/chu kì; A – T 2, G – C 3 liên kết 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Đúng tỉ lệ</a:t>
            </a:r>
            <a:r>
              <a:rPr sz="2400">
                <a:solidFill>
                  <a:srgbClr val="1E293B"/>
                </a:solidFill>
                <a:latin typeface="Calibri"/>
              </a:rPr>
              <a:t>: 1 nm ↔ 10 cm → chu kì 34 cm, đường kính 20 cm.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Mô hình tái bản</a:t>
            </a:r>
            <a:r>
              <a:rPr sz="2400">
                <a:solidFill>
                  <a:srgbClr val="1E293B"/>
                </a:solidFill>
                <a:latin typeface="Calibri"/>
              </a:rPr>
              <a:t>: Ori, chạc chữ Y, đoạn mồi, mạch liên tục, Okazaki, enzyme.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Vật liệu</a:t>
            </a:r>
            <a:r>
              <a:rPr sz="2400">
                <a:solidFill>
                  <a:srgbClr val="1E293B"/>
                </a:solidFill>
                <a:latin typeface="Calibri"/>
              </a:rPr>
              <a:t> ≥ 70% tái chế, chi phí ≤ 50 000 đồng; </a:t>
            </a:r>
            <a:r>
              <a:rPr sz="2400" b="1">
                <a:solidFill>
                  <a:srgbClr val="1E293B"/>
                </a:solidFill>
                <a:latin typeface="Calibri"/>
              </a:rPr>
              <a:t>bền, đẹp</a:t>
            </a:r>
            <a:r>
              <a:rPr sz="2400">
                <a:solidFill>
                  <a:srgbClr val="1E293B"/>
                </a:solidFill>
                <a:latin typeface="Calibri"/>
              </a:rPr>
              <a:t>, có chú thích.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KIẾN THỨC NỀN 1: CHỨC NĂNG CỦA DNA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– STEM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Nêu các đặc điểm cấu trúc phù hợp với chức năng của DNA. Vì sao protein không thể là vật chất di truyền?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Quan sát Hình 1.1 – mô hình Watson và Crick.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KIẾN THỨC NỀN 1: CHỨC NĂNG CỦA DNA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– STEM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Đa phân 4 loại nucleotide – “chữ cái” ghi mã.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Xoắn kép bền vững; NTBS → phiên mã, dịch mã; kết cặp A – T, G – 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Protein không có cấu trúc theo NTBS → không tự sao chép.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DNA: mang, bảo quản, truyền đạt thông tin di truyền.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– STEM          8</a:t>
            </a:r>
          </a:p>
        </p:txBody>
      </p:sp>
      <p:pic>
        <p:nvPicPr>
          <p:cNvPr id="7" name="Picture 6" descr="QR_video_5l7jQAuxqu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DNA Replication (Advanced) – mô phỏng tái bản DNA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HHMI BioInteractive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Hoạt động 2 – Nội dung 2: tái bản DNA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https://www.youtube.com/watch?v=5l7jQAuxqu8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KIẾN THỨC NỀN 2: TÁI BẢN DNA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– STEM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Vì sao trên mỗi chạc sao chép, một mạch mới tổng hợp liên tục còn mạch kia gián đoạn?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DNA polymerase chỉ gắn nucleotide vào đầu 3’.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KIẾN THỨC NỀN 2: TÁI BẢN DNA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– STEM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Hai mạch DNA ngược chiều nhau.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DNA polymerase chỉ tổng hợp mạch mới theo chiều 5’ → 3’, cần đoạn mồi.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Một mạch liên tục; mạch kia từng đoạn Okazaki, ligase nối lại.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Kết quả: 2 DNA con, mỗi phân tử 1 mạch cũ + 1 mạch mới.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Nguyên tắc bổ sung và bán bảo toàn.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HOẠT ĐỘNG 3: TRẠM KIỂM CHỨNG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– STEM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AI viết: “Mỗi chu kì xoắn dài 3,4 nm gồm 10 cặp nucleotide; A liên kết với T bằng 3 liên kết hydrogen; hai mạch DNA song song cùng chiều; DNA polymerase tổng hợp theo chiều 3’ → 5’ nên cả hai mạch đều liên tục.” Tìm lỗi.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Đối chiếu SGK – có 3 lỗi.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HOẠT ĐỘNG 3: TRẠM KIỂM CHỨNG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– STEM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Đúng: 3,4 nm/chu kì, 10 cặp nucleotide.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Sai: A – T có 2 liên kết hydrogen.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Sai: hai mạch ngược chiều.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Sai: tổng hợp 5’ → 3’, chỉ một mạch liên tục.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kiểm chứng AI → mô hình sai khoa học.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TÍNH TOÁN THIẾT KẾ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– STEM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Đoạn DNA 20 cặp nucleotide, có 8 cặp G – C. Tính số liên kết hydrogen, chiều dài (nm) và chiều cao mô hình (tỉ lệ 1 nm ↔ 10 cm). Tái bản 3 lần tạo bao nhiêu DNA con?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A – T: 2 liên kết; G – C: 3 liên kết; 0,34 nm/cặp.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TÍNH TOÁN THIẾT KẾ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– STEM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Liên kết hydrogen: 12 × 2 + 8 × 3 = 48.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Chiều dài: 20 × 0,34 = 6,8 nm → mô hình 68 cm (2 chu kì xoắn).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Tái bản 3 lần: 2³ = 8 phân tử DNA con.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48 liên kết H · 68 cm · 8 DNA con.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NGOÀI GIỜ: CHẾ TẠO – THỬ NGHIỆM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– STEM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Chế tạo theo bản thiết kế đã duyệt (5 – 7 ngày).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Đo, đếm, ghi bảng thử nghiệm; chụp ảnh, quay video.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Ghi Nhật ký sử dụng AI; an toàn khi cắt, dán.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Làm bài củng cố trực tuyến (mã QR cuối bài).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– STEM          16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966199" y="1628983"/>
            <a:ext cx="1372689" cy="1041979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6442" y="1352671"/>
            <a:ext cx="2319757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Mang, bảo quản, truyền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đạt TTDT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550147" y="2256495"/>
            <a:ext cx="1788741" cy="41446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62494" y="1980184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Đa phân: A, T,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G, C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721851" y="2670962"/>
            <a:ext cx="1617037" cy="21304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90790" y="2607696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Xoắn kép 3,4 nm/10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cặp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335517" y="2670962"/>
            <a:ext cx="2003371" cy="941268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277124" y="3235208"/>
            <a:ext cx="1058393" cy="754044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 – T: 2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lk H; G –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C: 3 lk H</a:t>
            </a:r>
          </a:p>
        </p:txBody>
      </p:sp>
      <p:sp>
        <p:nvSpPr>
          <p:cNvPr id="16" name="Oval 15"/>
          <p:cNvSpPr/>
          <p:nvPr/>
        </p:nvSpPr>
        <p:spPr>
          <a:xfrm>
            <a:off x="3433264" y="2259078"/>
            <a:ext cx="1811249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① Chức năng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DNA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715646" y="1830405"/>
            <a:ext cx="1788741" cy="840557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504387" y="1554093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Ori → chạc chữ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Y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715646" y="2457917"/>
            <a:ext cx="1280233" cy="21304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95879" y="2181606"/>
            <a:ext cx="2504669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Đoạn mồi; DNA polymerase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5’ → 3’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15646" y="2670962"/>
            <a:ext cx="1745815" cy="414467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461461" y="2809118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Mạch liên tục –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Okazaki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15646" y="2670962"/>
            <a:ext cx="1874593" cy="941268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90239" y="3436630"/>
            <a:ext cx="1315949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Bán bảo toàn</a:t>
            </a:r>
          </a:p>
        </p:txBody>
      </p:sp>
      <p:sp>
        <p:nvSpPr>
          <p:cNvPr id="26" name="Oval 25"/>
          <p:cNvSpPr/>
          <p:nvPr/>
        </p:nvSpPr>
        <p:spPr>
          <a:xfrm>
            <a:off x="6948705" y="2259078"/>
            <a:ext cx="1533881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② Tái bản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DNA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596375" y="4498751"/>
            <a:ext cx="1742513" cy="73984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16266" y="4222440"/>
            <a:ext cx="1580109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5 tiêu chí sản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phẩm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378443" y="5126263"/>
            <a:ext cx="1960445" cy="11233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234198" y="4849952"/>
            <a:ext cx="1144245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Tỉ lệ 1 nm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↔ 10 cm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635999" y="5238597"/>
            <a:ext cx="1702889" cy="414467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76642" y="5477464"/>
            <a:ext cx="1659357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Vật liệu tái chế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721851" y="5238597"/>
            <a:ext cx="1617037" cy="840557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90790" y="5903554"/>
            <a:ext cx="1831061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Trạm kiểm chứng AI</a:t>
            </a:r>
          </a:p>
        </p:txBody>
      </p:sp>
      <p:sp>
        <p:nvSpPr>
          <p:cNvPr id="36" name="Oval 35"/>
          <p:cNvSpPr/>
          <p:nvPr/>
        </p:nvSpPr>
        <p:spPr>
          <a:xfrm>
            <a:off x="3502606" y="4826713"/>
            <a:ext cx="1672565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③ Thiết kế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mô hình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715646" y="4599462"/>
            <a:ext cx="1617037" cy="63913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332683" y="4323151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Thử nghiệm, đo sai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lệch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7715646" y="5126263"/>
            <a:ext cx="1445333" cy="11233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160979" y="4950663"/>
            <a:ext cx="2174469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Triển lãm, thuyết minh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15646" y="5238597"/>
            <a:ext cx="1831667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547313" y="5376753"/>
            <a:ext cx="1401801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Đánh giá chéo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715646" y="5238597"/>
            <a:ext cx="1659963" cy="73984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375609" y="5802843"/>
            <a:ext cx="1745209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Bảo vệ nguồn gene</a:t>
            </a:r>
          </a:p>
        </p:txBody>
      </p:sp>
      <p:sp>
        <p:nvSpPr>
          <p:cNvPr id="46" name="Oval 45"/>
          <p:cNvSpPr/>
          <p:nvPr/>
        </p:nvSpPr>
        <p:spPr>
          <a:xfrm>
            <a:off x="6948705" y="4826713"/>
            <a:ext cx="1533881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④ Chế tạo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– chia sẻ</a:t>
            </a:r>
          </a:p>
        </p:txBody>
      </p:sp>
      <p:sp>
        <p:nvSpPr>
          <p:cNvPr id="47" name="Oval 46"/>
          <p:cNvSpPr/>
          <p:nvPr/>
        </p:nvSpPr>
        <p:spPr>
          <a:xfrm>
            <a:off x="5019941" y="3287245"/>
            <a:ext cx="2014652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DNA VÀ CƠ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CHẾ TÁI BẢN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DNA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– STEM          17</a:t>
            </a:r>
          </a:p>
        </p:txBody>
      </p:sp>
      <p:pic>
        <p:nvPicPr>
          <p:cNvPr id="7" name="Picture 6" descr="QR_sinh_cc_bai1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Bài 1. DNA và cơ chế tái bản DNA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trangtu66.github.io/Taode_thi_online/sinh_cc_bai1_k12.html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