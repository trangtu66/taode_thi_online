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GV nêu mục tiêu; HS ghi vào vở. Nhắc HS chuẩn bị điện thoại để làm bài củng cố cuối tiết.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mở đầu SGK tr.5.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Bấm vào đường link hoặc quét mã QR để mở video (cần Internet). Video dài 47 phút – GV chỉ chiếu trích đoạn hoặc giao HS xem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ĐỀ BÀI – cho HS suy nghĩ, thảo luận (không chiếu lời giải).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LỜI GIẢI – GV chốt sau khi HS trình bày.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youtube.com/watch?v=j-FdQfBL2mU" TargetMode="External"/><Relationship Id="rId4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20116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BÀI 1. KHÁI QUÁT VỀ TRAO ĐỔI CHẤT VÀ CHUYỂN HOÁ NĂNG LƯỢNG</a:t>
            </a:r>
          </a:p>
          <a:p>
            <a:pPr algn="ctr">
              <a:spcAft>
                <a:spcPts val="800"/>
              </a:spcAft>
            </a:pPr>
            <a:r>
              <a:rPr sz="2400">
                <a:solidFill>
                  <a:srgbClr val="FFFFFF"/>
                </a:solidFill>
                <a:latin typeface="Calibri"/>
              </a:rPr>
              <a:t>Sinh học 11 – Kết nối tri thức với cuộc sống · 01 tiết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Trường THPT – Tổ Sử – Địa – Sinh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MỤC TIÊU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7548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Phân tích được vai trò của trao đổi chất và chuyển hoá năng lượng đối với sinh vật.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được các dấu hiệu đặc trưng của trao đổi chất và chuyển hoá năng lượng.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Mô tả tóm tắt ba giai đoạn chuyển hoá năng lượng trong sinh giới.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Trình bày mối quan hệ giữa trao đổi chất và chuyển hoá năng lượng ở cấp tế bào và cơ thể.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Nêu được phương thức tự dưỡng, dị dưỡng; vai trò của sinh vật tự dưỡng.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Có ý thức ăn uống hợp lí, bảo vệ cây xanh và môi trường.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2926080"/>
            <a:ext cx="164592" cy="100584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515600" cy="13716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>
                <a:solidFill>
                  <a:srgbClr val="1E40AF"/>
                </a:solidFill>
                <a:latin typeface="Calibri"/>
              </a:rPr>
              <a:t>TIẾT 1: KHÁI QUÁT VỀ TRAO ĐỔI CHẤT VÀ CHUYỂN HOÁ NĂNG LƯỢNG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786823" y="457200"/>
            <a:ext cx="1856232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KHỞI ĐỘNG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116568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45720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Điều gì xảy ra nếu cơ thể sinh vật không lấy đủ các chất cần thiết từ môi trường</a:t>
            </a:r>
          </a:p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và không thải các chất ra môi trường?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VAI TRÒ VÀ DẤU HIỆU ĐẶC TRƯNG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Trao đổi chất và chuyển hoá năng lượng có vai trò gì đối với sinh vật? Những dấu hiệu nào cho thấy quá trình đó diễn ra?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Lấy vào – biến đổi – thải ra – điều hoà.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VAI TRÒ VÀ DẤU HIỆU ĐẶC TRƯNG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Vai trò: tạo chất sống, tích luỹ và giải phóng năng lượng cho hoạt động sống; thải chất dư thừa, độc hại.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Dấu hiệu: tiếp nhận và vận chuyển chất; biến đổi chất (đồng hoá, dị hoá) kèm chuyển hoá năng lượng;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thải chất vào môi trường; điều hoà bằng hormone (thực vật), hormone và thần kinh (động vật).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Không trao đổi chất – sinh vật không thể tồn tại.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408615" y="457200"/>
            <a:ext cx="1234440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VIDEO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7383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VIDEO THAM KHẢO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7</a:t>
            </a:r>
          </a:p>
        </p:txBody>
      </p:sp>
      <p:pic>
        <p:nvPicPr>
          <p:cNvPr id="7" name="Picture 6" descr="QR_video_j-FdQfBL2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554480"/>
            <a:ext cx="3108960" cy="3108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1554480"/>
            <a:ext cx="7498079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🎬 Sinh học – Số 4: Chuyển hoá vật chất và năng lượng (Chinh phục kỳ thi)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64748B"/>
                </a:solidFill>
                <a:latin typeface="Calibri"/>
              </a:rPr>
              <a:t>Kênh: VTV7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000">
                <a:solidFill>
                  <a:srgbClr val="1E293B"/>
                </a:solidFill>
                <a:latin typeface="Calibri"/>
              </a:rPr>
              <a:t>Tham khảo – chuyển hoá vật chất và năng lượng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64748B"/>
                </a:solidFill>
                <a:latin typeface="Calibri"/>
                <a:hlinkClick r:id="rId3"/>
              </a:rPr>
              <a:t>https://www.youtube.com/watch?v=j-FdQfBL2mU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GIAI ĐOẠN CHUYỂN HOÁ NĂNG LƯỢNG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Dựa vào Hình 1.1, mô tả tóm tắt quá trình chuyển hoá năng lượng trong sinh giới (bắt đầu từ năng lượng ánh sáng).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Năng lượng ánh sáng → ? → ATP →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BA GIAI ĐOẠN CHUYỂN HOÁ NĂNG LƯỢNG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Tổng hợp: diệp lục thu quang năng → hoá năng trong chất hữu cơ.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Phân giải: hô hấp → năng lượng tích luỹ trong ATP, NADH.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Huy động: ATP cung cấp năng lượng cho các hoạt động sống.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Mọi dạng năng lượng cuối cùng chuyển thành nhiệt năng.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Tổng hợp → Phân giải → Huy động năng lượng.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MỐI QUAN HỆ TẾ BÀO – CƠ THỂ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Nghiên cứu Hình 1.2, trình bày mối liên hệ giữa trao đổi chất và chuyển hoá năng lượng ở cấp tế bào và cơ thể sinh vật.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Cơ thể được cấu tạo từ đâu?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MỐI QUAN HỆ TẾ BÀO – CƠ THỂ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Cơ thể lấy chất cần thiết từ môi trường → cung cấp cho tế bào.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Tế bào: đồng hoá (tổng hợp, tích luỹ) – dị hoá (phân giải, giải phóng năng lượng).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Chất thải của tế bào được cơ thể thải ra môi trường.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Trao đổi chất ở tế bào là cơ sở cho trao đổi chất của cơ thể.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DƯỠNG VÀ DỊ DƯỠNG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Tại sao gọi thực vật là sinh vật tự dưỡng và động vật là sinh vật dị dưỡng? Phân tích vai trò của sinh vật tự dưỡng.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Ai tự tổng hợp được chất hữu cơ?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TỰ DƯỠNG VÀ DỊ DƯỠNG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Thực vật: chất vô cơ + CO₂ + ánh sáng → chất hữu cơ (quang tự dưỡng).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Hoá tự dưỡng: một số vi khuẩn dùng năng lượng từ H₂S, NO₂⁻, NH₄⁺…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Động vật lấy chất hữu cơ từ sinh vật khác → dị dưỡng.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Sinh vật tự dưỡng: cung cấp O₂, thức ăn, nơi ở; điều hoà khí hậu.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Sinh vật tự dưỡng – nền tảng của sinh giới.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53167" y="457200"/>
            <a:ext cx="1389888" cy="457200"/>
          </a:xfrm>
          <a:prstGeom prst="round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ĐỀ BÀI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582912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KHI TRAO ĐỔI CHẤT BỊ RỐI LOẠN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566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1E293B"/>
                </a:solidFill>
                <a:latin typeface="Calibri"/>
              </a:rPr>
              <a:t>Quá trình trao đổi chất giữa cơ thể và môi trường bị rối loạn sẽ ảnh hưởng thế nào? Làm thế nào để quá trình này diễn ra thuận lợi?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120640"/>
            <a:ext cx="10789920" cy="693420"/>
          </a:xfrm>
          <a:prstGeom prst="roundRect">
            <a:avLst>
              <a:gd name="adj" fmla="val 8000"/>
            </a:avLst>
          </a:prstGeom>
          <a:solidFill>
            <a:srgbClr val="EFF4FF"/>
          </a:solidFill>
          <a:ln w="19050">
            <a:solidFill>
              <a:srgbClr val="1E40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424160" cy="6934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E40AF"/>
                </a:solidFill>
                <a:latin typeface="Calibri"/>
              </a:rPr>
              <a:t>💡 Liên hệ béo phì, suy thận, cây thiếu khoáng.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942271" y="457200"/>
            <a:ext cx="1700784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LỜI GIẢI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272016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KHI TRAO ĐỔI CHẤT BỊ RỐI LOẠN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1078992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Ảnh hưởng mọi hoạt động sống: sinh trưởng, sinh sản, cảm ứng, cân bằng nội môi.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Cây thiếu dinh dưỡng còi cọc; người ăn nhiều bột đường, chất béo dễ béo phì;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suy thận không thải hết urea → rối loạn.</a:t>
            </a:r>
          </a:p>
          <a:p>
            <a:pPr algn="l" marL="365760" indent="-365760">
              <a:spcAft>
                <a:spcPts val="800"/>
              </a:spcAft>
              <a:buClr>
                <a:srgbClr val="1E40AF"/>
              </a:buClr>
              <a:buFont typeface="Arial"/>
              <a:buChar char="•"/>
            </a:pPr>
            <a:r>
              <a:rPr sz="2300">
                <a:solidFill>
                  <a:srgbClr val="1E293B"/>
                </a:solidFill>
                <a:latin typeface="Calibri"/>
              </a:rPr>
              <a:t>Biện pháp: cung cấp đủ chất cần thiết, loại bỏ chất dư thừa, độc hại.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74920"/>
            <a:ext cx="10789920" cy="7315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074920"/>
            <a:ext cx="104241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Ăn uống hợp lí – chăm sóc cây đúng cách.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16</a:t>
            </a:r>
          </a:p>
        </p:txBody>
      </p:sp>
      <p:cxnSp>
        <p:nvCxnSpPr>
          <p:cNvPr id="7" name="Connector 6"/>
          <p:cNvCxnSpPr/>
          <p:nvPr/>
        </p:nvCxnSpPr>
        <p:spPr>
          <a:xfrm flipH="1" flipV="1">
            <a:off x="4338888" y="2670962"/>
            <a:ext cx="16883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 flipV="1">
            <a:off x="2735059" y="1830405"/>
            <a:ext cx="1603829" cy="84055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77582" y="1554093"/>
            <a:ext cx="1857477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Sinh vật tồn tại,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phát triển</a:t>
            </a:r>
          </a:p>
        </p:txBody>
      </p:sp>
      <p:cxnSp>
        <p:nvCxnSpPr>
          <p:cNvPr id="10" name="Connector 9"/>
          <p:cNvCxnSpPr/>
          <p:nvPr/>
        </p:nvCxnSpPr>
        <p:spPr>
          <a:xfrm flipH="1" flipV="1">
            <a:off x="2764777" y="2457917"/>
            <a:ext cx="1574111" cy="213045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47864" y="2181606"/>
            <a:ext cx="1916913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Tạo chất sống, tích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luỹ năng lượng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721851" y="2670962"/>
            <a:ext cx="1617037" cy="414467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90790" y="2809118"/>
            <a:ext cx="1831061" cy="552622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Thải chất dư thừa,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độc hại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635999" y="2670962"/>
            <a:ext cx="1702889" cy="941268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6642" y="3436630"/>
            <a:ext cx="1659357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Cân bằng nội môi</a:t>
            </a:r>
          </a:p>
        </p:txBody>
      </p:sp>
      <p:sp>
        <p:nvSpPr>
          <p:cNvPr id="16" name="Oval 15"/>
          <p:cNvSpPr/>
          <p:nvPr/>
        </p:nvSpPr>
        <p:spPr>
          <a:xfrm>
            <a:off x="3571948" y="2427575"/>
            <a:ext cx="1533881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① Vai trò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027267" y="2670962"/>
            <a:ext cx="1688379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7715646" y="1729694"/>
            <a:ext cx="1488259" cy="941268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03905" y="1453382"/>
            <a:ext cx="2088617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Tiếp nhận, vận chuyển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chất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715646" y="2357206"/>
            <a:ext cx="1788741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504387" y="2080895"/>
            <a:ext cx="1487653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Đồng hoá – dị</a:t>
            </a:r>
          </a:p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hoá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15646" y="2670962"/>
            <a:ext cx="1659963" cy="313756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375609" y="2708407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Thải chất vào môi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trường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715646" y="2670962"/>
            <a:ext cx="1402407" cy="941268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118053" y="3335919"/>
            <a:ext cx="2260321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Điều hoà: hormone, thần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kinh</a:t>
            </a:r>
          </a:p>
        </p:txBody>
      </p:sp>
      <p:sp>
        <p:nvSpPr>
          <p:cNvPr id="26" name="Oval 25"/>
          <p:cNvSpPr/>
          <p:nvPr/>
        </p:nvSpPr>
        <p:spPr>
          <a:xfrm>
            <a:off x="6879363" y="2259078"/>
            <a:ext cx="1672565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② Dấu hiệu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đặc trưng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4338888" y="3954780"/>
            <a:ext cx="16883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 flipV="1">
            <a:off x="2873743" y="4398040"/>
            <a:ext cx="1465145" cy="840557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738898" y="4222440"/>
            <a:ext cx="2134845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Tổng hợp (quang hợp)</a:t>
            </a:r>
          </a:p>
        </p:txBody>
      </p:sp>
      <p:cxnSp>
        <p:nvCxnSpPr>
          <p:cNvPr id="30" name="Connector 29"/>
          <p:cNvCxnSpPr/>
          <p:nvPr/>
        </p:nvCxnSpPr>
        <p:spPr>
          <a:xfrm flipH="1" flipV="1">
            <a:off x="2678925" y="4924841"/>
            <a:ext cx="1659963" cy="31375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933716" y="4648530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Phân giải (hô hấp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→ ATP)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2764777" y="5238597"/>
            <a:ext cx="1574111" cy="213045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47864" y="5276042"/>
            <a:ext cx="1916913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Huy động năng lượng</a:t>
            </a:r>
          </a:p>
        </p:txBody>
      </p:sp>
      <p:cxnSp>
        <p:nvCxnSpPr>
          <p:cNvPr id="34" name="Connector 33"/>
          <p:cNvCxnSpPr/>
          <p:nvPr/>
        </p:nvCxnSpPr>
        <p:spPr>
          <a:xfrm flipH="1">
            <a:off x="2678925" y="5238597"/>
            <a:ext cx="1659963" cy="739846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933716" y="5702132"/>
            <a:ext cx="1745209" cy="552622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Cuối cùng → nhiệt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năng</a:t>
            </a:r>
          </a:p>
        </p:txBody>
      </p:sp>
      <p:sp>
        <p:nvSpPr>
          <p:cNvPr id="36" name="Oval 35"/>
          <p:cNvSpPr/>
          <p:nvPr/>
        </p:nvSpPr>
        <p:spPr>
          <a:xfrm>
            <a:off x="3433264" y="4826713"/>
            <a:ext cx="1811249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③ Giai đoạn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năng lượng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27267" y="3954780"/>
            <a:ext cx="1688379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7715646" y="4398040"/>
            <a:ext cx="1465145" cy="84055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9180791" y="4222440"/>
            <a:ext cx="2134845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1">
                <a:solidFill>
                  <a:srgbClr val="8B0000"/>
                </a:solidFill>
                <a:latin typeface="Calibri"/>
              </a:rPr>
              <a:t>Tự dưỡng: quang, hoá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7715646" y="4824130"/>
            <a:ext cx="1617037" cy="414467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332683" y="4648530"/>
            <a:ext cx="1831061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Dị dưỡng: động vật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715646" y="5238597"/>
            <a:ext cx="1917519" cy="112334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633165" y="5074620"/>
            <a:ext cx="1230097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Tế bào ↔ cơ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thể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715646" y="5238597"/>
            <a:ext cx="1702889" cy="739846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418535" y="5702132"/>
            <a:ext cx="1659357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Vai trò sinh vật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tự dưỡng</a:t>
            </a:r>
          </a:p>
        </p:txBody>
      </p:sp>
      <p:sp>
        <p:nvSpPr>
          <p:cNvPr id="46" name="Oval 45"/>
          <p:cNvSpPr/>
          <p:nvPr/>
        </p:nvSpPr>
        <p:spPr>
          <a:xfrm>
            <a:off x="6671337" y="4995210"/>
            <a:ext cx="2088617" cy="486773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④ Phương thức</a:t>
            </a:r>
          </a:p>
        </p:txBody>
      </p:sp>
      <p:sp>
        <p:nvSpPr>
          <p:cNvPr id="47" name="Oval 46"/>
          <p:cNvSpPr/>
          <p:nvPr/>
        </p:nvSpPr>
        <p:spPr>
          <a:xfrm>
            <a:off x="4862765" y="3287245"/>
            <a:ext cx="2329003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TRAO ĐỔI CHẤT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VÀ CHUYỂN HOÁ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NĂNG LƯỢNG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97719" y="457200"/>
            <a:ext cx="1545336" cy="457200"/>
          </a:xfrm>
          <a:prstGeom prst="round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CỦNG CỐ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4320"/>
            <a:ext cx="9427464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Sinh học 11 · Bài 1. Khái quát về trao đổi chất và chuyển hoá năng lượng          17</a:t>
            </a:r>
          </a:p>
        </p:txBody>
      </p:sp>
      <p:pic>
        <p:nvPicPr>
          <p:cNvPr id="7" name="Picture 6" descr="QR_sinh_cc_bai1_k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463040"/>
            <a:ext cx="3017520" cy="301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572000"/>
            <a:ext cx="1078992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1">
                <a:solidFill>
                  <a:srgbClr val="1E293B"/>
                </a:solidFill>
                <a:latin typeface="Calibri"/>
              </a:rPr>
              <a:t>Củng cố – Bài 1. Trao đổi chất và chuyển hoá năng lượng</a:t>
            </a:r>
          </a:p>
          <a:p>
            <a:pPr algn="ctr">
              <a:spcAft>
                <a:spcPts val="800"/>
              </a:spcAft>
            </a:pPr>
            <a:r>
              <a:rPr sz="1400">
                <a:solidFill>
                  <a:srgbClr val="64748B"/>
                </a:solidFill>
                <a:latin typeface="Calibri"/>
              </a:rPr>
              <a:t>trangtu66.github.io/Taode_thi_online/sinh_cc_bai1_k11.html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