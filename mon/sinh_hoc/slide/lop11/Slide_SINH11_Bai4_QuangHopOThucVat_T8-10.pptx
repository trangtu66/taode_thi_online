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1,5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bP2RoHJgAQY" TargetMode="External"/><Relationship Id="rId4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4. QUANG HỢP Ở THỰC VẬT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11 – Kết nối tri thức với cuộc sống · 03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Phát biểu khái niệm, viết phương trình quang hợp; nêu vai trò của quang hợp.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vai trò sắc tố; sản phẩm pha sáng (ATP, NADPH).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các con đường đồng hoá carbon; sự thích nghi của thực vật C₄, CAM.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ảnh hưởng của ánh sáng, CO₂, nhiệt độ; mối quan hệ quang hợp – năng suất.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Giải thích biện pháp kĩ thuật, công nghệ nâng cao năng suất cây trồng.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trồng và bảo vệ cây xanh.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8: KHÁI QUÁT VỀ QUANG HỢP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Nguồn thức ăn và nguồn oxygen góp phần duy trì sự sống trên Trái Đất bắt nguồn từ đâu?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KHÁI NIỆM VÀ VAI TRÒ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Viết phương trình tổng quát của quang hợp. Nguyên liệu, năng lượng có nguồn gốc từ đâu? Sản phẩm có vai trò gì với sinh giới?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Lục lạp + ánh sáng.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KHÁI NIỆM VÀ VAI TRÒ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6CO₂ + 12H₂O → C₆H₁₂O₆ + 6O₂ + 6H₂O (ánh sáng, lục lạp).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CO₂ từ khí quyển, nước từ đất, năng lượng từ ánh sáng mặt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Cung cấp chất hữu cơ, nguyên liệu, năng lượng (90% năng lượng con người dùng); cân bằng O₂/CO₂.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Quang hợp – nguồn sống của Trái Đất.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SẮC TỐ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Hệ sắc tố chia làm mấy nhóm? Vai trò? Thực vật có lá màu đỏ có quang hợp được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Carotenoid → diệp lục b → diệp lục 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SẮC TỐ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Diệp lục (diệp lục a chủ đạo; hấp thụ đỏ, xanh tím) và carotenoid (xanthophyll, carotene).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Hấp thụ photon, truyền năng lượng đến diệp lục a ở trung tâm phản ứng → ATP, NADPH.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Lá đỏ vẫn có diệp lục (carotenoid nhiều hơn) → vẫn quang hợp, cường độ không cao.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Diệp lục a – sắc tố không thể thiếu.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9: QUÁ TRÌNH QUANG HỢP – NGOẠI CẢNH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PHA CỦA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Quá trình quang hợp gồm những pha nào? Nguyên liệu và sản phẩm của mỗi pha?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Màng thylakoid – chất nền lục lạp.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PHA CỦA QUANG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Pha sáng (thylakoid): ánh sáng, H₂O → O₂, ATP, NADPH.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2H₂O → 4H⁺ + 4e + O₂.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Pha tối (chất nền): CO₂, ATP, NADPH → G3P → glucose…; RuBP được tái tạo.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Pha sáng cung cấp ATP, NADPH cho pha tối.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THỰC VẬT C₃, C₄ VÀ 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gọi là thực vật C₃, C₄, CAM? Ba nhóm thích nghi với điều kiện sống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Sản phẩm đầu tiên có bao nhiêu carbon?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THỰC VẬT C₃, C₄ VÀ 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C₃: sản phẩm đầu 3-PGA (3C); lúa, khoai, sắn; điều kiện ôn hoà.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C₄: sản phẩm đầu OAA (4C); mía, ngô; nóng, sáng mạnh; dự trữ CO₂, năng suất cao.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CAM: cố định CO₂ ban đêm; xương rồng, dứa; khô hạn, khí khổng đóng ban ngày.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nhóm thích nghi với một kiểu môi trường.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ẢNH HƯỞNG CỦA NGOẠI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Những yếu tố ngoại cảnh nào ảnh hưởng đến cường độ quang hợp? Vì sao không nên trồng với mật độ quá dày?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Đọc đồ thị Hình 4.7, 4.8.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ẢNH HƯỞNG CỦA NGOẠI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Ánh sáng: điểm bù, điểm bão hoà; miền đỏ mạnh nhất.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CO₂: tăng trong giới hạn; bão hoà 0,06 – 0,1%; 0,2% gây ngộ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Nhiệt độ tối ưu cây nhiệt đới 25 – 30 °C.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Trồng dày → cạnh tranh ánh sáng, nước, dinh dưỡng → năng suất thấp.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Điều khiển ngoại cảnh – tăng quang hợp.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10: QUANG HỢP VÀ NĂNG SUẤT CÂY TRỒNG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17</a:t>
            </a:r>
          </a:p>
        </p:txBody>
      </p:sp>
      <p:pic>
        <p:nvPicPr>
          <p:cNvPr id="7" name="Picture 6" descr="QR_video_bP2RoHJgA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Trồng rau thủy canh công nghệ Nhật Bản mang lại hiệu quả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Công nghệ nâng cao năng suất cây trồng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https://www.youtube.com/watch?v=bP2RoHJgAQY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QUANG HỢP QUYẾT ĐỊNH NĂNG SUẤT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quang hợp quyết định năng suất cây trồng? Công nghệ trồng cây không cần ánh sáng mặt trời là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Chất khô của cây do đâu tạo ra?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QUANG HỢP QUYẾT ĐỊNH NĂNG SUẤT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Quang hợp tạo 90 – 95% tổng chất khô; khoáng 5 – 10%.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Biện pháp: bón phân, tưới nước hợp lí, đúng thời vụ, chọn giống.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Đèn LED chủ động cường độ, quang phổ; kết hợp thuỷ canh trồng rau.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Tăng quang hợp = tăng năng suất.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TRỒNG XEN VÀ CÂY 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xương rồng, thuốc bỏng sinh trưởng chậm hơn cây C₃, C₄? Vì sao trồng xen cây có điểm bù ánh sáng thấp với cây có điểm bù cao?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Khí khổng của cây CAM mở lúc nào?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TRỒNG XEN VÀ CÂY 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CAM đóng khí khổng ban ngày, CO₂ vào hạn chế → quang hợp yếu, chậm lớn.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Trồng xen giúp hấp thụ tối đa ánh sáng, sử dụng hiệu quả năng lượng.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Ví dụ: cà phê, hồ tiêu dưới cây che bóng.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Bố trí cây hợp lí – tận dụng ánh sáng.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22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642603" y="1931116"/>
            <a:ext cx="1696285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70038" y="1554093"/>
            <a:ext cx="1672565" cy="754044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6CO₂ + 12H₂O →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C₆H₁₂O₆ + 6O₂ +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6H₂O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678925" y="2659339"/>
            <a:ext cx="1659963" cy="11623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3716" y="2383028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Cung cấp chất hữu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cơ, năng lượng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593073" y="2670962"/>
            <a:ext cx="1745815" cy="51517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19568" y="3010540"/>
            <a:ext cx="1573505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Cân bằng O₂/CO₂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807703" y="2670962"/>
            <a:ext cx="1531185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4938" y="3436630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Diệp lục, carotenoid</a:t>
            </a:r>
          </a:p>
        </p:txBody>
      </p:sp>
      <p:sp>
        <p:nvSpPr>
          <p:cNvPr id="16" name="Oval 15"/>
          <p:cNvSpPr/>
          <p:nvPr/>
        </p:nvSpPr>
        <p:spPr>
          <a:xfrm>
            <a:off x="3433264" y="2427575"/>
            <a:ext cx="1811249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Khái quát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830405"/>
            <a:ext cx="1557601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73247" y="1554093"/>
            <a:ext cx="194993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Pha sáng: O₂, ATP,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NADPH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357206"/>
            <a:ext cx="1617037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332683" y="2181606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Quang phân li nước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617037" cy="213045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332683" y="2607696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Pha tối: chu trình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Calvin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402407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18053" y="3235208"/>
            <a:ext cx="226032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G3P → glucose, protein,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lipid</a:t>
            </a:r>
          </a:p>
        </p:txBody>
      </p:sp>
      <p:sp>
        <p:nvSpPr>
          <p:cNvPr id="26" name="Oval 25"/>
          <p:cNvSpPr/>
          <p:nvPr/>
        </p:nvSpPr>
        <p:spPr>
          <a:xfrm>
            <a:off x="6948705" y="2427575"/>
            <a:ext cx="1533881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Hai pha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635999" y="4398040"/>
            <a:ext cx="1702889" cy="84055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6642" y="4222440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C₃: RuBP → 3-PGA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596375" y="4924841"/>
            <a:ext cx="174251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16266" y="4648530"/>
            <a:ext cx="15801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C₄: PEP → OAA,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năng suất cao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635999" y="5238597"/>
            <a:ext cx="1702889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6642" y="5276042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CAM: cố định CO₂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ban đêm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807703" y="5238597"/>
            <a:ext cx="1531185" cy="84055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4938" y="5903554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Thích nghi nóng, hạn</a:t>
            </a:r>
          </a:p>
        </p:txBody>
      </p:sp>
      <p:sp>
        <p:nvSpPr>
          <p:cNvPr id="36" name="Oval 35"/>
          <p:cNvSpPr/>
          <p:nvPr/>
        </p:nvSpPr>
        <p:spPr>
          <a:xfrm>
            <a:off x="3641290" y="4826713"/>
            <a:ext cx="1395197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C₃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C₄ – CAM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398040"/>
            <a:ext cx="1659963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375609" y="4121729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Điểm bù, điểm bão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hoà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5025552"/>
            <a:ext cx="1659963" cy="21304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375609" y="4749241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CO₂, nhiệt độ tối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ưu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742513" cy="41446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58159" y="5376753"/>
            <a:ext cx="1580109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Quang hợp → 90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– 95% chất khô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617037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32683" y="6004265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Đèn LED, trồng xen</a:t>
            </a:r>
          </a:p>
        </p:txBody>
      </p:sp>
      <p:sp>
        <p:nvSpPr>
          <p:cNvPr id="46" name="Oval 45"/>
          <p:cNvSpPr/>
          <p:nvPr/>
        </p:nvSpPr>
        <p:spPr>
          <a:xfrm>
            <a:off x="6740679" y="4826713"/>
            <a:ext cx="1949933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Ngoại cảnh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năng suất</a:t>
            </a:r>
          </a:p>
        </p:txBody>
      </p:sp>
      <p:sp>
        <p:nvSpPr>
          <p:cNvPr id="47" name="Oval 46"/>
          <p:cNvSpPr/>
          <p:nvPr/>
        </p:nvSpPr>
        <p:spPr>
          <a:xfrm>
            <a:off x="5019941" y="3484793"/>
            <a:ext cx="2014652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QUANG HỢP Ở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THỰC VẬT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4. Quang hợp ở thực vật          23</a:t>
            </a:r>
          </a:p>
        </p:txBody>
      </p:sp>
      <p:pic>
        <p:nvPicPr>
          <p:cNvPr id="7" name="Picture 6" descr="QR_sinh_cc_bai4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4. Quang hợp ở thực vật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trangtu66.github.io/Taode_thi_online/sinh_cc_bai4_k11.html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