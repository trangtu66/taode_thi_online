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75" r:id="rId27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6. HÔ HẤP Ở THỰC VẬT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11 – Kết nối tri thức với cuộc sống · 02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được khái niệm hô hấp ở thực vật; phân tích được vai trò của hô hấp.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được sơ đồ các giai đoạn của hô hấp hiếu khí và lên men.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được ảnh hưởng của nước, nhiệt độ, O₂, CO₂ đến hô hấp; vận dụng trong bảo quản nông sản, trồng trọt.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được mối quan hệ giữa quang hợp và hô hấp.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13: KHÁI NIỆM – CON ĐƯỜNG HÔ HẤP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Thực vật lấy năng lượng từ quá trình nào để trao đổi nước, khoáng, sinh trưởng, sinh sản?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đống thóc ẩm để lâu lại nóng lên?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HÔ HẤP LÀ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khái niệm và vai trò của hô hấp ở thực vật.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Hô hấp tạo ra những dạng năng lượng nào?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HÔ HẤP LÀ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Phân giải chất hữu cơ phức tạp (carbohydrate) thành chất đơn giản, tạo ATP và nhiệt.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C₆H₁₂O₆ + 6O₂ → 6CO₂ + 6H₂O + Năng lượng.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ATP cho hoạt động sống; nhiệt duy trì nhiệt độ; sản phẩm trung gian tổng hợp chất khác.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Hô hấp hiếu khí là hình thức chủ yếu.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GIAI ĐOẠN HÔ HẤP HIẾU KHÍ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nơi diễn ra, nguyên liệu, sản phẩm của từng giai đoạn hô hấp hiếu khí.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Quan sát Hình 6.1.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GIAI ĐOẠN HÔ HẤP HIẾU KHÍ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Đường phân (tế bào chất): glucose → 2 pyruvate, 2 ATP, 2 NADH.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Krebs (chất nền ti thể): 4 CO₂, 6 NADH, 2 FADH₂, 2 ATP (sau oxy hoá pyruvate).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Chuỗi truyền electron (màng trong ti thể): H₂O, 26 – 28 ATP.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1 glucose → 30 – 32 ATP.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LÊN 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Lên men xảy ra khi nào, gồm những giai đoạn nào, thu được bao nhiêu ATP?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Rễ cây bị ngập úng thì thiếu khí gì?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LÊN 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Xảy ra khi thiếu O₂ (ngập úng, hạt ngâm nước).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Đường phân → lên men tạo ethanol hoặc lactate.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1 glucose chỉ thu được 2 ATP.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Lên men: thích nghi tạm thời khi thiếu O₂.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14: YẾU TỐ ẢNH HƯỞNG – ỨNG DỤNG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YẾU TỐ ẢNH HƯỞNG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Nước, nhiệt độ, O₂, CO₂ ảnh hưởng thế nào đến hô hấp?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Kĩ thuật mảnh ghép.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YẾU TỐ ẢNH HƯỞNG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Nước: hoạt hoá enzyme; hô hấp tỉ lệ thuận với hàm lượng nước (trong giới hạn).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Nhiệt độ: tăng trong giới hạn → hô hấp tăng.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O₂ &lt; 5% → lên men; CO₂ cao ức chế hô hấp hiếu khí.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Điều khiển hô hấp qua các yếu tố môi trường.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BẢO QUẢN NÔNG SẢN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cần đưa cường độ hô hấp của nông sản về mức tối thiểu? Rau trong túi nylon đục lỗ, để tủ mát có tác dụng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Hô hấp làm nông sản hao hụt thế nào?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BẢO QUẢN NÔNG SẢN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Hô hấp phân giải chất hữu cơ, toả nhiệt, tăng ẩm → nông sản giảm chất lượng, dễ thối.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Túi đục lỗ: giữ ẩm, tăng CO₂ vừa phải, vẫn đủ O₂.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Tủ mát: giảm nhiệt độ → giảm hoạt động enzyme hô hấp.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Tối thiểu, không phải bằng 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QUANG HỢP VÀ HÔ HẤP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mối quan hệ giữa quang hợp và hô hấp (Hình 6.2).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Sản phẩm của quá trình này là nguyên liệu của quá trình kia?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QUANG HỢP VÀ HÔ HẤP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Quang hợp tạo C₆H₁₂O₆ và O₂ – nguyên liệu hô hấp.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Hô hấp tạo CO₂, H₂O – nguyên liệu quang hợp; tạo ATP, chất trung gian giúp rễ hút nước.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Quyết định lượng chất hữu cơ tích luỹ – năng suất.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Hai quá trình phụ thuộc lẫn nhau.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18</a:t>
            </a:r>
          </a:p>
        </p:txBody>
      </p:sp>
      <p:pic>
        <p:nvPicPr>
          <p:cNvPr id="7" name="Picture 6" descr="SoDoTuDuy_SINH11_Bai6_HoHapOThucVat_T13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6. Hô hấp ở thực vật          19</a:t>
            </a:r>
          </a:p>
        </p:txBody>
      </p:sp>
      <p:pic>
        <p:nvPicPr>
          <p:cNvPr id="7" name="Picture 6" descr="QR_sinh_cc_bai6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6. Hô hấp ở thực vật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trangtu66.github.io/Taode_thi_online/sinh_cc_bai6_k11.html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cxnSp>
        <p:nvCxnSpPr>
          <p:cNvPr id="3" name="Connector 2"/>
          <p:cNvCxnSpPr/>
          <p:nvPr/>
        </p:nvCxnSpPr>
        <p:spPr>
          <a:xfrm flipH="1" flipV="1">
            <a:off x="4349389" y="242316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3335481" y="1971812"/>
            <a:ext cx="1013908" cy="451348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76707" y="1622511"/>
            <a:ext cx="2758773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Phân giải chất hữu cơ →</a:t>
            </a:r>
          </a:p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ATP + nhiệt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450390" y="2423160"/>
            <a:ext cx="898999" cy="146304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61798" y="2366467"/>
            <a:ext cx="2988592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C₆H₁₂O₆ + 6O₂ → 6CO₂ + 6H₂O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038301" y="2423160"/>
            <a:ext cx="1311088" cy="597651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73887" y="2817815"/>
            <a:ext cx="2164413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Sản phẩm trung gian</a:t>
            </a:r>
          </a:p>
        </p:txBody>
      </p:sp>
      <p:sp>
        <p:nvSpPr>
          <p:cNvPr id="10" name="Oval 9"/>
          <p:cNvSpPr/>
          <p:nvPr/>
        </p:nvSpPr>
        <p:spPr>
          <a:xfrm>
            <a:off x="3275107" y="2000707"/>
            <a:ext cx="2148563" cy="84490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Khái niệm, vai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trò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95847" y="242316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842305" y="1971812"/>
            <a:ext cx="1259577" cy="451348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101882" y="1622511"/>
            <a:ext cx="2267435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Đường phân → Krebs →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chuỗi truyền e⁻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305" y="2423160"/>
            <a:ext cx="1124855" cy="146304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967160" y="2366467"/>
            <a:ext cx="2536878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Hiếu khí: 30 – 32 ATP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42305" y="2423160"/>
            <a:ext cx="1568644" cy="597651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410949" y="2817815"/>
            <a:ext cx="1649301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Lên men: 2 ATP</a:t>
            </a:r>
          </a:p>
        </p:txBody>
      </p:sp>
      <p:sp>
        <p:nvSpPr>
          <p:cNvPr id="18" name="Oval 17"/>
          <p:cNvSpPr/>
          <p:nvPr/>
        </p:nvSpPr>
        <p:spPr>
          <a:xfrm>
            <a:off x="6629339" y="2183587"/>
            <a:ext cx="2425931" cy="47914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 đường hô hấp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349389" y="384048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780745" y="4806452"/>
            <a:ext cx="1568644" cy="451348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131443" y="4603455"/>
            <a:ext cx="1649301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Nước, nhiệt độ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935278" y="5257800"/>
            <a:ext cx="1414111" cy="0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76910" y="5054803"/>
            <a:ext cx="1958368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O₂ &lt; 5% → lên men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141323" y="5257800"/>
            <a:ext cx="1208066" cy="451347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70865" y="5506151"/>
            <a:ext cx="2370458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CO₂ cao ức chế hô hấp</a:t>
            </a:r>
          </a:p>
        </p:txBody>
      </p:sp>
      <p:sp>
        <p:nvSpPr>
          <p:cNvPr id="26" name="Oval 25"/>
          <p:cNvSpPr/>
          <p:nvPr/>
        </p:nvSpPr>
        <p:spPr>
          <a:xfrm>
            <a:off x="3136423" y="5018227"/>
            <a:ext cx="2425931" cy="47914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Yếu tố ảnh hưởng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5847" y="384048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842305" y="4660148"/>
            <a:ext cx="1180329" cy="597652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022634" y="4310847"/>
            <a:ext cx="2425931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Bảo quản: hô hấp tối</a:t>
            </a:r>
          </a:p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thiểu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42305" y="5257800"/>
            <a:ext cx="1259577" cy="146304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101882" y="5054803"/>
            <a:ext cx="2267435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Ngâm, ủ hạt; làm đất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thoáng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42305" y="5257800"/>
            <a:ext cx="1208066" cy="743955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050371" y="5798759"/>
            <a:ext cx="2370458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Quan hệ với quang hợp</a:t>
            </a:r>
          </a:p>
        </p:txBody>
      </p:sp>
      <p:sp>
        <p:nvSpPr>
          <p:cNvPr id="34" name="Oval 33"/>
          <p:cNvSpPr/>
          <p:nvPr/>
        </p:nvSpPr>
        <p:spPr>
          <a:xfrm>
            <a:off x="7184075" y="5018227"/>
            <a:ext cx="1316459" cy="47914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Ứng dụng</a:t>
            </a:r>
          </a:p>
        </p:txBody>
      </p:sp>
      <p:sp>
        <p:nvSpPr>
          <p:cNvPr id="35" name="Oval 34"/>
          <p:cNvSpPr/>
          <p:nvPr/>
        </p:nvSpPr>
        <p:spPr>
          <a:xfrm>
            <a:off x="5049302" y="3369259"/>
            <a:ext cx="2093090" cy="942441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6 HÔ HẤP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Ở THỰC VẬT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