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1,5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bP2RoHJgAQY" TargetMode="External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2. TRAO ĐỔI NƯỚC VÀ KHOÁNG Ở THỰC VẬT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11 – Kết nối tri thức với cuộc sống · 04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vai trò của nước; mô tả ba giai đoạn trao đổi nước trong cây.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cơ chế hấp thụ nước, khoáng ở lông hút; vận chuyển theo mạch gỗ, mạch rây.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vai trò thoát hơi nước, cơ chế đóng mở khí khổng.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vai trò nguyên tố khoáng, nguồn nitrogen, quá trình biến đổi nitrate, ammonium.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nhân tố ảnh hưởng; giải thích tưới tiêu hợp lí, vai trò phân bón.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bón phân, tưới nước hợp lí, bảo vệ môi trường đất, nước.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2: VAI TRÒ CỦA NƯỚC, KHOÁNG – HẤP THỤ Ở RỄ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Nước và chất khoáng có vai trò gì đối với thực vật?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Chúng được thực vật hấp thụ và sử dụng như thế nào?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TRIỆU CHỨNG THIẾU KHOÁNG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Thực vật hấp thụ nước và ion khoáng theo những cơ chế nào? Làm thế nào nhận biết triệu chứng thiếu khoáng ở cây trồng?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lá cà chua ở Hình 2.1.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TRIỆU CHỨNG THIẾU KHOÁNG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Nước: thẩm thấu (lông hút ưu trương). Khoáng: thụ động (khuếch tán) và chủ động (ngược gradient, cần năng lượng).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Thiếu N: vàng lá già; thiếu P: lá chuyển vàng, huyết dụ.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Thiếu S: vàng lá non, ngọn; thiếu K: lá ngắn, hẹp, chấm đỏ.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Quan sát màu lá để phát hiện thiếu khoáng.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3: VẬN CHUYỂN, THOÁT HƠI NƯỚC – DINH DƯỠNG NITROGEN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GIAI ĐOẠN TRAO ĐỔI NƯỚC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Trình bày quá trình trao đổi nước và khoáng ở thực vật trên cạn: cơ quan thực hiện, con đường, vai trò.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Rễ → thân → lá.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GIAI ĐOẠN TRAO ĐỔI NƯỚC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Hấp thụ: rễ; con đường gian bào, tế bào chất (đai Caspary).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Vận chuyển: thân; mạch gỗ (lên) và mạch rây (hai chiều).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Thoát hơi nước: lá; qua cutin và khí khổng (chủ yếu).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Thoát hơi nước tạo lực kéo nước từ rễ lên lá.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CHẾ ĐÓNG MỞ KHÍ KHỔNG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Thực vật điều tiết quá trình thoát hơi nước theo cơ chế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Thành trong dày, thành ngoài mỏng.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CHẾ ĐÓNG MỞ KHÍ KHỔNG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Tế bào khí khổng trương nước → thành ngoài dãn nhanh → khí khổng mở.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Ánh sáng: tăng đường, K⁺ → hút nước → mở.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Hạn hán: tăng abscisic acid → bơm K⁺ ra → khí khổng đóng.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Đóng mở khí khổng – điều tiết thoát hơi nước.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BÓN QUÁ NHIỀU PHÂN ĐẠM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Khi bón quá nhiều phân đạm cho lúa, ngô thì hiện tượng gì xảy ra? Cây hấp thụ nitrogen ở dạng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Lá phát triển mạnh, thân thì sao?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BÓN QUÁ NHIỀU PHÂN ĐẠM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Hiện tượng “đổ lốp”: bộ lá phát triển mạnh, mô cơ giới thân kém → cây đổ rạp.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Cây chỉ hấp thụ NH₄⁺, NO₃⁻; không dùng trực tiếp N₂.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NO₃⁻ → NO₂⁻ → NH₄⁺ → amino acid, amide.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Bón đạm vừa đủ, đúng lúc.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4 – 5: NHÂN TỐ ẢNH HƯỞNG – ỨNG DỤNG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TỐ 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Các yếu tố ngoại cảnh ảnh hưởng như thế nào đến hoạt động trao đổi nước và khoáng ở thực vật?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Đọc Bảng 2.2, Hình 2.10, 2.11.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TỐ 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Ánh sáng: khí khổng mở, tăng thoát hơi nước; năng lượng cho hấp thụ chủ động.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Nhiệt độ: 20 °C hấp thụ khoáng nhiều hơn 10 °C; trên 45 °C lông hút tổn thương.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Độ ẩm đất phù hợp tăng hấp thụ; độ ẩm không khí cao giảm thoát hơi nước.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khiển ngoại cảnh để tăng năng suất.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17</a:t>
            </a:r>
          </a:p>
        </p:txBody>
      </p:sp>
      <p:pic>
        <p:nvPicPr>
          <p:cNvPr id="7" name="Picture 6" descr="QR_video_bP2RoHJgAQ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Trồng rau thủy canh công nghệ Nhật Bản mang lại hiệu quả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Ứng dụng trao đổi khoáng – trồng cây không cần đất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https://www.youtube.com/watch?v=bP2RoHJgAQY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NGẬP ÚNG VÀ PHÂN BÓN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Khi rễ bị ngập úng lâu, cây có biểu hiện gì? Vì sao phân hữu cơ dùng bón lót, phân vô cơ dùng bón thúc?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Rễ ngập nước thiếu khí gì?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NGẬP ÚNG VÀ PHÂN BÓN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Ngập úng: rễ hô hấp lên men, tạo chất độc, lông hút chết → cây héo, có thể chết.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Phân hữu cơ chậm tan, giàu mùn, giữ ẩm → bón lót.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Phân vô cơ dễ tan, tác dụng nhanh → bón thúc.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Bón phân 4 đúng: loại, liều lượng, thời điểm, phương pháp.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20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642603" y="1830405"/>
            <a:ext cx="1696285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70038" y="1554093"/>
            <a:ext cx="167256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Nước 70 – 90%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khối lượng tươi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721851" y="2457917"/>
            <a:ext cx="1617037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0790" y="2181606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17 nguyên tố thiết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yếu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93073" y="2670962"/>
            <a:ext cx="1745815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9568" y="2809118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Cấu trúc + điều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tiết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979407" y="2670962"/>
            <a:ext cx="1359481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3234" y="3436630"/>
            <a:ext cx="2346173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Triệu chứng thiếu khoáng</a:t>
            </a:r>
          </a:p>
        </p:txBody>
      </p:sp>
      <p:sp>
        <p:nvSpPr>
          <p:cNvPr id="16" name="Oval 15"/>
          <p:cNvSpPr/>
          <p:nvPr/>
        </p:nvSpPr>
        <p:spPr>
          <a:xfrm>
            <a:off x="3571948" y="2427575"/>
            <a:ext cx="1533881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Vai trò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830405"/>
            <a:ext cx="1834969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50615" y="1554093"/>
            <a:ext cx="139519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Hấp thụ ở rễ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(lông hút)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457917"/>
            <a:ext cx="1788741" cy="21304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4387" y="2181606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Mạch gỗ – mạch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rây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702889" cy="41446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18535" y="280911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Thoát hơi nước ở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659963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5609" y="3436630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Đóng mở khí khổng</a:t>
            </a:r>
          </a:p>
        </p:txBody>
      </p:sp>
      <p:sp>
        <p:nvSpPr>
          <p:cNvPr id="26" name="Oval 25"/>
          <p:cNvSpPr/>
          <p:nvPr/>
        </p:nvSpPr>
        <p:spPr>
          <a:xfrm>
            <a:off x="6948705" y="2259078"/>
            <a:ext cx="153388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Ba giai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đoạn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78925" y="4498751"/>
            <a:ext cx="1659963" cy="73984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3716" y="4222440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Cây hấp thụ NH₄⁺,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NO₃⁻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781287" y="5025552"/>
            <a:ext cx="1557601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1354" y="4849952"/>
            <a:ext cx="194993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Khử nitrate → NH₄⁺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78925" y="5238597"/>
            <a:ext cx="1659963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33716" y="5276042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Đồng hoá ammonium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421369" y="5238597"/>
            <a:ext cx="1917519" cy="73984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191272" y="5702132"/>
            <a:ext cx="123009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Thừa N → đổ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lốp</a:t>
            </a:r>
          </a:p>
        </p:txBody>
      </p:sp>
      <p:sp>
        <p:nvSpPr>
          <p:cNvPr id="36" name="Oval 35"/>
          <p:cNvSpPr/>
          <p:nvPr/>
        </p:nvSpPr>
        <p:spPr>
          <a:xfrm>
            <a:off x="3363922" y="4826713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Dinh dưỡng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nitrogen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498751"/>
            <a:ext cx="1574111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289757" y="4222440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Ánh sáng, nhiệt độ,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 ẩm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5025552"/>
            <a:ext cx="1650057" cy="21304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365703" y="4849952"/>
            <a:ext cx="176502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Tưới tiêu hợp lí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745815" cy="21304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461461" y="5276042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Bón phân 4 đúng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745815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461461" y="5702132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hữu cơ bón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lót</a:t>
            </a:r>
          </a:p>
        </p:txBody>
      </p:sp>
      <p:sp>
        <p:nvSpPr>
          <p:cNvPr id="46" name="Oval 45"/>
          <p:cNvSpPr/>
          <p:nvPr/>
        </p:nvSpPr>
        <p:spPr>
          <a:xfrm>
            <a:off x="6879363" y="4826713"/>
            <a:ext cx="167256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Nhân tố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– ứng dụng</a:t>
            </a:r>
          </a:p>
        </p:txBody>
      </p:sp>
      <p:sp>
        <p:nvSpPr>
          <p:cNvPr id="47" name="Oval 46"/>
          <p:cNvSpPr/>
          <p:nvPr/>
        </p:nvSpPr>
        <p:spPr>
          <a:xfrm>
            <a:off x="4862765" y="3287245"/>
            <a:ext cx="232900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TRAO ĐỔI NƯỚC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VÀ KHOÁNG Ở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THỰC VẬT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2. Trao đổi nước và khoáng ở thực vật          21</a:t>
            </a:r>
          </a:p>
        </p:txBody>
      </p:sp>
      <p:pic>
        <p:nvPicPr>
          <p:cNvPr id="7" name="Picture 6" descr="QR_sinh_cc_bai2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2. Trao đổi nước và khoáng ở thực vật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trangtu66.github.io/Taode_thi_online/sinh_cc_bai2_k11.html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