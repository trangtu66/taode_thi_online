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GV nêu mục tiêu; HS ghi vào vở. Nhắc HS chuẩn bị điện thoại để làm bài củng cố cuối tiết.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Tình huống STEM – quà tặng 20/11.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Bấm vào đường link hoặc quét mã QR để mở video (cần Internet). Video 2 phút.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Bấm vào đường link hoặc quét mã QR để mở video (cần Internet). Video khoảng 1,5 phút.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ĐỀ BÀI – cho HS suy nghĩ, thảo luận (không chiếu lời giải).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LỜI GIẢI – GV chốt sau khi HS trình bày.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youtube.com/watch?v=sVDrmsL41rk" TargetMode="External"/><Relationship Id="rId4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youtube.com/watch?v=bP2RoHJgAQY" TargetMode="External"/><Relationship Id="rId4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237744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2011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BÀI 3. THỰC HÀNH: TRAO ĐỔI NƯỚC VÀ KHOÁNG Ở THỰC VẬT (BÀI HỌC STEM)</a:t>
            </a:r>
          </a:p>
          <a:p>
            <a:pPr algn="ctr">
              <a:spcAft>
                <a:spcPts val="800"/>
              </a:spcAft>
            </a:pPr>
            <a:r>
              <a:rPr sz="2400">
                <a:solidFill>
                  <a:srgbClr val="FFFFFF"/>
                </a:solidFill>
                <a:latin typeface="Calibri"/>
              </a:rPr>
              <a:t>Sinh học 11 – Kết nối tri thức với cuộc sống · 02 tiết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846320"/>
            <a:ext cx="106984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Trường THPT – Tổ Sử – Địa – Sinh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MỤC TIÊU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3. Thực hành trao đổi nước và khoáng – STEM     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Thực hiện thí nghiệm chứng minh hút nước ở rễ, vận chuyển nước ở thân, thoát hơi nước ở lá.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Quan sát cấu tạo khí khổng; thực hành tưới nước chăm sóc cây; trồng cây thuỷ canh, khí canh.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Thiết kế, chế tạo bông hoa trắng nhuộm 2 – 3 màu dựa trên vận chuyển nước ở thân.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Thực hiện quy trình thiết kế kĩ thuật; báo cáo thực hành bằng sản phẩm số.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Trung thực khi ghi kết quả; an toàn khi dùng dao lam, hoá chất.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926080"/>
            <a:ext cx="164592" cy="100584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51560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3600" b="1">
                <a:solidFill>
                  <a:srgbClr val="1E40AF"/>
                </a:solidFill>
                <a:latin typeface="Calibri"/>
              </a:rPr>
              <a:t>CHỦ ĐỀ STEM: NHỮNG ĐOÁ HOA ĐA SẮC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86823" y="457200"/>
            <a:ext cx="18562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KHỞI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11656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HOẠT ĐỘNG 1: XÁC ĐỊNH VẤN ĐỀ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3. Thực hành trao đổi nước và khoáng – STEM     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Làm thế nào để một bông hoa hồng trắng có cánh mang 2 – 3 màu khác nhau?</a:t>
            </a:r>
          </a:p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Bông hoa ấy chứng minh điều gì về sự vận chuyển nước trong cây?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97719" y="457200"/>
            <a:ext cx="154533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GHI NHỚ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TIÊU CHÍ SẢN PHẨM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3. Thực hành trao đổi nước và khoáng – STEM     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 b="1">
                <a:solidFill>
                  <a:srgbClr val="1E293B"/>
                </a:solidFill>
                <a:latin typeface="Calibri"/>
              </a:rPr>
              <a:t>Khoa học</a:t>
            </a:r>
            <a:r>
              <a:rPr sz="2400">
                <a:solidFill>
                  <a:srgbClr val="1E293B"/>
                </a:solidFill>
                <a:latin typeface="Calibri"/>
              </a:rPr>
              <a:t>: có cành đối chứng; giải thích được vai trò mạch gỗ.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 b="1">
                <a:solidFill>
                  <a:srgbClr val="1E293B"/>
                </a:solidFill>
                <a:latin typeface="Calibri"/>
              </a:rPr>
              <a:t>Kĩ thuật</a:t>
            </a:r>
            <a:r>
              <a:rPr sz="2400">
                <a:solidFill>
                  <a:srgbClr val="1E293B"/>
                </a:solidFill>
                <a:latin typeface="Calibri"/>
              </a:rPr>
              <a:t>: 2 – 3 màu rõ trên một bông.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 b="1">
                <a:solidFill>
                  <a:srgbClr val="1E293B"/>
                </a:solidFill>
                <a:latin typeface="Calibri"/>
              </a:rPr>
              <a:t>Thời gian</a:t>
            </a:r>
            <a:r>
              <a:rPr sz="2400">
                <a:solidFill>
                  <a:srgbClr val="1E293B"/>
                </a:solidFill>
                <a:latin typeface="Calibri"/>
              </a:rPr>
              <a:t>: màu lên rõ trong 24 giờ.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 b="1">
                <a:solidFill>
                  <a:srgbClr val="1E293B"/>
                </a:solidFill>
                <a:latin typeface="Calibri"/>
              </a:rPr>
              <a:t>An toàn, tiết kiệm</a:t>
            </a:r>
            <a:r>
              <a:rPr sz="2400">
                <a:solidFill>
                  <a:srgbClr val="1E293B"/>
                </a:solidFill>
                <a:latin typeface="Calibri"/>
              </a:rPr>
              <a:t>: màu thực phẩm, ≤ 30 000 đồng; </a:t>
            </a:r>
            <a:r>
              <a:rPr sz="2400" b="1">
                <a:solidFill>
                  <a:srgbClr val="1E293B"/>
                </a:solidFill>
                <a:latin typeface="Calibri"/>
              </a:rPr>
              <a:t>hồ sơ</a:t>
            </a:r>
            <a:r>
              <a:rPr sz="2400">
                <a:solidFill>
                  <a:srgbClr val="1E293B"/>
                </a:solidFill>
                <a:latin typeface="Calibri"/>
              </a:rPr>
              <a:t> ảnh, video.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THÍ NGHIỆM VẬN CHUYỂN NƯỚC Ở THÂN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3. Thực hành trao đổi nước và khoáng – STEM     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Cắm 2 cành hoa trắng vào dung dịch màu đỏ, xanh và 1 cành vào nước thường. Sau 45 phút cắt ngang cuống, sau một đêm quan sát cánh hoa. Dự đoán và giải thích.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Màu đi theo con đường nào?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THÍ NGHIỆM VẬN CHUYỂN NƯỚC Ở THÂN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3. Thực hành trao đổi nước và khoáng – STEM     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Lát cắt có các điểm bắt màu – bó mạch gỗ.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Cánh hoa chuyển màu; cành đối chứng không đổi.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→ Nước và chất tan được vận chuyển từ dưới lên theo mạch gỗ.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Mạch gỗ – con đường đi lên của nước.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THÍ NGHIỆM THOÁT HƠI NƯỚC Ở LÁ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3. Thực hành trao đổi nước và khoáng – STEM     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Đặt giấy tẩm cobalt chloride khô (xanh) ở mặt trên và mặt dưới lá, sau 30 phút quan sát. Giải thích kết quả.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Khí khổng tập trung ở mặt nào của lá?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THÍ NGHIỆM THOÁT HƠI NƯỚC Ở LÁ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3. Thực hành trao đổi nước và khoáng – STEM     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Giấy chuyển sang màu hồng → lá thoát hơi nước.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Mặt dưới chuyển hồng nhanh, đậm hơn.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Do mặt dưới có nhiều khí khổng hơn – thoát hơi nước chủ yếu qua khí khổng.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Lá là cơ quan thoát hơi nước.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THIẾT KẾ HOA ĐA SẮC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3. Thực hành trao đổi nước và khoáng – STEM     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Trình bày phương án nhuộm hai hoặc ba màu khác nhau cho một bông hoa trắng (hồng, cúc, đồng tiền…).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Mỗi bó mạch dẫn nước lên một phần cánh.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THIẾT KẾ HOA ĐA SẮC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3. Thực hành trao đổi nước và khoáng – STEM     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Chẻ dọc cuống thành 2 – 3 nhánh (8 – 10 cm), giữ phần trên liền.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Mỗi nhánh cắm vào một ống màu khác nhau.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Đặt nơi thoáng, có ánh sáng để tăng thoát hơi nước; theo dõi 6 – 24 giờ.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Mỗi nhánh mạch gỗ “tô” một phần cánh hoa.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3. Thực hành trao đổi nước và khoáng – STEM     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AI gợi ý: “Cắm hoa vào nước màu và đặt trong tủ lạnh tối, kín gió; màu sẽ đi theo mạch rây lên cánh hoa.” Tìm lỗi.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Điều kiện nào làm tăng thoát hơi nước?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3. Thực hành trao đổi nước và khoáng – STEM     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Sai: lạnh, tối, kín gió làm giảm thoát hơi nước → màu lên chậm.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Sai: nước đi lên theo mạch gỗ, không phải mạch rây.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→ Luôn kiểm chứng gợi ý AI bằng SGK và thử nghiệm.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Thoáng, sáng, mạch gỗ.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08615" y="457200"/>
            <a:ext cx="1234440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38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VIDEO THAM KHẢO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3. Thực hành trao đổi nước và khoáng – STEM          14</a:t>
            </a:r>
          </a:p>
        </p:txBody>
      </p:sp>
      <p:pic>
        <p:nvPicPr>
          <p:cNvPr id="7" name="Picture 6" descr="QR_video_sVDrmsL41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554480"/>
            <a:ext cx="310896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554480"/>
            <a:ext cx="7498079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🎬 Khám phá trang trại thủy canh lớn hàng đầu Châu Âu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Kênh: VTV24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Thực hành trồng cây thuỷ canh (xem video theo SGK)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64748B"/>
                </a:solidFill>
                <a:latin typeface="Calibri"/>
                <a:hlinkClick r:id="rId3"/>
              </a:rPr>
              <a:t>https://www.youtube.com/watch?v=sVDrmsL41rk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08615" y="457200"/>
            <a:ext cx="1234440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38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VIDEO THAM KHẢO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3. Thực hành trao đổi nước và khoáng – STEM          15</a:t>
            </a:r>
          </a:p>
        </p:txBody>
      </p:sp>
      <p:pic>
        <p:nvPicPr>
          <p:cNvPr id="7" name="Picture 6" descr="QR_video_bP2RoHJgAQ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554480"/>
            <a:ext cx="310896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1554480"/>
            <a:ext cx="7498079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🎬 Trồng rau thủy canh công nghệ Nhật Bản mang lại hiệu quả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Kênh: VTV24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>
                <a:solidFill>
                  <a:srgbClr val="1E293B"/>
                </a:solidFill>
                <a:latin typeface="Calibri"/>
              </a:rPr>
              <a:t>Mô hình thuỷ canh trong nước</a:t>
            </a:r>
          </a:p>
          <a:p>
            <a:pPr algn="l">
              <a:spcAft>
                <a:spcPts val="800"/>
              </a:spcAft>
            </a:pPr>
            <a:r>
              <a:rPr sz="1600">
                <a:solidFill>
                  <a:srgbClr val="64748B"/>
                </a:solidFill>
                <a:latin typeface="Calibri"/>
                <a:hlinkClick r:id="rId3"/>
              </a:rPr>
              <a:t>https://www.youtube.com/watch?v=bP2RoHJgAQY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53167" y="457200"/>
            <a:ext cx="1389888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58291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THUỶ CANH, KHÍ CANH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3. Thực hành trao đổi nước và khoáng – STEM     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566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E293B"/>
                </a:solidFill>
                <a:latin typeface="Calibri"/>
              </a:rPr>
              <a:t>Nêu sự khác nhau giữa thuỷ canh và khí canh. Ưu, nhược điểm so với trồng trên đất?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120640"/>
            <a:ext cx="10789920" cy="693420"/>
          </a:xfrm>
          <a:prstGeom prst="roundRect">
            <a:avLst>
              <a:gd name="adj" fmla="val 8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424160" cy="6934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E40AF"/>
                </a:solidFill>
                <a:latin typeface="Calibri"/>
              </a:rPr>
              <a:t>💡 Dinh dưỡng được cung cấp ở dạng nào?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42271" y="457200"/>
            <a:ext cx="1700784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272016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THUỶ CANH, KHÍ CANH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3. Thực hành trao đổi nước và khoáng – STEM     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789920" cy="3474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Thuỷ canh: giá thể trơ trong rọ, đặt trong dung dịch dinh dưỡng.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Khí canh: dung dịch dinh dưỡng phun dạng sương nhờ máy bơm.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300">
                <a:solidFill>
                  <a:srgbClr val="1E293B"/>
                </a:solidFill>
                <a:latin typeface="Calibri"/>
              </a:rPr>
              <a:t>Ưu: không cần đất, rau sạch, năng suất cao; nhược: chi phí, điện, kĩ thuật pha dung dịch.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789920" cy="7315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42416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Trồng cây không cần đất.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3. Thực hành trao đổi nước và khoáng – STEM          18</a:t>
            </a:r>
          </a:p>
        </p:txBody>
      </p:sp>
      <p:cxnSp>
        <p:nvCxnSpPr>
          <p:cNvPr id="7" name="Connector 6"/>
          <p:cNvCxnSpPr/>
          <p:nvPr/>
        </p:nvCxnSpPr>
        <p:spPr>
          <a:xfrm flipH="1" flipV="1">
            <a:off x="4338888" y="2670962"/>
            <a:ext cx="1688379" cy="1283818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2507221" y="1830405"/>
            <a:ext cx="1831667" cy="840557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105420" y="1654804"/>
            <a:ext cx="1401801" cy="351200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Ống đối chứng</a:t>
            </a:r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2550147" y="2256495"/>
            <a:ext cx="1788741" cy="414467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062494" y="2080894"/>
            <a:ext cx="1487653" cy="351200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Mực nước giảm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507221" y="2670962"/>
            <a:ext cx="1831667" cy="112334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105420" y="2506985"/>
            <a:ext cx="1401801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Ngắt lá → hút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ít hơn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2678925" y="2670962"/>
            <a:ext cx="1659963" cy="739846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33716" y="3134497"/>
            <a:ext cx="1745209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Thoát hơi nước là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động lực</a:t>
            </a:r>
          </a:p>
        </p:txBody>
      </p:sp>
      <p:sp>
        <p:nvSpPr>
          <p:cNvPr id="16" name="Oval 15"/>
          <p:cNvSpPr/>
          <p:nvPr/>
        </p:nvSpPr>
        <p:spPr>
          <a:xfrm>
            <a:off x="3502606" y="2259078"/>
            <a:ext cx="1672565" cy="823767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① Hút nước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ở rễ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6027267" y="2670962"/>
            <a:ext cx="1688379" cy="1283818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715646" y="1830405"/>
            <a:ext cx="1650057" cy="840557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365703" y="1554093"/>
            <a:ext cx="1765021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Màu đi theo mạch</a:t>
            </a:r>
          </a:p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gỗ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7715646" y="2457917"/>
            <a:ext cx="1702889" cy="213045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418535" y="2181606"/>
            <a:ext cx="1659357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Cắt lát quan sát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40×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15646" y="2670962"/>
            <a:ext cx="1788741" cy="414467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504387" y="2809118"/>
            <a:ext cx="1487653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Chẻ cuống → đa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sắc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15646" y="2670962"/>
            <a:ext cx="1531185" cy="941268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246831" y="3436630"/>
            <a:ext cx="2002765" cy="351200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Thoáng, sáng → nhanh</a:t>
            </a:r>
          </a:p>
        </p:txBody>
      </p:sp>
      <p:sp>
        <p:nvSpPr>
          <p:cNvPr id="26" name="Oval 25"/>
          <p:cNvSpPr/>
          <p:nvPr/>
        </p:nvSpPr>
        <p:spPr>
          <a:xfrm>
            <a:off x="6740679" y="2259078"/>
            <a:ext cx="1949933" cy="823767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② Vận chuyển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ở thân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4338888" y="3954780"/>
            <a:ext cx="1688379" cy="1283817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 flipV="1">
            <a:off x="2893555" y="4498751"/>
            <a:ext cx="1445333" cy="739846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19086" y="4222440"/>
            <a:ext cx="2174469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Cobalt chloride xanh →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hồng</a:t>
            </a:r>
          </a:p>
        </p:txBody>
      </p:sp>
      <p:cxnSp>
        <p:nvCxnSpPr>
          <p:cNvPr id="30" name="Connector 29"/>
          <p:cNvCxnSpPr/>
          <p:nvPr/>
        </p:nvCxnSpPr>
        <p:spPr>
          <a:xfrm flipH="1" flipV="1">
            <a:off x="2873743" y="5025552"/>
            <a:ext cx="1465145" cy="213045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8898" y="4849952"/>
            <a:ext cx="2134845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Mặt dưới thoát nhiều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2550147" y="5238597"/>
            <a:ext cx="1788741" cy="313756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62494" y="5276042"/>
            <a:ext cx="1487653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Khí khổng 2 tế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bào hạt đậu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2635999" y="5238597"/>
            <a:ext cx="1702889" cy="840557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76642" y="5903554"/>
            <a:ext cx="1659357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Trương nước → mở</a:t>
            </a:r>
          </a:p>
        </p:txBody>
      </p:sp>
      <p:sp>
        <p:nvSpPr>
          <p:cNvPr id="36" name="Oval 35"/>
          <p:cNvSpPr/>
          <p:nvPr/>
        </p:nvSpPr>
        <p:spPr>
          <a:xfrm>
            <a:off x="3433264" y="4658216"/>
            <a:ext cx="1811249" cy="1160762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③ Thoát hơi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nước – khí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khổng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027267" y="3954780"/>
            <a:ext cx="1688379" cy="1283817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7715646" y="4398040"/>
            <a:ext cx="1659963" cy="840557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375609" y="4222440"/>
            <a:ext cx="1745209" cy="351200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Tưới đúng nhu cầu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7715646" y="4824130"/>
            <a:ext cx="1511373" cy="414467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227019" y="4648530"/>
            <a:ext cx="2042389" cy="351200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1">
                <a:solidFill>
                  <a:srgbClr val="8B0000"/>
                </a:solidFill>
                <a:latin typeface="Calibri"/>
              </a:rPr>
              <a:t>Thuỷ canh, khí canh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715646" y="5238597"/>
            <a:ext cx="1574111" cy="112334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9289757" y="5074620"/>
            <a:ext cx="1916913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Rau sạch, tiết kiệm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đất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715646" y="5238597"/>
            <a:ext cx="1659963" cy="739846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9375609" y="5702132"/>
            <a:ext cx="1745209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Báo cáo thực hành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số</a:t>
            </a:r>
          </a:p>
        </p:txBody>
      </p:sp>
      <p:sp>
        <p:nvSpPr>
          <p:cNvPr id="46" name="Oval 45"/>
          <p:cNvSpPr/>
          <p:nvPr/>
        </p:nvSpPr>
        <p:spPr>
          <a:xfrm>
            <a:off x="6948705" y="4826713"/>
            <a:ext cx="1533881" cy="823767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④ Tưới –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thuỷ canh</a:t>
            </a:r>
          </a:p>
        </p:txBody>
      </p:sp>
      <p:sp>
        <p:nvSpPr>
          <p:cNvPr id="47" name="Oval 46"/>
          <p:cNvSpPr/>
          <p:nvPr/>
        </p:nvSpPr>
        <p:spPr>
          <a:xfrm>
            <a:off x="4862765" y="3484793"/>
            <a:ext cx="2329003" cy="939972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NHỮNG ĐOÁ HOA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ĐA SẮC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97719" y="457200"/>
            <a:ext cx="1545336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CỦNG CỐ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2746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Sinh học 11 · Bài 3. Thực hành trao đổi nước và khoáng – STEM          19</a:t>
            </a:r>
          </a:p>
        </p:txBody>
      </p:sp>
      <p:pic>
        <p:nvPicPr>
          <p:cNvPr id="7" name="Picture 6" descr="QR_sinh_cc_bai3_k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463040"/>
            <a:ext cx="3017520" cy="3017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572000"/>
            <a:ext cx="107899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1E293B"/>
                </a:solidFill>
                <a:latin typeface="Calibri"/>
              </a:rPr>
              <a:t>Củng cố – Bài 3. Thực hành trao đổi nước và khoáng</a:t>
            </a:r>
          </a:p>
          <a:p>
            <a:pPr algn="ctr">
              <a:spcAft>
                <a:spcPts val="800"/>
              </a:spcAft>
            </a:pPr>
            <a:r>
              <a:rPr sz="1400">
                <a:solidFill>
                  <a:srgbClr val="64748B"/>
                </a:solidFill>
                <a:latin typeface="Calibri"/>
              </a:rPr>
              <a:t>trangtu66.github.io/Taode_thi_online/sinh_cc_bai3_k11.html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