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68" r:id="rId2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ý: nước vôi 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7. THỰC HÀNH: HÔ HẤP Ở THỰC VẬT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Thực hành được thí nghiệm chứng minh hô hấp ở hạt nảy mầm thải khí CO₂.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thích được kết quả dựa vào phản ứng của CO₂ với nước vôi trong.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Bố trí được thí nghiệm có đối chứng; viết báo cáo thực hành.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15: THỰC HÀNH HÔ HẤP Ở THỰC VẬT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Hạt nảy mầm có hô hấp mạnh không?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Làm cách nào chứng minh hạt nảy mầm thải ra khí CO₂?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NGUYÊN LÍ THÍ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dùng nước vôi trong để phát hiện CO₂?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Viết phương trình phản ứng.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NGUYÊN LÍ THÍ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CO₂ do hạt hô hấp thải ra bị nước vôi trong hấp thụ.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CO₂ + Ca(OH)₂ → CaCO₃↓ + H₂O.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CaCO₃ kết tủa tạo váng đục trên bề mặt.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Váng đục → có CO₂.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BỐ TRÍ VÀ KẾT QUẢ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Bố trí chuông A, B như thế nào? Kết quả sau 1 giờ?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Chuông nào là đối chứng?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BỐ TRÍ VÀ KẾT QUẢ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Chuông A: đĩa hạt nảy mầm + cốc nước vôi trong.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Chuông B: chỉ cốc nước vôi trong (đối chứng).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Sau 1 giờ: cốc A có váng trắng đục; cốc B vẫn trong.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Hô hấp ở hạt nảy mầm thải khí CO₂.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BÁO CÁO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phải ngâm hạt trong nước ấm khoảng 40 °C? Tại sao dùng hạt nảy mầm mà không dùng cây?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Cây có lá ngoài sáng còn làm gì với CO₂?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BÁO CÁO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Nước ấm: hạt hút nước nhanh, hoạt hoá enzyme, nảy mầm nhanh.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Hạt nảy mầm hô hấp rất mạnh, kết quả rõ trong thời gian ngắn.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Hạt không quang hợp nên không hấp thụ lại CO₂.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Chọn mẫu vật phù hợp để kết quả rõ ràng.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11</a:t>
            </a:r>
          </a:p>
        </p:txBody>
      </p:sp>
      <p:pic>
        <p:nvPicPr>
          <p:cNvPr id="7" name="Picture 6" descr="SoDoTuDuy_SINH11_Bai7_TH_HoHapOThucVat_T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7. Thực hành: Hô hấp ở thực vật          12</a:t>
            </a:r>
          </a:p>
        </p:txBody>
      </p:sp>
      <p:pic>
        <p:nvPicPr>
          <p:cNvPr id="7" name="Picture 6" descr="QR_sinh_cc_bai7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7. Thực hành: Hô hấp ở thực vật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trangtu66.github.io/Taode_thi_online/sinh_cc_bai7_k11.html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49389" y="242316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665449" y="2051182"/>
            <a:ext cx="683940" cy="37197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51940" y="1848185"/>
            <a:ext cx="3313509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CO₂ + Ca(OH)₂ → CaCO₃↓ + H₂O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245435" y="2423160"/>
            <a:ext cx="1103954" cy="225673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1954" y="2299533"/>
            <a:ext cx="2473480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Váng đục trên nước vôi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trong</a:t>
            </a:r>
          </a:p>
        </p:txBody>
      </p:sp>
      <p:sp>
        <p:nvSpPr>
          <p:cNvPr id="8" name="Oval 7"/>
          <p:cNvSpPr/>
          <p:nvPr/>
        </p:nvSpPr>
        <p:spPr>
          <a:xfrm>
            <a:off x="3621817" y="2183587"/>
            <a:ext cx="1455143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Nguyên lí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5847" y="242316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842305" y="1679204"/>
            <a:ext cx="1105043" cy="743956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947348" y="1476207"/>
            <a:ext cx="2576502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5 g hạt chắc, không mọt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842305" y="2276856"/>
            <a:ext cx="1156555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998860" y="1927555"/>
            <a:ext cx="2473480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Ngâm nước ấm ~40 °C, 2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giờ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305" y="2423160"/>
            <a:ext cx="1465622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307927" y="2671511"/>
            <a:ext cx="1855346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Ủ 1 – 2 ngày, 30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– 35 °C</a:t>
            </a:r>
          </a:p>
        </p:txBody>
      </p:sp>
      <p:sp>
        <p:nvSpPr>
          <p:cNvPr id="16" name="Oval 15"/>
          <p:cNvSpPr/>
          <p:nvPr/>
        </p:nvSpPr>
        <p:spPr>
          <a:xfrm>
            <a:off x="6906707" y="2183587"/>
            <a:ext cx="1871195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Chuẩn bị hạt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349389" y="384048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295857" y="4660148"/>
            <a:ext cx="1053532" cy="597652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16331" y="4457151"/>
            <a:ext cx="267952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Chuông A: hạt + nước vôi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192834" y="5257800"/>
            <a:ext cx="1156555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9354" y="4908499"/>
            <a:ext cx="2473480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Chuông B: chỉ nước vôi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(đối chứng)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832256" y="5257800"/>
            <a:ext cx="1517133" cy="597651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79932" y="5652455"/>
            <a:ext cx="1752323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Để khoảng 1 giờ</a:t>
            </a:r>
          </a:p>
        </p:txBody>
      </p:sp>
      <p:sp>
        <p:nvSpPr>
          <p:cNvPr id="24" name="Oval 23"/>
          <p:cNvSpPr/>
          <p:nvPr/>
        </p:nvSpPr>
        <p:spPr>
          <a:xfrm>
            <a:off x="3829843" y="5018227"/>
            <a:ext cx="1039091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Bố trí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5847" y="384048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842305" y="4660148"/>
            <a:ext cx="1346750" cy="597652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189055" y="4457151"/>
            <a:ext cx="2093090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A: váng trắng đục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842305" y="5111496"/>
            <a:ext cx="1671667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13972" y="4908499"/>
            <a:ext cx="1443256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B: vẫn trong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42305" y="5257800"/>
            <a:ext cx="1105043" cy="451347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947348" y="5359847"/>
            <a:ext cx="2576502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Hạt nảy mầm hô hấp thải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CO₂</a:t>
            </a:r>
          </a:p>
        </p:txBody>
      </p:sp>
      <p:sp>
        <p:nvSpPr>
          <p:cNvPr id="32" name="Oval 31"/>
          <p:cNvSpPr/>
          <p:nvPr/>
        </p:nvSpPr>
        <p:spPr>
          <a:xfrm>
            <a:off x="7253417" y="5018227"/>
            <a:ext cx="1177775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Kết quả</a:t>
            </a:r>
          </a:p>
        </p:txBody>
      </p:sp>
      <p:sp>
        <p:nvSpPr>
          <p:cNvPr id="33" name="Oval 32"/>
          <p:cNvSpPr/>
          <p:nvPr/>
        </p:nvSpPr>
        <p:spPr>
          <a:xfrm>
            <a:off x="4813539" y="3369259"/>
            <a:ext cx="2564615" cy="942441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7 THỰC HÀNH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HÔ HẤP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