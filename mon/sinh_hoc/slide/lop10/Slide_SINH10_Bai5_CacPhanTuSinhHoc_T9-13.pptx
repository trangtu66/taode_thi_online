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96" r:id="rId48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tr.28 – ghi dự đoán của HS, chưa kết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5. CÁC PHÂN TỬ SINH HỌC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10 – Kết nối tri thức với cuộc sống · 05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khái niệm phân tử sinh học; thành phần cấu tạo và vai trò của carbohydrate, lipid, protein, nucleic acid.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được mối quan hệ giữa cấu tạo và chức năng của các phân tử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một số nguồn thực phẩm cung cấp các phân tử sinh học cho cơ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Vận dụng giải thích hiện tượng thực tiễn: ăn uống cân đối, luộc trứng, dấu vân tay DNA.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Xây dựng khẩu phần ăn hợp lí, có trách nhiệm với sức khoẻ bản thân.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9: KHÁI NIỆM – CARBOHYDRATE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Thừa cân, béo phì là nguyên nhân chủ yếu dẫn đến bệnh tiểu đường, tim mạch…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Làm thế nào để giảm thiểu nguy cơ này để có cuộc sống khoẻ mạnh?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PHÂN TỬ SINH HỌC LÀ GÌ?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tử sinh học là gì? Nêu những đặc điểm chung của các phân tử sinh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Đọc mục I SGK tr.28.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PHÂN TỬ SINH HỌC LÀ GÌ?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Phân tử hữu cơ được tổng hợp và tồn tại trong tế bào sống: protein, lipid, carbohydrate, nucleic acid.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Protein, carbohydrate, nucleic acid là đại phân tử cấu tạo theo nguyên tắc đa phân.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Bộ khung hydrocarbon + các nhóm chức khác nhau → vô số hợp chất.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tử sinh học = phân tử hữu cơ của tế bào sống.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NHÓM CARBOHYDRATE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biệt đường đơn, đường đôi, đường đa về cấu tạo, ví dụ và chức năng.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5.1 – 5.3.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NHÓM CARBOHYDRATE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Đường đơn (glucose, fructose, galactose): năng lượng, nguyên liệu.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Đường đôi (maltose, lactose, sucrose): đường vận chuyển.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Đường đa (tinh bột, glycogen, cellulose, chitin): dự trữ, cấu trúc.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Cấu tạo từ C, H, O; công thức chung Cₙ(H₂O)ₘ.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VÌ SAO CẦN ĂN RAU XANH?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Con người không tiêu hoá được cellulose. Tại sao vẫn nên ăn nhiều loại rau xanh khác nhau?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Cellulose tác động gì đến ruột?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VÌ SAO CẦN ĂN RAU XANH?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Cellulose kích thích niêm mạc ruột tiết dịch nhầy, thức ăn di chuyển trơn tru.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Cuốn trôi chất cặn bã; ăn quá ít cellulose dễ táo bón.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Rau khác nhau cung cấp đa dạng vitamin, khoáng chất.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Rau xanh giúp tiêu hoá khoẻ.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10: LIPID – CHẤT BÉO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LOẠI LIPID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Đặc tính chung của lipid là gì? Nêu cấu tạo, chức năng của mỡ và dầu, phospholipid, steroid, carotenoid.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5.4 – 5.6.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LOẠI LIPID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Kị nước: nhiều liên kết C–H không phân cực.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Mỡ, dầu: glycerol + 3 acid béo → dự trữ năng lượng, cách nhiệt, hoà tan vitamin A, D, E, K.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Phospholipid: lưỡng cực → màng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Steroid: cholesterol, hormone sinh dục; carotenoid → vitamin 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Lipid đa dạng cấu trúc và chức năng.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CHOLESTEROL “TỐT” VÀ “XẤU”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biệt HDL và LDL. Vì sao ăn quá nhiều đồ chiên rán, nội tạng động vật lại nguy hiểm?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Lipoprotein nào đưa cholesterol về gan?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CHOLESTEROL “TỐT” VÀ “XẤU”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HDL: vận chuyển cholesterol tới gan → giảm cholesterol máu (“tốt”).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LDL: mang cholesterol tới mạch máu, tích tụ tạo mảng bám (“xấu”).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LDL cao → hẹp mạch máu → bệnh tim mạch, đột quỵ.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Hạn chế chất béo bão hoà, chất béo trans.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CÀ CHUA CHƯNG MỠ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ăn cà chua hoặc hành chưng trong mỡ, cơ thể người có thể hấp thụ được những loại vitamin gì? Giải thích.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Vitamin nào tan trong dầu mỡ?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CÀ CHUA CHƯNG MỠ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Cà chua, hành giàu carotenoid, vitamin E, K.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Carotenoid → vitamin A; A, E, K tan trong chất béo.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Chế biến với mỡ giúp hấp thụ các vitamin này tốt hơn.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Mỡ là dung môi hoà tan vitamin A, D, E, 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11: PROTEIN – CHẤT ĐẠM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CHỨC NĂNG CỦA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Protein có những chức năng nào? Cho ví dụ.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6 nhóm chức năng.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CHỨC NĂNG CỦA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trúc (bộ khung tế bào); xúc tác (enzyme).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Bảo vệ (kháng thể); vận động.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Tiếp nhận thông tin (thụ thể); điều hoà (hormone).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Protein tham gia hầu hết các hoạt động sống.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CỦA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Đơn phân của protein là gì? Mô tả 4 bậc cấu trúc của protein.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5.7, 5.8.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CỦA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Amino acid: C trung tâm + –NH₂ + –COOH + H + nhóm R; 20 loại.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Liên kết peptide → chuỗi polypeptide.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Bậc 1: trình tự amino acid; bậc 2: xoắn α, gấp nếp β.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Bậc 3: cấu trúc không gian ba chiều; bậc 4: nhiều chuỗi.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Cấu trúc không gian quy định chức năng.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VÌ SAO LUỘC TRỨNG THÌ ĐÔNG LẠI?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khi luộc trứng thì protein của trứng lại bị đông đặc lại?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Nhiệt độ tác động đến liên kết nào?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VÌ SAO LUỘC TRỨNG THÌ ĐÔNG LẠI?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trúc không gian giữ bởi liên kết yếu (hydrogen, kị nước, Van der Waals).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Nhiệt độ cao làm đứt các liên kết yếu → biến tính.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Chuỗi polypeptide duỗi ra, liên kết với nhau → đông đặc.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Biến tính: protein mất cấu trúc và chức năng.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12: NUCLEIC ACID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VÀ CHỨC NĂNG CỦA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các đặc điểm cấu trúc giúp DNA mang, bảo quản và truyền đạt thông tin di truyền.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5.10.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VÀ CHỨC NĂNG CỦA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Hai chuỗi polynucleotide song song, ngược chiều; nucleotide: phosphate, deoxyribose, base A, T, G,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Trình tự nucleotide mang thông tin; A – T (2 liên kết H), G ≡ C (3 liên kết H) → bền vững.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Mạch làm khuôn → nhân đôi chính xác; DNA → mRNA → Protein.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Watson và Crick công bố mô hình xoắn kép năm 1953.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SO SÁNH DNA VÀ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sự khác biệt về cấu trúc giữa DNA và RNA; phân biệt các loại RNA.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Đường? Base? Số mạch?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SO SÁNH DNA VÀ 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DNA: 2 mạch, deoxyribose, base A, T, G,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RNA: 1 mạch, ribose, base A, U, G,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mRNA làm khuôn; tRNA vận chuyển amino acid; rRNA cấu tạo ribosome; ribozyme xúc tác.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RNA có U thay cho 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DẤU VÂN TAY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Bảng điện di dấu vân tay DNA (SGK tr.38): mẹ là (1), con gái là (2); ai trong (3) và (4) là cha của cô gái?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Mỗi vạch của con nhận từ mẹ hoặc từ cha.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DẤU VÂN TAY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Các vạch của (2) không có ở mẹ (1) đều trùng với vạch của (3).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(4) không có các vạch đó.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Ứng dụng: xác định huyết thống, truy tìm tội phạm.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(3) là cha của cô gái.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13: LUYỆN TẬP – VẬN DỤNG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1: ĐƯỜNG ĐA TỪ 10 GLUCOSE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Nếu 10 phân tử glucose (C₆H₁₂O₆) liên kết với nhau tạo nên một phân tử đường đa thì phân tử này có công thức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Mỗi liên kết glycosidic loại đi bao nhiêu phân tử nước?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1: ĐƯỜNG ĐA TỪ 10 GLUCOSE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10 glucose: C₆₀H₁₂₀O₆₀.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Có 9 liên kết glycosidic → loại 9 phân tử H₂O.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C₆₀H₁₂₀O₆₀ – 9H₂O.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Công thức: C₆₀H₁₀₂O₅₁.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5: CÓ NÊN BỎ HẲN CHẤT BÉO?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Để giảm béo, nhiều người cắt bỏ hoàn toàn chất béo. Nên hay không? Cần làm gì để duy trì cân nặng khoẻ mạnh?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Lipid có những vai trò gì?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5: CÓ NÊN BỎ HẲN CHẤT BÉO?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Không nên: lipid cấu tạo màng tế bào, hormone steroid, hoà tan vitamin A, D, E, K.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Ăn đủ chất béo, ưu tiên dầu thực vật; hạn chế mỡ, chất béo trans, đường.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Nhiều rau xanh, vận động thể lực đều đặn.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Ăn cân đối + vận động.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7: THIẾU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khẩu phần thiếu protein thì trẻ em thường gầy yếu, chậm lớn, phù nề và dễ mắc bệnh truyền nhiễm?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Protein làm nguyên liệu tổng hợp những gì?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7: THIẾU PROTEIN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Thiếu amino acid tổng hợp protein cấu trúc, enzyme, hormone → gầy yếu, chậm lớn.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Protein huyết tương giảm → nước thoát ra mô → phù nề.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Thiếu nguyên liệu tạo kháng thể → dễ nhiễm bệnh.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đủ protein từ nhiều nguồn thực phẩm.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39</a:t>
            </a:r>
          </a:p>
        </p:txBody>
      </p:sp>
      <p:pic>
        <p:nvPicPr>
          <p:cNvPr id="7" name="Picture 6" descr="SoDoTuDuy_SINH10_Bai5_CacPhanTuSinhHoc_T9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5. Các phân tử sinh học          40</a:t>
            </a:r>
          </a:p>
        </p:txBody>
      </p:sp>
      <p:pic>
        <p:nvPicPr>
          <p:cNvPr id="7" name="Picture 6" descr="QR_sinh_cc_bai5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5. Các phân tử sinh học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trangtu66.github.io/Taode_thi_online/sinh_cc_bai5_k10.html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cxnSp>
        <p:nvCxnSpPr>
          <p:cNvPr id="3" name="Connector 2"/>
          <p:cNvCxnSpPr/>
          <p:nvPr/>
        </p:nvCxnSpPr>
        <p:spPr>
          <a:xfrm flipH="1" flipV="1">
            <a:off x="4349389" y="2423160"/>
            <a:ext cx="1746458" cy="1417320"/>
          </a:xfrm>
          <a:prstGeom prst="line">
            <a:avLst/>
          </a:prstGeom>
          <a:ln w="44450">
            <a:solidFill>
              <a:srgbClr val="A41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 flipV="1">
            <a:off x="3002639" y="1599834"/>
            <a:ext cx="1346750" cy="823326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09549" y="1396837"/>
            <a:ext cx="2093090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1">
                <a:solidFill>
                  <a:srgbClr val="8B0000"/>
                </a:solidFill>
                <a:latin typeface="Calibri"/>
              </a:rPr>
              <a:t>C, H, O; Cₙ(H₂O)ₘ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2780745" y="2051182"/>
            <a:ext cx="1568644" cy="371978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31443" y="1848185"/>
            <a:ext cx="1649301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Đơn – đôi – đa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3192834" y="2423160"/>
            <a:ext cx="1156555" cy="79369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19354" y="2299533"/>
            <a:ext cx="2473480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Năng lượng, vận chuyển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38301" y="2423160"/>
            <a:ext cx="1311088" cy="677021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73887" y="2750880"/>
            <a:ext cx="2164413" cy="698601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Tinh bột, glycogen,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cellulose</a:t>
            </a:r>
          </a:p>
        </p:txBody>
      </p:sp>
      <p:sp>
        <p:nvSpPr>
          <p:cNvPr id="12" name="Oval 11"/>
          <p:cNvSpPr/>
          <p:nvPr/>
        </p:nvSpPr>
        <p:spPr>
          <a:xfrm>
            <a:off x="3413791" y="2183587"/>
            <a:ext cx="1871195" cy="479145"/>
          </a:xfrm>
          <a:prstGeom prst="ellipse">
            <a:avLst/>
          </a:prstGeom>
          <a:gradFill rotWithShape="1">
            <a:gsLst>
              <a:gs pos="0">
                <a:srgbClr val="A4133C"/>
              </a:gs>
              <a:gs pos="100000">
                <a:srgbClr val="5C0017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Carbohydrate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095847" y="2423160"/>
            <a:ext cx="1746458" cy="1417320"/>
          </a:xfrm>
          <a:prstGeom prst="line">
            <a:avLst/>
          </a:prstGeom>
          <a:ln w="4445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842305" y="1453530"/>
            <a:ext cx="1901486" cy="969630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743791" y="1250533"/>
            <a:ext cx="983618" cy="405993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1">
                <a:solidFill>
                  <a:srgbClr val="8B0000"/>
                </a:solidFill>
                <a:latin typeface="Calibri"/>
              </a:rPr>
              <a:t>Kị nước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842305" y="2051182"/>
            <a:ext cx="1208066" cy="371978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050371" y="1701881"/>
            <a:ext cx="2370458" cy="698601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Mỡ, dầu: glycerol + 3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acid béo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42305" y="2423160"/>
            <a:ext cx="1208066" cy="371977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50371" y="2445837"/>
            <a:ext cx="2370458" cy="698601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Phospholipid: màng tế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bào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42305" y="2423160"/>
            <a:ext cx="1311088" cy="969629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153393" y="3189792"/>
            <a:ext cx="2164413" cy="405993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Steroid, carotenoid</a:t>
            </a:r>
          </a:p>
        </p:txBody>
      </p:sp>
      <p:sp>
        <p:nvSpPr>
          <p:cNvPr id="22" name="Oval 21"/>
          <p:cNvSpPr/>
          <p:nvPr/>
        </p:nvSpPr>
        <p:spPr>
          <a:xfrm>
            <a:off x="7392101" y="2183587"/>
            <a:ext cx="900407" cy="479145"/>
          </a:xfrm>
          <a:prstGeom prst="ellipse">
            <a:avLst/>
          </a:prstGeom>
          <a:gradFill rotWithShape="1">
            <a:gsLst>
              <a:gs pos="0">
                <a:srgbClr val="0B3D91"/>
              </a:gs>
              <a:gs pos="100000">
                <a:srgbClr val="001233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Lipid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349389" y="3840480"/>
            <a:ext cx="1746458" cy="1417320"/>
          </a:xfrm>
          <a:prstGeom prst="line">
            <a:avLst/>
          </a:prstGeom>
          <a:ln w="44450">
            <a:solidFill>
              <a:srgbClr val="A41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3335481" y="4434474"/>
            <a:ext cx="1013908" cy="823326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76707" y="4231477"/>
            <a:ext cx="2758773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1">
                <a:solidFill>
                  <a:srgbClr val="8B0000"/>
                </a:solidFill>
                <a:latin typeface="Calibri"/>
              </a:rPr>
              <a:t>Đơn phân: 20 amino acid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3244346" y="5032126"/>
            <a:ext cx="1105043" cy="225674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67843" y="4682825"/>
            <a:ext cx="2576502" cy="698601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Liên kết peptide; 4 bậc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cấu trúc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089812" y="5257800"/>
            <a:ext cx="1259577" cy="371977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22376" y="5426781"/>
            <a:ext cx="2267435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Nhiều chức năng nhất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192834" y="5257800"/>
            <a:ext cx="1156555" cy="823325"/>
          </a:xfrm>
          <a:prstGeom prst="line">
            <a:avLst/>
          </a:prstGeom>
          <a:ln w="15875">
            <a:solidFill>
              <a:srgbClr val="8B0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19354" y="5878128"/>
            <a:ext cx="2473480" cy="405993"/>
          </a:xfrm>
          <a:prstGeom prst="ellipse">
            <a:avLst/>
          </a:prstGeom>
          <a:solidFill>
            <a:srgbClr val="FFF1F3"/>
          </a:solidFill>
          <a:ln w="15875">
            <a:solidFill>
              <a:srgbClr val="8B0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Biến tính khi đun nóng</a:t>
            </a:r>
          </a:p>
        </p:txBody>
      </p:sp>
      <p:sp>
        <p:nvSpPr>
          <p:cNvPr id="32" name="Oval 31"/>
          <p:cNvSpPr/>
          <p:nvPr/>
        </p:nvSpPr>
        <p:spPr>
          <a:xfrm>
            <a:off x="3760501" y="5018227"/>
            <a:ext cx="1177775" cy="479145"/>
          </a:xfrm>
          <a:prstGeom prst="ellipse">
            <a:avLst/>
          </a:prstGeom>
          <a:gradFill rotWithShape="1">
            <a:gsLst>
              <a:gs pos="0">
                <a:srgbClr val="A4133C"/>
              </a:gs>
              <a:gs pos="100000">
                <a:srgbClr val="5C0017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Protein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3840480"/>
            <a:ext cx="1746458" cy="1417320"/>
          </a:xfrm>
          <a:prstGeom prst="line">
            <a:avLst/>
          </a:prstGeom>
          <a:ln w="4445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842305" y="4434474"/>
            <a:ext cx="1124855" cy="823326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967160" y="4231477"/>
            <a:ext cx="2536878" cy="405993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1">
                <a:solidFill>
                  <a:srgbClr val="8B0000"/>
                </a:solidFill>
                <a:latin typeface="Calibri"/>
              </a:rPr>
              <a:t>DNA: 2 mạch, A–T, G≡C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842305" y="4885822"/>
            <a:ext cx="1414111" cy="371978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256416" y="4682825"/>
            <a:ext cx="1958368" cy="405993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RNA: 1 mạch, có U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42305" y="5257800"/>
            <a:ext cx="1156555" cy="225673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998860" y="5134173"/>
            <a:ext cx="2473480" cy="698601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Mang, truyền thông tin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di truyền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842305" y="5257800"/>
            <a:ext cx="1517133" cy="823325"/>
          </a:xfrm>
          <a:prstGeom prst="line">
            <a:avLst/>
          </a:prstGeom>
          <a:ln w="15875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9359438" y="5878128"/>
            <a:ext cx="1752323" cy="405993"/>
          </a:xfrm>
          <a:prstGeom prst="ellipse">
            <a:avLst/>
          </a:prstGeom>
          <a:solidFill>
            <a:srgbClr val="EEF3FC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200" b="0">
                <a:solidFill>
                  <a:srgbClr val="0F172A"/>
                </a:solidFill>
                <a:latin typeface="Calibri"/>
              </a:rPr>
              <a:t>Dấu vân tay DNA</a:t>
            </a:r>
          </a:p>
        </p:txBody>
      </p:sp>
      <p:sp>
        <p:nvSpPr>
          <p:cNvPr id="42" name="Oval 41"/>
          <p:cNvSpPr/>
          <p:nvPr/>
        </p:nvSpPr>
        <p:spPr>
          <a:xfrm>
            <a:off x="6906707" y="5018227"/>
            <a:ext cx="1871195" cy="479145"/>
          </a:xfrm>
          <a:prstGeom prst="ellipse">
            <a:avLst/>
          </a:prstGeom>
          <a:gradFill rotWithShape="1">
            <a:gsLst>
              <a:gs pos="0">
                <a:srgbClr val="0B3D91"/>
              </a:gs>
              <a:gs pos="100000">
                <a:srgbClr val="001233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Nucleic acid</a:t>
            </a:r>
          </a:p>
        </p:txBody>
      </p:sp>
      <p:sp>
        <p:nvSpPr>
          <p:cNvPr id="43" name="Oval 42"/>
          <p:cNvSpPr/>
          <p:nvPr/>
        </p:nvSpPr>
        <p:spPr>
          <a:xfrm>
            <a:off x="4892127" y="3369259"/>
            <a:ext cx="2407440" cy="942441"/>
          </a:xfrm>
          <a:prstGeom prst="ellipse">
            <a:avLst/>
          </a:prstGeom>
          <a:gradFill rotWithShape="1">
            <a:gsLst>
              <a:gs pos="0">
                <a:srgbClr val="0B3D91"/>
              </a:gs>
              <a:gs pos="100000">
                <a:srgbClr val="001233"/>
              </a:gs>
            </a:gsLst>
            <a:lin scaled="0" ang="16200000"/>
          </a:gradFill>
          <a:ln w="317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5 CÁC PHÂN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TỬ SINH HỌC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