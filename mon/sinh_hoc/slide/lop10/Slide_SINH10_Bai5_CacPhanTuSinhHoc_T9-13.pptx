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10"/>
    <p:sldId id="296" r:id="rId48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  <p:sldId id="283" r:id="rId35"/>
    <p:sldId id="284" r:id="rId36"/>
    <p:sldId id="285" r:id="rId37"/>
    <p:sldId id="286" r:id="rId38"/>
    <p:sldId id="287" r:id="rId39"/>
    <p:sldId id="288" r:id="rId40"/>
    <p:sldId id="289" r:id="rId41"/>
    <p:sldId id="290" r:id="rId42"/>
    <p:sldId id="291" r:id="rId43"/>
    <p:sldId id="292" r:id="rId44"/>
    <p:sldId id="293" r:id="rId45"/>
    <p:sldId id="294" r:id="rId46"/>
    <p:sldId id="295" r:id="rId4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notesMaster" Target="notesMasters/notesMaster1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Relationship Id="rId33" Type="http://schemas.openxmlformats.org/officeDocument/2006/relationships/slide" Target="slides/slide26.xml"/><Relationship Id="rId34" Type="http://schemas.openxmlformats.org/officeDocument/2006/relationships/slide" Target="slides/slide27.xml"/><Relationship Id="rId35" Type="http://schemas.openxmlformats.org/officeDocument/2006/relationships/slide" Target="slides/slide28.xml"/><Relationship Id="rId36" Type="http://schemas.openxmlformats.org/officeDocument/2006/relationships/slide" Target="slides/slide29.xml"/><Relationship Id="rId37" Type="http://schemas.openxmlformats.org/officeDocument/2006/relationships/slide" Target="slides/slide30.xml"/><Relationship Id="rId38" Type="http://schemas.openxmlformats.org/officeDocument/2006/relationships/slide" Target="slides/slide31.xml"/><Relationship Id="rId39" Type="http://schemas.openxmlformats.org/officeDocument/2006/relationships/slide" Target="slides/slide32.xml"/><Relationship Id="rId40" Type="http://schemas.openxmlformats.org/officeDocument/2006/relationships/slide" Target="slides/slide33.xml"/><Relationship Id="rId41" Type="http://schemas.openxmlformats.org/officeDocument/2006/relationships/slide" Target="slides/slide34.xml"/><Relationship Id="rId42" Type="http://schemas.openxmlformats.org/officeDocument/2006/relationships/slide" Target="slides/slide35.xml"/><Relationship Id="rId43" Type="http://schemas.openxmlformats.org/officeDocument/2006/relationships/slide" Target="slides/slide36.xml"/><Relationship Id="rId44" Type="http://schemas.openxmlformats.org/officeDocument/2006/relationships/slide" Target="slides/slide37.xml"/><Relationship Id="rId45" Type="http://schemas.openxmlformats.org/officeDocument/2006/relationships/slide" Target="slides/slide38.xml"/><Relationship Id="rId46" Type="http://schemas.openxmlformats.org/officeDocument/2006/relationships/slide" Target="slides/slide39.xml"/><Relationship Id="rId47" Type="http://schemas.openxmlformats.org/officeDocument/2006/relationships/slide" Target="slides/slide40.xml"/><Relationship Id="rId48" Type="http://schemas.openxmlformats.org/officeDocument/2006/relationships/slide" Target="slides/slide4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1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3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4.xml"/></Relationships>
</file>

<file path=ppt/notesSlides/_rels/notesSlide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5.xml"/></Relationships>
</file>

<file path=ppt/notesSlides/_rels/notesSlide3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6.xml"/></Relationships>
</file>

<file path=ppt/notesSlides/_rels/notesSlide3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7.xml"/></Relationships>
</file>

<file path=ppt/notesSlides/_rels/notesSlide3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8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GV nêu mục tiêu; HS ghi vào vở. Nhắc HS chuẩn bị điện thoại để làm bài củng cố cuối tiết.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Câu hỏi mở đầu SGK tr.28 – ghi dự đoán của HS, chưa kết luận.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ĐỀ BÀI – cho HS suy nghĩ, thảo luận (không chiếu lời giải).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LỜI GIẢI – GV chốt sau khi HS trình bày.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ĐỀ BÀI – cho HS suy nghĩ, thảo luận (không chiếu lời giải).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LỜI GIẢI – GV chốt sau khi HS trình bày.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ĐỀ BÀI – cho HS suy nghĩ, thảo luận (không chiếu lời giải).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LỜI GIẢI – GV chốt sau khi HS trình bày.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ĐỀ BÀI – cho HS suy nghĩ, thảo luận (không chiếu lời giải).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LỜI GIẢI – GV chốt sau khi HS trình bày.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ĐỀ BÀI – cho HS suy nghĩ, thảo luận (không chiếu lời giải).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LỜI GIẢI – GV chốt sau khi HS trình bày.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ĐỀ BÀI – cho HS suy nghĩ, thảo luận (không chiếu lời giải).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LỜI GIẢI – GV chốt sau khi HS trình bày.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ĐỀ BÀI – cho HS suy nghĩ, thảo luận (không chiếu lời giải).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LỜI GIẢI – GV chốt sau khi HS trình bày.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ĐỀ BÀI – cho HS suy nghĩ, thảo luận (không chiếu lời giải).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LỜI GIẢI – GV chốt sau khi HS trình bày.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ĐỀ BÀI – cho HS suy nghĩ, thảo luận (không chiếu lời giải).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LỜI GIẢI – GV chốt sau khi HS trình bày.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ĐỀ BÀI – cho HS suy nghĩ, thảo luận (không chiếu lời giải).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LỜI GIẢI – GV chốt sau khi HS trình bày.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ĐỀ BÀI – cho HS suy nghĩ, thảo luận (không chiếu lời giải).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LỜI GIẢI – GV chốt sau khi HS trình bày.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ĐỀ BÀI – cho HS suy nghĩ, thảo luận (không chiếu lời giải).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LỜI GIẢI – GV chốt sau khi HS trình bày.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ĐỀ BÀI – cho HS suy nghĩ, thảo luận (không chiếu lời giải).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LỜI GIẢI – GV chốt sau khi HS trình bày.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ĐỀ BÀI – cho HS suy nghĩ, thảo luận (không chiếu lời giải).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LỜI GIẢI – GV chốt sau khi HS trình bày.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ĐỀ BÀI – cho HS suy nghĩ, thảo luận (không chiếu lời giải).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LỜI GIẢI – GV chốt sau khi HS trình bày.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0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1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2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3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4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5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6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8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9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0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1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2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2011680"/>
            <a:ext cx="12191695" cy="2377440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194560"/>
            <a:ext cx="10698480" cy="201168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>
              <a:spcAft>
                <a:spcPts val="800"/>
              </a:spcAft>
            </a:pPr>
            <a:r>
              <a:rPr sz="4000" b="1">
                <a:solidFill>
                  <a:srgbClr val="FFFFFF"/>
                </a:solidFill>
                <a:latin typeface="Calibri"/>
              </a:rPr>
              <a:t>BÀI 5. CÁC PHÂN TỬ SINH HỌC</a:t>
            </a:r>
          </a:p>
          <a:p>
            <a:pPr algn="ctr">
              <a:spcAft>
                <a:spcPts val="800"/>
              </a:spcAft>
            </a:pPr>
            <a:r>
              <a:rPr sz="2400">
                <a:solidFill>
                  <a:srgbClr val="FFFFFF"/>
                </a:solidFill>
                <a:latin typeface="Calibri"/>
              </a:rPr>
              <a:t>Sinh học 10 – Kết nối tri thức với cuộc sống · 05 tiết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4846320"/>
            <a:ext cx="10698480" cy="9144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800"/>
              </a:spcAft>
            </a:pPr>
            <a:r>
              <a:rPr sz="2000">
                <a:solidFill>
                  <a:srgbClr val="64748B"/>
                </a:solidFill>
                <a:latin typeface="Calibri"/>
              </a:rPr>
              <a:t>Trường THPT – Tổ Sử – Địa – Sinh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9942271" y="457200"/>
            <a:ext cx="1700784" cy="457200"/>
          </a:xfrm>
          <a:prstGeom prst="round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MỤC TIÊU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74320"/>
            <a:ext cx="9272016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600" b="1">
                <a:solidFill>
                  <a:srgbClr val="1E40AF"/>
                </a:solidFill>
                <a:latin typeface="Arial"/>
              </a:rPr>
              <a:t>MỤC TIÊU BÀI HỌC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Sinh học 10 · Bài 5. Các phân tử sinh học          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463040"/>
            <a:ext cx="10789920" cy="47548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 marL="365760" indent="-365760">
              <a:spcAft>
                <a:spcPts val="800"/>
              </a:spcAft>
              <a:buClr>
                <a:srgbClr val="1E40AF"/>
              </a:buClr>
              <a:buFont typeface="Arial"/>
              <a:buChar char="•"/>
            </a:pPr>
            <a:r>
              <a:rPr sz="2200">
                <a:solidFill>
                  <a:srgbClr val="1E293B"/>
                </a:solidFill>
                <a:latin typeface="Calibri"/>
              </a:rPr>
              <a:t>Nêu được khái niệm phân tử sinh học; thành phần cấu tạo và vai trò của carbohydrate, lipid, protein, nucleic acid.</a:t>
            </a:r>
          </a:p>
          <a:p>
            <a:pPr algn="l" marL="365760" indent="-365760">
              <a:spcAft>
                <a:spcPts val="800"/>
              </a:spcAft>
              <a:buClr>
                <a:srgbClr val="1E40AF"/>
              </a:buClr>
              <a:buFont typeface="Arial"/>
              <a:buChar char="•"/>
            </a:pPr>
            <a:r>
              <a:rPr sz="2200">
                <a:solidFill>
                  <a:srgbClr val="1E293B"/>
                </a:solidFill>
                <a:latin typeface="Calibri"/>
              </a:rPr>
              <a:t>Phân tích được mối quan hệ giữa cấu tạo và chức năng của các phân tử sinh học.</a:t>
            </a:r>
          </a:p>
          <a:p>
            <a:pPr algn="l" marL="365760" indent="-365760">
              <a:spcAft>
                <a:spcPts val="800"/>
              </a:spcAft>
              <a:buClr>
                <a:srgbClr val="1E40AF"/>
              </a:buClr>
              <a:buFont typeface="Arial"/>
              <a:buChar char="•"/>
            </a:pPr>
            <a:r>
              <a:rPr sz="2200">
                <a:solidFill>
                  <a:srgbClr val="1E293B"/>
                </a:solidFill>
                <a:latin typeface="Calibri"/>
              </a:rPr>
              <a:t>Nêu được một số nguồn thực phẩm cung cấp các phân tử sinh học cho cơ thể.</a:t>
            </a:r>
          </a:p>
          <a:p>
            <a:pPr algn="l" marL="365760" indent="-365760">
              <a:spcAft>
                <a:spcPts val="800"/>
              </a:spcAft>
              <a:buClr>
                <a:srgbClr val="1E40AF"/>
              </a:buClr>
              <a:buFont typeface="Arial"/>
              <a:buChar char="•"/>
            </a:pPr>
            <a:r>
              <a:rPr sz="2200">
                <a:solidFill>
                  <a:srgbClr val="1E293B"/>
                </a:solidFill>
                <a:latin typeface="Calibri"/>
              </a:rPr>
              <a:t>Vận dụng giải thích hiện tượng thực tiễn: ăn uống cân đối, luộc trứng, dấu vân tay DNA.</a:t>
            </a:r>
          </a:p>
          <a:p>
            <a:pPr algn="l" marL="365760" indent="-365760">
              <a:spcAft>
                <a:spcPts val="800"/>
              </a:spcAft>
              <a:buClr>
                <a:srgbClr val="1E40AF"/>
              </a:buClr>
              <a:buFont typeface="Arial"/>
              <a:buChar char="•"/>
            </a:pPr>
            <a:r>
              <a:rPr sz="2200">
                <a:solidFill>
                  <a:srgbClr val="1E293B"/>
                </a:solidFill>
                <a:latin typeface="Calibri"/>
              </a:rPr>
              <a:t>Xây dựng khẩu phần ăn hợp lí, có trách nhiệm với sức khoẻ bản thân.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2926080"/>
            <a:ext cx="164592" cy="1005840"/>
          </a:xfrm>
          <a:prstGeom prst="rect">
            <a:avLst/>
          </a:prstGeom>
          <a:solidFill>
            <a:srgbClr val="991B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743200"/>
            <a:ext cx="10515600" cy="137160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800"/>
              </a:spcAft>
            </a:pPr>
            <a:r>
              <a:rPr sz="3600" b="1">
                <a:solidFill>
                  <a:srgbClr val="1E40AF"/>
                </a:solidFill>
                <a:latin typeface="Calibri"/>
              </a:rPr>
              <a:t>TIẾT 9: KHÁI NIỆM – CARBOHYDRATE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9786823" y="457200"/>
            <a:ext cx="1856232" cy="457200"/>
          </a:xfrm>
          <a:prstGeom prst="round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KHỞI ĐỘNG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74320"/>
            <a:ext cx="9116568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600" b="1">
                <a:solidFill>
                  <a:srgbClr val="1E40AF"/>
                </a:solidFill>
                <a:latin typeface="Arial"/>
              </a:rPr>
              <a:t>KHỞI ĐỘNG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Sinh học 10 · Bài 5. Các phân tử sinh học          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463040"/>
            <a:ext cx="10789920" cy="45720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800"/>
              </a:spcAft>
            </a:pPr>
            <a:r>
              <a:rPr sz="2600" b="1">
                <a:solidFill>
                  <a:srgbClr val="1E293B"/>
                </a:solidFill>
                <a:latin typeface="Calibri"/>
              </a:rPr>
              <a:t>Thừa cân, béo phì là nguyên nhân chủ yếu dẫn đến bệnh tiểu đường, tim mạch…</a:t>
            </a:r>
          </a:p>
          <a:p>
            <a:pPr algn="l">
              <a:spcAft>
                <a:spcPts val="800"/>
              </a:spcAft>
            </a:pPr>
            <a:r>
              <a:rPr sz="2600" b="1">
                <a:solidFill>
                  <a:srgbClr val="1E293B"/>
                </a:solidFill>
                <a:latin typeface="Calibri"/>
              </a:rPr>
              <a:t>Làm thế nào để giảm thiểu nguy cơ này để có cuộc sống khoẻ mạnh?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10253167" y="457200"/>
            <a:ext cx="1389888" cy="457200"/>
          </a:xfrm>
          <a:prstGeom prst="round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ĐỀ BÀI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74320"/>
            <a:ext cx="9582912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600" b="1">
                <a:solidFill>
                  <a:srgbClr val="1E40AF"/>
                </a:solidFill>
                <a:latin typeface="Arial"/>
              </a:rPr>
              <a:t>PHÂN TỬ SINH HỌC LÀ GÌ?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Sinh học 10 · Bài 5. Các phân tử sinh học          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463040"/>
            <a:ext cx="10789920" cy="35661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800"/>
              </a:spcAft>
            </a:pPr>
            <a:r>
              <a:rPr sz="2600" b="1">
                <a:solidFill>
                  <a:srgbClr val="1E293B"/>
                </a:solidFill>
                <a:latin typeface="Calibri"/>
              </a:rPr>
              <a:t>Phân tử sinh học là gì? Nêu những đặc điểm chung của các phân tử sinh học.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5120640"/>
            <a:ext cx="10789920" cy="693420"/>
          </a:xfrm>
          <a:prstGeom prst="roundRect">
            <a:avLst>
              <a:gd name="adj" fmla="val 8000"/>
            </a:avLst>
          </a:prstGeom>
          <a:solidFill>
            <a:srgbClr val="EFF4FF"/>
          </a:solidFill>
          <a:ln w="19050">
            <a:solidFill>
              <a:srgbClr val="1E40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5120640"/>
            <a:ext cx="10424160" cy="69342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2200" b="1">
                <a:solidFill>
                  <a:srgbClr val="1E40AF"/>
                </a:solidFill>
                <a:latin typeface="Calibri"/>
              </a:rPr>
              <a:t>💡 Đọc mục I SGK tr.28.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9942271" y="457200"/>
            <a:ext cx="1700784" cy="457200"/>
          </a:xfrm>
          <a:prstGeom prst="roundRect">
            <a:avLst/>
          </a:prstGeom>
          <a:solidFill>
            <a:srgbClr val="991B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LỜI GIẢI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74320"/>
            <a:ext cx="9272016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600" b="1">
                <a:solidFill>
                  <a:srgbClr val="1E40AF"/>
                </a:solidFill>
                <a:latin typeface="Arial"/>
              </a:rPr>
              <a:t>PHÂN TỬ SINH HỌC LÀ GÌ?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Sinh học 10 · Bài 5. Các phân tử sinh học          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463040"/>
            <a:ext cx="10789920" cy="34747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 marL="365760" indent="-365760">
              <a:spcAft>
                <a:spcPts val="800"/>
              </a:spcAft>
              <a:buClr>
                <a:srgbClr val="1E40AF"/>
              </a:buClr>
              <a:buFont typeface="Arial"/>
              <a:buChar char="•"/>
            </a:pPr>
            <a:r>
              <a:rPr sz="2300">
                <a:solidFill>
                  <a:srgbClr val="1E293B"/>
                </a:solidFill>
                <a:latin typeface="Calibri"/>
              </a:rPr>
              <a:t>Phân tử hữu cơ được tổng hợp và tồn tại trong tế bào sống: protein, lipid, carbohydrate, nucleic acid.</a:t>
            </a:r>
          </a:p>
          <a:p>
            <a:pPr algn="l" marL="365760" indent="-365760">
              <a:spcAft>
                <a:spcPts val="800"/>
              </a:spcAft>
              <a:buClr>
                <a:srgbClr val="1E40AF"/>
              </a:buClr>
              <a:buFont typeface="Arial"/>
              <a:buChar char="•"/>
            </a:pPr>
            <a:r>
              <a:rPr sz="2300">
                <a:solidFill>
                  <a:srgbClr val="1E293B"/>
                </a:solidFill>
                <a:latin typeface="Calibri"/>
              </a:rPr>
              <a:t>Protein, carbohydrate, nucleic acid là đại phân tử cấu tạo theo nguyên tắc đa phân.</a:t>
            </a:r>
          </a:p>
          <a:p>
            <a:pPr algn="l" marL="365760" indent="-365760">
              <a:spcAft>
                <a:spcPts val="800"/>
              </a:spcAft>
              <a:buClr>
                <a:srgbClr val="1E40AF"/>
              </a:buClr>
              <a:buFont typeface="Arial"/>
              <a:buChar char="•"/>
            </a:pPr>
            <a:r>
              <a:rPr sz="2300">
                <a:solidFill>
                  <a:srgbClr val="1E293B"/>
                </a:solidFill>
                <a:latin typeface="Calibri"/>
              </a:rPr>
              <a:t>Bộ khung hydrocarbon + các nhóm chức khác nhau → vô số hợp chất.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5074920"/>
            <a:ext cx="10789920" cy="731520"/>
          </a:xfrm>
          <a:prstGeom prst="roundRect">
            <a:avLst>
              <a:gd name="adj" fmla="val 8000"/>
            </a:avLst>
          </a:prstGeom>
          <a:solidFill>
            <a:srgbClr val="FEF2F2"/>
          </a:solidFill>
          <a:ln w="19050">
            <a:solidFill>
              <a:srgbClr val="991B1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5074920"/>
            <a:ext cx="10424160" cy="73152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2400" b="1">
                <a:solidFill>
                  <a:srgbClr val="991B1B"/>
                </a:solidFill>
                <a:latin typeface="Calibri"/>
              </a:rPr>
              <a:t>Phân tử sinh học = phân tử hữu cơ của tế bào sống.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10253167" y="457200"/>
            <a:ext cx="1389888" cy="457200"/>
          </a:xfrm>
          <a:prstGeom prst="round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ĐỀ BÀI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74320"/>
            <a:ext cx="9582912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600" b="1">
                <a:solidFill>
                  <a:srgbClr val="1E40AF"/>
                </a:solidFill>
                <a:latin typeface="Arial"/>
              </a:rPr>
              <a:t>BA NHÓM CARBOHYDRATE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Sinh học 10 · Bài 5. Các phân tử sinh học          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463040"/>
            <a:ext cx="10789920" cy="35661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800"/>
              </a:spcAft>
            </a:pPr>
            <a:r>
              <a:rPr sz="2600" b="1">
                <a:solidFill>
                  <a:srgbClr val="1E293B"/>
                </a:solidFill>
                <a:latin typeface="Calibri"/>
              </a:rPr>
              <a:t>Phân biệt đường đơn, đường đôi, đường đa về cấu tạo, ví dụ và chức năng.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5120640"/>
            <a:ext cx="10789920" cy="693420"/>
          </a:xfrm>
          <a:prstGeom prst="roundRect">
            <a:avLst>
              <a:gd name="adj" fmla="val 8000"/>
            </a:avLst>
          </a:prstGeom>
          <a:solidFill>
            <a:srgbClr val="EFF4FF"/>
          </a:solidFill>
          <a:ln w="19050">
            <a:solidFill>
              <a:srgbClr val="1E40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5120640"/>
            <a:ext cx="10424160" cy="69342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2200" b="1">
                <a:solidFill>
                  <a:srgbClr val="1E40AF"/>
                </a:solidFill>
                <a:latin typeface="Calibri"/>
              </a:rPr>
              <a:t>💡 Quan sát Hình 5.1 – 5.3.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9942271" y="457200"/>
            <a:ext cx="1700784" cy="457200"/>
          </a:xfrm>
          <a:prstGeom prst="roundRect">
            <a:avLst/>
          </a:prstGeom>
          <a:solidFill>
            <a:srgbClr val="991B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LỜI GIẢI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74320"/>
            <a:ext cx="9272016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600" b="1">
                <a:solidFill>
                  <a:srgbClr val="1E40AF"/>
                </a:solidFill>
                <a:latin typeface="Arial"/>
              </a:rPr>
              <a:t>BA NHÓM CARBOHYDRATE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Sinh học 10 · Bài 5. Các phân tử sinh học          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463040"/>
            <a:ext cx="10789920" cy="34747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 marL="365760" indent="-365760">
              <a:spcAft>
                <a:spcPts val="800"/>
              </a:spcAft>
              <a:buClr>
                <a:srgbClr val="1E40AF"/>
              </a:buClr>
              <a:buFont typeface="Arial"/>
              <a:buChar char="•"/>
            </a:pPr>
            <a:r>
              <a:rPr sz="2300">
                <a:solidFill>
                  <a:srgbClr val="1E293B"/>
                </a:solidFill>
                <a:latin typeface="Calibri"/>
              </a:rPr>
              <a:t>Đường đơn (glucose, fructose, galactose): năng lượng, nguyên liệu.</a:t>
            </a:r>
          </a:p>
          <a:p>
            <a:pPr algn="l" marL="365760" indent="-365760">
              <a:spcAft>
                <a:spcPts val="800"/>
              </a:spcAft>
              <a:buClr>
                <a:srgbClr val="1E40AF"/>
              </a:buClr>
              <a:buFont typeface="Arial"/>
              <a:buChar char="•"/>
            </a:pPr>
            <a:r>
              <a:rPr sz="2300">
                <a:solidFill>
                  <a:srgbClr val="1E293B"/>
                </a:solidFill>
                <a:latin typeface="Calibri"/>
              </a:rPr>
              <a:t>Đường đôi (maltose, lactose, sucrose): đường vận chuyển.</a:t>
            </a:r>
          </a:p>
          <a:p>
            <a:pPr algn="l" marL="365760" indent="-365760">
              <a:spcAft>
                <a:spcPts val="800"/>
              </a:spcAft>
              <a:buClr>
                <a:srgbClr val="1E40AF"/>
              </a:buClr>
              <a:buFont typeface="Arial"/>
              <a:buChar char="•"/>
            </a:pPr>
            <a:r>
              <a:rPr sz="2300">
                <a:solidFill>
                  <a:srgbClr val="1E293B"/>
                </a:solidFill>
                <a:latin typeface="Calibri"/>
              </a:rPr>
              <a:t>Đường đa (tinh bột, glycogen, cellulose, chitin): dự trữ, cấu trúc.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5074920"/>
            <a:ext cx="10789920" cy="731520"/>
          </a:xfrm>
          <a:prstGeom prst="roundRect">
            <a:avLst>
              <a:gd name="adj" fmla="val 8000"/>
            </a:avLst>
          </a:prstGeom>
          <a:solidFill>
            <a:srgbClr val="FEF2F2"/>
          </a:solidFill>
          <a:ln w="19050">
            <a:solidFill>
              <a:srgbClr val="991B1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5074920"/>
            <a:ext cx="10424160" cy="73152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2400" b="1">
                <a:solidFill>
                  <a:srgbClr val="991B1B"/>
                </a:solidFill>
                <a:latin typeface="Calibri"/>
              </a:rPr>
              <a:t>Cấu tạo từ C, H, O; công thức chung Cₙ(H₂O)ₘ.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10253167" y="457200"/>
            <a:ext cx="1389888" cy="457200"/>
          </a:xfrm>
          <a:prstGeom prst="round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ĐỀ BÀI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74320"/>
            <a:ext cx="9582912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600" b="1">
                <a:solidFill>
                  <a:srgbClr val="1E40AF"/>
                </a:solidFill>
                <a:latin typeface="Arial"/>
              </a:rPr>
              <a:t>VÌ SAO CẦN ĂN RAU XANH?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Sinh học 10 · Bài 5. Các phân tử sinh học          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463040"/>
            <a:ext cx="10789920" cy="35661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800"/>
              </a:spcAft>
            </a:pPr>
            <a:r>
              <a:rPr sz="2600" b="1">
                <a:solidFill>
                  <a:srgbClr val="1E293B"/>
                </a:solidFill>
                <a:latin typeface="Calibri"/>
              </a:rPr>
              <a:t>Con người không tiêu hoá được cellulose. Tại sao vẫn nên ăn nhiều loại rau xanh khác nhau?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5120640"/>
            <a:ext cx="10789920" cy="693420"/>
          </a:xfrm>
          <a:prstGeom prst="roundRect">
            <a:avLst>
              <a:gd name="adj" fmla="val 8000"/>
            </a:avLst>
          </a:prstGeom>
          <a:solidFill>
            <a:srgbClr val="EFF4FF"/>
          </a:solidFill>
          <a:ln w="19050">
            <a:solidFill>
              <a:srgbClr val="1E40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5120640"/>
            <a:ext cx="10424160" cy="69342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2200" b="1">
                <a:solidFill>
                  <a:srgbClr val="1E40AF"/>
                </a:solidFill>
                <a:latin typeface="Calibri"/>
              </a:rPr>
              <a:t>💡 Cellulose tác động gì đến ruột?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9942271" y="457200"/>
            <a:ext cx="1700784" cy="457200"/>
          </a:xfrm>
          <a:prstGeom prst="roundRect">
            <a:avLst/>
          </a:prstGeom>
          <a:solidFill>
            <a:srgbClr val="991B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LỜI GIẢI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74320"/>
            <a:ext cx="9272016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600" b="1">
                <a:solidFill>
                  <a:srgbClr val="1E40AF"/>
                </a:solidFill>
                <a:latin typeface="Arial"/>
              </a:rPr>
              <a:t>VÌ SAO CẦN ĂN RAU XANH?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Sinh học 10 · Bài 5. Các phân tử sinh học          10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463040"/>
            <a:ext cx="10789920" cy="34747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 marL="365760" indent="-365760">
              <a:spcAft>
                <a:spcPts val="800"/>
              </a:spcAft>
              <a:buClr>
                <a:srgbClr val="1E40AF"/>
              </a:buClr>
              <a:buFont typeface="Arial"/>
              <a:buChar char="•"/>
            </a:pPr>
            <a:r>
              <a:rPr sz="2300">
                <a:solidFill>
                  <a:srgbClr val="1E293B"/>
                </a:solidFill>
                <a:latin typeface="Calibri"/>
              </a:rPr>
              <a:t>Cellulose kích thích niêm mạc ruột tiết dịch nhầy, thức ăn di chuyển trơn tru.</a:t>
            </a:r>
          </a:p>
          <a:p>
            <a:pPr algn="l" marL="365760" indent="-365760">
              <a:spcAft>
                <a:spcPts val="800"/>
              </a:spcAft>
              <a:buClr>
                <a:srgbClr val="1E40AF"/>
              </a:buClr>
              <a:buFont typeface="Arial"/>
              <a:buChar char="•"/>
            </a:pPr>
            <a:r>
              <a:rPr sz="2300">
                <a:solidFill>
                  <a:srgbClr val="1E293B"/>
                </a:solidFill>
                <a:latin typeface="Calibri"/>
              </a:rPr>
              <a:t>Cuốn trôi chất cặn bã; ăn quá ít cellulose dễ táo bón.</a:t>
            </a:r>
          </a:p>
          <a:p>
            <a:pPr algn="l" marL="365760" indent="-365760">
              <a:spcAft>
                <a:spcPts val="800"/>
              </a:spcAft>
              <a:buClr>
                <a:srgbClr val="1E40AF"/>
              </a:buClr>
              <a:buFont typeface="Arial"/>
              <a:buChar char="•"/>
            </a:pPr>
            <a:r>
              <a:rPr sz="2300">
                <a:solidFill>
                  <a:srgbClr val="1E293B"/>
                </a:solidFill>
                <a:latin typeface="Calibri"/>
              </a:rPr>
              <a:t>Rau khác nhau cung cấp đa dạng vitamin, khoáng chất.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5074920"/>
            <a:ext cx="10789920" cy="731520"/>
          </a:xfrm>
          <a:prstGeom prst="roundRect">
            <a:avLst>
              <a:gd name="adj" fmla="val 8000"/>
            </a:avLst>
          </a:prstGeom>
          <a:solidFill>
            <a:srgbClr val="FEF2F2"/>
          </a:solidFill>
          <a:ln w="19050">
            <a:solidFill>
              <a:srgbClr val="991B1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5074920"/>
            <a:ext cx="10424160" cy="73152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2400" b="1">
                <a:solidFill>
                  <a:srgbClr val="991B1B"/>
                </a:solidFill>
                <a:latin typeface="Calibri"/>
              </a:rPr>
              <a:t>Rau xanh giúp tiêu hoá khoẻ.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2926080"/>
            <a:ext cx="164592" cy="1005840"/>
          </a:xfrm>
          <a:prstGeom prst="rect">
            <a:avLst/>
          </a:prstGeom>
          <a:solidFill>
            <a:srgbClr val="991B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743200"/>
            <a:ext cx="10515600" cy="137160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800"/>
              </a:spcAft>
            </a:pPr>
            <a:r>
              <a:rPr sz="3600" b="1">
                <a:solidFill>
                  <a:srgbClr val="1E40AF"/>
                </a:solidFill>
                <a:latin typeface="Calibri"/>
              </a:rPr>
              <a:t>TIẾT 10: LIPID – CHẤT BÉO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10253167" y="457200"/>
            <a:ext cx="1389888" cy="457200"/>
          </a:xfrm>
          <a:prstGeom prst="round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ĐỀ BÀI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74320"/>
            <a:ext cx="9582912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600" b="1">
                <a:solidFill>
                  <a:srgbClr val="1E40AF"/>
                </a:solidFill>
                <a:latin typeface="Arial"/>
              </a:rPr>
              <a:t>CÁC LOẠI LIPID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Sinh học 10 · Bài 5. Các phân tử sinh học          12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463040"/>
            <a:ext cx="10789920" cy="35661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800"/>
              </a:spcAft>
            </a:pPr>
            <a:r>
              <a:rPr sz="2600" b="1">
                <a:solidFill>
                  <a:srgbClr val="1E293B"/>
                </a:solidFill>
                <a:latin typeface="Calibri"/>
              </a:rPr>
              <a:t>Đặc tính chung của lipid là gì? Nêu cấu tạo, chức năng của mỡ và dầu, phospholipid, steroid, carotenoid.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5120640"/>
            <a:ext cx="10789920" cy="693420"/>
          </a:xfrm>
          <a:prstGeom prst="roundRect">
            <a:avLst>
              <a:gd name="adj" fmla="val 8000"/>
            </a:avLst>
          </a:prstGeom>
          <a:solidFill>
            <a:srgbClr val="EFF4FF"/>
          </a:solidFill>
          <a:ln w="19050">
            <a:solidFill>
              <a:srgbClr val="1E40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5120640"/>
            <a:ext cx="10424160" cy="69342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2200" b="1">
                <a:solidFill>
                  <a:srgbClr val="1E40AF"/>
                </a:solidFill>
                <a:latin typeface="Calibri"/>
              </a:rPr>
              <a:t>💡 Quan sát Hình 5.4 – 5.6.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9942271" y="457200"/>
            <a:ext cx="1700784" cy="457200"/>
          </a:xfrm>
          <a:prstGeom prst="roundRect">
            <a:avLst/>
          </a:prstGeom>
          <a:solidFill>
            <a:srgbClr val="991B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LỜI GIẢI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74320"/>
            <a:ext cx="9272016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600" b="1">
                <a:solidFill>
                  <a:srgbClr val="1E40AF"/>
                </a:solidFill>
                <a:latin typeface="Arial"/>
              </a:rPr>
              <a:t>CÁC LOẠI LIPID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Sinh học 10 · Bài 5. Các phân tử sinh học          13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463040"/>
            <a:ext cx="10789920" cy="34747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 marL="365760" indent="-365760">
              <a:spcAft>
                <a:spcPts val="800"/>
              </a:spcAft>
              <a:buClr>
                <a:srgbClr val="1E40AF"/>
              </a:buClr>
              <a:buFont typeface="Arial"/>
              <a:buChar char="•"/>
            </a:pPr>
            <a:r>
              <a:rPr sz="2300">
                <a:solidFill>
                  <a:srgbClr val="1E293B"/>
                </a:solidFill>
                <a:latin typeface="Calibri"/>
              </a:rPr>
              <a:t>Kị nước: nhiều liên kết C–H không phân cực.</a:t>
            </a:r>
          </a:p>
          <a:p>
            <a:pPr algn="l" marL="365760" indent="-365760">
              <a:spcAft>
                <a:spcPts val="800"/>
              </a:spcAft>
              <a:buClr>
                <a:srgbClr val="1E40AF"/>
              </a:buClr>
              <a:buFont typeface="Arial"/>
              <a:buChar char="•"/>
            </a:pPr>
            <a:r>
              <a:rPr sz="2300">
                <a:solidFill>
                  <a:srgbClr val="1E293B"/>
                </a:solidFill>
                <a:latin typeface="Calibri"/>
              </a:rPr>
              <a:t>Mỡ, dầu: glycerol + 3 acid béo → dự trữ năng lượng, cách nhiệt, hoà tan vitamin A, D, E, K.</a:t>
            </a:r>
          </a:p>
          <a:p>
            <a:pPr algn="l" marL="365760" indent="-365760">
              <a:spcAft>
                <a:spcPts val="800"/>
              </a:spcAft>
              <a:buClr>
                <a:srgbClr val="1E40AF"/>
              </a:buClr>
              <a:buFont typeface="Arial"/>
              <a:buChar char="•"/>
            </a:pPr>
            <a:r>
              <a:rPr sz="2300">
                <a:solidFill>
                  <a:srgbClr val="1E293B"/>
                </a:solidFill>
                <a:latin typeface="Calibri"/>
              </a:rPr>
              <a:t>Phospholipid: lưỡng cực → màng tế bào.</a:t>
            </a:r>
          </a:p>
          <a:p>
            <a:pPr algn="l" marL="365760" indent="-365760">
              <a:spcAft>
                <a:spcPts val="800"/>
              </a:spcAft>
              <a:buClr>
                <a:srgbClr val="1E40AF"/>
              </a:buClr>
              <a:buFont typeface="Arial"/>
              <a:buChar char="•"/>
            </a:pPr>
            <a:r>
              <a:rPr sz="2300">
                <a:solidFill>
                  <a:srgbClr val="1E293B"/>
                </a:solidFill>
                <a:latin typeface="Calibri"/>
              </a:rPr>
              <a:t>Steroid: cholesterol, hormone sinh dục; carotenoid → vitamin A.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5074920"/>
            <a:ext cx="10789920" cy="731520"/>
          </a:xfrm>
          <a:prstGeom prst="roundRect">
            <a:avLst>
              <a:gd name="adj" fmla="val 8000"/>
            </a:avLst>
          </a:prstGeom>
          <a:solidFill>
            <a:srgbClr val="FEF2F2"/>
          </a:solidFill>
          <a:ln w="19050">
            <a:solidFill>
              <a:srgbClr val="991B1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5074920"/>
            <a:ext cx="10424160" cy="73152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2400" b="1">
                <a:solidFill>
                  <a:srgbClr val="991B1B"/>
                </a:solidFill>
                <a:latin typeface="Calibri"/>
              </a:rPr>
              <a:t>Lipid đa dạng cấu trúc và chức năng.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10253167" y="457200"/>
            <a:ext cx="1389888" cy="457200"/>
          </a:xfrm>
          <a:prstGeom prst="round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ĐỀ BÀI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74320"/>
            <a:ext cx="9582912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600" b="1">
                <a:solidFill>
                  <a:srgbClr val="1E40AF"/>
                </a:solidFill>
                <a:latin typeface="Arial"/>
              </a:rPr>
              <a:t>CHOLESTEROL “TỐT” VÀ “XẤU”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Sinh học 10 · Bài 5. Các phân tử sinh học          14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463040"/>
            <a:ext cx="10789920" cy="35661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800"/>
              </a:spcAft>
            </a:pPr>
            <a:r>
              <a:rPr sz="2600" b="1">
                <a:solidFill>
                  <a:srgbClr val="1E293B"/>
                </a:solidFill>
                <a:latin typeface="Calibri"/>
              </a:rPr>
              <a:t>Phân biệt HDL và LDL. Vì sao ăn quá nhiều đồ chiên rán, nội tạng động vật lại nguy hiểm?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5120640"/>
            <a:ext cx="10789920" cy="693420"/>
          </a:xfrm>
          <a:prstGeom prst="roundRect">
            <a:avLst>
              <a:gd name="adj" fmla="val 8000"/>
            </a:avLst>
          </a:prstGeom>
          <a:solidFill>
            <a:srgbClr val="EFF4FF"/>
          </a:solidFill>
          <a:ln w="19050">
            <a:solidFill>
              <a:srgbClr val="1E40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5120640"/>
            <a:ext cx="10424160" cy="69342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2200" b="1">
                <a:solidFill>
                  <a:srgbClr val="1E40AF"/>
                </a:solidFill>
                <a:latin typeface="Calibri"/>
              </a:rPr>
              <a:t>💡 Lipoprotein nào đưa cholesterol về gan?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9942271" y="457200"/>
            <a:ext cx="1700784" cy="457200"/>
          </a:xfrm>
          <a:prstGeom prst="roundRect">
            <a:avLst/>
          </a:prstGeom>
          <a:solidFill>
            <a:srgbClr val="991B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LỜI GIẢI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74320"/>
            <a:ext cx="9272016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600" b="1">
                <a:solidFill>
                  <a:srgbClr val="1E40AF"/>
                </a:solidFill>
                <a:latin typeface="Arial"/>
              </a:rPr>
              <a:t>CHOLESTEROL “TỐT” VÀ “XẤU”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Sinh học 10 · Bài 5. Các phân tử sinh học          15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463040"/>
            <a:ext cx="10789920" cy="34747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 marL="365760" indent="-365760">
              <a:spcAft>
                <a:spcPts val="800"/>
              </a:spcAft>
              <a:buClr>
                <a:srgbClr val="1E40AF"/>
              </a:buClr>
              <a:buFont typeface="Arial"/>
              <a:buChar char="•"/>
            </a:pPr>
            <a:r>
              <a:rPr sz="2300">
                <a:solidFill>
                  <a:srgbClr val="1E293B"/>
                </a:solidFill>
                <a:latin typeface="Calibri"/>
              </a:rPr>
              <a:t>HDL: vận chuyển cholesterol tới gan → giảm cholesterol máu (“tốt”).</a:t>
            </a:r>
          </a:p>
          <a:p>
            <a:pPr algn="l" marL="365760" indent="-365760">
              <a:spcAft>
                <a:spcPts val="800"/>
              </a:spcAft>
              <a:buClr>
                <a:srgbClr val="1E40AF"/>
              </a:buClr>
              <a:buFont typeface="Arial"/>
              <a:buChar char="•"/>
            </a:pPr>
            <a:r>
              <a:rPr sz="2300">
                <a:solidFill>
                  <a:srgbClr val="1E293B"/>
                </a:solidFill>
                <a:latin typeface="Calibri"/>
              </a:rPr>
              <a:t>LDL: mang cholesterol tới mạch máu, tích tụ tạo mảng bám (“xấu”).</a:t>
            </a:r>
          </a:p>
          <a:p>
            <a:pPr algn="l" marL="365760" indent="-365760">
              <a:spcAft>
                <a:spcPts val="800"/>
              </a:spcAft>
              <a:buClr>
                <a:srgbClr val="1E40AF"/>
              </a:buClr>
              <a:buFont typeface="Arial"/>
              <a:buChar char="•"/>
            </a:pPr>
            <a:r>
              <a:rPr sz="2300">
                <a:solidFill>
                  <a:srgbClr val="1E293B"/>
                </a:solidFill>
                <a:latin typeface="Calibri"/>
              </a:rPr>
              <a:t>LDL cao → hẹp mạch máu → bệnh tim mạch, đột quỵ.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5074920"/>
            <a:ext cx="10789920" cy="731520"/>
          </a:xfrm>
          <a:prstGeom prst="roundRect">
            <a:avLst>
              <a:gd name="adj" fmla="val 8000"/>
            </a:avLst>
          </a:prstGeom>
          <a:solidFill>
            <a:srgbClr val="FEF2F2"/>
          </a:solidFill>
          <a:ln w="19050">
            <a:solidFill>
              <a:srgbClr val="991B1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5074920"/>
            <a:ext cx="10424160" cy="73152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2400" b="1">
                <a:solidFill>
                  <a:srgbClr val="991B1B"/>
                </a:solidFill>
                <a:latin typeface="Calibri"/>
              </a:rPr>
              <a:t>Hạn chế chất béo bão hoà, chất béo trans.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10253167" y="457200"/>
            <a:ext cx="1389888" cy="457200"/>
          </a:xfrm>
          <a:prstGeom prst="round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ĐỀ BÀI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74320"/>
            <a:ext cx="9582912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600" b="1">
                <a:solidFill>
                  <a:srgbClr val="1E40AF"/>
                </a:solidFill>
                <a:latin typeface="Arial"/>
              </a:rPr>
              <a:t>VẬN DỤNG: CÀ CHUA CHƯNG MỠ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Sinh học 10 · Bài 5. Các phân tử sinh học          16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463040"/>
            <a:ext cx="10789920" cy="35661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800"/>
              </a:spcAft>
            </a:pPr>
            <a:r>
              <a:rPr sz="2600" b="1">
                <a:solidFill>
                  <a:srgbClr val="1E293B"/>
                </a:solidFill>
                <a:latin typeface="Calibri"/>
              </a:rPr>
              <a:t>Khi ăn cà chua hoặc hành chưng trong mỡ, cơ thể người có thể hấp thụ được những loại vitamin gì? Giải thích.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5120640"/>
            <a:ext cx="10789920" cy="693420"/>
          </a:xfrm>
          <a:prstGeom prst="roundRect">
            <a:avLst>
              <a:gd name="adj" fmla="val 8000"/>
            </a:avLst>
          </a:prstGeom>
          <a:solidFill>
            <a:srgbClr val="EFF4FF"/>
          </a:solidFill>
          <a:ln w="19050">
            <a:solidFill>
              <a:srgbClr val="1E40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5120640"/>
            <a:ext cx="10424160" cy="69342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2200" b="1">
                <a:solidFill>
                  <a:srgbClr val="1E40AF"/>
                </a:solidFill>
                <a:latin typeface="Calibri"/>
              </a:rPr>
              <a:t>💡 Vitamin nào tan trong dầu mỡ?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9942271" y="457200"/>
            <a:ext cx="1700784" cy="457200"/>
          </a:xfrm>
          <a:prstGeom prst="roundRect">
            <a:avLst/>
          </a:prstGeom>
          <a:solidFill>
            <a:srgbClr val="991B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LỜI GIẢI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74320"/>
            <a:ext cx="9272016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600" b="1">
                <a:solidFill>
                  <a:srgbClr val="1E40AF"/>
                </a:solidFill>
                <a:latin typeface="Arial"/>
              </a:rPr>
              <a:t>VẬN DỤNG: CÀ CHUA CHƯNG MỠ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Sinh học 10 · Bài 5. Các phân tử sinh học          17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463040"/>
            <a:ext cx="10789920" cy="34747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 marL="365760" indent="-365760">
              <a:spcAft>
                <a:spcPts val="800"/>
              </a:spcAft>
              <a:buClr>
                <a:srgbClr val="1E40AF"/>
              </a:buClr>
              <a:buFont typeface="Arial"/>
              <a:buChar char="•"/>
            </a:pPr>
            <a:r>
              <a:rPr sz="2300">
                <a:solidFill>
                  <a:srgbClr val="1E293B"/>
                </a:solidFill>
                <a:latin typeface="Calibri"/>
              </a:rPr>
              <a:t>Cà chua, hành giàu carotenoid, vitamin E, K.</a:t>
            </a:r>
          </a:p>
          <a:p>
            <a:pPr algn="l" marL="365760" indent="-365760">
              <a:spcAft>
                <a:spcPts val="800"/>
              </a:spcAft>
              <a:buClr>
                <a:srgbClr val="1E40AF"/>
              </a:buClr>
              <a:buFont typeface="Arial"/>
              <a:buChar char="•"/>
            </a:pPr>
            <a:r>
              <a:rPr sz="2300">
                <a:solidFill>
                  <a:srgbClr val="1E293B"/>
                </a:solidFill>
                <a:latin typeface="Calibri"/>
              </a:rPr>
              <a:t>Carotenoid → vitamin A; A, E, K tan trong chất béo.</a:t>
            </a:r>
          </a:p>
          <a:p>
            <a:pPr algn="l" marL="365760" indent="-365760">
              <a:spcAft>
                <a:spcPts val="800"/>
              </a:spcAft>
              <a:buClr>
                <a:srgbClr val="1E40AF"/>
              </a:buClr>
              <a:buFont typeface="Arial"/>
              <a:buChar char="•"/>
            </a:pPr>
            <a:r>
              <a:rPr sz="2300">
                <a:solidFill>
                  <a:srgbClr val="1E293B"/>
                </a:solidFill>
                <a:latin typeface="Calibri"/>
              </a:rPr>
              <a:t>Chế biến với mỡ giúp hấp thụ các vitamin này tốt hơn.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5074920"/>
            <a:ext cx="10789920" cy="731520"/>
          </a:xfrm>
          <a:prstGeom prst="roundRect">
            <a:avLst>
              <a:gd name="adj" fmla="val 8000"/>
            </a:avLst>
          </a:prstGeom>
          <a:solidFill>
            <a:srgbClr val="FEF2F2"/>
          </a:solidFill>
          <a:ln w="19050">
            <a:solidFill>
              <a:srgbClr val="991B1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5074920"/>
            <a:ext cx="10424160" cy="73152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2400" b="1">
                <a:solidFill>
                  <a:srgbClr val="991B1B"/>
                </a:solidFill>
                <a:latin typeface="Calibri"/>
              </a:rPr>
              <a:t>Mỡ là dung môi hoà tan vitamin A, D, E, K.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2926080"/>
            <a:ext cx="164592" cy="1005840"/>
          </a:xfrm>
          <a:prstGeom prst="rect">
            <a:avLst/>
          </a:prstGeom>
          <a:solidFill>
            <a:srgbClr val="991B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743200"/>
            <a:ext cx="10515600" cy="137160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800"/>
              </a:spcAft>
            </a:pPr>
            <a:r>
              <a:rPr sz="3600" b="1">
                <a:solidFill>
                  <a:srgbClr val="1E40AF"/>
                </a:solidFill>
                <a:latin typeface="Calibri"/>
              </a:rPr>
              <a:t>TIẾT 11: PROTEIN – CHẤT ĐẠM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10253167" y="457200"/>
            <a:ext cx="1389888" cy="457200"/>
          </a:xfrm>
          <a:prstGeom prst="round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ĐỀ BÀI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74320"/>
            <a:ext cx="9582912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600" b="1">
                <a:solidFill>
                  <a:srgbClr val="1E40AF"/>
                </a:solidFill>
                <a:latin typeface="Arial"/>
              </a:rPr>
              <a:t>CHỨC NĂNG CỦA PROTEIN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Sinh học 10 · Bài 5. Các phân tử sinh học          19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463040"/>
            <a:ext cx="10789920" cy="35661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800"/>
              </a:spcAft>
            </a:pPr>
            <a:r>
              <a:rPr sz="2600" b="1">
                <a:solidFill>
                  <a:srgbClr val="1E293B"/>
                </a:solidFill>
                <a:latin typeface="Calibri"/>
              </a:rPr>
              <a:t>Protein có những chức năng nào? Cho ví dụ.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5120640"/>
            <a:ext cx="10789920" cy="693420"/>
          </a:xfrm>
          <a:prstGeom prst="roundRect">
            <a:avLst>
              <a:gd name="adj" fmla="val 8000"/>
            </a:avLst>
          </a:prstGeom>
          <a:solidFill>
            <a:srgbClr val="EFF4FF"/>
          </a:solidFill>
          <a:ln w="19050">
            <a:solidFill>
              <a:srgbClr val="1E40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5120640"/>
            <a:ext cx="10424160" cy="69342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2200" b="1">
                <a:solidFill>
                  <a:srgbClr val="1E40AF"/>
                </a:solidFill>
                <a:latin typeface="Calibri"/>
              </a:rPr>
              <a:t>💡 Có 6 nhóm chức năng.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9942271" y="457200"/>
            <a:ext cx="1700784" cy="457200"/>
          </a:xfrm>
          <a:prstGeom prst="roundRect">
            <a:avLst/>
          </a:prstGeom>
          <a:solidFill>
            <a:srgbClr val="991B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LỜI GIẢI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74320"/>
            <a:ext cx="9272016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600" b="1">
                <a:solidFill>
                  <a:srgbClr val="1E40AF"/>
                </a:solidFill>
                <a:latin typeface="Arial"/>
              </a:rPr>
              <a:t>CHỨC NĂNG CỦA PROTEIN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Sinh học 10 · Bài 5. Các phân tử sinh học          20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463040"/>
            <a:ext cx="10789920" cy="34747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 marL="365760" indent="-365760">
              <a:spcAft>
                <a:spcPts val="800"/>
              </a:spcAft>
              <a:buClr>
                <a:srgbClr val="1E40AF"/>
              </a:buClr>
              <a:buFont typeface="Arial"/>
              <a:buChar char="•"/>
            </a:pPr>
            <a:r>
              <a:rPr sz="2300">
                <a:solidFill>
                  <a:srgbClr val="1E293B"/>
                </a:solidFill>
                <a:latin typeface="Calibri"/>
              </a:rPr>
              <a:t>Cấu trúc (bộ khung tế bào); xúc tác (enzyme).</a:t>
            </a:r>
          </a:p>
          <a:p>
            <a:pPr algn="l" marL="365760" indent="-365760">
              <a:spcAft>
                <a:spcPts val="800"/>
              </a:spcAft>
              <a:buClr>
                <a:srgbClr val="1E40AF"/>
              </a:buClr>
              <a:buFont typeface="Arial"/>
              <a:buChar char="•"/>
            </a:pPr>
            <a:r>
              <a:rPr sz="2300">
                <a:solidFill>
                  <a:srgbClr val="1E293B"/>
                </a:solidFill>
                <a:latin typeface="Calibri"/>
              </a:rPr>
              <a:t>Bảo vệ (kháng thể); vận động.</a:t>
            </a:r>
          </a:p>
          <a:p>
            <a:pPr algn="l" marL="365760" indent="-365760">
              <a:spcAft>
                <a:spcPts val="800"/>
              </a:spcAft>
              <a:buClr>
                <a:srgbClr val="1E40AF"/>
              </a:buClr>
              <a:buFont typeface="Arial"/>
              <a:buChar char="•"/>
            </a:pPr>
            <a:r>
              <a:rPr sz="2300">
                <a:solidFill>
                  <a:srgbClr val="1E293B"/>
                </a:solidFill>
                <a:latin typeface="Calibri"/>
              </a:rPr>
              <a:t>Tiếp nhận thông tin (thụ thể); điều hoà (hormone).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5074920"/>
            <a:ext cx="10789920" cy="731520"/>
          </a:xfrm>
          <a:prstGeom prst="roundRect">
            <a:avLst>
              <a:gd name="adj" fmla="val 8000"/>
            </a:avLst>
          </a:prstGeom>
          <a:solidFill>
            <a:srgbClr val="FEF2F2"/>
          </a:solidFill>
          <a:ln w="19050">
            <a:solidFill>
              <a:srgbClr val="991B1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5074920"/>
            <a:ext cx="10424160" cy="73152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2400" b="1">
                <a:solidFill>
                  <a:srgbClr val="991B1B"/>
                </a:solidFill>
                <a:latin typeface="Calibri"/>
              </a:rPr>
              <a:t>Protein tham gia hầu hết các hoạt động sống.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10253167" y="457200"/>
            <a:ext cx="1389888" cy="457200"/>
          </a:xfrm>
          <a:prstGeom prst="round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ĐỀ BÀI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74320"/>
            <a:ext cx="9582912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600" b="1">
                <a:solidFill>
                  <a:srgbClr val="1E40AF"/>
                </a:solidFill>
                <a:latin typeface="Arial"/>
              </a:rPr>
              <a:t>CẤU TRÚC CỦA PROTEIN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Sinh học 10 · Bài 5. Các phân tử sinh học          21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463040"/>
            <a:ext cx="10789920" cy="35661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800"/>
              </a:spcAft>
            </a:pPr>
            <a:r>
              <a:rPr sz="2600" b="1">
                <a:solidFill>
                  <a:srgbClr val="1E293B"/>
                </a:solidFill>
                <a:latin typeface="Calibri"/>
              </a:rPr>
              <a:t>Đơn phân của protein là gì? Mô tả 4 bậc cấu trúc của protein.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5120640"/>
            <a:ext cx="10789920" cy="693420"/>
          </a:xfrm>
          <a:prstGeom prst="roundRect">
            <a:avLst>
              <a:gd name="adj" fmla="val 8000"/>
            </a:avLst>
          </a:prstGeom>
          <a:solidFill>
            <a:srgbClr val="EFF4FF"/>
          </a:solidFill>
          <a:ln w="19050">
            <a:solidFill>
              <a:srgbClr val="1E40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5120640"/>
            <a:ext cx="10424160" cy="69342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2200" b="1">
                <a:solidFill>
                  <a:srgbClr val="1E40AF"/>
                </a:solidFill>
                <a:latin typeface="Calibri"/>
              </a:rPr>
              <a:t>💡 Quan sát Hình 5.7, 5.8.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9942271" y="457200"/>
            <a:ext cx="1700784" cy="457200"/>
          </a:xfrm>
          <a:prstGeom prst="roundRect">
            <a:avLst/>
          </a:prstGeom>
          <a:solidFill>
            <a:srgbClr val="991B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LỜI GIẢI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74320"/>
            <a:ext cx="9272016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600" b="1">
                <a:solidFill>
                  <a:srgbClr val="1E40AF"/>
                </a:solidFill>
                <a:latin typeface="Arial"/>
              </a:rPr>
              <a:t>CẤU TRÚC CỦA PROTEIN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Sinh học 10 · Bài 5. Các phân tử sinh học          22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463040"/>
            <a:ext cx="10789920" cy="34747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 marL="365760" indent="-365760">
              <a:spcAft>
                <a:spcPts val="800"/>
              </a:spcAft>
              <a:buClr>
                <a:srgbClr val="1E40AF"/>
              </a:buClr>
              <a:buFont typeface="Arial"/>
              <a:buChar char="•"/>
            </a:pPr>
            <a:r>
              <a:rPr sz="2300">
                <a:solidFill>
                  <a:srgbClr val="1E293B"/>
                </a:solidFill>
                <a:latin typeface="Calibri"/>
              </a:rPr>
              <a:t>Amino acid: C trung tâm + –NH₂ + –COOH + H + nhóm R; 20 loại.</a:t>
            </a:r>
          </a:p>
          <a:p>
            <a:pPr algn="l" marL="365760" indent="-365760">
              <a:spcAft>
                <a:spcPts val="800"/>
              </a:spcAft>
              <a:buClr>
                <a:srgbClr val="1E40AF"/>
              </a:buClr>
              <a:buFont typeface="Arial"/>
              <a:buChar char="•"/>
            </a:pPr>
            <a:r>
              <a:rPr sz="2300">
                <a:solidFill>
                  <a:srgbClr val="1E293B"/>
                </a:solidFill>
                <a:latin typeface="Calibri"/>
              </a:rPr>
              <a:t>Liên kết peptide → chuỗi polypeptide.</a:t>
            </a:r>
          </a:p>
          <a:p>
            <a:pPr algn="l" marL="365760" indent="-365760">
              <a:spcAft>
                <a:spcPts val="800"/>
              </a:spcAft>
              <a:buClr>
                <a:srgbClr val="1E40AF"/>
              </a:buClr>
              <a:buFont typeface="Arial"/>
              <a:buChar char="•"/>
            </a:pPr>
            <a:r>
              <a:rPr sz="2300">
                <a:solidFill>
                  <a:srgbClr val="1E293B"/>
                </a:solidFill>
                <a:latin typeface="Calibri"/>
              </a:rPr>
              <a:t>Bậc 1: trình tự amino acid; bậc 2: xoắn α, gấp nếp β.</a:t>
            </a:r>
          </a:p>
          <a:p>
            <a:pPr algn="l" marL="365760" indent="-365760">
              <a:spcAft>
                <a:spcPts val="800"/>
              </a:spcAft>
              <a:buClr>
                <a:srgbClr val="1E40AF"/>
              </a:buClr>
              <a:buFont typeface="Arial"/>
              <a:buChar char="•"/>
            </a:pPr>
            <a:r>
              <a:rPr sz="2300">
                <a:solidFill>
                  <a:srgbClr val="1E293B"/>
                </a:solidFill>
                <a:latin typeface="Calibri"/>
              </a:rPr>
              <a:t>Bậc 3: cấu trúc không gian ba chiều; bậc 4: nhiều chuỗi.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5074920"/>
            <a:ext cx="10789920" cy="731520"/>
          </a:xfrm>
          <a:prstGeom prst="roundRect">
            <a:avLst>
              <a:gd name="adj" fmla="val 8000"/>
            </a:avLst>
          </a:prstGeom>
          <a:solidFill>
            <a:srgbClr val="FEF2F2"/>
          </a:solidFill>
          <a:ln w="19050">
            <a:solidFill>
              <a:srgbClr val="991B1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5074920"/>
            <a:ext cx="10424160" cy="73152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2400" b="1">
                <a:solidFill>
                  <a:srgbClr val="991B1B"/>
                </a:solidFill>
                <a:latin typeface="Calibri"/>
              </a:rPr>
              <a:t>Cấu trúc không gian quy định chức năng.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10253167" y="457200"/>
            <a:ext cx="1389888" cy="457200"/>
          </a:xfrm>
          <a:prstGeom prst="round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ĐỀ BÀI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74320"/>
            <a:ext cx="9582912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600" b="1">
                <a:solidFill>
                  <a:srgbClr val="1E40AF"/>
                </a:solidFill>
                <a:latin typeface="Arial"/>
              </a:rPr>
              <a:t>VÌ SAO LUỘC TRỨNG THÌ ĐÔNG LẠI?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Sinh học 10 · Bài 5. Các phân tử sinh học          23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463040"/>
            <a:ext cx="10789920" cy="35661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800"/>
              </a:spcAft>
            </a:pPr>
            <a:r>
              <a:rPr sz="2600" b="1">
                <a:solidFill>
                  <a:srgbClr val="1E293B"/>
                </a:solidFill>
                <a:latin typeface="Calibri"/>
              </a:rPr>
              <a:t>Tại sao khi luộc trứng thì protein của trứng lại bị đông đặc lại?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5120640"/>
            <a:ext cx="10789920" cy="693420"/>
          </a:xfrm>
          <a:prstGeom prst="roundRect">
            <a:avLst>
              <a:gd name="adj" fmla="val 8000"/>
            </a:avLst>
          </a:prstGeom>
          <a:solidFill>
            <a:srgbClr val="EFF4FF"/>
          </a:solidFill>
          <a:ln w="19050">
            <a:solidFill>
              <a:srgbClr val="1E40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5120640"/>
            <a:ext cx="10424160" cy="69342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2200" b="1">
                <a:solidFill>
                  <a:srgbClr val="1E40AF"/>
                </a:solidFill>
                <a:latin typeface="Calibri"/>
              </a:rPr>
              <a:t>💡 Nhiệt độ tác động đến liên kết nào?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9942271" y="457200"/>
            <a:ext cx="1700784" cy="457200"/>
          </a:xfrm>
          <a:prstGeom prst="roundRect">
            <a:avLst/>
          </a:prstGeom>
          <a:solidFill>
            <a:srgbClr val="991B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LỜI GIẢI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74320"/>
            <a:ext cx="9272016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600" b="1">
                <a:solidFill>
                  <a:srgbClr val="1E40AF"/>
                </a:solidFill>
                <a:latin typeface="Arial"/>
              </a:rPr>
              <a:t>VÌ SAO LUỘC TRỨNG THÌ ĐÔNG LẠI?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Sinh học 10 · Bài 5. Các phân tử sinh học          24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463040"/>
            <a:ext cx="10789920" cy="34747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 marL="365760" indent="-365760">
              <a:spcAft>
                <a:spcPts val="800"/>
              </a:spcAft>
              <a:buClr>
                <a:srgbClr val="1E40AF"/>
              </a:buClr>
              <a:buFont typeface="Arial"/>
              <a:buChar char="•"/>
            </a:pPr>
            <a:r>
              <a:rPr sz="2300">
                <a:solidFill>
                  <a:srgbClr val="1E293B"/>
                </a:solidFill>
                <a:latin typeface="Calibri"/>
              </a:rPr>
              <a:t>Cấu trúc không gian giữ bởi liên kết yếu (hydrogen, kị nước, Van der Waals).</a:t>
            </a:r>
          </a:p>
          <a:p>
            <a:pPr algn="l" marL="365760" indent="-365760">
              <a:spcAft>
                <a:spcPts val="800"/>
              </a:spcAft>
              <a:buClr>
                <a:srgbClr val="1E40AF"/>
              </a:buClr>
              <a:buFont typeface="Arial"/>
              <a:buChar char="•"/>
            </a:pPr>
            <a:r>
              <a:rPr sz="2300">
                <a:solidFill>
                  <a:srgbClr val="1E293B"/>
                </a:solidFill>
                <a:latin typeface="Calibri"/>
              </a:rPr>
              <a:t>Nhiệt độ cao làm đứt các liên kết yếu → biến tính.</a:t>
            </a:r>
          </a:p>
          <a:p>
            <a:pPr algn="l" marL="365760" indent="-365760">
              <a:spcAft>
                <a:spcPts val="800"/>
              </a:spcAft>
              <a:buClr>
                <a:srgbClr val="1E40AF"/>
              </a:buClr>
              <a:buFont typeface="Arial"/>
              <a:buChar char="•"/>
            </a:pPr>
            <a:r>
              <a:rPr sz="2300">
                <a:solidFill>
                  <a:srgbClr val="1E293B"/>
                </a:solidFill>
                <a:latin typeface="Calibri"/>
              </a:rPr>
              <a:t>Chuỗi polypeptide duỗi ra, liên kết với nhau → đông đặc.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5074920"/>
            <a:ext cx="10789920" cy="731520"/>
          </a:xfrm>
          <a:prstGeom prst="roundRect">
            <a:avLst>
              <a:gd name="adj" fmla="val 8000"/>
            </a:avLst>
          </a:prstGeom>
          <a:solidFill>
            <a:srgbClr val="FEF2F2"/>
          </a:solidFill>
          <a:ln w="19050">
            <a:solidFill>
              <a:srgbClr val="991B1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5074920"/>
            <a:ext cx="10424160" cy="73152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2400" b="1">
                <a:solidFill>
                  <a:srgbClr val="991B1B"/>
                </a:solidFill>
                <a:latin typeface="Calibri"/>
              </a:rPr>
              <a:t>Biến tính: protein mất cấu trúc và chức năng.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2926080"/>
            <a:ext cx="164592" cy="1005840"/>
          </a:xfrm>
          <a:prstGeom prst="rect">
            <a:avLst/>
          </a:prstGeom>
          <a:solidFill>
            <a:srgbClr val="991B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743200"/>
            <a:ext cx="10515600" cy="137160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800"/>
              </a:spcAft>
            </a:pPr>
            <a:r>
              <a:rPr sz="3600" b="1">
                <a:solidFill>
                  <a:srgbClr val="1E40AF"/>
                </a:solidFill>
                <a:latin typeface="Calibri"/>
              </a:rPr>
              <a:t>TIẾT 12: NUCLEIC ACID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10253167" y="457200"/>
            <a:ext cx="1389888" cy="457200"/>
          </a:xfrm>
          <a:prstGeom prst="round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ĐỀ BÀI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74320"/>
            <a:ext cx="9582912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600" b="1">
                <a:solidFill>
                  <a:srgbClr val="1E40AF"/>
                </a:solidFill>
                <a:latin typeface="Arial"/>
              </a:rPr>
              <a:t>CẤU TRÚC VÀ CHỨC NĂNG CỦA DNA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Sinh học 10 · Bài 5. Các phân tử sinh học          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463040"/>
            <a:ext cx="10789920" cy="35661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800"/>
              </a:spcAft>
            </a:pPr>
            <a:r>
              <a:rPr sz="2600" b="1">
                <a:solidFill>
                  <a:srgbClr val="1E293B"/>
                </a:solidFill>
                <a:latin typeface="Calibri"/>
              </a:rPr>
              <a:t>Nêu các đặc điểm cấu trúc giúp DNA mang, bảo quản và truyền đạt thông tin di truyền.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5120640"/>
            <a:ext cx="10789920" cy="693420"/>
          </a:xfrm>
          <a:prstGeom prst="roundRect">
            <a:avLst>
              <a:gd name="adj" fmla="val 8000"/>
            </a:avLst>
          </a:prstGeom>
          <a:solidFill>
            <a:srgbClr val="EFF4FF"/>
          </a:solidFill>
          <a:ln w="19050">
            <a:solidFill>
              <a:srgbClr val="1E40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5120640"/>
            <a:ext cx="10424160" cy="69342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2200" b="1">
                <a:solidFill>
                  <a:srgbClr val="1E40AF"/>
                </a:solidFill>
                <a:latin typeface="Calibri"/>
              </a:rPr>
              <a:t>💡 Quan sát Hình 5.10.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9942271" y="457200"/>
            <a:ext cx="1700784" cy="457200"/>
          </a:xfrm>
          <a:prstGeom prst="roundRect">
            <a:avLst/>
          </a:prstGeom>
          <a:solidFill>
            <a:srgbClr val="991B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LỜI GIẢI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74320"/>
            <a:ext cx="9272016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600" b="1">
                <a:solidFill>
                  <a:srgbClr val="1E40AF"/>
                </a:solidFill>
                <a:latin typeface="Arial"/>
              </a:rPr>
              <a:t>CẤU TRÚC VÀ CHỨC NĂNG CỦA DNA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Sinh học 10 · Bài 5. Các phân tử sinh học          27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463040"/>
            <a:ext cx="10789920" cy="34747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 marL="365760" indent="-365760">
              <a:spcAft>
                <a:spcPts val="800"/>
              </a:spcAft>
              <a:buClr>
                <a:srgbClr val="1E40AF"/>
              </a:buClr>
              <a:buFont typeface="Arial"/>
              <a:buChar char="•"/>
            </a:pPr>
            <a:r>
              <a:rPr sz="2300">
                <a:solidFill>
                  <a:srgbClr val="1E293B"/>
                </a:solidFill>
                <a:latin typeface="Calibri"/>
              </a:rPr>
              <a:t>Hai chuỗi polynucleotide song song, ngược chiều; nucleotide: phosphate, deoxyribose, base A, T, G, C.</a:t>
            </a:r>
          </a:p>
          <a:p>
            <a:pPr algn="l" marL="365760" indent="-365760">
              <a:spcAft>
                <a:spcPts val="800"/>
              </a:spcAft>
              <a:buClr>
                <a:srgbClr val="1E40AF"/>
              </a:buClr>
              <a:buFont typeface="Arial"/>
              <a:buChar char="•"/>
            </a:pPr>
            <a:r>
              <a:rPr sz="2300">
                <a:solidFill>
                  <a:srgbClr val="1E293B"/>
                </a:solidFill>
                <a:latin typeface="Calibri"/>
              </a:rPr>
              <a:t>Trình tự nucleotide mang thông tin; A – T (2 liên kết H), G ≡ C (3 liên kết H) → bền vững.</a:t>
            </a:r>
          </a:p>
          <a:p>
            <a:pPr algn="l" marL="365760" indent="-365760">
              <a:spcAft>
                <a:spcPts val="800"/>
              </a:spcAft>
              <a:buClr>
                <a:srgbClr val="1E40AF"/>
              </a:buClr>
              <a:buFont typeface="Arial"/>
              <a:buChar char="•"/>
            </a:pPr>
            <a:r>
              <a:rPr sz="2300">
                <a:solidFill>
                  <a:srgbClr val="1E293B"/>
                </a:solidFill>
                <a:latin typeface="Calibri"/>
              </a:rPr>
              <a:t>Mạch làm khuôn → nhân đôi chính xác; DNA → mRNA → Protein.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5074920"/>
            <a:ext cx="10789920" cy="731520"/>
          </a:xfrm>
          <a:prstGeom prst="roundRect">
            <a:avLst>
              <a:gd name="adj" fmla="val 8000"/>
            </a:avLst>
          </a:prstGeom>
          <a:solidFill>
            <a:srgbClr val="FEF2F2"/>
          </a:solidFill>
          <a:ln w="19050">
            <a:solidFill>
              <a:srgbClr val="991B1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5074920"/>
            <a:ext cx="10424160" cy="73152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2400" b="1">
                <a:solidFill>
                  <a:srgbClr val="991B1B"/>
                </a:solidFill>
                <a:latin typeface="Calibri"/>
              </a:rPr>
              <a:t>Watson và Crick công bố mô hình xoắn kép năm 1953.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10253167" y="457200"/>
            <a:ext cx="1389888" cy="457200"/>
          </a:xfrm>
          <a:prstGeom prst="round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ĐỀ BÀI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74320"/>
            <a:ext cx="9582912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600" b="1">
                <a:solidFill>
                  <a:srgbClr val="1E40AF"/>
                </a:solidFill>
                <a:latin typeface="Arial"/>
              </a:rPr>
              <a:t>SO SÁNH DNA VÀ RNA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Sinh học 10 · Bài 5. Các phân tử sinh học          28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463040"/>
            <a:ext cx="10789920" cy="35661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800"/>
              </a:spcAft>
            </a:pPr>
            <a:r>
              <a:rPr sz="2600" b="1">
                <a:solidFill>
                  <a:srgbClr val="1E293B"/>
                </a:solidFill>
                <a:latin typeface="Calibri"/>
              </a:rPr>
              <a:t>Trình bày sự khác biệt về cấu trúc giữa DNA và RNA; phân biệt các loại RNA.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5120640"/>
            <a:ext cx="10789920" cy="693420"/>
          </a:xfrm>
          <a:prstGeom prst="roundRect">
            <a:avLst>
              <a:gd name="adj" fmla="val 8000"/>
            </a:avLst>
          </a:prstGeom>
          <a:solidFill>
            <a:srgbClr val="EFF4FF"/>
          </a:solidFill>
          <a:ln w="19050">
            <a:solidFill>
              <a:srgbClr val="1E40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5120640"/>
            <a:ext cx="10424160" cy="69342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2200" b="1">
                <a:solidFill>
                  <a:srgbClr val="1E40AF"/>
                </a:solidFill>
                <a:latin typeface="Calibri"/>
              </a:rPr>
              <a:t>💡 Đường? Base? Số mạch?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9942271" y="457200"/>
            <a:ext cx="1700784" cy="457200"/>
          </a:xfrm>
          <a:prstGeom prst="roundRect">
            <a:avLst/>
          </a:prstGeom>
          <a:solidFill>
            <a:srgbClr val="991B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LỜI GIẢI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74320"/>
            <a:ext cx="9272016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600" b="1">
                <a:solidFill>
                  <a:srgbClr val="1E40AF"/>
                </a:solidFill>
                <a:latin typeface="Arial"/>
              </a:rPr>
              <a:t>SO SÁNH DNA VÀ RNA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Sinh học 10 · Bài 5. Các phân tử sinh học          29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463040"/>
            <a:ext cx="10789920" cy="34747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 marL="365760" indent="-365760">
              <a:spcAft>
                <a:spcPts val="800"/>
              </a:spcAft>
              <a:buClr>
                <a:srgbClr val="1E40AF"/>
              </a:buClr>
              <a:buFont typeface="Arial"/>
              <a:buChar char="•"/>
            </a:pPr>
            <a:r>
              <a:rPr sz="2300">
                <a:solidFill>
                  <a:srgbClr val="1E293B"/>
                </a:solidFill>
                <a:latin typeface="Calibri"/>
              </a:rPr>
              <a:t>DNA: 2 mạch, deoxyribose, base A, T, G, C.</a:t>
            </a:r>
          </a:p>
          <a:p>
            <a:pPr algn="l" marL="365760" indent="-365760">
              <a:spcAft>
                <a:spcPts val="800"/>
              </a:spcAft>
              <a:buClr>
                <a:srgbClr val="1E40AF"/>
              </a:buClr>
              <a:buFont typeface="Arial"/>
              <a:buChar char="•"/>
            </a:pPr>
            <a:r>
              <a:rPr sz="2300">
                <a:solidFill>
                  <a:srgbClr val="1E293B"/>
                </a:solidFill>
                <a:latin typeface="Calibri"/>
              </a:rPr>
              <a:t>RNA: 1 mạch, ribose, base A, U, G, C.</a:t>
            </a:r>
          </a:p>
          <a:p>
            <a:pPr algn="l" marL="365760" indent="-365760">
              <a:spcAft>
                <a:spcPts val="800"/>
              </a:spcAft>
              <a:buClr>
                <a:srgbClr val="1E40AF"/>
              </a:buClr>
              <a:buFont typeface="Arial"/>
              <a:buChar char="•"/>
            </a:pPr>
            <a:r>
              <a:rPr sz="2300">
                <a:solidFill>
                  <a:srgbClr val="1E293B"/>
                </a:solidFill>
                <a:latin typeface="Calibri"/>
              </a:rPr>
              <a:t>mRNA làm khuôn; tRNA vận chuyển amino acid; rRNA cấu tạo ribosome; ribozyme xúc tác.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5074920"/>
            <a:ext cx="10789920" cy="731520"/>
          </a:xfrm>
          <a:prstGeom prst="roundRect">
            <a:avLst>
              <a:gd name="adj" fmla="val 8000"/>
            </a:avLst>
          </a:prstGeom>
          <a:solidFill>
            <a:srgbClr val="FEF2F2"/>
          </a:solidFill>
          <a:ln w="19050">
            <a:solidFill>
              <a:srgbClr val="991B1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5074920"/>
            <a:ext cx="10424160" cy="73152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2400" b="1">
                <a:solidFill>
                  <a:srgbClr val="991B1B"/>
                </a:solidFill>
                <a:latin typeface="Calibri"/>
              </a:rPr>
              <a:t>RNA có U thay cho T.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10253167" y="457200"/>
            <a:ext cx="1389888" cy="457200"/>
          </a:xfrm>
          <a:prstGeom prst="round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ĐỀ BÀI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74320"/>
            <a:ext cx="9582912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600" b="1">
                <a:solidFill>
                  <a:srgbClr val="1E40AF"/>
                </a:solidFill>
                <a:latin typeface="Arial"/>
              </a:rPr>
              <a:t>DẤU VÂN TAY DNA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Sinh học 10 · Bài 5. Các phân tử sinh học          30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463040"/>
            <a:ext cx="10789920" cy="35661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800"/>
              </a:spcAft>
            </a:pPr>
            <a:r>
              <a:rPr sz="2600" b="1">
                <a:solidFill>
                  <a:srgbClr val="1E293B"/>
                </a:solidFill>
                <a:latin typeface="Calibri"/>
              </a:rPr>
              <a:t>Bảng điện di dấu vân tay DNA (SGK tr.38): mẹ là (1), con gái là (2); ai trong (3) và (4) là cha của cô gái?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5120640"/>
            <a:ext cx="10789920" cy="693420"/>
          </a:xfrm>
          <a:prstGeom prst="roundRect">
            <a:avLst>
              <a:gd name="adj" fmla="val 8000"/>
            </a:avLst>
          </a:prstGeom>
          <a:solidFill>
            <a:srgbClr val="EFF4FF"/>
          </a:solidFill>
          <a:ln w="19050">
            <a:solidFill>
              <a:srgbClr val="1E40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5120640"/>
            <a:ext cx="10424160" cy="69342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2200" b="1">
                <a:solidFill>
                  <a:srgbClr val="1E40AF"/>
                </a:solidFill>
                <a:latin typeface="Calibri"/>
              </a:rPr>
              <a:t>💡 Mỗi vạch của con nhận từ mẹ hoặc từ cha.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9942271" y="457200"/>
            <a:ext cx="1700784" cy="457200"/>
          </a:xfrm>
          <a:prstGeom prst="roundRect">
            <a:avLst/>
          </a:prstGeom>
          <a:solidFill>
            <a:srgbClr val="991B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LỜI GIẢI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74320"/>
            <a:ext cx="9272016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600" b="1">
                <a:solidFill>
                  <a:srgbClr val="1E40AF"/>
                </a:solidFill>
                <a:latin typeface="Arial"/>
              </a:rPr>
              <a:t>DẤU VÂN TAY DNA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Sinh học 10 · Bài 5. Các phân tử sinh học          31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463040"/>
            <a:ext cx="10789920" cy="34747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 marL="365760" indent="-365760">
              <a:spcAft>
                <a:spcPts val="800"/>
              </a:spcAft>
              <a:buClr>
                <a:srgbClr val="1E40AF"/>
              </a:buClr>
              <a:buFont typeface="Arial"/>
              <a:buChar char="•"/>
            </a:pPr>
            <a:r>
              <a:rPr sz="2300">
                <a:solidFill>
                  <a:srgbClr val="1E293B"/>
                </a:solidFill>
                <a:latin typeface="Calibri"/>
              </a:rPr>
              <a:t>Các vạch của (2) không có ở mẹ (1) đều trùng với vạch của (3).</a:t>
            </a:r>
          </a:p>
          <a:p>
            <a:pPr algn="l" marL="365760" indent="-365760">
              <a:spcAft>
                <a:spcPts val="800"/>
              </a:spcAft>
              <a:buClr>
                <a:srgbClr val="1E40AF"/>
              </a:buClr>
              <a:buFont typeface="Arial"/>
              <a:buChar char="•"/>
            </a:pPr>
            <a:r>
              <a:rPr sz="2300">
                <a:solidFill>
                  <a:srgbClr val="1E293B"/>
                </a:solidFill>
                <a:latin typeface="Calibri"/>
              </a:rPr>
              <a:t>Người (4) không có các vạch đó.</a:t>
            </a:r>
          </a:p>
          <a:p>
            <a:pPr algn="l" marL="365760" indent="-365760">
              <a:spcAft>
                <a:spcPts val="800"/>
              </a:spcAft>
              <a:buClr>
                <a:srgbClr val="1E40AF"/>
              </a:buClr>
              <a:buFont typeface="Arial"/>
              <a:buChar char="•"/>
            </a:pPr>
            <a:r>
              <a:rPr sz="2300">
                <a:solidFill>
                  <a:srgbClr val="1E293B"/>
                </a:solidFill>
                <a:latin typeface="Calibri"/>
              </a:rPr>
              <a:t>Ứng dụng: xác định huyết thống, truy tìm tội phạm.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5074920"/>
            <a:ext cx="10789920" cy="731520"/>
          </a:xfrm>
          <a:prstGeom prst="roundRect">
            <a:avLst>
              <a:gd name="adj" fmla="val 8000"/>
            </a:avLst>
          </a:prstGeom>
          <a:solidFill>
            <a:srgbClr val="FEF2F2"/>
          </a:solidFill>
          <a:ln w="19050">
            <a:solidFill>
              <a:srgbClr val="991B1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5074920"/>
            <a:ext cx="10424160" cy="73152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2400" b="1">
                <a:solidFill>
                  <a:srgbClr val="991B1B"/>
                </a:solidFill>
                <a:latin typeface="Calibri"/>
              </a:rPr>
              <a:t>Người (3) là cha của cô gái.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2926080"/>
            <a:ext cx="164592" cy="1005840"/>
          </a:xfrm>
          <a:prstGeom prst="rect">
            <a:avLst/>
          </a:prstGeom>
          <a:solidFill>
            <a:srgbClr val="991B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743200"/>
            <a:ext cx="10515600" cy="137160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800"/>
              </a:spcAft>
            </a:pPr>
            <a:r>
              <a:rPr sz="3600" b="1">
                <a:solidFill>
                  <a:srgbClr val="1E40AF"/>
                </a:solidFill>
                <a:latin typeface="Calibri"/>
              </a:rPr>
              <a:t>TIẾT 13: LUYỆN TẬP – VẬN DỤNG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10253167" y="457200"/>
            <a:ext cx="1389888" cy="457200"/>
          </a:xfrm>
          <a:prstGeom prst="round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ĐỀ BÀI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74320"/>
            <a:ext cx="9582912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600" b="1">
                <a:solidFill>
                  <a:srgbClr val="1E40AF"/>
                </a:solidFill>
                <a:latin typeface="Arial"/>
              </a:rPr>
              <a:t>CÂU 1: ĐƯỜNG ĐA TỪ 10 GLUCOSE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Sinh học 10 · Bài 5. Các phân tử sinh học          33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463040"/>
            <a:ext cx="10789920" cy="35661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800"/>
              </a:spcAft>
            </a:pPr>
            <a:r>
              <a:rPr sz="2600" b="1">
                <a:solidFill>
                  <a:srgbClr val="1E293B"/>
                </a:solidFill>
                <a:latin typeface="Calibri"/>
              </a:rPr>
              <a:t>Nếu 10 phân tử glucose (C₆H₁₂O₆) liên kết với nhau tạo nên một phân tử đường đa thì phân tử này có công thức như thế nào?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5120640"/>
            <a:ext cx="10789920" cy="693420"/>
          </a:xfrm>
          <a:prstGeom prst="roundRect">
            <a:avLst>
              <a:gd name="adj" fmla="val 8000"/>
            </a:avLst>
          </a:prstGeom>
          <a:solidFill>
            <a:srgbClr val="EFF4FF"/>
          </a:solidFill>
          <a:ln w="19050">
            <a:solidFill>
              <a:srgbClr val="1E40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5120640"/>
            <a:ext cx="10424160" cy="69342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2200" b="1">
                <a:solidFill>
                  <a:srgbClr val="1E40AF"/>
                </a:solidFill>
                <a:latin typeface="Calibri"/>
              </a:rPr>
              <a:t>💡 Mỗi liên kết glycosidic loại đi bao nhiêu phân tử nước?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9942271" y="457200"/>
            <a:ext cx="1700784" cy="457200"/>
          </a:xfrm>
          <a:prstGeom prst="roundRect">
            <a:avLst/>
          </a:prstGeom>
          <a:solidFill>
            <a:srgbClr val="991B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LỜI GIẢI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74320"/>
            <a:ext cx="9272016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600" b="1">
                <a:solidFill>
                  <a:srgbClr val="1E40AF"/>
                </a:solidFill>
                <a:latin typeface="Arial"/>
              </a:rPr>
              <a:t>CÂU 1: ĐƯỜNG ĐA TỪ 10 GLUCOSE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Sinh học 10 · Bài 5. Các phân tử sinh học          34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463040"/>
            <a:ext cx="10789920" cy="34747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 marL="365760" indent="-365760">
              <a:spcAft>
                <a:spcPts val="800"/>
              </a:spcAft>
              <a:buClr>
                <a:srgbClr val="1E40AF"/>
              </a:buClr>
              <a:buFont typeface="Arial"/>
              <a:buChar char="•"/>
            </a:pPr>
            <a:r>
              <a:rPr sz="2300">
                <a:solidFill>
                  <a:srgbClr val="1E293B"/>
                </a:solidFill>
                <a:latin typeface="Calibri"/>
              </a:rPr>
              <a:t>10 glucose: C₆₀H₁₂₀O₆₀.</a:t>
            </a:r>
          </a:p>
          <a:p>
            <a:pPr algn="l" marL="365760" indent="-365760">
              <a:spcAft>
                <a:spcPts val="800"/>
              </a:spcAft>
              <a:buClr>
                <a:srgbClr val="1E40AF"/>
              </a:buClr>
              <a:buFont typeface="Arial"/>
              <a:buChar char="•"/>
            </a:pPr>
            <a:r>
              <a:rPr sz="2300">
                <a:solidFill>
                  <a:srgbClr val="1E293B"/>
                </a:solidFill>
                <a:latin typeface="Calibri"/>
              </a:rPr>
              <a:t>Có 9 liên kết glycosidic → loại 9 phân tử H₂O.</a:t>
            </a:r>
          </a:p>
          <a:p>
            <a:pPr algn="l" marL="365760" indent="-365760">
              <a:spcAft>
                <a:spcPts val="800"/>
              </a:spcAft>
              <a:buClr>
                <a:srgbClr val="1E40AF"/>
              </a:buClr>
              <a:buFont typeface="Arial"/>
              <a:buChar char="•"/>
            </a:pPr>
            <a:r>
              <a:rPr sz="2300">
                <a:solidFill>
                  <a:srgbClr val="1E293B"/>
                </a:solidFill>
                <a:latin typeface="Calibri"/>
              </a:rPr>
              <a:t>C₆₀H₁₂₀O₆₀ – 9H₂O.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5074920"/>
            <a:ext cx="10789920" cy="731520"/>
          </a:xfrm>
          <a:prstGeom prst="roundRect">
            <a:avLst>
              <a:gd name="adj" fmla="val 8000"/>
            </a:avLst>
          </a:prstGeom>
          <a:solidFill>
            <a:srgbClr val="FEF2F2"/>
          </a:solidFill>
          <a:ln w="19050">
            <a:solidFill>
              <a:srgbClr val="991B1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5074920"/>
            <a:ext cx="10424160" cy="73152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2400" b="1">
                <a:solidFill>
                  <a:srgbClr val="991B1B"/>
                </a:solidFill>
                <a:latin typeface="Calibri"/>
              </a:rPr>
              <a:t>Công thức: C₆₀H₁₀₂O₅₁.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10253167" y="457200"/>
            <a:ext cx="1389888" cy="457200"/>
          </a:xfrm>
          <a:prstGeom prst="round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ĐỀ BÀI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74320"/>
            <a:ext cx="9582912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600" b="1">
                <a:solidFill>
                  <a:srgbClr val="1E40AF"/>
                </a:solidFill>
                <a:latin typeface="Arial"/>
              </a:rPr>
              <a:t>CÂU 5: CÓ NÊN BỎ HẲN CHẤT BÉO?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Sinh học 10 · Bài 5. Các phân tử sinh học          35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463040"/>
            <a:ext cx="10789920" cy="35661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800"/>
              </a:spcAft>
            </a:pPr>
            <a:r>
              <a:rPr sz="2600" b="1">
                <a:solidFill>
                  <a:srgbClr val="1E293B"/>
                </a:solidFill>
                <a:latin typeface="Calibri"/>
              </a:rPr>
              <a:t>Để giảm béo, nhiều người cắt bỏ hoàn toàn chất béo. Nên hay không? Cần làm gì để duy trì cân nặng khoẻ mạnh?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5120640"/>
            <a:ext cx="10789920" cy="693420"/>
          </a:xfrm>
          <a:prstGeom prst="roundRect">
            <a:avLst>
              <a:gd name="adj" fmla="val 8000"/>
            </a:avLst>
          </a:prstGeom>
          <a:solidFill>
            <a:srgbClr val="EFF4FF"/>
          </a:solidFill>
          <a:ln w="19050">
            <a:solidFill>
              <a:srgbClr val="1E40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5120640"/>
            <a:ext cx="10424160" cy="69342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2200" b="1">
                <a:solidFill>
                  <a:srgbClr val="1E40AF"/>
                </a:solidFill>
                <a:latin typeface="Calibri"/>
              </a:rPr>
              <a:t>💡 Lipid có những vai trò gì?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9942271" y="457200"/>
            <a:ext cx="1700784" cy="457200"/>
          </a:xfrm>
          <a:prstGeom prst="roundRect">
            <a:avLst/>
          </a:prstGeom>
          <a:solidFill>
            <a:srgbClr val="991B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LỜI GIẢI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74320"/>
            <a:ext cx="9272016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600" b="1">
                <a:solidFill>
                  <a:srgbClr val="1E40AF"/>
                </a:solidFill>
                <a:latin typeface="Arial"/>
              </a:rPr>
              <a:t>CÂU 5: CÓ NÊN BỎ HẲN CHẤT BÉO?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Sinh học 10 · Bài 5. Các phân tử sinh học          36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463040"/>
            <a:ext cx="10789920" cy="34747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 marL="365760" indent="-365760">
              <a:spcAft>
                <a:spcPts val="800"/>
              </a:spcAft>
              <a:buClr>
                <a:srgbClr val="1E40AF"/>
              </a:buClr>
              <a:buFont typeface="Arial"/>
              <a:buChar char="•"/>
            </a:pPr>
            <a:r>
              <a:rPr sz="2300">
                <a:solidFill>
                  <a:srgbClr val="1E293B"/>
                </a:solidFill>
                <a:latin typeface="Calibri"/>
              </a:rPr>
              <a:t>Không nên: lipid cấu tạo màng tế bào, hormone steroid, hoà tan vitamin A, D, E, K.</a:t>
            </a:r>
          </a:p>
          <a:p>
            <a:pPr algn="l" marL="365760" indent="-365760">
              <a:spcAft>
                <a:spcPts val="800"/>
              </a:spcAft>
              <a:buClr>
                <a:srgbClr val="1E40AF"/>
              </a:buClr>
              <a:buFont typeface="Arial"/>
              <a:buChar char="•"/>
            </a:pPr>
            <a:r>
              <a:rPr sz="2300">
                <a:solidFill>
                  <a:srgbClr val="1E293B"/>
                </a:solidFill>
                <a:latin typeface="Calibri"/>
              </a:rPr>
              <a:t>Ăn đủ chất béo, ưu tiên dầu thực vật; hạn chế mỡ, chất béo trans, đường.</a:t>
            </a:r>
          </a:p>
          <a:p>
            <a:pPr algn="l" marL="365760" indent="-365760">
              <a:spcAft>
                <a:spcPts val="800"/>
              </a:spcAft>
              <a:buClr>
                <a:srgbClr val="1E40AF"/>
              </a:buClr>
              <a:buFont typeface="Arial"/>
              <a:buChar char="•"/>
            </a:pPr>
            <a:r>
              <a:rPr sz="2300">
                <a:solidFill>
                  <a:srgbClr val="1E293B"/>
                </a:solidFill>
                <a:latin typeface="Calibri"/>
              </a:rPr>
              <a:t>Nhiều rau xanh, vận động thể lực đều đặn.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5074920"/>
            <a:ext cx="10789920" cy="731520"/>
          </a:xfrm>
          <a:prstGeom prst="roundRect">
            <a:avLst>
              <a:gd name="adj" fmla="val 8000"/>
            </a:avLst>
          </a:prstGeom>
          <a:solidFill>
            <a:srgbClr val="FEF2F2"/>
          </a:solidFill>
          <a:ln w="19050">
            <a:solidFill>
              <a:srgbClr val="991B1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5074920"/>
            <a:ext cx="10424160" cy="73152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2400" b="1">
                <a:solidFill>
                  <a:srgbClr val="991B1B"/>
                </a:solidFill>
                <a:latin typeface="Calibri"/>
              </a:rPr>
              <a:t>Ăn cân đối + vận động.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10253167" y="457200"/>
            <a:ext cx="1389888" cy="457200"/>
          </a:xfrm>
          <a:prstGeom prst="round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ĐỀ BÀI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74320"/>
            <a:ext cx="9582912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600" b="1">
                <a:solidFill>
                  <a:srgbClr val="1E40AF"/>
                </a:solidFill>
                <a:latin typeface="Arial"/>
              </a:rPr>
              <a:t>CÂU 7: THIẾU PROTEIN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Sinh học 10 · Bài 5. Các phân tử sinh học          37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463040"/>
            <a:ext cx="10789920" cy="35661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800"/>
              </a:spcAft>
            </a:pPr>
            <a:r>
              <a:rPr sz="2600" b="1">
                <a:solidFill>
                  <a:srgbClr val="1E293B"/>
                </a:solidFill>
                <a:latin typeface="Calibri"/>
              </a:rPr>
              <a:t>Vì sao khẩu phần thiếu protein thì trẻ em thường gầy yếu, chậm lớn, phù nề và dễ mắc bệnh truyền nhiễm?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5120640"/>
            <a:ext cx="10789920" cy="693420"/>
          </a:xfrm>
          <a:prstGeom prst="roundRect">
            <a:avLst>
              <a:gd name="adj" fmla="val 8000"/>
            </a:avLst>
          </a:prstGeom>
          <a:solidFill>
            <a:srgbClr val="EFF4FF"/>
          </a:solidFill>
          <a:ln w="19050">
            <a:solidFill>
              <a:srgbClr val="1E40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5120640"/>
            <a:ext cx="10424160" cy="69342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2200" b="1">
                <a:solidFill>
                  <a:srgbClr val="1E40AF"/>
                </a:solidFill>
                <a:latin typeface="Calibri"/>
              </a:rPr>
              <a:t>💡 Protein làm nguyên liệu tổng hợp những gì?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9942271" y="457200"/>
            <a:ext cx="1700784" cy="457200"/>
          </a:xfrm>
          <a:prstGeom prst="roundRect">
            <a:avLst/>
          </a:prstGeom>
          <a:solidFill>
            <a:srgbClr val="991B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LỜI GIẢI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74320"/>
            <a:ext cx="9272016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600" b="1">
                <a:solidFill>
                  <a:srgbClr val="1E40AF"/>
                </a:solidFill>
                <a:latin typeface="Arial"/>
              </a:rPr>
              <a:t>CÂU 7: THIẾU PROTEIN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Sinh học 10 · Bài 5. Các phân tử sinh học          38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463040"/>
            <a:ext cx="10789920" cy="34747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 marL="365760" indent="-365760">
              <a:spcAft>
                <a:spcPts val="800"/>
              </a:spcAft>
              <a:buClr>
                <a:srgbClr val="1E40AF"/>
              </a:buClr>
              <a:buFont typeface="Arial"/>
              <a:buChar char="•"/>
            </a:pPr>
            <a:r>
              <a:rPr sz="2300">
                <a:solidFill>
                  <a:srgbClr val="1E293B"/>
                </a:solidFill>
                <a:latin typeface="Calibri"/>
              </a:rPr>
              <a:t>Thiếu amino acid tổng hợp protein cấu trúc, enzyme, hormone → gầy yếu, chậm lớn.</a:t>
            </a:r>
          </a:p>
          <a:p>
            <a:pPr algn="l" marL="365760" indent="-365760">
              <a:spcAft>
                <a:spcPts val="800"/>
              </a:spcAft>
              <a:buClr>
                <a:srgbClr val="1E40AF"/>
              </a:buClr>
              <a:buFont typeface="Arial"/>
              <a:buChar char="•"/>
            </a:pPr>
            <a:r>
              <a:rPr sz="2300">
                <a:solidFill>
                  <a:srgbClr val="1E293B"/>
                </a:solidFill>
                <a:latin typeface="Calibri"/>
              </a:rPr>
              <a:t>Protein huyết tương giảm → nước thoát ra mô → phù nề.</a:t>
            </a:r>
          </a:p>
          <a:p>
            <a:pPr algn="l" marL="365760" indent="-365760">
              <a:spcAft>
                <a:spcPts val="800"/>
              </a:spcAft>
              <a:buClr>
                <a:srgbClr val="1E40AF"/>
              </a:buClr>
              <a:buFont typeface="Arial"/>
              <a:buChar char="•"/>
            </a:pPr>
            <a:r>
              <a:rPr sz="2300">
                <a:solidFill>
                  <a:srgbClr val="1E293B"/>
                </a:solidFill>
                <a:latin typeface="Calibri"/>
              </a:rPr>
              <a:t>Thiếu nguyên liệu tạo kháng thể → dễ nhiễm bệnh.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5074920"/>
            <a:ext cx="10789920" cy="731520"/>
          </a:xfrm>
          <a:prstGeom prst="roundRect">
            <a:avLst>
              <a:gd name="adj" fmla="val 8000"/>
            </a:avLst>
          </a:prstGeom>
          <a:solidFill>
            <a:srgbClr val="FEF2F2"/>
          </a:solidFill>
          <a:ln w="19050">
            <a:solidFill>
              <a:srgbClr val="991B1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5074920"/>
            <a:ext cx="10424160" cy="73152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2400" b="1">
                <a:solidFill>
                  <a:srgbClr val="991B1B"/>
                </a:solidFill>
                <a:latin typeface="Calibri"/>
              </a:rPr>
              <a:t>Cần đủ protein từ nhiều nguồn thực phẩm.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10097719" y="457200"/>
            <a:ext cx="1545336" cy="457200"/>
          </a:xfrm>
          <a:prstGeom prst="roundRect">
            <a:avLst/>
          </a:prstGeom>
          <a:solidFill>
            <a:srgbClr val="1665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CỦNG CỐ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74320"/>
            <a:ext cx="9427464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600" b="1">
                <a:solidFill>
                  <a:srgbClr val="1E40AF"/>
                </a:solidFill>
                <a:latin typeface="Arial"/>
              </a:rPr>
              <a:t>SƠ ĐỒ TƯ DUY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Sinh học 10 · Bài 5. Các phân tử sinh học          39</a:t>
            </a:r>
          </a:p>
        </p:txBody>
      </p:sp>
      <p:pic>
        <p:nvPicPr>
          <p:cNvPr id="7" name="Picture 6" descr="SoDoTuDuy_SINH10_Bai5_CacPhanTuSinhHoc_T9-1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11117" y="1371600"/>
            <a:ext cx="8630725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10097719" y="457200"/>
            <a:ext cx="1545336" cy="457200"/>
          </a:xfrm>
          <a:prstGeom prst="roundRect">
            <a:avLst/>
          </a:prstGeom>
          <a:solidFill>
            <a:srgbClr val="991B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CỦNG CỐ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74320"/>
            <a:ext cx="9427464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600" b="1">
                <a:solidFill>
                  <a:srgbClr val="1E40AF"/>
                </a:solidFill>
                <a:latin typeface="Arial"/>
              </a:rPr>
              <a:t>BÀI TẬP CỦA BẠN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Sinh học 10 · Bài 5. Các phân tử sinh học          40</a:t>
            </a:r>
          </a:p>
        </p:txBody>
      </p:sp>
      <p:pic>
        <p:nvPicPr>
          <p:cNvPr id="7" name="Picture 6" descr="QR_sinh_cc_bai5_k1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17720" y="1463040"/>
            <a:ext cx="3017520" cy="301752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731520" y="4572000"/>
            <a:ext cx="10789920" cy="1463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800"/>
              </a:spcAft>
            </a:pPr>
            <a:r>
              <a:rPr sz="2000" b="1">
                <a:solidFill>
                  <a:srgbClr val="1E293B"/>
                </a:solidFill>
                <a:latin typeface="Calibri"/>
              </a:rPr>
              <a:t>Củng cố – Bài 5. Các phân tử sinh học</a:t>
            </a:r>
          </a:p>
          <a:p>
            <a:pPr algn="ctr">
              <a:spcAft>
                <a:spcPts val="800"/>
              </a:spcAft>
            </a:pPr>
            <a:r>
              <a:rPr sz="1400">
                <a:solidFill>
                  <a:srgbClr val="64748B"/>
                </a:solidFill>
                <a:latin typeface="Calibri"/>
              </a:rPr>
              <a:t>trangtu66.github.io/Taode_thi_online/sinh_cc_bai5_k10.html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600" b="1">
                <a:solidFill>
                  <a:srgbClr val="1E40AF"/>
                </a:solidFill>
                <a:latin typeface="Arial"/>
              </a:rPr>
              <a:t>SƠ ĐỒ TƯ DUY BÀI HỌC</a:t>
            </a:r>
          </a:p>
        </p:txBody>
      </p:sp>
      <p:cxnSp>
        <p:nvCxnSpPr>
          <p:cNvPr id="3" name="Connector 2"/>
          <p:cNvCxnSpPr/>
          <p:nvPr/>
        </p:nvCxnSpPr>
        <p:spPr>
          <a:xfrm flipH="1" flipV="1">
            <a:off x="4349389" y="2423160"/>
            <a:ext cx="1746458" cy="1417320"/>
          </a:xfrm>
          <a:prstGeom prst="line">
            <a:avLst/>
          </a:prstGeom>
          <a:ln w="44450">
            <a:solidFill>
              <a:srgbClr val="A4133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 flipH="1" flipV="1">
            <a:off x="3002639" y="1599834"/>
            <a:ext cx="1346750" cy="823326"/>
          </a:xfrm>
          <a:prstGeom prst="line">
            <a:avLst/>
          </a:prstGeom>
          <a:ln w="15875">
            <a:solidFill>
              <a:srgbClr val="8B0A2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Oval 4"/>
          <p:cNvSpPr/>
          <p:nvPr/>
        </p:nvSpPr>
        <p:spPr>
          <a:xfrm>
            <a:off x="909549" y="1396837"/>
            <a:ext cx="2093090" cy="405993"/>
          </a:xfrm>
          <a:prstGeom prst="ellipse">
            <a:avLst/>
          </a:prstGeom>
          <a:solidFill>
            <a:srgbClr val="FFF1F3"/>
          </a:solidFill>
          <a:ln w="15875">
            <a:solidFill>
              <a:srgbClr val="8B0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45720" rIns="45720" tIns="18000" bIns="18000"/>
          <a:lstStyle/>
          <a:p>
            <a:pPr algn="ctr"/>
            <a:r>
              <a:rPr sz="1200" b="1">
                <a:solidFill>
                  <a:srgbClr val="8B0000"/>
                </a:solidFill>
                <a:latin typeface="Calibri"/>
              </a:rPr>
              <a:t>C, H, O; Cₙ(H₂O)ₘ</a:t>
            </a:r>
          </a:p>
        </p:txBody>
      </p:sp>
      <p:cxnSp>
        <p:nvCxnSpPr>
          <p:cNvPr id="6" name="Connector 5"/>
          <p:cNvCxnSpPr/>
          <p:nvPr/>
        </p:nvCxnSpPr>
        <p:spPr>
          <a:xfrm flipH="1" flipV="1">
            <a:off x="2780745" y="2051182"/>
            <a:ext cx="1568644" cy="371978"/>
          </a:xfrm>
          <a:prstGeom prst="line">
            <a:avLst/>
          </a:prstGeom>
          <a:ln w="15875">
            <a:solidFill>
              <a:srgbClr val="8B0A2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Oval 6"/>
          <p:cNvSpPr/>
          <p:nvPr/>
        </p:nvSpPr>
        <p:spPr>
          <a:xfrm>
            <a:off x="1131443" y="1848185"/>
            <a:ext cx="1649301" cy="405993"/>
          </a:xfrm>
          <a:prstGeom prst="ellipse">
            <a:avLst/>
          </a:prstGeom>
          <a:solidFill>
            <a:srgbClr val="FFF1F3"/>
          </a:solidFill>
          <a:ln w="15875">
            <a:solidFill>
              <a:srgbClr val="8B0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45720" rIns="45720" tIns="18000" bIns="18000"/>
          <a:lstStyle/>
          <a:p>
            <a:pPr algn="ctr"/>
            <a:r>
              <a:rPr sz="1200" b="0">
                <a:solidFill>
                  <a:srgbClr val="0F172A"/>
                </a:solidFill>
                <a:latin typeface="Calibri"/>
              </a:rPr>
              <a:t>Đơn – đôi – đa</a:t>
            </a:r>
          </a:p>
        </p:txBody>
      </p:sp>
      <p:cxnSp>
        <p:nvCxnSpPr>
          <p:cNvPr id="8" name="Connector 7"/>
          <p:cNvCxnSpPr/>
          <p:nvPr/>
        </p:nvCxnSpPr>
        <p:spPr>
          <a:xfrm flipH="1">
            <a:off x="3192834" y="2423160"/>
            <a:ext cx="1156555" cy="79369"/>
          </a:xfrm>
          <a:prstGeom prst="line">
            <a:avLst/>
          </a:prstGeom>
          <a:ln w="15875">
            <a:solidFill>
              <a:srgbClr val="8B0A2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Oval 8"/>
          <p:cNvSpPr/>
          <p:nvPr/>
        </p:nvSpPr>
        <p:spPr>
          <a:xfrm>
            <a:off x="719354" y="2299533"/>
            <a:ext cx="2473480" cy="405993"/>
          </a:xfrm>
          <a:prstGeom prst="ellipse">
            <a:avLst/>
          </a:prstGeom>
          <a:solidFill>
            <a:srgbClr val="FFF1F3"/>
          </a:solidFill>
          <a:ln w="15875">
            <a:solidFill>
              <a:srgbClr val="8B0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45720" rIns="45720" tIns="18000" bIns="18000"/>
          <a:lstStyle/>
          <a:p>
            <a:pPr algn="ctr"/>
            <a:r>
              <a:rPr sz="1200" b="0">
                <a:solidFill>
                  <a:srgbClr val="0F172A"/>
                </a:solidFill>
                <a:latin typeface="Calibri"/>
              </a:rPr>
              <a:t>Năng lượng, vận chuyển</a:t>
            </a:r>
          </a:p>
        </p:txBody>
      </p:sp>
      <p:cxnSp>
        <p:nvCxnSpPr>
          <p:cNvPr id="10" name="Connector 9"/>
          <p:cNvCxnSpPr/>
          <p:nvPr/>
        </p:nvCxnSpPr>
        <p:spPr>
          <a:xfrm flipH="1">
            <a:off x="3038301" y="2423160"/>
            <a:ext cx="1311088" cy="677021"/>
          </a:xfrm>
          <a:prstGeom prst="line">
            <a:avLst/>
          </a:prstGeom>
          <a:ln w="15875">
            <a:solidFill>
              <a:srgbClr val="8B0A2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Oval 10"/>
          <p:cNvSpPr/>
          <p:nvPr/>
        </p:nvSpPr>
        <p:spPr>
          <a:xfrm>
            <a:off x="873887" y="2750880"/>
            <a:ext cx="2164413" cy="698601"/>
          </a:xfrm>
          <a:prstGeom prst="ellipse">
            <a:avLst/>
          </a:prstGeom>
          <a:solidFill>
            <a:srgbClr val="FFF1F3"/>
          </a:solidFill>
          <a:ln w="15875">
            <a:solidFill>
              <a:srgbClr val="8B0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45720" rIns="45720" tIns="18000" bIns="18000"/>
          <a:lstStyle/>
          <a:p>
            <a:pPr algn="ctr"/>
            <a:r>
              <a:rPr sz="1200" b="0">
                <a:solidFill>
                  <a:srgbClr val="0F172A"/>
                </a:solidFill>
                <a:latin typeface="Calibri"/>
              </a:rPr>
              <a:t>Tinh bột, glycogen,</a:t>
            </a:r>
          </a:p>
          <a:p>
            <a:pPr algn="ctr"/>
            <a:r>
              <a:rPr sz="1200" b="0">
                <a:solidFill>
                  <a:srgbClr val="0F172A"/>
                </a:solidFill>
                <a:latin typeface="Calibri"/>
              </a:rPr>
              <a:t>cellulose</a:t>
            </a:r>
          </a:p>
        </p:txBody>
      </p:sp>
      <p:sp>
        <p:nvSpPr>
          <p:cNvPr id="12" name="Oval 11"/>
          <p:cNvSpPr/>
          <p:nvPr/>
        </p:nvSpPr>
        <p:spPr>
          <a:xfrm>
            <a:off x="3413791" y="2183587"/>
            <a:ext cx="1871195" cy="479145"/>
          </a:xfrm>
          <a:prstGeom prst="ellipse">
            <a:avLst/>
          </a:prstGeom>
          <a:gradFill rotWithShape="1">
            <a:gsLst>
              <a:gs pos="0">
                <a:srgbClr val="A4133C"/>
              </a:gs>
              <a:gs pos="100000">
                <a:srgbClr val="5C0017"/>
              </a:gs>
            </a:gsLst>
            <a:lin scaled="0" ang="16200000"/>
          </a:gradFill>
          <a:ln w="285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45720" rIns="45720" tIns="18000" bIns="18000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Carbohydrate</a:t>
            </a:r>
          </a:p>
        </p:txBody>
      </p:sp>
      <p:cxnSp>
        <p:nvCxnSpPr>
          <p:cNvPr id="13" name="Connector 12"/>
          <p:cNvCxnSpPr/>
          <p:nvPr/>
        </p:nvCxnSpPr>
        <p:spPr>
          <a:xfrm flipV="1">
            <a:off x="6095847" y="2423160"/>
            <a:ext cx="1746458" cy="1417320"/>
          </a:xfrm>
          <a:prstGeom prst="line">
            <a:avLst/>
          </a:prstGeom>
          <a:ln w="44450">
            <a:solidFill>
              <a:srgbClr val="0B3D9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 flipV="1">
            <a:off x="7842305" y="1453530"/>
            <a:ext cx="1901486" cy="969630"/>
          </a:xfrm>
          <a:prstGeom prst="line">
            <a:avLst/>
          </a:prstGeom>
          <a:ln w="15875">
            <a:solidFill>
              <a:srgbClr val="0B3D9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Oval 14"/>
          <p:cNvSpPr/>
          <p:nvPr/>
        </p:nvSpPr>
        <p:spPr>
          <a:xfrm>
            <a:off x="9743791" y="1250533"/>
            <a:ext cx="983618" cy="405993"/>
          </a:xfrm>
          <a:prstGeom prst="ellipse">
            <a:avLst/>
          </a:prstGeom>
          <a:solidFill>
            <a:srgbClr val="EEF3FC"/>
          </a:solidFill>
          <a:ln w="15875">
            <a:solidFill>
              <a:srgbClr val="0B3D9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45720" rIns="45720" tIns="18000" bIns="18000"/>
          <a:lstStyle/>
          <a:p>
            <a:pPr algn="ctr"/>
            <a:r>
              <a:rPr sz="1200" b="1">
                <a:solidFill>
                  <a:srgbClr val="8B0000"/>
                </a:solidFill>
                <a:latin typeface="Calibri"/>
              </a:rPr>
              <a:t>Kị nước</a:t>
            </a:r>
          </a:p>
        </p:txBody>
      </p:sp>
      <p:cxnSp>
        <p:nvCxnSpPr>
          <p:cNvPr id="16" name="Connector 15"/>
          <p:cNvCxnSpPr/>
          <p:nvPr/>
        </p:nvCxnSpPr>
        <p:spPr>
          <a:xfrm flipV="1">
            <a:off x="7842305" y="2051182"/>
            <a:ext cx="1208066" cy="371978"/>
          </a:xfrm>
          <a:prstGeom prst="line">
            <a:avLst/>
          </a:prstGeom>
          <a:ln w="15875">
            <a:solidFill>
              <a:srgbClr val="0B3D9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Oval 16"/>
          <p:cNvSpPr/>
          <p:nvPr/>
        </p:nvSpPr>
        <p:spPr>
          <a:xfrm>
            <a:off x="9050371" y="1701881"/>
            <a:ext cx="2370458" cy="698601"/>
          </a:xfrm>
          <a:prstGeom prst="ellipse">
            <a:avLst/>
          </a:prstGeom>
          <a:solidFill>
            <a:srgbClr val="EEF3FC"/>
          </a:solidFill>
          <a:ln w="15875">
            <a:solidFill>
              <a:srgbClr val="0B3D9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45720" rIns="45720" tIns="18000" bIns="18000"/>
          <a:lstStyle/>
          <a:p>
            <a:pPr algn="ctr"/>
            <a:r>
              <a:rPr sz="1200" b="0">
                <a:solidFill>
                  <a:srgbClr val="0F172A"/>
                </a:solidFill>
                <a:latin typeface="Calibri"/>
              </a:rPr>
              <a:t>Mỡ, dầu: glycerol + 3</a:t>
            </a:r>
          </a:p>
          <a:p>
            <a:pPr algn="ctr"/>
            <a:r>
              <a:rPr sz="1200" b="0">
                <a:solidFill>
                  <a:srgbClr val="0F172A"/>
                </a:solidFill>
                <a:latin typeface="Calibri"/>
              </a:rPr>
              <a:t>acid béo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7842305" y="2423160"/>
            <a:ext cx="1208066" cy="371977"/>
          </a:xfrm>
          <a:prstGeom prst="line">
            <a:avLst/>
          </a:prstGeom>
          <a:ln w="15875">
            <a:solidFill>
              <a:srgbClr val="0B3D9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Oval 18"/>
          <p:cNvSpPr/>
          <p:nvPr/>
        </p:nvSpPr>
        <p:spPr>
          <a:xfrm>
            <a:off x="9050371" y="2445837"/>
            <a:ext cx="2370458" cy="698601"/>
          </a:xfrm>
          <a:prstGeom prst="ellipse">
            <a:avLst/>
          </a:prstGeom>
          <a:solidFill>
            <a:srgbClr val="EEF3FC"/>
          </a:solidFill>
          <a:ln w="15875">
            <a:solidFill>
              <a:srgbClr val="0B3D9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45720" rIns="45720" tIns="18000" bIns="18000"/>
          <a:lstStyle/>
          <a:p>
            <a:pPr algn="ctr"/>
            <a:r>
              <a:rPr sz="1200" b="0">
                <a:solidFill>
                  <a:srgbClr val="0F172A"/>
                </a:solidFill>
                <a:latin typeface="Calibri"/>
              </a:rPr>
              <a:t>Phospholipid: màng tế</a:t>
            </a:r>
          </a:p>
          <a:p>
            <a:pPr algn="ctr"/>
            <a:r>
              <a:rPr sz="1200" b="0">
                <a:solidFill>
                  <a:srgbClr val="0F172A"/>
                </a:solidFill>
                <a:latin typeface="Calibri"/>
              </a:rPr>
              <a:t>bào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7842305" y="2423160"/>
            <a:ext cx="1311088" cy="969629"/>
          </a:xfrm>
          <a:prstGeom prst="line">
            <a:avLst/>
          </a:prstGeom>
          <a:ln w="15875">
            <a:solidFill>
              <a:srgbClr val="0B3D9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Oval 20"/>
          <p:cNvSpPr/>
          <p:nvPr/>
        </p:nvSpPr>
        <p:spPr>
          <a:xfrm>
            <a:off x="9153393" y="3189792"/>
            <a:ext cx="2164413" cy="405993"/>
          </a:xfrm>
          <a:prstGeom prst="ellipse">
            <a:avLst/>
          </a:prstGeom>
          <a:solidFill>
            <a:srgbClr val="EEF3FC"/>
          </a:solidFill>
          <a:ln w="15875">
            <a:solidFill>
              <a:srgbClr val="0B3D9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45720" rIns="45720" tIns="18000" bIns="18000"/>
          <a:lstStyle/>
          <a:p>
            <a:pPr algn="ctr"/>
            <a:r>
              <a:rPr sz="1200" b="0">
                <a:solidFill>
                  <a:srgbClr val="0F172A"/>
                </a:solidFill>
                <a:latin typeface="Calibri"/>
              </a:rPr>
              <a:t>Steroid, carotenoid</a:t>
            </a:r>
          </a:p>
        </p:txBody>
      </p:sp>
      <p:sp>
        <p:nvSpPr>
          <p:cNvPr id="22" name="Oval 21"/>
          <p:cNvSpPr/>
          <p:nvPr/>
        </p:nvSpPr>
        <p:spPr>
          <a:xfrm>
            <a:off x="7392101" y="2183587"/>
            <a:ext cx="900407" cy="479145"/>
          </a:xfrm>
          <a:prstGeom prst="ellipse">
            <a:avLst/>
          </a:prstGeom>
          <a:gradFill rotWithShape="1">
            <a:gsLst>
              <a:gs pos="0">
                <a:srgbClr val="0B3D91"/>
              </a:gs>
              <a:gs pos="100000">
                <a:srgbClr val="001233"/>
              </a:gs>
            </a:gsLst>
            <a:lin scaled="0" ang="16200000"/>
          </a:gradFill>
          <a:ln w="285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45720" rIns="45720" tIns="18000" bIns="18000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Lipid</a:t>
            </a:r>
          </a:p>
        </p:txBody>
      </p:sp>
      <p:cxnSp>
        <p:nvCxnSpPr>
          <p:cNvPr id="23" name="Connector 22"/>
          <p:cNvCxnSpPr/>
          <p:nvPr/>
        </p:nvCxnSpPr>
        <p:spPr>
          <a:xfrm flipH="1">
            <a:off x="4349389" y="3840480"/>
            <a:ext cx="1746458" cy="1417320"/>
          </a:xfrm>
          <a:prstGeom prst="line">
            <a:avLst/>
          </a:prstGeom>
          <a:ln w="44450">
            <a:solidFill>
              <a:srgbClr val="A4133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 flipH="1" flipV="1">
            <a:off x="3335481" y="4434474"/>
            <a:ext cx="1013908" cy="823326"/>
          </a:xfrm>
          <a:prstGeom prst="line">
            <a:avLst/>
          </a:prstGeom>
          <a:ln w="15875">
            <a:solidFill>
              <a:srgbClr val="8B0A2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Oval 24"/>
          <p:cNvSpPr/>
          <p:nvPr/>
        </p:nvSpPr>
        <p:spPr>
          <a:xfrm>
            <a:off x="576707" y="4231477"/>
            <a:ext cx="2758773" cy="405993"/>
          </a:xfrm>
          <a:prstGeom prst="ellipse">
            <a:avLst/>
          </a:prstGeom>
          <a:solidFill>
            <a:srgbClr val="FFF1F3"/>
          </a:solidFill>
          <a:ln w="15875">
            <a:solidFill>
              <a:srgbClr val="8B0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45720" rIns="45720" tIns="18000" bIns="18000"/>
          <a:lstStyle/>
          <a:p>
            <a:pPr algn="ctr"/>
            <a:r>
              <a:rPr sz="1200" b="1">
                <a:solidFill>
                  <a:srgbClr val="8B0000"/>
                </a:solidFill>
                <a:latin typeface="Calibri"/>
              </a:rPr>
              <a:t>Đơn phân: 20 amino acid</a:t>
            </a:r>
          </a:p>
        </p:txBody>
      </p:sp>
      <p:cxnSp>
        <p:nvCxnSpPr>
          <p:cNvPr id="26" name="Connector 25"/>
          <p:cNvCxnSpPr/>
          <p:nvPr/>
        </p:nvCxnSpPr>
        <p:spPr>
          <a:xfrm flipH="1" flipV="1">
            <a:off x="3244346" y="5032126"/>
            <a:ext cx="1105043" cy="225674"/>
          </a:xfrm>
          <a:prstGeom prst="line">
            <a:avLst/>
          </a:prstGeom>
          <a:ln w="15875">
            <a:solidFill>
              <a:srgbClr val="8B0A2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Oval 26"/>
          <p:cNvSpPr/>
          <p:nvPr/>
        </p:nvSpPr>
        <p:spPr>
          <a:xfrm>
            <a:off x="667843" y="4682825"/>
            <a:ext cx="2576502" cy="698601"/>
          </a:xfrm>
          <a:prstGeom prst="ellipse">
            <a:avLst/>
          </a:prstGeom>
          <a:solidFill>
            <a:srgbClr val="FFF1F3"/>
          </a:solidFill>
          <a:ln w="15875">
            <a:solidFill>
              <a:srgbClr val="8B0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45720" rIns="45720" tIns="18000" bIns="18000"/>
          <a:lstStyle/>
          <a:p>
            <a:pPr algn="ctr"/>
            <a:r>
              <a:rPr sz="1200" b="0">
                <a:solidFill>
                  <a:srgbClr val="0F172A"/>
                </a:solidFill>
                <a:latin typeface="Calibri"/>
              </a:rPr>
              <a:t>Liên kết peptide; 4 bậc</a:t>
            </a:r>
          </a:p>
          <a:p>
            <a:pPr algn="ctr"/>
            <a:r>
              <a:rPr sz="1200" b="0">
                <a:solidFill>
                  <a:srgbClr val="0F172A"/>
                </a:solidFill>
                <a:latin typeface="Calibri"/>
              </a:rPr>
              <a:t>cấu trúc</a:t>
            </a:r>
          </a:p>
        </p:txBody>
      </p:sp>
      <p:cxnSp>
        <p:nvCxnSpPr>
          <p:cNvPr id="28" name="Connector 27"/>
          <p:cNvCxnSpPr/>
          <p:nvPr/>
        </p:nvCxnSpPr>
        <p:spPr>
          <a:xfrm flipH="1">
            <a:off x="3089812" y="5257800"/>
            <a:ext cx="1259577" cy="371977"/>
          </a:xfrm>
          <a:prstGeom prst="line">
            <a:avLst/>
          </a:prstGeom>
          <a:ln w="15875">
            <a:solidFill>
              <a:srgbClr val="8B0A2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Oval 28"/>
          <p:cNvSpPr/>
          <p:nvPr/>
        </p:nvSpPr>
        <p:spPr>
          <a:xfrm>
            <a:off x="822376" y="5426781"/>
            <a:ext cx="2267435" cy="405993"/>
          </a:xfrm>
          <a:prstGeom prst="ellipse">
            <a:avLst/>
          </a:prstGeom>
          <a:solidFill>
            <a:srgbClr val="FFF1F3"/>
          </a:solidFill>
          <a:ln w="15875">
            <a:solidFill>
              <a:srgbClr val="8B0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45720" rIns="45720" tIns="18000" bIns="18000"/>
          <a:lstStyle/>
          <a:p>
            <a:pPr algn="ctr"/>
            <a:r>
              <a:rPr sz="1200" b="0">
                <a:solidFill>
                  <a:srgbClr val="0F172A"/>
                </a:solidFill>
                <a:latin typeface="Calibri"/>
              </a:rPr>
              <a:t>Nhiều chức năng nhất</a:t>
            </a:r>
          </a:p>
        </p:txBody>
      </p:sp>
      <p:cxnSp>
        <p:nvCxnSpPr>
          <p:cNvPr id="30" name="Connector 29"/>
          <p:cNvCxnSpPr/>
          <p:nvPr/>
        </p:nvCxnSpPr>
        <p:spPr>
          <a:xfrm flipH="1">
            <a:off x="3192834" y="5257800"/>
            <a:ext cx="1156555" cy="823325"/>
          </a:xfrm>
          <a:prstGeom prst="line">
            <a:avLst/>
          </a:prstGeom>
          <a:ln w="15875">
            <a:solidFill>
              <a:srgbClr val="8B0A2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Oval 30"/>
          <p:cNvSpPr/>
          <p:nvPr/>
        </p:nvSpPr>
        <p:spPr>
          <a:xfrm>
            <a:off x="719354" y="5878128"/>
            <a:ext cx="2473480" cy="405993"/>
          </a:xfrm>
          <a:prstGeom prst="ellipse">
            <a:avLst/>
          </a:prstGeom>
          <a:solidFill>
            <a:srgbClr val="FFF1F3"/>
          </a:solidFill>
          <a:ln w="15875">
            <a:solidFill>
              <a:srgbClr val="8B0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45720" rIns="45720" tIns="18000" bIns="18000"/>
          <a:lstStyle/>
          <a:p>
            <a:pPr algn="ctr"/>
            <a:r>
              <a:rPr sz="1200" b="0">
                <a:solidFill>
                  <a:srgbClr val="0F172A"/>
                </a:solidFill>
                <a:latin typeface="Calibri"/>
              </a:rPr>
              <a:t>Biến tính khi đun nóng</a:t>
            </a:r>
          </a:p>
        </p:txBody>
      </p:sp>
      <p:sp>
        <p:nvSpPr>
          <p:cNvPr id="32" name="Oval 31"/>
          <p:cNvSpPr/>
          <p:nvPr/>
        </p:nvSpPr>
        <p:spPr>
          <a:xfrm>
            <a:off x="3760501" y="5018227"/>
            <a:ext cx="1177775" cy="479145"/>
          </a:xfrm>
          <a:prstGeom prst="ellipse">
            <a:avLst/>
          </a:prstGeom>
          <a:gradFill rotWithShape="1">
            <a:gsLst>
              <a:gs pos="0">
                <a:srgbClr val="A4133C"/>
              </a:gs>
              <a:gs pos="100000">
                <a:srgbClr val="5C0017"/>
              </a:gs>
            </a:gsLst>
            <a:lin scaled="0" ang="16200000"/>
          </a:gradFill>
          <a:ln w="285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45720" rIns="45720" tIns="18000" bIns="18000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Protein</a:t>
            </a:r>
          </a:p>
        </p:txBody>
      </p:sp>
      <p:cxnSp>
        <p:nvCxnSpPr>
          <p:cNvPr id="33" name="Connector 32"/>
          <p:cNvCxnSpPr/>
          <p:nvPr/>
        </p:nvCxnSpPr>
        <p:spPr>
          <a:xfrm>
            <a:off x="6095847" y="3840480"/>
            <a:ext cx="1746458" cy="1417320"/>
          </a:xfrm>
          <a:prstGeom prst="line">
            <a:avLst/>
          </a:prstGeom>
          <a:ln w="44450">
            <a:solidFill>
              <a:srgbClr val="0B3D9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 flipV="1">
            <a:off x="7842305" y="4434474"/>
            <a:ext cx="1124855" cy="823326"/>
          </a:xfrm>
          <a:prstGeom prst="line">
            <a:avLst/>
          </a:prstGeom>
          <a:ln w="15875">
            <a:solidFill>
              <a:srgbClr val="0B3D9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Oval 34"/>
          <p:cNvSpPr/>
          <p:nvPr/>
        </p:nvSpPr>
        <p:spPr>
          <a:xfrm>
            <a:off x="8967160" y="4231477"/>
            <a:ext cx="2536878" cy="405993"/>
          </a:xfrm>
          <a:prstGeom prst="ellipse">
            <a:avLst/>
          </a:prstGeom>
          <a:solidFill>
            <a:srgbClr val="EEF3FC"/>
          </a:solidFill>
          <a:ln w="15875">
            <a:solidFill>
              <a:srgbClr val="0B3D9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45720" rIns="45720" tIns="18000" bIns="18000"/>
          <a:lstStyle/>
          <a:p>
            <a:pPr algn="ctr"/>
            <a:r>
              <a:rPr sz="1200" b="1">
                <a:solidFill>
                  <a:srgbClr val="8B0000"/>
                </a:solidFill>
                <a:latin typeface="Calibri"/>
              </a:rPr>
              <a:t>DNA: 2 mạch, A–T, G≡C</a:t>
            </a:r>
          </a:p>
        </p:txBody>
      </p:sp>
      <p:cxnSp>
        <p:nvCxnSpPr>
          <p:cNvPr id="36" name="Connector 35"/>
          <p:cNvCxnSpPr/>
          <p:nvPr/>
        </p:nvCxnSpPr>
        <p:spPr>
          <a:xfrm flipV="1">
            <a:off x="7842305" y="4885822"/>
            <a:ext cx="1414111" cy="371978"/>
          </a:xfrm>
          <a:prstGeom prst="line">
            <a:avLst/>
          </a:prstGeom>
          <a:ln w="15875">
            <a:solidFill>
              <a:srgbClr val="0B3D9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Oval 36"/>
          <p:cNvSpPr/>
          <p:nvPr/>
        </p:nvSpPr>
        <p:spPr>
          <a:xfrm>
            <a:off x="9256416" y="4682825"/>
            <a:ext cx="1958368" cy="405993"/>
          </a:xfrm>
          <a:prstGeom prst="ellipse">
            <a:avLst/>
          </a:prstGeom>
          <a:solidFill>
            <a:srgbClr val="EEF3FC"/>
          </a:solidFill>
          <a:ln w="15875">
            <a:solidFill>
              <a:srgbClr val="0B3D9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45720" rIns="45720" tIns="18000" bIns="18000"/>
          <a:lstStyle/>
          <a:p>
            <a:pPr algn="ctr"/>
            <a:r>
              <a:rPr sz="1200" b="0">
                <a:solidFill>
                  <a:srgbClr val="0F172A"/>
                </a:solidFill>
                <a:latin typeface="Calibri"/>
              </a:rPr>
              <a:t>RNA: 1 mạch, có U</a:t>
            </a:r>
          </a:p>
        </p:txBody>
      </p:sp>
      <p:cxnSp>
        <p:nvCxnSpPr>
          <p:cNvPr id="38" name="Connector 37"/>
          <p:cNvCxnSpPr/>
          <p:nvPr/>
        </p:nvCxnSpPr>
        <p:spPr>
          <a:xfrm>
            <a:off x="7842305" y="5257800"/>
            <a:ext cx="1156555" cy="225673"/>
          </a:xfrm>
          <a:prstGeom prst="line">
            <a:avLst/>
          </a:prstGeom>
          <a:ln w="15875">
            <a:solidFill>
              <a:srgbClr val="0B3D9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9" name="Oval 38"/>
          <p:cNvSpPr/>
          <p:nvPr/>
        </p:nvSpPr>
        <p:spPr>
          <a:xfrm>
            <a:off x="8998860" y="5134173"/>
            <a:ext cx="2473480" cy="698601"/>
          </a:xfrm>
          <a:prstGeom prst="ellipse">
            <a:avLst/>
          </a:prstGeom>
          <a:solidFill>
            <a:srgbClr val="EEF3FC"/>
          </a:solidFill>
          <a:ln w="15875">
            <a:solidFill>
              <a:srgbClr val="0B3D9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45720" rIns="45720" tIns="18000" bIns="18000"/>
          <a:lstStyle/>
          <a:p>
            <a:pPr algn="ctr"/>
            <a:r>
              <a:rPr sz="1200" b="0">
                <a:solidFill>
                  <a:srgbClr val="0F172A"/>
                </a:solidFill>
                <a:latin typeface="Calibri"/>
              </a:rPr>
              <a:t>Mang, truyền thông tin</a:t>
            </a:r>
          </a:p>
          <a:p>
            <a:pPr algn="ctr"/>
            <a:r>
              <a:rPr sz="1200" b="0">
                <a:solidFill>
                  <a:srgbClr val="0F172A"/>
                </a:solidFill>
                <a:latin typeface="Calibri"/>
              </a:rPr>
              <a:t>di truyền</a:t>
            </a:r>
          </a:p>
        </p:txBody>
      </p:sp>
      <p:cxnSp>
        <p:nvCxnSpPr>
          <p:cNvPr id="40" name="Connector 39"/>
          <p:cNvCxnSpPr/>
          <p:nvPr/>
        </p:nvCxnSpPr>
        <p:spPr>
          <a:xfrm>
            <a:off x="7842305" y="5257800"/>
            <a:ext cx="1517133" cy="823325"/>
          </a:xfrm>
          <a:prstGeom prst="line">
            <a:avLst/>
          </a:prstGeom>
          <a:ln w="15875">
            <a:solidFill>
              <a:srgbClr val="0B3D9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1" name="Oval 40"/>
          <p:cNvSpPr/>
          <p:nvPr/>
        </p:nvSpPr>
        <p:spPr>
          <a:xfrm>
            <a:off x="9359438" y="5878128"/>
            <a:ext cx="1752323" cy="405993"/>
          </a:xfrm>
          <a:prstGeom prst="ellipse">
            <a:avLst/>
          </a:prstGeom>
          <a:solidFill>
            <a:srgbClr val="EEF3FC"/>
          </a:solidFill>
          <a:ln w="15875">
            <a:solidFill>
              <a:srgbClr val="0B3D9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45720" rIns="45720" tIns="18000" bIns="18000"/>
          <a:lstStyle/>
          <a:p>
            <a:pPr algn="ctr"/>
            <a:r>
              <a:rPr sz="1200" b="0">
                <a:solidFill>
                  <a:srgbClr val="0F172A"/>
                </a:solidFill>
                <a:latin typeface="Calibri"/>
              </a:rPr>
              <a:t>Dấu vân tay DNA</a:t>
            </a:r>
          </a:p>
        </p:txBody>
      </p:sp>
      <p:sp>
        <p:nvSpPr>
          <p:cNvPr id="42" name="Oval 41"/>
          <p:cNvSpPr/>
          <p:nvPr/>
        </p:nvSpPr>
        <p:spPr>
          <a:xfrm>
            <a:off x="6906707" y="5018227"/>
            <a:ext cx="1871195" cy="479145"/>
          </a:xfrm>
          <a:prstGeom prst="ellipse">
            <a:avLst/>
          </a:prstGeom>
          <a:gradFill rotWithShape="1">
            <a:gsLst>
              <a:gs pos="0">
                <a:srgbClr val="0B3D91"/>
              </a:gs>
              <a:gs pos="100000">
                <a:srgbClr val="001233"/>
              </a:gs>
            </a:gsLst>
            <a:lin scaled="0" ang="16200000"/>
          </a:gradFill>
          <a:ln w="285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45720" rIns="45720" tIns="18000" bIns="18000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Nucleic acid</a:t>
            </a:r>
          </a:p>
        </p:txBody>
      </p:sp>
      <p:sp>
        <p:nvSpPr>
          <p:cNvPr id="43" name="Oval 42"/>
          <p:cNvSpPr/>
          <p:nvPr/>
        </p:nvSpPr>
        <p:spPr>
          <a:xfrm>
            <a:off x="4892127" y="3369259"/>
            <a:ext cx="2407440" cy="942441"/>
          </a:xfrm>
          <a:prstGeom prst="ellipse">
            <a:avLst/>
          </a:prstGeom>
          <a:gradFill rotWithShape="1">
            <a:gsLst>
              <a:gs pos="0">
                <a:srgbClr val="0B3D91"/>
              </a:gs>
              <a:gs pos="100000">
                <a:srgbClr val="001233"/>
              </a:gs>
            </a:gsLst>
            <a:lin scaled="0" ang="16200000"/>
          </a:gradFill>
          <a:ln w="31750">
            <a:solidFill>
              <a:srgbClr val="C9A22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45720" rIns="45720" tIns="18000" bIns="18000"/>
          <a:lstStyle/>
          <a:p>
            <a:pPr algn="ctr"/>
            <a:r>
              <a:rPr sz="1700" b="1">
                <a:solidFill>
                  <a:srgbClr val="FFFFFF"/>
                </a:solidFill>
                <a:latin typeface="Calibri"/>
              </a:rPr>
              <a:t>BÀI 5 CÁC PHÂN</a:t>
            </a:r>
          </a:p>
          <a:p>
            <a:pPr algn="ctr"/>
            <a:r>
              <a:rPr sz="1700" b="1">
                <a:solidFill>
                  <a:srgbClr val="FFFFFF"/>
                </a:solidFill>
                <a:latin typeface="Calibri"/>
              </a:rPr>
              <a:t>TỬ SINH HỌC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TTT</dc:creator>
  <cp:keywords/>
  <dc:description>generated using python-pptx</dc:description>
  <cp:lastModifiedBy>TTT</cp:lastModifiedBy>
  <cp:revision>1</cp:revision>
  <dcterms:created xsi:type="dcterms:W3CDTF">2013-01-27T09:14:16Z</dcterms:created>
  <dcterms:modified xsi:type="dcterms:W3CDTF">2013-01-27T09:15:58Z</dcterms:modified>
  <cp:category/>
</cp:coreProperties>
</file>