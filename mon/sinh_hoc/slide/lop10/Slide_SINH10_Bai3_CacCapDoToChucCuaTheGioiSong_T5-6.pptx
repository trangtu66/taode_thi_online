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GV nêu mục tiêu; HS ghi vào vở. Nhắc HS chuẩn bị điện thoại để làm bài củng cố cuối tiết.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Câu hỏi mở đầu SGK tr.18.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91695" cy="23774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2011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BÀI 3. CÁC CẤP ĐỘ TỔ CHỨC CỦA THẾ GIỚI SỐNG</a:t>
            </a:r>
          </a:p>
          <a:p>
            <a:pPr algn="ctr">
              <a:spcAft>
                <a:spcPts val="800"/>
              </a:spcAft>
            </a:pPr>
            <a:r>
              <a:rPr sz="2400">
                <a:solidFill>
                  <a:srgbClr val="FFFFFF"/>
                </a:solidFill>
                <a:latin typeface="Calibri"/>
              </a:rPr>
              <a:t>Sinh học 10 – Kết nối tri thức với cuộc sống · 02 tiết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846320"/>
            <a:ext cx="106984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Trường THPT – Tổ Sử – Địa – Sinh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MỤC TIÊU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3. Các cấp độ tổ chức của thế giới sống     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Phát biểu được khái niệm cấp độ tổ chức sống.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Dựa vào sơ đồ, phân biệt được các cấp độ tổ chức sống.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Giải thích được mối quan hệ giữa các cấp độ tổ chức sống.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Trình bày được các đặc điểm chung của các cấp độ tổ chức sống.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Có ý thức bảo vệ sức khoẻ (cân bằng nội môi) và môi trường sống.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40AF"/>
                </a:solidFill>
                <a:latin typeface="Calibri"/>
              </a:rPr>
              <a:t>TIẾT 5: CÁC CẤP ĐỘ TỔ CHỨC CỦA THẾ GIỚI SỐNG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86823" y="457200"/>
            <a:ext cx="18562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KHỞI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165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3. Các cấp độ tổ chức của thế giới sống     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Vật sống và vật không sống đều cấu tạo từ các nguyên tố hoá học.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Thế giới sống được tổ chức như thế nào và có các đặc điểm chung gì?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CẤP ĐỘ TỔ CHỨC SỐNG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3. Các cấp độ tổ chức của thế giới sống     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Nêu khái niệm cấp độ tổ chức sống. Quan sát hình 3.1, những cấp độ tổ chức nào có đầy đủ các đặc điểm của sự sống?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Sắp xếp 13 cấp độ từ nguyên tử đến sinh quyển.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CẤP ĐỘ TỔ CHỨC SỐNG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3. Các cấp độ tổ chức của thế giới sống     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Cấp độ tổ chức có biểu hiện đầy đủ đặc tính của sự sống.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Cấp cơ bản: tế bào, cơ thể, quần thể, quần xã, hệ sinh thái.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Cấp trung gian: nguyên tử, phân tử, bào quan, mô, cơ quan, hệ cơ quan.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Tế bào – đơn vị nhỏ nhất có đầy đủ đặc điểm sự sống.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MỐI QUAN HỆ GIỮA CÁC CẤP ĐỘ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3. Các cấp độ tổ chức của thế giới sống     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Giải thích mối quan hệ giữa các cấp độ tổ chức sống.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Năng lượng đi từ đâu, qua những cấp nào?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MỐI QUAN HỆ GIỮA CÁC CẤP ĐỘ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3. Các cấp độ tổ chức của thế giới sống     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Cấp nhỏ làm nền tảng cấu thành cấp lớn hơn.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Mối quan hệ hữu cơ dựa trên hoạt động sống ở cấp tế bào.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Các cấp liên hệ bởi chuyển hoá vật chất và năng lượng; năng lượng chủ yếu từ Mặt Trời.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Các cấp độ gắn bó chặt chẽ với nhau.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TỔ CHỨC THỨ BẬC VÀ ĐẶC TÍNH NỔI TRỘI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3. Các cấp độ tổ chức của thế giới sống     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Tổ chức theo thứ bậc là như thế nào? Thế nào là đặc tính nổi trội? Cho ví dụ.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Một tế bào thần kinh có “tư duy” được không?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TỔ CHỨC THỨ BẬC VÀ ĐẶC TÍNH NỔI TRỘI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3. Các cấp độ tổ chức của thế giới sống     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Thấp → cao, đơn giản → phức tạp; cấp thấp cấu thành cấp cao.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Đặc tính nổi trội: đặc điểm mới do các bộ phận tương tác, cấp nhỏ hơn không có.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Ví dụ: các tế bào thần kinh tổ chức thành bộ não mới có năng lực tư duy.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Tổng thể lớn hơn tổng các bộ phận.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40AF"/>
                </a:solidFill>
                <a:latin typeface="Calibri"/>
              </a:rPr>
              <a:t>TIẾT 6: ĐẶC ĐIỂM CHUNG – LUYỆN TẬP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CƠ THỂ NGƯỜI – HỆ MỞ, TỰ ĐIỀU CHỈNH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3. Các cấp độ tổ chức của thế giới sống     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Phân tích đặc điểm cho thấy cơ thể người là một hệ mở, tự điều chỉnh.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Thân nhiệt của em luôn khoảng bao nhiêu độ?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CƠ THỂ NGƯỜI – HỆ MỞ, TỰ ĐIỀU CHỈNH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3. Các cấp độ tổ chức của thế giới sống     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Hệ mở: lấy thức ăn, nước, O₂; thải CO₂, chất thải; tiếp nhận, xử lí thông tin.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Tự điều chỉnh: duy trì thân nhiệt, pH, đường huyết, nồng độ ion ổn định – cân bằng nội môi.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Rối loạn khả năng tự điều chỉnh → bệnh tật, có thể tử vong.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Hệ mở + tự điều chỉnh = đảm bảo tồn tại, phát triển.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THẾ GIỚI SỐNG LIÊN TỤC TIẾN HOÁ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3. Các cấp độ tổ chức của thế giới sống     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Thế giới sống liên tục tiến hoá dựa trên cơ sở nào?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DNA – đột biến – môi trường.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THẾ GIỚI SỐNG LIÊN TỤC TIẾN HOÁ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3. Các cấp độ tổ chức của thế giới sống     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Thông tin di truyền trong DNA truyền qua thế hệ tương đối chính xác.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Luôn phát sinh đột biến.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Môi trường lựa chọn thể đột biến có kiểu hình thích nghi nhất.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Thế giới sống đa dạng nhưng có nhiều đặc điểm chung.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ROBOT VÀ VẬT SỐNG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3. Các cấp độ tổ chức của thế giới sống     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Một con robot có thể di chuyển, tương tác, trả lời câu hỏi, đưa lời khuyên cho bác sĩ. Robot có đặc điểm nào giống và khác với vật sống?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Robot có tự sinh sản, trao đổi chất không?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ROBOT VÀ VẬT SỐNG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3. Các cấp độ tổ chức của thế giới sống     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Giống: tiếp nhận, xử lí thông tin, phản ứng với môi trường, tiêu thụ năng lượng.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Khác: không cấu tạo từ tế bào; không tự sinh trưởng, sinh sản, trao đổi chất, tiến hoá.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Robot, AI là công cụ do con người tạo ra và kiểm soát.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Robot không phải là vật sống.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VAI TRÒ CỦA MẶT TRỜI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3. Các cấp độ tổ chức của thế giới sống     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Tại sao nói “Nếu Mặt Trời không còn tồn tại thì Trái Đất sẽ bị huỷ diệt”?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Nguồn năng lượng của thế giới sống?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VAI TRÒ CỦA MẶT TRỜI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3. Các cấp độ tổ chức của thế giới sống     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Năng lượng cho thế giới sống chủ yếu đến từ Mặt Trời.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Cây xanh dùng quang năng quang hợp → chất hữu cơ, O₂ cho mọi sinh vật.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Không có năng lượng → các cấp tổ chức sống bị phân rã.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Mặt Trời – nguồn năng lượng của sự sống.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3. Các cấp độ tổ chức của thế giới sống          20</a:t>
            </a:r>
          </a:p>
        </p:txBody>
      </p:sp>
      <p:cxnSp>
        <p:nvCxnSpPr>
          <p:cNvPr id="7" name="Connector 6"/>
          <p:cNvCxnSpPr/>
          <p:nvPr/>
        </p:nvCxnSpPr>
        <p:spPr>
          <a:xfrm flipH="1" flipV="1">
            <a:off x="4338888" y="2670962"/>
            <a:ext cx="1688379" cy="1283818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2688831" y="1528272"/>
            <a:ext cx="1650057" cy="1142690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923810" y="1251960"/>
            <a:ext cx="1765021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Biểu hiện đầy đủ</a:t>
            </a:r>
          </a:p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đặc tính sống</a:t>
            </a:r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2893555" y="2256495"/>
            <a:ext cx="1445333" cy="414467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19086" y="1879473"/>
            <a:ext cx="2174469" cy="754044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Cấp trung gian: nguyên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tử → hệ cơ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quan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550147" y="2670962"/>
            <a:ext cx="1788741" cy="414467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062494" y="2708407"/>
            <a:ext cx="1487653" cy="754044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Cấp cơ bản: tế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bào → hệ sinh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thái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2550147" y="2670962"/>
            <a:ext cx="1788741" cy="1142690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62494" y="3537341"/>
            <a:ext cx="1487653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Đều cấu tạo từ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tế bào</a:t>
            </a:r>
          </a:p>
        </p:txBody>
      </p:sp>
      <p:sp>
        <p:nvSpPr>
          <p:cNvPr id="16" name="Oval 15"/>
          <p:cNvSpPr/>
          <p:nvPr/>
        </p:nvSpPr>
        <p:spPr>
          <a:xfrm>
            <a:off x="3433264" y="2427575"/>
            <a:ext cx="1811249" cy="486773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① Khái niệm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6027267" y="2670962"/>
            <a:ext cx="1688379" cy="1283818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715646" y="1729694"/>
            <a:ext cx="1659963" cy="941268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375609" y="1453382"/>
            <a:ext cx="1745209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Cấp nhỏ cấu thành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cấp lớn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7715646" y="2357206"/>
            <a:ext cx="1557601" cy="313756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273247" y="2080895"/>
            <a:ext cx="1949933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Dựa trên hoạt động</a:t>
            </a:r>
          </a:p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tế bào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15646" y="2670962"/>
            <a:ext cx="1531185" cy="313756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246831" y="2708407"/>
            <a:ext cx="2002765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Chuyển hoá vật chất,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năng lượng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15646" y="2670962"/>
            <a:ext cx="1659963" cy="941268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375609" y="3335919"/>
            <a:ext cx="1745209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Năng lượng từ Mặt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Trời</a:t>
            </a:r>
          </a:p>
        </p:txBody>
      </p:sp>
      <p:sp>
        <p:nvSpPr>
          <p:cNvPr id="26" name="Oval 25"/>
          <p:cNvSpPr/>
          <p:nvPr/>
        </p:nvSpPr>
        <p:spPr>
          <a:xfrm>
            <a:off x="6879363" y="2259078"/>
            <a:ext cx="1672565" cy="823767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② Mối quan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hệ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4338888" y="3954780"/>
            <a:ext cx="1688379" cy="1283817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2593073" y="4398040"/>
            <a:ext cx="1745815" cy="840557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019568" y="4121729"/>
            <a:ext cx="1573505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Thấp → cao, đơn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giản → phức tạp</a:t>
            </a:r>
          </a:p>
        </p:txBody>
      </p:sp>
      <p:cxnSp>
        <p:nvCxnSpPr>
          <p:cNvPr id="30" name="Connector 29"/>
          <p:cNvCxnSpPr/>
          <p:nvPr/>
        </p:nvCxnSpPr>
        <p:spPr>
          <a:xfrm flipH="1" flipV="1">
            <a:off x="2735059" y="4924841"/>
            <a:ext cx="1603829" cy="313756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77582" y="4749241"/>
            <a:ext cx="1857477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Đặc tính nổi trội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2507221" y="5238597"/>
            <a:ext cx="1831667" cy="213045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105420" y="5175331"/>
            <a:ext cx="1401801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Ví dụ: bộ não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– tư duy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2721851" y="5238597"/>
            <a:ext cx="1617037" cy="840557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90790" y="5802843"/>
            <a:ext cx="1831061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Cần năng lượng duy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trì</a:t>
            </a:r>
          </a:p>
        </p:txBody>
      </p:sp>
      <p:sp>
        <p:nvSpPr>
          <p:cNvPr id="36" name="Oval 35"/>
          <p:cNvSpPr/>
          <p:nvPr/>
        </p:nvSpPr>
        <p:spPr>
          <a:xfrm>
            <a:off x="3571948" y="4826713"/>
            <a:ext cx="1533881" cy="823767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③ Tổ chức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thứ bậc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027267" y="3954780"/>
            <a:ext cx="1688379" cy="1283817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7715646" y="4297329"/>
            <a:ext cx="1574111" cy="941268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289757" y="4021018"/>
            <a:ext cx="1916913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Trao đổi chất, năng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lượng, thông tin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7715646" y="4924841"/>
            <a:ext cx="1650057" cy="313756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365703" y="4648530"/>
            <a:ext cx="1765021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Tự điều chỉnh –</a:t>
            </a:r>
          </a:p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cân bằng nội môi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715646" y="5238597"/>
            <a:ext cx="1617037" cy="313756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9332683" y="5276042"/>
            <a:ext cx="1831061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DNA truyền qua thế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hệ, đột biến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715646" y="5238597"/>
            <a:ext cx="1831667" cy="941268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9547313" y="5903554"/>
            <a:ext cx="1401801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Chọn lọc → đa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dạng</a:t>
            </a:r>
          </a:p>
        </p:txBody>
      </p:sp>
      <p:sp>
        <p:nvSpPr>
          <p:cNvPr id="46" name="Oval 45"/>
          <p:cNvSpPr/>
          <p:nvPr/>
        </p:nvSpPr>
        <p:spPr>
          <a:xfrm>
            <a:off x="6879363" y="4826713"/>
            <a:ext cx="1672565" cy="823767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④ Hệ mở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– tiến hoá</a:t>
            </a:r>
          </a:p>
        </p:txBody>
      </p:sp>
      <p:sp>
        <p:nvSpPr>
          <p:cNvPr id="47" name="Oval 46"/>
          <p:cNvSpPr/>
          <p:nvPr/>
        </p:nvSpPr>
        <p:spPr>
          <a:xfrm>
            <a:off x="4862765" y="3287245"/>
            <a:ext cx="2329003" cy="1335069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CÁC CẤP ĐỘ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TỔ CHỨC CỦA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THẾ GIỚI SỐNG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97719" y="457200"/>
            <a:ext cx="154533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CỦNG CỐ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3. Các cấp độ tổ chức của thế giới sống          21</a:t>
            </a:r>
          </a:p>
        </p:txBody>
      </p:sp>
      <p:pic>
        <p:nvPicPr>
          <p:cNvPr id="7" name="Picture 6" descr="QR_sinh_cc_bai3_k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463040"/>
            <a:ext cx="3017520" cy="3017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572000"/>
            <a:ext cx="107899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Củng cố – Bài 3. Các cấp độ tổ chức của thế giới sống</a:t>
            </a:r>
          </a:p>
          <a:p>
            <a:pPr algn="ctr">
              <a:spcAft>
                <a:spcPts val="800"/>
              </a:spcAft>
            </a:pPr>
            <a:r>
              <a:rPr sz="1400">
                <a:solidFill>
                  <a:srgbClr val="64748B"/>
                </a:solidFill>
                <a:latin typeface="Calibri"/>
              </a:rPr>
              <a:t>trangtu66.github.io/Taode_thi_online/sinh_cc_bai3_k10.html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