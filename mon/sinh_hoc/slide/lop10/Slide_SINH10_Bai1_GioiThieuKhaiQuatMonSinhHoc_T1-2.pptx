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tr.5 – câu hỏi chẩn đoán, GV ghi nhận ý kiến 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gần 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gần 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khoảng 3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M7i2K_dqGMQ" TargetMode="External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hCFhBOenIsA" TargetMode="External"/><Relationship Id="rId4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youtube.com/watch?v=LD_C97lEBM8" TargetMode="External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1. GIỚI THIỆU KHÁI QUÁT MÔN SINH HỌC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10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đối tượng và các lĩnh vực nghiên cứu của sinh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được mục tiêu môn Sinh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được vai trò của sinh học với cuộc sống, kinh tế – xã hội và các vấn đề toàn cầu.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được định nghĩa phát triển bền vững; vai trò của sinh học với phát triển bền vững.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triển vọng của sinh học, các ngành nghề liên quan và thành tựu công nghệ.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Sống có trách nhiệm với môi trường; tôn trọng chuẩn mực đạo đức sinh học.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1: SINH HỌC VÀ CÁC LĨNH VỰC – NGÀNH NGHỀ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Đồ ăn, quần áo, vật dụng… đều liên quan đến sinh học.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Vậy sinh học nghiên cứu những gì?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Sinh học có vai trò như thế nào với đời sống xã hội?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SINH HỌC LÀ GÌ?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Sinh học</a:t>
            </a:r>
            <a:r>
              <a:rPr sz="2400">
                <a:solidFill>
                  <a:srgbClr val="1E293B"/>
                </a:solidFill>
                <a:latin typeface="Calibri"/>
              </a:rPr>
              <a:t>: ngành khoa học nghiên cứu về sự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Đối tượng</a:t>
            </a:r>
            <a:r>
              <a:rPr sz="2400">
                <a:solidFill>
                  <a:srgbClr val="1E293B"/>
                </a:solidFill>
                <a:latin typeface="Calibri"/>
              </a:rPr>
              <a:t>: các sinh vật cùng các cấp độ tổ chức của thế giới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Mục tiêu</a:t>
            </a:r>
            <a:r>
              <a:rPr sz="2400">
                <a:solidFill>
                  <a:srgbClr val="1E293B"/>
                </a:solidFill>
                <a:latin typeface="Calibri"/>
              </a:rPr>
              <a:t>: tìm hiểu cấu trúc, sự vận hành của các quá trình sống → điều khiển, tối ưu hoá tài nguyên, phát triển bền vững.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LĨNH VỰC NGHIÊN CỨU SINH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Hãy nêu các lĩnh vực nghiên cứu sinh học được tìm hiểu trong cấp Trung học phổ thông.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Lớp 10, 11, 12 học những gì?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LĨNH VỰC NGHIÊN CỨU SINH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Hai loại chính: nghiên cứu cơ bản và nghiên cứu ứng dụng.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Lớp 10: sinh học tế bào và thế giới vi sinh vật.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Lớp 11: sinh học cơ thể.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Lớp 12: di truyền học, tiến hoá và sinh thái học.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Học theo các cấp độ tổ chức của thế giới sống.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8</a:t>
            </a:r>
          </a:p>
        </p:txBody>
      </p:sp>
      <p:pic>
        <p:nvPicPr>
          <p:cNvPr id="7" name="Picture 6" descr="QR_video_M7i2K_dqGM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Những công nghệ đột phá làm nên vaccine COVID-19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Sinh học trong tương lai – vaccine mRNA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https://www.youtube.com/watch?v=M7i2K_dqGMQ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SINH HỌC TRONG TƯƠNG LAI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“Sinh học hệ thống” là gì? Nêu một ứng dụng của sinh học hệ thống trong y – dược.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Sinh học kết hợp với những ngành nào?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SINH HỌC TRONG TƯƠNG LAI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Sinh học + hoá học + tin học + toán học + vật lí → sinh học hệ thống.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Mô hình máy tính dự đoán tương tác protein → kiểm nghiệm thuốc nhanh.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Thuốc hướng đích ức chế protein gây bệnh.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Vaccine mRNA: giải trình tự gene gai protein SARS – CoV – 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Tương lai của sinh học vô cùng to lớn.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11</a:t>
            </a:r>
          </a:p>
        </p:txBody>
      </p:sp>
      <p:pic>
        <p:nvPicPr>
          <p:cNvPr id="7" name="Picture 6" descr="QR_video_hCFhBOenI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Vì sao khi xác định danh tính liệt sĩ thường yêu cầu lấy mẫu ADN từ con của chị/em gái liệt sĩ?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Sinh học và ngành pháp y – giám định ADN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https://www.youtube.com/watch?v=hCFhBOenIsA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12</a:t>
            </a:r>
          </a:p>
        </p:txBody>
      </p:sp>
      <p:pic>
        <p:nvPicPr>
          <p:cNvPr id="7" name="Picture 6" descr="QR_video_LD_C97lEBM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Khi nông dân làm chủ phòng cấy mô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 Index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Sinh học và nông nghiệp – nuôi cấy mô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https://www.youtube.com/watch?v=LD_C97lEBM8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NGÀNH NGHỀ LIÊN QUAN ĐẾN SINH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Kể tên các ngành nghề liên quan đến sinh học và một thành tựu tiêu biểu của mỗi ngành.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Mỗi nhóm một mảnh ghép.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NGÀNH NGHỀ LIÊN QUAN ĐẾN SINH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Y – dược: thuốc hướng đích chữa ung thư.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Pháp y: dấu vân tay DNA xác định nhân thân.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Nông nghiệp: nuôi cấy mô, sinh vật biến đổi gene, nhân bản.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Thực phẩm: lên men; Môi trường: vi khuẩn làm sạch, sinh điện; phỏng sinh học.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Sinh học mở ra nhiều ngành nghề cho tương lai.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2: SINH HỌC VỚI PHÁT TRIỂN BỀN VỮNG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PHÁT TRIỂN BỀN VỮNG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Thế nào là phát triển bền vững? Liệt kê một số hoạt động hằng ngày ảnh hưởng đến sự phát triển bền vững.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WCED – Liên hợp quốc, 1987.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PHÁT TRIỂN BỀN VỮNG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Đáp ứng nhu cầu của xã hội hiện tại,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nhưng không làm tổn hại đến khả năng đáp ứng nhu cầu của các thế hệ tương lai.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Hoạt động ảnh hưởng: rác thải nhựa, lãng phí điện nước, lạm dụng phân bón, thuốc trừ sâu, chặt phá rừng.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Phát triển bền vững – trách nhiệm của mỗi người.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SINH HỌC VÀ NHỮNG VẤN ĐỀ XÃ HỘI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Giải thích mối quan hệ của sinh học với kinh tế, công nghệ và vấn đề đạo đức xã hội.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Ngô NK66BT, phỏng sinh học, thông tin hệ gene…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SINH HỌC VÀ NHỮNG VẤN ĐỀ XÃ HỘI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Kinh tế: giống năng suất cao, ngô biến đổi gene kháng sâu (H 1.3).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Rủi ro: trồng một giống nuôi cấy mô diện tích lớn dễ mất mùa.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Công nghệ: phỏng sinh học – robot “giao tiếp” như đàn kiến.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Đạo đức: quyền biết thông tin gene, chỉnh sửa gene người, nhân bản người.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Tiến bộ sinh học không được vi phạm chuẩn mực đạo đức.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EM VÀ MÔI TRƯỜNG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Em cùng gia đình nên sử dụng những vật dụng gì để giảm ô nhiễm môi trường? Vì sao cần phân loại rác, hạn chế rác thải nhựa?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Nghĩ về túi ni lông, chai nhựa ở nhà 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EM VÀ MÔI TRƯỜNG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Dùng túi vải, bình nước cá nhân, đồ tái chế.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Phân loại rác: tái chế, ủ phân hữu cơ, giảm chôn lấp.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Nhựa phân huỷ hàng trăm năm, ô nhiễm đất, nước, hại sinh vật.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Hành động nhỏ – góp phần phát triển bền vững.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22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596375" y="1628983"/>
            <a:ext cx="1742513" cy="1041979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16266" y="1352671"/>
            <a:ext cx="15801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Khoa học về sự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sống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807703" y="2256495"/>
            <a:ext cx="1531185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938" y="1980184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Đối tượng: sinh vật,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cấp độ tổ chức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678925" y="2670962"/>
            <a:ext cx="1659963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3716" y="2607696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Nghiên cứu cơ bản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 ứng dụng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507221" y="2670962"/>
            <a:ext cx="1831667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05420" y="3235208"/>
            <a:ext cx="1401801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10: tế bào ·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11: cơ thể ·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12: di truyền</a:t>
            </a:r>
          </a:p>
        </p:txBody>
      </p:sp>
      <p:sp>
        <p:nvSpPr>
          <p:cNvPr id="16" name="Oval 15"/>
          <p:cNvSpPr/>
          <p:nvPr/>
        </p:nvSpPr>
        <p:spPr>
          <a:xfrm>
            <a:off x="3502606" y="2259078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Sinh học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là gì?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2031827"/>
            <a:ext cx="1574111" cy="63913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89757" y="1755515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Giảm bệnh tật, tăng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tuổi thọ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558628"/>
            <a:ext cx="1603829" cy="11233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19475" y="2383028"/>
            <a:ext cx="1857477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Sinh học hệ thống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702889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18535" y="2809118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Thuốc hướng đích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874593" cy="73984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90239" y="3235208"/>
            <a:ext cx="1315949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Vaccine mRNA</a:t>
            </a:r>
          </a:p>
        </p:txBody>
      </p:sp>
      <p:sp>
        <p:nvSpPr>
          <p:cNvPr id="26" name="Oval 25"/>
          <p:cNvSpPr/>
          <p:nvPr/>
        </p:nvSpPr>
        <p:spPr>
          <a:xfrm>
            <a:off x="6810021" y="2259078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Vai trò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&amp; tương lai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464295" y="4398040"/>
            <a:ext cx="1874593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148346" y="4121729"/>
            <a:ext cx="131594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 – dược ·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Pháp y (DNA)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678925" y="5025552"/>
            <a:ext cx="1659963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33716" y="4749241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Nông – lâm 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ngư (nuôi cấy mô)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764777" y="5238597"/>
            <a:ext cx="1574111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47864" y="5376753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Công nghệ thực phẩm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721851" y="5238597"/>
            <a:ext cx="1617037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0790" y="5802843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Môi trường · Phỏng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sinh học</a:t>
            </a:r>
          </a:p>
        </p:txBody>
      </p:sp>
      <p:sp>
        <p:nvSpPr>
          <p:cNvPr id="36" name="Oval 35"/>
          <p:cNvSpPr/>
          <p:nvPr/>
        </p:nvSpPr>
        <p:spPr>
          <a:xfrm>
            <a:off x="3363922" y="4995210"/>
            <a:ext cx="1949933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Ngành nghề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498751"/>
            <a:ext cx="1511373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227019" y="4222440"/>
            <a:ext cx="204238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Đáp ứng hiện tại,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không hại tương lai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5126263"/>
            <a:ext cx="1788741" cy="11233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04387" y="4849952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Bảo vệ đa dạng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sinh vật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702889" cy="41446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418535" y="5477464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Đạo đức sinh học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617037" cy="84055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332683" y="5903554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Giảm rác thải nhựa</a:t>
            </a:r>
          </a:p>
        </p:txBody>
      </p:sp>
      <p:sp>
        <p:nvSpPr>
          <p:cNvPr id="46" name="Oval 45"/>
          <p:cNvSpPr/>
          <p:nvPr/>
        </p:nvSpPr>
        <p:spPr>
          <a:xfrm>
            <a:off x="6740679" y="4826713"/>
            <a:ext cx="1949933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Phát triển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bền vững</a:t>
            </a:r>
          </a:p>
        </p:txBody>
      </p:sp>
      <p:sp>
        <p:nvSpPr>
          <p:cNvPr id="47" name="Oval 46"/>
          <p:cNvSpPr/>
          <p:nvPr/>
        </p:nvSpPr>
        <p:spPr>
          <a:xfrm>
            <a:off x="4705590" y="3287245"/>
            <a:ext cx="264335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GIỚI THIỆU KHÁI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QUÁT MÔN SINH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HỌC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1. Giới thiệu khái quát môn Sinh học          23</a:t>
            </a:r>
          </a:p>
        </p:txBody>
      </p:sp>
      <p:pic>
        <p:nvPicPr>
          <p:cNvPr id="7" name="Picture 6" descr="QR_sinh_cc_bai1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1. Giới thiệu khái quát môn Sinh học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trangtu66.github.io/Taode_thi_online/sinh_cc_bai1_k10.html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