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Tình huống mở đầu theo KHBD của tổ.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khoảng 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gần 3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UiO9tbUqwAg" TargetMode="External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ef9_owQpcd4" TargetMode="External"/><Relationship Id="rId4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2. PHƯƠNG PHÁP NGHIÊN CỨU VÀ HỌC TẬP MÔN SINH HỌC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10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và vận dụng được phương pháp quan sát, làm việc trong phòng thí nghiệm, thực nghiệm khoa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một số thiết bị nghiên cứu và học tập môn Sinh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và vận dụng được các kĩ năng trong tiến trình nghiên cứu khoa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Giới thiệu được tin sinh học như công cụ trong nghiên cứu và học tập sinh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Trung thực trong học tập và nghiên cứu khoa học.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3: PHƯƠNG PHÁP NGHIÊN CỨU VÀ THIẾT BỊ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Hai hũ dưa cải muối cùng một cách: một hũ ngon, một hũ bị hỏng.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Nguyên nhân là gì? Làm thế nào để xác định chính xác nguyên nhân?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5</a:t>
            </a:r>
          </a:p>
        </p:txBody>
      </p:sp>
      <p:pic>
        <p:nvPicPr>
          <p:cNvPr id="7" name="Picture 6" descr="QR_video_UiO9tbUqw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Nhà khoa học nữ dành cả tuổi trẻ để gọi tên loài mới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Phương pháp quan sát, thu thập mẫu trong nghiên cứu sinh học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https://www.youtube.com/watch?v=UiO9tbUqwAg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PHƯƠNG PHÁP NGHIÊN CỨU SINH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biệt phương pháp quan sát, làm việc trong phòng thí nghiệm và thực nghiệm khoa học.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Phương pháp nào chủ động tác động và kiểm soát điều kiện?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PHƯƠNG PHÁP NGHIÊN CỨU SINH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Quan sát: dùng giác quan, công cụ hỗ trợ thu thập thông tin về đối tượng.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Phòng thí nghiệm: dụng cụ, mẫu vật, hoá chất, quy trình kĩ thuật; đảm bảo an toàn.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Thực nghiệm khoa học: chủ động tác động, kiểm soát điều kiện để kiểm tra giả thuyết.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Quan sát – Phòng thí nghiệm – Thực nghiệm.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CHỌN ĐÚNG PHƯƠNG PHÁP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(1) Quan sát hình thái rễ, thân, lá để phân loại thực vật; (2) làm tiêu bản soi vi khuẩn; (3) bố trí hạt ở nhiều nhiệt độ để tìm ảnh hưởng của nhiệt độ đến nảy mầm. Mỗi trường hợp dùng phương pháp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Có tác động, kiểm soát điều kiện không?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CHỌN ĐÚNG PHƯƠNG PHÁP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(1) Phương pháp quan sát.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(2) Làm việc trong phòng thí nghiệm.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(3) Thực nghiệm khoa học.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Chọn phương pháp phù hợp câu hỏi nghiên cứu.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KÍNH HIỂN VI QUANG HỌC VÀ ĐIỆN TỬ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So sánh đặc điểm của kính hiển vi quang học và kính hiển vi điện tử.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Nguồn chiếu: ánh sáng hay chùm electron?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KÍNH HIỂN VI QUANG HỌC VÀ ĐIỆN TỬ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Quang học: dùng ánh sáng, độ phóng đại thấp hơn, quan sát được tế bào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Điện tử: dùng chùm electron, độ phóng đại rất lớn, thấy được cấu trúc siêu hiển vi; mẫu phải xử lí, không quan sát tế bào sống.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Chọn kính phù hợp với mục đích quan sát.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4: TIẾN TRÌNH NGHIÊN CỨU VÀ TIN SINH HỌC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TIẾN TRÌNH NGHIÊN CỨU KHOA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Quan sát Hình 2.4, nêu trình tự các bước trong tiến trình nghiên cứu khoa học.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Bắt đầu từ quan sát…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TIẾN TRÌNH NGHIÊN CỨU KHOA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Quan sát, thu thập dữ liệu → Đặt câu hỏi → Hình thành giả thuyết.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Thiết kế và tiến hành thí nghiệm kiểm chứng giả thuyết → Phân tích kết quả.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Rút ra kết luận: chấp nhận hay bác bỏ giả thuyết.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Giả thuyết phải kiểm chứng được.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NHÓM ĐỐI CHỨNG VÀ NHÓM THỰC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Nhóm đối chứng và nhóm thực nghiệm trong một thí nghiệm có gì khác nhau? Cho ví dụ.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Yếu tố nào thay đổi, yếu tố nào giữ nguyên?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NHÓM ĐỐI CHỨNG VÀ NHÓM THỰC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Hai nhóm giống nhau mọi điều kiện, chỉ khác yếu tố cần kiểm chứng.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Nhóm thực nghiệm chịu tác động của yếu tố đó; nhóm đối chứng không.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Ví dụ: hũ dưa đậy kín (thực nghiệm) và hũ dưa mở nắp (đối chứng), các điều kiện khác như nhau.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Có đối chứng mới khẳng định được nguyên nhân.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17</a:t>
            </a:r>
          </a:p>
        </p:txBody>
      </p:sp>
      <p:pic>
        <p:nvPicPr>
          <p:cNvPr id="7" name="Picture 6" descr="QR_video_ef9_owQpc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Nobel y sinh 2022: Giải mã gene để hiểu về sự tiến hoá của loài người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Tin sinh học – phân tích dữ liệu hệ gene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https://www.youtube.com/watch?v=ef9_owQpcd4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TIN SINH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Tin sinh học là gì? Vì sao tin sinh học là công cụ hữu ích trong nghiên cứu và học tập sinh học?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Dữ liệu sinh học khổng lồ được xử lí bằng gì?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TIN SINH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Ngành khoa học dùng phần mềm máy tính, thuật toán, mô hình để lưu trữ, phân loại, phân tích dữ liệu sinh học quy mô lớn.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Ứng dụng: ngân hàng gene, so sánh trình tự DNA, protein, thiết kế thuốc.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Giúp HS tra cứu, học tập trực quan.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Tin sinh học – cầu nối sinh học và công nghệ thông tin.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20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292591" y="1830405"/>
            <a:ext cx="2046297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20050" y="1654804"/>
            <a:ext cx="972541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Quan sát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807703" y="2357206"/>
            <a:ext cx="1531185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04938" y="2080894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Làm việc trong phòng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thí nghiệm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873743" y="2670962"/>
            <a:ext cx="1465145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8898" y="2708407"/>
            <a:ext cx="2134845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Thực nghiệm khoa học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678925" y="2670962"/>
            <a:ext cx="1659963" cy="73984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3716" y="3134497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An toàn phòng thí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nghiệm</a:t>
            </a:r>
          </a:p>
        </p:txBody>
      </p:sp>
      <p:sp>
        <p:nvSpPr>
          <p:cNvPr id="16" name="Oval 15"/>
          <p:cNvSpPr/>
          <p:nvPr/>
        </p:nvSpPr>
        <p:spPr>
          <a:xfrm>
            <a:off x="3294580" y="2259078"/>
            <a:ext cx="2088617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Phương pháp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nghiên cứu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1729694"/>
            <a:ext cx="1574111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89757" y="1453382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Kính lúp, kính hiển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vi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357206"/>
            <a:ext cx="1745815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61461" y="2080895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Máy li tâm, máy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lắc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574111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89757" y="2708407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Pipet, đèn cồn, cốc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đong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617037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32683" y="3335919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Đúng quy trình, an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toàn</a:t>
            </a:r>
          </a:p>
        </p:txBody>
      </p:sp>
      <p:sp>
        <p:nvSpPr>
          <p:cNvPr id="26" name="Oval 25"/>
          <p:cNvSpPr/>
          <p:nvPr/>
        </p:nvSpPr>
        <p:spPr>
          <a:xfrm>
            <a:off x="6879363" y="2427575"/>
            <a:ext cx="1672565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Thiết bị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50147" y="4398040"/>
            <a:ext cx="1788741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62494" y="4121729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Quan sát → đặt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câu hỏi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919971" y="4924841"/>
            <a:ext cx="1418917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92670" y="4749241"/>
            <a:ext cx="2227301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Hình thành giả thuyết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764777" y="5238597"/>
            <a:ext cx="1574111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47864" y="5175331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Thiết kế, tiến hành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thí nghiệm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593073" y="5238597"/>
            <a:ext cx="1745815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19568" y="5802843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tích → kết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luận</a:t>
            </a:r>
          </a:p>
        </p:txBody>
      </p:sp>
      <p:sp>
        <p:nvSpPr>
          <p:cNvPr id="36" name="Oval 35"/>
          <p:cNvSpPr/>
          <p:nvPr/>
        </p:nvSpPr>
        <p:spPr>
          <a:xfrm>
            <a:off x="3363922" y="4826713"/>
            <a:ext cx="1949933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Tiến trình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nghiên cứu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599462"/>
            <a:ext cx="1788741" cy="63913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504387" y="4323151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Máy tính + dữ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liệu sinh học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5126263"/>
            <a:ext cx="1788741" cy="11233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04387" y="4950663"/>
            <a:ext cx="1487653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Ngân hàng gene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659963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375609" y="5376753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Phân tích hệ gene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745815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461461" y="5802843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Công cụ học tập</a:t>
            </a:r>
          </a:p>
        </p:txBody>
      </p:sp>
      <p:sp>
        <p:nvSpPr>
          <p:cNvPr id="46" name="Oval 45"/>
          <p:cNvSpPr/>
          <p:nvPr/>
        </p:nvSpPr>
        <p:spPr>
          <a:xfrm>
            <a:off x="6879363" y="4826713"/>
            <a:ext cx="1672565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Tin sinh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học</a:t>
            </a:r>
          </a:p>
        </p:txBody>
      </p:sp>
      <p:sp>
        <p:nvSpPr>
          <p:cNvPr id="47" name="Oval 46"/>
          <p:cNvSpPr/>
          <p:nvPr/>
        </p:nvSpPr>
        <p:spPr>
          <a:xfrm>
            <a:off x="4469827" y="3089696"/>
            <a:ext cx="3114879" cy="173016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PHƯƠNG PHÁP NGHIÊN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CỨU VÀ HỌC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TẬP MÔN SINH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HỌC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2. Phương pháp nghiên cứu và học tập môn Sinh học          21</a:t>
            </a:r>
          </a:p>
        </p:txBody>
      </p:sp>
      <p:pic>
        <p:nvPicPr>
          <p:cNvPr id="7" name="Picture 6" descr="QR_sinh_cc_bai2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2. Phương pháp nghiên cứu và học tập môn Sinh học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trangtu66.github.io/Taode_thi_online/sinh_cc_bai2_k10.html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