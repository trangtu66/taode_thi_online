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73" r:id="rId25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nêu mục tiêu; HS ghi vào vở. Nhắc HS chuẩn bị điện thoại để làm bài củng cố cuối tiết.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mạnh: không nếm, không ngửi trực tiếp hoá chất.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377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011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BÀI 6. THỰC HÀNH: NHẬN BIẾT MỘT SỐ PHÂN TỬ SINH HỌC</a:t>
            </a:r>
          </a:p>
          <a:p>
            <a:pPr algn="ctr">
              <a:spcAft>
                <a:spcPts val="800"/>
              </a:spcAft>
            </a:pPr>
            <a:r>
              <a:rPr sz="2400">
                <a:solidFill>
                  <a:srgbClr val="FFFFFF"/>
                </a:solidFill>
                <a:latin typeface="Calibri"/>
              </a:rPr>
              <a:t>Sinh học 10 – Kết nối tri thức với cuộc sống · 02 tiết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Trường THPT – Tổ Sử – Địa – Sinh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6. Thực hành: Nhận biết một số phân tử sinh học     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Tiến hành được thí nghiệm nhận biết đường glucose (phép thử Benedict), lipid (phép thử nhũ tương), protein (phép thử Biuret).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Giải thích được nguyên lí của từng phép thử dựa trên đặc điểm cấu tạo của phân tử sinh học.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Thao tác đúng, an toàn trong phòng thí nghiệm: pha hoá chất, dùng đèn cồn, kẹp ống nghiệm.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Viết được báo cáo thực hành; hợp tác tốt trong nhóm.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14: NGUYÊN LÍ – THÍ NGHIỆM 1,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6823" y="457200"/>
            <a:ext cx="18562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165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6. Thực hành: Nhận biết một số phân tử sinh học     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Ba cốc dung dịch không nhãn: đường glucose, lòng trắng trứng, dầu ăn trong cồn.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Làm thế nào để biết cốc nào chứa đường, chất đạm, chất béo?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PHÉP THỬ BENEDICT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6. Thực hành: Nhận biết một số phân tử sinh học     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Nguyên lí và dấu hiệu nhận biết glucose bằng thuốc thử Benedict?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Ion Cu²⁺ có màu gì?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PHÉP THỬ BENEDICT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6. Thực hành: Nhận biết một số phân tử sinh học     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Glucose + Cu²⁺ (màu xanh) → Đường bị oxy hoá + Cu⁺ (màu đỏ gạch).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Trộn thể tích bằng nhau, đun cách thuỷ hoặc hơ trên đèn cồn (không đun sôi).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Xanh lục → vàng, cam → kết tủa đỏ gạch Cu₂O.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Kết tủa đỏ gạch → có glucose.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PHÉP THỬ NHŨ TƯƠNG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6. Thực hành: Nhận biết một số phân tử sinh học     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Nguyên lí và dấu hiệu nhận biết lipid?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Lipid tan trong dung môi nào?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PHÉP THỬ NHŨ TƯƠNG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6. Thực hành: Nhận biết một số phân tử sinh học     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Lipid không tan trong nước, tan trong cồn.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2 giọt dầu + 5 mL cồn tuyệt đối, lắc; rót sang ống chứa nước.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Các giọt lipid nhỏ phân tán → huyền phù trắng sữa.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Trắng sữa → có lipid; trong suốt → không có.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15: THÍ NGHIỆM 3 – BÁO CÁO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PHÉP THỬ BIURET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6. Thực hành: Nhận biết một số phân tử sinh học     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Nguyên lí và dấu hiệu nhận biết protein?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Liên kết nào trong protein chứa nguyên tử nitrogen?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PHÉP THỬ BIURET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6. Thực hành: Nhận biết một số phân tử sinh học     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Liên kết peptide liên kết với Cu²⁺ tạo phức chất màu tím đỏ.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Lòng trắng trứng + 5 mL NaOH loãng + 5 mL CuSO₄ 1%.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Dung dịch chuyển từ xanh sang xanh tím sau vài phút.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Màu tím → có protein.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CÂU HỎI BÁO CÁO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6. Thực hành: Nhận biết một số phân tử sinh học     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Quy trình nhận biết protein và glucose khác gì quy trình nhận biết lipid? Vì sao?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Phản ứng hoá học hay tính chất vật lí?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CÂU HỎI BÁO CÁO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6. Thực hành: Nhận biết một số phân tử sinh học     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Glucose, protein: phản ứng hoá học đặc thù tạo màu với Cu²⁺.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Lipid: dựa vào tính tan – không tan trong nước, tan trong cồn.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Do đặc điểm cấu tạo: glucose có tính khử; protein có liên kết peptide; lipid kị nước.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Cấu tạo khác → cách nhận biết khác.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ĐƯỜNG MÍA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6. Thực hành: Nhận biết một số phân tử sinh học     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Vì sao thử dung dịch đường mía (sucrose) bằng Benedict không thấy kết tủa đỏ gạch?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Sucrose có tính khử không?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ĐƯỜNG MÍA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6. Thực hành: Nhận biết một số phân tử sinh học     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Sucrose là đường đôi không có tính khử.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Không khử được Cu²⁺ → không có kết tủa.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Thuỷ phân sucrose → glucose + fructose rồi mới thử.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Benedict nhận biết đường khử.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6. Thực hành: Nhận biết một số phân tử sinh học          16</a:t>
            </a:r>
          </a:p>
        </p:txBody>
      </p:sp>
      <p:pic>
        <p:nvPicPr>
          <p:cNvPr id="7" name="Picture 6" descr="SoDoTuDuy_SINH10_Bai6_TH_NhanBietPhanTuSinhHoc_T14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117" y="1371600"/>
            <a:ext cx="863072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6. Thực hành: Nhận biết một số phân tử sinh học          17</a:t>
            </a:r>
          </a:p>
        </p:txBody>
      </p:sp>
      <p:pic>
        <p:nvPicPr>
          <p:cNvPr id="7" name="Picture 6" descr="QR_sinh_cc_bai6_k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463040"/>
            <a:ext cx="301752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572000"/>
            <a:ext cx="107899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Củng cố – Bài 6. Thực hành: Nhận biết một số phân tử sinh học</a:t>
            </a:r>
          </a:p>
          <a:p>
            <a:pPr algn="ctr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trangtu66.github.io/Taode_thi_online/sinh_cc_bai6_k10.html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cxnSp>
        <p:nvCxnSpPr>
          <p:cNvPr id="3" name="Connector 2"/>
          <p:cNvCxnSpPr/>
          <p:nvPr/>
        </p:nvCxnSpPr>
        <p:spPr>
          <a:xfrm flipH="1" flipV="1">
            <a:off x="4349389" y="2423160"/>
            <a:ext cx="1746458" cy="1417320"/>
          </a:xfrm>
          <a:prstGeom prst="line">
            <a:avLst/>
          </a:prstGeom>
          <a:ln w="44450">
            <a:solidFill>
              <a:srgbClr val="A41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 flipV="1">
            <a:off x="3280007" y="1599834"/>
            <a:ext cx="1069382" cy="823326"/>
          </a:xfrm>
          <a:prstGeom prst="line">
            <a:avLst/>
          </a:prstGeom>
          <a:ln w="15875">
            <a:solidFill>
              <a:srgbClr val="8B0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632181" y="1250533"/>
            <a:ext cx="2647826" cy="698601"/>
          </a:xfrm>
          <a:prstGeom prst="ellipse">
            <a:avLst/>
          </a:prstGeom>
          <a:solidFill>
            <a:srgbClr val="FFF1F3"/>
          </a:solidFill>
          <a:ln w="15875">
            <a:solidFill>
              <a:srgbClr val="8B0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1">
                <a:solidFill>
                  <a:srgbClr val="8B0000"/>
                </a:solidFill>
                <a:latin typeface="Calibri"/>
              </a:rPr>
              <a:t>Cu²⁺ xanh → kết tủa đỏ</a:t>
            </a:r>
          </a:p>
          <a:p>
            <a:pPr algn="ctr"/>
            <a:r>
              <a:rPr sz="1200" b="1">
                <a:solidFill>
                  <a:srgbClr val="8B0000"/>
                </a:solidFill>
                <a:latin typeface="Calibri"/>
              </a:rPr>
              <a:t>gạch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3295857" y="2343790"/>
            <a:ext cx="1053532" cy="79370"/>
          </a:xfrm>
          <a:prstGeom prst="line">
            <a:avLst/>
          </a:prstGeom>
          <a:ln w="15875">
            <a:solidFill>
              <a:srgbClr val="8B0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16331" y="1994489"/>
            <a:ext cx="2679525" cy="698601"/>
          </a:xfrm>
          <a:prstGeom prst="ellipse">
            <a:avLst/>
          </a:prstGeom>
          <a:solidFill>
            <a:srgbClr val="FFF1F3"/>
          </a:solidFill>
          <a:ln w="15875">
            <a:solidFill>
              <a:srgbClr val="8B0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Phải đun nóng, không đun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sôi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3038301" y="2423160"/>
            <a:ext cx="1311088" cy="518281"/>
          </a:xfrm>
          <a:prstGeom prst="line">
            <a:avLst/>
          </a:prstGeom>
          <a:ln w="15875">
            <a:solidFill>
              <a:srgbClr val="8B0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73887" y="2738445"/>
            <a:ext cx="2164413" cy="405993"/>
          </a:xfrm>
          <a:prstGeom prst="ellipse">
            <a:avLst/>
          </a:prstGeom>
          <a:solidFill>
            <a:srgbClr val="FFF1F3"/>
          </a:solidFill>
          <a:ln w="15875">
            <a:solidFill>
              <a:srgbClr val="8B0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Glucose có tính khử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883767" y="2423160"/>
            <a:ext cx="1465622" cy="969629"/>
          </a:xfrm>
          <a:prstGeom prst="line">
            <a:avLst/>
          </a:prstGeom>
          <a:ln w="15875">
            <a:solidFill>
              <a:srgbClr val="8B0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028421" y="3189792"/>
            <a:ext cx="1855346" cy="405993"/>
          </a:xfrm>
          <a:prstGeom prst="ellipse">
            <a:avLst/>
          </a:prstGeom>
          <a:solidFill>
            <a:srgbClr val="FFF1F3"/>
          </a:solidFill>
          <a:ln w="15875">
            <a:solidFill>
              <a:srgbClr val="8B0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Sucrose: âm tính</a:t>
            </a:r>
          </a:p>
        </p:txBody>
      </p:sp>
      <p:sp>
        <p:nvSpPr>
          <p:cNvPr id="12" name="Oval 11"/>
          <p:cNvSpPr/>
          <p:nvPr/>
        </p:nvSpPr>
        <p:spPr>
          <a:xfrm>
            <a:off x="3621817" y="2000707"/>
            <a:ext cx="1455143" cy="844905"/>
          </a:xfrm>
          <a:prstGeom prst="ellipse">
            <a:avLst/>
          </a:prstGeom>
          <a:gradFill rotWithShape="1">
            <a:gsLst>
              <a:gs pos="0">
                <a:srgbClr val="A4133C"/>
              </a:gs>
              <a:gs pos="100000">
                <a:srgbClr val="5C0017"/>
              </a:gs>
            </a:gsLst>
            <a:lin scaled="0" ang="16200000"/>
          </a:gra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Glucose –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Benedict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6095847" y="2423160"/>
            <a:ext cx="1746458" cy="1417320"/>
          </a:xfrm>
          <a:prstGeom prst="line">
            <a:avLst/>
          </a:prstGeom>
          <a:ln w="4445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842305" y="1825508"/>
            <a:ext cx="958435" cy="597652"/>
          </a:xfrm>
          <a:prstGeom prst="line">
            <a:avLst/>
          </a:prstGeom>
          <a:ln w="15875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800740" y="1476207"/>
            <a:ext cx="2869720" cy="698601"/>
          </a:xfrm>
          <a:prstGeom prst="ellipse">
            <a:avLst/>
          </a:prstGeom>
          <a:solidFill>
            <a:srgbClr val="EEF3FC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1">
                <a:solidFill>
                  <a:srgbClr val="8B0000"/>
                </a:solidFill>
                <a:latin typeface="Calibri"/>
              </a:rPr>
              <a:t>Tan trong cồn, không tan</a:t>
            </a:r>
          </a:p>
          <a:p>
            <a:pPr algn="ctr"/>
            <a:r>
              <a:rPr sz="1200" b="1">
                <a:solidFill>
                  <a:srgbClr val="8B0000"/>
                </a:solidFill>
                <a:latin typeface="Calibri"/>
              </a:rPr>
              <a:t>trong nước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42305" y="2423160"/>
            <a:ext cx="1053532" cy="0"/>
          </a:xfrm>
          <a:prstGeom prst="line">
            <a:avLst/>
          </a:prstGeom>
          <a:ln w="15875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895837" y="2220163"/>
            <a:ext cx="2679525" cy="405993"/>
          </a:xfrm>
          <a:prstGeom prst="ellipse">
            <a:avLst/>
          </a:prstGeom>
          <a:solidFill>
            <a:srgbClr val="EEF3FC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Rót vào nước → trắng sữa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42305" y="2423160"/>
            <a:ext cx="1156555" cy="597651"/>
          </a:xfrm>
          <a:prstGeom prst="line">
            <a:avLst/>
          </a:prstGeom>
          <a:ln w="15875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998860" y="2671511"/>
            <a:ext cx="2473480" cy="698601"/>
          </a:xfrm>
          <a:prstGeom prst="ellipse">
            <a:avLst/>
          </a:prstGeom>
          <a:solidFill>
            <a:srgbClr val="EEF3FC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Không có lipid → trong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suốt</a:t>
            </a:r>
          </a:p>
        </p:txBody>
      </p:sp>
      <p:sp>
        <p:nvSpPr>
          <p:cNvPr id="20" name="Oval 19"/>
          <p:cNvSpPr/>
          <p:nvPr/>
        </p:nvSpPr>
        <p:spPr>
          <a:xfrm>
            <a:off x="6559997" y="2183587"/>
            <a:ext cx="2564615" cy="479145"/>
          </a:xfrm>
          <a:prstGeom prst="ellipse">
            <a:avLst/>
          </a:prstGeom>
          <a:gradFill rotWithShape="1">
            <a:gsLst>
              <a:gs pos="0">
                <a:srgbClr val="0B3D91"/>
              </a:gs>
              <a:gs pos="100000">
                <a:srgbClr val="001233"/>
              </a:gs>
            </a:gsLst>
            <a:lin scaled="0" ang="16200000"/>
          </a:gra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Lipid – nhũ tương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4349389" y="3840480"/>
            <a:ext cx="1746458" cy="1417320"/>
          </a:xfrm>
          <a:prstGeom prst="line">
            <a:avLst/>
          </a:prstGeom>
          <a:ln w="44450">
            <a:solidFill>
              <a:srgbClr val="A41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2891692" y="4806452"/>
            <a:ext cx="1457697" cy="451348"/>
          </a:xfrm>
          <a:prstGeom prst="line">
            <a:avLst/>
          </a:prstGeom>
          <a:ln w="15875">
            <a:solidFill>
              <a:srgbClr val="8B0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020496" y="4603455"/>
            <a:ext cx="1871195" cy="405993"/>
          </a:xfrm>
          <a:prstGeom prst="ellipse">
            <a:avLst/>
          </a:prstGeom>
          <a:solidFill>
            <a:srgbClr val="FFF1F3"/>
          </a:solidFill>
          <a:ln w="15875">
            <a:solidFill>
              <a:srgbClr val="8B0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1">
                <a:solidFill>
                  <a:srgbClr val="8B0000"/>
                </a:solidFill>
                <a:latin typeface="Calibri"/>
              </a:rPr>
              <a:t>NaOH + CuSO₄ 1%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3089812" y="5257800"/>
            <a:ext cx="1259577" cy="0"/>
          </a:xfrm>
          <a:prstGeom prst="line">
            <a:avLst/>
          </a:prstGeom>
          <a:ln w="15875">
            <a:solidFill>
              <a:srgbClr val="8B0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22376" y="5054803"/>
            <a:ext cx="2267435" cy="405993"/>
          </a:xfrm>
          <a:prstGeom prst="ellipse">
            <a:avLst/>
          </a:prstGeom>
          <a:solidFill>
            <a:srgbClr val="FFF1F3"/>
          </a:solidFill>
          <a:ln w="15875">
            <a:solidFill>
              <a:srgbClr val="8B0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Xanh → xanh tím, tím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3295857" y="5257800"/>
            <a:ext cx="1053532" cy="451347"/>
          </a:xfrm>
          <a:prstGeom prst="line">
            <a:avLst/>
          </a:prstGeom>
          <a:ln w="15875">
            <a:solidFill>
              <a:srgbClr val="8B0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16331" y="5506151"/>
            <a:ext cx="2679525" cy="405993"/>
          </a:xfrm>
          <a:prstGeom prst="ellipse">
            <a:avLst/>
          </a:prstGeom>
          <a:solidFill>
            <a:srgbClr val="FFF1F3"/>
          </a:solidFill>
          <a:ln w="15875">
            <a:solidFill>
              <a:srgbClr val="8B0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Cần ≥ 2 liên kết peptide</a:t>
            </a:r>
          </a:p>
        </p:txBody>
      </p:sp>
      <p:sp>
        <p:nvSpPr>
          <p:cNvPr id="28" name="Oval 27"/>
          <p:cNvSpPr/>
          <p:nvPr/>
        </p:nvSpPr>
        <p:spPr>
          <a:xfrm>
            <a:off x="3136423" y="5018227"/>
            <a:ext cx="2425931" cy="479145"/>
          </a:xfrm>
          <a:prstGeom prst="ellipse">
            <a:avLst/>
          </a:prstGeom>
          <a:gradFill rotWithShape="1">
            <a:gsLst>
              <a:gs pos="0">
                <a:srgbClr val="A4133C"/>
              </a:gs>
              <a:gs pos="100000">
                <a:srgbClr val="5C0017"/>
              </a:gs>
            </a:gsLst>
            <a:lin scaled="0" ang="16200000"/>
          </a:gra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Protein – Biuret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95847" y="3840480"/>
            <a:ext cx="1746458" cy="1417320"/>
          </a:xfrm>
          <a:prstGeom prst="line">
            <a:avLst/>
          </a:prstGeom>
          <a:ln w="4445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842305" y="4806452"/>
            <a:ext cx="1105043" cy="451348"/>
          </a:xfrm>
          <a:prstGeom prst="line">
            <a:avLst/>
          </a:prstGeom>
          <a:ln w="15875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947348" y="4457151"/>
            <a:ext cx="2576502" cy="698601"/>
          </a:xfrm>
          <a:prstGeom prst="ellipse">
            <a:avLst/>
          </a:prstGeom>
          <a:solidFill>
            <a:srgbClr val="EEF3FC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Kính, găng tay; tắt đèn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cồn bằng nắp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42305" y="5257800"/>
            <a:ext cx="1156555" cy="146304"/>
          </a:xfrm>
          <a:prstGeom prst="line">
            <a:avLst/>
          </a:prstGeom>
          <a:ln w="15875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998860" y="5201107"/>
            <a:ext cx="2473480" cy="405993"/>
          </a:xfrm>
          <a:prstGeom prst="ellipse">
            <a:avLst/>
          </a:prstGeom>
          <a:solidFill>
            <a:srgbClr val="EEF3FC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Ống đối chứng nước cất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842305" y="5257800"/>
            <a:ext cx="1620155" cy="597651"/>
          </a:xfrm>
          <a:prstGeom prst="line">
            <a:avLst/>
          </a:prstGeom>
          <a:ln w="15875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9462460" y="5652455"/>
            <a:ext cx="1546278" cy="405993"/>
          </a:xfrm>
          <a:prstGeom prst="ellipse">
            <a:avLst/>
          </a:prstGeom>
          <a:solidFill>
            <a:srgbClr val="EEF3FC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Báo cáo 5 mục</a:t>
            </a:r>
          </a:p>
        </p:txBody>
      </p:sp>
      <p:sp>
        <p:nvSpPr>
          <p:cNvPr id="36" name="Oval 35"/>
          <p:cNvSpPr/>
          <p:nvPr/>
        </p:nvSpPr>
        <p:spPr>
          <a:xfrm>
            <a:off x="6837365" y="4835347"/>
            <a:ext cx="2009879" cy="844905"/>
          </a:xfrm>
          <a:prstGeom prst="ellipse">
            <a:avLst/>
          </a:prstGeom>
          <a:gradFill rotWithShape="1">
            <a:gsLst>
              <a:gs pos="0">
                <a:srgbClr val="0B3D91"/>
              </a:gs>
              <a:gs pos="100000">
                <a:srgbClr val="001233"/>
              </a:gs>
            </a:gsLst>
            <a:lin scaled="0" ang="16200000"/>
          </a:gra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An toàn – báo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cáo</a:t>
            </a:r>
          </a:p>
        </p:txBody>
      </p:sp>
      <p:sp>
        <p:nvSpPr>
          <p:cNvPr id="37" name="Oval 36"/>
          <p:cNvSpPr/>
          <p:nvPr/>
        </p:nvSpPr>
        <p:spPr>
          <a:xfrm>
            <a:off x="4656364" y="3161995"/>
            <a:ext cx="2878966" cy="1356969"/>
          </a:xfrm>
          <a:prstGeom prst="ellipse">
            <a:avLst/>
          </a:prstGeom>
          <a:gradFill rotWithShape="1">
            <a:gsLst>
              <a:gs pos="0">
                <a:srgbClr val="0B3D91"/>
              </a:gs>
              <a:gs pos="100000">
                <a:srgbClr val="001233"/>
              </a:gs>
            </a:gsLst>
            <a:lin scaled="0" ang="16200000"/>
          </a:gradFill>
          <a:ln w="317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BÀI 6 THỰC HÀNH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NHẬN BIẾT PHÂN TỬ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SINH HỌC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