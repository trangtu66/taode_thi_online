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Chương I: Vật lí nhiệt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4000" b="1">
                <a:solidFill>
                  <a:srgbClr val="1E40AF"/>
                </a:solidFill>
                <a:latin typeface="Arial"/>
              </a:rPr>
              <a:t>BÀI 1. CẤU TRÚC CỦA CHẤT. SỰ CHUYỂN THỂ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000" b="0" i="0">
                <a:solidFill>
                  <a:srgbClr val="1E293B"/>
                </a:solidFill>
                <a:latin typeface="Calibri"/>
              </a:rPr>
              <a:t>Tuần 1  ·  Tiết 1, 2  ·  Số tiết: 2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64748B"/>
                </a:solidFill>
                <a:latin typeface="Calibri"/>
              </a:rPr>
              <a:t>GV: TTT  –  Tổ TOÁN  –  Trường THPT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4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E40AF"/>
                </a:solidFill>
                <a:latin typeface="Calibri"/>
              </a:rPr>
              <a:t>Kiến thức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Trình bày 3 nội dung mô hình động học phân tử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Mô tả cấu trúc của chất rắn, lỏng, khí qua mô hình phân tử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Vẽ và mô tả sơ đồ chuyển thể (nóng chảy, hoá hơi, thăng hoa…)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Giải thích sự hoá hơi và nóng chảy bằng mô hình phân tử</a:t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E40AF"/>
                </a:solidFill>
                <a:latin typeface="Calibri"/>
              </a:rPr>
              <a:t>Năng lực &amp; Phẩm chất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Quan sát chuyển động Brown; thảo luận nhóm; hỏi AI một bước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2834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2860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TIẾT 1  –  MÔ HÌNH ĐỘNG HỌC PHÂN TỬ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749039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1">
                <a:solidFill>
                  <a:srgbClr val="BFDBF7"/>
                </a:solidFill>
                <a:latin typeface="Calibri"/>
              </a:rPr>
              <a:t>Mục I–II: Cấu tạo chất &amp; Cấu trúc 3 thể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Hoạt động 1 – Khởi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Quan sát: cốc nước đá đang tan dần trong không khí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→ nước đá (rắn)  →  nước lỏng  →  hơi bốc lên (khí)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❓  Hãy giải thích: tại sao cùng một chất (nước)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  lại có thể tồn tại ở các thể khác nhau?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(Dựa vào kiến thức lớp 8, 10 về cấu tạo chất)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Gợi ý: các thể khác nhau ↔ cách sắp xếp hạt khác nhau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I. Mô hình động học phân tử về cấu tạo chất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BFD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5214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2100" b="1" i="0">
                <a:solidFill>
                  <a:srgbClr val="1E40AF"/>
                </a:solidFill>
                <a:latin typeface="Calibri"/>
              </a:rPr>
              <a:t>Ba nội dung cơ bản (SGK tr.6):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① Các chất cấu tạo từ các hạt riêng biệt → phân tử, nguyên tử, ion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② Phân tử chuyển động hỗn loạn không ngừng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   Nhiệt độ cao hơn → tốc độ chuyển động lớn hơn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③ Giữa các phân tử có lực hút và lực đẩy (lực liên kết PT)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Chuyển động Brown (1827)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BFD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5214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Robert Brown quan sát hạt phấn hoa trong nước dưới kính hiển vi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→ hạt phấn hoa chuyển động hỗn loạn, không dừng (Hình 1.2)</a:t>
            </a:r>
          </a:p>
          <a:p>
            <a:pPr algn="l">
              <a:spcBef>
                <a:spcPts val="800"/>
              </a:spcBef>
            </a:pPr>
            <a:r>
              <a:rPr sz="2100" b="1" i="0">
                <a:solidFill>
                  <a:srgbClr val="1E40AF"/>
                </a:solidFill>
                <a:latin typeface="Calibri"/>
              </a:rPr>
              <a:t>Giải thích: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Phân tử nước chuyển động hỗn loạn, va đập không đều vào hạt phấn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→ hạt phấn bị đẩy theo các hướng ngẫu nhiên</a:t>
            </a:r>
          </a:p>
          <a:p>
            <a:pPr algn="l">
              <a:spcBef>
                <a:spcPts val="5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Chứng minh: chất có cấu tạo gián đoạn; phân tử chuyển động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II. Cấu trúc của chất rắn, lỏng, khí (Hình 1.3)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9728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883920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Đặc điểm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Chất KHÍ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Chất RẮN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Chất LỎNG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991B1B"/>
                          </a:solidFill>
                          <a:latin typeface="Calibri"/>
                        </a:rPr>
                        <a:t>Khoảng cách PT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Rất lớn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Rất nhỏ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Trung bình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991B1B"/>
                          </a:solidFill>
                          <a:latin typeface="Calibri"/>
                        </a:rPr>
                        <a:t>Sắp xếp PT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Hỗn loạn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Có trật tự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Không trật tự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991B1B"/>
                          </a:solidFill>
                          <a:latin typeface="Calibri"/>
                        </a:rPr>
                        <a:t>Chuyển động PT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Hỗn loạn, nhanh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Dao động tại chỗ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Dao động lẫn lộn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991B1B"/>
                          </a:solidFill>
                          <a:latin typeface="Calibri"/>
                        </a:rPr>
                        <a:t>Hình dạng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Không có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Xác định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Không xác định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991B1B"/>
                          </a:solidFill>
                          <a:latin typeface="Calibri"/>
                        </a:rPr>
                        <a:t>Thể tích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Không có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Xác định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</a:rPr>
                        <a:t>Xác định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2834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2860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TIẾT 2  –  SỰ CHUYỂN THỂ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749039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1">
                <a:solidFill>
                  <a:srgbClr val="BFDBF7"/>
                </a:solidFill>
                <a:latin typeface="Calibri"/>
              </a:rPr>
              <a:t>Mục III: Giải thích bằng mô hình động học phân tử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37160"/>
            <a:ext cx="9966960" cy="6583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III. Sơ đồ chuyển thể (SGK tr.7–9)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1097280"/>
            <a:ext cx="9601200" cy="254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991B1B"/>
                </a:solidFill>
                <a:latin typeface="Calibri"/>
              </a:rPr>
              <a:t>     RẮN  ←(Nóng chảy / Đông đặc)→  LỎNG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488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991B1B"/>
                </a:solidFill>
                <a:latin typeface="Calibri"/>
              </a:rPr>
              <a:t>  LỎNG  ←(Hoá hơi / Ngưng tụ)→  KHÍ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260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991B1B"/>
                </a:solidFill>
                <a:latin typeface="Calibri"/>
              </a:rPr>
              <a:t>     RẮN  ←(Thăng hoa / Ngưng kết)→  KHÍ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03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Mỗi quá trình chuyển thể đều kèm theo sự thay đổi năng lượng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66344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64748B"/>
                </a:solidFill>
                <a:latin typeface="Calibri"/>
              </a:rPr>
              <a:t>📌  Nhiệt độ không đổi trong suốt quá trình chuyển thể (hệ dị thể)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Ví dụ – Giải thích bằng MH động học phân tử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a) Tại sao khi bay hơi nhiệt độ chất lỏng GIẢM?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b) Tại sao khi nước đang sôi, nhiệt độ KHÔNG TĂNG dù vẫn đun?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c) Tại sao chất rắn kết tinh có nhiệt độ nóng chảy XÁC ĐỊNH?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(Hình 1.5 và 1.7 SGK tr.8–9)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Nhớ: phân tử nào thoát ra được thì mang năng lượng lớn hơn TB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46920" y="10972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991B1B"/>
                </a:solidFill>
                <a:latin typeface="Arial"/>
              </a:rPr>
              <a:t>Ví dụ – Giải thích bằng MH động học phân tử –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a) Bay hơi: các PT 'năng lượng cao' thoát ra mặt thoáng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 → NL trung bình của PT còn lại GIẢM → nhiệt độ giảm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b) Khi sôi: toàn bộ nhiệt năng nhận được dùng để phá liên kết PT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 chuyển nước lỏng thành hơi → không làm tăng nhiệt độ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c) Nóng chảy: PT nhận NL → dao động mạnh → phá mạng tinh thể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 → NL dùng phá LK, không tăng T → nhiệt độ nóng chảy = const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760720"/>
            <a:ext cx="11521440" cy="868680"/>
          </a:xfrm>
          <a:prstGeom prst="rect">
            <a:avLst/>
          </a:prstGeom>
          <a:solidFill>
            <a:srgbClr val="FFF1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✅  ĐÁP SỐ:  Đáp: (a) T giảm  (b) T = 100°C  (c) T = Tnc = const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SƠ ĐỒ TƯ DUY – BÀI 1. CẤU TRÚC CỦA CHẤT. SỰ CHUYỂN THỂ</a:t>
            </a:r>
          </a:p>
        </p:txBody>
      </p:sp>
      <p:pic>
        <p:nvPicPr>
          <p:cNvPr id="3" name="Picture 2" descr="_qr_ly_cc_bai1_k12.ht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2" y="1463040"/>
            <a:ext cx="2286000" cy="228600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 flipH="1" flipV="1">
            <a:off x="3508857" y="2670962"/>
            <a:ext cx="13511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 flipV="1">
            <a:off x="2240310" y="1830405"/>
            <a:ext cx="1268547" cy="84055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23869" y="1554093"/>
            <a:ext cx="1516440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Chất cấu tạo từ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phân tử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2412014" y="2457917"/>
            <a:ext cx="1096843" cy="21304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52165" y="2181606"/>
            <a:ext cx="1859848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Phân tử chuyển động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không ngừng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197384" y="2670962"/>
            <a:ext cx="1311473" cy="41446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66795" y="2809118"/>
            <a:ext cx="1430588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Giữa PT có lực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hút và đẩy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626644" y="2670962"/>
            <a:ext cx="882213" cy="941268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7535" y="3436630"/>
            <a:ext cx="2289108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Chuyển động Brown (1827)</a:t>
            </a:r>
          </a:p>
        </p:txBody>
      </p:sp>
      <p:sp>
        <p:nvSpPr>
          <p:cNvPr id="13" name="Oval 12"/>
          <p:cNvSpPr/>
          <p:nvPr/>
        </p:nvSpPr>
        <p:spPr>
          <a:xfrm>
            <a:off x="2493081" y="2090581"/>
            <a:ext cx="2031552" cy="1160762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① Mô hình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động học phân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tử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860036" y="2670962"/>
            <a:ext cx="1351178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211214" y="1729694"/>
            <a:ext cx="1172789" cy="941268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84003" y="1453382"/>
            <a:ext cx="1707956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Khí: PT cách xa,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hỗn loạn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211214" y="2357206"/>
            <a:ext cx="1268547" cy="31375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79761" y="2080895"/>
            <a:ext cx="1516440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Rắn: PT sắp xếp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trật tự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1214" y="2670962"/>
            <a:ext cx="1053917" cy="31375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265131" y="2708407"/>
            <a:ext cx="1945700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Lỏng: trung gian rắn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– khí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11214" y="2670962"/>
            <a:ext cx="1225621" cy="941268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36835" y="3335919"/>
            <a:ext cx="1602292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→ giải thích t/c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thể</a:t>
            </a:r>
          </a:p>
        </p:txBody>
      </p:sp>
      <p:sp>
        <p:nvSpPr>
          <p:cNvPr id="23" name="Oval 22"/>
          <p:cNvSpPr/>
          <p:nvPr/>
        </p:nvSpPr>
        <p:spPr>
          <a:xfrm>
            <a:off x="5403463" y="2259078"/>
            <a:ext cx="1615500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② Cấu trúc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3 thể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508857" y="3954780"/>
            <a:ext cx="13511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068606" y="4297329"/>
            <a:ext cx="1440251" cy="941268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95573" y="4021018"/>
            <a:ext cx="1173032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Sơ đồ Rắn ↔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Lỏng ↔ Khí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2283236" y="4924841"/>
            <a:ext cx="1225621" cy="31375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80943" y="4648530"/>
            <a:ext cx="1602292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Nóng chảy / Đông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đặc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2240310" y="5238597"/>
            <a:ext cx="1268547" cy="31375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23869" y="5276042"/>
            <a:ext cx="1516440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Hoá hơi / Ngưng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tụ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2326162" y="5238597"/>
            <a:ext cx="1182695" cy="941268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38017" y="5903554"/>
            <a:ext cx="1688144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Thăng hoa / Ngưng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kết</a:t>
            </a:r>
          </a:p>
        </p:txBody>
      </p:sp>
      <p:sp>
        <p:nvSpPr>
          <p:cNvPr id="33" name="Oval 32"/>
          <p:cNvSpPr/>
          <p:nvPr/>
        </p:nvSpPr>
        <p:spPr>
          <a:xfrm>
            <a:off x="2631765" y="4826713"/>
            <a:ext cx="1754184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③ Sự chuyển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thể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860036" y="3954780"/>
            <a:ext cx="1351178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211214" y="4297329"/>
            <a:ext cx="1182695" cy="941268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393909" y="3819596"/>
            <a:ext cx="1688144" cy="955466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Hoá hơi: PT thoát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mặt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thoáng (bay hơi &amp;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sôi)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6211214" y="5126263"/>
            <a:ext cx="1182695" cy="11233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393909" y="4849952"/>
            <a:ext cx="1688144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Sôi: t° không đổi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ở 100°C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211214" y="5238597"/>
            <a:ext cx="1096843" cy="515178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308057" y="5477464"/>
            <a:ext cx="1859848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Nóng chảy: t° không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đổi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211214" y="5238597"/>
            <a:ext cx="1357701" cy="114269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568915" y="6104976"/>
            <a:ext cx="1338132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PT nhận NL →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phá LK</a:t>
            </a:r>
          </a:p>
        </p:txBody>
      </p:sp>
      <p:sp>
        <p:nvSpPr>
          <p:cNvPr id="43" name="Oval 42"/>
          <p:cNvSpPr/>
          <p:nvPr/>
        </p:nvSpPr>
        <p:spPr>
          <a:xfrm>
            <a:off x="5264779" y="4658216"/>
            <a:ext cx="1892868" cy="1160762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④ Giải thích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bằng MH động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học</a:t>
            </a:r>
          </a:p>
        </p:txBody>
      </p:sp>
      <p:sp>
        <p:nvSpPr>
          <p:cNvPr id="44" name="Oval 43"/>
          <p:cNvSpPr/>
          <p:nvPr/>
        </p:nvSpPr>
        <p:spPr>
          <a:xfrm>
            <a:off x="3566891" y="3287245"/>
            <a:ext cx="2586288" cy="1335069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CẤU TRÚC CỦA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CHẤT. SỰ CHUYỂN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THỂ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40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Bài 1. Cấu trúc của chất. Sự chuyển thể</a:t>
            </a:r>
          </a:p>
        </p:txBody>
      </p:sp>
      <p:pic>
        <p:nvPicPr>
          <p:cNvPr id="4" name="Picture 3" descr="QR_ly_cc_bai1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73736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800" b="0" i="0">
                <a:solidFill>
                  <a:srgbClr val="1E40AF"/>
                </a:solidFill>
                <a:latin typeface="Calibri"/>
              </a:rPr>
              <a:t>https://trangtu66.github.io/Taode_thi_online/ly_cc_bai1_k12.html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