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800" b="0" i="1">
                <a:solidFill>
                  <a:srgbClr val="1E40AF"/>
                </a:solidFill>
                <a:latin typeface="Calibri"/>
              </a:rPr>
              <a:t>Chương I: Vật lí nhiệt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4000" b="1">
                <a:solidFill>
                  <a:srgbClr val="1E40AF"/>
                </a:solidFill>
                <a:latin typeface="Arial"/>
              </a:rPr>
              <a:t>BÀI 5. NHIỆT NÓNG CHẢY RIÊNG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2000" b="0" i="0">
                <a:solidFill>
                  <a:srgbClr val="1E293B"/>
                </a:solidFill>
                <a:latin typeface="Calibri"/>
              </a:rPr>
              <a:t>Tuần 5  ·  Tiết 9, 10  ·  Số tiết: 2</a:t>
            </a:r>
          </a:p>
          <a:p>
            <a:pPr algn="l">
              <a:spcBef>
                <a:spcPts val="600"/>
              </a:spcBef>
            </a:pPr>
            <a:r>
              <a:rPr sz="1600" b="0" i="0">
                <a:solidFill>
                  <a:srgbClr val="64748B"/>
                </a:solidFill>
                <a:latin typeface="Calibri"/>
              </a:rPr>
              <a:t>GV: TRƯƠNG TỬ TRANG  –  Tổ TOÁN  –  Trường THPT Vĩnh Thạnh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2860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34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005840"/>
            <a:ext cx="116128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800"/>
              </a:spcBef>
            </a:pPr>
            <a:r>
              <a:rPr sz="2000" b="1" i="0">
                <a:solidFill>
                  <a:srgbClr val="1E40AF"/>
                </a:solidFill>
                <a:latin typeface="Calibri"/>
              </a:rPr>
              <a:t>Kiến thức</a:t>
            </a:r>
          </a:p>
          <a:p>
            <a:pPr algn="l">
              <a:spcBef>
                <a:spcPts val="300"/>
              </a:spcBef>
            </a:pPr>
            <a:r>
              <a:rPr sz="1900" b="0" i="0">
                <a:solidFill>
                  <a:srgbClr val="1E293B"/>
                </a:solidFill>
                <a:latin typeface="Calibri"/>
              </a:rPr>
              <a:t>  ✔  Nêu khái niệm nhiệt nóng chảy riêng λ [J/kg]</a:t>
            </a:r>
          </a:p>
          <a:p>
            <a:pPr algn="l">
              <a:spcBef>
                <a:spcPts val="300"/>
              </a:spcBef>
            </a:pPr>
            <a:r>
              <a:rPr sz="1900" b="0" i="0">
                <a:solidFill>
                  <a:srgbClr val="1E293B"/>
                </a:solidFill>
                <a:latin typeface="Calibri"/>
              </a:rPr>
              <a:t>  ✔  Viết và giải thích phương trình Q = λm</a:t>
            </a:r>
          </a:p>
          <a:p>
            <a:pPr algn="l">
              <a:spcBef>
                <a:spcPts val="300"/>
              </a:spcBef>
            </a:pPr>
            <a:r>
              <a:rPr sz="1900" b="0" i="0">
                <a:solidFill>
                  <a:srgbClr val="1E293B"/>
                </a:solidFill>
                <a:latin typeface="Calibri"/>
              </a:rPr>
              <a:t>  ✔  Giải thích vì sao nhiệt độ không đổi trong quá trình nóng chảy</a:t>
            </a:r>
          </a:p>
          <a:p>
            <a:pPr algn="l">
              <a:spcBef>
                <a:spcPts val="300"/>
              </a:spcBef>
            </a:pPr>
            <a:r>
              <a:rPr sz="1900" b="0" i="0">
                <a:solidFill>
                  <a:srgbClr val="1E293B"/>
                </a:solidFill>
                <a:latin typeface="Calibri"/>
              </a:rPr>
              <a:t>  ✔  Giải bài tập tính Q nóng chảy; cân bằng nhiệt có pha chuyển thể</a:t>
            </a:r>
          </a:p>
          <a:p>
            <a:pPr algn="l">
              <a:spcBef>
                <a:spcPts val="800"/>
              </a:spcBef>
            </a:pPr>
            <a:r>
              <a:rPr sz="2000" b="1" i="0">
                <a:solidFill>
                  <a:srgbClr val="1E40AF"/>
                </a:solidFill>
                <a:latin typeface="Calibri"/>
              </a:rPr>
              <a:t>Năng lực</a:t>
            </a:r>
          </a:p>
          <a:p>
            <a:pPr algn="l">
              <a:spcBef>
                <a:spcPts val="300"/>
              </a:spcBef>
            </a:pPr>
            <a:r>
              <a:rPr sz="1900" b="0" i="0">
                <a:solidFill>
                  <a:srgbClr val="1E293B"/>
                </a:solidFill>
                <a:latin typeface="Calibri"/>
              </a:rPr>
              <a:t>  ✔  Vận dụng công thức; tra bảng λ; liên hệ đúc kim loại, địa phương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2011680"/>
            <a:ext cx="9418320" cy="28346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0" y="2286000"/>
            <a:ext cx="8869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3800" b="1">
                <a:solidFill>
                  <a:srgbClr val="FFFFFF"/>
                </a:solidFill>
                <a:latin typeface="Arial"/>
              </a:rPr>
              <a:t>TIẾT 9  –  KHÁI NIỆM &amp; CÔNG THỨC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749039"/>
            <a:ext cx="8869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2200" b="0" i="1">
                <a:solidFill>
                  <a:srgbClr val="BFDBF7"/>
                </a:solidFill>
                <a:latin typeface="Calibri"/>
              </a:rPr>
              <a:t>Nhiệt nóng chảy riêng λ; phương trình Q = λm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875520" y="91440"/>
            <a:ext cx="2103120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21240" y="109728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600" b="1" i="0">
                <a:solidFill>
                  <a:srgbClr val="FFFFFF"/>
                </a:solidFill>
                <a:latin typeface="Calibri"/>
              </a:rPr>
              <a:t>ĐỀ BÀI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82880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3000" b="1">
                <a:solidFill>
                  <a:srgbClr val="1E40AF"/>
                </a:solidFill>
                <a:latin typeface="Arial"/>
              </a:rPr>
              <a:t>Hoạt động 1 – Khởi động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005840"/>
            <a:ext cx="115214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Thí nghiệm tư duy: đun nóng 1 kg nước đá từ 0°C.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→ Nhiệt độ tăng từ 0°C… đến khi đá bắt đầu tan: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→ Nhiệt độ 'dừng' tại 0°C dù vẫn đun!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→ Khi đá tan hết: nhiệt độ tiếp tục tăng.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❓  Nhiệt năng đang đi đâu khi nhiệt độ không tăng?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5943600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8" name="Rectangle 7"/>
          <p:cNvSpPr/>
          <p:nvPr/>
        </p:nvSpPr>
        <p:spPr>
          <a:xfrm>
            <a:off x="320040" y="5897880"/>
            <a:ext cx="11521440" cy="73152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943600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800" b="0" i="1">
                <a:solidFill>
                  <a:srgbClr val="1E40AF"/>
                </a:solidFill>
                <a:latin typeface="Calibri"/>
              </a:rPr>
              <a:t>💡  Gợi ý: xem đồ thị Hình 1.7 bài 1 – giai đoạn 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82880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3200" b="1">
                <a:solidFill>
                  <a:srgbClr val="1E40AF"/>
                </a:solidFill>
                <a:latin typeface="Arial"/>
              </a:rPr>
              <a:t>I. Nhiệt nóng chảy riêng λ (SGK tr.23–24)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960120"/>
            <a:ext cx="11521440" cy="25400"/>
          </a:xfrm>
          <a:prstGeom prst="rect">
            <a:avLst/>
          </a:prstGeom>
          <a:solidFill>
            <a:srgbClr val="BFD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51560"/>
            <a:ext cx="115214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▸  Nhiệt nóng chảy riêng λ: nhiệt lượng để 1 kg chất rắn nóng chảy hoàn toàn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▸  ở nhiệt độ nóng chảy xác định (không thay đổi nhiệt độ)</a:t>
            </a:r>
          </a:p>
          <a:p>
            <a:pPr algn="l">
              <a:spcBef>
                <a:spcPts val="500"/>
              </a:spcBef>
            </a:pPr>
            <a:r>
              <a:rPr sz="2200" b="1" i="0">
                <a:solidFill>
                  <a:srgbClr val="991B1B"/>
                </a:solidFill>
                <a:latin typeface="Calibri"/>
              </a:rPr>
              <a:t>Đơn vị: J/kg</a:t>
            </a:r>
          </a:p>
          <a:p>
            <a:pPr algn="l">
              <a:spcBef>
                <a:spcPts val="800"/>
              </a:spcBef>
            </a:pPr>
            <a:r>
              <a:rPr sz="2100" b="1" i="0">
                <a:solidFill>
                  <a:srgbClr val="1E40AF"/>
                </a:solidFill>
                <a:latin typeface="Calibri"/>
              </a:rPr>
              <a:t>Một số giá trị λ (tra bảng SGK tr.24):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▸  Nước đá: λ = 334 000 J/kg ≈ 334 kJ/kg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▸  Sắt:   λ = 270 000 J/kg  |  Nhôm: λ = 398 000 J/kg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137160"/>
            <a:ext cx="9966960" cy="6583680"/>
          </a:xfrm>
          <a:prstGeom prst="rect">
            <a:avLst/>
          </a:prstGeom>
          <a:solidFill>
            <a:srgbClr val="FFFFFF"/>
          </a:solidFill>
          <a:ln w="19050">
            <a:solidFill>
              <a:srgbClr val="BFD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7432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3200" b="1">
                <a:solidFill>
                  <a:srgbClr val="1E40AF"/>
                </a:solidFill>
                <a:latin typeface="Arial"/>
              </a:rPr>
              <a:t>II. Phương trình nhiệt nóng chảy</a:t>
            </a:r>
          </a:p>
        </p:txBody>
      </p:sp>
      <p:sp>
        <p:nvSpPr>
          <p:cNvPr id="4" name="Rectangle 3"/>
          <p:cNvSpPr/>
          <p:nvPr/>
        </p:nvSpPr>
        <p:spPr>
          <a:xfrm>
            <a:off x="1280160" y="1097280"/>
            <a:ext cx="9601200" cy="2540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137160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2200" b="0" i="0">
                <a:solidFill>
                  <a:srgbClr val="1E293B"/>
                </a:solidFill>
                <a:latin typeface="Calibri"/>
              </a:rPr>
              <a:t>Nhiệt lượng cần để m kg chất nóng chảy hoàn toàn: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14884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3200" b="1" i="0">
                <a:solidFill>
                  <a:srgbClr val="991B1B"/>
                </a:solidFill>
                <a:latin typeface="Calibri"/>
              </a:rPr>
              <a:t>          Q  =  λ · 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92608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2200" b="0" i="0">
                <a:solidFill>
                  <a:srgbClr val="1E293B"/>
                </a:solidFill>
                <a:latin typeface="Calibri"/>
              </a:rPr>
              <a:t>λ [J/kg]: nhiệt nóng chảy riêng (tra bảng)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70332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2200" b="0" i="0">
                <a:solidFill>
                  <a:srgbClr val="1E293B"/>
                </a:solidFill>
                <a:latin typeface="Calibri"/>
              </a:rPr>
              <a:t>m [kg]: khối lượng chất cần nóng chảy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448056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2200" b="0" i="0">
                <a:solidFill>
                  <a:srgbClr val="1E293B"/>
                </a:solidFill>
                <a:latin typeface="Calibri"/>
              </a:rPr>
              <a:t>Q [J]: nhiệt lượng cần cung cấp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5440680"/>
            <a:ext cx="9601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800" b="0" i="1">
                <a:solidFill>
                  <a:srgbClr val="64748B"/>
                </a:solidFill>
                <a:latin typeface="Calibri"/>
              </a:rPr>
              <a:t>📌  Khi đông đặc: chất TỎA ra nhiệt lượng Q = λm (dấu ngược lại)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2011680"/>
            <a:ext cx="9418320" cy="28346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0" y="2286000"/>
            <a:ext cx="8869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3800" b="1">
                <a:solidFill>
                  <a:srgbClr val="FFFFFF"/>
                </a:solidFill>
                <a:latin typeface="Arial"/>
              </a:rPr>
              <a:t>TIẾT 10  –  BÀI TẬP ÁP DỤNG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749039"/>
            <a:ext cx="8869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2200" b="0" i="1">
                <a:solidFill>
                  <a:srgbClr val="BFDBF7"/>
                </a:solidFill>
                <a:latin typeface="Calibri"/>
              </a:rPr>
              <a:t>Tính Q nóng chảy; cân bằng nhiệt có chuyển thể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875520" y="91440"/>
            <a:ext cx="2103120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21240" y="109728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600" b="1" i="0">
                <a:solidFill>
                  <a:srgbClr val="FFFFFF"/>
                </a:solidFill>
                <a:latin typeface="Calibri"/>
              </a:rPr>
              <a:t>ĐỀ BÀI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82880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3000" b="1">
                <a:solidFill>
                  <a:srgbClr val="1E40AF"/>
                </a:solidFill>
                <a:latin typeface="Arial"/>
              </a:rPr>
              <a:t>Ví dụ 1 – Tính nhiệt lượng nóng chảy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005840"/>
            <a:ext cx="115214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Cần bao nhiêu nhiệt lượng để làm tan chảy hoàn toàn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500 g nước đá đang ở 0°C?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Cho λ_đá = 334 000 J/kg.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5943600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8" name="Rectangle 7"/>
          <p:cNvSpPr/>
          <p:nvPr/>
        </p:nvSpPr>
        <p:spPr>
          <a:xfrm>
            <a:off x="320040" y="5897880"/>
            <a:ext cx="11521440" cy="73152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943600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800" b="0" i="1">
                <a:solidFill>
                  <a:srgbClr val="1E40AF"/>
                </a:solidFill>
                <a:latin typeface="Calibri"/>
              </a:rPr>
              <a:t>💡  Đá đang ở 0°C = đúng nhiệt độ nóng chảy → chỉ cần Q = λm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601200" y="91440"/>
            <a:ext cx="2377440" cy="45720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46920" y="109728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600" b="1" i="0">
                <a:solidFill>
                  <a:srgbClr val="FFFFFF"/>
                </a:solidFill>
                <a:latin typeface="Calibri"/>
              </a:rPr>
              <a:t>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82880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3000" b="1">
                <a:solidFill>
                  <a:srgbClr val="991B1B"/>
                </a:solidFill>
                <a:latin typeface="Arial"/>
              </a:rPr>
              <a:t>Ví dụ 1 – Tính nhiệt lượng nóng chảy – Lời giải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005840"/>
            <a:ext cx="11521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3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Tóm tắt:  m = 500 g = 0,5 kg;  λ = 334 000 J/kg</a:t>
            </a:r>
          </a:p>
          <a:p>
            <a:pPr algn="l">
              <a:spcBef>
                <a:spcPts val="3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Áp dụng:  Q = λ·m</a:t>
            </a:r>
          </a:p>
          <a:p>
            <a:pPr algn="l">
              <a:spcBef>
                <a:spcPts val="3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          Q = 334 000 × 0,5 = 167 000 J</a:t>
            </a:r>
          </a:p>
          <a:p>
            <a:pPr algn="l">
              <a:spcBef>
                <a:spcPts val="400"/>
              </a:spcBef>
            </a:pPr>
            <a:r>
              <a:rPr sz="2200" b="1" i="0">
                <a:solidFill>
                  <a:srgbClr val="991B1B"/>
                </a:solidFill>
                <a:latin typeface="Calibri"/>
              </a:rPr>
              <a:t>         Q = 167 000 J = 167 kJ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5760720"/>
            <a:ext cx="11521440" cy="868680"/>
          </a:xfrm>
          <a:prstGeom prst="rect">
            <a:avLst/>
          </a:prstGeom>
          <a:solidFill>
            <a:srgbClr val="FFF1F2"/>
          </a:solidFill>
          <a:ln w="19050">
            <a:solidFill>
              <a:srgbClr val="991B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5806440"/>
            <a:ext cx="111556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2200" b="1" i="0">
                <a:solidFill>
                  <a:srgbClr val="991B1B"/>
                </a:solidFill>
                <a:latin typeface="Calibri"/>
              </a:rPr>
              <a:t>✅  ĐÁP SỐ:  Q = 167 kJ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875520" y="91440"/>
            <a:ext cx="2103120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21240" y="109728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600" b="1" i="0">
                <a:solidFill>
                  <a:srgbClr val="FFFFFF"/>
                </a:solidFill>
                <a:latin typeface="Calibri"/>
              </a:rPr>
              <a:t>ĐỀ BÀI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82880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3000" b="1">
                <a:solidFill>
                  <a:srgbClr val="1E40AF"/>
                </a:solidFill>
                <a:latin typeface="Arial"/>
              </a:rPr>
              <a:t>Ví dụ 2 – Cân bằng nhiệt có chuyển thể (thực tiễn)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005840"/>
            <a:ext cx="115214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Làm lạnh 200 g nước ở 30°C bằng 50 g đá ở 0°C.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Tính nhiệt độ cuối cùng của hỗn hợp.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c_nước = 4200 J/(kg·K);  λ_đá = 334 000 J/kg.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(Kiểm tra xem đá có tan hết không!)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5943600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8" name="Rectangle 7"/>
          <p:cNvSpPr/>
          <p:nvPr/>
        </p:nvSpPr>
        <p:spPr>
          <a:xfrm>
            <a:off x="320040" y="5897880"/>
            <a:ext cx="11521440" cy="73152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943600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800" b="0" i="1">
                <a:solidFill>
                  <a:srgbClr val="1E40AF"/>
                </a:solidFill>
                <a:latin typeface="Calibri"/>
              </a:rPr>
              <a:t>💡  Bước 1: Tính Q_đá_tan_hết; Bước 2: So với Q_nước_toả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601200" y="91440"/>
            <a:ext cx="2377440" cy="45720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46920" y="109728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600" b="1" i="0">
                <a:solidFill>
                  <a:srgbClr val="FFFFFF"/>
                </a:solidFill>
                <a:latin typeface="Calibri"/>
              </a:rPr>
              <a:t>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82880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3000" b="1">
                <a:solidFill>
                  <a:srgbClr val="991B1B"/>
                </a:solidFill>
                <a:latin typeface="Arial"/>
              </a:rPr>
              <a:t>Ví dụ 2 – Cân bằng nhiệt có chuyển thể – Lời giải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005840"/>
            <a:ext cx="11521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3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Q đá tan hết: Q₁ = λ·m_đá = 334000 × 0,05 = 16 700 J</a:t>
            </a:r>
          </a:p>
          <a:p>
            <a:pPr algn="l">
              <a:spcBef>
                <a:spcPts val="3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Q nước toả nếu về 0°C: Q₂ = 0,2 × 4200 × 30 = 25 200 J</a:t>
            </a:r>
          </a:p>
          <a:p>
            <a:pPr algn="l">
              <a:spcBef>
                <a:spcPts val="3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Q₂ &gt; Q₁ → đá tan hết, nước giảm nhiệt độ</a:t>
            </a:r>
          </a:p>
          <a:p>
            <a:pPr algn="l">
              <a:spcBef>
                <a:spcPts val="3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Sau khi đá tan: Q_còn = 25 200 − 16 700 = 8 500 J</a:t>
            </a:r>
          </a:p>
          <a:p>
            <a:pPr algn="l">
              <a:spcBef>
                <a:spcPts val="3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(m_đá + m_nước) = 0,25 kg;  Δt = 8500/(0,25×4200) = 8,1°C</a:t>
            </a:r>
          </a:p>
          <a:p>
            <a:pPr algn="l">
              <a:spcBef>
                <a:spcPts val="400"/>
              </a:spcBef>
            </a:pPr>
            <a:r>
              <a:rPr sz="2200" b="1" i="0">
                <a:solidFill>
                  <a:srgbClr val="991B1B"/>
                </a:solidFill>
                <a:latin typeface="Calibri"/>
              </a:rPr>
              <a:t>t_cb = 30 − 8,1 − (16700/(0,2×4200)) ≈ 11,9°C  (≈ 12°C)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5760720"/>
            <a:ext cx="11521440" cy="868680"/>
          </a:xfrm>
          <a:prstGeom prst="rect">
            <a:avLst/>
          </a:prstGeom>
          <a:solidFill>
            <a:srgbClr val="FFF1F2"/>
          </a:solidFill>
          <a:ln w="19050">
            <a:solidFill>
              <a:srgbClr val="991B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5806440"/>
            <a:ext cx="111556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2200" b="1" i="0">
                <a:solidFill>
                  <a:srgbClr val="991B1B"/>
                </a:solidFill>
                <a:latin typeface="Calibri"/>
              </a:rPr>
              <a:t>✅  ĐÁP SỐ:  t_cb ≈ 12°C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47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3000" b="1">
                <a:solidFill>
                  <a:srgbClr val="1E40AF"/>
                </a:solidFill>
                <a:latin typeface="Arial"/>
              </a:rPr>
              <a:t>SƠ ĐỒ TƯ DUY – BÀI 5. NHIỆT NÓNG CHẢY RIÊNG</a:t>
            </a:r>
          </a:p>
        </p:txBody>
      </p:sp>
      <p:pic>
        <p:nvPicPr>
          <p:cNvPr id="3" name="Picture 2" descr="SoDoTuDuy_VATLY12_Bai5_NhietNongChayRieng_T9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68680"/>
            <a:ext cx="1124712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4000" b="1">
                <a:solidFill>
                  <a:srgbClr val="1E40AF"/>
                </a:solidFill>
                <a:latin typeface="Arial"/>
              </a:rPr>
              <a:t>BÀI TẬP CỦA BẠN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2200" b="0" i="0">
                <a:solidFill>
                  <a:srgbClr val="1E293B"/>
                </a:solidFill>
                <a:latin typeface="Calibri"/>
              </a:rPr>
              <a:t>Bài 5. Nhiệt nóng chảy riêng</a:t>
            </a:r>
          </a:p>
        </p:txBody>
      </p:sp>
      <p:pic>
        <p:nvPicPr>
          <p:cNvPr id="4" name="Picture 3" descr="QR_ly_cc_bai5_k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737360"/>
            <a:ext cx="3931920" cy="3931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94360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800" b="0" i="0">
                <a:solidFill>
                  <a:srgbClr val="1E40AF"/>
                </a:solidFill>
                <a:latin typeface="Calibri"/>
              </a:rPr>
              <a:t>https://trangtu66.github.io/Taode_thi_online/ly_cc_bai5_k12.html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