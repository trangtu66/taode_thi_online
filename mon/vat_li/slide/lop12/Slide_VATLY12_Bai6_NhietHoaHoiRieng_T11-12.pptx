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Chương I: Vật lí nhiệt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6. NHIỆT HOÁ HƠI RIÊNG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000" b="0" i="0">
                <a:solidFill>
                  <a:srgbClr val="1E293B"/>
                </a:solidFill>
                <a:latin typeface="Calibri"/>
              </a:rPr>
              <a:t>Tuần 6  ·  Tiết 11, 12  ·  Số tiết: 2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4748B"/>
                </a:solidFill>
                <a:latin typeface="Calibri"/>
              </a:rPr>
              <a:t>GV: TTT  –  Tổ TOÁN  –  Trường THPT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4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05840"/>
            <a:ext cx="11612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Kiến thức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Nêu khái niệm nhiệt hoá hơi riêng L [J/kg]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Viết và giải thích phương trình Q = Lm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Phân biệt bay hơi và sôi; giải thích bằng mô hình phân tử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Giải bài tập Q hoá hơi; cân bằng nhiệt có hoá hơi</a:t>
            </a:r>
          </a:p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Năng lực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Vận dụng công thức; liên hệ tưới tiêu, điều hòa khí hậu Tây Nguyên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11  –  KHÁI NIỆM &amp; CÔNG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Nhiệt hoá hơi riêng L; phương trình Q = Lm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Hoạt động 1 – Khởi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Vào mùa khô Tây Nguyên, hồ Vĩnh Sơn mất nước rất nhanh.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→ Bay hơi nước xảy ra liên tục từ mặt hồ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Quá trình bay hơi cần năng lượng không?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Đại lượng nào đặc trưng cho 'khả năng bay hơi' của mỗi chất lỏng?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Tại sao nước (100°C, 1 atm) cần nhiều nhiệt hơn chỉ để đun sôi?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Gợi ý: bay hơi = phân tử thoát ra mặt thoáng → phá liên kết → cần NL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I. Nhiệt hoá hơi riêng L (SGK tr.26–27)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Nhiệt hoá hơi riêng L: nhiệt lượng để 1 kg chất lỏng hoá hơi hoàn toàn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ở nhiệt độ sôi xác định (nhiệt độ không đổi)</a:t>
            </a:r>
          </a:p>
          <a:p>
            <a:pPr algn="l">
              <a:spcBef>
                <a:spcPts val="5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Đơn vị: J/kg</a:t>
            </a:r>
          </a:p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Một số giá trị L: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Nước (100°C): L = 2 260 000 J/kg ≈ 2 260 kJ/kg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Rượu ethanol: L ≈ 855 000 J/kg  |  Freon (gas lạnh): L ≈ 158 000 J/kg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37160"/>
            <a:ext cx="9966960" cy="6583680"/>
          </a:xfrm>
          <a:prstGeom prst="rect">
            <a:avLst/>
          </a:prstGeom>
          <a:solidFill>
            <a:srgbClr val="FFFFFF"/>
          </a:solidFill>
          <a:ln w="19050">
            <a:solidFill>
              <a:srgbClr val="BFD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II. Phương trình nhiệt hoá hơi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0" y="1097280"/>
            <a:ext cx="9601200" cy="254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Nhiệt lượng cần để m kg chất lỏng hoá hơi hoàn toàn: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        Q  =  L ·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L [J/kg]: nhiệt hoá hơi riêng (tra bảng)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m [kg]: khối lượng chất cần hoá hơi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4805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Q [J]: nhiệt lượng cần cung cấp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44068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64748B"/>
                </a:solidFill>
                <a:latin typeface="Calibri"/>
              </a:rPr>
              <a:t>📌  Ngưng tụ: chất TỎA ra Q = Lm. L của nước rất lớn → nước là chất tải nhiệt hiệu quả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III. Bay hơi vs Sôi – Phân biệt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Bay hơi: xảy ra ở mặt thoáng, mọi nhiệt độ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Tốc độ bay hơi tăng khi: T cao, gió nhiều, diện tích mặt thoáng lớn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→ Ứng dụng: phơi đồ, làm muối, tưới tiêu hợp lý</a:t>
            </a:r>
          </a:p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Sôi: xảy ra đồng thời ở mặt thoáng VÀ bên trong chất lỏng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Nhiệt độ sôi không đổi (ở áp suất xác định) → dùng để hiệu chuẩn</a:t>
            </a:r>
          </a:p>
          <a:p>
            <a:pPr algn="l">
              <a:spcBef>
                <a:spcPts val="5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Cả hai quá trình đều cần nhiệt lượng Q = Lm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12  –  BÀI TẬP ÁP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Tính Q hoá hơi; bài toán thực tiễn Tây Nguyên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1 – Tính nhiệt lượng hoá hơi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Đun sôi 300 g nước ở 100°C cho đến khi bay hơi hết.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Tính nhiệt lượng cần để hoá hơi hoàn toàn lượng nước đó.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Cho L = 2 260 000 J/kg.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Nước đã ở 100°C (sôi) → chỉ cần Q = Lm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1 – Tính nhiệt lượng hoá hơi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Tóm tắt:  m = 300 g = 0,3 kg;  L = 2 260 000 J/kg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Áp dụng:  Q = L·m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       Q = 2 260 000 × 0,3 = 678 000 J</a:t>
            </a:r>
          </a:p>
          <a:p>
            <a:pPr algn="l">
              <a:spcBef>
                <a:spcPts val="4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         Q = 678 000 J = 678 kJ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Q = 678 kJ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2 – Tổng quá trình: đun nước đá thành hơi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Cần bao nhiêu nhiệt lượng để chuyển 0,1 kg nước đá từ 0°C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thành hơi nước ở 100°C?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c_nước = 4200 J/(kg·K); λ = 334 000 J/kg; L = 2 260 000 J/kg.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Xác định 3 giai đoạn: (1) tan chảy (2) đun nóng (3) hoá hơi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Ba giai đoạn: Q₁ = λm; Q₂ = mcΔt; Q₃ = Lm → Q_tổng = Q₁ + Q₂ + Q₃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2 – Tổng quá trình: đun nước đá thành hơi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m = 0,1 kg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Q₁ (tan chảy 0°C): Q₁ = 334000 × 0,1 = 33 400 J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Q₂ (đun 0°C → 100°C): Q₂ = 0,1 × 4200 × 100 = 42 000 J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Q₃ (hoá hơi 100°C): Q₃ = 2260000 × 0,1 = 226 000 J</a:t>
            </a:r>
          </a:p>
          <a:p>
            <a:pPr algn="l">
              <a:spcBef>
                <a:spcPts val="4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Q_tổng = 33 400 + 42 000 + 226 000 = 301 400 J ≈ 301 kJ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Q_tổng ≈ 301 kJ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SƠ ĐỒ TƯ DUY – BÀI 6. NHIỆT HOÁ HƠI RIÊNG</a:t>
            </a:r>
          </a:p>
        </p:txBody>
      </p:sp>
      <p:pic>
        <p:nvPicPr>
          <p:cNvPr id="3" name="Picture 2" descr="_qr_ly_cc_bai6_k12.ht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 flipV="1">
            <a:off x="2369088" y="1931116"/>
            <a:ext cx="1139769" cy="73984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5091" y="1554093"/>
            <a:ext cx="1773996" cy="754044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Nhiệt lượng cần để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1 kg lỏng →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khí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2283236" y="2558628"/>
            <a:ext cx="1225621" cy="112334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0943" y="2383028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Tại nhiệt độ sôi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151156" y="2670962"/>
            <a:ext cx="1357701" cy="31375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13023" y="2809118"/>
            <a:ext cx="1338132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Đơn vị: J/kg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068606" y="2670962"/>
            <a:ext cx="1440251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95573" y="3235208"/>
            <a:ext cx="1173032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 lớn → khó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bay hơi</a:t>
            </a:r>
          </a:p>
        </p:txBody>
      </p:sp>
      <p:sp>
        <p:nvSpPr>
          <p:cNvPr id="13" name="Oval 12"/>
          <p:cNvSpPr/>
          <p:nvPr/>
        </p:nvSpPr>
        <p:spPr>
          <a:xfrm>
            <a:off x="2562423" y="2259078"/>
            <a:ext cx="1892868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Định nghĩa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L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1729694"/>
            <a:ext cx="1635069" cy="941268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846283" y="1554093"/>
            <a:ext cx="78339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Q = Lm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211214" y="2256495"/>
            <a:ext cx="1483177" cy="41446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694391" y="1980183"/>
            <a:ext cx="1087180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 &gt; 0: hoá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hơi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397325" cy="213045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08539" y="2607696"/>
            <a:ext cx="1258884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 &lt; 0: ngưng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tụ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211214" y="2670962"/>
            <a:ext cx="1268547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79761" y="3235208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 không đổi khi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sôi</a:t>
            </a:r>
          </a:p>
        </p:txBody>
      </p:sp>
      <p:sp>
        <p:nvSpPr>
          <p:cNvPr id="23" name="Oval 22"/>
          <p:cNvSpPr/>
          <p:nvPr/>
        </p:nvSpPr>
        <p:spPr>
          <a:xfrm>
            <a:off x="5334121" y="2427575"/>
            <a:ext cx="1754184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Công thức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2369088" y="4297329"/>
            <a:ext cx="1139769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95091" y="4021018"/>
            <a:ext cx="1773996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Nước: L = 2,26×10⁶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J/kg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2326162" y="4924841"/>
            <a:ext cx="1182695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38017" y="4648530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Cồn: L = 8,55×10⁵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J/kg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326162" y="5238597"/>
            <a:ext cx="1182695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38017" y="5276042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Ete: L = 3,51×10⁵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J/kg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197384" y="5238597"/>
            <a:ext cx="1311473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66795" y="5903554"/>
            <a:ext cx="1430588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Thủy ngân: L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2,72×10⁵ J/kg</a:t>
            </a:r>
          </a:p>
        </p:txBody>
      </p:sp>
      <p:sp>
        <p:nvSpPr>
          <p:cNvPr id="33" name="Oval 32"/>
          <p:cNvSpPr/>
          <p:nvPr/>
        </p:nvSpPr>
        <p:spPr>
          <a:xfrm>
            <a:off x="2631765" y="4826713"/>
            <a:ext cx="1754184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Bảng L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một số chất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211214" y="4398040"/>
            <a:ext cx="1311473" cy="84055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22687" y="4121729"/>
            <a:ext cx="1430588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Mồ hôi làm mát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cơ thể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6211214" y="4924841"/>
            <a:ext cx="1053917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265131" y="4749241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Lò hơi, turbine điện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211214" y="5238597"/>
            <a:ext cx="1139769" cy="213045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350983" y="5175331"/>
            <a:ext cx="1773996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Tưới cây buổi sáng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mát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211214" y="5238597"/>
            <a:ext cx="1311473" cy="84055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522687" y="5802843"/>
            <a:ext cx="1430588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Nước có L rất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lớn → khí hậu</a:t>
            </a:r>
          </a:p>
        </p:txBody>
      </p:sp>
      <p:sp>
        <p:nvSpPr>
          <p:cNvPr id="43" name="Oval 42"/>
          <p:cNvSpPr/>
          <p:nvPr/>
        </p:nvSpPr>
        <p:spPr>
          <a:xfrm>
            <a:off x="5403463" y="4995210"/>
            <a:ext cx="1615500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Ứng dụng</a:t>
            </a:r>
          </a:p>
        </p:txBody>
      </p:sp>
      <p:sp>
        <p:nvSpPr>
          <p:cNvPr id="44" name="Oval 43"/>
          <p:cNvSpPr/>
          <p:nvPr/>
        </p:nvSpPr>
        <p:spPr>
          <a:xfrm>
            <a:off x="3724066" y="3484793"/>
            <a:ext cx="2271938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NHIỆT HOÁ HƠI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RIÊNG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Bài 6. Nhiệt hoá hơi riêng</a:t>
            </a:r>
          </a:p>
        </p:txBody>
      </p:sp>
      <p:pic>
        <p:nvPicPr>
          <p:cNvPr id="4" name="Picture 3" descr="QR_ly_cc_bai6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393192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800" b="0" i="0">
                <a:solidFill>
                  <a:srgbClr val="1E40AF"/>
                </a:solidFill>
                <a:latin typeface="Calibri"/>
              </a:rPr>
              <a:t>https://trangtu66.github.io/Taode_thi_online/ly_cc_bai6_k12.html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