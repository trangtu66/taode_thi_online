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Chương I: Vật lí nhiệt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2. NỘI NĂNG. ĐỊNH LUẬT I NHIỆT ĐỘNG LỰC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0" i="0">
                <a:solidFill>
                  <a:srgbClr val="1E293B"/>
                </a:solidFill>
                <a:latin typeface="Calibri"/>
              </a:rPr>
              <a:t>Tuần 2  ·  Tiết 3, 4  ·  Số tiết: 2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64748B"/>
                </a:solidFill>
                <a:latin typeface="Calibri"/>
              </a:rPr>
              <a:t>GV: TTT  –  Tổ TOÁN  –  Trường THPT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4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Kiến thức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Nêu khái niệm nội năng U; U phụ thuộc T và thể tích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Trình bày 2 cách thay đổi nội năng: thực hiện công, truyền nhiệt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Phát biểu và viết Định luật I Nhiệt động lực học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Áp dụng ΔU = A + Q để giải bài tập cơ bản</a:t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Năng lực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Suy luận logic từ mô hình PT; vận dụng bảo toàn năng lượng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3  –  NỘI NĂNG &amp; CÁCH THAY ĐỔI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Khái niệm nội năng; thực hiện công; truyền nhiệt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Hoạt động 1 – Khởi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Thí nghiệm: bơm lốp xe đạp thật nhanh bằng bơm tay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→ đáy bơm và van lốp nóng lên rõ rệt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Năng lượng từ đâu làm không khí nóng lên?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Có cách nào khác làm không khí nóng lên không?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(Thảo luận: thực hiện công ≈ truyền nhiệt?)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Gợi ý: bàn tay xoa vào nhau cũng nóng lên – năng lượng cơ → nhiệt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I. Nội năng của hệ nhiệt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Nội năng U = Tổng (động năng + thế năng) của mọi phân tử trong vật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U phụ thuộc vào: nhiệt độ T và thể tích V (cấu hình phân tử)</a:t>
            </a:r>
          </a:p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Độ biến thiên nội năng ΔU: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ΔU &gt; 0: vật nhận năng lượng  ↑  (nội năng tăng)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ΔU &lt; 0: vật mất năng lượng   ↓  (nội năng giảm)</a:t>
            </a:r>
          </a:p>
          <a:p>
            <a:pPr algn="l">
              <a:spcBef>
                <a:spcPts val="5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Đơn vị nội năng: Joule (J)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II. Hai cách thay đổi nội năng (SGK tr.11–12)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Cách 1: Thực hiện công (A)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Nén khí → phân tử bị dồn gần hơn → U tăng (Hình 2.2)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A &gt; 0: hệ nhận công (ngoại lực tác dụng lên hệ)</a:t>
            </a:r>
          </a:p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Cách 2: Truyền nhiệt (Q)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Đốt nóng → phân tử nhận NL → dao động mạnh hơn → U tăng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Q &gt; 0: hệ nhận nhiệt  |  Q &lt; 0: hệ toả nhiệt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"/>
            <a:ext cx="9966960" cy="6583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III. Định luật I Nhiệt động lực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097280"/>
            <a:ext cx="9601200" cy="254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Độ biến thiên nội năng của hệ bằng tổng công và nhiệt lượng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mà hệ nhận được: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        ΔU  =  A  +  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A &gt; 0: hệ nhận công  |  A &lt; 0: hệ thực hiện công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4805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Q &gt; 0: hệ nhận nhiệt  |  Q &lt; 0: hệ toả nhiệt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4406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64748B"/>
                </a:solidFill>
                <a:latin typeface="Calibri"/>
              </a:rPr>
              <a:t>📌  Bảo toàn năng lượng áp dụng cho hệ nhiệt động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4  –  ÁP DỤNG ĐỊNH LUẬT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Bài toán đơn giản + luyện tập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1 – Áp dụng Định luật I NĐLH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Người ta thực hiện công 200 J lên một lượng khí đồng thời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khí toả ra nhiệt lượng 50 J.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Tính độ biến thiên nội năng của khí.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Nội năng của khí tăng hay giảm?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Xác định dấu A, Q trước khi tính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1 – Áp dụng Định luật I NĐLH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Tóm tắt:  A = +200 J (hệ nhận công)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       Q = −50 J (hệ toả nhiệt)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Áp dụng:  ΔU = A + Q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       ΔU = 200 + (−50) = 150 J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ΔU = +150 J &gt; 0  →  nội năng khí TĂNG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ΔU = +150 J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2 – Phân tích dấu A, 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Phân tích các quá trình sau và xác định dấu A, Q, ΔU: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Bơm tay nén không khí nhanh (lốp xe nóng lên)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Nước đá tan chảy trong bình cách nhiệt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c) Động cơ đốt trong: khí giãn nở đẩy pít-tông ra ngoài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đồng thời toả nhiệt ra thành xi-lanh (Q = −300 J, A = −500 J)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Dùng bảng: viết A, Q rồi tính ΔU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2 – Phân tích dấu A, Q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Bơm nhanh: A &gt; 0 (nhận công), Q ≈ 0 → ΔU &gt; 0 (nóng lên)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Tan trong bình cách nhiệt: Q = 0, A = 0 → ΔU = 0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(nhiệt độ giảm, nhưng thế năng PT tăng → U không đổi)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c) ΔU = A + Q = (−500) + (−300) = −800 J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ΔU &lt; 0: nội năng khí giảm (khí đã sinh công và toả nhiệt)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(c) ΔU = −800 J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SƠ ĐỒ TƯ DUY – BÀI 2. NỘI NĂNG. ĐỊNH LUẬT I NĐLH</a:t>
            </a:r>
          </a:p>
        </p:txBody>
      </p:sp>
      <p:pic>
        <p:nvPicPr>
          <p:cNvPr id="3" name="Picture 2" descr="_qr_ly_cc_bai2_k12.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 flipV="1">
            <a:off x="2068606" y="1628983"/>
            <a:ext cx="1440251" cy="1041979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95573" y="1352671"/>
            <a:ext cx="1173032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U = Σ(ĐN +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TN phân tử)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2154458" y="2256495"/>
            <a:ext cx="1354399" cy="41446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09721" y="1980184"/>
            <a:ext cx="1344736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U phụ thuộc 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và V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382296" y="2670962"/>
            <a:ext cx="1126561" cy="21304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1883" y="2607696"/>
            <a:ext cx="1800412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ΔU: độ biến thiên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nội năng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111532" y="2670962"/>
            <a:ext cx="1397325" cy="941268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2647" y="3235208"/>
            <a:ext cx="1258884" cy="754044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ΔU &gt; 0: nhận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NL; ΔU &lt; 0: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mất NL</a:t>
            </a:r>
          </a:p>
        </p:txBody>
      </p:sp>
      <p:sp>
        <p:nvSpPr>
          <p:cNvPr id="13" name="Oval 12"/>
          <p:cNvSpPr/>
          <p:nvPr/>
        </p:nvSpPr>
        <p:spPr>
          <a:xfrm>
            <a:off x="2701107" y="2427575"/>
            <a:ext cx="1615500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① Nội năng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1830405"/>
            <a:ext cx="1225621" cy="84055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36835" y="1654804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Thực hiện công A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211214" y="2256495"/>
            <a:ext cx="1311473" cy="41446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22687" y="2080894"/>
            <a:ext cx="1430588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Truyền nhiệt Q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182695" cy="11233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93909" y="2506985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Nhiệt lượng Q: đo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bằng J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1214" y="2670962"/>
            <a:ext cx="1096843" cy="73984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08057" y="3134497"/>
            <a:ext cx="1859848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Nhiệt lượng ≠ nhiệt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độ</a:t>
            </a:r>
          </a:p>
        </p:txBody>
      </p:sp>
      <p:sp>
        <p:nvSpPr>
          <p:cNvPr id="23" name="Oval 22"/>
          <p:cNvSpPr/>
          <p:nvPr/>
        </p:nvSpPr>
        <p:spPr>
          <a:xfrm>
            <a:off x="5264779" y="2090581"/>
            <a:ext cx="1892868" cy="1160762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② Hai cách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thay đổi nội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năng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966244" y="4398040"/>
            <a:ext cx="1542613" cy="84055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97935" y="4121729"/>
            <a:ext cx="968308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ΔU = A +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Q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1982754" y="5025552"/>
            <a:ext cx="1526103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81425" y="4749241"/>
            <a:ext cx="1001328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 &gt; 0: hệ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nhận công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025680" y="5238597"/>
            <a:ext cx="1483177" cy="41446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38499" y="5376753"/>
            <a:ext cx="1087180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 &gt; 0: hệ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nhận nhiệt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2412014" y="5238597"/>
            <a:ext cx="1096843" cy="941268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52165" y="6004265"/>
            <a:ext cx="1859848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Bảo toàn năng lượng</a:t>
            </a:r>
          </a:p>
        </p:txBody>
      </p:sp>
      <p:sp>
        <p:nvSpPr>
          <p:cNvPr id="33" name="Oval 32"/>
          <p:cNvSpPr/>
          <p:nvPr/>
        </p:nvSpPr>
        <p:spPr>
          <a:xfrm>
            <a:off x="2631765" y="4826713"/>
            <a:ext cx="1754184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③ Định luật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I NĐLH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211214" y="4398040"/>
            <a:ext cx="1225621" cy="840557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436835" y="4021018"/>
            <a:ext cx="1602292" cy="754044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Động cơ nhiệt: 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&lt; 0, Q &gt;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6211214" y="5126263"/>
            <a:ext cx="1225621" cy="11233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436835" y="4849952"/>
            <a:ext cx="1602292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Bơm tay nén khí: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 &gt; 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211214" y="5238597"/>
            <a:ext cx="1354399" cy="515178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565613" y="5477464"/>
            <a:ext cx="1344736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Máy lạnh: Q &lt;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0 (tỏa nhiệt)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11214" y="5238597"/>
            <a:ext cx="1080333" cy="1041979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291547" y="6104976"/>
            <a:ext cx="1892868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Xiclanh – pít tông</a:t>
            </a:r>
          </a:p>
        </p:txBody>
      </p:sp>
      <p:sp>
        <p:nvSpPr>
          <p:cNvPr id="43" name="Oval 42"/>
          <p:cNvSpPr/>
          <p:nvPr/>
        </p:nvSpPr>
        <p:spPr>
          <a:xfrm>
            <a:off x="5403463" y="4826713"/>
            <a:ext cx="1615500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④ Ứng dụng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ĐL I NĐLH</a:t>
            </a:r>
          </a:p>
        </p:txBody>
      </p:sp>
      <p:sp>
        <p:nvSpPr>
          <p:cNvPr id="44" name="Oval 43"/>
          <p:cNvSpPr/>
          <p:nvPr/>
        </p:nvSpPr>
        <p:spPr>
          <a:xfrm>
            <a:off x="3645479" y="3287245"/>
            <a:ext cx="2429113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NỘI NĂNG. ĐỊNH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LUẬT I NHIỆT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ĐỘNG LỰC HỌC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Bài 2. Nội năng. Định luật I NĐLH</a:t>
            </a:r>
          </a:p>
        </p:txBody>
      </p:sp>
      <p:pic>
        <p:nvPicPr>
          <p:cNvPr id="4" name="Picture 3" descr="QR_ly_cc_bai2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3736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800" b="0" i="0">
                <a:solidFill>
                  <a:srgbClr val="1E40AF"/>
                </a:solidFill>
                <a:latin typeface="Calibri"/>
              </a:rPr>
              <a:t>https://trangtu66.github.io/Taode_thi_online/ly_cc_bai2_k12.html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