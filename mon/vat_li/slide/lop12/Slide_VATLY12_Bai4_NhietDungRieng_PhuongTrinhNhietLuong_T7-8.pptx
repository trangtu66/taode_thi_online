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800" b="0" i="1">
                <a:solidFill>
                  <a:srgbClr val="1E40AF"/>
                </a:solidFill>
                <a:latin typeface="Calibri"/>
              </a:rPr>
              <a:t>Chương I: Vật lí nhiệt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4000" b="1">
                <a:solidFill>
                  <a:srgbClr val="1E40AF"/>
                </a:solidFill>
                <a:latin typeface="Arial"/>
              </a:rPr>
              <a:t>BÀI 4. NHIỆT DUNG RIÊNG. PHƯƠNG TRÌNH NHIỆT LƯỢNG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000" b="0" i="0">
                <a:solidFill>
                  <a:srgbClr val="1E293B"/>
                </a:solidFill>
                <a:latin typeface="Calibri"/>
              </a:rPr>
              <a:t>Tuần 4  ·  Tiết 7, 8  ·  Số tiết: 2</a:t>
            </a:r>
          </a:p>
          <a:p>
            <a:pPr algn="l">
              <a:spcBef>
                <a:spcPts val="600"/>
              </a:spcBef>
            </a:pPr>
            <a:r>
              <a:rPr sz="1600" b="0" i="0">
                <a:solidFill>
                  <a:srgbClr val="64748B"/>
                </a:solidFill>
                <a:latin typeface="Calibri"/>
              </a:rPr>
              <a:t>GV: TRƯƠNG TỬ TRANG  –  Tổ TOÁN  –  Trường THPT Vĩnh Thạnh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34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005840"/>
            <a:ext cx="116128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800"/>
              </a:spcBef>
            </a:pPr>
            <a:r>
              <a:rPr sz="2000" b="1" i="0">
                <a:solidFill>
                  <a:srgbClr val="1E40AF"/>
                </a:solidFill>
                <a:latin typeface="Calibri"/>
              </a:rPr>
              <a:t>Kiến thức</a:t>
            </a:r>
          </a:p>
          <a:p>
            <a:pPr algn="l">
              <a:spcBef>
                <a:spcPts val="300"/>
              </a:spcBef>
            </a:pPr>
            <a:r>
              <a:rPr sz="1900" b="0" i="0">
                <a:solidFill>
                  <a:srgbClr val="1E293B"/>
                </a:solidFill>
                <a:latin typeface="Calibri"/>
              </a:rPr>
              <a:t>  ✔  Nêu khái niệm nhiệt dung riêng c [J/(kg·K)]</a:t>
            </a:r>
          </a:p>
          <a:p>
            <a:pPr algn="l">
              <a:spcBef>
                <a:spcPts val="300"/>
              </a:spcBef>
            </a:pPr>
            <a:r>
              <a:rPr sz="1900" b="0" i="0">
                <a:solidFill>
                  <a:srgbClr val="1E293B"/>
                </a:solidFill>
                <a:latin typeface="Calibri"/>
              </a:rPr>
              <a:t>  ✔  Viết và giải thích phương trình Q = mcΔt</a:t>
            </a:r>
          </a:p>
          <a:p>
            <a:pPr algn="l">
              <a:spcBef>
                <a:spcPts val="300"/>
              </a:spcBef>
            </a:pPr>
            <a:r>
              <a:rPr sz="1900" b="0" i="0">
                <a:solidFill>
                  <a:srgbClr val="1E293B"/>
                </a:solidFill>
                <a:latin typeface="Calibri"/>
              </a:rPr>
              <a:t>  ✔  Phát biểu và viết phương trình cân bằng nhiệt</a:t>
            </a:r>
          </a:p>
          <a:p>
            <a:pPr algn="l">
              <a:spcBef>
                <a:spcPts val="300"/>
              </a:spcBef>
            </a:pPr>
            <a:r>
              <a:rPr sz="1900" b="0" i="0">
                <a:solidFill>
                  <a:srgbClr val="1E293B"/>
                </a:solidFill>
                <a:latin typeface="Calibri"/>
              </a:rPr>
              <a:t>  ✔  Giải bài tập tính Q, m, c, Δt trong trao đổi nhiệt</a:t>
            </a:r>
          </a:p>
          <a:p>
            <a:pPr algn="l">
              <a:spcBef>
                <a:spcPts val="800"/>
              </a:spcBef>
            </a:pPr>
            <a:r>
              <a:rPr sz="2000" b="1" i="0">
                <a:solidFill>
                  <a:srgbClr val="1E40AF"/>
                </a:solidFill>
                <a:latin typeface="Calibri"/>
              </a:rPr>
              <a:t>Năng lực</a:t>
            </a:r>
          </a:p>
          <a:p>
            <a:pPr algn="l">
              <a:spcBef>
                <a:spcPts val="300"/>
              </a:spcBef>
            </a:pPr>
            <a:r>
              <a:rPr sz="1900" b="0" i="0">
                <a:solidFill>
                  <a:srgbClr val="1E293B"/>
                </a:solidFill>
                <a:latin typeface="Calibri"/>
              </a:rPr>
              <a:t>  ✔  Tính toán, vận dụng PTCBN; tra bảng nhiệt dung riêng; hỏi AI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011680"/>
            <a:ext cx="9418320" cy="2834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0" y="2286000"/>
            <a:ext cx="8869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3800" b="1">
                <a:solidFill>
                  <a:srgbClr val="FFFFFF"/>
                </a:solidFill>
                <a:latin typeface="Arial"/>
              </a:rPr>
              <a:t>TIẾT 7  –  NHIỆT DUNG RIÊNG &amp; NHIỆT LƯỢNG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3749039"/>
            <a:ext cx="8869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200" b="0" i="1">
                <a:solidFill>
                  <a:srgbClr val="BFDBF7"/>
                </a:solidFill>
                <a:latin typeface="Calibri"/>
              </a:rPr>
              <a:t>Khái niệm; phương trình Q = mcΔt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875520" y="91440"/>
            <a:ext cx="2103120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21240" y="109728"/>
            <a:ext cx="2011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1600" b="1" i="0">
                <a:solidFill>
                  <a:srgbClr val="FFFFFF"/>
                </a:solidFill>
                <a:latin typeface="Calibri"/>
              </a:rPr>
              <a:t>ĐỀ BÀI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116128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3000" b="1">
                <a:solidFill>
                  <a:srgbClr val="1E40AF"/>
                </a:solidFill>
                <a:latin typeface="Arial"/>
              </a:rPr>
              <a:t>Hoạt động 1 – Khởi động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005840"/>
            <a:ext cx="115214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Thí nghiệm: đun nóng 1 kg nước và 1 kg dầu ăn với cùng bếp điện.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→ Dầu ăn nóng lên nhanh hơn nước rõ rệt.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❓  Hai chất nhận cùng nhiệt lượng nhưng nhiệt độ tăng khác nhau?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❓  Đại lượng nào đặc trưng cho 'khả năng hấp thu nhiệt' của mỗi chất?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5943600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8" name="Rectangle 7"/>
          <p:cNvSpPr/>
          <p:nvPr/>
        </p:nvSpPr>
        <p:spPr>
          <a:xfrm>
            <a:off x="320040" y="5897880"/>
            <a:ext cx="11521440" cy="73152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943600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800" b="0" i="1">
                <a:solidFill>
                  <a:srgbClr val="1E40AF"/>
                </a:solidFill>
                <a:latin typeface="Calibri"/>
              </a:rPr>
              <a:t>💡  Gợi ý: đại lượng đó phụ thuộc vào bản chất của chất – không phụ thuộc khối lượng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116128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I. Nhiệt dung riêng (SGK tr.20–21)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960120"/>
            <a:ext cx="11521440" cy="25400"/>
          </a:xfrm>
          <a:prstGeom prst="rect">
            <a:avLst/>
          </a:prstGeom>
          <a:solidFill>
            <a:srgbClr val="BFD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051560"/>
            <a:ext cx="11521440" cy="557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▸  Nhiệt dung riêng c: nhiệt lượng cần truyền cho 1 kg chất để tăng 1°C (1 K)</a:t>
            </a:r>
          </a:p>
          <a:p>
            <a:pPr algn="l">
              <a:spcBef>
                <a:spcPts val="500"/>
              </a:spcBef>
            </a:pPr>
            <a:r>
              <a:rPr sz="2200" b="1" i="0">
                <a:solidFill>
                  <a:srgbClr val="991B1B"/>
                </a:solidFill>
                <a:latin typeface="Calibri"/>
              </a:rPr>
              <a:t>Đơn vị: J/(kg·K)  hoặc  J/(kg·°C)</a:t>
            </a:r>
          </a:p>
          <a:p>
            <a:pPr algn="l">
              <a:spcBef>
                <a:spcPts val="800"/>
              </a:spcBef>
            </a:pPr>
            <a:r>
              <a:rPr sz="2100" b="1" i="0">
                <a:solidFill>
                  <a:srgbClr val="1E40AF"/>
                </a:solidFill>
                <a:latin typeface="Calibri"/>
              </a:rPr>
              <a:t>Một số giá trị thường gặp (tra bảng SGK tr.21):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▸  Nước: c = 4 200 J/(kg·K)   |   Nhôm: c = 880 J/(kg·K)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▸  Sắt:  c = 460 J/(kg·K)    |   Đồng: c = 380 J/(kg·K)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▸  Dầu ăn: c ≈ 1 700 J/(kg·K)  |  Không khí: c ≈ 1 005 J/(kg·K)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7280" y="137160"/>
            <a:ext cx="9966960" cy="6583680"/>
          </a:xfrm>
          <a:prstGeom prst="rect">
            <a:avLst/>
          </a:prstGeom>
          <a:solidFill>
            <a:srgbClr val="FFFFFF"/>
          </a:solidFill>
          <a:ln w="19050">
            <a:solidFill>
              <a:srgbClr val="BFDB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74320"/>
            <a:ext cx="9601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II. Phương trình nhiệt lượng</a:t>
            </a:r>
          </a:p>
        </p:txBody>
      </p:sp>
      <p:sp>
        <p:nvSpPr>
          <p:cNvPr id="4" name="Rectangle 3"/>
          <p:cNvSpPr/>
          <p:nvPr/>
        </p:nvSpPr>
        <p:spPr>
          <a:xfrm>
            <a:off x="1280160" y="1097280"/>
            <a:ext cx="9601200" cy="2540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137160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200" b="0" i="0">
                <a:solidFill>
                  <a:srgbClr val="1E293B"/>
                </a:solidFill>
                <a:latin typeface="Calibri"/>
              </a:rPr>
              <a:t>Nhiệt lượng Q vật thu vào (hoặc toả ra) khi thay đổi nhiệt độ: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14884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3200" b="1" i="0">
                <a:solidFill>
                  <a:srgbClr val="991B1B"/>
                </a:solidFill>
                <a:latin typeface="Calibri"/>
              </a:rPr>
              <a:t>          Q  =  m · c · Δt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92608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200" b="0" i="0">
                <a:solidFill>
                  <a:srgbClr val="1E293B"/>
                </a:solidFill>
                <a:latin typeface="Calibri"/>
              </a:rPr>
              <a:t>m [kg]: khối lượng vật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370332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200" b="0" i="0">
                <a:solidFill>
                  <a:srgbClr val="1E293B"/>
                </a:solidFill>
                <a:latin typeface="Calibri"/>
              </a:rPr>
              <a:t>c [J/(kg·K)]: nhiệt dung riêng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44805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200" b="0" i="0">
                <a:solidFill>
                  <a:srgbClr val="1E293B"/>
                </a:solidFill>
                <a:latin typeface="Calibri"/>
              </a:rPr>
              <a:t>Δt = t₂ − t₁ [°C hoặc K]: độ thay đổi nhiệt độ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440680"/>
            <a:ext cx="9601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800" b="0" i="1">
                <a:solidFill>
                  <a:srgbClr val="64748B"/>
                </a:solidFill>
                <a:latin typeface="Calibri"/>
              </a:rPr>
              <a:t>📌  Q &gt; 0: vật thu nhiệt (t₂ &gt; t₁)  |  Q &lt; 0: vật toả nhiệt (t₂ &lt; t₁)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011680"/>
            <a:ext cx="9418320" cy="2834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0" y="2286000"/>
            <a:ext cx="8869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3800" b="1">
                <a:solidFill>
                  <a:srgbClr val="FFFFFF"/>
                </a:solidFill>
                <a:latin typeface="Arial"/>
              </a:rPr>
              <a:t>TIẾT 8  –  CÂN BẰNG NHIỆT &amp; BÀI TẬP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3749039"/>
            <a:ext cx="8869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200" b="0" i="1">
                <a:solidFill>
                  <a:srgbClr val="BFDBF7"/>
                </a:solidFill>
                <a:latin typeface="Calibri"/>
              </a:rPr>
              <a:t>Phương trình cân bằng nhiệt; luyện tập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7280" y="137160"/>
            <a:ext cx="9966960" cy="6583680"/>
          </a:xfrm>
          <a:prstGeom prst="rect">
            <a:avLst/>
          </a:prstGeom>
          <a:solidFill>
            <a:srgbClr val="FFFFFF"/>
          </a:solidFill>
          <a:ln w="19050">
            <a:solidFill>
              <a:srgbClr val="BFDB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74320"/>
            <a:ext cx="9601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III. Phương trình cân bằng nhiệt</a:t>
            </a:r>
          </a:p>
        </p:txBody>
      </p:sp>
      <p:sp>
        <p:nvSpPr>
          <p:cNvPr id="4" name="Rectangle 3"/>
          <p:cNvSpPr/>
          <p:nvPr/>
        </p:nvSpPr>
        <p:spPr>
          <a:xfrm>
            <a:off x="1280160" y="1097280"/>
            <a:ext cx="9601200" cy="2540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137160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200" b="0" i="0">
                <a:solidFill>
                  <a:srgbClr val="1E293B"/>
                </a:solidFill>
                <a:latin typeface="Calibri"/>
              </a:rPr>
              <a:t>Khi hai vật trao đổi nhiệt với nhau (không mất ra ngoài):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14884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200" b="0" i="0">
                <a:solidFill>
                  <a:srgbClr val="1E293B"/>
                </a:solidFill>
                <a:latin typeface="Calibri"/>
              </a:rPr>
              <a:t>  Nhiệt lượng vật nóng toả ra = Nhiệt lượng vật lạnh thu vào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92608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3200" b="1" i="0">
                <a:solidFill>
                  <a:srgbClr val="991B1B"/>
                </a:solidFill>
                <a:latin typeface="Calibri"/>
              </a:rPr>
              <a:t>  Q_toả  =  Q_thu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370332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3200" b="1" i="0">
                <a:solidFill>
                  <a:srgbClr val="991B1B"/>
                </a:solidFill>
                <a:latin typeface="Calibri"/>
              </a:rPr>
              <a:t>  m₁ · c₁ · |t₁ − t_cb|  =  m₂ · c₂ · |t_cb − t₂|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44805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200" b="0" i="0">
                <a:solidFill>
                  <a:srgbClr val="1E293B"/>
                </a:solidFill>
                <a:latin typeface="Calibri"/>
              </a:rPr>
              <a:t>t₁ &gt; t_cb &gt; t₂  (t_cb: nhiệt độ cân bằng)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440680"/>
            <a:ext cx="9601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800" b="0" i="1">
                <a:solidFill>
                  <a:srgbClr val="64748B"/>
                </a:solidFill>
                <a:latin typeface="Calibri"/>
              </a:rPr>
              <a:t>📌  Lưu ý: dùng giá trị tuyệt đối, hoặc viết rõ 'toả' vs 'thu'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875520" y="91440"/>
            <a:ext cx="2103120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21240" y="109728"/>
            <a:ext cx="2011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1600" b="1" i="0">
                <a:solidFill>
                  <a:srgbClr val="FFFFFF"/>
                </a:solidFill>
                <a:latin typeface="Calibri"/>
              </a:rPr>
              <a:t>ĐỀ BÀI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116128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3000" b="1">
                <a:solidFill>
                  <a:srgbClr val="1E40AF"/>
                </a:solidFill>
                <a:latin typeface="Arial"/>
              </a:rPr>
              <a:t>Ví dụ 1 – Tính nhiệt lượng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005840"/>
            <a:ext cx="115214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Đun nóng 2 kg nước từ 25°C đến 100°C.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Cho biết nhiệt dung riêng của nước: c = 4200 J/(kg·K).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Tính nhiệt lượng cần cung cấp cho nước.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5943600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8" name="Rectangle 7"/>
          <p:cNvSpPr/>
          <p:nvPr/>
        </p:nvSpPr>
        <p:spPr>
          <a:xfrm>
            <a:off x="320040" y="5897880"/>
            <a:ext cx="11521440" cy="73152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943600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800" b="0" i="1">
                <a:solidFill>
                  <a:srgbClr val="1E40AF"/>
                </a:solidFill>
                <a:latin typeface="Calibri"/>
              </a:rPr>
              <a:t>💡  Δt = t₂ − t₁; áp dụng Q = mcΔt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601200" y="91440"/>
            <a:ext cx="2377440" cy="45720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46920" y="109728"/>
            <a:ext cx="2286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1600" b="1" i="0">
                <a:solidFill>
                  <a:srgbClr val="FFFFFF"/>
                </a:solidFill>
                <a:latin typeface="Calibri"/>
              </a:rPr>
              <a:t>LỜI GIẢI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116128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3000" b="1">
                <a:solidFill>
                  <a:srgbClr val="991B1B"/>
                </a:solidFill>
                <a:latin typeface="Arial"/>
              </a:rPr>
              <a:t>Ví dụ 1 – Tính nhiệt lượng – Lời giải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005840"/>
            <a:ext cx="11521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3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Tóm tắt:  m = 2 kg;  t₁ = 25°C;  t₂ = 100°C;  c = 4200 J/(kg·K)</a:t>
            </a:r>
          </a:p>
          <a:p>
            <a:pPr algn="l">
              <a:spcBef>
                <a:spcPts val="3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Δt = t₂ − t₁ = 100 − 25 = 75°C</a:t>
            </a:r>
          </a:p>
          <a:p>
            <a:pPr algn="l">
              <a:spcBef>
                <a:spcPts val="3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Áp dụng:  Q = m·c·Δt</a:t>
            </a:r>
          </a:p>
          <a:p>
            <a:pPr algn="l">
              <a:spcBef>
                <a:spcPts val="3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          Q = 2 × 4200 × 75 = 630 000 J</a:t>
            </a:r>
          </a:p>
          <a:p>
            <a:pPr algn="l">
              <a:spcBef>
                <a:spcPts val="400"/>
              </a:spcBef>
            </a:pPr>
            <a:r>
              <a:rPr sz="2200" b="1" i="0">
                <a:solidFill>
                  <a:srgbClr val="991B1B"/>
                </a:solidFill>
                <a:latin typeface="Calibri"/>
              </a:rPr>
              <a:t>         Q = 630 000 J = 630 kJ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760720"/>
            <a:ext cx="11521440" cy="868680"/>
          </a:xfrm>
          <a:prstGeom prst="rect">
            <a:avLst/>
          </a:prstGeom>
          <a:solidFill>
            <a:srgbClr val="FFF1F2"/>
          </a:solidFill>
          <a:ln w="19050">
            <a:solidFill>
              <a:srgbClr val="991B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806440"/>
            <a:ext cx="11155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200" b="1" i="0">
                <a:solidFill>
                  <a:srgbClr val="991B1B"/>
                </a:solidFill>
                <a:latin typeface="Calibri"/>
              </a:rPr>
              <a:t>✅  ĐÁP SỐ:  Q = 630 kJ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875520" y="91440"/>
            <a:ext cx="2103120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21240" y="109728"/>
            <a:ext cx="2011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1600" b="1" i="0">
                <a:solidFill>
                  <a:srgbClr val="FFFFFF"/>
                </a:solidFill>
                <a:latin typeface="Calibri"/>
              </a:rPr>
              <a:t>ĐỀ BÀI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116128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3000" b="1">
                <a:solidFill>
                  <a:srgbClr val="1E40AF"/>
                </a:solidFill>
                <a:latin typeface="Arial"/>
              </a:rPr>
              <a:t>Ví dụ 2 – Cân bằng nhiệt (thực tiễn Tây Nguyên)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005840"/>
            <a:ext cx="115214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Tưới cà phê: đổ 0,5 kg nước 90°C vào bình chứa 1 kg nước 25°C.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Tính nhiệt độ cân bằng (bỏ qua tổn thất nhiệt).</a:t>
            </a:r>
          </a:p>
          <a:p>
            <a:pPr algn="l">
              <a:spcBef>
                <a:spcPts val="4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c_nước = 4200 J/(kg·K).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5943600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8" name="Rectangle 7"/>
          <p:cNvSpPr/>
          <p:nvPr/>
        </p:nvSpPr>
        <p:spPr>
          <a:xfrm>
            <a:off x="320040" y="5897880"/>
            <a:ext cx="11521440" cy="73152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943600"/>
            <a:ext cx="11338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800" b="0" i="1">
                <a:solidFill>
                  <a:srgbClr val="1E40AF"/>
                </a:solidFill>
                <a:latin typeface="Calibri"/>
              </a:rPr>
              <a:t>💡  Đặt t_cb là nhiệt độ cân bằng; viết Q_toả = Q_thu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601200" y="91440"/>
            <a:ext cx="2377440" cy="45720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46920" y="109728"/>
            <a:ext cx="2286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1600" b="1" i="0">
                <a:solidFill>
                  <a:srgbClr val="FFFFFF"/>
                </a:solidFill>
                <a:latin typeface="Calibri"/>
              </a:rPr>
              <a:t>LỜI GIẢI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116128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3000" b="1">
                <a:solidFill>
                  <a:srgbClr val="991B1B"/>
                </a:solidFill>
                <a:latin typeface="Arial"/>
              </a:rPr>
              <a:t>Ví dụ 2 – Cân bằng nhiệt – Lời giải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005840"/>
            <a:ext cx="11521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3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Nước nóng: m₁ = 0,5 kg, t₁ = 90°C  (toả nhiệt)</a:t>
            </a:r>
          </a:p>
          <a:p>
            <a:pPr algn="l">
              <a:spcBef>
                <a:spcPts val="3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Nước lạnh: m₂ = 1 kg,   t₂ = 25°C  (thu nhiệt)</a:t>
            </a:r>
          </a:p>
          <a:p>
            <a:pPr algn="l">
              <a:spcBef>
                <a:spcPts val="3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Q_toả = Q_thu:</a:t>
            </a:r>
          </a:p>
          <a:p>
            <a:pPr algn="l">
              <a:spcBef>
                <a:spcPts val="3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  0,5 × 4200 × (90 − t_cb) = 1 × 4200 × (t_cb − 25)</a:t>
            </a:r>
          </a:p>
          <a:p>
            <a:pPr algn="l">
              <a:spcBef>
                <a:spcPts val="3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  0,5(90 − t_cb) = t_cb − 25</a:t>
            </a:r>
          </a:p>
          <a:p>
            <a:pPr algn="l">
              <a:spcBef>
                <a:spcPts val="300"/>
              </a:spcBef>
            </a:pPr>
            <a:r>
              <a:rPr sz="2100" b="0" i="0">
                <a:solidFill>
                  <a:srgbClr val="1E293B"/>
                </a:solidFill>
                <a:latin typeface="Calibri"/>
              </a:rPr>
              <a:t>  45 − 0,5·t_cb = t_cb − 25  →  1,5·t_cb = 70  →  t_cb = 46,7°C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760720"/>
            <a:ext cx="11521440" cy="868680"/>
          </a:xfrm>
          <a:prstGeom prst="rect">
            <a:avLst/>
          </a:prstGeom>
          <a:solidFill>
            <a:srgbClr val="FFF1F2"/>
          </a:solidFill>
          <a:ln w="19050">
            <a:solidFill>
              <a:srgbClr val="991B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806440"/>
            <a:ext cx="11155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200" b="1" i="0">
                <a:solidFill>
                  <a:srgbClr val="991B1B"/>
                </a:solidFill>
                <a:latin typeface="Calibri"/>
              </a:rPr>
              <a:t>✅  ĐÁP SỐ:  t_cb ≈ 46,7°C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3000" b="1">
                <a:solidFill>
                  <a:srgbClr val="1E40AF"/>
                </a:solidFill>
                <a:latin typeface="Arial"/>
              </a:rPr>
              <a:t>SƠ ĐỒ TƯ DUY – BÀI 4. NHIỆT DUNG RIÊNG. PHƯƠNG TRÌNH NHIỆT LƯỢNG</a:t>
            </a:r>
          </a:p>
        </p:txBody>
      </p:sp>
      <p:pic>
        <p:nvPicPr>
          <p:cNvPr id="3" name="Picture 2" descr="SoDoTuDuy_VATLY12_Bai4_NhietDungRieng_PhuongTrinhNhietLuong_T7-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68680"/>
            <a:ext cx="11247120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40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200" b="0" i="0">
                <a:solidFill>
                  <a:srgbClr val="1E293B"/>
                </a:solidFill>
                <a:latin typeface="Calibri"/>
              </a:rPr>
              <a:t>Bài 4. Nhiệt dung riêng. Phương trình nhiệt lượng</a:t>
            </a:r>
          </a:p>
        </p:txBody>
      </p:sp>
      <p:pic>
        <p:nvPicPr>
          <p:cNvPr id="4" name="Picture 3" descr="QR_ly_cc_bai4_k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737360"/>
            <a:ext cx="3931920" cy="3931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43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1800" b="0" i="0">
                <a:solidFill>
                  <a:srgbClr val="1E40AF"/>
                </a:solidFill>
                <a:latin typeface="Calibri"/>
              </a:rPr>
              <a:t>https://trangtu66.github.io/Taode_thi_online/ly_cc_bai4_k12.html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