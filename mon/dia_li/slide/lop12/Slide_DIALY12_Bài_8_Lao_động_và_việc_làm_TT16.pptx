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8. Lao động và việc làm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LĐ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thách thức việc làm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pháp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8. Lao động và việc làm</a:t>
            </a:r>
          </a:p>
        </p:txBody>
      </p:sp>
      <p:pic>
        <p:nvPicPr>
          <p:cNvPr id="5" name="Picture 4" descr="_qr_dia_cc_bai8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068606" y="2144161"/>
            <a:ext cx="1440251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95573" y="1968560"/>
            <a:ext cx="117303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52 triệu LĐ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283236" y="2570251"/>
            <a:ext cx="1225621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0943" y="2394651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Cần cù, khéo léo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97384" y="2670962"/>
            <a:ext cx="1311473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6795" y="2820741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Kĩ năng số còn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hạn chế</a:t>
            </a:r>
          </a:p>
        </p:txBody>
      </p:sp>
      <p:sp>
        <p:nvSpPr>
          <p:cNvPr id="13" name="Oval 12"/>
          <p:cNvSpPr/>
          <p:nvPr/>
        </p:nvSpPr>
        <p:spPr>
          <a:xfrm>
            <a:off x="2701107" y="2259078"/>
            <a:ext cx="161550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 lượng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chất lượng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244872"/>
            <a:ext cx="1483177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94391" y="2069271"/>
            <a:ext cx="1087180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N-L-NG 27%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526103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37317" y="2495362"/>
            <a:ext cx="100132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CN-XD 34%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440251" cy="42609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51465" y="2921452"/>
            <a:ext cx="117303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Dịch vụ 39%</a:t>
            </a:r>
          </a:p>
        </p:txBody>
      </p:sp>
      <p:sp>
        <p:nvSpPr>
          <p:cNvPr id="21" name="Oval 20"/>
          <p:cNvSpPr/>
          <p:nvPr/>
        </p:nvSpPr>
        <p:spPr>
          <a:xfrm>
            <a:off x="5334121" y="2259078"/>
            <a:ext cx="1754184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Cơ cấu theo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ngành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69088" y="4711796"/>
            <a:ext cx="1139769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5091" y="4536196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Thất nghiệp đô thị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025680" y="5137886"/>
            <a:ext cx="1483177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8499" y="4962286"/>
            <a:ext cx="1087180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Già hóa LĐ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83236" y="5238597"/>
            <a:ext cx="1225621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0943" y="5388376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Tự động hóa thay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thế</a:t>
            </a:r>
          </a:p>
        </p:txBody>
      </p:sp>
      <p:sp>
        <p:nvSpPr>
          <p:cNvPr id="29" name="Oval 28"/>
          <p:cNvSpPr/>
          <p:nvPr/>
        </p:nvSpPr>
        <p:spPr>
          <a:xfrm>
            <a:off x="2701107" y="4995210"/>
            <a:ext cx="1615500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Thách thức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182695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93909" y="4536196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Đào tạo nghề chất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lượng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397325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08539" y="5163708"/>
            <a:ext cx="125888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Xuất khẩu LĐ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31147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22687" y="5589798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Kĩ năng số–4.0</a:t>
            </a:r>
          </a:p>
        </p:txBody>
      </p:sp>
      <p:sp>
        <p:nvSpPr>
          <p:cNvPr id="37" name="Oval 36"/>
          <p:cNvSpPr/>
          <p:nvPr/>
        </p:nvSpPr>
        <p:spPr>
          <a:xfrm>
            <a:off x="5472805" y="4995210"/>
            <a:ext cx="1476816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Giải pháp</a:t>
            </a:r>
          </a:p>
        </p:txBody>
      </p:sp>
      <p:sp>
        <p:nvSpPr>
          <p:cNvPr id="38" name="Oval 37"/>
          <p:cNvSpPr/>
          <p:nvPr/>
        </p:nvSpPr>
        <p:spPr>
          <a:xfrm>
            <a:off x="3802654" y="3287245"/>
            <a:ext cx="211476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8. LAO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ĐỘNG VÀ VIỆC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LÀM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Đặc điểm LĐ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~52 triệu LĐ; cần cù, khéo léo, tiếp thu nhanh
Hạn chế: tỉ lệ đào tạo chưa cao; kĩ năng mềm &amp; ngoại ngữ
Cơ cấu: N-L-NG 27%; CN-XD 34%; DV 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Đặc điểm LĐ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~52 triệu LĐ; cần cù, khéo léo, tiếp thu nhanh
Hạn chế: tỉ lệ đào tạo chưa cao; kĩ năng mềm &amp; ngoại ngữ
Cơ cấu: N-L-NG 27%; CN-XD 34%; DV 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Xu hướng: dịch chuyển sang CN-DV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Giải pháp việc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Đổi mới GD đào tạo nghề
2. Gắn đào tạo với nhu cầu DN
3. XK LĐ có kĩ năng
4. Cách mạng 4.0: kĩ năng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Giải pháp việc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Đổi mới GD đào tạo nghề
2. Gắn đào tạo với nhu cầu DN
3. XK LĐ có kĩ năng
4. Cách mạng 4.0: kĩ năng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Đầu tư vào con người là đầu tư sinh lợi cao nhất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8. Lao động và việc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