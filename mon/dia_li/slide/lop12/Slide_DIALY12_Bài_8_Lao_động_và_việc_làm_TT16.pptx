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5486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0312" cy="402336"/>
          </a:xfrm>
          <a:prstGeom prst="rect">
            <a:avLst/>
          </a:prstGeom>
          <a:noFill/>
        </p:spPr>
        <p:txBody>
          <a:bodyPr wrap="square">
            <a:spAutoFit/>
          </a:bodyPr>
          <a:lstStyle/>
          <a:p>
            <a:pPr algn="ctr"/>
            <a:r>
              <a:rPr sz="1400" b="1">
                <a:solidFill>
                  <a:srgbClr val="FFFFFF"/>
                </a:solidFill>
                <a:latin typeface="Arial"/>
              </a:rPr>
              <a:t>TRƯỜNG THPT VĨNH THẠNH  |  ĐỊA LÍ 12  |  NĂM HỌC 2026–2027</a:t>
            </a:r>
          </a:p>
        </p:txBody>
      </p:sp>
      <p:sp>
        <p:nvSpPr>
          <p:cNvPr id="4" name="TextBox 3"/>
          <p:cNvSpPr txBox="1"/>
          <p:nvPr/>
        </p:nvSpPr>
        <p:spPr>
          <a:xfrm>
            <a:off x="914400" y="1371600"/>
            <a:ext cx="10360152" cy="2286000"/>
          </a:xfrm>
          <a:prstGeom prst="rect">
            <a:avLst/>
          </a:prstGeom>
          <a:noFill/>
        </p:spPr>
        <p:txBody>
          <a:bodyPr wrap="square">
            <a:spAutoFit/>
          </a:bodyPr>
          <a:lstStyle/>
          <a:p>
            <a:pPr algn="ctr"/>
            <a:r>
              <a:rPr sz="4000" b="1">
                <a:solidFill>
                  <a:srgbClr val="1E40AF"/>
                </a:solidFill>
                <a:latin typeface="Arial"/>
              </a:rPr>
              <a:t>Bài 8. Lao động và việc làm</a:t>
            </a:r>
          </a:p>
        </p:txBody>
      </p:sp>
      <p:sp>
        <p:nvSpPr>
          <p:cNvPr id="5" name="TextBox 4"/>
          <p:cNvSpPr txBox="1"/>
          <p:nvPr/>
        </p:nvSpPr>
        <p:spPr>
          <a:xfrm>
            <a:off x="914400" y="3840480"/>
            <a:ext cx="10360152" cy="548640"/>
          </a:xfrm>
          <a:prstGeom prst="rect">
            <a:avLst/>
          </a:prstGeom>
          <a:noFill/>
        </p:spPr>
        <p:txBody>
          <a:bodyPr wrap="square">
            <a:spAutoFit/>
          </a:bodyPr>
          <a:lstStyle/>
          <a:p>
            <a:pPr algn="ctr"/>
            <a:r>
              <a:rPr sz="2200" b="0">
                <a:solidFill>
                  <a:srgbClr val="1E293B"/>
                </a:solidFill>
                <a:latin typeface="Calibri"/>
              </a:rPr>
              <a:t>Thời gian thực hiện: Tiết T16</a:t>
            </a:r>
          </a:p>
        </p:txBody>
      </p:sp>
      <p:sp>
        <p:nvSpPr>
          <p:cNvPr id="6" name="TextBox 5"/>
          <p:cNvSpPr txBox="1"/>
          <p:nvPr/>
        </p:nvSpPr>
        <p:spPr>
          <a:xfrm>
            <a:off x="914400" y="4480560"/>
            <a:ext cx="10360152" cy="457200"/>
          </a:xfrm>
          <a:prstGeom prst="rect">
            <a:avLst/>
          </a:prstGeom>
          <a:noFill/>
        </p:spPr>
        <p:txBody>
          <a:bodyPr wrap="square">
            <a:spAutoFit/>
          </a:bodyPr>
          <a:lstStyle/>
          <a:p>
            <a:pPr algn="ctr"/>
            <a:r>
              <a:rPr sz="2000" b="0">
                <a:solidFill>
                  <a:srgbClr val="1E293B"/>
                </a:solidFill>
                <a:latin typeface="Calibri"/>
              </a:rPr>
              <a:t>Giáo viên: Lê Thuỳ Dung</a:t>
            </a:r>
          </a:p>
        </p:txBody>
      </p:sp>
      <p:sp>
        <p:nvSpPr>
          <p:cNvPr id="7" name="Rectangle 6"/>
          <p:cNvSpPr/>
          <p:nvPr/>
        </p:nvSpPr>
        <p:spPr>
          <a:xfrm>
            <a:off x="0" y="6492240"/>
            <a:ext cx="12188952" cy="3657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11640312" cy="329184"/>
          </a:xfrm>
          <a:prstGeom prst="rect">
            <a:avLst/>
          </a:prstGeom>
          <a:noFill/>
        </p:spPr>
        <p:txBody>
          <a:bodyPr wrap="square">
            <a:spAutoFit/>
          </a:bodyPr>
          <a:lstStyle/>
          <a:p>
            <a:pPr algn="ctr"/>
            <a:r>
              <a:rPr sz="1300" b="0">
                <a:solidFill>
                  <a:srgbClr val="FFFFFF"/>
                </a:solidFill>
                <a:latin typeface="Calibri"/>
              </a:rPr>
              <a:t>Trường THPT Vĩnh Thạnh – Bình Định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82880"/>
            <a:ext cx="11640312" cy="640080"/>
          </a:xfrm>
          <a:prstGeom prst="rect">
            <a:avLst/>
          </a:prstGeom>
          <a:noFill/>
        </p:spPr>
        <p:txBody>
          <a:bodyPr wrap="square">
            <a:spAutoFit/>
          </a:bodyPr>
          <a:lstStyle/>
          <a:p>
            <a:pPr algn="l"/>
            <a:r>
              <a:rPr sz="3200" b="1">
                <a:solidFill>
                  <a:srgbClr val="1E40AF"/>
                </a:solidFill>
                <a:latin typeface="Arial"/>
              </a:rPr>
              <a:t>MỤC TIÊU BÀI HỌC</a:t>
            </a:r>
          </a:p>
        </p:txBody>
      </p:sp>
      <p:sp>
        <p:nvSpPr>
          <p:cNvPr id="3" name="Rectangle 2"/>
          <p:cNvSpPr/>
          <p:nvPr/>
        </p:nvSpPr>
        <p:spPr>
          <a:xfrm>
            <a:off x="274320" y="86868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00584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005840"/>
            <a:ext cx="411480" cy="411480"/>
          </a:xfrm>
          <a:prstGeom prst="rect">
            <a:avLst/>
          </a:prstGeom>
          <a:noFill/>
        </p:spPr>
        <p:txBody>
          <a:bodyPr wrap="square">
            <a:spAutoFit/>
          </a:bodyPr>
          <a:lstStyle/>
          <a:p>
            <a:pPr algn="ctr"/>
            <a:r>
              <a:rPr sz="1800" b="1">
                <a:solidFill>
                  <a:srgbClr val="FFFFFF"/>
                </a:solidFill>
                <a:latin typeface="Arial"/>
              </a:rPr>
              <a:t>1</a:t>
            </a:r>
          </a:p>
        </p:txBody>
      </p:sp>
      <p:sp>
        <p:nvSpPr>
          <p:cNvPr id="6" name="TextBox 5"/>
          <p:cNvSpPr txBox="1"/>
          <p:nvPr/>
        </p:nvSpPr>
        <p:spPr>
          <a:xfrm>
            <a:off x="777240" y="978408"/>
            <a:ext cx="11091672" cy="502920"/>
          </a:xfrm>
          <a:prstGeom prst="rect">
            <a:avLst/>
          </a:prstGeom>
          <a:noFill/>
        </p:spPr>
        <p:txBody>
          <a:bodyPr wrap="square">
            <a:spAutoFit/>
          </a:bodyPr>
          <a:lstStyle/>
          <a:p>
            <a:pPr algn="l"/>
            <a:r>
              <a:rPr sz="2000" b="0">
                <a:solidFill>
                  <a:srgbClr val="1E293B"/>
                </a:solidFill>
                <a:latin typeface="Calibri"/>
              </a:rPr>
              <a:t>Phân tích đặc điểm nguồn lao động Việt Nam</a:t>
            </a:r>
          </a:p>
        </p:txBody>
      </p:sp>
      <p:sp>
        <p:nvSpPr>
          <p:cNvPr id="7" name="Rectangle 6"/>
          <p:cNvSpPr/>
          <p:nvPr/>
        </p:nvSpPr>
        <p:spPr>
          <a:xfrm>
            <a:off x="274320" y="160020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600200"/>
            <a:ext cx="411480" cy="411480"/>
          </a:xfrm>
          <a:prstGeom prst="rect">
            <a:avLst/>
          </a:prstGeom>
          <a:noFill/>
        </p:spPr>
        <p:txBody>
          <a:bodyPr wrap="square">
            <a:spAutoFit/>
          </a:bodyPr>
          <a:lstStyle/>
          <a:p>
            <a:pPr algn="ctr"/>
            <a:r>
              <a:rPr sz="1800" b="1">
                <a:solidFill>
                  <a:srgbClr val="FFFFFF"/>
                </a:solidFill>
                <a:latin typeface="Arial"/>
              </a:rPr>
              <a:t>2</a:t>
            </a:r>
          </a:p>
        </p:txBody>
      </p:sp>
      <p:sp>
        <p:nvSpPr>
          <p:cNvPr id="9" name="TextBox 8"/>
          <p:cNvSpPr txBox="1"/>
          <p:nvPr/>
        </p:nvSpPr>
        <p:spPr>
          <a:xfrm>
            <a:off x="777240" y="1572768"/>
            <a:ext cx="11091672" cy="502920"/>
          </a:xfrm>
          <a:prstGeom prst="rect">
            <a:avLst/>
          </a:prstGeom>
          <a:noFill/>
        </p:spPr>
        <p:txBody>
          <a:bodyPr wrap="square">
            <a:spAutoFit/>
          </a:bodyPr>
          <a:lstStyle/>
          <a:p>
            <a:pPr algn="l"/>
            <a:r>
              <a:rPr sz="2000" b="0">
                <a:solidFill>
                  <a:srgbClr val="1E293B"/>
                </a:solidFill>
                <a:latin typeface="Calibri"/>
              </a:rPr>
              <a:t>Đánh giá thách thức việc làm</a:t>
            </a:r>
          </a:p>
        </p:txBody>
      </p:sp>
      <p:sp>
        <p:nvSpPr>
          <p:cNvPr id="10" name="Rectangle 9"/>
          <p:cNvSpPr/>
          <p:nvPr/>
        </p:nvSpPr>
        <p:spPr>
          <a:xfrm>
            <a:off x="274320" y="219456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194560"/>
            <a:ext cx="411480" cy="411480"/>
          </a:xfrm>
          <a:prstGeom prst="rect">
            <a:avLst/>
          </a:prstGeom>
          <a:noFill/>
        </p:spPr>
        <p:txBody>
          <a:bodyPr wrap="square">
            <a:spAutoFit/>
          </a:bodyPr>
          <a:lstStyle/>
          <a:p>
            <a:pPr algn="ctr"/>
            <a:r>
              <a:rPr sz="1800" b="1">
                <a:solidFill>
                  <a:srgbClr val="FFFFFF"/>
                </a:solidFill>
                <a:latin typeface="Arial"/>
              </a:rPr>
              <a:t>3</a:t>
            </a:r>
          </a:p>
        </p:txBody>
      </p:sp>
      <p:sp>
        <p:nvSpPr>
          <p:cNvPr id="12" name="TextBox 11"/>
          <p:cNvSpPr txBox="1"/>
          <p:nvPr/>
        </p:nvSpPr>
        <p:spPr>
          <a:xfrm>
            <a:off x="777240" y="2167128"/>
            <a:ext cx="11091672" cy="502920"/>
          </a:xfrm>
          <a:prstGeom prst="rect">
            <a:avLst/>
          </a:prstGeom>
          <a:noFill/>
        </p:spPr>
        <p:txBody>
          <a:bodyPr wrap="square">
            <a:spAutoFit/>
          </a:bodyPr>
          <a:lstStyle/>
          <a:p>
            <a:pPr algn="l"/>
            <a:r>
              <a:rPr sz="2000" b="0">
                <a:solidFill>
                  <a:srgbClr val="1E293B"/>
                </a:solidFill>
                <a:latin typeface="Calibri"/>
              </a:rPr>
              <a:t>Đề xuất giải pháp nâng cao chất lượng lao động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011680" cy="50292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011680" cy="502920"/>
          </a:xfrm>
          <a:prstGeom prst="rect">
            <a:avLst/>
          </a:prstGeom>
          <a:noFill/>
        </p:spPr>
        <p:txBody>
          <a:bodyPr wrap="square">
            <a:spAutoFit/>
          </a:bodyPr>
          <a:lstStyle/>
          <a:p>
            <a:pPr algn="ctr"/>
            <a:r>
              <a:rPr sz="1600" b="1">
                <a:solidFill>
                  <a:srgbClr val="FFFFFF"/>
                </a:solidFill>
                <a:latin typeface="Arial"/>
              </a:rPr>
              <a:t>ĐỀ BÀI – NỘI DUNG 1</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600" b="1">
                <a:solidFill>
                  <a:srgbClr val="1E40AF"/>
                </a:solidFill>
                <a:latin typeface="Arial"/>
              </a:rPr>
              <a:t>Đặc điểm lao động Việt Nam</a:t>
            </a:r>
          </a:p>
        </p:txBody>
      </p:sp>
      <p:sp>
        <p:nvSpPr>
          <p:cNvPr id="5" name="Rectangle 4"/>
          <p:cNvSpPr/>
          <p:nvPr/>
        </p:nvSpPr>
        <p:spPr>
          <a:xfrm>
            <a:off x="274320" y="141732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840480"/>
          </a:xfrm>
          <a:prstGeom prst="rect">
            <a:avLst/>
          </a:prstGeom>
          <a:noFill/>
        </p:spPr>
        <p:txBody>
          <a:bodyPr wrap="square">
            <a:spAutoFit/>
          </a:bodyPr>
          <a:lstStyle/>
          <a:p>
            <a:pPr algn="l"/>
            <a:r>
              <a:rPr sz="2200" b="0">
                <a:solidFill>
                  <a:srgbClr val="1E293B"/>
                </a:solidFill>
                <a:latin typeface="Calibri"/>
              </a:rPr>
              <a:t>• Số lượng: ~52 triệu lao động
• Ưu điểm: cần cù, khéo léo, tiếp thu nhanh
• Hạn chế: tỉ lệ qua đào tạo chưa cao; kĩ năng mềm và ngoại ngữ
• Phân bố: 63% nông thôn (giảm dần)
• Cơ cấu: N–L–NG ~27%; CN–XD ~34%; DV ~39% (2023)</a:t>
            </a:r>
          </a:p>
        </p:txBody>
      </p:sp>
      <p:sp>
        <p:nvSpPr>
          <p:cNvPr id="7" name="Rectangle 6"/>
          <p:cNvSpPr/>
          <p:nvPr/>
        </p:nvSpPr>
        <p:spPr>
          <a:xfrm>
            <a:off x="274320" y="5760720"/>
            <a:ext cx="11640312" cy="685800"/>
          </a:xfrm>
          <a:prstGeom prst="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806440"/>
            <a:ext cx="11457432" cy="594360"/>
          </a:xfrm>
          <a:prstGeom prst="rect">
            <a:avLst/>
          </a:prstGeom>
          <a:noFill/>
        </p:spPr>
        <p:txBody>
          <a:bodyPr wrap="square">
            <a:spAutoFit/>
          </a:bodyPr>
          <a:lstStyle/>
          <a:p>
            <a:pPr algn="l"/>
            <a:r>
              <a:rPr sz="1800" b="0">
                <a:solidFill>
                  <a:srgbClr val="1E40AF"/>
                </a:solidFill>
                <a:latin typeface="Calibri"/>
              </a:rPr>
              <a:t>💡 Suy nghĩ và thảo luận nhóm.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286000" cy="502920"/>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286000" cy="502920"/>
          </a:xfrm>
          <a:prstGeom prst="rect">
            <a:avLst/>
          </a:prstGeom>
          <a:noFill/>
        </p:spPr>
        <p:txBody>
          <a:bodyPr wrap="square">
            <a:spAutoFit/>
          </a:bodyPr>
          <a:lstStyle/>
          <a:p>
            <a:pPr algn="ctr"/>
            <a:r>
              <a:rPr sz="1600" b="1">
                <a:solidFill>
                  <a:srgbClr val="FFFFFF"/>
                </a:solidFill>
                <a:latin typeface="Arial"/>
              </a:rPr>
              <a:t>LỜI GIẢI – NỘI DUNG 1</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400" b="1">
                <a:solidFill>
                  <a:srgbClr val="991B1B"/>
                </a:solidFill>
                <a:latin typeface="Arial"/>
              </a:rPr>
              <a:t>Đặc điểm lao động Việt Nam</a:t>
            </a:r>
          </a:p>
        </p:txBody>
      </p:sp>
      <p:sp>
        <p:nvSpPr>
          <p:cNvPr id="5" name="Rectangle 4"/>
          <p:cNvSpPr/>
          <p:nvPr/>
        </p:nvSpPr>
        <p:spPr>
          <a:xfrm>
            <a:off x="274320" y="1417320"/>
            <a:ext cx="11640312" cy="36576"/>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474720"/>
          </a:xfrm>
          <a:prstGeom prst="rect">
            <a:avLst/>
          </a:prstGeom>
          <a:noFill/>
        </p:spPr>
        <p:txBody>
          <a:bodyPr wrap="square">
            <a:spAutoFit/>
          </a:bodyPr>
          <a:lstStyle/>
          <a:p>
            <a:pPr algn="l"/>
            <a:r>
              <a:rPr sz="2100" b="0">
                <a:solidFill>
                  <a:srgbClr val="1E293B"/>
                </a:solidFill>
                <a:latin typeface="Calibri"/>
              </a:rPr>
              <a:t>• Số lượng: ~52 triệu lao động
• Ưu điểm: cần cù, khéo léo, tiếp thu nhanh
• Hạn chế: tỉ lệ qua đào tạo chưa cao; kĩ năng mềm và ngoại ngữ
• Phân bố: 63% nông thôn (giảm dần)
• Cơ cấu: N–L–NG ~27%; CN–XD ~34%; DV ~39% (2023)</a:t>
            </a:r>
          </a:p>
        </p:txBody>
      </p:sp>
      <p:sp>
        <p:nvSpPr>
          <p:cNvPr id="7" name="Rectangle 6"/>
          <p:cNvSpPr/>
          <p:nvPr/>
        </p:nvSpPr>
        <p:spPr>
          <a:xfrm>
            <a:off x="274320" y="5120640"/>
            <a:ext cx="11640312"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166360"/>
            <a:ext cx="11457432" cy="822960"/>
          </a:xfrm>
          <a:prstGeom prst="rect">
            <a:avLst/>
          </a:prstGeom>
          <a:noFill/>
        </p:spPr>
        <p:txBody>
          <a:bodyPr wrap="square">
            <a:spAutoFit/>
          </a:bodyPr>
          <a:lstStyle/>
          <a:p>
            <a:pPr algn="l"/>
            <a:r>
              <a:rPr sz="2200" b="1">
                <a:solidFill>
                  <a:srgbClr val="991B1B"/>
                </a:solidFill>
                <a:latin typeface="Arial"/>
              </a:rPr>
              <a:t>✦ Xu hướng: dịch chuyển từ nông nghiệp → công nghiệp – dịch vụ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011680" cy="50292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011680" cy="502920"/>
          </a:xfrm>
          <a:prstGeom prst="rect">
            <a:avLst/>
          </a:prstGeom>
          <a:noFill/>
        </p:spPr>
        <p:txBody>
          <a:bodyPr wrap="square">
            <a:spAutoFit/>
          </a:bodyPr>
          <a:lstStyle/>
          <a:p>
            <a:pPr algn="ctr"/>
            <a:r>
              <a:rPr sz="1600" b="1">
                <a:solidFill>
                  <a:srgbClr val="FFFFFF"/>
                </a:solidFill>
                <a:latin typeface="Arial"/>
              </a:rPr>
              <a:t>ĐỀ BÀI – NỘI DUNG 2</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600" b="1">
                <a:solidFill>
                  <a:srgbClr val="1E40AF"/>
                </a:solidFill>
                <a:latin typeface="Arial"/>
              </a:rPr>
              <a:t>Giải pháp</a:t>
            </a:r>
          </a:p>
        </p:txBody>
      </p:sp>
      <p:sp>
        <p:nvSpPr>
          <p:cNvPr id="5" name="Rectangle 4"/>
          <p:cNvSpPr/>
          <p:nvPr/>
        </p:nvSpPr>
        <p:spPr>
          <a:xfrm>
            <a:off x="274320" y="141732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840480"/>
          </a:xfrm>
          <a:prstGeom prst="rect">
            <a:avLst/>
          </a:prstGeom>
          <a:noFill/>
        </p:spPr>
        <p:txBody>
          <a:bodyPr wrap="square">
            <a:spAutoFit/>
          </a:bodyPr>
          <a:lstStyle/>
          <a:p>
            <a:pPr algn="l"/>
            <a:r>
              <a:rPr sz="2200" b="0">
                <a:solidFill>
                  <a:srgbClr val="1E293B"/>
                </a:solidFill>
                <a:latin typeface="Calibri"/>
              </a:rPr>
              <a:t>1. Đổi mới giáo dục đào tạo nghề
2. Gắn đào tạo với nhu cầu doanh nghiệp
3. Xuất khẩu lao động có kĩ năng
4. Phát triển thị trường lao động linh hoạt
5. Cách mạng 4.0: nâng cao kĩ năng số</a:t>
            </a:r>
          </a:p>
        </p:txBody>
      </p:sp>
      <p:sp>
        <p:nvSpPr>
          <p:cNvPr id="7" name="Rectangle 6"/>
          <p:cNvSpPr/>
          <p:nvPr/>
        </p:nvSpPr>
        <p:spPr>
          <a:xfrm>
            <a:off x="274320" y="5760720"/>
            <a:ext cx="11640312" cy="685800"/>
          </a:xfrm>
          <a:prstGeom prst="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806440"/>
            <a:ext cx="11457432" cy="594360"/>
          </a:xfrm>
          <a:prstGeom prst="rect">
            <a:avLst/>
          </a:prstGeom>
          <a:noFill/>
        </p:spPr>
        <p:txBody>
          <a:bodyPr wrap="square">
            <a:spAutoFit/>
          </a:bodyPr>
          <a:lstStyle/>
          <a:p>
            <a:pPr algn="l"/>
            <a:r>
              <a:rPr sz="1800" b="0">
                <a:solidFill>
                  <a:srgbClr val="1E40AF"/>
                </a:solidFill>
                <a:latin typeface="Calibri"/>
              </a:rPr>
              <a:t>💡 Suy nghĩ và thảo luận nhóm.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286000" cy="502920"/>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286000" cy="502920"/>
          </a:xfrm>
          <a:prstGeom prst="rect">
            <a:avLst/>
          </a:prstGeom>
          <a:noFill/>
        </p:spPr>
        <p:txBody>
          <a:bodyPr wrap="square">
            <a:spAutoFit/>
          </a:bodyPr>
          <a:lstStyle/>
          <a:p>
            <a:pPr algn="ctr"/>
            <a:r>
              <a:rPr sz="1600" b="1">
                <a:solidFill>
                  <a:srgbClr val="FFFFFF"/>
                </a:solidFill>
                <a:latin typeface="Arial"/>
              </a:rPr>
              <a:t>LỜI GIẢI – NỘI DUNG 2</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400" b="1">
                <a:solidFill>
                  <a:srgbClr val="991B1B"/>
                </a:solidFill>
                <a:latin typeface="Arial"/>
              </a:rPr>
              <a:t>Giải pháp</a:t>
            </a:r>
          </a:p>
        </p:txBody>
      </p:sp>
      <p:sp>
        <p:nvSpPr>
          <p:cNvPr id="5" name="Rectangle 4"/>
          <p:cNvSpPr/>
          <p:nvPr/>
        </p:nvSpPr>
        <p:spPr>
          <a:xfrm>
            <a:off x="274320" y="1417320"/>
            <a:ext cx="11640312" cy="36576"/>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474720"/>
          </a:xfrm>
          <a:prstGeom prst="rect">
            <a:avLst/>
          </a:prstGeom>
          <a:noFill/>
        </p:spPr>
        <p:txBody>
          <a:bodyPr wrap="square">
            <a:spAutoFit/>
          </a:bodyPr>
          <a:lstStyle/>
          <a:p>
            <a:pPr algn="l"/>
            <a:r>
              <a:rPr sz="2100" b="0">
                <a:solidFill>
                  <a:srgbClr val="1E293B"/>
                </a:solidFill>
                <a:latin typeface="Calibri"/>
              </a:rPr>
              <a:t>1. Đổi mới giáo dục đào tạo nghề
2. Gắn đào tạo với nhu cầu doanh nghiệp
3. Xuất khẩu lao động có kĩ năng
4. Phát triển thị trường lao động linh hoạt
5. Cách mạng 4.0: nâng cao kĩ năng số</a:t>
            </a:r>
          </a:p>
        </p:txBody>
      </p:sp>
      <p:sp>
        <p:nvSpPr>
          <p:cNvPr id="7" name="Rectangle 6"/>
          <p:cNvSpPr/>
          <p:nvPr/>
        </p:nvSpPr>
        <p:spPr>
          <a:xfrm>
            <a:off x="274320" y="5120640"/>
            <a:ext cx="11640312"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166360"/>
            <a:ext cx="11457432" cy="822960"/>
          </a:xfrm>
          <a:prstGeom prst="rect">
            <a:avLst/>
          </a:prstGeom>
          <a:noFill/>
        </p:spPr>
        <p:txBody>
          <a:bodyPr wrap="square">
            <a:spAutoFit/>
          </a:bodyPr>
          <a:lstStyle/>
          <a:p>
            <a:pPr algn="l"/>
            <a:r>
              <a:rPr sz="2200" b="1">
                <a:solidFill>
                  <a:srgbClr val="991B1B"/>
                </a:solidFill>
                <a:latin typeface="Arial"/>
              </a:rPr>
              <a:t>✦ Đầu tư vào con người là đầu tư sinh lợi cao nhất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640312" cy="1005840"/>
          </a:xfrm>
          <a:prstGeom prst="rect">
            <a:avLst/>
          </a:prstGeom>
          <a:noFill/>
        </p:spPr>
        <p:txBody>
          <a:bodyPr wrap="square">
            <a:spAutoFit/>
          </a:bodyPr>
          <a:lstStyle/>
          <a:p>
            <a:pPr algn="ctr"/>
            <a:r>
              <a:rPr sz="4200" b="1">
                <a:solidFill>
                  <a:srgbClr val="FFFFFF"/>
                </a:solidFill>
                <a:latin typeface="Arial"/>
              </a:rPr>
              <a:t>BÀI TẬP CỦA BẠN</a:t>
            </a:r>
          </a:p>
        </p:txBody>
      </p:sp>
      <p:sp>
        <p:nvSpPr>
          <p:cNvPr id="4" name="TextBox 3"/>
          <p:cNvSpPr txBox="1"/>
          <p:nvPr/>
        </p:nvSpPr>
        <p:spPr>
          <a:xfrm>
            <a:off x="457200" y="1463040"/>
            <a:ext cx="11274552" cy="640080"/>
          </a:xfrm>
          <a:prstGeom prst="rect">
            <a:avLst/>
          </a:prstGeom>
          <a:noFill/>
        </p:spPr>
        <p:txBody>
          <a:bodyPr wrap="square">
            <a:spAutoFit/>
          </a:bodyPr>
          <a:lstStyle/>
          <a:p>
            <a:pPr algn="ctr"/>
            <a:r>
              <a:rPr sz="2400" b="0">
                <a:solidFill>
                  <a:srgbClr val="1E40AF"/>
                </a:solidFill>
                <a:latin typeface="Calibri"/>
              </a:rPr>
              <a:t>Địa lí 12 – Bài 8. Lao động và việc làm</a:t>
            </a:r>
          </a:p>
        </p:txBody>
      </p:sp>
      <p:sp>
        <p:nvSpPr>
          <p:cNvPr id="5" name="Rectangle 4"/>
          <p:cNvSpPr/>
          <p:nvPr/>
        </p:nvSpPr>
        <p:spPr>
          <a:xfrm>
            <a:off x="457200" y="2194560"/>
            <a:ext cx="11274552" cy="731520"/>
          </a:xfrm>
          <a:prstGeom prst="rect">
            <a:avLst/>
          </a:prstGeom>
          <a:solidFill>
            <a:srgbClr val="DCF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40280"/>
            <a:ext cx="11091672" cy="640080"/>
          </a:xfrm>
          <a:prstGeom prst="rect">
            <a:avLst/>
          </a:prstGeom>
          <a:noFill/>
        </p:spPr>
        <p:txBody>
          <a:bodyPr wrap="square">
            <a:spAutoFit/>
          </a:bodyPr>
          <a:lstStyle/>
          <a:p>
            <a:pPr algn="l"/>
            <a:r>
              <a:rPr sz="2000" b="0">
                <a:solidFill>
                  <a:srgbClr val="15783A"/>
                </a:solidFill>
                <a:latin typeface="Calibri"/>
              </a:rPr>
              <a:t>🔗 https://trangtu66.github.io/Taode_thi_online/dia_cc_bai8_k12.html</a:t>
            </a:r>
          </a:p>
        </p:txBody>
      </p:sp>
      <p:sp>
        <p:nvSpPr>
          <p:cNvPr id="7" name="TextBox 6"/>
          <p:cNvSpPr txBox="1"/>
          <p:nvPr/>
        </p:nvSpPr>
        <p:spPr>
          <a:xfrm>
            <a:off x="457200" y="3108960"/>
            <a:ext cx="11274552" cy="594360"/>
          </a:xfrm>
          <a:prstGeom prst="rect">
            <a:avLst/>
          </a:prstGeom>
          <a:noFill/>
        </p:spPr>
        <p:txBody>
          <a:bodyPr wrap="square">
            <a:spAutoFit/>
          </a:bodyPr>
          <a:lstStyle/>
          <a:p>
            <a:pPr algn="ctr"/>
            <a:r>
              <a:rPr sz="2200" b="0">
                <a:solidFill>
                  <a:srgbClr val="1E293B"/>
                </a:solidFill>
                <a:latin typeface="Calibri"/>
              </a:rPr>
              <a:t>Quét mã QR hoặc truy cập đường link để làm bài củng cố trực tuyến</a:t>
            </a:r>
          </a:p>
        </p:txBody>
      </p:sp>
      <p:sp>
        <p:nvSpPr>
          <p:cNvPr id="8" name="TextBox 7"/>
          <p:cNvSpPr txBox="1"/>
          <p:nvPr/>
        </p:nvSpPr>
        <p:spPr>
          <a:xfrm>
            <a:off x="457200" y="3749039"/>
            <a:ext cx="11274552" cy="548640"/>
          </a:xfrm>
          <a:prstGeom prst="rect">
            <a:avLst/>
          </a:prstGeom>
          <a:noFill/>
        </p:spPr>
        <p:txBody>
          <a:bodyPr wrap="square">
            <a:spAutoFit/>
          </a:bodyPr>
          <a:lstStyle/>
          <a:p>
            <a:pPr algn="ctr"/>
            <a:r>
              <a:rPr sz="2000" b="0">
                <a:solidFill>
                  <a:srgbClr val="1E293B"/>
                </a:solidFill>
                <a:latin typeface="Calibri"/>
              </a:rPr>
              <a:t>📱 Làm bài trực tuyến – Kết quả ngay lập tức – Theo dõi tiến độ</a:t>
            </a:r>
          </a:p>
        </p:txBody>
      </p:sp>
      <p:sp>
        <p:nvSpPr>
          <p:cNvPr id="9" name="Rectangle 8"/>
          <p:cNvSpPr/>
          <p:nvPr/>
        </p:nvSpPr>
        <p:spPr>
          <a:xfrm>
            <a:off x="0" y="6400800"/>
            <a:ext cx="12188952" cy="4572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419088"/>
            <a:ext cx="11640312" cy="420624"/>
          </a:xfrm>
          <a:prstGeom prst="rect">
            <a:avLst/>
          </a:prstGeom>
          <a:noFill/>
        </p:spPr>
        <p:txBody>
          <a:bodyPr wrap="square">
            <a:spAutoFit/>
          </a:bodyPr>
          <a:lstStyle/>
          <a:p>
            <a:pPr algn="ctr"/>
            <a:r>
              <a:rPr sz="1600" b="0">
                <a:solidFill>
                  <a:srgbClr val="FFFFFF"/>
                </a:solidFill>
                <a:latin typeface="Calibri"/>
              </a:rPr>
              <a:t>Chúc các em học tốt! – THPT Vĩnh Thạnh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