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40312" cy="402336"/>
          </a:xfrm>
          <a:prstGeom prst="rect">
            <a:avLst/>
          </a:prstGeom>
          <a:noFill/>
        </p:spPr>
        <p:txBody>
          <a:bodyPr wrap="square">
            <a:spAutoFit/>
          </a:bodyPr>
          <a:lstStyle/>
          <a:p>
            <a:pPr algn="ctr"/>
            <a:r>
              <a:rPr sz="1400" b="1">
                <a:solidFill>
                  <a:srgbClr val="FFFFFF"/>
                </a:solidFill>
                <a:latin typeface="Arial"/>
              </a:rPr>
              <a:t>TRƯỜNG THPT|  ĐỊA LÍ 12  |  NĂM HỌC 2026–2027</a:t>
            </a:r>
          </a:p>
        </p:txBody>
      </p:sp>
      <p:sp>
        <p:nvSpPr>
          <p:cNvPr id="4" name="TextBox 3"/>
          <p:cNvSpPr txBox="1"/>
          <p:nvPr/>
        </p:nvSpPr>
        <p:spPr>
          <a:xfrm>
            <a:off x="914400" y="1371600"/>
            <a:ext cx="10360152" cy="2286000"/>
          </a:xfrm>
          <a:prstGeom prst="rect">
            <a:avLst/>
          </a:prstGeom>
          <a:noFill/>
        </p:spPr>
        <p:txBody>
          <a:bodyPr wrap="square">
            <a:spAutoFit/>
          </a:bodyPr>
          <a:lstStyle/>
          <a:p>
            <a:pPr algn="ctr"/>
            <a:r>
              <a:rPr sz="4000" b="1">
                <a:solidFill>
                  <a:srgbClr val="1E40AF"/>
                </a:solidFill>
                <a:latin typeface="Arial"/>
              </a:rPr>
              <a:t>Bài 19 (TH). Vẽ biểu đồ CN</a:t>
            </a:r>
          </a:p>
        </p:txBody>
      </p:sp>
      <p:sp>
        <p:nvSpPr>
          <p:cNvPr id="5" name="TextBox 4"/>
          <p:cNvSpPr txBox="1"/>
          <p:nvPr/>
        </p:nvSpPr>
        <p:spPr>
          <a:xfrm>
            <a:off x="914400" y="3840480"/>
            <a:ext cx="10360152" cy="548640"/>
          </a:xfrm>
          <a:prstGeom prst="rect">
            <a:avLst/>
          </a:prstGeom>
          <a:noFill/>
        </p:spPr>
        <p:txBody>
          <a:bodyPr wrap="square">
            <a:spAutoFit/>
          </a:bodyPr>
          <a:lstStyle/>
          <a:p>
            <a:pPr algn="ctr"/>
            <a:r>
              <a:rPr sz="2200" b="0">
                <a:solidFill>
                  <a:srgbClr val="1E293B"/>
                </a:solidFill>
                <a:latin typeface="Calibri"/>
              </a:rPr>
              <a:t>Thời gian thực hiện: Tiết T34</a:t>
            </a:r>
          </a:p>
        </p:txBody>
      </p:sp>
      <p:sp>
        <p:nvSpPr>
          <p:cNvPr id="6" name="TextBox 5"/>
          <p:cNvSpPr txBox="1"/>
          <p:nvPr/>
        </p:nvSpPr>
        <p:spPr>
          <a:xfrm>
            <a:off x="914400" y="4480560"/>
            <a:ext cx="10360152" cy="457200"/>
          </a:xfrm>
          <a:prstGeom prst="rect">
            <a:avLst/>
          </a:prstGeom>
          <a:noFill/>
        </p:spPr>
        <p:txBody>
          <a:bodyPr wrap="square">
            <a:spAutoFit/>
          </a:bodyPr>
          <a:lstStyle/>
          <a:p>
            <a:pPr algn="ctr"/>
            <a:r>
              <a:rPr sz="2000" b="0">
                <a:solidFill>
                  <a:srgbClr val="1E293B"/>
                </a:solidFill>
                <a:latin typeface="Calibri"/>
              </a:rPr>
              <a:t>Giáo viên: ……………</a:t>
            </a:r>
          </a:p>
        </p:txBody>
      </p:sp>
      <p:sp>
        <p:nvSpPr>
          <p:cNvPr id="7" name="Rectangle 6"/>
          <p:cNvSpPr/>
          <p:nvPr/>
        </p:nvSpPr>
        <p:spPr>
          <a:xfrm>
            <a:off x="0" y="6492240"/>
            <a:ext cx="12188952" cy="3657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9184"/>
          </a:xfrm>
          <a:prstGeom prst="rect">
            <a:avLst/>
          </a:prstGeom>
          <a:noFill/>
        </p:spPr>
        <p:txBody>
          <a:bodyPr wrap="square">
            <a:spAutoFit/>
          </a:bodyPr>
          <a:lstStyle/>
          <a:p>
            <a:pPr algn="ctr"/>
            <a:r>
              <a:rPr sz="1300" b="0">
                <a:solidFill>
                  <a:srgbClr val="FFFFFF"/>
                </a:solidFill>
                <a:latin typeface="Calibri"/>
              </a:rPr>
              <a:t>Trường THPT – Bình Định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82880"/>
            <a:ext cx="11640312" cy="640080"/>
          </a:xfrm>
          <a:prstGeom prst="rect">
            <a:avLst/>
          </a:prstGeom>
          <a:noFill/>
        </p:spPr>
        <p:txBody>
          <a:bodyPr wrap="square">
            <a:spAutoFit/>
          </a:bodyPr>
          <a:lstStyle/>
          <a:p>
            <a:pPr algn="l"/>
            <a:r>
              <a:rPr sz="3200" b="1">
                <a:solidFill>
                  <a:srgbClr val="1E40AF"/>
                </a:solidFill>
                <a:latin typeface="Arial"/>
              </a:rPr>
              <a:t>MỤC TIÊU BÀI HỌC</a:t>
            </a:r>
          </a:p>
        </p:txBody>
      </p:sp>
      <p:sp>
        <p:nvSpPr>
          <p:cNvPr id="3" name="Rectangle 2"/>
          <p:cNvSpPr/>
          <p:nvPr/>
        </p:nvSpPr>
        <p:spPr>
          <a:xfrm>
            <a:off x="274320" y="86868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005840"/>
            <a:ext cx="41148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05840"/>
            <a:ext cx="411480" cy="411480"/>
          </a:xfrm>
          <a:prstGeom prst="rect">
            <a:avLst/>
          </a:prstGeom>
          <a:noFill/>
        </p:spPr>
        <p:txBody>
          <a:bodyPr wrap="square">
            <a:spAutoFit/>
          </a:bodyPr>
          <a:lstStyle/>
          <a:p>
            <a:pPr algn="ctr"/>
            <a:r>
              <a:rPr sz="1800" b="1">
                <a:solidFill>
                  <a:srgbClr val="FFFFFF"/>
                </a:solidFill>
                <a:latin typeface="Arial"/>
              </a:rPr>
              <a:t>1</a:t>
            </a:r>
          </a:p>
        </p:txBody>
      </p:sp>
      <p:sp>
        <p:nvSpPr>
          <p:cNvPr id="6" name="TextBox 5"/>
          <p:cNvSpPr txBox="1"/>
          <p:nvPr/>
        </p:nvSpPr>
        <p:spPr>
          <a:xfrm>
            <a:off x="777240" y="978408"/>
            <a:ext cx="11091672" cy="502920"/>
          </a:xfrm>
          <a:prstGeom prst="rect">
            <a:avLst/>
          </a:prstGeom>
          <a:noFill/>
        </p:spPr>
        <p:txBody>
          <a:bodyPr wrap="square">
            <a:spAutoFit/>
          </a:bodyPr>
          <a:lstStyle/>
          <a:p>
            <a:pPr algn="l"/>
            <a:r>
              <a:rPr sz="2000" b="0">
                <a:solidFill>
                  <a:srgbClr val="1E293B"/>
                </a:solidFill>
                <a:latin typeface="Calibri"/>
              </a:rPr>
              <a:t>Vẽ và phân tích biểu đồ CN VN</a:t>
            </a:r>
          </a:p>
        </p:txBody>
      </p:sp>
      <p:sp>
        <p:nvSpPr>
          <p:cNvPr id="7" name="Rectangle 6"/>
          <p:cNvSpPr/>
          <p:nvPr/>
        </p:nvSpPr>
        <p:spPr>
          <a:xfrm>
            <a:off x="274320" y="1600200"/>
            <a:ext cx="41148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600200"/>
            <a:ext cx="411480" cy="411480"/>
          </a:xfrm>
          <a:prstGeom prst="rect">
            <a:avLst/>
          </a:prstGeom>
          <a:noFill/>
        </p:spPr>
        <p:txBody>
          <a:bodyPr wrap="square">
            <a:spAutoFit/>
          </a:bodyPr>
          <a:lstStyle/>
          <a:p>
            <a:pPr algn="ctr"/>
            <a:r>
              <a:rPr sz="1800" b="1">
                <a:solidFill>
                  <a:srgbClr val="FFFFFF"/>
                </a:solidFill>
                <a:latin typeface="Arial"/>
              </a:rPr>
              <a:t>2</a:t>
            </a:r>
          </a:p>
        </p:txBody>
      </p:sp>
      <p:sp>
        <p:nvSpPr>
          <p:cNvPr id="9" name="TextBox 8"/>
          <p:cNvSpPr txBox="1"/>
          <p:nvPr/>
        </p:nvSpPr>
        <p:spPr>
          <a:xfrm>
            <a:off x="777240" y="1572768"/>
            <a:ext cx="11091672" cy="502920"/>
          </a:xfrm>
          <a:prstGeom prst="rect">
            <a:avLst/>
          </a:prstGeom>
          <a:noFill/>
        </p:spPr>
        <p:txBody>
          <a:bodyPr wrap="square">
            <a:spAutoFit/>
          </a:bodyPr>
          <a:lstStyle/>
          <a:p>
            <a:pPr algn="l"/>
            <a:r>
              <a:rPr sz="2000" b="0">
                <a:solidFill>
                  <a:srgbClr val="1E293B"/>
                </a:solidFill>
                <a:latin typeface="Calibri"/>
              </a:rPr>
              <a:t>Nhận xét xu hướng phát triển CN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62179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4114800" cy="347472"/>
          </a:xfrm>
          <a:prstGeom prst="rect">
            <a:avLst/>
          </a:prstGeom>
          <a:noFill/>
        </p:spPr>
        <p:txBody>
          <a:bodyPr wrap="square">
            <a:spAutoFit/>
          </a:bodyPr>
          <a:lstStyle/>
          <a:p>
            <a:pPr algn="l"/>
            <a:r>
              <a:rPr sz="2000" b="1">
                <a:solidFill>
                  <a:srgbClr val="FFFFFF"/>
                </a:solidFill>
                <a:latin typeface="Arial"/>
              </a:rPr>
              <a:t>SƠ ĐỒ TƯ DUY</a:t>
            </a:r>
          </a:p>
        </p:txBody>
      </p:sp>
      <p:sp>
        <p:nvSpPr>
          <p:cNvPr id="4" name="TextBox 3"/>
          <p:cNvSpPr txBox="1"/>
          <p:nvPr/>
        </p:nvSpPr>
        <p:spPr>
          <a:xfrm>
            <a:off x="4572000" y="64008"/>
            <a:ext cx="7342632" cy="347472"/>
          </a:xfrm>
          <a:prstGeom prst="rect">
            <a:avLst/>
          </a:prstGeom>
          <a:noFill/>
        </p:spPr>
        <p:txBody>
          <a:bodyPr wrap="square">
            <a:spAutoFit/>
          </a:bodyPr>
          <a:lstStyle/>
          <a:p>
            <a:pPr algn="l"/>
            <a:r>
              <a:rPr sz="1300" b="0">
                <a:solidFill>
                  <a:srgbClr val="FFFFFF"/>
                </a:solidFill>
                <a:latin typeface="Calibri"/>
              </a:rPr>
              <a:t>ĐỊA LÍ 12  |  Bài 19 (TH). Vẽ biểu đồ CN</a:t>
            </a:r>
          </a:p>
        </p:txBody>
      </p:sp>
      <p:pic>
        <p:nvPicPr>
          <p:cNvPr id="5" name="Picture 4" descr="_qr_dia_cc_bai19_k12.html.png"/>
          <p:cNvPicPr>
            <a:picLocks noChangeAspect="1"/>
          </p:cNvPicPr>
          <p:nvPr/>
        </p:nvPicPr>
        <p:blipFill>
          <a:blip r:embed="rId2"/>
          <a:stretch>
            <a:fillRect/>
          </a:stretch>
        </p:blipFill>
        <p:spPr>
          <a:xfrm>
            <a:off x="9674352" y="1463040"/>
            <a:ext cx="2286000" cy="2286000"/>
          </a:xfrm>
          <a:prstGeom prst="rect">
            <a:avLst/>
          </a:prstGeom>
        </p:spPr>
      </p:pic>
      <p:cxnSp>
        <p:nvCxnSpPr>
          <p:cNvPr id="6" name="Connector 5"/>
          <p:cNvCxnSpPr/>
          <p:nvPr/>
        </p:nvCxnSpPr>
        <p:spPr>
          <a:xfrm flipH="1" flipV="1">
            <a:off x="3508857" y="2670962"/>
            <a:ext cx="1351179" cy="1283818"/>
          </a:xfrm>
          <a:prstGeom prst="line">
            <a:avLst/>
          </a:prstGeom>
          <a:ln w="44450">
            <a:solidFill>
              <a:srgbClr val="54823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2197384" y="2144161"/>
            <a:ext cx="1311473" cy="526801"/>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66795" y="1867849"/>
            <a:ext cx="1430588"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Tròn: cơ cấu 1</a:t>
            </a:r>
          </a:p>
          <a:p>
            <a:pPr algn="ctr"/>
            <a:r>
              <a:rPr sz="1300" b="0">
                <a:solidFill>
                  <a:srgbClr val="000000"/>
                </a:solidFill>
                <a:latin typeface="Calibri"/>
              </a:rPr>
              <a:t>năm</a:t>
            </a:r>
          </a:p>
        </p:txBody>
      </p:sp>
      <p:cxnSp>
        <p:nvCxnSpPr>
          <p:cNvPr id="9" name="Connector 8"/>
          <p:cNvCxnSpPr/>
          <p:nvPr/>
        </p:nvCxnSpPr>
        <p:spPr>
          <a:xfrm flipH="1">
            <a:off x="2326162" y="2670962"/>
            <a:ext cx="1182695" cy="100711"/>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8017" y="2495362"/>
            <a:ext cx="1688144" cy="552622"/>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Cột nhóm: so sánh</a:t>
            </a:r>
          </a:p>
          <a:p>
            <a:pPr algn="ctr"/>
            <a:r>
              <a:rPr sz="1300" b="0">
                <a:solidFill>
                  <a:srgbClr val="000000"/>
                </a:solidFill>
                <a:latin typeface="Calibri"/>
              </a:rPr>
              <a:t>vùng</a:t>
            </a:r>
          </a:p>
        </p:txBody>
      </p:sp>
      <p:cxnSp>
        <p:nvCxnSpPr>
          <p:cNvPr id="11" name="Connector 10"/>
          <p:cNvCxnSpPr/>
          <p:nvPr/>
        </p:nvCxnSpPr>
        <p:spPr>
          <a:xfrm flipH="1">
            <a:off x="2197384" y="2670962"/>
            <a:ext cx="1311473" cy="627512"/>
          </a:xfrm>
          <a:prstGeom prst="line">
            <a:avLst/>
          </a:prstGeom>
          <a:ln w="15875">
            <a:solidFill>
              <a:srgbClr val="548235"/>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66795" y="3122874"/>
            <a:ext cx="1430588" cy="351200"/>
          </a:xfrm>
          <a:prstGeom prst="roundRect">
            <a:avLst>
              <a:gd name="adj" fmla="val 50000"/>
            </a:avLst>
          </a:prstGeom>
          <a:solidFill>
            <a:srgbClr val="EDF5E8"/>
          </a:solidFill>
          <a:ln w="15875">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Miền: xu hướng</a:t>
            </a:r>
          </a:p>
        </p:txBody>
      </p:sp>
      <p:sp>
        <p:nvSpPr>
          <p:cNvPr id="13" name="Oval 12"/>
          <p:cNvSpPr/>
          <p:nvPr/>
        </p:nvSpPr>
        <p:spPr>
          <a:xfrm>
            <a:off x="2631765" y="2259078"/>
            <a:ext cx="1754184"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Chọn BD phù</a:t>
            </a:r>
          </a:p>
          <a:p>
            <a:pPr algn="ctr"/>
            <a:r>
              <a:rPr sz="1500" b="1">
                <a:solidFill>
                  <a:srgbClr val="000000"/>
                </a:solidFill>
                <a:latin typeface="Calibri"/>
              </a:rPr>
              <a:t>hợp</a:t>
            </a:r>
          </a:p>
        </p:txBody>
      </p:sp>
      <p:cxnSp>
        <p:nvCxnSpPr>
          <p:cNvPr id="14" name="Connector 13"/>
          <p:cNvCxnSpPr/>
          <p:nvPr/>
        </p:nvCxnSpPr>
        <p:spPr>
          <a:xfrm flipV="1">
            <a:off x="4860036" y="2670962"/>
            <a:ext cx="1351178" cy="1283818"/>
          </a:xfrm>
          <a:prstGeom prst="line">
            <a:avLst/>
          </a:prstGeom>
          <a:ln w="44450">
            <a:solidFill>
              <a:srgbClr val="BF8F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211214" y="2244872"/>
            <a:ext cx="1268547" cy="426090"/>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79761" y="1968560"/>
            <a:ext cx="1516440" cy="552622"/>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Tên biểu đồ đầy</a:t>
            </a:r>
          </a:p>
          <a:p>
            <a:pPr algn="ctr"/>
            <a:r>
              <a:rPr sz="1300" b="0">
                <a:solidFill>
                  <a:srgbClr val="000000"/>
                </a:solidFill>
                <a:latin typeface="Calibri"/>
              </a:rPr>
              <a:t>đủ</a:t>
            </a:r>
          </a:p>
        </p:txBody>
      </p:sp>
      <p:cxnSp>
        <p:nvCxnSpPr>
          <p:cNvPr id="17" name="Connector 16"/>
          <p:cNvCxnSpPr/>
          <p:nvPr/>
        </p:nvCxnSpPr>
        <p:spPr>
          <a:xfrm>
            <a:off x="6211214" y="2670962"/>
            <a:ext cx="1225621" cy="100711"/>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36835" y="2596073"/>
            <a:ext cx="1602292" cy="351200"/>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Đơn vị trục tung</a:t>
            </a:r>
          </a:p>
        </p:txBody>
      </p:sp>
      <p:cxnSp>
        <p:nvCxnSpPr>
          <p:cNvPr id="19" name="Connector 18"/>
          <p:cNvCxnSpPr/>
          <p:nvPr/>
        </p:nvCxnSpPr>
        <p:spPr>
          <a:xfrm>
            <a:off x="6211214" y="2670962"/>
            <a:ext cx="1397325" cy="526801"/>
          </a:xfrm>
          <a:prstGeom prst="line">
            <a:avLst/>
          </a:prstGeom>
          <a:ln w="15875">
            <a:solidFill>
              <a:srgbClr val="BF8F0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608539" y="3022163"/>
            <a:ext cx="1258884" cy="351200"/>
          </a:xfrm>
          <a:prstGeom prst="roundRect">
            <a:avLst>
              <a:gd name="adj" fmla="val 50000"/>
            </a:avLst>
          </a:prstGeom>
          <a:solidFill>
            <a:srgbClr val="FFF8E1"/>
          </a:solidFill>
          <a:ln w="15875">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Chú giải màu</a:t>
            </a:r>
          </a:p>
        </p:txBody>
      </p:sp>
      <p:sp>
        <p:nvSpPr>
          <p:cNvPr id="21" name="Oval 20"/>
          <p:cNvSpPr/>
          <p:nvPr/>
        </p:nvSpPr>
        <p:spPr>
          <a:xfrm>
            <a:off x="5334121" y="2259078"/>
            <a:ext cx="1754184"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Kĩ thuật vẽ</a:t>
            </a:r>
          </a:p>
          <a:p>
            <a:pPr algn="ctr"/>
            <a:r>
              <a:rPr sz="1500" b="1">
                <a:solidFill>
                  <a:srgbClr val="000000"/>
                </a:solidFill>
                <a:latin typeface="Calibri"/>
              </a:rPr>
              <a:t>BD CN</a:t>
            </a:r>
          </a:p>
        </p:txBody>
      </p:sp>
      <p:cxnSp>
        <p:nvCxnSpPr>
          <p:cNvPr id="22" name="Connector 21"/>
          <p:cNvCxnSpPr/>
          <p:nvPr/>
        </p:nvCxnSpPr>
        <p:spPr>
          <a:xfrm flipH="1">
            <a:off x="3508857" y="3954780"/>
            <a:ext cx="1351179" cy="1283817"/>
          </a:xfrm>
          <a:prstGeom prst="line">
            <a:avLst/>
          </a:prstGeom>
          <a:ln w="44450">
            <a:solidFill>
              <a:srgbClr val="2F55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197384" y="4812507"/>
            <a:ext cx="1311473" cy="426090"/>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66795" y="4636907"/>
            <a:ext cx="1430588"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Xu hướng chung</a:t>
            </a:r>
          </a:p>
        </p:txBody>
      </p:sp>
      <p:cxnSp>
        <p:nvCxnSpPr>
          <p:cNvPr id="25" name="Connector 24"/>
          <p:cNvCxnSpPr/>
          <p:nvPr/>
        </p:nvCxnSpPr>
        <p:spPr>
          <a:xfrm flipH="1">
            <a:off x="2240310" y="5238597"/>
            <a:ext cx="1268547" cy="0"/>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23869" y="5062997"/>
            <a:ext cx="1516440"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Cực trị–So sánh</a:t>
            </a:r>
          </a:p>
        </p:txBody>
      </p:sp>
      <p:cxnSp>
        <p:nvCxnSpPr>
          <p:cNvPr id="27" name="Connector 26"/>
          <p:cNvCxnSpPr/>
          <p:nvPr/>
        </p:nvCxnSpPr>
        <p:spPr>
          <a:xfrm flipH="1">
            <a:off x="2540792" y="5238597"/>
            <a:ext cx="968065" cy="426090"/>
          </a:xfrm>
          <a:prstGeom prst="line">
            <a:avLst/>
          </a:prstGeom>
          <a:ln w="15875">
            <a:solidFill>
              <a:srgbClr val="2F5597"/>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23387" y="5489087"/>
            <a:ext cx="2117404" cy="351200"/>
          </a:xfrm>
          <a:prstGeom prst="roundRect">
            <a:avLst>
              <a:gd name="adj" fmla="val 50000"/>
            </a:avLst>
          </a:prstGeom>
          <a:solidFill>
            <a:srgbClr val="E3EEF9"/>
          </a:solidFill>
          <a:ln w="15875">
            <a:solidFill>
              <a:srgbClr val="2F5597"/>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Giải thích nguyên nhân</a:t>
            </a:r>
          </a:p>
        </p:txBody>
      </p:sp>
      <p:sp>
        <p:nvSpPr>
          <p:cNvPr id="29" name="Oval 28"/>
          <p:cNvSpPr/>
          <p:nvPr/>
        </p:nvSpPr>
        <p:spPr>
          <a:xfrm>
            <a:off x="2701107" y="4826713"/>
            <a:ext cx="1615500" cy="823767"/>
          </a:xfrm>
          <a:prstGeom prst="ellipse">
            <a:avLst/>
          </a:prstGeom>
          <a:solidFill>
            <a:srgbClr val="E2EFDA"/>
          </a:solidFill>
          <a:ln w="31750">
            <a:solidFill>
              <a:srgbClr val="375623"/>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Nhận xét 5</a:t>
            </a:r>
          </a:p>
          <a:p>
            <a:pPr algn="ctr"/>
            <a:r>
              <a:rPr sz="1500" b="1">
                <a:solidFill>
                  <a:srgbClr val="000000"/>
                </a:solidFill>
                <a:latin typeface="Calibri"/>
              </a:rPr>
              <a:t>bước</a:t>
            </a:r>
          </a:p>
        </p:txBody>
      </p:sp>
      <p:cxnSp>
        <p:nvCxnSpPr>
          <p:cNvPr id="30" name="Connector 29"/>
          <p:cNvCxnSpPr/>
          <p:nvPr/>
        </p:nvCxnSpPr>
        <p:spPr>
          <a:xfrm>
            <a:off x="4860036" y="3954780"/>
            <a:ext cx="1351178" cy="1283817"/>
          </a:xfrm>
          <a:prstGeom prst="line">
            <a:avLst/>
          </a:prstGeom>
          <a:ln w="44450">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211214" y="4711796"/>
            <a:ext cx="1139769" cy="526801"/>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350983" y="4536196"/>
            <a:ext cx="1773996" cy="351200"/>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GTSX CN theo ngành</a:t>
            </a:r>
          </a:p>
        </p:txBody>
      </p:sp>
      <p:cxnSp>
        <p:nvCxnSpPr>
          <p:cNvPr id="33" name="Connector 32"/>
          <p:cNvCxnSpPr/>
          <p:nvPr/>
        </p:nvCxnSpPr>
        <p:spPr>
          <a:xfrm>
            <a:off x="6211214" y="5238597"/>
            <a:ext cx="1354399" cy="0"/>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565613" y="4962286"/>
            <a:ext cx="1344736" cy="552622"/>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Tỉ lệ FDI tại</a:t>
            </a:r>
          </a:p>
          <a:p>
            <a:pPr algn="ctr"/>
            <a:r>
              <a:rPr sz="1300" b="0">
                <a:solidFill>
                  <a:srgbClr val="000000"/>
                </a:solidFill>
                <a:latin typeface="Calibri"/>
              </a:rPr>
              <a:t>KKT</a:t>
            </a:r>
          </a:p>
        </p:txBody>
      </p:sp>
      <p:cxnSp>
        <p:nvCxnSpPr>
          <p:cNvPr id="35" name="Connector 34"/>
          <p:cNvCxnSpPr/>
          <p:nvPr/>
        </p:nvCxnSpPr>
        <p:spPr>
          <a:xfrm>
            <a:off x="6211214" y="5238597"/>
            <a:ext cx="1397325" cy="526801"/>
          </a:xfrm>
          <a:prstGeom prst="line">
            <a:avLst/>
          </a:prstGeom>
          <a:ln w="15875">
            <a:solidFill>
              <a:srgbClr val="7030A0"/>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608539" y="5589798"/>
            <a:ext cx="1258884" cy="351200"/>
          </a:xfrm>
          <a:prstGeom prst="roundRect">
            <a:avLst>
              <a:gd name="adj" fmla="val 50000"/>
            </a:avLst>
          </a:prstGeom>
          <a:solidFill>
            <a:srgbClr val="F3E8F7"/>
          </a:solidFill>
          <a:ln w="15875">
            <a:solidFill>
              <a:srgbClr val="7030A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300" b="0">
                <a:solidFill>
                  <a:srgbClr val="000000"/>
                </a:solidFill>
                <a:latin typeface="Calibri"/>
              </a:rPr>
              <a:t>Điện tái tạo</a:t>
            </a:r>
          </a:p>
        </p:txBody>
      </p:sp>
      <p:sp>
        <p:nvSpPr>
          <p:cNvPr id="37" name="Oval 36"/>
          <p:cNvSpPr/>
          <p:nvPr/>
        </p:nvSpPr>
        <p:spPr>
          <a:xfrm>
            <a:off x="5264779" y="4826713"/>
            <a:ext cx="1892868" cy="823767"/>
          </a:xfrm>
          <a:prstGeom prst="ellipse">
            <a:avLst/>
          </a:prstGeom>
          <a:solidFill>
            <a:srgbClr val="FFF2CC"/>
          </a:solidFill>
          <a:ln w="3175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500" b="1">
                <a:solidFill>
                  <a:srgbClr val="000000"/>
                </a:solidFill>
                <a:latin typeface="Calibri"/>
              </a:rPr>
              <a:t>Số liệu Bình</a:t>
            </a:r>
          </a:p>
          <a:p>
            <a:pPr algn="ctr"/>
            <a:r>
              <a:rPr sz="1500" b="1">
                <a:solidFill>
                  <a:srgbClr val="000000"/>
                </a:solidFill>
                <a:latin typeface="Calibri"/>
              </a:rPr>
              <a:t>Định</a:t>
            </a:r>
          </a:p>
        </p:txBody>
      </p:sp>
      <p:sp>
        <p:nvSpPr>
          <p:cNvPr id="38" name="Oval 37"/>
          <p:cNvSpPr/>
          <p:nvPr/>
        </p:nvSpPr>
        <p:spPr>
          <a:xfrm>
            <a:off x="3802654" y="3287245"/>
            <a:ext cx="2114763" cy="1335069"/>
          </a:xfrm>
          <a:prstGeom prst="ellipse">
            <a:avLst/>
          </a:prstGeom>
          <a:solidFill>
            <a:srgbClr val="002060"/>
          </a:solidFill>
          <a:ln w="25400">
            <a:solidFill>
              <a:srgbClr val="000B1E"/>
            </a:solidFill>
          </a:ln>
          <a:effectLst/>
        </p:spPr>
        <p:style>
          <a:lnRef idx="1">
            <a:schemeClr val="accent1"/>
          </a:lnRef>
          <a:fillRef idx="3">
            <a:schemeClr val="accent1"/>
          </a:fillRef>
          <a:effectRef idx="2">
            <a:schemeClr val="accent1"/>
          </a:effectRef>
          <a:fontRef idx="minor">
            <a:schemeClr val="lt1"/>
          </a:fontRef>
        </p:style>
        <p:txBody>
          <a:bodyPr rtlCol="0" anchor="ctr" wrap="none" lIns="64000" rIns="64000" tIns="25400" bIns="25400"/>
          <a:lstStyle/>
          <a:p>
            <a:pPr algn="ctr"/>
            <a:r>
              <a:rPr sz="1700" b="1">
                <a:solidFill>
                  <a:srgbClr val="FFFFFF"/>
                </a:solidFill>
                <a:latin typeface="Calibri"/>
              </a:rPr>
              <a:t>BÀI 19 (TH).</a:t>
            </a:r>
          </a:p>
          <a:p>
            <a:pPr algn="ctr"/>
            <a:r>
              <a:rPr sz="1700" b="1">
                <a:solidFill>
                  <a:srgbClr val="FFFFFF"/>
                </a:solidFill>
                <a:latin typeface="Calibri"/>
              </a:rPr>
              <a:t>VẼ BIỂU ĐỒ</a:t>
            </a:r>
          </a:p>
          <a:p>
            <a:pPr algn="ctr"/>
            <a:r>
              <a:rPr sz="1700" b="1">
                <a:solidFill>
                  <a:srgbClr val="FFFFFF"/>
                </a:solidFill>
                <a:latin typeface="Calibri"/>
              </a:rPr>
              <a:t>CN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011680" cy="502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011680" cy="502920"/>
          </a:xfrm>
          <a:prstGeom prst="rect">
            <a:avLst/>
          </a:prstGeom>
          <a:noFill/>
        </p:spPr>
        <p:txBody>
          <a:bodyPr wrap="square">
            <a:spAutoFit/>
          </a:bodyPr>
          <a:lstStyle/>
          <a:p>
            <a:pPr algn="ctr"/>
            <a:r>
              <a:rPr sz="1600" b="1">
                <a:solidFill>
                  <a:srgbClr val="FFFFFF"/>
                </a:solidFill>
                <a:latin typeface="Arial"/>
              </a:rPr>
              <a:t>ĐỀ BÀI – NỘI DUNG 1</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600" b="1">
                <a:solidFill>
                  <a:srgbClr val="1E40AF"/>
                </a:solidFill>
                <a:latin typeface="Arial"/>
              </a:rPr>
              <a:t>Thực hành vẽ BD CN</a:t>
            </a:r>
          </a:p>
        </p:txBody>
      </p:sp>
      <p:sp>
        <p:nvSpPr>
          <p:cNvPr id="5" name="Rectangle 4"/>
          <p:cNvSpPr/>
          <p:nvPr/>
        </p:nvSpPr>
        <p:spPr>
          <a:xfrm>
            <a:off x="274320" y="141732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840480"/>
          </a:xfrm>
          <a:prstGeom prst="rect">
            <a:avLst/>
          </a:prstGeom>
          <a:noFill/>
        </p:spPr>
        <p:txBody>
          <a:bodyPr wrap="square">
            <a:spAutoFit/>
          </a:bodyPr>
          <a:lstStyle/>
          <a:p>
            <a:pPr algn="l"/>
            <a:r>
              <a:rPr sz="2200" b="0">
                <a:solidFill>
                  <a:srgbClr val="1E293B"/>
                </a:solidFill>
                <a:latin typeface="Calibri"/>
              </a:rPr>
              <a:t>Cơ cấu tại 1 năm → tròn
Nhiều năm nhiều chỉ tiêu → miền 100%
So sánh nhiều vùng → cột nhóm
Số liệu: GT SX CN theo ngành, cơ cấu theo loại hình</a:t>
            </a:r>
          </a:p>
        </p:txBody>
      </p:sp>
      <p:sp>
        <p:nvSpPr>
          <p:cNvPr id="7" name="Rectangle 6"/>
          <p:cNvSpPr/>
          <p:nvPr/>
        </p:nvSpPr>
        <p:spPr>
          <a:xfrm>
            <a:off x="274320" y="5760720"/>
            <a:ext cx="11640312" cy="685800"/>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806440"/>
            <a:ext cx="11457432" cy="594360"/>
          </a:xfrm>
          <a:prstGeom prst="rect">
            <a:avLst/>
          </a:prstGeom>
          <a:noFill/>
        </p:spPr>
        <p:txBody>
          <a:bodyPr wrap="square">
            <a:spAutoFit/>
          </a:bodyPr>
          <a:lstStyle/>
          <a:p>
            <a:pPr algn="l"/>
            <a:r>
              <a:rPr sz="1800" b="0">
                <a:solidFill>
                  <a:srgbClr val="1E40AF"/>
                </a:solidFill>
                <a:latin typeface="Calibri"/>
              </a:rPr>
              <a:t>💡 Suy nghĩ và thảo luận nhóm.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50292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286000" cy="502920"/>
          </a:xfrm>
          <a:prstGeom prst="rect">
            <a:avLst/>
          </a:prstGeom>
          <a:noFill/>
        </p:spPr>
        <p:txBody>
          <a:bodyPr wrap="square">
            <a:spAutoFit/>
          </a:bodyPr>
          <a:lstStyle/>
          <a:p>
            <a:pPr algn="ctr"/>
            <a:r>
              <a:rPr sz="1600" b="1">
                <a:solidFill>
                  <a:srgbClr val="FFFFFF"/>
                </a:solidFill>
                <a:latin typeface="Arial"/>
              </a:rPr>
              <a:t>LỜI GIẢI – NỘI DUNG 1</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400" b="1">
                <a:solidFill>
                  <a:srgbClr val="991B1B"/>
                </a:solidFill>
                <a:latin typeface="Arial"/>
              </a:rPr>
              <a:t>Thực hành vẽ BD CN</a:t>
            </a:r>
          </a:p>
        </p:txBody>
      </p:sp>
      <p:sp>
        <p:nvSpPr>
          <p:cNvPr id="5" name="Rectangle 4"/>
          <p:cNvSpPr/>
          <p:nvPr/>
        </p:nvSpPr>
        <p:spPr>
          <a:xfrm>
            <a:off x="274320" y="1417320"/>
            <a:ext cx="11640312" cy="36576"/>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474720"/>
          </a:xfrm>
          <a:prstGeom prst="rect">
            <a:avLst/>
          </a:prstGeom>
          <a:noFill/>
        </p:spPr>
        <p:txBody>
          <a:bodyPr wrap="square">
            <a:spAutoFit/>
          </a:bodyPr>
          <a:lstStyle/>
          <a:p>
            <a:pPr algn="l"/>
            <a:r>
              <a:rPr sz="2100" b="0">
                <a:solidFill>
                  <a:srgbClr val="1E293B"/>
                </a:solidFill>
                <a:latin typeface="Calibri"/>
              </a:rPr>
              <a:t>Cơ cấu tại 1 năm → tròn
Nhiều năm nhiều chỉ tiêu → miền 100%
So sánh nhiều vùng → cột nhóm
Số liệu: GT SX CN theo ngành, cơ cấu theo loại hình</a:t>
            </a:r>
          </a:p>
        </p:txBody>
      </p:sp>
      <p:sp>
        <p:nvSpPr>
          <p:cNvPr id="7" name="Rectangle 6"/>
          <p:cNvSpPr/>
          <p:nvPr/>
        </p:nvSpPr>
        <p:spPr>
          <a:xfrm>
            <a:off x="274320" y="5120640"/>
            <a:ext cx="11640312"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166360"/>
            <a:ext cx="11457432" cy="822960"/>
          </a:xfrm>
          <a:prstGeom prst="rect">
            <a:avLst/>
          </a:prstGeom>
          <a:noFill/>
        </p:spPr>
        <p:txBody>
          <a:bodyPr wrap="square">
            <a:spAutoFit/>
          </a:bodyPr>
          <a:lstStyle/>
          <a:p>
            <a:pPr algn="l"/>
            <a:r>
              <a:rPr sz="2200" b="1">
                <a:solidFill>
                  <a:srgbClr val="991B1B"/>
                </a:solidFill>
                <a:latin typeface="Arial"/>
              </a:rPr>
              <a:t>✦ Ưu tiên BD phù hợp mục tiêu phân tích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011680" cy="502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011680" cy="502920"/>
          </a:xfrm>
          <a:prstGeom prst="rect">
            <a:avLst/>
          </a:prstGeom>
          <a:noFill/>
        </p:spPr>
        <p:txBody>
          <a:bodyPr wrap="square">
            <a:spAutoFit/>
          </a:bodyPr>
          <a:lstStyle/>
          <a:p>
            <a:pPr algn="ctr"/>
            <a:r>
              <a:rPr sz="1600" b="1">
                <a:solidFill>
                  <a:srgbClr val="FFFFFF"/>
                </a:solidFill>
                <a:latin typeface="Arial"/>
              </a:rPr>
              <a:t>ĐỀ BÀI – NỘI DUNG 2</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600" b="1">
                <a:solidFill>
                  <a:srgbClr val="1E40AF"/>
                </a:solidFill>
                <a:latin typeface="Arial"/>
              </a:rPr>
              <a:t>Nhận xét biểu đồ CN 5 bước</a:t>
            </a:r>
          </a:p>
        </p:txBody>
      </p:sp>
      <p:sp>
        <p:nvSpPr>
          <p:cNvPr id="5" name="Rectangle 4"/>
          <p:cNvSpPr/>
          <p:nvPr/>
        </p:nvSpPr>
        <p:spPr>
          <a:xfrm>
            <a:off x="274320" y="141732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840480"/>
          </a:xfrm>
          <a:prstGeom prst="rect">
            <a:avLst/>
          </a:prstGeom>
          <a:noFill/>
        </p:spPr>
        <p:txBody>
          <a:bodyPr wrap="square">
            <a:spAutoFit/>
          </a:bodyPr>
          <a:lstStyle/>
          <a:p>
            <a:pPr algn="l"/>
            <a:r>
              <a:rPr sz="2200" b="0">
                <a:solidFill>
                  <a:srgbClr val="1E293B"/>
                </a:solidFill>
                <a:latin typeface="Calibri"/>
              </a:rPr>
              <a:t>1. Mô tả tổng quát
2. Nhận xét cụ thể (cực trị, tốc độ)
3. So sánh (giữa năm, vùng, ngành)
4. Giải thích (FDI, chính sách, TN)
5. Kết luận (xu hướng, triển vọng)
Bình Định: phân tích CN theo Niên giám TK tỉnh</a:t>
            </a:r>
          </a:p>
        </p:txBody>
      </p:sp>
      <p:sp>
        <p:nvSpPr>
          <p:cNvPr id="7" name="Rectangle 6"/>
          <p:cNvSpPr/>
          <p:nvPr/>
        </p:nvSpPr>
        <p:spPr>
          <a:xfrm>
            <a:off x="274320" y="5760720"/>
            <a:ext cx="11640312" cy="685800"/>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806440"/>
            <a:ext cx="11457432" cy="594360"/>
          </a:xfrm>
          <a:prstGeom prst="rect">
            <a:avLst/>
          </a:prstGeom>
          <a:noFill/>
        </p:spPr>
        <p:txBody>
          <a:bodyPr wrap="square">
            <a:spAutoFit/>
          </a:bodyPr>
          <a:lstStyle/>
          <a:p>
            <a:pPr algn="l"/>
            <a:r>
              <a:rPr sz="1800" b="0">
                <a:solidFill>
                  <a:srgbClr val="1E40AF"/>
                </a:solidFill>
                <a:latin typeface="Calibri"/>
              </a:rPr>
              <a:t>💡 Suy nghĩ và thảo luận nhóm.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50292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286000" cy="502920"/>
          </a:xfrm>
          <a:prstGeom prst="rect">
            <a:avLst/>
          </a:prstGeom>
          <a:noFill/>
        </p:spPr>
        <p:txBody>
          <a:bodyPr wrap="square">
            <a:spAutoFit/>
          </a:bodyPr>
          <a:lstStyle/>
          <a:p>
            <a:pPr algn="ctr"/>
            <a:r>
              <a:rPr sz="1600" b="1">
                <a:solidFill>
                  <a:srgbClr val="FFFFFF"/>
                </a:solidFill>
                <a:latin typeface="Arial"/>
              </a:rPr>
              <a:t>LỜI GIẢI – NỘI DUNG 2</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400" b="1">
                <a:solidFill>
                  <a:srgbClr val="991B1B"/>
                </a:solidFill>
                <a:latin typeface="Arial"/>
              </a:rPr>
              <a:t>Nhận xét biểu đồ CN 5 bước</a:t>
            </a:r>
          </a:p>
        </p:txBody>
      </p:sp>
      <p:sp>
        <p:nvSpPr>
          <p:cNvPr id="5" name="Rectangle 4"/>
          <p:cNvSpPr/>
          <p:nvPr/>
        </p:nvSpPr>
        <p:spPr>
          <a:xfrm>
            <a:off x="274320" y="1417320"/>
            <a:ext cx="11640312" cy="36576"/>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474720"/>
          </a:xfrm>
          <a:prstGeom prst="rect">
            <a:avLst/>
          </a:prstGeom>
          <a:noFill/>
        </p:spPr>
        <p:txBody>
          <a:bodyPr wrap="square">
            <a:spAutoFit/>
          </a:bodyPr>
          <a:lstStyle/>
          <a:p>
            <a:pPr algn="l"/>
            <a:r>
              <a:rPr sz="2100" b="0">
                <a:solidFill>
                  <a:srgbClr val="1E293B"/>
                </a:solidFill>
                <a:latin typeface="Calibri"/>
              </a:rPr>
              <a:t>1. Mô tả tổng quát
2. Nhận xét cụ thể (cực trị, tốc độ)
3. So sánh (giữa năm, vùng, ngành)
4. Giải thích (FDI, chính sách, TN)
5. Kết luận (xu hướng, triển vọng)
Bình Định: phân tích CN theo Niên giám TK tỉnh</a:t>
            </a:r>
          </a:p>
        </p:txBody>
      </p:sp>
      <p:sp>
        <p:nvSpPr>
          <p:cNvPr id="7" name="Rectangle 6"/>
          <p:cNvSpPr/>
          <p:nvPr/>
        </p:nvSpPr>
        <p:spPr>
          <a:xfrm>
            <a:off x="274320" y="5120640"/>
            <a:ext cx="11640312"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166360"/>
            <a:ext cx="11457432" cy="822960"/>
          </a:xfrm>
          <a:prstGeom prst="rect">
            <a:avLst/>
          </a:prstGeom>
          <a:noFill/>
        </p:spPr>
        <p:txBody>
          <a:bodyPr wrap="square">
            <a:spAutoFit/>
          </a:bodyPr>
          <a:lstStyle/>
          <a:p>
            <a:pPr algn="l"/>
            <a:r>
              <a:rPr sz="2200" b="1">
                <a:solidFill>
                  <a:srgbClr val="991B1B"/>
                </a:solidFill>
                <a:latin typeface="Arial"/>
              </a:rPr>
              <a:t>✦ Thực hành với số liệu thực tế tỉnh Bình Định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1005840"/>
          </a:xfrm>
          <a:prstGeom prst="rect">
            <a:avLst/>
          </a:prstGeom>
          <a:noFill/>
        </p:spPr>
        <p:txBody>
          <a:bodyPr wrap="square">
            <a:spAutoFit/>
          </a:bodyPr>
          <a:lstStyle/>
          <a:p>
            <a:pPr algn="ctr"/>
            <a:r>
              <a:rPr sz="4200" b="1">
                <a:solidFill>
                  <a:srgbClr val="FFFFFF"/>
                </a:solidFill>
                <a:latin typeface="Arial"/>
              </a:rPr>
              <a:t>BÀI TẬP CỦA BẠN</a:t>
            </a:r>
          </a:p>
        </p:txBody>
      </p:sp>
      <p:sp>
        <p:nvSpPr>
          <p:cNvPr id="4" name="TextBox 3"/>
          <p:cNvSpPr txBox="1"/>
          <p:nvPr/>
        </p:nvSpPr>
        <p:spPr>
          <a:xfrm>
            <a:off x="365760" y="1417320"/>
            <a:ext cx="6858000" cy="640080"/>
          </a:xfrm>
          <a:prstGeom prst="rect">
            <a:avLst/>
          </a:prstGeom>
          <a:noFill/>
        </p:spPr>
        <p:txBody>
          <a:bodyPr wrap="square">
            <a:spAutoFit/>
          </a:bodyPr>
          <a:lstStyle/>
          <a:p>
            <a:pPr algn="l"/>
            <a:r>
              <a:rPr sz="2200" b="0">
                <a:solidFill>
                  <a:srgbClr val="1E40AF"/>
                </a:solidFill>
                <a:latin typeface="Calibri"/>
              </a:rPr>
              <a:t>Địa lí 12 – Bài 19 (TH). Vẽ biểu đồ CN</a:t>
            </a:r>
          </a:p>
        </p:txBody>
      </p:sp>
      <p:sp>
        <p:nvSpPr>
          <p:cNvPr id="5" name="Rectangle 4"/>
          <p:cNvSpPr/>
          <p:nvPr/>
        </p:nvSpPr>
        <p:spPr>
          <a:xfrm>
            <a:off x="365760" y="2103120"/>
            <a:ext cx="6858000" cy="685800"/>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76272"/>
            <a:ext cx="6675120" cy="548640"/>
          </a:xfrm>
          <a:prstGeom prst="rect">
            <a:avLst/>
          </a:prstGeom>
          <a:noFill/>
        </p:spPr>
        <p:txBody>
          <a:bodyPr wrap="square">
            <a:spAutoFit/>
          </a:bodyPr>
          <a:lstStyle/>
          <a:p>
            <a:pPr algn="l"/>
            <a:r>
              <a:rPr sz="1700" b="0">
                <a:solidFill>
                  <a:srgbClr val="15783A"/>
                </a:solidFill>
                <a:latin typeface="Calibri"/>
              </a:rPr>
              <a:t>🔗  https://trangtu66.github.io/Taode_thi_online/dia_cc_bai19_k12.html</a:t>
            </a:r>
          </a:p>
        </p:txBody>
      </p:sp>
      <p:sp>
        <p:nvSpPr>
          <p:cNvPr id="7" name="TextBox 6"/>
          <p:cNvSpPr txBox="1"/>
          <p:nvPr/>
        </p:nvSpPr>
        <p:spPr>
          <a:xfrm>
            <a:off x="365760" y="2926080"/>
            <a:ext cx="6858000" cy="822960"/>
          </a:xfrm>
          <a:prstGeom prst="rect">
            <a:avLst/>
          </a:prstGeom>
          <a:noFill/>
        </p:spPr>
        <p:txBody>
          <a:bodyPr wrap="square">
            <a:spAutoFit/>
          </a:bodyPr>
          <a:lstStyle/>
          <a:p>
            <a:pPr algn="l"/>
            <a:r>
              <a:rPr sz="2000" b="0">
                <a:solidFill>
                  <a:srgbClr val="1E293B"/>
                </a:solidFill>
                <a:latin typeface="Calibri"/>
              </a:rPr>
              <a:t>6 câu trắc nghiệm + 1 câu đúng/sai
Kết quả ngay lập tức – Xếp hạng lớp</a:t>
            </a:r>
          </a:p>
        </p:txBody>
      </p:sp>
      <p:sp>
        <p:nvSpPr>
          <p:cNvPr id="8" name="TextBox 7"/>
          <p:cNvSpPr txBox="1"/>
          <p:nvPr/>
        </p:nvSpPr>
        <p:spPr>
          <a:xfrm>
            <a:off x="365760" y="3840480"/>
            <a:ext cx="6858000" cy="548640"/>
          </a:xfrm>
          <a:prstGeom prst="rect">
            <a:avLst/>
          </a:prstGeom>
          <a:noFill/>
        </p:spPr>
        <p:txBody>
          <a:bodyPr wrap="square">
            <a:spAutoFit/>
          </a:bodyPr>
          <a:lstStyle/>
          <a:p>
            <a:pPr algn="l"/>
            <a:r>
              <a:rPr sz="2200" b="1">
                <a:solidFill>
                  <a:srgbClr val="1E40AF"/>
                </a:solidFill>
                <a:latin typeface="Arial"/>
              </a:rPr>
              <a:t>📱  Quét mã QR để làm bài ngay →</a:t>
            </a:r>
          </a:p>
        </p:txBody>
      </p:sp>
      <p:pic>
        <p:nvPicPr>
          <p:cNvPr id="9" name="Picture 8" descr="QR_CungCo_DIA12_Bai19.png"/>
          <p:cNvPicPr>
            <a:picLocks noChangeAspect="1"/>
          </p:cNvPicPr>
          <p:nvPr/>
        </p:nvPicPr>
        <p:blipFill>
          <a:blip r:embed="rId2"/>
          <a:stretch>
            <a:fillRect/>
          </a:stretch>
        </p:blipFill>
        <p:spPr>
          <a:xfrm>
            <a:off x="7589520" y="1280160"/>
            <a:ext cx="4114800" cy="4114800"/>
          </a:xfrm>
          <a:prstGeom prst="rect">
            <a:avLst/>
          </a:prstGeom>
        </p:spPr>
      </p:pic>
      <p:sp>
        <p:nvSpPr>
          <p:cNvPr id="10" name="Rectangle 9"/>
          <p:cNvSpPr/>
          <p:nvPr/>
        </p:nvSpPr>
        <p:spPr>
          <a:xfrm>
            <a:off x="0" y="6400800"/>
            <a:ext cx="12188952" cy="4572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419088"/>
            <a:ext cx="11640312" cy="420624"/>
          </a:xfrm>
          <a:prstGeom prst="rect">
            <a:avLst/>
          </a:prstGeom>
          <a:noFill/>
        </p:spPr>
        <p:txBody>
          <a:bodyPr wrap="square">
            <a:spAutoFit/>
          </a:bodyPr>
          <a:lstStyle/>
          <a:p>
            <a:pPr algn="ctr"/>
            <a:r>
              <a:rPr sz="1600" b="0">
                <a:solidFill>
                  <a:srgbClr val="FFFFFF"/>
                </a:solidFill>
                <a:latin typeface="Calibri"/>
              </a:rPr>
              <a:t>Chúc các em học tốt! – Trường THPT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TTT</dc:creator>
  <cp:keywords/>
  <dc:description>generated using python-pptx</dc:description>
  <cp:lastModifiedBy>TTT</cp:lastModifiedBy>
  <cp:revision>1</cp:revision>
  <dcterms:created xsi:type="dcterms:W3CDTF">2013-01-27T09:14:16Z</dcterms:created>
  <dcterms:modified xsi:type="dcterms:W3CDTF">2013-01-27T09:15:58Z</dcterms:modified>
  <cp:category/>
</cp:coreProperties>
</file>