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5. Sử dụng TN và BVMT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thực trạng tài nguyên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Đề xuất giải pháp BVMT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5. Sử dụng TN và BVMT</a:t>
            </a:r>
          </a:p>
        </p:txBody>
      </p:sp>
      <p:pic>
        <p:nvPicPr>
          <p:cNvPr id="5" name="Picture 4" descr="_qr_dia_cc_bai5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11532" y="2144161"/>
            <a:ext cx="1397325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52647" y="1867849"/>
            <a:ext cx="1258884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Từ 43% → 27%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→ 42%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54940" y="2670962"/>
            <a:ext cx="1053917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9239" y="2495362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Rừng nguyên sinh còn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ít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54458" y="2670962"/>
            <a:ext cx="1354399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721" y="3122874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ĐDSH suy giảm</a:t>
            </a:r>
          </a:p>
        </p:txBody>
      </p:sp>
      <p:sp>
        <p:nvSpPr>
          <p:cNvPr id="13" name="Oval 12"/>
          <p:cNvSpPr/>
          <p:nvPr/>
        </p:nvSpPr>
        <p:spPr>
          <a:xfrm>
            <a:off x="2354397" y="2427575"/>
            <a:ext cx="2308920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Thực trạng rừng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244872"/>
            <a:ext cx="1225621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2069271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Xói mòn vùng núi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311473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22687" y="2495362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Mặn-phèn ĐBSCL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82695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3909" y="2921452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Ô nhiễm kênh rạch</a:t>
            </a:r>
          </a:p>
        </p:txBody>
      </p:sp>
      <p:sp>
        <p:nvSpPr>
          <p:cNvPr id="21" name="Oval 20"/>
          <p:cNvSpPr/>
          <p:nvPr/>
        </p:nvSpPr>
        <p:spPr>
          <a:xfrm>
            <a:off x="5126095" y="2259078"/>
            <a:ext cx="2170236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Thực trạng đất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nước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12014" y="4812507"/>
            <a:ext cx="1096843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2165" y="4636907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Trồng rừng phủ xanh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26162" y="5238597"/>
            <a:ext cx="118269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8017" y="506299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Canh tác bền vững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40310" y="5238597"/>
            <a:ext cx="1268547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3869" y="5489087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Xử lý nước thải</a:t>
            </a:r>
          </a:p>
        </p:txBody>
      </p:sp>
      <p:sp>
        <p:nvSpPr>
          <p:cNvPr id="29" name="Oval 28"/>
          <p:cNvSpPr/>
          <p:nvPr/>
        </p:nvSpPr>
        <p:spPr>
          <a:xfrm>
            <a:off x="2770449" y="4995210"/>
            <a:ext cx="1476816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Giải pháp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311473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22687" y="4636907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Luật BVMT 2020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225621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36835" y="5062997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Thỏa thuận Paris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096843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08057" y="5489087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Giáo dục môi trường</a:t>
            </a:r>
          </a:p>
        </p:txBody>
      </p:sp>
      <p:sp>
        <p:nvSpPr>
          <p:cNvPr id="37" name="Oval 36"/>
          <p:cNvSpPr/>
          <p:nvPr/>
        </p:nvSpPr>
        <p:spPr>
          <a:xfrm>
            <a:off x="5334121" y="4826713"/>
            <a:ext cx="1754184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Pháp luật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GD</a:t>
            </a:r>
          </a:p>
        </p:txBody>
      </p:sp>
      <p:sp>
        <p:nvSpPr>
          <p:cNvPr id="38" name="Oval 37"/>
          <p:cNvSpPr/>
          <p:nvPr/>
        </p:nvSpPr>
        <p:spPr>
          <a:xfrm>
            <a:off x="3881241" y="3287245"/>
            <a:ext cx="195758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5. SỬ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DỤNG HỢP LÍ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TN VÀ BVMT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trạng TN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Rừng: 43%(1943)→27%(1990)→42%(2023)
Đất: xói mòn vùng núi, mặn-phèn ĐBSCL
Nước: ô nhiễm kênh rạch đô thị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trạng TN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Rừng: 43%(1943)→27%(1990)→42%(2023)
Đất: xói mòn vùng núi, mặn-phèn ĐBSCL
Nước: ô nhiễm kênh rạch đô thị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BĐKH: nước biển dâng đe dọa ĐBSCL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Giải pháp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Rừng: trồng phủ xanh, bảo vệ phòng hộ
Đất: canh tác bền vững, giảm hóa chất
Pháp luật: Luật BVMT, UNFCCC, Paris
GD: nâng cao nhận thức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Giải pháp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Rừng: trồng phủ xanh, bảo vệ phòng hộ
Đất: canh tác bền vững, giảm hóa chất
Pháp luật: Luật BVMT, UNFCCC, Paris
GD: nâng cao nhận thức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địa phương: rừng đầu nguồn hồ Định Bình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5. Sử dụng TN và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