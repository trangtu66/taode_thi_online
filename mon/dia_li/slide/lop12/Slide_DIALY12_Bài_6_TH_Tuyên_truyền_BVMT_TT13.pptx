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1640312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TRƯỜNG THPT|  ĐỊA LÍ 12  |  NĂM HỌC 2026–2027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10360152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1E40AF"/>
                </a:solidFill>
                <a:latin typeface="Arial"/>
              </a:rPr>
              <a:t>Bài 6 (TH). Tuyên truyền BVMT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840480"/>
            <a:ext cx="1036015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1E293B"/>
                </a:solidFill>
                <a:latin typeface="Calibri"/>
              </a:rPr>
              <a:t>Thời gian thực hiện: Tiết T13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480560"/>
            <a:ext cx="103601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1E293B"/>
                </a:solidFill>
                <a:latin typeface="Calibri"/>
              </a:rPr>
              <a:t>Giáo viên: ……………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6510528"/>
            <a:ext cx="1164031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  <a:latin typeface="Calibri"/>
              </a:rPr>
              <a:t>Trường THPT – Bình Định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82880"/>
            <a:ext cx="1164031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1E40AF"/>
                </a:solidFill>
                <a:latin typeface="Arial"/>
              </a:rPr>
              <a:t>MỤC TIÊU BÀI HỌC</a:t>
            </a:r>
          </a:p>
        </p:txBody>
      </p:sp>
      <p:sp>
        <p:nvSpPr>
          <p:cNvPr id="3" name="Rectangle 2"/>
          <p:cNvSpPr/>
          <p:nvPr/>
        </p:nvSpPr>
        <p:spPr>
          <a:xfrm>
            <a:off x="274320" y="868680"/>
            <a:ext cx="11640312" cy="36576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74320" y="1005840"/>
            <a:ext cx="411480" cy="41148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1005840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978408"/>
            <a:ext cx="1109167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E293B"/>
                </a:solidFill>
                <a:latin typeface="Calibri"/>
              </a:rPr>
              <a:t>Thiết kế sản phẩm tuyên truyền BVMT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600200"/>
            <a:ext cx="411480" cy="41148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1600200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572768"/>
            <a:ext cx="1109167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E293B"/>
                </a:solidFill>
                <a:latin typeface="Calibri"/>
              </a:rPr>
              <a:t>Trình bày và đánh giá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21792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64008"/>
            <a:ext cx="4114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Arial"/>
              </a:rPr>
              <a:t>SƠ ĐỒ TƯ DUY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64008"/>
            <a:ext cx="73426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Calibri"/>
              </a:rPr>
              <a:t>ĐỊA LÍ 12  |  Bài 6 (TH). Tuyên truyền BVMT</a:t>
            </a:r>
          </a:p>
        </p:txBody>
      </p:sp>
      <p:pic>
        <p:nvPicPr>
          <p:cNvPr id="5" name="Picture 4" descr="_qr_dia_cc_bai6_k12.htm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74352" y="1463040"/>
            <a:ext cx="2286000" cy="2286000"/>
          </a:xfrm>
          <a:prstGeom prst="rect">
            <a:avLst/>
          </a:prstGeom>
        </p:spPr>
      </p:pic>
      <p:cxnSp>
        <p:nvCxnSpPr>
          <p:cNvPr id="6" name="Connector 5"/>
          <p:cNvCxnSpPr/>
          <p:nvPr/>
        </p:nvCxnSpPr>
        <p:spPr>
          <a:xfrm flipH="1" flipV="1">
            <a:off x="3508857" y="2670962"/>
            <a:ext cx="1351179" cy="1283818"/>
          </a:xfrm>
          <a:prstGeom prst="line">
            <a:avLst/>
          </a:prstGeom>
          <a:ln w="44450">
            <a:solidFill>
              <a:srgbClr val="54823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 flipH="1" flipV="1">
            <a:off x="2197384" y="2244872"/>
            <a:ext cx="1311473" cy="426090"/>
          </a:xfrm>
          <a:prstGeom prst="line">
            <a:avLst/>
          </a:prstGeom>
          <a:ln w="15875">
            <a:solidFill>
              <a:srgbClr val="54823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766795" y="2069271"/>
            <a:ext cx="1430588" cy="351200"/>
          </a:xfrm>
          <a:prstGeom prst="roundRect">
            <a:avLst>
              <a:gd name="adj" fmla="val 50000"/>
            </a:avLst>
          </a:prstGeom>
          <a:solidFill>
            <a:srgbClr val="EDF5E8"/>
          </a:solidFill>
          <a:ln w="15875">
            <a:solidFill>
              <a:srgbClr val="5482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Poster, banner</a:t>
            </a:r>
          </a:p>
        </p:txBody>
      </p:sp>
      <p:cxnSp>
        <p:nvCxnSpPr>
          <p:cNvPr id="9" name="Connector 8"/>
          <p:cNvCxnSpPr/>
          <p:nvPr/>
        </p:nvCxnSpPr>
        <p:spPr>
          <a:xfrm flipH="1">
            <a:off x="2025680" y="2670962"/>
            <a:ext cx="1483177" cy="0"/>
          </a:xfrm>
          <a:prstGeom prst="line">
            <a:avLst/>
          </a:prstGeom>
          <a:ln w="15875">
            <a:solidFill>
              <a:srgbClr val="54823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938499" y="2495362"/>
            <a:ext cx="1087180" cy="351200"/>
          </a:xfrm>
          <a:prstGeom prst="roundRect">
            <a:avLst>
              <a:gd name="adj" fmla="val 50000"/>
            </a:avLst>
          </a:prstGeom>
          <a:solidFill>
            <a:srgbClr val="EDF5E8"/>
          </a:solidFill>
          <a:ln w="15875">
            <a:solidFill>
              <a:srgbClr val="5482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Video ngắn</a:t>
            </a:r>
          </a:p>
        </p:txBody>
      </p:sp>
      <p:cxnSp>
        <p:nvCxnSpPr>
          <p:cNvPr id="11" name="Connector 10"/>
          <p:cNvCxnSpPr/>
          <p:nvPr/>
        </p:nvCxnSpPr>
        <p:spPr>
          <a:xfrm flipH="1">
            <a:off x="2369088" y="2670962"/>
            <a:ext cx="1139769" cy="426090"/>
          </a:xfrm>
          <a:prstGeom prst="line">
            <a:avLst/>
          </a:prstGeom>
          <a:ln w="15875">
            <a:solidFill>
              <a:srgbClr val="54823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595091" y="2921452"/>
            <a:ext cx="1773996" cy="351200"/>
          </a:xfrm>
          <a:prstGeom prst="roundRect">
            <a:avLst>
              <a:gd name="adj" fmla="val 50000"/>
            </a:avLst>
          </a:prstGeom>
          <a:solidFill>
            <a:srgbClr val="EDF5E8"/>
          </a:solidFill>
          <a:ln w="15875">
            <a:solidFill>
              <a:srgbClr val="5482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Tiểu phẩm, bài hát</a:t>
            </a:r>
          </a:p>
        </p:txBody>
      </p:sp>
      <p:sp>
        <p:nvSpPr>
          <p:cNvPr id="13" name="Oval 12"/>
          <p:cNvSpPr/>
          <p:nvPr/>
        </p:nvSpPr>
        <p:spPr>
          <a:xfrm>
            <a:off x="2562423" y="2427575"/>
            <a:ext cx="1892868" cy="486773"/>
          </a:xfrm>
          <a:prstGeom prst="ellipse">
            <a:avLst/>
          </a:prstGeom>
          <a:solidFill>
            <a:srgbClr val="E2EFDA"/>
          </a:solidFill>
          <a:ln w="31750">
            <a:solidFill>
              <a:srgbClr val="375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500" b="1">
                <a:solidFill>
                  <a:srgbClr val="000000"/>
                </a:solidFill>
                <a:latin typeface="Calibri"/>
              </a:rPr>
              <a:t>Hình thức TT</a:t>
            </a:r>
          </a:p>
        </p:txBody>
      </p:sp>
      <p:cxnSp>
        <p:nvCxnSpPr>
          <p:cNvPr id="14" name="Connector 13"/>
          <p:cNvCxnSpPr/>
          <p:nvPr/>
        </p:nvCxnSpPr>
        <p:spPr>
          <a:xfrm flipV="1">
            <a:off x="4860036" y="2670962"/>
            <a:ext cx="1351178" cy="1283818"/>
          </a:xfrm>
          <a:prstGeom prst="line">
            <a:avLst/>
          </a:prstGeom>
          <a:ln w="44450">
            <a:solidFill>
              <a:srgbClr val="BF8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V="1">
            <a:off x="6211214" y="2144161"/>
            <a:ext cx="1354399" cy="526801"/>
          </a:xfrm>
          <a:prstGeom prst="line">
            <a:avLst/>
          </a:prstGeom>
          <a:ln w="15875">
            <a:solidFill>
              <a:srgbClr val="BF8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565613" y="1968560"/>
            <a:ext cx="1344736" cy="351200"/>
          </a:xfrm>
          <a:prstGeom prst="roundRect">
            <a:avLst>
              <a:gd name="adj" fmla="val 50000"/>
            </a:avLst>
          </a:prstGeom>
          <a:solidFill>
            <a:srgbClr val="FFF8E1"/>
          </a:solidFill>
          <a:ln w="15875">
            <a:solidFill>
              <a:srgbClr val="BF8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Rác thải nhựa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211214" y="2670962"/>
            <a:ext cx="1268547" cy="0"/>
          </a:xfrm>
          <a:prstGeom prst="line">
            <a:avLst/>
          </a:prstGeom>
          <a:ln w="15875">
            <a:solidFill>
              <a:srgbClr val="BF8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7479761" y="2394651"/>
            <a:ext cx="1516440" cy="552622"/>
          </a:xfrm>
          <a:prstGeom prst="roundRect">
            <a:avLst>
              <a:gd name="adj" fmla="val 50000"/>
            </a:avLst>
          </a:prstGeom>
          <a:solidFill>
            <a:srgbClr val="FFF8E1"/>
          </a:solidFill>
          <a:ln w="15875">
            <a:solidFill>
              <a:srgbClr val="BF8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Bảo vệ rừng đầu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nguồn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211214" y="2670962"/>
            <a:ext cx="1311473" cy="526801"/>
          </a:xfrm>
          <a:prstGeom prst="line">
            <a:avLst/>
          </a:prstGeom>
          <a:ln w="15875">
            <a:solidFill>
              <a:srgbClr val="BF8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7522687" y="3022163"/>
            <a:ext cx="1430588" cy="351200"/>
          </a:xfrm>
          <a:prstGeom prst="roundRect">
            <a:avLst>
              <a:gd name="adj" fmla="val 50000"/>
            </a:avLst>
          </a:prstGeom>
          <a:solidFill>
            <a:srgbClr val="FFF8E1"/>
          </a:solidFill>
          <a:ln w="15875">
            <a:solidFill>
              <a:srgbClr val="BF8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Tiết kiệm nước</a:t>
            </a:r>
          </a:p>
        </p:txBody>
      </p:sp>
      <p:sp>
        <p:nvSpPr>
          <p:cNvPr id="21" name="Oval 20"/>
          <p:cNvSpPr/>
          <p:nvPr/>
        </p:nvSpPr>
        <p:spPr>
          <a:xfrm>
            <a:off x="5334121" y="2427575"/>
            <a:ext cx="1754184" cy="486773"/>
          </a:xfrm>
          <a:prstGeom prst="ellipse">
            <a:avLst/>
          </a:prstGeom>
          <a:solidFill>
            <a:srgbClr val="FFF2CC"/>
          </a:solidFill>
          <a:ln w="31750">
            <a:solidFill>
              <a:srgbClr val="BF8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500" b="1">
                <a:solidFill>
                  <a:srgbClr val="000000"/>
                </a:solidFill>
                <a:latin typeface="Calibri"/>
              </a:rPr>
              <a:t>Nội dung TT</a:t>
            </a:r>
          </a:p>
        </p:txBody>
      </p:sp>
      <p:cxnSp>
        <p:nvCxnSpPr>
          <p:cNvPr id="22" name="Connector 21"/>
          <p:cNvCxnSpPr/>
          <p:nvPr/>
        </p:nvCxnSpPr>
        <p:spPr>
          <a:xfrm flipH="1">
            <a:off x="3508857" y="3954780"/>
            <a:ext cx="1351179" cy="1283817"/>
          </a:xfrm>
          <a:prstGeom prst="line">
            <a:avLst/>
          </a:prstGeom>
          <a:ln w="4445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H="1" flipV="1">
            <a:off x="2240310" y="4812507"/>
            <a:ext cx="1268547" cy="426090"/>
          </a:xfrm>
          <a:prstGeom prst="line">
            <a:avLst/>
          </a:prstGeom>
          <a:ln w="15875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723869" y="4536196"/>
            <a:ext cx="1516440" cy="552622"/>
          </a:xfrm>
          <a:prstGeom prst="roundRect">
            <a:avLst>
              <a:gd name="adj" fmla="val 50000"/>
            </a:avLst>
          </a:prstGeom>
          <a:solidFill>
            <a:srgbClr val="E3EEF9"/>
          </a:solidFill>
          <a:ln w="1587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Nội dung đúng &amp;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đủ</a:t>
            </a:r>
          </a:p>
        </p:txBody>
      </p:sp>
      <p:cxnSp>
        <p:nvCxnSpPr>
          <p:cNvPr id="25" name="Connector 24"/>
          <p:cNvCxnSpPr/>
          <p:nvPr/>
        </p:nvCxnSpPr>
        <p:spPr>
          <a:xfrm flipH="1">
            <a:off x="2326162" y="5238597"/>
            <a:ext cx="1182695" cy="100711"/>
          </a:xfrm>
          <a:prstGeom prst="line">
            <a:avLst/>
          </a:prstGeom>
          <a:ln w="15875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638017" y="5163708"/>
            <a:ext cx="1688144" cy="351200"/>
          </a:xfrm>
          <a:prstGeom prst="roundRect">
            <a:avLst>
              <a:gd name="adj" fmla="val 50000"/>
            </a:avLst>
          </a:prstGeom>
          <a:solidFill>
            <a:srgbClr val="E3EEF9"/>
          </a:solidFill>
          <a:ln w="1587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Sáng tạo, hấp dẫn</a:t>
            </a:r>
          </a:p>
        </p:txBody>
      </p:sp>
      <p:cxnSp>
        <p:nvCxnSpPr>
          <p:cNvPr id="27" name="Connector 26"/>
          <p:cNvCxnSpPr/>
          <p:nvPr/>
        </p:nvCxnSpPr>
        <p:spPr>
          <a:xfrm flipH="1">
            <a:off x="2283236" y="5238597"/>
            <a:ext cx="1225621" cy="526801"/>
          </a:xfrm>
          <a:prstGeom prst="line">
            <a:avLst/>
          </a:prstGeom>
          <a:ln w="15875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680943" y="5589798"/>
            <a:ext cx="1602292" cy="351200"/>
          </a:xfrm>
          <a:prstGeom prst="roundRect">
            <a:avLst>
              <a:gd name="adj" fmla="val 50000"/>
            </a:avLst>
          </a:prstGeom>
          <a:solidFill>
            <a:srgbClr val="E3EEF9"/>
          </a:solidFill>
          <a:ln w="1587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Có thể thực hiện</a:t>
            </a:r>
          </a:p>
        </p:txBody>
      </p:sp>
      <p:sp>
        <p:nvSpPr>
          <p:cNvPr id="29" name="Oval 28"/>
          <p:cNvSpPr/>
          <p:nvPr/>
        </p:nvSpPr>
        <p:spPr>
          <a:xfrm>
            <a:off x="2493081" y="4826713"/>
            <a:ext cx="2031552" cy="823767"/>
          </a:xfrm>
          <a:prstGeom prst="ellipse">
            <a:avLst/>
          </a:prstGeom>
          <a:solidFill>
            <a:srgbClr val="E2EFDA"/>
          </a:solidFill>
          <a:ln w="31750">
            <a:solidFill>
              <a:srgbClr val="375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500" b="1">
                <a:solidFill>
                  <a:srgbClr val="000000"/>
                </a:solidFill>
                <a:latin typeface="Calibri"/>
              </a:rPr>
              <a:t>Tiêu chí đánh</a:t>
            </a:r>
          </a:p>
          <a:p>
            <a:pPr algn="ctr"/>
            <a:r>
              <a:rPr sz="1500" b="1">
                <a:solidFill>
                  <a:srgbClr val="000000"/>
                </a:solidFill>
                <a:latin typeface="Calibri"/>
              </a:rPr>
              <a:t>giá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4860036" y="3954780"/>
            <a:ext cx="1351178" cy="1283817"/>
          </a:xfrm>
          <a:prstGeom prst="line">
            <a:avLst/>
          </a:prstGeom>
          <a:ln w="44450">
            <a:solidFill>
              <a:srgbClr val="7030A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V="1">
            <a:off x="6211214" y="4711796"/>
            <a:ext cx="1397325" cy="526801"/>
          </a:xfrm>
          <a:prstGeom prst="line">
            <a:avLst/>
          </a:prstGeom>
          <a:ln w="15875">
            <a:solidFill>
              <a:srgbClr val="7030A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7608539" y="4536196"/>
            <a:ext cx="1258884" cy="351200"/>
          </a:xfrm>
          <a:prstGeom prst="roundRect">
            <a:avLst>
              <a:gd name="adj" fmla="val 50000"/>
            </a:avLst>
          </a:prstGeom>
          <a:solidFill>
            <a:srgbClr val="F3E8F7"/>
          </a:solidFill>
          <a:ln w="15875">
            <a:solidFill>
              <a:srgbClr val="7030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Hồ Định Bình</a:t>
            </a:r>
          </a:p>
        </p:txBody>
      </p:sp>
      <p:cxnSp>
        <p:nvCxnSpPr>
          <p:cNvPr id="33" name="Connector 32"/>
          <p:cNvCxnSpPr/>
          <p:nvPr/>
        </p:nvCxnSpPr>
        <p:spPr>
          <a:xfrm flipV="1">
            <a:off x="6211214" y="5137886"/>
            <a:ext cx="1311473" cy="100711"/>
          </a:xfrm>
          <a:prstGeom prst="line">
            <a:avLst/>
          </a:prstGeom>
          <a:ln w="15875">
            <a:solidFill>
              <a:srgbClr val="7030A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7522687" y="4962286"/>
            <a:ext cx="1430588" cy="351200"/>
          </a:xfrm>
          <a:prstGeom prst="roundRect">
            <a:avLst>
              <a:gd name="adj" fmla="val 50000"/>
            </a:avLst>
          </a:prstGeom>
          <a:solidFill>
            <a:srgbClr val="F3E8F7"/>
          </a:solidFill>
          <a:ln w="15875">
            <a:solidFill>
              <a:srgbClr val="7030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Rừng đầu nguồn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6211214" y="5238597"/>
            <a:ext cx="1354399" cy="426090"/>
          </a:xfrm>
          <a:prstGeom prst="line">
            <a:avLst/>
          </a:prstGeom>
          <a:ln w="15875">
            <a:solidFill>
              <a:srgbClr val="7030A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ounded Rectangle 35"/>
          <p:cNvSpPr/>
          <p:nvPr/>
        </p:nvSpPr>
        <p:spPr>
          <a:xfrm>
            <a:off x="7565613" y="5388376"/>
            <a:ext cx="1344736" cy="552622"/>
          </a:xfrm>
          <a:prstGeom prst="roundRect">
            <a:avLst>
              <a:gd name="adj" fmla="val 50000"/>
            </a:avLst>
          </a:prstGeom>
          <a:solidFill>
            <a:srgbClr val="F3E8F7"/>
          </a:solidFill>
          <a:ln w="15875">
            <a:solidFill>
              <a:srgbClr val="7030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Văn hóa Ba Na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xanh</a:t>
            </a:r>
          </a:p>
        </p:txBody>
      </p:sp>
      <p:sp>
        <p:nvSpPr>
          <p:cNvPr id="37" name="Oval 36"/>
          <p:cNvSpPr/>
          <p:nvPr/>
        </p:nvSpPr>
        <p:spPr>
          <a:xfrm>
            <a:off x="5334121" y="4826713"/>
            <a:ext cx="1754184" cy="823767"/>
          </a:xfrm>
          <a:prstGeom prst="ellipse">
            <a:avLst/>
          </a:prstGeom>
          <a:solidFill>
            <a:srgbClr val="FFF2CC"/>
          </a:solidFill>
          <a:ln w="31750">
            <a:solidFill>
              <a:srgbClr val="BF8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500" b="1">
                <a:solidFill>
                  <a:srgbClr val="000000"/>
                </a:solidFill>
                <a:latin typeface="Calibri"/>
              </a:rPr>
              <a:t>Liên hệ địa</a:t>
            </a:r>
          </a:p>
          <a:p>
            <a:pPr algn="ctr"/>
            <a:r>
              <a:rPr sz="1500" b="1">
                <a:solidFill>
                  <a:srgbClr val="000000"/>
                </a:solidFill>
                <a:latin typeface="Calibri"/>
              </a:rPr>
              <a:t>phương</a:t>
            </a:r>
          </a:p>
        </p:txBody>
      </p:sp>
      <p:sp>
        <p:nvSpPr>
          <p:cNvPr id="38" name="Oval 37"/>
          <p:cNvSpPr/>
          <p:nvPr/>
        </p:nvSpPr>
        <p:spPr>
          <a:xfrm>
            <a:off x="3409716" y="3484793"/>
            <a:ext cx="2900639" cy="939972"/>
          </a:xfrm>
          <a:prstGeom prst="ellipse">
            <a:avLst/>
          </a:prstGeom>
          <a:solidFill>
            <a:srgbClr val="002060"/>
          </a:solidFill>
          <a:ln w="25400">
            <a:solidFill>
              <a:srgbClr val="000B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700" b="1">
                <a:solidFill>
                  <a:srgbClr val="FFFFFF"/>
                </a:solidFill>
                <a:latin typeface="Calibri"/>
              </a:rPr>
              <a:t>BÀI 6 (TH).</a:t>
            </a:r>
          </a:p>
          <a:p>
            <a:pPr algn="ctr"/>
            <a:r>
              <a:rPr sz="1700" b="1">
                <a:solidFill>
                  <a:srgbClr val="FFFFFF"/>
                </a:solidFill>
                <a:latin typeface="Calibri"/>
              </a:rPr>
              <a:t>TUYÊN TRUYỀN BVMT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182880"/>
            <a:ext cx="2011680" cy="50292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0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ĐỀ BÀI – NỘI DUNG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777240"/>
            <a:ext cx="1164031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40AF"/>
                </a:solidFill>
                <a:latin typeface="Arial"/>
              </a:rPr>
              <a:t>Nguyên tắc TT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417320"/>
            <a:ext cx="11640312" cy="36576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1508760"/>
            <a:ext cx="1164031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E293B"/>
                </a:solidFill>
                <a:latin typeface="Calibri"/>
              </a:rPr>
              <a:t>1. Nội dung đúng, rõ, hấp dẫn
2. Phù hợp đối tượng
3. Có hành động cụ thể
Hình thức: poster, video, tiểu phẩm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5760720"/>
            <a:ext cx="11640312" cy="685800"/>
          </a:xfrm>
          <a:prstGeom prst="rect">
            <a:avLst/>
          </a:prstGeom>
          <a:solidFill>
            <a:srgbClr val="E0F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5806440"/>
            <a:ext cx="1145743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E40AF"/>
                </a:solidFill>
                <a:latin typeface="Calibri"/>
              </a:rPr>
              <a:t>💡 Suy nghĩ và thảo luận nhóm.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182880"/>
            <a:ext cx="2286000" cy="502920"/>
          </a:xfrm>
          <a:prstGeom prst="rect">
            <a:avLst/>
          </a:prstGeom>
          <a:solidFill>
            <a:srgbClr val="991B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0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LỜI GIẢI – NỘI DUNG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777240"/>
            <a:ext cx="1164031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991B1B"/>
                </a:solidFill>
                <a:latin typeface="Arial"/>
              </a:rPr>
              <a:t>Nguyên tắc TT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417320"/>
            <a:ext cx="11640312" cy="36576"/>
          </a:xfrm>
          <a:prstGeom prst="rect">
            <a:avLst/>
          </a:prstGeom>
          <a:solidFill>
            <a:srgbClr val="991B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1508760"/>
            <a:ext cx="11640312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0">
                <a:solidFill>
                  <a:srgbClr val="1E293B"/>
                </a:solidFill>
                <a:latin typeface="Calibri"/>
              </a:rPr>
              <a:t>1. Nội dung đúng, rõ, hấp dẫn
2. Phù hợp đối tượng
3. Có hành động cụ thể
Hình thức: poster, video, tiểu phẩm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5120640"/>
            <a:ext cx="11640312" cy="914400"/>
          </a:xfrm>
          <a:prstGeom prst="rect">
            <a:avLst/>
          </a:prstGeom>
          <a:solidFill>
            <a:srgbClr val="FE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5166360"/>
            <a:ext cx="1145743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991B1B"/>
                </a:solidFill>
                <a:latin typeface="Arial"/>
              </a:rPr>
              <a:t>✦ Học sinh là lực lượng TT BVMT hiệu quả nhất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182880"/>
            <a:ext cx="2011680" cy="50292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0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ĐỀ BÀI – NỘI DUNG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777240"/>
            <a:ext cx="1164031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40AF"/>
                </a:solidFill>
                <a:latin typeface="Arial"/>
              </a:rPr>
              <a:t>Sản phẩm thực hành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417320"/>
            <a:ext cx="11640312" cy="36576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1508760"/>
            <a:ext cx="1164031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E293B"/>
                </a:solidFill>
                <a:latin typeface="Calibri"/>
              </a:rPr>
              <a:t>1. Poster: 'địa phương xanh–sạch–đẹp'
2. Video ngắn về rác thải nhựa
3. Tiểu phẩm: phân loại rác tại nhà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5760720"/>
            <a:ext cx="11640312" cy="685800"/>
          </a:xfrm>
          <a:prstGeom prst="rect">
            <a:avLst/>
          </a:prstGeom>
          <a:solidFill>
            <a:srgbClr val="E0F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5806440"/>
            <a:ext cx="1145743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E40AF"/>
                </a:solidFill>
                <a:latin typeface="Calibri"/>
              </a:rPr>
              <a:t>💡 Suy nghĩ và thảo luận nhóm.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182880"/>
            <a:ext cx="2286000" cy="502920"/>
          </a:xfrm>
          <a:prstGeom prst="rect">
            <a:avLst/>
          </a:prstGeom>
          <a:solidFill>
            <a:srgbClr val="991B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0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LỜI GIẢI – NỘI DUNG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777240"/>
            <a:ext cx="1164031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991B1B"/>
                </a:solidFill>
                <a:latin typeface="Arial"/>
              </a:rPr>
              <a:t>Sản phẩm thực hành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417320"/>
            <a:ext cx="11640312" cy="36576"/>
          </a:xfrm>
          <a:prstGeom prst="rect">
            <a:avLst/>
          </a:prstGeom>
          <a:solidFill>
            <a:srgbClr val="991B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1508760"/>
            <a:ext cx="11640312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0">
                <a:solidFill>
                  <a:srgbClr val="1E293B"/>
                </a:solidFill>
                <a:latin typeface="Calibri"/>
              </a:rPr>
              <a:t>1. Poster: 'địa phương xanh–sạch–đẹp'
2. Video ngắn về rác thải nhựa
3. Tiểu phẩm: phân loại rác tại nhà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5120640"/>
            <a:ext cx="11640312" cy="914400"/>
          </a:xfrm>
          <a:prstGeom prst="rect">
            <a:avLst/>
          </a:prstGeom>
          <a:solidFill>
            <a:srgbClr val="FE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5166360"/>
            <a:ext cx="1145743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991B1B"/>
                </a:solidFill>
                <a:latin typeface="Arial"/>
              </a:rPr>
              <a:t>✦ Dự án BVMT gắn với địa phương địa phương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37160"/>
            <a:ext cx="1164031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1">
                <a:solidFill>
                  <a:srgbClr val="FFFFFF"/>
                </a:solidFill>
                <a:latin typeface="Arial"/>
              </a:rPr>
              <a:t>BÀI TẬP CỦA BẠN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417320"/>
            <a:ext cx="6858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E40AF"/>
                </a:solidFill>
                <a:latin typeface="Calibri"/>
              </a:rPr>
              <a:t>Địa lí 12 – Bài 6 (TH). Tuyên truyền BVMT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2103120"/>
            <a:ext cx="6858000" cy="685800"/>
          </a:xfrm>
          <a:prstGeom prst="rect">
            <a:avLst/>
          </a:prstGeom>
          <a:solidFill>
            <a:srgbClr val="DCF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2176272"/>
            <a:ext cx="6675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15783A"/>
                </a:solidFill>
                <a:latin typeface="Calibri"/>
              </a:rPr>
              <a:t>🔗  https://trangtu66.github.io/Taode_thi_online/dia_cc_bai6_k12.html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2926080"/>
            <a:ext cx="6858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E293B"/>
                </a:solidFill>
                <a:latin typeface="Calibri"/>
              </a:rPr>
              <a:t>6 câu trắc nghiệm + 1 câu đúng/sai
Kết quả ngay lập tức – Xếp hạng lớp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3840480"/>
            <a:ext cx="6858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E40AF"/>
                </a:solidFill>
                <a:latin typeface="Arial"/>
              </a:rPr>
              <a:t>📱  Quét mã QR để làm bài ngay →</a:t>
            </a:r>
          </a:p>
        </p:txBody>
      </p:sp>
      <p:pic>
        <p:nvPicPr>
          <p:cNvPr id="9" name="Picture 8" descr="QR_CungCo_DIA12_Bai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1280160"/>
            <a:ext cx="4114800" cy="41148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0" y="6400800"/>
            <a:ext cx="12188952" cy="45720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4320" y="6419088"/>
            <a:ext cx="11640312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FFFFF"/>
                </a:solidFill>
                <a:latin typeface="Calibri"/>
              </a:rPr>
              <a:t>Chúc các em học tốt! – Trường THPT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TTT</dc:creator>
  <cp:keywords/>
  <dc:description>generated using python-pptx</dc:description>
  <cp:lastModifiedBy>TTT</cp:lastModifiedBy>
  <cp:revision>1</cp:revision>
  <dcterms:created xsi:type="dcterms:W3CDTF">2013-01-27T09:14:16Z</dcterms:created>
  <dcterms:modified xsi:type="dcterms:W3CDTF">2013-01-27T09:15:58Z</dcterms:modified>
  <cp:category/>
</cp:coreProperties>
</file>