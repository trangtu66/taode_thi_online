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164031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TRƯỜNG THPT VĨNH THẠNH  |  ĐỊA LÍ 12  |  NĂM HỌC 2026–2027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360152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1E40AF"/>
                </a:solidFill>
                <a:latin typeface="Arial"/>
              </a:rPr>
              <a:t>Bài 14. Tổ chức lãnh thổ NN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84048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1E293B"/>
                </a:solidFill>
                <a:latin typeface="Calibri"/>
              </a:rPr>
              <a:t>Thời gian thực hiện: Tiết T27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48056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1E293B"/>
                </a:solidFill>
                <a:latin typeface="Calibri"/>
              </a:rPr>
              <a:t>Giáo viên: Lê Thuỳ Dung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10528"/>
            <a:ext cx="116403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Calibri"/>
              </a:rPr>
              <a:t>Trường THPT Vĩnh Thạnh – Bình Định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164031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E40AF"/>
                </a:solidFill>
                <a:latin typeface="Arial"/>
              </a:rPr>
              <a:t>MỤC TIÊU BÀI HỌC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868680"/>
            <a:ext cx="11640312" cy="36576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1005840"/>
            <a:ext cx="411480" cy="41148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00584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78408"/>
            <a:ext cx="110916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E293B"/>
                </a:solidFill>
                <a:latin typeface="Calibri"/>
              </a:rPr>
              <a:t>Phân tích các hình thức tổ chức lãnh thổ NN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600200"/>
            <a:ext cx="411480" cy="41148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60020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572768"/>
            <a:ext cx="110916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E293B"/>
                </a:solidFill>
                <a:latin typeface="Calibri"/>
              </a:rPr>
              <a:t>Đánh giá 7 vùng NN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21792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4008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rial"/>
              </a:rPr>
              <a:t>SO DO TU DUY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64008"/>
            <a:ext cx="73426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ĐỊA LÍ 12  |  Bài 14. Tổ chức lãnh thổ NN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08476" y="804672"/>
            <a:ext cx="4572000" cy="640080"/>
          </a:xfrm>
          <a:prstGeom prst="roundRect">
            <a:avLst/>
          </a:prstGeom>
          <a:solidFill>
            <a:srgbClr val="1E40AF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Bài 14. Tổ chức lãnh thổ NN</a:t>
            </a:r>
          </a:p>
        </p:txBody>
      </p:sp>
      <p:cxnSp>
        <p:nvCxnSpPr>
          <p:cNvPr id="6" name="Connector 5"/>
          <p:cNvCxnSpPr/>
          <p:nvPr/>
        </p:nvCxnSpPr>
        <p:spPr>
          <a:xfrm flipH="1">
            <a:off x="1412748.0" y="1124712.0"/>
            <a:ext cx="4681728.0" cy="864108.0"/>
          </a:xfrm>
          <a:prstGeom prst="line">
            <a:avLst/>
          </a:prstGeom>
          <a:ln w="2286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109728" y="1691640"/>
            <a:ext cx="2606040" cy="594360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7 vùng NN VN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1412748.0" y="1568196.0"/>
            <a:ext cx="2839212.0" cy="420624.0"/>
          </a:xfrm>
          <a:prstGeom prst="line">
            <a:avLst/>
          </a:prstGeom>
          <a:ln w="1270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880360" y="1399032"/>
            <a:ext cx="2743200" cy="338328"/>
          </a:xfrm>
          <a:prstGeom prst="roundRect">
            <a:avLst/>
          </a:prstGeom>
          <a:solidFill>
            <a:srgbClr val="EDE9FE"/>
          </a:solidFill>
          <a:ln>
            <a:solidFill>
              <a:srgbClr val="EDE9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4C1D95"/>
                </a:solidFill>
                <a:latin typeface="Calibri"/>
              </a:rPr>
              <a:t>Trung du MN phía Bắc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412748.0" y="1988820.0"/>
            <a:ext cx="2839212.0" cy="0.0"/>
          </a:xfrm>
          <a:prstGeom prst="line">
            <a:avLst/>
          </a:prstGeom>
          <a:ln w="1270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880360" y="1819656"/>
            <a:ext cx="2743200" cy="338328"/>
          </a:xfrm>
          <a:prstGeom prst="roundRect">
            <a:avLst/>
          </a:prstGeom>
          <a:solidFill>
            <a:srgbClr val="EDE9FE"/>
          </a:solidFill>
          <a:ln>
            <a:solidFill>
              <a:srgbClr val="EDE9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4C1D95"/>
                </a:solidFill>
                <a:latin typeface="Calibri"/>
              </a:rPr>
              <a:t>ĐBSH + ĐBSCL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412748.0" y="1988820.0"/>
            <a:ext cx="2839212.0" cy="420624.0"/>
          </a:xfrm>
          <a:prstGeom prst="line">
            <a:avLst/>
          </a:prstGeom>
          <a:ln w="1270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880360" y="2240280"/>
            <a:ext cx="2743200" cy="338328"/>
          </a:xfrm>
          <a:prstGeom prst="roundRect">
            <a:avLst/>
          </a:prstGeom>
          <a:solidFill>
            <a:srgbClr val="EDE9FE"/>
          </a:solidFill>
          <a:ln>
            <a:solidFill>
              <a:srgbClr val="EDE9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4C1D95"/>
                </a:solidFill>
                <a:latin typeface="Calibri"/>
              </a:rPr>
              <a:t>Tây Nguyên cây CN</a:t>
            </a:r>
          </a:p>
        </p:txBody>
      </p:sp>
      <p:cxnSp>
        <p:nvCxnSpPr>
          <p:cNvPr id="14" name="Connector 13"/>
          <p:cNvCxnSpPr/>
          <p:nvPr/>
        </p:nvCxnSpPr>
        <p:spPr>
          <a:xfrm flipH="1">
            <a:off x="1412748.0" y="1124712.0"/>
            <a:ext cx="4681728.0" cy="3058668.0"/>
          </a:xfrm>
          <a:prstGeom prst="line">
            <a:avLst/>
          </a:prstGeom>
          <a:ln w="22860">
            <a:solidFill>
              <a:srgbClr val="065F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109728" y="3886200"/>
            <a:ext cx="2606040" cy="594360"/>
          </a:xfrm>
          <a:prstGeom prst="ellipse">
            <a:avLst/>
          </a:prstGeom>
          <a:solidFill>
            <a:srgbClr val="065F46"/>
          </a:solidFill>
          <a:ln>
            <a:solidFill>
              <a:srgbClr val="065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Vùng 4 – Bình Định</a:t>
            </a:r>
          </a:p>
        </p:txBody>
      </p:sp>
      <p:cxnSp>
        <p:nvCxnSpPr>
          <p:cNvPr id="16" name="Connector 15"/>
          <p:cNvCxnSpPr/>
          <p:nvPr/>
        </p:nvCxnSpPr>
        <p:spPr>
          <a:xfrm flipV="1">
            <a:off x="1412748.0" y="3762756.0"/>
            <a:ext cx="2839212.0" cy="420624.0"/>
          </a:xfrm>
          <a:prstGeom prst="line">
            <a:avLst/>
          </a:prstGeom>
          <a:ln w="12700">
            <a:solidFill>
              <a:srgbClr val="065F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2880360" y="3593592"/>
            <a:ext cx="2743200" cy="338328"/>
          </a:xfrm>
          <a:prstGeom prst="roundRect">
            <a:avLst/>
          </a:prstGeom>
          <a:solidFill>
            <a:srgbClr val="D1FAE5"/>
          </a:solidFill>
          <a:ln>
            <a:solidFill>
              <a:srgbClr val="D1F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022C22"/>
                </a:solidFill>
                <a:latin typeface="Calibri"/>
              </a:rPr>
              <a:t>Lúa, thủy sản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412748.0" y="4183380.0"/>
            <a:ext cx="2839212.0" cy="0.0"/>
          </a:xfrm>
          <a:prstGeom prst="line">
            <a:avLst/>
          </a:prstGeom>
          <a:ln w="12700">
            <a:solidFill>
              <a:srgbClr val="065F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2880360" y="4014216"/>
            <a:ext cx="2743200" cy="338328"/>
          </a:xfrm>
          <a:prstGeom prst="roundRect">
            <a:avLst/>
          </a:prstGeom>
          <a:solidFill>
            <a:srgbClr val="D1FAE5"/>
          </a:solidFill>
          <a:ln>
            <a:solidFill>
              <a:srgbClr val="D1F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022C22"/>
                </a:solidFill>
                <a:latin typeface="Calibri"/>
              </a:rPr>
              <a:t>Cà phê Vĩnh Thạnh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412748.0" y="4183380.0"/>
            <a:ext cx="2839212.0" cy="420624.0"/>
          </a:xfrm>
          <a:prstGeom prst="line">
            <a:avLst/>
          </a:prstGeom>
          <a:ln w="12700">
            <a:solidFill>
              <a:srgbClr val="065F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2880360" y="4434840"/>
            <a:ext cx="2743200" cy="338328"/>
          </a:xfrm>
          <a:prstGeom prst="roundRect">
            <a:avLst/>
          </a:prstGeom>
          <a:solidFill>
            <a:srgbClr val="D1FAE5"/>
          </a:solidFill>
          <a:ln>
            <a:solidFill>
              <a:srgbClr val="D1F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022C22"/>
                </a:solidFill>
                <a:latin typeface="Calibri"/>
              </a:rPr>
              <a:t>Điều, rau màu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094476.0" y="1124712.0"/>
            <a:ext cx="4681728.0" cy="864108.0"/>
          </a:xfrm>
          <a:prstGeom prst="line">
            <a:avLst/>
          </a:prstGeom>
          <a:ln w="22860">
            <a:solidFill>
              <a:srgbClr val="B9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9473184" y="1691640"/>
            <a:ext cx="2606040" cy="594360"/>
          </a:xfrm>
          <a:prstGeom prst="ellipse">
            <a:avLst/>
          </a:prstGeom>
          <a:solidFill>
            <a:srgbClr val="B91C1C"/>
          </a:solidFill>
          <a:ln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Hình thức tổ chức</a:t>
            </a:r>
          </a:p>
        </p:txBody>
      </p:sp>
      <p:cxnSp>
        <p:nvCxnSpPr>
          <p:cNvPr id="24" name="Connector 23"/>
          <p:cNvCxnSpPr/>
          <p:nvPr/>
        </p:nvCxnSpPr>
        <p:spPr>
          <a:xfrm flipH="1" flipV="1">
            <a:off x="7936992.0" y="1568196.0"/>
            <a:ext cx="2839212.0" cy="420624.0"/>
          </a:xfrm>
          <a:prstGeom prst="line">
            <a:avLst/>
          </a:prstGeom>
          <a:ln w="12700">
            <a:solidFill>
              <a:srgbClr val="B9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6565392" y="1399032"/>
            <a:ext cx="2743200" cy="338328"/>
          </a:xfrm>
          <a:prstGeom prst="roundRect">
            <a:avLst/>
          </a:prstGeom>
          <a:solidFill>
            <a:srgbClr val="FEE2E2"/>
          </a:solidFill>
          <a:ln>
            <a:solidFill>
              <a:srgbClr val="FE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450A0A"/>
                </a:solidFill>
                <a:latin typeface="Calibri"/>
              </a:rPr>
              <a:t>Trang trại 35 000</a:t>
            </a:r>
          </a:p>
        </p:txBody>
      </p:sp>
      <p:cxnSp>
        <p:nvCxnSpPr>
          <p:cNvPr id="26" name="Connector 25"/>
          <p:cNvCxnSpPr/>
          <p:nvPr/>
        </p:nvCxnSpPr>
        <p:spPr>
          <a:xfrm flipH="1">
            <a:off x="7936992.0" y="1988820.0"/>
            <a:ext cx="2839212.0" cy="0.0"/>
          </a:xfrm>
          <a:prstGeom prst="line">
            <a:avLst/>
          </a:prstGeom>
          <a:ln w="12700">
            <a:solidFill>
              <a:srgbClr val="B9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6565392" y="1819656"/>
            <a:ext cx="2743200" cy="338328"/>
          </a:xfrm>
          <a:prstGeom prst="roundRect">
            <a:avLst/>
          </a:prstGeom>
          <a:solidFill>
            <a:srgbClr val="FEE2E2"/>
          </a:solidFill>
          <a:ln>
            <a:solidFill>
              <a:srgbClr val="FE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450A0A"/>
                </a:solidFill>
                <a:latin typeface="Calibri"/>
              </a:rPr>
              <a:t>HTX NN</a:t>
            </a:r>
          </a:p>
        </p:txBody>
      </p:sp>
      <p:cxnSp>
        <p:nvCxnSpPr>
          <p:cNvPr id="28" name="Connector 27"/>
          <p:cNvCxnSpPr/>
          <p:nvPr/>
        </p:nvCxnSpPr>
        <p:spPr>
          <a:xfrm flipH="1">
            <a:off x="7936992.0" y="1988820.0"/>
            <a:ext cx="2839212.0" cy="420624.0"/>
          </a:xfrm>
          <a:prstGeom prst="line">
            <a:avLst/>
          </a:prstGeom>
          <a:ln w="12700">
            <a:solidFill>
              <a:srgbClr val="B9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6565392" y="2240280"/>
            <a:ext cx="2743200" cy="338328"/>
          </a:xfrm>
          <a:prstGeom prst="roundRect">
            <a:avLst/>
          </a:prstGeom>
          <a:solidFill>
            <a:srgbClr val="FEE2E2"/>
          </a:solidFill>
          <a:ln>
            <a:solidFill>
              <a:srgbClr val="FE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450A0A"/>
                </a:solidFill>
                <a:latin typeface="Calibri"/>
              </a:rPr>
              <a:t>Cánh đồng liên kết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094476.0" y="1124712.0"/>
            <a:ext cx="4681728.0" cy="3058668.0"/>
          </a:xfrm>
          <a:prstGeom prst="line">
            <a:avLst/>
          </a:prstGeom>
          <a:ln w="22860">
            <a:solidFill>
              <a:srgbClr val="B4530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Oval 30"/>
          <p:cNvSpPr/>
          <p:nvPr/>
        </p:nvSpPr>
        <p:spPr>
          <a:xfrm>
            <a:off x="9473184" y="3886200"/>
            <a:ext cx="2606040" cy="594360"/>
          </a:xfrm>
          <a:prstGeom prst="ellipse">
            <a:avLst/>
          </a:prstGeom>
          <a:solidFill>
            <a:srgbClr val="B45309"/>
          </a:solidFill>
          <a:ln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Mô hình mới</a:t>
            </a:r>
          </a:p>
        </p:txBody>
      </p:sp>
      <p:cxnSp>
        <p:nvCxnSpPr>
          <p:cNvPr id="32" name="Connector 31"/>
          <p:cNvCxnSpPr/>
          <p:nvPr/>
        </p:nvCxnSpPr>
        <p:spPr>
          <a:xfrm flipH="1" flipV="1">
            <a:off x="7936992.0" y="3762756.0"/>
            <a:ext cx="2839212.0" cy="420624.0"/>
          </a:xfrm>
          <a:prstGeom prst="line">
            <a:avLst/>
          </a:prstGeom>
          <a:ln w="12700">
            <a:solidFill>
              <a:srgbClr val="B4530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6565392" y="3593592"/>
            <a:ext cx="2743200" cy="338328"/>
          </a:xfrm>
          <a:prstGeom prst="roundRect">
            <a:avLst/>
          </a:prstGeom>
          <a:solidFill>
            <a:srgbClr val="FEF3C7"/>
          </a:solidFill>
          <a:ln>
            <a:solidFill>
              <a:srgbClr val="FEF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451A03"/>
                </a:solidFill>
                <a:latin typeface="Calibri"/>
              </a:rPr>
              <a:t>KNN CNC</a:t>
            </a:r>
          </a:p>
        </p:txBody>
      </p:sp>
      <p:cxnSp>
        <p:nvCxnSpPr>
          <p:cNvPr id="34" name="Connector 33"/>
          <p:cNvCxnSpPr/>
          <p:nvPr/>
        </p:nvCxnSpPr>
        <p:spPr>
          <a:xfrm flipH="1">
            <a:off x="7936992.0" y="4183380.0"/>
            <a:ext cx="2839212.0" cy="0.0"/>
          </a:xfrm>
          <a:prstGeom prst="line">
            <a:avLst/>
          </a:prstGeom>
          <a:ln w="12700">
            <a:solidFill>
              <a:srgbClr val="B4530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6565392" y="4014216"/>
            <a:ext cx="2743200" cy="338328"/>
          </a:xfrm>
          <a:prstGeom prst="roundRect">
            <a:avLst/>
          </a:prstGeom>
          <a:solidFill>
            <a:srgbClr val="FEF3C7"/>
          </a:solidFill>
          <a:ln>
            <a:solidFill>
              <a:srgbClr val="FEF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451A03"/>
                </a:solidFill>
                <a:latin typeface="Calibri"/>
              </a:rPr>
              <a:t>OCOP địa phương</a:t>
            </a:r>
          </a:p>
        </p:txBody>
      </p:sp>
      <p:cxnSp>
        <p:nvCxnSpPr>
          <p:cNvPr id="36" name="Connector 35"/>
          <p:cNvCxnSpPr/>
          <p:nvPr/>
        </p:nvCxnSpPr>
        <p:spPr>
          <a:xfrm flipH="1">
            <a:off x="7936992.0" y="4183380.0"/>
            <a:ext cx="2839212.0" cy="420624.0"/>
          </a:xfrm>
          <a:prstGeom prst="line">
            <a:avLst/>
          </a:prstGeom>
          <a:ln w="12700">
            <a:solidFill>
              <a:srgbClr val="B4530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6565392" y="4434840"/>
            <a:ext cx="2743200" cy="338328"/>
          </a:xfrm>
          <a:prstGeom prst="roundRect">
            <a:avLst/>
          </a:prstGeom>
          <a:solidFill>
            <a:srgbClr val="FEF3C7"/>
          </a:solidFill>
          <a:ln>
            <a:solidFill>
              <a:srgbClr val="FEF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451A03"/>
                </a:solidFill>
                <a:latin typeface="Calibri"/>
              </a:rPr>
              <a:t>Liên kết 4 nhà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82880"/>
            <a:ext cx="2011680" cy="50292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ĐỀ BÀI – NỘI DUNG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77240"/>
            <a:ext cx="116403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40AF"/>
                </a:solidFill>
                <a:latin typeface="Arial"/>
              </a:rPr>
              <a:t>7 vùng NN VN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17320"/>
            <a:ext cx="11640312" cy="36576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508760"/>
            <a:ext cx="11640312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1E293B"/>
                </a:solidFill>
                <a:latin typeface="Calibri"/>
              </a:rPr>
              <a:t>1. Trung du MN phía Bắc: chè, cây CN
2. ĐBSH: lúa, rau màu
3. Bắc Trung Bộ: lúa, lâm nghiệp
4. Duyên hải NTB: lúa, thủy sản (Bình Định ở đây)
5. Tây Nguyên: cà phê, cao su
6. ĐNB: cao su, CN
7. ĐBSCL: lúa, thủy sản, cây ăn quả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5760720"/>
            <a:ext cx="11640312" cy="685800"/>
          </a:xfrm>
          <a:prstGeom prst="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5806440"/>
            <a:ext cx="1145743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E40AF"/>
                </a:solidFill>
                <a:latin typeface="Calibri"/>
              </a:rPr>
              <a:t>💡 Suy nghĩ và thảo luận nhóm.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82880"/>
            <a:ext cx="2286000" cy="502920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LỜI GIẢI – NỘI DUNG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77240"/>
            <a:ext cx="116403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991B1B"/>
                </a:solidFill>
                <a:latin typeface="Arial"/>
              </a:rPr>
              <a:t>7 vùng NN VN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17320"/>
            <a:ext cx="11640312" cy="36576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508760"/>
            <a:ext cx="11640312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>
                <a:solidFill>
                  <a:srgbClr val="1E293B"/>
                </a:solidFill>
                <a:latin typeface="Calibri"/>
              </a:rPr>
              <a:t>1. Trung du MN phía Bắc: chè, cây CN
2. ĐBSH: lúa, rau màu
3. Bắc Trung Bộ: lúa, lâm nghiệp
4. Duyên hải NTB: lúa, thủy sản (Bình Định ở đây)
5. Tây Nguyên: cà phê, cao su
6. ĐNB: cao su, CN
7. ĐBSCL: lúa, thủy sản, cây ăn quả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5120640"/>
            <a:ext cx="11640312" cy="914400"/>
          </a:xfrm>
          <a:prstGeom prst="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5166360"/>
            <a:ext cx="1145743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991B1B"/>
                </a:solidFill>
                <a:latin typeface="Arial"/>
              </a:rPr>
              <a:t>✦ Vĩnh Thạnh ở vùng 4: duyên hải NTrung Bộ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82880"/>
            <a:ext cx="2011680" cy="50292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ĐỀ BÀI – NỘI DUNG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77240"/>
            <a:ext cx="116403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40AF"/>
                </a:solidFill>
                <a:latin typeface="Arial"/>
              </a:rPr>
              <a:t>Hình thức tổ chức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17320"/>
            <a:ext cx="11640312" cy="36576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508760"/>
            <a:ext cx="11640312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1E293B"/>
                </a:solidFill>
                <a:latin typeface="Calibri"/>
              </a:rPr>
              <a:t>Trang trại (~35 000): linh hoạt, hiệu quả
HTX NN: liên kết hộ SX
Cánh đồng liên kết; KNN CNC
Bình Định: trang trại cà phê, mô hình VAC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5760720"/>
            <a:ext cx="11640312" cy="685800"/>
          </a:xfrm>
          <a:prstGeom prst="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5806440"/>
            <a:ext cx="1145743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E40AF"/>
                </a:solidFill>
                <a:latin typeface="Calibri"/>
              </a:rPr>
              <a:t>💡 Suy nghĩ và thảo luận nhóm.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82880"/>
            <a:ext cx="2286000" cy="502920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LỜI GIẢI – NỘI DUNG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77240"/>
            <a:ext cx="116403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991B1B"/>
                </a:solidFill>
                <a:latin typeface="Arial"/>
              </a:rPr>
              <a:t>Hình thức tổ chức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17320"/>
            <a:ext cx="11640312" cy="36576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508760"/>
            <a:ext cx="11640312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>
                <a:solidFill>
                  <a:srgbClr val="1E293B"/>
                </a:solidFill>
                <a:latin typeface="Calibri"/>
              </a:rPr>
              <a:t>Trang trại (~35 000): linh hoạt, hiệu quả
HTX NN: liên kết hộ SX
Cánh đồng liên kết; KNN CNC
Bình Định: trang trại cà phê, mô hình VAC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5120640"/>
            <a:ext cx="11640312" cy="914400"/>
          </a:xfrm>
          <a:prstGeom prst="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5166360"/>
            <a:ext cx="1145743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991B1B"/>
                </a:solidFill>
                <a:latin typeface="Arial"/>
              </a:rPr>
              <a:t>✦ Mô hình VAC phù hợp nông thôn VN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164031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>
                <a:solidFill>
                  <a:srgbClr val="FFFFFF"/>
                </a:solidFill>
                <a:latin typeface="Arial"/>
              </a:rPr>
              <a:t>BÀI TẬP CỦA BẠN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417320"/>
            <a:ext cx="6858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1E40AF"/>
                </a:solidFill>
                <a:latin typeface="Calibri"/>
              </a:rPr>
              <a:t>Địa lí 12 – Bài 14. Tổ chức lãnh thổ NN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2103120"/>
            <a:ext cx="6858000" cy="685800"/>
          </a:xfrm>
          <a:prstGeom prst="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176272"/>
            <a:ext cx="6675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5783A"/>
                </a:solidFill>
                <a:latin typeface="Calibri"/>
              </a:rPr>
              <a:t>🔗  https://trangtu66.github.io/Taode_thi_online/dia_cc_bai14_k12.html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926080"/>
            <a:ext cx="6858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E293B"/>
                </a:solidFill>
                <a:latin typeface="Calibri"/>
              </a:rPr>
              <a:t>6 câu trắc nghiệm + 1 câu đúng/sai
Kết quả ngay lập tức – Xếp hạng lớp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840480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E40AF"/>
                </a:solidFill>
                <a:latin typeface="Arial"/>
              </a:rPr>
              <a:t>📱  Quét mã QR để làm bài ngay →</a:t>
            </a:r>
          </a:p>
        </p:txBody>
      </p:sp>
      <p:pic>
        <p:nvPicPr>
          <p:cNvPr id="9" name="Picture 8" descr="QR_CungCo_DIA12_Bai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1280160"/>
            <a:ext cx="4114800" cy="41148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6419088"/>
            <a:ext cx="1164031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  <a:latin typeface="Calibri"/>
              </a:rPr>
              <a:t>Chúc các em học tốt! – THPT Vĩnh Thạnh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