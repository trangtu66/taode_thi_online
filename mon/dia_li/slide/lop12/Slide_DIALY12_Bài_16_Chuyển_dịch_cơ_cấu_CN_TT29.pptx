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16. Chuyển dịch cơ cấu 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……………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xu hướng chuyển dịch cơ cấu CN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CN mũi nhọn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16. Chuyển dịch cơ cấu CN</a:t>
            </a:r>
          </a:p>
        </p:txBody>
      </p:sp>
      <p:pic>
        <p:nvPicPr>
          <p:cNvPr id="5" name="Picture 4" descr="_qr_dia_cc_bai16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197384" y="2144161"/>
            <a:ext cx="1311473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6795" y="1968560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Giảm khai thác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497866" y="2570251"/>
            <a:ext cx="1010991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13" y="2394651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Tăng chế biến-chế tạo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26162" y="2670962"/>
            <a:ext cx="1182695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8017" y="2820741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Phát triển NL tái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tạo</a:t>
            </a:r>
          </a:p>
        </p:txBody>
      </p:sp>
      <p:sp>
        <p:nvSpPr>
          <p:cNvPr id="13" name="Oval 12"/>
          <p:cNvSpPr/>
          <p:nvPr/>
        </p:nvSpPr>
        <p:spPr>
          <a:xfrm>
            <a:off x="2354397" y="2259078"/>
            <a:ext cx="230892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Xu hướng chuyển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dịch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244872"/>
            <a:ext cx="1139769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50983" y="2069271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Samsung: 20 tỷ USD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05391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65131" y="2495362"/>
            <a:ext cx="1945700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Intel, LG, Panasonic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225621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36835" y="2921452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XK #1 điện thoại</a:t>
            </a:r>
          </a:p>
        </p:txBody>
      </p:sp>
      <p:sp>
        <p:nvSpPr>
          <p:cNvPr id="21" name="Oval 20"/>
          <p:cNvSpPr/>
          <p:nvPr/>
        </p:nvSpPr>
        <p:spPr>
          <a:xfrm>
            <a:off x="5403463" y="2259078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CN điện tử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326162" y="4711796"/>
            <a:ext cx="1182695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8017" y="4536196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Phía Bắc: điện tử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369088" y="5137886"/>
            <a:ext cx="1139769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5091" y="4962286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Phía Nam: đa ngành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454940" y="5238597"/>
            <a:ext cx="1053917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9239" y="5388376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Miền Trung đang phát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triển</a:t>
            </a:r>
          </a:p>
        </p:txBody>
      </p:sp>
      <p:sp>
        <p:nvSpPr>
          <p:cNvPr id="29" name="Oval 28"/>
          <p:cNvSpPr/>
          <p:nvPr/>
        </p:nvSpPr>
        <p:spPr>
          <a:xfrm>
            <a:off x="2701107" y="4995210"/>
            <a:ext cx="1615500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Phân bố CN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397325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08539" y="4636907"/>
            <a:ext cx="125888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KKT Nhơn Hội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354399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65613" y="5062997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Cảng Quy Nhơn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139769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50983" y="5489087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Điện gió, mặt trời</a:t>
            </a:r>
          </a:p>
        </p:txBody>
      </p:sp>
      <p:sp>
        <p:nvSpPr>
          <p:cNvPr id="37" name="Oval 36"/>
          <p:cNvSpPr/>
          <p:nvPr/>
        </p:nvSpPr>
        <p:spPr>
          <a:xfrm>
            <a:off x="5472805" y="4995210"/>
            <a:ext cx="1476816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Bình Định</a:t>
            </a:r>
          </a:p>
        </p:txBody>
      </p:sp>
      <p:sp>
        <p:nvSpPr>
          <p:cNvPr id="38" name="Oval 37"/>
          <p:cNvSpPr/>
          <p:nvPr/>
        </p:nvSpPr>
        <p:spPr>
          <a:xfrm>
            <a:off x="3645479" y="3287245"/>
            <a:ext cx="242911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16. CHUYỂN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DỊCH CƠ CẤU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Chuyển dịch cơ cấu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Tăng: CN chế biến-chế tạo (điện tử, may mặc)
Giảm: khai thác (than, dầu thô)
Phát triển: NL tái tạo (gió, mặt trời)
CN điện tử Samsung: 20 tỷ USD, #1 XK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Chuyển dịch cơ cấu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Tăng: CN chế biến-chế tạo (điện tử, may mặc)
Giảm: khai thác (than, dầu thô)
Phát triển: NL tái tạo (gió, mặt trời)
CN điện tử Samsung: 20 tỷ USD, #1 XK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Top XK 2023: điện thoại #1, máy móc #2, dệt may #3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Phân bố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Phía Bắc: HN, HP, Bắc Ninh (Samsung), Thái Nguyên
Phía Nam: TP HCM, BD, ĐN (đa ngành)
Bình Định: KKT Nhơn Hội + cảng QN + điện tái tạo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Phân bố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Phía Bắc: HN, HP, Bắc Ninh (Samsung), Thái Nguyên
Phía Nam: TP HCM, BD, ĐN (đa ngành)
Bình Định: KKT Nhơn Hội + cảng QN + điện tái tạo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NL tái tạo là ưu tiên CN Bình Định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16. Chuyển dịch cơ cấu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https://trangtu66.github.io/Taode_thi_online/dia_cc_bai16_k12.html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