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54864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1640312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</a:rPr>
              <a:t>TRƯỜNG THPT VĨNH THẠNH  |  ĐỊA LÍ 12  |  NĂM HỌC 2026–2027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60152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00" b="1">
                <a:solidFill>
                  <a:srgbClr val="1E40AF"/>
                </a:solidFill>
                <a:latin typeface="Arial"/>
              </a:rPr>
              <a:t>Bài 1. Vị trí địa lí và phạm vi lãnh thổ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840480"/>
            <a:ext cx="103601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Thời gian thực hiện: Tiết T1-2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480560"/>
            <a:ext cx="1036015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Giáo viên: Lê Thuỳ Dung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492240"/>
            <a:ext cx="12188952" cy="3657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6510528"/>
            <a:ext cx="116403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Trường THPT Vĩnh Thạnh – Bình Định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116403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1E40AF"/>
                </a:solidFill>
                <a:latin typeface="Arial"/>
              </a:rPr>
              <a:t>MỤC TIÊU BÀI HỌC</a:t>
            </a:r>
          </a:p>
        </p:txBody>
      </p:sp>
      <p:sp>
        <p:nvSpPr>
          <p:cNvPr id="3" name="Rectangle 2"/>
          <p:cNvSpPr/>
          <p:nvPr/>
        </p:nvSpPr>
        <p:spPr>
          <a:xfrm>
            <a:off x="274320" y="86868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100584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97840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Xác định vị trí địa lí Việt Nam trên bản đồ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74320" y="160020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57276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Mô tả phạm vi lãnh thổ và vùng biển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4320" y="219456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16712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Phân tích ý nghĩa vị trí địa lí với phát triển KT–QP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74320" y="2788920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761488"/>
            <a:ext cx="11091672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E293B"/>
                </a:solidFill>
                <a:latin typeface="Calibri"/>
              </a:rPr>
              <a:t>Liên hệ: Vĩnh Thạnh trong duyên hải Nam Trung Bộ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Vị trí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• Đông Nam Á, bán đảo Đông Dương
• Tọa độ: 8°34'B – 23°23'B; 102°08'Đ – 109°28'Đ
• Tiếp giáp: TQ (Bắc), Lào–Campuchia (Tây)
• Bờ biển: 3 260 km (Đông)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Vị trí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• Đông Nam Á, bán đảo Đông Dương
• Tọa độ: 8°34'B – 23°23'B; 102°08'Đ – 109°28'Đ
• Tiếp giáp: TQ (Bắc), Lào–Campuchia (Tây)
• Bờ biển: 3 260 km (Đông)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Diện tích đất liền: ~331 212 km²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ĐỀ BÀI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1E40AF"/>
                </a:solidFill>
                <a:latin typeface="Arial"/>
              </a:rPr>
              <a:t>Ý nghĩa vị trí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1E293B"/>
                </a:solidFill>
                <a:latin typeface="Calibri"/>
              </a:rPr>
              <a:t>Tự nhiên: nhiệt đới ẩm gió mùa, đa dạng sinh thái
Kinh tế: trên tuyến hàng hải quốc tế (Ấn Độ Dương – Thái Bình Dương)
An ninh – quốc phòng: tiếp giáp ba quốc gia, biển chiến lược
Vùng biển theo UNCLOS: nội thủy + lãnh hải (12') + EEZ (200') + thềm lục địa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760720"/>
            <a:ext cx="11640312" cy="685800"/>
          </a:xfrm>
          <a:prstGeom prst="rect">
            <a:avLst/>
          </a:prstGeom>
          <a:solidFill>
            <a:srgbClr val="E0F2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806440"/>
            <a:ext cx="1145743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>
                <a:solidFill>
                  <a:srgbClr val="1E40AF"/>
                </a:solidFill>
                <a:latin typeface="Calibri"/>
              </a:rPr>
              <a:t>💡 Suy nghĩ và thảo luận nhóm.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82880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LỜI GIẢI – NỘI DUNG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777240"/>
            <a:ext cx="1164031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991B1B"/>
                </a:solidFill>
                <a:latin typeface="Arial"/>
              </a:rPr>
              <a:t>Ý nghĩa vị trí địa lí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417320"/>
            <a:ext cx="11640312" cy="36576"/>
          </a:xfrm>
          <a:prstGeom prst="rect">
            <a:avLst/>
          </a:prstGeom>
          <a:solidFill>
            <a:srgbClr val="991B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1508760"/>
            <a:ext cx="11640312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>
                <a:solidFill>
                  <a:srgbClr val="1E293B"/>
                </a:solidFill>
                <a:latin typeface="Calibri"/>
              </a:rPr>
              <a:t>Tự nhiên: nhiệt đới ẩm gió mùa, đa dạng sinh thái
Kinh tế: trên tuyến hàng hải quốc tế (Ấn Độ Dương – Thái Bình Dương)
An ninh – quốc phòng: tiếp giáp ba quốc gia, biển chiến lược
Vùng biển theo UNCLOS: nội thủy + lãnh hải (12') + EEZ (200') + thềm lục địa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5120640"/>
            <a:ext cx="11640312" cy="914400"/>
          </a:xfrm>
          <a:prstGeom prst="rect">
            <a:avLst/>
          </a:prstGeom>
          <a:solidFill>
            <a:srgbClr val="FE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5166360"/>
            <a:ext cx="1145743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991B1B"/>
                </a:solidFill>
                <a:latin typeface="Arial"/>
              </a:rPr>
              <a:t>✦ Biển Đông – tuyến hàng hải bận rộn thứ 2 thế giới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137160"/>
            <a:ext cx="116403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>
                <a:solidFill>
                  <a:srgbClr val="FFFFFF"/>
                </a:solidFill>
                <a:latin typeface="Arial"/>
              </a:rPr>
              <a:t>BÀI TẬP CỦA BẠN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63040"/>
            <a:ext cx="1127455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>
                <a:solidFill>
                  <a:srgbClr val="1E40AF"/>
                </a:solidFill>
                <a:latin typeface="Calibri"/>
              </a:rPr>
              <a:t>Địa lí 12 – Bài 1. Vị trí địa lí và phạm vi lãnh thổ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4552" cy="731520"/>
          </a:xfrm>
          <a:prstGeom prst="rect">
            <a:avLst/>
          </a:prstGeom>
          <a:solidFill>
            <a:srgbClr val="DCFC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09167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5783A"/>
                </a:solidFill>
                <a:latin typeface="Calibri"/>
              </a:rPr>
              <a:t>🔗 https://trangtu66.github.io/Taode_thi_online/dia_cc_bai1_k12.html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108960"/>
            <a:ext cx="11274552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1E293B"/>
                </a:solidFill>
                <a:latin typeface="Calibri"/>
              </a:rPr>
              <a:t>Quét mã QR hoặc truy cập đường link để làm bài củng cố trực tuyến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3749039"/>
            <a:ext cx="1127455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>
                <a:solidFill>
                  <a:srgbClr val="1E293B"/>
                </a:solidFill>
                <a:latin typeface="Calibri"/>
              </a:rPr>
              <a:t>📱 Làm bài trực tuyến – Kết quả ngay lập tức – Theo dõi tiến độ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1E40A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4320" y="6419088"/>
            <a:ext cx="11640312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FFFFF"/>
                </a:solidFill>
                <a:latin typeface="Calibri"/>
              </a:rPr>
              <a:t>Chúc các em học tốt! – THPT Vĩnh Thạnh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