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ĐỀ CƯƠNG ÔN TẬP GIỮA HỌC KÌ I</a:t>
            </a:r>
          </a:p>
          <a:p>
            <a:pPr algn="ctr">
              <a:spcAft>
                <a:spcPts val="800"/>
              </a:spcAft>
            </a:pPr>
            <a:r>
              <a:rPr sz="2800">
                <a:solidFill>
                  <a:srgbClr val="1E293B"/>
                </a:solidFill>
                <a:latin typeface="Calibri"/>
              </a:rPr>
              <a:t>Môn Toán – Lớp 11 · Năm học 2026 – 2027</a:t>
            </a:r>
          </a:p>
          <a:p>
            <a:pPr algn="ctr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Trường THPT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CƯƠNG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TRÚC ĐỀ CƯƠNG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1. Tóm tắt lý thuyết – Bài 1, Bài 2, Bài 3, Bài 4, Bài 5, Bài 6, Bài 7, Bài 8, Bài 9, Bài tập cuối chương I, Bài 5, Bài 6, Bài 7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2. Bài tập luyện tập (gấp đôi ma trận) – trong file Word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3. Đề minh họa – mỗi câu: slide đề → slide lời giải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8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3</a:t>
            </a:r>
          </a:p>
        </p:txBody>
      </p:sp>
      <p:pic>
        <p:nvPicPr>
          <p:cNvPr id="7" name="Picture 6" descr="SoDoTuDuy_TOAN11_Bai8_MauSoLieuGhepNhom_T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9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4</a:t>
            </a:r>
          </a:p>
        </p:txBody>
      </p:sp>
      <p:pic>
        <p:nvPicPr>
          <p:cNvPr id="7" name="Picture 6" descr="SoDoTuDuy_TOAN11_Bai9_CacSoDacTrungDoXuTheTrungTam_T19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Đổi số đo góc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sang rađian, ta được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Đổi số đo góc </a:t>
                </a:r>
                <a:r>
                  <a:rPr lang="vi-VN"/>
                  <a:t>120^\circ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sang rađian, ta được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\frac{3\pi}{2}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\frac{2\pi}{3}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\frac{\pi}{3}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\frac{4\pi}{3}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=120·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(rad). Kết quả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do đảo ngược công thức đổi.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120^\circ=120\cdot\frac{\pi}{180}=\frac{2\pi}{3}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(rad). Kết quả </a:t>
                </a:r>
                <a:r>
                  <a:rPr lang="vi-VN"/>
                  <a:t>\frac{3\pi}{2}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do đảo ngược công thức đổi.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Không dùng máy tính, giá trị của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Không dùng máy tính, giá trị của </a:t>
                </a:r>
                <a:r>
                  <a:rPr lang="vi-VN"/>
                  <a:t>\cos 105^\circ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\frac{\sqrt{6}-\sqrt{2}}{4}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\frac{\sqrt{2}+\sqrt{6}}{4}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-\frac{\sqrt{2}+\sqrt{6}}{4}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\frac{\sqrt{2}-\sqrt{6}}{4}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D.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Kết quả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sai dấu.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D.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 105^\circ=\cos(60^\circ+45^\circ)=\cos 60^\circ\cos 45^\circ-\sin 60^\circ\sin 45^\circ=\frac{\sqrt{2}}{4}-\frac{\sqrt{6}}{4}=\frac{\sqrt{2}-\sqrt{6}}{4}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Kết quả </a:t>
                </a:r>
                <a:r>
                  <a:rPr lang="vi-VN"/>
                  <a:t>\frac{\sqrt{6}-\sqrt{2}}{4}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lang="vi-VN"/>
                  <a:t>\cos 75^\circ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sai dấu.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nhận giá trị âm khi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thuộc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3π</m:t>
                            </m:r>
                          </m:num>
                          <m:den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3π</m:t>
                            </m:r>
                          </m:num>
                          <m:den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Trên đoạn </a:t>
                </a:r>
                <a:r>
                  <a:rPr lang="vi-VN"/>
                  <a:t>[0;2\pi]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hàm số </a:t>
                </a:r>
                <a:r>
                  <a:rPr lang="vi-VN"/>
                  <a:t>y=\cos x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nhận giá trị âm khi </a:t>
                </a:r>
                <a:r>
                  <a:rPr lang="vi-VN"/>
                  <a:t>x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thuộc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(0;\pi)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\left(\frac{\pi}{2};\frac{3\pi}{2}\right)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(\pi;2\pi)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\left(0;\frac{\pi}{2}\right)\cup\left(\frac{3\pi}{2};2\pi\right)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đồ thị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nằm dưới trục hoành khi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&lt;x&lt;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Khoảng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nơi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x&lt;0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(nhầm sin với côsin).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Trên </a:t>
                </a:r>
                <a:r>
                  <a:rPr lang="vi-VN"/>
                  <a:t>[0;2\pi]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đồ thị </a:t>
                </a:r>
                <a:r>
                  <a:rPr lang="vi-VN"/>
                  <a:t>y=\cos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nằm dưới trục hoành khi </a:t>
                </a:r>
                <a:r>
                  <a:rPr lang="vi-VN"/>
                  <a:t>\frac{\pi}{2}&lt;x&lt;\frac{3\pi}{2}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Khoảng </a:t>
                </a:r>
                <a:r>
                  <a:rPr lang="vi-VN"/>
                  <a:t>(\pi;2\pi)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nơi </a:t>
                </a:r>
                <a:r>
                  <a:rPr lang="vi-VN"/>
                  <a:t>\sin x&lt;0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(nhầm sin với côsin).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Nghiệm của phương trình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(k∈ℤ)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(k∈ℤ)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(k∈ℤ)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(k∈ℤ)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Nghiệm của phương trình </a:t>
                </a:r>
                <a:r>
                  <a:rPr lang="vi-VN"/>
                  <a:t>\cos x=\frac{1}{2}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x=\pm\frac{\pi}{3}+k2\pi\ (k\in\mathbb{Z})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x=\pm\frac{\pi}{6}+k2\pi\ (k\in\mathbb{Z})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x=\frac{\pi}{3}+k\pi\ (k\in\mathbb{Z})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x=\frac{\pi}{3}+k2\pi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x=\frac{2\pi}{3}+k2\pi\ (k\in\mathbb{Z})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A.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Họ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nghiệm của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(nhầm công thức sin với côsin).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A.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 x=\frac{1}{2}=\cos\frac{\pi}{3}\Leftrightarrow x=\pm\frac{\pi}{3}+k2\pi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Họ </a:t>
                </a:r>
                <a:r>
                  <a:rPr lang="vi-VN"/>
                  <a:t>\frac{\pi}{3}+k2\pi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\frac{2\pi}{3}+k2\pi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nghiệm của </a:t>
                </a:r>
                <a:r>
                  <a:rPr lang="vi-VN"/>
                  <a:t>\sin x=\frac{\sqrt{3}}{2}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(nhầm công thức sin với côsin).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Dãy số nào sau đây là dãy số tăng?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=(−1</m:t>
                    </m:r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=−2n+5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Dãy số nào sau đây là dãy số tăng?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u_n=\frac{1}{n}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u_n=\frac{n}{n+1}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u_n=(-1)^n n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u_n=-2n+5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sepChr m:val="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n∈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Dãy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−2n+5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giảm; dãy </a:t>
                </a:r>
                <a14:m>
                  <m:oMath xmlns:m="http://schemas.openxmlformats.org/officeDocument/2006/math">
                    <m:d>
                      <m:dPr>
                        <m:sepChr m:val=""/>
                        <m:end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đổi dấu liên tục nên không tăng, không giảm.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u_{n+1}-u_n=\frac{n+1}{n+2}-\frac{n}{n+1}=\frac{1}{(n+1)(n+2)}&gt;0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n\in\mathbb{N}^*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Dãy </a:t>
                </a:r>
                <a:r>
                  <a:rPr lang="vi-VN"/>
                  <a:t>\frac{1}{n}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-2n+5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giảm; dãy </a:t>
                </a:r>
                <a:r>
                  <a:rPr lang="vi-VN"/>
                  <a:t>(-1)^n n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đổi dấu liên tục nên không tăng, không giảm.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Cấp số cộng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=22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Số hạng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Cấp số cộng </a:t>
                </a:r>
                <a:r>
                  <a:rPr lang="vi-VN"/>
                  <a:t>(u_n)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</a:t>
                </a:r>
                <a:r>
                  <a:rPr lang="vi-VN"/>
                  <a:t>u_3=7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u_8=22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Số hạng </a:t>
                </a:r>
                <a:r>
                  <a:rPr lang="vi-VN"/>
                  <a:t>u_{20}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55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61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58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60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=5d=15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−2d=1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Do đó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=1+19·3=58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u_8-u_3=5d=15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d=3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u_1=u_3-2d=1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Do đó </a:t>
                </a:r>
                <a:r>
                  <a:rPr lang="vi-VN"/>
                  <a:t>u_{20}=1+19\cdot 3=58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Dãy số hữu hạn nào sau đây là một cấp số nhân?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6,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12,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4,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6,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4,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9,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6,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18,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Dãy số hữu hạn nào sau đây là một cấp số nhân?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3,\ 6,\ 12,\ 18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2,\ 4,\ 6,\ 8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1,\ 4,\ 9,\ 16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2,\ 6,\ 18,\ 54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D.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Dãy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2,6,18,54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mỗi số hạng (kể từ số hạng thứ hai) bằng số hạng đứng trước nhân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là cấp số nhân với công bội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D.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Dãy </a:t>
                </a:r>
                <a:r>
                  <a:rPr lang="vi-VN"/>
                  <a:t>2, 6, 18, 54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mỗi số hạng (kể từ số hạng thứ hai) bằng số hạng đứng trước nhân với </a:t>
                </a:r>
                <a:r>
                  <a:rPr lang="vi-VN"/>
                  <a:t>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là cấp số nhân với công bội </a:t>
                </a:r>
                <a:r>
                  <a:rPr lang="vi-VN"/>
                  <a:t>q=3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Cân nặng (kg) của 35 người: 43, 51, 47, 62, 48, 40, 50, 62, 53, 56, 40, 48, 56, 53, 50, 42, 55, 52, 48, 46, 45, 54, 52, 50, 47, 44, 54, 55, 60, 63, 58, 55, 60, 58, 53. Ghép nhóm với các nhóm có độ dài bằng nhau, trong đó có nhóm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[40;45)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Tần số của nhóm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[50;55)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7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11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5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10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Cân nặng (kg) của 35 người: 43, 51, 47, 62, 48, 40, 50, 62, 53, 56, 40, 48, 56, 53, 50, 42, 55, 52, 48, 46, 45, 54, 52, 50, 47, 44, 54, 55, 60, 63, 58, 55, 60, 58, 53. Ghép nhóm với các nhóm có độ dài bằng nhau, trong đó có nhóm </a:t>
                </a:r>
                <a:r>
                  <a:rPr lang="vi-VN"/>
                  <a:t>[40;45)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Tần số của nhóm </a:t>
                </a:r>
                <a:r>
                  <a:rPr lang="vi-VN"/>
                  <a:t>[50;55)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7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11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5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10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Các nhóm là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[40;45)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[45;50)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[50;55)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[55;60)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[60;65)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tần số lần lượt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Nhóm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[50;55)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gồm 50 (3 lần), 51, 52 (2 lần), 53 (3 lần), 54 (2 lần): tần số 11.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Các nhóm là </a:t>
                </a:r>
                <a:r>
                  <a:rPr lang="vi-VN"/>
                  <a:t>[40;45)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[45;50)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[50;55)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[55;60)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[60;65)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tần số lần lượt </a:t>
                </a:r>
                <a:r>
                  <a:rPr lang="vi-VN"/>
                  <a:t>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7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11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7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Nhóm </a:t>
                </a:r>
                <a:r>
                  <a:rPr lang="vi-VN"/>
                  <a:t>[50;55)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gồm 50 (3 lần), 51, 52 (2 lần), 53 (3 lần), 54 (2 lần): tần số 11.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Thời gian (phút) truy cập Internet mỗi buổi tối của 56 học sinh: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[9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5;12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3,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[12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5;15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12,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[15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5;18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15,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[18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5;21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24,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[21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5;24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2. Trung vị của mẫu số liệu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Thời gian (phút) truy cập Internet mỗi buổi tối của 56 học sinh: </a:t>
                </a:r>
                <a:r>
                  <a:rPr lang="vi-VN"/>
                  <a:t>[9{,}5;12{,}5)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3, </a:t>
                </a:r>
                <a:r>
                  <a:rPr lang="vi-VN"/>
                  <a:t>[12{,}5;15{,}5)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12, </a:t>
                </a:r>
                <a:r>
                  <a:rPr lang="vi-VN"/>
                  <a:t>[15{,}5;18{,}5)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15, </a:t>
                </a:r>
                <a:r>
                  <a:rPr lang="vi-VN"/>
                  <a:t>[18{,}5;21{,}5)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24, </a:t>
                </a:r>
                <a:r>
                  <a:rPr lang="vi-VN"/>
                  <a:t>[21{,}5;24{,}5)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2. Trung vị của mẫu số liệu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17{,}5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18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18{,}1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19{,}37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=28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3+12=15&lt;28≤30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nhóm chứa trung vị là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[15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5;18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=15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5+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28−15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·3=18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\frac{n}{2}=28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3+12=15&lt;28\le 30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nhóm chứa trung vị là </a:t>
                </a:r>
                <a:r>
                  <a:rPr lang="vi-VN"/>
                  <a:t>[15{,}5;18{,}5)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M_e=15{,}5+\frac{28-15}{15}\cdot 3=18{,}1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Số nghiệm của phương trình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Số nghiệm của phương trình </a:t>
                </a:r>
                <a:r>
                  <a:rPr lang="vi-VN"/>
                  <a:t>2\cos x=1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[0;2\pi]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3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1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2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4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– có 2 nghiệm.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 x=\frac{1}{2}\Leftrightarrow x=\pm\frac{\pi}{3}+k2\pi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Trên </a:t>
                </a:r>
                <a:r>
                  <a:rPr lang="vi-VN"/>
                  <a:t>[0;2\pi]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x=\frac{\pi}{3}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x=\frac{5\pi}{3}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– có 2 nghiệm.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Dãy số nào sau đây là dãy số giảm?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=(−1</m:t>
                    </m:r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=2n−7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Dãy số nào sau đây là dãy số giảm?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u_n=(-1)^n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u_n=n^2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u_n=\frac{5}{n+2}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u_n=2n-7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tăng thì mẫu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n+2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tăng nên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giảm. Dãy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2n−7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tăng; dãy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sepChr m:val="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đổi dấu liên tục.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n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tăng thì mẫu </a:t>
                </a:r>
                <a:r>
                  <a:rPr lang="vi-VN"/>
                  <a:t>n+2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tăng nên </a:t>
                </a:r>
                <a:r>
                  <a:rPr lang="vi-VN"/>
                  <a:t>\frac{5}{n+2}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giảm. Dãy </a:t>
                </a:r>
                <a:r>
                  <a:rPr lang="vi-VN"/>
                  <a:t>n^2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2n-7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tăng; dãy </a:t>
                </a:r>
                <a:r>
                  <a:rPr lang="vi-VN"/>
                  <a:t>(-1)^n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đổi dấu liên tục.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Tổng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1+4+7+…+58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590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609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560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620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Tổng </a:t>
                </a:r>
                <a:r>
                  <a:rPr lang="vi-VN"/>
                  <a:t>1+4+7+\ldots+58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590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609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560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620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A.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Cấp số cộng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=58⇒n=20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20(1+58)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=590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A.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Cấp số cộng </a:t>
                </a:r>
                <a:r>
                  <a:rPr lang="vi-VN"/>
                  <a:t>u_1=1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u_n=58\Rightarrow n=20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S_{20}=\frac{20(1+58)}{2}=590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Bánh xe máy của bác Hai ở xã địa phương có đường kính 60 cm (tính cả lốp). Khi xe chạy đều, bánh xe quay được 5 vòng trong 2 giây.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Trong 1 giây, bánh xe quay được một góc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Góc mà bánh xe quay được trong 1 giây bằng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5π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rad.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Trong 1 giây, xe đi được quãng đường khoảng 9,42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Trong 1 phút, xe đi được quãng đường dài hơn 280 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Bánh xe máy của bác Hai ở xã địa phương có đường kính 60 cm (tính cả lốp). Khi xe chạy đều, bánh xe quay được 5 vòng trong 2 giây.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Trong 1 giây, bánh xe quay được một góc </a:t>
                </a:r>
                <a:r>
                  <a:rPr lang="vi-VN"/>
                  <a:t>900^\circ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Góc mà bánh xe quay được trong 1 giây bằng </a:t>
                </a:r>
                <a:r>
                  <a:rPr lang="vi-VN"/>
                  <a:t>5\pi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rad.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Trong 1 giây, xe đi được quãng đường khoảng 9,42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Trong 1 phút, xe đi được quãng đường dài hơn 280 m.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Trong 1 giây bánh xe quay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=2,5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vòng, tức là quay góc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2,5·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Đúng: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=900·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(rad).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Sai: Bán kính bánh xe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R=30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=0,3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m. Quãng đường đi được trong 1 giây là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l=Rα=0,3·5π=1,5π≈4,71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(m). Con số 9,42 m có được do dùng nhầm đường kính thay cho bán kính.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Đúng: Trong 1 phút xe đi được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60·1,5π=90π≈282,7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(m)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&gt;280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Trong 1 giây bánh xe quay </a:t>
                </a:r>
                <a:r>
                  <a:rPr lang="vi-VN"/>
                  <a:t>\frac{5}{2}=2,5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vòng, tức là quay góc </a:t>
                </a:r>
                <a:r>
                  <a:rPr lang="vi-VN"/>
                  <a:t>2,5\cdot 360^\circ=900^\circ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Đúng: </a:t>
                </a:r>
                <a:r>
                  <a:rPr lang="vi-VN"/>
                  <a:t>900^\circ=900\cdot\frac{\pi}{180}=5\pi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(rad).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Sai: Bán kính bánh xe </a:t>
                </a:r>
                <a:r>
                  <a:rPr lang="vi-VN"/>
                  <a:t>R=30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cm </a:t>
                </a:r>
                <a:r>
                  <a:rPr lang="vi-VN"/>
                  <a:t>=0,3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m. Quãng đường đi được trong 1 giây là </a:t>
                </a:r>
                <a:r>
                  <a:rPr lang="vi-VN"/>
                  <a:t>l=R\alpha=0,3\cdot 5\pi=1,5\pi\approx 4,71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(m). Con số 9,42 m có được do dùng nhầm đường kính thay cho bán kính.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Đúng: Trong 1 phút xe đi được </a:t>
                </a:r>
                <a:r>
                  <a:rPr lang="vi-VN"/>
                  <a:t>60\cdot 1,5\pi=90\pi\approx 282,7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(m) </a:t>
                </a:r>
                <a:r>
                  <a:rPr lang="vi-VN"/>
                  <a:t>&gt;280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m.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Khi nhấn phím 1 trên bàn phím điện thoại cảm ứng, máy tạo ra hai âm thuần có tần số thấp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=697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Hz và tần số cao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=1209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Hz; âm thanh tạo ra là sóng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(2π</m:t>
                    </m:r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t)+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(2π</m:t>
                    </m:r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trong đó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 thời gian (giây).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Hàm số mô hình hoá âm thanh khi nhấn phím 1 là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(1394πt)+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(2418πt)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Có thể viết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(1906πt)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(512πt)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Với mọi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ta có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−2≤y≤2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Tại thời điểm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thì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Khi nhấn phím 1 trên bàn phím điện thoại cảm ứng, máy tạo ra hai âm thuần có tần số thấp </a:t>
                </a:r>
                <a:r>
                  <a:rPr lang="vi-VN"/>
                  <a:t>f_1=697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Hz và tần số cao </a:t>
                </a:r>
                <a:r>
                  <a:rPr lang="vi-VN"/>
                  <a:t>f_2=1209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Hz; âm thanh tạo ra là sóng </a:t>
                </a:r>
                <a:r>
                  <a:rPr lang="vi-VN"/>
                  <a:t>y=\sin(2\pi f_1 t)+\sin(2\pi f_2 t)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trong đó </a:t>
                </a:r>
                <a:r>
                  <a:rPr lang="vi-VN"/>
                  <a:t>t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 thời gian (giây).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Hàm số mô hình hoá âm thanh khi nhấn phím 1 là </a:t>
                </a:r>
                <a:r>
                  <a:rPr lang="vi-VN"/>
                  <a:t>y=\sin(1394\pi t)+\sin(2418\pi t)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Có thể viết </a:t>
                </a:r>
                <a:r>
                  <a:rPr lang="vi-VN"/>
                  <a:t>y=2\sin(1906\pi t)\sin(512\pi t)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Với mọi </a:t>
                </a:r>
                <a:r>
                  <a:rPr lang="vi-VN"/>
                  <a:t>t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ta có </a:t>
                </a:r>
                <a:r>
                  <a:rPr lang="vi-VN"/>
                  <a:t>-2\le y\le 2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Tại thời điểm </a:t>
                </a:r>
                <a:r>
                  <a:rPr lang="vi-VN"/>
                  <a:t>t=0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thì </a:t>
                </a:r>
                <a:r>
                  <a:rPr lang="vi-VN"/>
                  <a:t>y=2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2π·697=1394π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2π·1209=2418π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Sai: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u+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(1906πt)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(512πt)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(thừa số thứ hai là côsin, không phải sin).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Đúng: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(1906πt)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(512πt)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mà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(1906πt)|≤1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(512πt)|≤1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|y|≤2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y(0)=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0+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</a:t>
                </a:r>
                <a:r>
                  <a:rPr lang="vi-VN"/>
                  <a:t>2\pi\cdot 697=1394\pi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2\pi\cdot 1209=2418\pi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Sai: </a:t>
                </a:r>
                <a:r>
                  <a:rPr lang="vi-VN"/>
                  <a:t>\sin u+\sin v=2\sin\frac{u+v}{2}\cos\frac{u-v}{2}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y=2\sin(1906\pi t)\cos(512\pi 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(thừa số thứ hai là côsin, không phải sin).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Đúng: </a:t>
                </a:r>
                <a:r>
                  <a:rPr lang="vi-VN"/>
                  <a:t>y=2\sin(1906\pi t)\cos(512\pi 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mà </a:t>
                </a:r>
                <a:r>
                  <a:rPr lang="vi-VN"/>
                  <a:t>|\sin(1906\pi t)|\le 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|\cos(512\pi t)|\le 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|y|\le 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</a:t>
                </a:r>
                <a:r>
                  <a:rPr lang="vi-VN"/>
                  <a:t>y(0)=\sin 0+\sin 0=0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Nhiệt độ ngoài trời ở xã địa phương trong một ngày được mô hình hoá bởi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T(t)=27+4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π(t−9)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(°C), trong đó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 thời gian tính bằng giờ kể từ 0 giờ (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0≤t≤24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).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Nhiệt độ cao nhất trong ngày là 31 °C.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Nhiệt độ cao nhất đạt được lúc 12 giờ trưa.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Lúc 9 giờ sáng, nhiệt độ ngoài trời là 27 °C.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T(t)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tuần hoàn với chu kì 12 giờ.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Nhiệt độ ngoài trời ở xã địa phương trong một ngày được mô hình hoá bởi hàm số </a:t>
                </a:r>
                <a:r>
                  <a:rPr lang="vi-VN"/>
                  <a:t>T(t)=27+4\sin\frac{\pi(t-9)}{12}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(°C), trong đó </a:t>
                </a:r>
                <a:r>
                  <a:rPr lang="vi-VN"/>
                  <a:t>t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 thời gian tính bằng giờ kể từ 0 giờ (</a:t>
                </a:r>
                <a:r>
                  <a:rPr lang="vi-VN"/>
                  <a:t>0\le t\le 24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).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Nhiệt độ cao nhất trong ngày là 31 °C.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Nhiệt độ cao nhất đạt được lúc 12 giờ trưa.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Lúc 9 giờ sáng, nhiệt độ ngoài trời là 27 °C.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Hàm số </a:t>
                </a:r>
                <a:r>
                  <a:rPr lang="vi-VN"/>
                  <a:t>T(t)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tuần hoàn với chu kì 12 giờ.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Vì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π(t−9)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T(t)≤31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dấu bằng xảy ra khi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π(t−9)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tức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t=15∈[0;24]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Sai: Nhiệt độ cao nhất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t=15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tức lúc 15 giờ (3 giờ chiều). Lúc 12 giờ: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T(12)=27+4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≈29,8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°C.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Đúng: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T(9)=27+4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0=27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(°C).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Chu kì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(giờ), không phải 12 giờ.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Vì </a:t>
                </a:r>
                <a:r>
                  <a:rPr lang="vi-VN"/>
                  <a:t>\sin\frac{\pi(t-9)}{12}\le 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T(t)\le 31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dấu bằng xảy ra khi </a:t>
                </a:r>
                <a:r>
                  <a:rPr lang="vi-VN"/>
                  <a:t>\frac{\pi(t-9)}{12}=\frac{\pi}{2}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tức </a:t>
                </a:r>
                <a:r>
                  <a:rPr lang="vi-VN"/>
                  <a:t>t=15\in[0;24]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Sai: Nhiệt độ cao nhất khi </a:t>
                </a:r>
                <a:r>
                  <a:rPr lang="vi-VN"/>
                  <a:t>t=15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tức lúc 15 giờ (3 giờ chiều). Lúc 12 giờ: </a:t>
                </a:r>
                <a:r>
                  <a:rPr lang="vi-VN"/>
                  <a:t>T(12)=27+4\sin\frac{\pi}{4}\approx 29,8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°C.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Đúng: </a:t>
                </a:r>
                <a:r>
                  <a:rPr lang="vi-VN"/>
                  <a:t>T(9)=27+4\sin 0=27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(°C).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Chu kì </a:t>
                </a:r>
                <a:r>
                  <a:rPr lang="vi-VN"/>
                  <a:t>\frac{2\pi}{\frac{\pi}{12}}=24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(giờ), không phải 12 giờ.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Độ sâu mực nước tại một cảng biển được mô hình hoá bởi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h(t)=12+3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(m), trong đó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 thời gian tính bằng giờ kể từ 0 giờ (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0≤t&lt;24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).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Độ sâu lớn nhất của mực nước tại cảng là 15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Trong một ngày (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0≤t&lt;24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), có đúng 2 thời điểm mực nước sâu 13,5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Lần đầu tiên trong ngày mực nước sâu 12 m là lúc 3 giờ.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Một tàu chỉ vào được cảng khi độ sâu ít nhất 13,5 m. Từ 0 giờ đến 12 giờ, tổng thời gian tàu có thể vào cảng là 2 giờ.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Độ sâu mực nước tại một cảng biển được mô hình hoá bởi hàm số </a:t>
                </a:r>
                <a:r>
                  <a:rPr lang="vi-VN"/>
                  <a:t>h(t)=12+3\cos\frac{\pi t}{6}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(m), trong đó </a:t>
                </a:r>
                <a:r>
                  <a:rPr lang="vi-VN"/>
                  <a:t>t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 thời gian tính bằng giờ kể từ 0 giờ (</a:t>
                </a:r>
                <a:r>
                  <a:rPr lang="vi-VN"/>
                  <a:t>0\le t&lt;24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).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Độ sâu lớn nhất của mực nước tại cảng là 15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Trong một ngày (</a:t>
                </a:r>
                <a:r>
                  <a:rPr lang="vi-VN"/>
                  <a:t>0\le t&lt;24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), có đúng 2 thời điểm mực nước sâu 13,5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Lần đầu tiên trong ngày mực nước sâu 12 m là lúc 3 giờ.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Một tàu chỉ vào được cảng khi độ sâu ít nhất 13,5 m. Từ 0 giờ đến 12 giờ, tổng thời gian tàu có thể vào cảng là 2 giờ.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36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h(t)≤15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dấu bằng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t=12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Sai: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h=13,5⇔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+k2π⇔t=±2+12k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0≤t&lt;24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t∈{2;10;14;22}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tức là 4 thời điểm.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Đúng: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h=12⇔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=0⇔t=3+6k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giá trị nhỏ nhất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t≥0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h≥13,5⇔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điều này đúng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t∈[0;2]∪[10;12]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tổng cộng 4 giờ.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</a:t>
                </a:r>
                <a:r>
                  <a:rPr lang="vi-VN"/>
                  <a:t>\cos\frac{\pi t}{6}\le 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h(t)\le 15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dấu bằng khi </a:t>
                </a:r>
                <a:r>
                  <a:rPr lang="vi-VN"/>
                  <a:t>t=0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t=12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Sai: </a:t>
                </a:r>
                <a:r>
                  <a:rPr lang="vi-VN"/>
                  <a:t>h=13,5\Leftrightarrow\cos\frac{\pi t}{6}=\frac{1}{2}\Leftrightarrow\frac{\pi t}{6}=\pm\frac{\pi}{3}+k2\pi\Leftrightarrow t=\pm 2+12k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Với </a:t>
                </a:r>
                <a:r>
                  <a:rPr lang="vi-VN"/>
                  <a:t>0\le t&lt;24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t\in\{2;10;14;22\}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tức là 4 thời điểm.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Đúng: </a:t>
                </a:r>
                <a:r>
                  <a:rPr lang="vi-VN"/>
                  <a:t>h=12\Leftrightarrow\cos\frac{\pi t}{6}=0\Leftrightarrow t=3+6k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giá trị nhỏ nhất với </a:t>
                </a:r>
                <a:r>
                  <a:rPr lang="vi-VN"/>
                  <a:t>t\ge 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lang="vi-VN"/>
                  <a:t>t=3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</a:t>
                </a:r>
                <a:r>
                  <a:rPr lang="vi-VN"/>
                  <a:t>h\ge 13,5\Leftrightarrow\cos\frac{\pi t}{6}\ge\frac{1}{2}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trên </a:t>
                </a:r>
                <a:r>
                  <a:rPr lang="vi-VN"/>
                  <a:t>[0;12]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điều này đúng khi </a:t>
                </a:r>
                <a:r>
                  <a:rPr lang="vi-VN"/>
                  <a:t>t\in[0;2]\cup[10;12]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tổng cộng 4 giờ.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37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Cho dãy số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xác định bởi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n≥2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Cho dãy số </a:t>
                </a:r>
                <a:r>
                  <a:rPr lang="vi-VN"/>
                  <a:t>(u_n)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xác định bởi </a:t>
                </a:r>
                <a:r>
                  <a:rPr lang="vi-VN"/>
                  <a:t>u_1=2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u_n=2u_{n-1}+1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n\ge 2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Tính </a:t>
                </a:r>
                <a:r>
                  <a:rPr lang="vi-VN"/>
                  <a:t>u_5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38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số: 47.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=47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số: 47.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u_2=5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u_3=11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u_4=23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u_5=47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Bạn An bỏ heo 20 nghìn đồng ở tuần đầu, mỗi tuần sau bỏ nhiều hơn tuần trước 5 nghìn đồng. Sau 30 tuần An có bao nhiêu nghìn đồng?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40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số: 2775.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Cấp số cộng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[40+29·5]=15·185=2775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số: 2775.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Cấp số cộng </a:t>
                </a:r>
                <a:r>
                  <a:rPr lang="vi-VN"/>
                  <a:t>u_1=20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S_{30}=\frac{30}{2}[40+29\cdot 5]=15\cdot 185=2775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41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Gửi tiết kiệm 50 triệu đồng, lãi kép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6%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mỗi năm. Sau ít nhất bao nhiêu năm số tiền (cả gốc và lãi) vượt 70 triệu đồng?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Gửi tiết kiệm 50 triệu đồng, lãi kép </a:t>
                </a:r>
                <a:r>
                  <a:rPr lang="vi-VN"/>
                  <a:t>6\%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mỗi năm. Sau ít nhất bao nhiêu năm số tiền (cả gốc và lãi) vượt 70 triệu đồng?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42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số: 6.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50·1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06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&gt;70⇔1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06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06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338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06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419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n=6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số: 6.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50\cdot 1{,}06^n&gt;70\Leftrightarrow 1{,}06^n&gt;1{,}4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1{,}06^5\approx 1{,}338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1{,}06^6\approx 1{,}419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n=6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43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Chị Lan vay 50 triệu đồng, lãi suất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mỗi tháng tính trên số tiền còn nợ; cuối mỗi tháng chị trả 5 triệu đồng. Số tiền chị còn nợ sau 3 tháng là bao nhiêu triệu đồng (làm tròn đến hàng phần mười)?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Chị Lan vay 50 triệu đồng, lãi suất </a:t>
                </a:r>
                <a:r>
                  <a:rPr lang="vi-VN"/>
                  <a:t>1\%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mỗi tháng tính trên số tiền còn nợ; cuối mỗi tháng chị trả 5 triệu đồng. Số tiền chị còn nợ sau 3 tháng là bao nhiêu triệu đồng (làm tròn đến hàng phần mười)?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44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số: 36.4.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01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=45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=40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955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=36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36455≈36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số: 36.4.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A_n=1{,}01A_{n-1}-5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A_1=45{,}5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A_2=40{,}955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A_3=36{,}36455\approx 36{,}4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45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Cấp số cộng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Cấp số cộng </a:t>
                </a:r>
                <a:r>
                  <a:rPr lang="vi-VN"/>
                  <a:t>(u_n)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</a:t>
                </a:r>
                <a:r>
                  <a:rPr lang="vi-VN"/>
                  <a:t>u_3=7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u_9=25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Tính </a:t>
                </a:r>
                <a:r>
                  <a:rPr lang="vi-VN"/>
                  <a:t>u_{20}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46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số: 58.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6d=18⇒d=3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=1+19·3=58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số: 58.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6d=18\Rightarrow d=3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u_1=1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u_{20}=1+19\cdot 3=58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47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Cấp số nhân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=324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Cấp số nhân </a:t>
                </a:r>
                <a:r>
                  <a:rPr lang="vi-VN"/>
                  <a:t>(u_n)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</a:t>
                </a:r>
                <a:r>
                  <a:rPr lang="vi-VN"/>
                  <a:t>u_3=12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u_6=324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Tính </a:t>
                </a:r>
                <a:r>
                  <a:rPr lang="vi-VN"/>
                  <a:t>u_4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11 · Giữa học kì I          48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số: 36.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=27⇒q=3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q=36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số: 36.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q^3=27\Rightarrow q=3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u_4=u_3q=36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