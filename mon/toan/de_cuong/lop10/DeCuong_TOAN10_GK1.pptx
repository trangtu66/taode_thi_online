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TextBox 1"/>
          <p:cNvSpPr txBox="1"/>
          <p:nvPr/>
        </p:nvSpPr>
        <p:spPr>
          <a:xfrm>
            <a:off x="731520" y="1828800"/>
            <a:ext cx="10698480" cy="2743200"/>
          </a:xfrm>
          <a:prstGeom prst="rect">
            <a:avLst/>
          </a:prstGeom>
          <a:noFill/>
        </p:spPr>
        <p:txBody>
          <a:bodyPr wrap="square" anchor="ctr" lIns="45720" rIns="45720">
            <a:spAutoFit/>
          </a:bodyPr>
          <a:lstStyle/>
          <a:p>
            <a:pPr algn="ctr">
              <a:spcAft>
                <a:spcPts val="800"/>
              </a:spcAft>
            </a:pPr>
            <a:r>
              <a:rPr sz="4000" b="1">
                <a:solidFill>
                  <a:srgbClr val="1E293B"/>
                </a:solidFill>
                <a:latin typeface="Calibri"/>
              </a:rPr>
              <a:t>ĐỀ CƯƠNG ÔN TẬP GIỮA HỌC KÌ I</a:t>
            </a:r>
          </a:p>
          <a:p>
            <a:pPr algn="ctr">
              <a:spcAft>
                <a:spcPts val="800"/>
              </a:spcAft>
            </a:pPr>
            <a:r>
              <a:rPr sz="2800">
                <a:solidFill>
                  <a:srgbClr val="1E293B"/>
                </a:solidFill>
                <a:latin typeface="Calibri"/>
              </a:rPr>
              <a:t>Môn Toán – Lớp 10 · Năm học 2026 – 2027</a:t>
            </a:r>
          </a:p>
          <a:p>
            <a:pPr algn="ctr">
              <a:spcAft>
                <a:spcPts val="800"/>
              </a:spcAft>
            </a:pPr>
            <a:r>
              <a:rPr sz="2000">
                <a:solidFill>
                  <a:srgbClr val="1E293B"/>
                </a:solidFill>
                <a:latin typeface="Calibri"/>
              </a:rPr>
              <a:t>Trường THPT · Biên soạn: TTT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CƯƠNG</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CẤU TRÚC ĐỀ CƯƠNG</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Đề cương Toán 10 · Giữa học kì I          2</a:t>
            </a:r>
          </a:p>
        </p:txBody>
      </p:sp>
      <p:sp>
        <p:nvSpPr>
          <p:cNvPr id="7" name="TextBox 6"/>
          <p:cNvSpPr txBox="1"/>
          <p:nvPr/>
        </p:nvSpPr>
        <p:spPr>
          <a:xfrm>
            <a:off x="731520" y="1463040"/>
            <a:ext cx="10789920" cy="457200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Phần 1. Tóm tắt lý thuyết – Bài 1, Bài 2, Bài 3, Bài 4, Bài 5, Bài 6, Bài tập cuối chương I, Bài tập cuối chương II, Bài tập cuối Chương III</a:t>
            </a:r>
          </a:p>
          <a:p>
            <a:pPr algn="l" marL="365760" indent="-365760">
              <a:spcAft>
                <a:spcPts val="800"/>
              </a:spcAft>
              <a:buClr>
                <a:srgbClr val="1E40AF"/>
              </a:buClr>
              <a:buFont typeface="Arial"/>
              <a:buChar char="•"/>
            </a:pPr>
            <a:r>
              <a:rPr sz="2400">
                <a:solidFill>
                  <a:srgbClr val="1E293B"/>
                </a:solidFill>
                <a:latin typeface="Calibri"/>
              </a:rPr>
              <a:t>Phần 2. Bài tập luyện tập (gấp đôi ma trận) – trong file Word</a:t>
            </a:r>
          </a:p>
          <a:p>
            <a:pPr algn="l" marL="365760" indent="-365760">
              <a:spcAft>
                <a:spcPts val="800"/>
              </a:spcAft>
              <a:buClr>
                <a:srgbClr val="1E40AF"/>
              </a:buClr>
              <a:buFont typeface="Arial"/>
              <a:buChar char="•"/>
            </a:pPr>
            <a:r>
              <a:rPr sz="2400">
                <a:solidFill>
                  <a:srgbClr val="1E293B"/>
                </a:solidFill>
                <a:latin typeface="Calibri"/>
              </a:rPr>
              <a:t>Phần 3. Đề minh họa – mỗi câu: slide đề → slide lời giải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ĐỀ MINH HỌA · PHẦN I · CÂU 1</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Đề cương Toán 10 · Giữa học kì I          3</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4754880"/>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Mệnh đề nào sau đây đúng?</a:t>
                </a:r>
              </a:p>
              <a:p>
                <a:pPr algn="l">
                  <a:spcAft>
                    <a:spcPts val="800"/>
                  </a:spcAft>
                </a:pPr>
                <a:r>
                  <a:rPr sz="2000" b="1">
                    <a:solidFill>
                      <a:srgbClr val="1E293B"/>
                    </a:solidFill>
                    <a:latin typeface="Calibri"/>
                  </a:rPr>
                  <a:t>A. </a:t>
                </a:r>
                <a14:m>
                  <m:oMath xmlns:m="http://schemas.openxmlformats.org/officeDocument/2006/math">
                    <m:r>
                      <a:rPr lang="vi-VN" sz="2000" b="1">
                        <a:solidFill>
                          <a:srgbClr val="1E293B"/>
                        </a:solidFill>
                        <a:latin typeface="Cambria Math" panose="02040503050406030204" pitchFamily="18" charset="0"/>
                      </a:rPr>
                      <m:t>∃n∈ℕ,</m:t>
                    </m:r>
                    <m:r>
                      <m:rPr>
                        <m:sty m:val="p"/>
                      </m:rPr>
                      <a:rPr lang="vi-VN" sz="2000" b="1">
                        <a:solidFill>
                          <a:srgbClr val="1E293B"/>
                        </a:solidFill>
                        <a:latin typeface="Cambria Math" panose="02040503050406030204" pitchFamily="18" charset="0"/>
                      </a:rPr>
                      <m:t> </m:t>
                    </m:r>
                    <m:sSup>
                      <m:e>
                        <m:r>
                          <a:rPr lang="vi-VN" sz="2000" b="1">
                            <a:solidFill>
                              <a:srgbClr val="1E293B"/>
                            </a:solidFill>
                            <a:latin typeface="Cambria Math" panose="02040503050406030204" pitchFamily="18" charset="0"/>
                          </a:rPr>
                          <m:t>n</m:t>
                        </m:r>
                      </m:e>
                      <m:sup>
                        <m:r>
                          <a:rPr lang="vi-VN" sz="2000" b="1">
                            <a:solidFill>
                              <a:srgbClr val="1E293B"/>
                            </a:solidFill>
                            <a:latin typeface="Cambria Math" panose="02040503050406030204" pitchFamily="18" charset="0"/>
                          </a:rPr>
                          <m:t>2</m:t>
                        </m:r>
                      </m:sup>
                    </m:sSup>
                    <m:r>
                      <a:rPr lang="vi-VN" sz="2000" b="1">
                        <a:solidFill>
                          <a:srgbClr val="1E293B"/>
                        </a:solidFill>
                        <a:latin typeface="Cambria Math" panose="02040503050406030204" pitchFamily="18" charset="0"/>
                      </a:rPr>
                      <m:t>=2</m:t>
                    </m:r>
                  </m:oMath>
                </a14:m>
              </a:p>
              <a:p>
                <a:pPr algn="l">
                  <a:spcAft>
                    <a:spcPts val="800"/>
                  </a:spcAft>
                </a:pPr>
                <a:r>
                  <a:rPr sz="2000" b="1">
                    <a:solidFill>
                      <a:srgbClr val="1E293B"/>
                    </a:solidFill>
                    <a:latin typeface="Calibri"/>
                  </a:rPr>
                  <a:t>B. </a:t>
                </a:r>
                <a14:m>
                  <m:oMath xmlns:m="http://schemas.openxmlformats.org/officeDocument/2006/math">
                    <m:r>
                      <a:rPr lang="vi-VN" sz="2000" b="1">
                        <a:solidFill>
                          <a:srgbClr val="1E293B"/>
                        </a:solidFill>
                        <a:latin typeface="Cambria Math" panose="02040503050406030204" pitchFamily="18" charset="0"/>
                      </a:rPr>
                      <m:t>∀x∈ℝ,</m:t>
                    </m:r>
                    <m:r>
                      <m:rPr>
                        <m:sty m:val="p"/>
                      </m:rPr>
                      <a:rPr lang="vi-VN" sz="2000" b="1">
                        <a:solidFill>
                          <a:srgbClr val="1E293B"/>
                        </a:solidFill>
                        <a:latin typeface="Cambria Math" panose="02040503050406030204" pitchFamily="18" charset="0"/>
                      </a:rPr>
                      <m:t> </m:t>
                    </m:r>
                    <m:sSup>
                      <m:e>
                        <m:r>
                          <a:rPr lang="vi-VN" sz="2000" b="1">
                            <a:solidFill>
                              <a:srgbClr val="1E293B"/>
                            </a:solidFill>
                            <a:latin typeface="Cambria Math" panose="02040503050406030204" pitchFamily="18" charset="0"/>
                          </a:rPr>
                          <m:t>x</m:t>
                        </m:r>
                      </m:e>
                      <m:sup>
                        <m:r>
                          <a:rPr lang="vi-VN" sz="2000" b="1">
                            <a:solidFill>
                              <a:srgbClr val="1E293B"/>
                            </a:solidFill>
                            <a:latin typeface="Cambria Math" panose="02040503050406030204" pitchFamily="18" charset="0"/>
                          </a:rPr>
                          <m:t>2</m:t>
                        </m:r>
                      </m:sup>
                    </m:sSup>
                    <m:r>
                      <a:rPr lang="vi-VN" sz="2000" b="1">
                        <a:solidFill>
                          <a:srgbClr val="1E293B"/>
                        </a:solidFill>
                        <a:latin typeface="Cambria Math" panose="02040503050406030204" pitchFamily="18" charset="0"/>
                      </a:rPr>
                      <m:t>≥x</m:t>
                    </m:r>
                  </m:oMath>
                </a14:m>
              </a:p>
              <a:p>
                <a:pPr algn="l">
                  <a:spcAft>
                    <a:spcPts val="800"/>
                  </a:spcAft>
                </a:pPr>
                <a:r>
                  <a:rPr sz="2000" b="1">
                    <a:solidFill>
                      <a:srgbClr val="1E293B"/>
                    </a:solidFill>
                    <a:latin typeface="Calibri"/>
                  </a:rPr>
                  <a:t>C. </a:t>
                </a:r>
                <a14:m>
                  <m:oMath xmlns:m="http://schemas.openxmlformats.org/officeDocument/2006/math">
                    <m:r>
                      <a:rPr lang="vi-VN" sz="2000" b="1">
                        <a:solidFill>
                          <a:srgbClr val="1E293B"/>
                        </a:solidFill>
                        <a:latin typeface="Cambria Math" panose="02040503050406030204" pitchFamily="18" charset="0"/>
                      </a:rPr>
                      <m:t>∃x∈ℝ,</m:t>
                    </m:r>
                    <m:r>
                      <m:rPr>
                        <m:sty m:val="p"/>
                      </m:rPr>
                      <a:rPr lang="vi-VN" sz="2000" b="1">
                        <a:solidFill>
                          <a:srgbClr val="1E293B"/>
                        </a:solidFill>
                        <a:latin typeface="Cambria Math" panose="02040503050406030204" pitchFamily="18" charset="0"/>
                      </a:rPr>
                      <m:t> </m:t>
                    </m:r>
                    <m:sSup>
                      <m:e>
                        <m:r>
                          <a:rPr lang="vi-VN" sz="2000" b="1">
                            <a:solidFill>
                              <a:srgbClr val="1E293B"/>
                            </a:solidFill>
                            <a:latin typeface="Cambria Math" panose="02040503050406030204" pitchFamily="18" charset="0"/>
                          </a:rPr>
                          <m:t>x</m:t>
                        </m:r>
                      </m:e>
                      <m:sup>
                        <m:r>
                          <a:rPr lang="vi-VN" sz="2000" b="1">
                            <a:solidFill>
                              <a:srgbClr val="1E293B"/>
                            </a:solidFill>
                            <a:latin typeface="Cambria Math" panose="02040503050406030204" pitchFamily="18" charset="0"/>
                          </a:rPr>
                          <m:t>2</m:t>
                        </m:r>
                      </m:sup>
                    </m:sSup>
                    <m:r>
                      <a:rPr lang="vi-VN" sz="2000" b="1">
                        <a:solidFill>
                          <a:srgbClr val="1E293B"/>
                        </a:solidFill>
                        <a:latin typeface="Cambria Math" panose="02040503050406030204" pitchFamily="18" charset="0"/>
                      </a:rPr>
                      <m:t>+x+1=0</m:t>
                    </m:r>
                  </m:oMath>
                </a14:m>
              </a:p>
              <a:p>
                <a:pPr algn="l">
                  <a:spcAft>
                    <a:spcPts val="800"/>
                  </a:spcAft>
                </a:pPr>
                <a:r>
                  <a:rPr sz="2000" b="1">
                    <a:solidFill>
                      <a:srgbClr val="1E293B"/>
                    </a:solidFill>
                    <a:latin typeface="Calibri"/>
                  </a:rPr>
                  <a:t>D. </a:t>
                </a:r>
                <a14:m>
                  <m:oMath xmlns:m="http://schemas.openxmlformats.org/officeDocument/2006/math">
                    <m:r>
                      <a:rPr lang="vi-VN" sz="2000" b="1">
                        <a:solidFill>
                          <a:srgbClr val="1E293B"/>
                        </a:solidFill>
                        <a:latin typeface="Cambria Math" panose="02040503050406030204" pitchFamily="18" charset="0"/>
                      </a:rPr>
                      <m:t>∀x∈ℝ,</m:t>
                    </m:r>
                    <m:r>
                      <m:rPr>
                        <m:sty m:val="p"/>
                      </m:rPr>
                      <a:rPr lang="vi-VN" sz="2000" b="1">
                        <a:solidFill>
                          <a:srgbClr val="1E293B"/>
                        </a:solidFill>
                        <a:latin typeface="Cambria Math" panose="02040503050406030204" pitchFamily="18" charset="0"/>
                      </a:rPr>
                      <m:t> </m:t>
                    </m:r>
                    <m:sSup>
                      <m:e>
                        <m:r>
                          <a:rPr lang="vi-VN" sz="2000" b="1">
                            <a:solidFill>
                              <a:srgbClr val="1E293B"/>
                            </a:solidFill>
                            <a:latin typeface="Cambria Math" panose="02040503050406030204" pitchFamily="18" charset="0"/>
                          </a:rPr>
                          <m:t>x</m:t>
                        </m:r>
                      </m:e>
                      <m:sup>
                        <m:r>
                          <a:rPr lang="vi-VN" sz="2000" b="1">
                            <a:solidFill>
                              <a:srgbClr val="1E293B"/>
                            </a:solidFill>
                            <a:latin typeface="Cambria Math" panose="02040503050406030204" pitchFamily="18" charset="0"/>
                          </a:rPr>
                          <m:t>2</m:t>
                        </m:r>
                      </m:sup>
                    </m:sSup>
                    <m:r>
                      <a:rPr lang="vi-VN" sz="2000" b="1">
                        <a:solidFill>
                          <a:srgbClr val="1E293B"/>
                        </a:solidFill>
                        <a:latin typeface="Cambria Math" panose="02040503050406030204" pitchFamily="18" charset="0"/>
                      </a:rPr>
                      <m:t>−2x+2&gt;0</m:t>
                    </m:r>
                  </m:oMath>
                </a14:m>
              </a:p>
            </p:txBody>
          </p:sp>
        </mc:Choice>
        <mc:Fallback>
          <p:sp>
            <p:nvSpPr>
              <p:cNvPr id="7" name="TextBox 6"/>
              <p:cNvSpPr txBox="1"/>
              <p:nvPr/>
            </p:nvSpPr>
            <p:spPr>
              <a:xfrm>
                <a:off x="731520" y="1463040"/>
                <a:ext cx="10789920" cy="4754880"/>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Mệnh đề nào sau đây đúng?</a:t>
                </a:r>
              </a:p>
              <a:p>
                <a:pPr algn="l">
                  <a:spcAft>
                    <a:spcPts val="800"/>
                  </a:spcAft>
                </a:pPr>
                <a:r>
                  <a:rPr sz="2000" b="1">
                    <a:solidFill>
                      <a:srgbClr val="1E293B"/>
                    </a:solidFill>
                    <a:latin typeface="Calibri"/>
                  </a:rPr>
                  <a:t>A. </a:t>
                </a:r>
                <a:r>
                  <a:rPr lang="vi-VN"/>
                  <a:t>\exists n\in\mathbb{N},\ n^2=2</a:t>
                </a:r>
              </a:p>
              <a:p>
                <a:pPr algn="l">
                  <a:spcAft>
                    <a:spcPts val="800"/>
                  </a:spcAft>
                </a:pPr>
                <a:r>
                  <a:rPr sz="2000" b="1">
                    <a:solidFill>
                      <a:srgbClr val="1E293B"/>
                    </a:solidFill>
                    <a:latin typeface="Calibri"/>
                  </a:rPr>
                  <a:t>B. </a:t>
                </a:r>
                <a:r>
                  <a:rPr lang="vi-VN"/>
                  <a:t>\forall x\in\mathbb{R},\ x^2\ge x</a:t>
                </a:r>
              </a:p>
              <a:p>
                <a:pPr algn="l">
                  <a:spcAft>
                    <a:spcPts val="800"/>
                  </a:spcAft>
                </a:pPr>
                <a:r>
                  <a:rPr sz="2000" b="1">
                    <a:solidFill>
                      <a:srgbClr val="1E293B"/>
                    </a:solidFill>
                    <a:latin typeface="Calibri"/>
                  </a:rPr>
                  <a:t>C. </a:t>
                </a:r>
                <a:r>
                  <a:rPr lang="vi-VN"/>
                  <a:t>\exists x\in\mathbb{R},\ x^2+x+1=0</a:t>
                </a:r>
              </a:p>
              <a:p>
                <a:pPr algn="l">
                  <a:spcAft>
                    <a:spcPts val="800"/>
                  </a:spcAft>
                </a:pPr>
                <a:r>
                  <a:rPr sz="2000" b="1">
                    <a:solidFill>
                      <a:srgbClr val="1E293B"/>
                    </a:solidFill>
                    <a:latin typeface="Calibri"/>
                  </a:rPr>
                  <a:t>D. </a:t>
                </a:r>
                <a:r>
                  <a:rPr lang="vi-VN"/>
                  <a:t>\forall x\in\mathbb{R},\ x^2-2x+2&gt;0</a:t>
                </a:r>
              </a:p>
            </p:txBody>
          </p:sp>
        </mc:Fallback>
      </mc:AlternateContent>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ĐỀ MINH HỌA · PHẦN I · CÂU 1</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Đề cương Toán 10 · Giữa học kì I          4</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475488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000">
                    <a:solidFill>
                      <a:srgbClr val="1E293B"/>
                    </a:solidFill>
                    <a:latin typeface="Calibri"/>
                  </a:rPr>
                  <a:t>Đáp án D.</a:t>
                </a:r>
              </a:p>
              <a:p>
                <a:pPr algn="l" marL="365760" indent="-365760">
                  <a:spcAft>
                    <a:spcPts val="800"/>
                  </a:spcAft>
                  <a:buClr>
                    <a:srgbClr val="1E40AF"/>
                  </a:buClr>
                  <a:buFont typeface="Arial"/>
                  <a:buChar char="•"/>
                </a:pPr>
                <a14:m>
                  <m:oMath xmlns:m="http://schemas.openxmlformats.org/officeDocument/2006/math">
                    <m:sSup>
                      <m:e>
                        <m:r>
                          <a:rPr lang="vi-VN" sz="2000" b="0">
                            <a:solidFill>
                              <a:srgbClr val="1E293B"/>
                            </a:solidFill>
                            <a:latin typeface="Cambria Math" panose="02040503050406030204" pitchFamily="18" charset="0"/>
                          </a:rPr>
                          <m:t>x</m:t>
                        </m:r>
                      </m:e>
                      <m:sup>
                        <m:r>
                          <a:rPr lang="vi-VN" sz="2000" b="0">
                            <a:solidFill>
                              <a:srgbClr val="1E293B"/>
                            </a:solidFill>
                            <a:latin typeface="Cambria Math" panose="02040503050406030204" pitchFamily="18" charset="0"/>
                          </a:rPr>
                          <m:t>2</m:t>
                        </m:r>
                      </m:sup>
                    </m:sSup>
                    <m:r>
                      <a:rPr lang="vi-VN" sz="2000" b="0">
                        <a:solidFill>
                          <a:srgbClr val="1E293B"/>
                        </a:solidFill>
                        <a:latin typeface="Cambria Math" panose="02040503050406030204" pitchFamily="18" charset="0"/>
                      </a:rPr>
                      <m:t>−2x+2=(x−1</m:t>
                    </m:r>
                    <m:sSup>
                      <m:e>
                        <m:r>
                          <a:rPr lang="vi-VN" sz="2000" b="0">
                            <a:solidFill>
                              <a:srgbClr val="1E293B"/>
                            </a:solidFill>
                            <a:latin typeface="Cambria Math" panose="02040503050406030204" pitchFamily="18" charset="0"/>
                          </a:rPr>
                          <m:t>)</m:t>
                        </m:r>
                      </m:e>
                      <m:sup>
                        <m:r>
                          <a:rPr lang="vi-VN" sz="2000" b="0">
                            <a:solidFill>
                              <a:srgbClr val="1E293B"/>
                            </a:solidFill>
                            <a:latin typeface="Cambria Math" panose="02040503050406030204" pitchFamily="18" charset="0"/>
                          </a:rPr>
                          <m:t>2</m:t>
                        </m:r>
                      </m:sup>
                    </m:sSup>
                    <m:r>
                      <a:rPr lang="vi-VN" sz="2000" b="0">
                        <a:solidFill>
                          <a:srgbClr val="1E293B"/>
                        </a:solidFill>
                        <a:latin typeface="Cambria Math" panose="02040503050406030204" pitchFamily="18" charset="0"/>
                      </a:rPr>
                      <m:t>+1≥1&gt;0</m:t>
                    </m:r>
                  </m:oMath>
                </a14:m>
                <a:r>
                  <a:rPr sz="2000">
                    <a:solidFill>
                      <a:srgbClr val="1E293B"/>
                    </a:solidFill>
                    <a:latin typeface="Calibri"/>
                  </a:rPr>
                  <a:t> với mọi </a:t>
                </a:r>
                <a14:m>
                  <m:oMath xmlns:m="http://schemas.openxmlformats.org/officeDocument/2006/math">
                    <m:r>
                      <a:rPr lang="vi-VN" sz="2000" b="0">
                        <a:solidFill>
                          <a:srgbClr val="1E293B"/>
                        </a:solidFill>
                        <a:latin typeface="Cambria Math" panose="02040503050406030204" pitchFamily="18" charset="0"/>
                      </a:rPr>
                      <m:t>x</m:t>
                    </m:r>
                  </m:oMath>
                </a14:m>
                <a:r>
                  <a:rPr sz="2000">
                    <a:solidFill>
                      <a:srgbClr val="1E293B"/>
                    </a:solidFill>
                    <a:latin typeface="Calibri"/>
                  </a:rPr>
                  <a:t> nên mệnh đề "</a:t>
                </a:r>
                <a14:m>
                  <m:oMath xmlns:m="http://schemas.openxmlformats.org/officeDocument/2006/math">
                    <m:r>
                      <a:rPr lang="vi-VN" sz="2000" b="0">
                        <a:solidFill>
                          <a:srgbClr val="1E293B"/>
                        </a:solidFill>
                        <a:latin typeface="Cambria Math" panose="02040503050406030204" pitchFamily="18" charset="0"/>
                      </a:rPr>
                      <m:t>∀x∈ℝ,</m:t>
                    </m:r>
                    <m:r>
                      <m:rPr>
                        <m:sty m:val="p"/>
                      </m:rPr>
                      <a:rPr lang="vi-VN" sz="2000" b="0">
                        <a:solidFill>
                          <a:srgbClr val="1E293B"/>
                        </a:solidFill>
                        <a:latin typeface="Cambria Math" panose="02040503050406030204" pitchFamily="18" charset="0"/>
                      </a:rPr>
                      <m:t> </m:t>
                    </m:r>
                    <m:sSup>
                      <m:e>
                        <m:r>
                          <a:rPr lang="vi-VN" sz="2000" b="0">
                            <a:solidFill>
                              <a:srgbClr val="1E293B"/>
                            </a:solidFill>
                            <a:latin typeface="Cambria Math" panose="02040503050406030204" pitchFamily="18" charset="0"/>
                          </a:rPr>
                          <m:t>x</m:t>
                        </m:r>
                      </m:e>
                      <m:sup>
                        <m:r>
                          <a:rPr lang="vi-VN" sz="2000" b="0">
                            <a:solidFill>
                              <a:srgbClr val="1E293B"/>
                            </a:solidFill>
                            <a:latin typeface="Cambria Math" panose="02040503050406030204" pitchFamily="18" charset="0"/>
                          </a:rPr>
                          <m:t>2</m:t>
                        </m:r>
                      </m:sup>
                    </m:sSup>
                    <m:r>
                      <a:rPr lang="vi-VN" sz="2000" b="0">
                        <a:solidFill>
                          <a:srgbClr val="1E293B"/>
                        </a:solidFill>
                        <a:latin typeface="Cambria Math" panose="02040503050406030204" pitchFamily="18" charset="0"/>
                      </a:rPr>
                      <m:t>−2x+2&gt;0</m:t>
                    </m:r>
                  </m:oMath>
                </a14:m>
                <a:r>
                  <a:rPr sz="2000">
                    <a:solidFill>
                      <a:srgbClr val="1E293B"/>
                    </a:solidFill>
                    <a:latin typeface="Calibri"/>
                  </a:rPr>
                  <a:t>" đúng. Các mệnh đề còn lại sai: </a:t>
                </a:r>
                <a14:m>
                  <m:oMath xmlns:m="http://schemas.openxmlformats.org/officeDocument/2006/math">
                    <m:sSup>
                      <m:e>
                        <m:r>
                          <a:rPr lang="vi-VN" sz="2000" b="0">
                            <a:solidFill>
                              <a:srgbClr val="1E293B"/>
                            </a:solidFill>
                            <a:latin typeface="Cambria Math" panose="02040503050406030204" pitchFamily="18" charset="0"/>
                          </a:rPr>
                          <m:t>n</m:t>
                        </m:r>
                      </m:e>
                      <m:sup>
                        <m:r>
                          <a:rPr lang="vi-VN" sz="2000" b="0">
                            <a:solidFill>
                              <a:srgbClr val="1E293B"/>
                            </a:solidFill>
                            <a:latin typeface="Cambria Math" panose="02040503050406030204" pitchFamily="18" charset="0"/>
                          </a:rPr>
                          <m:t>2</m:t>
                        </m:r>
                      </m:sup>
                    </m:sSup>
                    <m:r>
                      <a:rPr lang="vi-VN" sz="2000" b="0">
                        <a:solidFill>
                          <a:srgbClr val="1E293B"/>
                        </a:solidFill>
                        <a:latin typeface="Cambria Math" panose="02040503050406030204" pitchFamily="18" charset="0"/>
                      </a:rPr>
                      <m:t>=2</m:t>
                    </m:r>
                  </m:oMath>
                </a14:m>
                <a:r>
                  <a:rPr sz="2000">
                    <a:solidFill>
                      <a:srgbClr val="1E293B"/>
                    </a:solidFill>
                    <a:latin typeface="Calibri"/>
                  </a:rPr>
                  <a:t> không có nghiệm tự nhiên; với </a:t>
                </a:r>
                <a14:m>
                  <m:oMath xmlns:m="http://schemas.openxmlformats.org/officeDocument/2006/math">
                    <m:r>
                      <a:rPr lang="vi-VN" sz="2000" b="0">
                        <a:solidFill>
                          <a:srgbClr val="1E293B"/>
                        </a:solidFill>
                        <a:latin typeface="Cambria Math" panose="02040503050406030204" pitchFamily="18" charset="0"/>
                      </a:rPr>
                      <m:t>x=</m:t>
                    </m:r>
                    <m:f>
                      <m:fPr>
                        <m:type m:val="bar"/>
                      </m:fPr>
                      <m:num>
                        <m:r>
                          <a:rPr lang="vi-VN" sz="2000" b="0">
                            <a:solidFill>
                              <a:srgbClr val="1E293B"/>
                            </a:solidFill>
                            <a:latin typeface="Cambria Math" panose="02040503050406030204" pitchFamily="18" charset="0"/>
                          </a:rPr>
                          <m:t>1</m:t>
                        </m:r>
                      </m:num>
                      <m:den>
                        <m:r>
                          <a:rPr lang="vi-VN" sz="2000" b="0">
                            <a:solidFill>
                              <a:srgbClr val="1E293B"/>
                            </a:solidFill>
                            <a:latin typeface="Cambria Math" panose="02040503050406030204" pitchFamily="18" charset="0"/>
                          </a:rPr>
                          <m:t>2</m:t>
                        </m:r>
                      </m:den>
                    </m:f>
                  </m:oMath>
                </a14:m>
                <a:r>
                  <a:rPr sz="2000">
                    <a:solidFill>
                      <a:srgbClr val="1E293B"/>
                    </a:solidFill>
                    <a:latin typeface="Calibri"/>
                  </a:rPr>
                  <a:t> thì </a:t>
                </a:r>
                <a14:m>
                  <m:oMath xmlns:m="http://schemas.openxmlformats.org/officeDocument/2006/math">
                    <m:sSup>
                      <m:e>
                        <m:r>
                          <a:rPr lang="vi-VN" sz="2000" b="0">
                            <a:solidFill>
                              <a:srgbClr val="1E293B"/>
                            </a:solidFill>
                            <a:latin typeface="Cambria Math" panose="02040503050406030204" pitchFamily="18" charset="0"/>
                          </a:rPr>
                          <m:t>x</m:t>
                        </m:r>
                      </m:e>
                      <m:sup>
                        <m:r>
                          <a:rPr lang="vi-VN" sz="2000" b="0">
                            <a:solidFill>
                              <a:srgbClr val="1E293B"/>
                            </a:solidFill>
                            <a:latin typeface="Cambria Math" panose="02040503050406030204" pitchFamily="18" charset="0"/>
                          </a:rPr>
                          <m:t>2</m:t>
                        </m:r>
                      </m:sup>
                    </m:sSup>
                    <m:r>
                      <a:rPr lang="vi-VN" sz="2000" b="0">
                        <a:solidFill>
                          <a:srgbClr val="1E293B"/>
                        </a:solidFill>
                        <a:latin typeface="Cambria Math" panose="02040503050406030204" pitchFamily="18" charset="0"/>
                      </a:rPr>
                      <m:t>=</m:t>
                    </m:r>
                    <m:f>
                      <m:fPr>
                        <m:type m:val="bar"/>
                      </m:fPr>
                      <m:num>
                        <m:r>
                          <a:rPr lang="vi-VN" sz="2000" b="0">
                            <a:solidFill>
                              <a:srgbClr val="1E293B"/>
                            </a:solidFill>
                            <a:latin typeface="Cambria Math" panose="02040503050406030204" pitchFamily="18" charset="0"/>
                          </a:rPr>
                          <m:t>1</m:t>
                        </m:r>
                      </m:num>
                      <m:den>
                        <m:r>
                          <a:rPr lang="vi-VN" sz="2000" b="0">
                            <a:solidFill>
                              <a:srgbClr val="1E293B"/>
                            </a:solidFill>
                            <a:latin typeface="Cambria Math" panose="02040503050406030204" pitchFamily="18" charset="0"/>
                          </a:rPr>
                          <m:t>4</m:t>
                        </m:r>
                      </m:den>
                    </m:f>
                    <m:r>
                      <a:rPr lang="vi-VN" sz="2000" b="0">
                        <a:solidFill>
                          <a:srgbClr val="1E293B"/>
                        </a:solidFill>
                        <a:latin typeface="Cambria Math" panose="02040503050406030204" pitchFamily="18" charset="0"/>
                      </a:rPr>
                      <m:t>&lt;</m:t>
                    </m:r>
                    <m:f>
                      <m:fPr>
                        <m:type m:val="bar"/>
                      </m:fPr>
                      <m:num>
                        <m:r>
                          <a:rPr lang="vi-VN" sz="2000" b="0">
                            <a:solidFill>
                              <a:srgbClr val="1E293B"/>
                            </a:solidFill>
                            <a:latin typeface="Cambria Math" panose="02040503050406030204" pitchFamily="18" charset="0"/>
                          </a:rPr>
                          <m:t>1</m:t>
                        </m:r>
                      </m:num>
                      <m:den>
                        <m:r>
                          <a:rPr lang="vi-VN" sz="2000" b="0">
                            <a:solidFill>
                              <a:srgbClr val="1E293B"/>
                            </a:solidFill>
                            <a:latin typeface="Cambria Math" panose="02040503050406030204" pitchFamily="18" charset="0"/>
                          </a:rPr>
                          <m:t>2</m:t>
                        </m:r>
                      </m:den>
                    </m:f>
                  </m:oMath>
                </a14:m>
                <a:r>
                  <a:rPr sz="2000">
                    <a:solidFill>
                      <a:srgbClr val="1E293B"/>
                    </a:solidFill>
                    <a:latin typeface="Calibri"/>
                  </a:rPr>
                  <a:t> nên "</a:t>
                </a:r>
                <a14:m>
                  <m:oMath xmlns:m="http://schemas.openxmlformats.org/officeDocument/2006/math">
                    <m:r>
                      <a:rPr lang="vi-VN" sz="2000" b="0">
                        <a:solidFill>
                          <a:srgbClr val="1E293B"/>
                        </a:solidFill>
                        <a:latin typeface="Cambria Math" panose="02040503050406030204" pitchFamily="18" charset="0"/>
                      </a:rPr>
                      <m:t>∀x∈ℝ,</m:t>
                    </m:r>
                    <m:r>
                      <m:rPr>
                        <m:sty m:val="p"/>
                      </m:rPr>
                      <a:rPr lang="vi-VN" sz="2000" b="0">
                        <a:solidFill>
                          <a:srgbClr val="1E293B"/>
                        </a:solidFill>
                        <a:latin typeface="Cambria Math" panose="02040503050406030204" pitchFamily="18" charset="0"/>
                      </a:rPr>
                      <m:t> </m:t>
                    </m:r>
                    <m:sSup>
                      <m:e>
                        <m:r>
                          <a:rPr lang="vi-VN" sz="2000" b="0">
                            <a:solidFill>
                              <a:srgbClr val="1E293B"/>
                            </a:solidFill>
                            <a:latin typeface="Cambria Math" panose="02040503050406030204" pitchFamily="18" charset="0"/>
                          </a:rPr>
                          <m:t>x</m:t>
                        </m:r>
                      </m:e>
                      <m:sup>
                        <m:r>
                          <a:rPr lang="vi-VN" sz="2000" b="0">
                            <a:solidFill>
                              <a:srgbClr val="1E293B"/>
                            </a:solidFill>
                            <a:latin typeface="Cambria Math" panose="02040503050406030204" pitchFamily="18" charset="0"/>
                          </a:rPr>
                          <m:t>2</m:t>
                        </m:r>
                      </m:sup>
                    </m:sSup>
                    <m:r>
                      <a:rPr lang="vi-VN" sz="2000" b="0">
                        <a:solidFill>
                          <a:srgbClr val="1E293B"/>
                        </a:solidFill>
                        <a:latin typeface="Cambria Math" panose="02040503050406030204" pitchFamily="18" charset="0"/>
                      </a:rPr>
                      <m:t>≥x</m:t>
                    </m:r>
                  </m:oMath>
                </a14:m>
                <a:r>
                  <a:rPr sz="2000">
                    <a:solidFill>
                      <a:srgbClr val="1E293B"/>
                    </a:solidFill>
                    <a:latin typeface="Calibri"/>
                  </a:rPr>
                  <a:t>" sai; phương trình </a:t>
                </a:r>
                <a14:m>
                  <m:oMath xmlns:m="http://schemas.openxmlformats.org/officeDocument/2006/math">
                    <m:sSup>
                      <m:e>
                        <m:r>
                          <a:rPr lang="vi-VN" sz="2000" b="0">
                            <a:solidFill>
                              <a:srgbClr val="1E293B"/>
                            </a:solidFill>
                            <a:latin typeface="Cambria Math" panose="02040503050406030204" pitchFamily="18" charset="0"/>
                          </a:rPr>
                          <m:t>x</m:t>
                        </m:r>
                      </m:e>
                      <m:sup>
                        <m:r>
                          <a:rPr lang="vi-VN" sz="2000" b="0">
                            <a:solidFill>
                              <a:srgbClr val="1E293B"/>
                            </a:solidFill>
                            <a:latin typeface="Cambria Math" panose="02040503050406030204" pitchFamily="18" charset="0"/>
                          </a:rPr>
                          <m:t>2</m:t>
                        </m:r>
                      </m:sup>
                    </m:sSup>
                    <m:r>
                      <a:rPr lang="vi-VN" sz="2000" b="0">
                        <a:solidFill>
                          <a:srgbClr val="1E293B"/>
                        </a:solidFill>
                        <a:latin typeface="Cambria Math" panose="02040503050406030204" pitchFamily="18" charset="0"/>
                      </a:rPr>
                      <m:t>+x+1=0</m:t>
                    </m:r>
                  </m:oMath>
                </a14:m>
                <a:r>
                  <a:rPr sz="2000">
                    <a:solidFill>
                      <a:srgbClr val="1E293B"/>
                    </a:solidFill>
                    <a:latin typeface="Calibri"/>
                  </a:rPr>
                  <a:t> có </a:t>
                </a:r>
                <a14:m>
                  <m:oMath xmlns:m="http://schemas.openxmlformats.org/officeDocument/2006/math">
                    <m:r>
                      <a:rPr lang="vi-VN" sz="2000" b="0">
                        <a:solidFill>
                          <a:srgbClr val="1E293B"/>
                        </a:solidFill>
                        <a:latin typeface="Cambria Math" panose="02040503050406030204" pitchFamily="18" charset="0"/>
                      </a:rPr>
                      <m:t>Δ=−3&lt;0</m:t>
                    </m:r>
                  </m:oMath>
                </a14:m>
                <a:r>
                  <a:rPr sz="2000">
                    <a:solidFill>
                      <a:srgbClr val="1E293B"/>
                    </a:solidFill>
                    <a:latin typeface="Calibri"/>
                  </a:rPr>
                  <a:t> nên vô nghiệm.</a:t>
                </a:r>
              </a:p>
            </p:txBody>
          </p:sp>
        </mc:Choice>
        <mc:Fallback>
          <p:sp>
            <p:nvSpPr>
              <p:cNvPr id="7" name="TextBox 6"/>
              <p:cNvSpPr txBox="1"/>
              <p:nvPr/>
            </p:nvSpPr>
            <p:spPr>
              <a:xfrm>
                <a:off x="731520" y="1463040"/>
                <a:ext cx="10789920" cy="475488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000">
                    <a:solidFill>
                      <a:srgbClr val="1E293B"/>
                    </a:solidFill>
                    <a:latin typeface="Calibri"/>
                  </a:rPr>
                  <a:t>Đáp án D.</a:t>
                </a:r>
              </a:p>
              <a:p>
                <a:pPr algn="l" marL="365760" indent="-365760">
                  <a:spcAft>
                    <a:spcPts val="800"/>
                  </a:spcAft>
                  <a:buClr>
                    <a:srgbClr val="1E40AF"/>
                  </a:buClr>
                  <a:buFont typeface="Arial"/>
                  <a:buChar char="•"/>
                </a:pPr>
                <a:r>
                  <a:rPr lang="vi-VN"/>
                  <a:t>x^2-2x+2=(x-1)^2+1\ge 1&gt;0</a:t>
                </a:r>
                <a:r>
                  <a:rPr sz="2000">
                    <a:solidFill>
                      <a:srgbClr val="1E293B"/>
                    </a:solidFill>
                    <a:latin typeface="Calibri"/>
                  </a:rPr>
                  <a:t> với mọi </a:t>
                </a:r>
                <a:r>
                  <a:rPr lang="vi-VN"/>
                  <a:t>x</a:t>
                </a:r>
                <a:r>
                  <a:rPr sz="2000">
                    <a:solidFill>
                      <a:srgbClr val="1E293B"/>
                    </a:solidFill>
                    <a:latin typeface="Calibri"/>
                  </a:rPr>
                  <a:t> nên mệnh đề "</a:t>
                </a:r>
                <a:r>
                  <a:rPr lang="vi-VN"/>
                  <a:t>\forall x\in\mathbb{R},\ x^2-2x+2&gt;0</a:t>
                </a:r>
                <a:r>
                  <a:rPr sz="2000">
                    <a:solidFill>
                      <a:srgbClr val="1E293B"/>
                    </a:solidFill>
                    <a:latin typeface="Calibri"/>
                  </a:rPr>
                  <a:t>" đúng. Các mệnh đề còn lại sai: </a:t>
                </a:r>
                <a:r>
                  <a:rPr lang="vi-VN"/>
                  <a:t>n^2=2</a:t>
                </a:r>
                <a:r>
                  <a:rPr sz="2000">
                    <a:solidFill>
                      <a:srgbClr val="1E293B"/>
                    </a:solidFill>
                    <a:latin typeface="Calibri"/>
                  </a:rPr>
                  <a:t> không có nghiệm tự nhiên; với </a:t>
                </a:r>
                <a:r>
                  <a:rPr lang="vi-VN"/>
                  <a:t>x=\frac{1}{2}</a:t>
                </a:r>
                <a:r>
                  <a:rPr sz="2000">
                    <a:solidFill>
                      <a:srgbClr val="1E293B"/>
                    </a:solidFill>
                    <a:latin typeface="Calibri"/>
                  </a:rPr>
                  <a:t> thì </a:t>
                </a:r>
                <a:r>
                  <a:rPr lang="vi-VN"/>
                  <a:t>x^2=\frac{1}{4}&lt;\frac{1}{2}</a:t>
                </a:r>
                <a:r>
                  <a:rPr sz="2000">
                    <a:solidFill>
                      <a:srgbClr val="1E293B"/>
                    </a:solidFill>
                    <a:latin typeface="Calibri"/>
                  </a:rPr>
                  <a:t> nên "</a:t>
                </a:r>
                <a:r>
                  <a:rPr lang="vi-VN"/>
                  <a:t>\forall x\in\mathbb{R},\ x^2\ge x</a:t>
                </a:r>
                <a:r>
                  <a:rPr sz="2000">
                    <a:solidFill>
                      <a:srgbClr val="1E293B"/>
                    </a:solidFill>
                    <a:latin typeface="Calibri"/>
                  </a:rPr>
                  <a:t>" sai; phương trình </a:t>
                </a:r>
                <a:r>
                  <a:rPr lang="vi-VN"/>
                  <a:t>x^2+x+1=0</a:t>
                </a:r>
                <a:r>
                  <a:rPr sz="2000">
                    <a:solidFill>
                      <a:srgbClr val="1E293B"/>
                    </a:solidFill>
                    <a:latin typeface="Calibri"/>
                  </a:rPr>
                  <a:t> có </a:t>
                </a:r>
                <a:r>
                  <a:rPr lang="vi-VN"/>
                  <a:t>\Delta=-3&lt;0</a:t>
                </a:r>
                <a:r>
                  <a:rPr sz="2000">
                    <a:solidFill>
                      <a:srgbClr val="1E293B"/>
                    </a:solidFill>
                    <a:latin typeface="Calibri"/>
                  </a:rPr>
                  <a:t> nên vô nghiệm.</a:t>
                </a:r>
              </a:p>
            </p:txBody>
          </p:sp>
        </mc:Fallback>
      </mc:AlternateContent>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ĐỀ MINH HỌA · PHẦN I · CÂU 2</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Đề cương Toán 10 · Giữa học kì I          5</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4754880"/>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Cho </a:t>
                </a:r>
                <a14:m>
                  <m:oMath xmlns:m="http://schemas.openxmlformats.org/officeDocument/2006/math">
                    <m:r>
                      <a:rPr lang="vi-VN" sz="2000" b="1">
                        <a:solidFill>
                          <a:srgbClr val="1E293B"/>
                        </a:solidFill>
                        <a:latin typeface="Cambria Math" panose="02040503050406030204" pitchFamily="18" charset="0"/>
                      </a:rPr>
                      <m:t>A=[1;5]</m:t>
                    </m:r>
                  </m:oMath>
                </a14:m>
                <a:r>
                  <a:rPr sz="2000" b="1">
                    <a:solidFill>
                      <a:srgbClr val="1E293B"/>
                    </a:solidFill>
                    <a:latin typeface="Calibri"/>
                  </a:rPr>
                  <a:t> và </a:t>
                </a:r>
                <a14:m>
                  <m:oMath xmlns:m="http://schemas.openxmlformats.org/officeDocument/2006/math">
                    <m:r>
                      <a:rPr lang="vi-VN" sz="2000" b="1">
                        <a:solidFill>
                          <a:srgbClr val="1E293B"/>
                        </a:solidFill>
                        <a:latin typeface="Cambria Math" panose="02040503050406030204" pitchFamily="18" charset="0"/>
                      </a:rPr>
                      <m:t>B=(3;7)</m:t>
                    </m:r>
                  </m:oMath>
                </a14:m>
                <a:r>
                  <a:rPr sz="2000" b="1">
                    <a:solidFill>
                      <a:srgbClr val="1E293B"/>
                    </a:solidFill>
                    <a:latin typeface="Calibri"/>
                  </a:rPr>
                  <a:t>. Tập hợp </a:t>
                </a:r>
                <a14:m>
                  <m:oMath xmlns:m="http://schemas.openxmlformats.org/officeDocument/2006/math">
                    <m:r>
                      <a:rPr lang="vi-VN" sz="2000" b="1">
                        <a:solidFill>
                          <a:srgbClr val="1E293B"/>
                        </a:solidFill>
                        <a:latin typeface="Cambria Math" panose="02040503050406030204" pitchFamily="18" charset="0"/>
                      </a:rPr>
                      <m:t>A∩B</m:t>
                    </m:r>
                  </m:oMath>
                </a14:m>
                <a:r>
                  <a:rPr sz="2000" b="1">
                    <a:solidFill>
                      <a:srgbClr val="1E293B"/>
                    </a:solidFill>
                    <a:latin typeface="Calibri"/>
                  </a:rPr>
                  <a:t> là</a:t>
                </a:r>
              </a:p>
              <a:p>
                <a:pPr algn="l">
                  <a:spcAft>
                    <a:spcPts val="800"/>
                  </a:spcAft>
                </a:pPr>
                <a:r>
                  <a:rPr sz="2000" b="1">
                    <a:solidFill>
                      <a:srgbClr val="1E293B"/>
                    </a:solidFill>
                    <a:latin typeface="Calibri"/>
                  </a:rPr>
                  <a:t>A. </a:t>
                </a:r>
                <a14:m>
                  <m:oMath xmlns:m="http://schemas.openxmlformats.org/officeDocument/2006/math">
                    <m:r>
                      <a:rPr lang="vi-VN" sz="2000" b="1">
                        <a:solidFill>
                          <a:srgbClr val="1E293B"/>
                        </a:solidFill>
                        <a:latin typeface="Cambria Math" panose="02040503050406030204" pitchFamily="18" charset="0"/>
                      </a:rPr>
                      <m:t>(3;5]</m:t>
                    </m:r>
                  </m:oMath>
                </a14:m>
              </a:p>
              <a:p>
                <a:pPr algn="l">
                  <a:spcAft>
                    <a:spcPts val="800"/>
                  </a:spcAft>
                </a:pPr>
                <a:r>
                  <a:rPr sz="2000" b="1">
                    <a:solidFill>
                      <a:srgbClr val="1E293B"/>
                    </a:solidFill>
                    <a:latin typeface="Calibri"/>
                  </a:rPr>
                  <a:t>B. </a:t>
                </a:r>
                <a14:m>
                  <m:oMath xmlns:m="http://schemas.openxmlformats.org/officeDocument/2006/math">
                    <m:r>
                      <a:rPr lang="vi-VN" sz="2000" b="1">
                        <a:solidFill>
                          <a:srgbClr val="1E293B"/>
                        </a:solidFill>
                        <a:latin typeface="Cambria Math" panose="02040503050406030204" pitchFamily="18" charset="0"/>
                      </a:rPr>
                      <m:t>[1;7)</m:t>
                    </m:r>
                  </m:oMath>
                </a14:m>
              </a:p>
              <a:p>
                <a:pPr algn="l">
                  <a:spcAft>
                    <a:spcPts val="800"/>
                  </a:spcAft>
                </a:pPr>
                <a:r>
                  <a:rPr sz="2000" b="1">
                    <a:solidFill>
                      <a:srgbClr val="1E293B"/>
                    </a:solidFill>
                    <a:latin typeface="Calibri"/>
                  </a:rPr>
                  <a:t>C. </a:t>
                </a:r>
                <a14:m>
                  <m:oMath xmlns:m="http://schemas.openxmlformats.org/officeDocument/2006/math">
                    <m:d>
                      <m:dPr>
                        <m:begChr m:val="["/>
                        <m:sepChr m:val=""/>
                        <m:endChr m:val="]"/>
                      </m:dPr>
                      <m:e>
                        <m:r>
                          <a:rPr lang="vi-VN" sz="2000" b="1">
                            <a:solidFill>
                              <a:srgbClr val="1E293B"/>
                            </a:solidFill>
                            <a:latin typeface="Cambria Math" panose="02040503050406030204" pitchFamily="18" charset="0"/>
                          </a:rPr>
                          <m:t>3</m:t>
                        </m:r>
                        <m:r>
                          <a:rPr lang="vi-VN" sz="2000" b="1">
                            <a:solidFill>
                              <a:srgbClr val="1E293B"/>
                            </a:solidFill>
                            <a:latin typeface="Cambria Math" panose="02040503050406030204" pitchFamily="18" charset="0"/>
                          </a:rPr>
                          <m:t>;</m:t>
                        </m:r>
                        <m:r>
                          <a:rPr lang="vi-VN" sz="2000" b="1">
                            <a:solidFill>
                              <a:srgbClr val="1E293B"/>
                            </a:solidFill>
                            <a:latin typeface="Cambria Math" panose="02040503050406030204" pitchFamily="18" charset="0"/>
                          </a:rPr>
                          <m:t>5</m:t>
                        </m:r>
                      </m:e>
                    </m:d>
                  </m:oMath>
                </a14:m>
              </a:p>
              <a:p>
                <a:pPr algn="l">
                  <a:spcAft>
                    <a:spcPts val="800"/>
                  </a:spcAft>
                </a:pPr>
                <a:r>
                  <a:rPr sz="2000" b="1">
                    <a:solidFill>
                      <a:srgbClr val="1E293B"/>
                    </a:solidFill>
                    <a:latin typeface="Calibri"/>
                  </a:rPr>
                  <a:t>D. </a:t>
                </a:r>
                <a14:m>
                  <m:oMath xmlns:m="http://schemas.openxmlformats.org/officeDocument/2006/math">
                    <m:d>
                      <m:dPr>
                        <m:sepChr m:val=""/>
                      </m:dPr>
                      <m:e>
                        <m:r>
                          <a:rPr lang="vi-VN" sz="2000" b="1">
                            <a:solidFill>
                              <a:srgbClr val="1E293B"/>
                            </a:solidFill>
                            <a:latin typeface="Cambria Math" panose="02040503050406030204" pitchFamily="18" charset="0"/>
                          </a:rPr>
                          <m:t>3</m:t>
                        </m:r>
                        <m:r>
                          <a:rPr lang="vi-VN" sz="2000" b="1">
                            <a:solidFill>
                              <a:srgbClr val="1E293B"/>
                            </a:solidFill>
                            <a:latin typeface="Cambria Math" panose="02040503050406030204" pitchFamily="18" charset="0"/>
                          </a:rPr>
                          <m:t>;</m:t>
                        </m:r>
                        <m:r>
                          <a:rPr lang="vi-VN" sz="2000" b="1">
                            <a:solidFill>
                              <a:srgbClr val="1E293B"/>
                            </a:solidFill>
                            <a:latin typeface="Cambria Math" panose="02040503050406030204" pitchFamily="18" charset="0"/>
                          </a:rPr>
                          <m:t>5</m:t>
                        </m:r>
                      </m:e>
                    </m:d>
                  </m:oMath>
                </a14:m>
              </a:p>
            </p:txBody>
          </p:sp>
        </mc:Choice>
        <mc:Fallback>
          <p:sp>
            <p:nvSpPr>
              <p:cNvPr id="7" name="TextBox 6"/>
              <p:cNvSpPr txBox="1"/>
              <p:nvPr/>
            </p:nvSpPr>
            <p:spPr>
              <a:xfrm>
                <a:off x="731520" y="1463040"/>
                <a:ext cx="10789920" cy="4754880"/>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Cho </a:t>
                </a:r>
                <a:r>
                  <a:rPr lang="vi-VN"/>
                  <a:t>A=[1;5]</a:t>
                </a:r>
                <a:r>
                  <a:rPr sz="2000" b="1">
                    <a:solidFill>
                      <a:srgbClr val="1E293B"/>
                    </a:solidFill>
                    <a:latin typeface="Calibri"/>
                  </a:rPr>
                  <a:t> và </a:t>
                </a:r>
                <a:r>
                  <a:rPr lang="vi-VN"/>
                  <a:t>B=(3;7)</a:t>
                </a:r>
                <a:r>
                  <a:rPr sz="2000" b="1">
                    <a:solidFill>
                      <a:srgbClr val="1E293B"/>
                    </a:solidFill>
                    <a:latin typeface="Calibri"/>
                  </a:rPr>
                  <a:t>. Tập hợp </a:t>
                </a:r>
                <a:r>
                  <a:rPr lang="vi-VN"/>
                  <a:t>A\cap B</a:t>
                </a:r>
                <a:r>
                  <a:rPr sz="2000" b="1">
                    <a:solidFill>
                      <a:srgbClr val="1E293B"/>
                    </a:solidFill>
                    <a:latin typeface="Calibri"/>
                  </a:rPr>
                  <a:t> là</a:t>
                </a:r>
              </a:p>
              <a:p>
                <a:pPr algn="l">
                  <a:spcAft>
                    <a:spcPts val="800"/>
                  </a:spcAft>
                </a:pPr>
                <a:r>
                  <a:rPr sz="2000" b="1">
                    <a:solidFill>
                      <a:srgbClr val="1E293B"/>
                    </a:solidFill>
                    <a:latin typeface="Calibri"/>
                  </a:rPr>
                  <a:t>A. </a:t>
                </a:r>
                <a:r>
                  <a:rPr lang="vi-VN"/>
                  <a:t>(3;5]</a:t>
                </a:r>
              </a:p>
              <a:p>
                <a:pPr algn="l">
                  <a:spcAft>
                    <a:spcPts val="800"/>
                  </a:spcAft>
                </a:pPr>
                <a:r>
                  <a:rPr sz="2000" b="1">
                    <a:solidFill>
                      <a:srgbClr val="1E293B"/>
                    </a:solidFill>
                    <a:latin typeface="Calibri"/>
                  </a:rPr>
                  <a:t>B. </a:t>
                </a:r>
                <a:r>
                  <a:rPr lang="vi-VN"/>
                  <a:t>[1;7)</a:t>
                </a:r>
              </a:p>
              <a:p>
                <a:pPr algn="l">
                  <a:spcAft>
                    <a:spcPts val="800"/>
                  </a:spcAft>
                </a:pPr>
                <a:r>
                  <a:rPr sz="2000" b="1">
                    <a:solidFill>
                      <a:srgbClr val="1E293B"/>
                    </a:solidFill>
                    <a:latin typeface="Calibri"/>
                  </a:rPr>
                  <a:t>C. </a:t>
                </a:r>
                <a:r>
                  <a:rPr lang="vi-VN"/>
                  <a:t>[3;5]</a:t>
                </a:r>
              </a:p>
              <a:p>
                <a:pPr algn="l">
                  <a:spcAft>
                    <a:spcPts val="800"/>
                  </a:spcAft>
                </a:pPr>
                <a:r>
                  <a:rPr sz="2000" b="1">
                    <a:solidFill>
                      <a:srgbClr val="1E293B"/>
                    </a:solidFill>
                    <a:latin typeface="Calibri"/>
                  </a:rPr>
                  <a:t>D. </a:t>
                </a:r>
                <a:r>
                  <a:rPr lang="vi-VN"/>
                  <a:t>(3;5)</a:t>
                </a:r>
              </a:p>
            </p:txBody>
          </p:sp>
        </mc:Fallback>
      </mc:AlternateContent>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ĐỀ MINH HỌA · PHẦN I · CÂU 2</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Đề cương Toán 10 · Giữa học kì I          6</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475488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000">
                    <a:solidFill>
                      <a:srgbClr val="1E293B"/>
                    </a:solidFill>
                    <a:latin typeface="Calibri"/>
                  </a:rPr>
                  <a:t>Đáp án A.</a:t>
                </a:r>
              </a:p>
              <a:p>
                <a:pPr algn="l" marL="365760" indent="-365760">
                  <a:spcAft>
                    <a:spcPts val="800"/>
                  </a:spcAft>
                  <a:buClr>
                    <a:srgbClr val="1E40AF"/>
                  </a:buClr>
                  <a:buFont typeface="Arial"/>
                  <a:buChar char="•"/>
                </a:pPr>
                <a:r>
                  <a:rPr sz="2000">
                    <a:solidFill>
                      <a:srgbClr val="1E293B"/>
                    </a:solidFill>
                    <a:latin typeface="Calibri"/>
                  </a:rPr>
                  <a:t>Biểu diễn trên trục số, phần chung của </a:t>
                </a:r>
                <a14:m>
                  <m:oMath xmlns:m="http://schemas.openxmlformats.org/officeDocument/2006/math">
                    <m:d>
                      <m:dPr>
                        <m:begChr m:val="["/>
                        <m:sepChr m:val=""/>
                        <m:endChr m:val="]"/>
                      </m:dPr>
                      <m:e>
                        <m:r>
                          <a:rPr lang="vi-VN" sz="2000" b="0">
                            <a:solidFill>
                              <a:srgbClr val="1E293B"/>
                            </a:solidFill>
                            <a:latin typeface="Cambria Math" panose="02040503050406030204" pitchFamily="18" charset="0"/>
                          </a:rPr>
                          <m:t>1</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5</m:t>
                        </m:r>
                      </m:e>
                    </m:d>
                  </m:oMath>
                </a14:m>
                <a:r>
                  <a:rPr sz="2000">
                    <a:solidFill>
                      <a:srgbClr val="1E293B"/>
                    </a:solidFill>
                    <a:latin typeface="Calibri"/>
                  </a:rPr>
                  <a:t> và </a:t>
                </a:r>
                <a14:m>
                  <m:oMath xmlns:m="http://schemas.openxmlformats.org/officeDocument/2006/math">
                    <m:d>
                      <m:dPr>
                        <m:sepChr m:val=""/>
                      </m:dPr>
                      <m:e>
                        <m:r>
                          <a:rPr lang="vi-VN" sz="2000" b="0">
                            <a:solidFill>
                              <a:srgbClr val="1E293B"/>
                            </a:solidFill>
                            <a:latin typeface="Cambria Math" panose="02040503050406030204" pitchFamily="18" charset="0"/>
                          </a:rPr>
                          <m:t>3</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7</m:t>
                        </m:r>
                      </m:e>
                    </m:d>
                  </m:oMath>
                </a14:m>
                <a:r>
                  <a:rPr sz="2000">
                    <a:solidFill>
                      <a:srgbClr val="1E293B"/>
                    </a:solidFill>
                    <a:latin typeface="Calibri"/>
                  </a:rPr>
                  <a:t> gồm các số </a:t>
                </a:r>
                <a14:m>
                  <m:oMath xmlns:m="http://schemas.openxmlformats.org/officeDocument/2006/math">
                    <m:r>
                      <a:rPr lang="vi-VN" sz="2000" b="0">
                        <a:solidFill>
                          <a:srgbClr val="1E293B"/>
                        </a:solidFill>
                        <a:latin typeface="Cambria Math" panose="02040503050406030204" pitchFamily="18" charset="0"/>
                      </a:rPr>
                      <m:t>x</m:t>
                    </m:r>
                  </m:oMath>
                </a14:m>
                <a:r>
                  <a:rPr sz="2000">
                    <a:solidFill>
                      <a:srgbClr val="1E293B"/>
                    </a:solidFill>
                    <a:latin typeface="Calibri"/>
                  </a:rPr>
                  <a:t> với </a:t>
                </a:r>
                <a14:m>
                  <m:oMath xmlns:m="http://schemas.openxmlformats.org/officeDocument/2006/math">
                    <m:r>
                      <a:rPr lang="vi-VN" sz="2000" b="0">
                        <a:solidFill>
                          <a:srgbClr val="1E293B"/>
                        </a:solidFill>
                        <a:latin typeface="Cambria Math" panose="02040503050406030204" pitchFamily="18" charset="0"/>
                      </a:rPr>
                      <m:t>3&lt;x≤5</m:t>
                    </m:r>
                  </m:oMath>
                </a14:m>
                <a:r>
                  <a:rPr sz="2000">
                    <a:solidFill>
                      <a:srgbClr val="1E293B"/>
                    </a:solidFill>
                    <a:latin typeface="Calibri"/>
                  </a:rPr>
                  <a:t>, tức là </a:t>
                </a:r>
                <a14:m>
                  <m:oMath xmlns:m="http://schemas.openxmlformats.org/officeDocument/2006/math">
                    <m:r>
                      <a:rPr lang="vi-VN" sz="2000" b="0">
                        <a:solidFill>
                          <a:srgbClr val="1E293B"/>
                        </a:solidFill>
                        <a:latin typeface="Cambria Math" panose="02040503050406030204" pitchFamily="18" charset="0"/>
                      </a:rPr>
                      <m:t>(3;5]</m:t>
                    </m:r>
                  </m:oMath>
                </a14:m>
                <a:r>
                  <a:rPr sz="2000">
                    <a:solidFill>
                      <a:srgbClr val="1E293B"/>
                    </a:solidFill>
                    <a:latin typeface="Calibri"/>
                  </a:rPr>
                  <a:t>.</a:t>
                </a:r>
              </a:p>
            </p:txBody>
          </p:sp>
        </mc:Choice>
        <mc:Fallback>
          <p:sp>
            <p:nvSpPr>
              <p:cNvPr id="7" name="TextBox 6"/>
              <p:cNvSpPr txBox="1"/>
              <p:nvPr/>
            </p:nvSpPr>
            <p:spPr>
              <a:xfrm>
                <a:off x="731520" y="1463040"/>
                <a:ext cx="10789920" cy="475488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000">
                    <a:solidFill>
                      <a:srgbClr val="1E293B"/>
                    </a:solidFill>
                    <a:latin typeface="Calibri"/>
                  </a:rPr>
                  <a:t>Đáp án A.</a:t>
                </a:r>
              </a:p>
              <a:p>
                <a:pPr algn="l" marL="365760" indent="-365760">
                  <a:spcAft>
                    <a:spcPts val="800"/>
                  </a:spcAft>
                  <a:buClr>
                    <a:srgbClr val="1E40AF"/>
                  </a:buClr>
                  <a:buFont typeface="Arial"/>
                  <a:buChar char="•"/>
                </a:pPr>
                <a:r>
                  <a:rPr sz="2000">
                    <a:solidFill>
                      <a:srgbClr val="1E293B"/>
                    </a:solidFill>
                    <a:latin typeface="Calibri"/>
                  </a:rPr>
                  <a:t>Biểu diễn trên trục số, phần chung của </a:t>
                </a:r>
                <a:r>
                  <a:rPr lang="vi-VN"/>
                  <a:t>[1;5]</a:t>
                </a:r>
                <a:r>
                  <a:rPr sz="2000">
                    <a:solidFill>
                      <a:srgbClr val="1E293B"/>
                    </a:solidFill>
                    <a:latin typeface="Calibri"/>
                  </a:rPr>
                  <a:t> và </a:t>
                </a:r>
                <a:r>
                  <a:rPr lang="vi-VN"/>
                  <a:t>(3;7)</a:t>
                </a:r>
                <a:r>
                  <a:rPr sz="2000">
                    <a:solidFill>
                      <a:srgbClr val="1E293B"/>
                    </a:solidFill>
                    <a:latin typeface="Calibri"/>
                  </a:rPr>
                  <a:t> gồm các số </a:t>
                </a:r>
                <a:r>
                  <a:rPr lang="vi-VN"/>
                  <a:t>x</a:t>
                </a:r>
                <a:r>
                  <a:rPr sz="2000">
                    <a:solidFill>
                      <a:srgbClr val="1E293B"/>
                    </a:solidFill>
                    <a:latin typeface="Calibri"/>
                  </a:rPr>
                  <a:t> với </a:t>
                </a:r>
                <a:r>
                  <a:rPr lang="vi-VN"/>
                  <a:t>3&lt;x\le 5</a:t>
                </a:r>
                <a:r>
                  <a:rPr sz="2000">
                    <a:solidFill>
                      <a:srgbClr val="1E293B"/>
                    </a:solidFill>
                    <a:latin typeface="Calibri"/>
                  </a:rPr>
                  <a:t>, tức là </a:t>
                </a:r>
                <a:r>
                  <a:rPr lang="vi-VN"/>
                  <a:t>(3;5]</a:t>
                </a:r>
                <a:r>
                  <a:rPr sz="2000">
                    <a:solidFill>
                      <a:srgbClr val="1E293B"/>
                    </a:solidFill>
                    <a:latin typeface="Calibri"/>
                  </a:rPr>
                  <a:t>.</a:t>
                </a:r>
              </a:p>
            </p:txBody>
          </p:sp>
        </mc:Fallback>
      </mc:AlternateContent>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ĐỀ MINH HỌA · PHẦN I · CÂU 3</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Đề cương Toán 10 · Giữa học kì I          7</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4754880"/>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Cặp số nào sau đây là một nghiệm của bất phương trình </a:t>
                </a:r>
                <a14:m>
                  <m:oMath xmlns:m="http://schemas.openxmlformats.org/officeDocument/2006/math">
                    <m:r>
                      <a:rPr lang="vi-VN" sz="2000" b="1">
                        <a:solidFill>
                          <a:srgbClr val="1E293B"/>
                        </a:solidFill>
                        <a:latin typeface="Cambria Math" panose="02040503050406030204" pitchFamily="18" charset="0"/>
                      </a:rPr>
                      <m:t>2x−y&lt;3</m:t>
                    </m:r>
                  </m:oMath>
                </a14:m>
                <a:r>
                  <a:rPr sz="2000" b="1">
                    <a:solidFill>
                      <a:srgbClr val="1E293B"/>
                    </a:solidFill>
                    <a:latin typeface="Calibri"/>
                  </a:rPr>
                  <a:t>?</a:t>
                </a:r>
              </a:p>
              <a:p>
                <a:pPr algn="l">
                  <a:spcAft>
                    <a:spcPts val="800"/>
                  </a:spcAft>
                </a:pPr>
                <a:r>
                  <a:rPr sz="2000" b="1">
                    <a:solidFill>
                      <a:srgbClr val="1E293B"/>
                    </a:solidFill>
                    <a:latin typeface="Calibri"/>
                  </a:rPr>
                  <a:t>A. </a:t>
                </a:r>
                <a14:m>
                  <m:oMath xmlns:m="http://schemas.openxmlformats.org/officeDocument/2006/math">
                    <m:d>
                      <m:dPr>
                        <m:sepChr m:val=""/>
                      </m:dPr>
                      <m:e>
                        <m:r>
                          <a:rPr lang="vi-VN" sz="2000" b="1">
                            <a:solidFill>
                              <a:srgbClr val="1E293B"/>
                            </a:solidFill>
                            <a:latin typeface="Cambria Math" panose="02040503050406030204" pitchFamily="18" charset="0"/>
                          </a:rPr>
                          <m:t>2</m:t>
                        </m:r>
                        <m:r>
                          <a:rPr lang="vi-VN" sz="2000" b="1">
                            <a:solidFill>
                              <a:srgbClr val="1E293B"/>
                            </a:solidFill>
                            <a:latin typeface="Cambria Math" panose="02040503050406030204" pitchFamily="18" charset="0"/>
                          </a:rPr>
                          <m:t>;</m:t>
                        </m:r>
                        <m:r>
                          <a:rPr lang="vi-VN" sz="2000" b="1">
                            <a:solidFill>
                              <a:srgbClr val="1E293B"/>
                            </a:solidFill>
                            <a:latin typeface="Cambria Math" panose="02040503050406030204" pitchFamily="18" charset="0"/>
                          </a:rPr>
                          <m:t>0</m:t>
                        </m:r>
                      </m:e>
                    </m:d>
                  </m:oMath>
                </a14:m>
              </a:p>
              <a:p>
                <a:pPr algn="l">
                  <a:spcAft>
                    <a:spcPts val="800"/>
                  </a:spcAft>
                </a:pPr>
                <a:r>
                  <a:rPr sz="2000" b="1">
                    <a:solidFill>
                      <a:srgbClr val="1E293B"/>
                    </a:solidFill>
                    <a:latin typeface="Calibri"/>
                  </a:rPr>
                  <a:t>B. </a:t>
                </a:r>
                <a14:m>
                  <m:oMath xmlns:m="http://schemas.openxmlformats.org/officeDocument/2006/math">
                    <m:d>
                      <m:dPr>
                        <m:sepChr m:val=""/>
                      </m:dPr>
                      <m:e>
                        <m:r>
                          <a:rPr lang="vi-VN" sz="2000" b="1">
                            <a:solidFill>
                              <a:srgbClr val="1E293B"/>
                            </a:solidFill>
                            <a:latin typeface="Cambria Math" panose="02040503050406030204" pitchFamily="18" charset="0"/>
                          </a:rPr>
                          <m:t>3</m:t>
                        </m:r>
                        <m:r>
                          <a:rPr lang="vi-VN" sz="2000" b="1">
                            <a:solidFill>
                              <a:srgbClr val="1E293B"/>
                            </a:solidFill>
                            <a:latin typeface="Cambria Math" panose="02040503050406030204" pitchFamily="18" charset="0"/>
                          </a:rPr>
                          <m:t>;</m:t>
                        </m:r>
                        <m:r>
                          <a:rPr lang="vi-VN" sz="2000" b="1">
                            <a:solidFill>
                              <a:srgbClr val="1E293B"/>
                            </a:solidFill>
                            <a:latin typeface="Cambria Math" panose="02040503050406030204" pitchFamily="18" charset="0"/>
                          </a:rPr>
                          <m:t>2</m:t>
                        </m:r>
                      </m:e>
                    </m:d>
                  </m:oMath>
                </a14:m>
              </a:p>
              <a:p>
                <a:pPr algn="l">
                  <a:spcAft>
                    <a:spcPts val="800"/>
                  </a:spcAft>
                </a:pPr>
                <a:r>
                  <a:rPr sz="2000" b="1">
                    <a:solidFill>
                      <a:srgbClr val="1E293B"/>
                    </a:solidFill>
                    <a:latin typeface="Calibri"/>
                  </a:rPr>
                  <a:t>C. </a:t>
                </a:r>
                <a14:m>
                  <m:oMath xmlns:m="http://schemas.openxmlformats.org/officeDocument/2006/math">
                    <m:d>
                      <m:dPr>
                        <m:sepChr m:val=""/>
                      </m:dPr>
                      <m:e>
                        <m:r>
                          <a:rPr lang="vi-VN" sz="2000" b="1">
                            <a:solidFill>
                              <a:srgbClr val="1E293B"/>
                            </a:solidFill>
                            <a:latin typeface="Cambria Math" panose="02040503050406030204" pitchFamily="18" charset="0"/>
                          </a:rPr>
                          <m:t>1</m:t>
                        </m:r>
                        <m:r>
                          <a:rPr lang="vi-VN" sz="2000" b="1">
                            <a:solidFill>
                              <a:srgbClr val="1E293B"/>
                            </a:solidFill>
                            <a:latin typeface="Cambria Math" panose="02040503050406030204" pitchFamily="18" charset="0"/>
                          </a:rPr>
                          <m:t>;</m:t>
                        </m:r>
                        <m:r>
                          <a:rPr lang="vi-VN" sz="2000" b="1">
                            <a:solidFill>
                              <a:srgbClr val="1E293B"/>
                            </a:solidFill>
                            <a:latin typeface="Cambria Math" panose="02040503050406030204" pitchFamily="18" charset="0"/>
                          </a:rPr>
                          <m:t>0</m:t>
                        </m:r>
                      </m:e>
                    </m:d>
                  </m:oMath>
                </a14:m>
              </a:p>
              <a:p>
                <a:pPr algn="l">
                  <a:spcAft>
                    <a:spcPts val="800"/>
                  </a:spcAft>
                </a:pPr>
                <a:r>
                  <a:rPr sz="2000" b="1">
                    <a:solidFill>
                      <a:srgbClr val="1E293B"/>
                    </a:solidFill>
                    <a:latin typeface="Calibri"/>
                  </a:rPr>
                  <a:t>D. </a:t>
                </a:r>
                <a14:m>
                  <m:oMath xmlns:m="http://schemas.openxmlformats.org/officeDocument/2006/math">
                    <m:d>
                      <m:dPr>
                        <m:sepChr m:val=""/>
                      </m:dPr>
                      <m:e>
                        <m:r>
                          <a:rPr lang="vi-VN" sz="2000" b="1">
                            <a:solidFill>
                              <a:srgbClr val="1E293B"/>
                            </a:solidFill>
                            <a:latin typeface="Cambria Math" panose="02040503050406030204" pitchFamily="18" charset="0"/>
                          </a:rPr>
                          <m:t>4</m:t>
                        </m:r>
                        <m:r>
                          <a:rPr lang="vi-VN" sz="2000" b="1">
                            <a:solidFill>
                              <a:srgbClr val="1E293B"/>
                            </a:solidFill>
                            <a:latin typeface="Cambria Math" panose="02040503050406030204" pitchFamily="18" charset="0"/>
                          </a:rPr>
                          <m:t>;</m:t>
                        </m:r>
                        <m:r>
                          <a:rPr lang="vi-VN" sz="2000" b="1">
                            <a:solidFill>
                              <a:srgbClr val="1E293B"/>
                            </a:solidFill>
                            <a:latin typeface="Cambria Math" panose="02040503050406030204" pitchFamily="18" charset="0"/>
                          </a:rPr>
                          <m:t>4</m:t>
                        </m:r>
                      </m:e>
                    </m:d>
                  </m:oMath>
                </a14:m>
              </a:p>
            </p:txBody>
          </p:sp>
        </mc:Choice>
        <mc:Fallback>
          <p:sp>
            <p:nvSpPr>
              <p:cNvPr id="7" name="TextBox 6"/>
              <p:cNvSpPr txBox="1"/>
              <p:nvPr/>
            </p:nvSpPr>
            <p:spPr>
              <a:xfrm>
                <a:off x="731520" y="1463040"/>
                <a:ext cx="10789920" cy="4754880"/>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Cặp số nào sau đây là một nghiệm của bất phương trình </a:t>
                </a:r>
                <a:r>
                  <a:rPr lang="vi-VN"/>
                  <a:t>2x-y&lt;3</a:t>
                </a:r>
                <a:r>
                  <a:rPr sz="2000" b="1">
                    <a:solidFill>
                      <a:srgbClr val="1E293B"/>
                    </a:solidFill>
                    <a:latin typeface="Calibri"/>
                  </a:rPr>
                  <a:t>?</a:t>
                </a:r>
              </a:p>
              <a:p>
                <a:pPr algn="l">
                  <a:spcAft>
                    <a:spcPts val="800"/>
                  </a:spcAft>
                </a:pPr>
                <a:r>
                  <a:rPr sz="2000" b="1">
                    <a:solidFill>
                      <a:srgbClr val="1E293B"/>
                    </a:solidFill>
                    <a:latin typeface="Calibri"/>
                  </a:rPr>
                  <a:t>A. </a:t>
                </a:r>
                <a:r>
                  <a:rPr lang="vi-VN"/>
                  <a:t>(2;0)</a:t>
                </a:r>
              </a:p>
              <a:p>
                <a:pPr algn="l">
                  <a:spcAft>
                    <a:spcPts val="800"/>
                  </a:spcAft>
                </a:pPr>
                <a:r>
                  <a:rPr sz="2000" b="1">
                    <a:solidFill>
                      <a:srgbClr val="1E293B"/>
                    </a:solidFill>
                    <a:latin typeface="Calibri"/>
                  </a:rPr>
                  <a:t>B. </a:t>
                </a:r>
                <a:r>
                  <a:rPr lang="vi-VN"/>
                  <a:t>(3;2)</a:t>
                </a:r>
              </a:p>
              <a:p>
                <a:pPr algn="l">
                  <a:spcAft>
                    <a:spcPts val="800"/>
                  </a:spcAft>
                </a:pPr>
                <a:r>
                  <a:rPr sz="2000" b="1">
                    <a:solidFill>
                      <a:srgbClr val="1E293B"/>
                    </a:solidFill>
                    <a:latin typeface="Calibri"/>
                  </a:rPr>
                  <a:t>C. </a:t>
                </a:r>
                <a:r>
                  <a:rPr lang="vi-VN"/>
                  <a:t>(1;0)</a:t>
                </a:r>
              </a:p>
              <a:p>
                <a:pPr algn="l">
                  <a:spcAft>
                    <a:spcPts val="800"/>
                  </a:spcAft>
                </a:pPr>
                <a:r>
                  <a:rPr sz="2000" b="1">
                    <a:solidFill>
                      <a:srgbClr val="1E293B"/>
                    </a:solidFill>
                    <a:latin typeface="Calibri"/>
                  </a:rPr>
                  <a:t>D. </a:t>
                </a:r>
                <a:r>
                  <a:rPr lang="vi-VN"/>
                  <a:t>(4;4)</a:t>
                </a:r>
              </a:p>
            </p:txBody>
          </p:sp>
        </mc:Fallback>
      </mc:AlternateContent>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ĐỀ MINH HỌA · PHẦN I · CÂU 3</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Đề cương Toán 10 · Giữa học kì I          8</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475488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000">
                    <a:solidFill>
                      <a:srgbClr val="1E293B"/>
                    </a:solidFill>
                    <a:latin typeface="Calibri"/>
                  </a:rPr>
                  <a:t>Đáp án C.</a:t>
                </a:r>
              </a:p>
              <a:p>
                <a:pPr algn="l" marL="365760" indent="-365760">
                  <a:spcAft>
                    <a:spcPts val="800"/>
                  </a:spcAft>
                  <a:buClr>
                    <a:srgbClr val="1E40AF"/>
                  </a:buClr>
                  <a:buFont typeface="Arial"/>
                  <a:buChar char="•"/>
                </a:pPr>
                <a:r>
                  <a:rPr sz="2000">
                    <a:solidFill>
                      <a:srgbClr val="1E293B"/>
                    </a:solidFill>
                    <a:latin typeface="Calibri"/>
                  </a:rPr>
                  <a:t>Thay lần lượt: </a:t>
                </a:r>
                <a14:m>
                  <m:oMath xmlns:m="http://schemas.openxmlformats.org/officeDocument/2006/math">
                    <m:d>
                      <m:dPr>
                        <m:sepChr m:val=""/>
                      </m:dPr>
                      <m:e>
                        <m:r>
                          <a:rPr lang="vi-VN" sz="2000" b="0">
                            <a:solidFill>
                              <a:srgbClr val="1E293B"/>
                            </a:solidFill>
                            <a:latin typeface="Cambria Math" panose="02040503050406030204" pitchFamily="18" charset="0"/>
                          </a:rPr>
                          <m:t>2</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0</m:t>
                        </m:r>
                      </m:e>
                    </m:d>
                  </m:oMath>
                </a14:m>
                <a:r>
                  <a:rPr sz="2000">
                    <a:solidFill>
                      <a:srgbClr val="1E293B"/>
                    </a:solidFill>
                    <a:latin typeface="Calibri"/>
                  </a:rPr>
                  <a:t>: </a:t>
                </a:r>
                <a14:m>
                  <m:oMath xmlns:m="http://schemas.openxmlformats.org/officeDocument/2006/math">
                    <m:r>
                      <a:rPr lang="vi-VN" sz="2000" b="0">
                        <a:solidFill>
                          <a:srgbClr val="1E293B"/>
                        </a:solidFill>
                        <a:latin typeface="Cambria Math" panose="02040503050406030204" pitchFamily="18" charset="0"/>
                      </a:rPr>
                      <m:t>4&lt;3</m:t>
                    </m:r>
                  </m:oMath>
                </a14:m>
                <a:r>
                  <a:rPr sz="2000">
                    <a:solidFill>
                      <a:srgbClr val="1E293B"/>
                    </a:solidFill>
                    <a:latin typeface="Calibri"/>
                  </a:rPr>
                  <a:t> sai; </a:t>
                </a:r>
                <a14:m>
                  <m:oMath xmlns:m="http://schemas.openxmlformats.org/officeDocument/2006/math">
                    <m:d>
                      <m:dPr>
                        <m:sepChr m:val=""/>
                      </m:dPr>
                      <m:e>
                        <m:r>
                          <a:rPr lang="vi-VN" sz="2000" b="0">
                            <a:solidFill>
                              <a:srgbClr val="1E293B"/>
                            </a:solidFill>
                            <a:latin typeface="Cambria Math" panose="02040503050406030204" pitchFamily="18" charset="0"/>
                          </a:rPr>
                          <m:t>3</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2</m:t>
                        </m:r>
                      </m:e>
                    </m:d>
                  </m:oMath>
                </a14:m>
                <a:r>
                  <a:rPr sz="2000">
                    <a:solidFill>
                      <a:srgbClr val="1E293B"/>
                    </a:solidFill>
                    <a:latin typeface="Calibri"/>
                  </a:rPr>
                  <a:t>: </a:t>
                </a:r>
                <a14:m>
                  <m:oMath xmlns:m="http://schemas.openxmlformats.org/officeDocument/2006/math">
                    <m:r>
                      <a:rPr lang="vi-VN" sz="2000" b="0">
                        <a:solidFill>
                          <a:srgbClr val="1E293B"/>
                        </a:solidFill>
                        <a:latin typeface="Cambria Math" panose="02040503050406030204" pitchFamily="18" charset="0"/>
                      </a:rPr>
                      <m:t>4&lt;3</m:t>
                    </m:r>
                  </m:oMath>
                </a14:m>
                <a:r>
                  <a:rPr sz="2000">
                    <a:solidFill>
                      <a:srgbClr val="1E293B"/>
                    </a:solidFill>
                    <a:latin typeface="Calibri"/>
                  </a:rPr>
                  <a:t> sai; </a:t>
                </a:r>
                <a14:m>
                  <m:oMath xmlns:m="http://schemas.openxmlformats.org/officeDocument/2006/math">
                    <m:d>
                      <m:dPr>
                        <m:sepChr m:val=""/>
                      </m:dPr>
                      <m:e>
                        <m:r>
                          <a:rPr lang="vi-VN" sz="2000" b="0">
                            <a:solidFill>
                              <a:srgbClr val="1E293B"/>
                            </a:solidFill>
                            <a:latin typeface="Cambria Math" panose="02040503050406030204" pitchFamily="18" charset="0"/>
                          </a:rPr>
                          <m:t>1</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0</m:t>
                        </m:r>
                      </m:e>
                    </m:d>
                  </m:oMath>
                </a14:m>
                <a:r>
                  <a:rPr sz="2000">
                    <a:solidFill>
                      <a:srgbClr val="1E293B"/>
                    </a:solidFill>
                    <a:latin typeface="Calibri"/>
                  </a:rPr>
                  <a:t>: </a:t>
                </a:r>
                <a14:m>
                  <m:oMath xmlns:m="http://schemas.openxmlformats.org/officeDocument/2006/math">
                    <m:r>
                      <a:rPr lang="vi-VN" sz="2000" b="0">
                        <a:solidFill>
                          <a:srgbClr val="1E293B"/>
                        </a:solidFill>
                        <a:latin typeface="Cambria Math" panose="02040503050406030204" pitchFamily="18" charset="0"/>
                      </a:rPr>
                      <m:t>2&lt;3</m:t>
                    </m:r>
                  </m:oMath>
                </a14:m>
                <a:r>
                  <a:rPr sz="2000">
                    <a:solidFill>
                      <a:srgbClr val="1E293B"/>
                    </a:solidFill>
                    <a:latin typeface="Calibri"/>
                  </a:rPr>
                  <a:t> đúng; </a:t>
                </a:r>
                <a14:m>
                  <m:oMath xmlns:m="http://schemas.openxmlformats.org/officeDocument/2006/math">
                    <m:d>
                      <m:dPr>
                        <m:sepChr m:val=""/>
                      </m:dPr>
                      <m:e>
                        <m:r>
                          <a:rPr lang="vi-VN" sz="2000" b="0">
                            <a:solidFill>
                              <a:srgbClr val="1E293B"/>
                            </a:solidFill>
                            <a:latin typeface="Cambria Math" panose="02040503050406030204" pitchFamily="18" charset="0"/>
                          </a:rPr>
                          <m:t>4</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4</m:t>
                        </m:r>
                      </m:e>
                    </m:d>
                  </m:oMath>
                </a14:m>
                <a:r>
                  <a:rPr sz="2000">
                    <a:solidFill>
                      <a:srgbClr val="1E293B"/>
                    </a:solidFill>
                    <a:latin typeface="Calibri"/>
                  </a:rPr>
                  <a:t>: </a:t>
                </a:r>
                <a14:m>
                  <m:oMath xmlns:m="http://schemas.openxmlformats.org/officeDocument/2006/math">
                    <m:r>
                      <a:rPr lang="vi-VN" sz="2000" b="0">
                        <a:solidFill>
                          <a:srgbClr val="1E293B"/>
                        </a:solidFill>
                        <a:latin typeface="Cambria Math" panose="02040503050406030204" pitchFamily="18" charset="0"/>
                      </a:rPr>
                      <m:t>4&lt;3</m:t>
                    </m:r>
                  </m:oMath>
                </a14:m>
                <a:r>
                  <a:rPr sz="2000">
                    <a:solidFill>
                      <a:srgbClr val="1E293B"/>
                    </a:solidFill>
                    <a:latin typeface="Calibri"/>
                  </a:rPr>
                  <a:t> sai.</a:t>
                </a:r>
              </a:p>
            </p:txBody>
          </p:sp>
        </mc:Choice>
        <mc:Fallback>
          <p:sp>
            <p:nvSpPr>
              <p:cNvPr id="7" name="TextBox 6"/>
              <p:cNvSpPr txBox="1"/>
              <p:nvPr/>
            </p:nvSpPr>
            <p:spPr>
              <a:xfrm>
                <a:off x="731520" y="1463040"/>
                <a:ext cx="10789920" cy="475488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000">
                    <a:solidFill>
                      <a:srgbClr val="1E293B"/>
                    </a:solidFill>
                    <a:latin typeface="Calibri"/>
                  </a:rPr>
                  <a:t>Đáp án C.</a:t>
                </a:r>
              </a:p>
              <a:p>
                <a:pPr algn="l" marL="365760" indent="-365760">
                  <a:spcAft>
                    <a:spcPts val="800"/>
                  </a:spcAft>
                  <a:buClr>
                    <a:srgbClr val="1E40AF"/>
                  </a:buClr>
                  <a:buFont typeface="Arial"/>
                  <a:buChar char="•"/>
                </a:pPr>
                <a:r>
                  <a:rPr sz="2000">
                    <a:solidFill>
                      <a:srgbClr val="1E293B"/>
                    </a:solidFill>
                    <a:latin typeface="Calibri"/>
                  </a:rPr>
                  <a:t>Thay lần lượt: </a:t>
                </a:r>
                <a:r>
                  <a:rPr lang="vi-VN"/>
                  <a:t>(2;0)</a:t>
                </a:r>
                <a:r>
                  <a:rPr sz="2000">
                    <a:solidFill>
                      <a:srgbClr val="1E293B"/>
                    </a:solidFill>
                    <a:latin typeface="Calibri"/>
                  </a:rPr>
                  <a:t>: </a:t>
                </a:r>
                <a:r>
                  <a:rPr lang="vi-VN"/>
                  <a:t>4&lt;3</a:t>
                </a:r>
                <a:r>
                  <a:rPr sz="2000">
                    <a:solidFill>
                      <a:srgbClr val="1E293B"/>
                    </a:solidFill>
                    <a:latin typeface="Calibri"/>
                  </a:rPr>
                  <a:t> sai; </a:t>
                </a:r>
                <a:r>
                  <a:rPr lang="vi-VN"/>
                  <a:t>(3;2)</a:t>
                </a:r>
                <a:r>
                  <a:rPr sz="2000">
                    <a:solidFill>
                      <a:srgbClr val="1E293B"/>
                    </a:solidFill>
                    <a:latin typeface="Calibri"/>
                  </a:rPr>
                  <a:t>: </a:t>
                </a:r>
                <a:r>
                  <a:rPr lang="vi-VN"/>
                  <a:t>4&lt;3</a:t>
                </a:r>
                <a:r>
                  <a:rPr sz="2000">
                    <a:solidFill>
                      <a:srgbClr val="1E293B"/>
                    </a:solidFill>
                    <a:latin typeface="Calibri"/>
                  </a:rPr>
                  <a:t> sai; </a:t>
                </a:r>
                <a:r>
                  <a:rPr lang="vi-VN"/>
                  <a:t>(1;0)</a:t>
                </a:r>
                <a:r>
                  <a:rPr sz="2000">
                    <a:solidFill>
                      <a:srgbClr val="1E293B"/>
                    </a:solidFill>
                    <a:latin typeface="Calibri"/>
                  </a:rPr>
                  <a:t>: </a:t>
                </a:r>
                <a:r>
                  <a:rPr lang="vi-VN"/>
                  <a:t>2&lt;3</a:t>
                </a:r>
                <a:r>
                  <a:rPr sz="2000">
                    <a:solidFill>
                      <a:srgbClr val="1E293B"/>
                    </a:solidFill>
                    <a:latin typeface="Calibri"/>
                  </a:rPr>
                  <a:t> đúng; </a:t>
                </a:r>
                <a:r>
                  <a:rPr lang="vi-VN"/>
                  <a:t>(4;4)</a:t>
                </a:r>
                <a:r>
                  <a:rPr sz="2000">
                    <a:solidFill>
                      <a:srgbClr val="1E293B"/>
                    </a:solidFill>
                    <a:latin typeface="Calibri"/>
                  </a:rPr>
                  <a:t>: </a:t>
                </a:r>
                <a:r>
                  <a:rPr lang="vi-VN"/>
                  <a:t>4&lt;3</a:t>
                </a:r>
                <a:r>
                  <a:rPr sz="2000">
                    <a:solidFill>
                      <a:srgbClr val="1E293B"/>
                    </a:solidFill>
                    <a:latin typeface="Calibri"/>
                  </a:rPr>
                  <a:t> sai.</a:t>
                </a:r>
              </a:p>
            </p:txBody>
          </p:sp>
        </mc:Fallback>
      </mc:AlternateContent>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ĐỀ MINH HỌA · PHẦN I · CÂU 4</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Đề cương Toán 10 · Giữa học kì I          9</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4754880"/>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Hệ nào sau đây là hệ bất phương trình bậc nhất hai ẩn?</a:t>
                </a:r>
              </a:p>
              <a:p>
                <a:pPr algn="l">
                  <a:spcAft>
                    <a:spcPts val="800"/>
                  </a:spcAft>
                </a:pPr>
                <a:r>
                  <a:rPr sz="2000" b="1">
                    <a:solidFill>
                      <a:srgbClr val="1E293B"/>
                    </a:solidFill>
                    <a:latin typeface="Calibri"/>
                  </a:rPr>
                  <a:t>A. </a:t>
                </a:r>
                <a14:m>
                  <m:oMath xmlns:m="http://schemas.openxmlformats.org/officeDocument/2006/math">
                    <m:d>
                      <m:dPr>
                        <m:begChr m:val="{"/>
                        <m:sepChr m:val=""/>
                        <m:endChr m:val=""/>
                      </m:dPr>
                      <m:e>
                        <m:eqArr>
                          <m:e>
                            <m:r>
                              <a:rPr lang="vi-VN" sz="2000" b="1">
                                <a:solidFill>
                                  <a:srgbClr val="1E293B"/>
                                </a:solidFill>
                                <a:latin typeface="Cambria Math" panose="02040503050406030204" pitchFamily="18" charset="0"/>
                              </a:rPr>
                              <m:t>&amp;</m:t>
                            </m:r>
                            <m:r>
                              <a:rPr lang="vi-VN" sz="2000" b="1">
                                <a:solidFill>
                                  <a:srgbClr val="1E293B"/>
                                </a:solidFill>
                                <a:latin typeface="Cambria Math" panose="02040503050406030204" pitchFamily="18" charset="0"/>
                              </a:rPr>
                              <m:t>x+y≤3</m:t>
                            </m:r>
                          </m:e>
                          <m:e>
                            <m:r>
                              <a:rPr lang="vi-VN" sz="2000" b="1">
                                <a:solidFill>
                                  <a:srgbClr val="1E293B"/>
                                </a:solidFill>
                                <a:latin typeface="Cambria Math" panose="02040503050406030204" pitchFamily="18" charset="0"/>
                              </a:rPr>
                              <m:t>&amp;</m:t>
                            </m:r>
                            <m:r>
                              <a:rPr lang="vi-VN" sz="2000" b="1">
                                <a:solidFill>
                                  <a:srgbClr val="1E293B"/>
                                </a:solidFill>
                                <a:latin typeface="Cambria Math" panose="02040503050406030204" pitchFamily="18" charset="0"/>
                              </a:rPr>
                              <m:t>2x−y&gt;1</m:t>
                            </m:r>
                          </m:e>
                        </m:eqArr>
                      </m:e>
                    </m:d>
                  </m:oMath>
                </a14:m>
              </a:p>
              <a:p>
                <a:pPr algn="l">
                  <a:spcAft>
                    <a:spcPts val="800"/>
                  </a:spcAft>
                </a:pPr>
                <a:r>
                  <a:rPr sz="2000" b="1">
                    <a:solidFill>
                      <a:srgbClr val="1E293B"/>
                    </a:solidFill>
                    <a:latin typeface="Calibri"/>
                  </a:rPr>
                  <a:t>B. </a:t>
                </a:r>
                <a14:m>
                  <m:oMath xmlns:m="http://schemas.openxmlformats.org/officeDocument/2006/math">
                    <m:d>
                      <m:dPr>
                        <m:begChr m:val="{"/>
                        <m:sepChr m:val=""/>
                        <m:endChr m:val=""/>
                      </m:dPr>
                      <m:e>
                        <m:eqArr>
                          <m:e>
                            <m:r>
                              <a:rPr lang="vi-VN" sz="2000" b="1">
                                <a:solidFill>
                                  <a:srgbClr val="1E293B"/>
                                </a:solidFill>
                                <a:latin typeface="Cambria Math" panose="02040503050406030204" pitchFamily="18" charset="0"/>
                              </a:rPr>
                              <m:t>&amp;</m:t>
                            </m:r>
                            <m:sSup>
                              <m:e>
                                <m:r>
                                  <a:rPr lang="vi-VN" sz="2000" b="1">
                                    <a:solidFill>
                                      <a:srgbClr val="1E293B"/>
                                    </a:solidFill>
                                    <a:latin typeface="Cambria Math" panose="02040503050406030204" pitchFamily="18" charset="0"/>
                                  </a:rPr>
                                  <m:t>x</m:t>
                                </m:r>
                              </m:e>
                              <m:sup>
                                <m:r>
                                  <a:rPr lang="vi-VN" sz="2000" b="1">
                                    <a:solidFill>
                                      <a:srgbClr val="1E293B"/>
                                    </a:solidFill>
                                    <a:latin typeface="Cambria Math" panose="02040503050406030204" pitchFamily="18" charset="0"/>
                                  </a:rPr>
                                  <m:t>2</m:t>
                                </m:r>
                              </m:sup>
                            </m:sSup>
                            <m:r>
                              <a:rPr lang="vi-VN" sz="2000" b="1">
                                <a:solidFill>
                                  <a:srgbClr val="1E293B"/>
                                </a:solidFill>
                                <a:latin typeface="Cambria Math" panose="02040503050406030204" pitchFamily="18" charset="0"/>
                              </a:rPr>
                              <m:t>+y≤3</m:t>
                            </m:r>
                          </m:e>
                          <m:e>
                            <m:r>
                              <a:rPr lang="vi-VN" sz="2000" b="1">
                                <a:solidFill>
                                  <a:srgbClr val="1E293B"/>
                                </a:solidFill>
                                <a:latin typeface="Cambria Math" panose="02040503050406030204" pitchFamily="18" charset="0"/>
                              </a:rPr>
                              <m:t>&amp;</m:t>
                            </m:r>
                            <m:r>
                              <a:rPr lang="vi-VN" sz="2000" b="1">
                                <a:solidFill>
                                  <a:srgbClr val="1E293B"/>
                                </a:solidFill>
                                <a:latin typeface="Cambria Math" panose="02040503050406030204" pitchFamily="18" charset="0"/>
                              </a:rPr>
                              <m:t>x−y&gt;1</m:t>
                            </m:r>
                          </m:e>
                        </m:eqArr>
                      </m:e>
                    </m:d>
                  </m:oMath>
                </a14:m>
              </a:p>
              <a:p>
                <a:pPr algn="l">
                  <a:spcAft>
                    <a:spcPts val="800"/>
                  </a:spcAft>
                </a:pPr>
                <a:r>
                  <a:rPr sz="2000" b="1">
                    <a:solidFill>
                      <a:srgbClr val="1E293B"/>
                    </a:solidFill>
                    <a:latin typeface="Calibri"/>
                  </a:rPr>
                  <a:t>C. </a:t>
                </a:r>
                <a14:m>
                  <m:oMath xmlns:m="http://schemas.openxmlformats.org/officeDocument/2006/math">
                    <m:d>
                      <m:dPr>
                        <m:begChr m:val="{"/>
                        <m:sepChr m:val=""/>
                        <m:endChr m:val=""/>
                      </m:dPr>
                      <m:e>
                        <m:eqArr>
                          <m:e>
                            <m:r>
                              <a:rPr lang="vi-VN" sz="2000" b="1">
                                <a:solidFill>
                                  <a:srgbClr val="1E293B"/>
                                </a:solidFill>
                                <a:latin typeface="Cambria Math" panose="02040503050406030204" pitchFamily="18" charset="0"/>
                              </a:rPr>
                              <m:t>&amp;</m:t>
                            </m:r>
                            <m:r>
                              <a:rPr lang="vi-VN" sz="2000" b="1">
                                <a:solidFill>
                                  <a:srgbClr val="1E293B"/>
                                </a:solidFill>
                                <a:latin typeface="Cambria Math" panose="02040503050406030204" pitchFamily="18" charset="0"/>
                              </a:rPr>
                              <m:t>xy≥2</m:t>
                            </m:r>
                          </m:e>
                          <m:e>
                            <m:r>
                              <a:rPr lang="vi-VN" sz="2000" b="1">
                                <a:solidFill>
                                  <a:srgbClr val="1E293B"/>
                                </a:solidFill>
                                <a:latin typeface="Cambria Math" panose="02040503050406030204" pitchFamily="18" charset="0"/>
                              </a:rPr>
                              <m:t>&amp;</m:t>
                            </m:r>
                            <m:r>
                              <a:rPr lang="vi-VN" sz="2000" b="1">
                                <a:solidFill>
                                  <a:srgbClr val="1E293B"/>
                                </a:solidFill>
                                <a:latin typeface="Cambria Math" panose="02040503050406030204" pitchFamily="18" charset="0"/>
                              </a:rPr>
                              <m:t>x+y&lt;5</m:t>
                            </m:r>
                          </m:e>
                        </m:eqArr>
                      </m:e>
                    </m:d>
                  </m:oMath>
                </a14:m>
              </a:p>
              <a:p>
                <a:pPr algn="l">
                  <a:spcAft>
                    <a:spcPts val="800"/>
                  </a:spcAft>
                </a:pPr>
                <a:r>
                  <a:rPr sz="2000" b="1">
                    <a:solidFill>
                      <a:srgbClr val="1E293B"/>
                    </a:solidFill>
                    <a:latin typeface="Calibri"/>
                  </a:rPr>
                  <a:t>D. </a:t>
                </a:r>
                <a14:m>
                  <m:oMath xmlns:m="http://schemas.openxmlformats.org/officeDocument/2006/math">
                    <m:d>
                      <m:dPr>
                        <m:begChr m:val="{"/>
                        <m:sepChr m:val=""/>
                        <m:endChr m:val=""/>
                      </m:dPr>
                      <m:e>
                        <m:eqArr>
                          <m:e>
                            <m:r>
                              <a:rPr lang="vi-VN" sz="2000" b="1">
                                <a:solidFill>
                                  <a:srgbClr val="1E293B"/>
                                </a:solidFill>
                                <a:latin typeface="Cambria Math" panose="02040503050406030204" pitchFamily="18" charset="0"/>
                              </a:rPr>
                              <m:t>&amp;</m:t>
                            </m:r>
                            <m:r>
                              <a:rPr lang="vi-VN" sz="2000" b="1">
                                <a:solidFill>
                                  <a:srgbClr val="1E293B"/>
                                </a:solidFill>
                                <a:latin typeface="Cambria Math" panose="02040503050406030204" pitchFamily="18" charset="0"/>
                              </a:rPr>
                              <m:t>x+y+z&lt;1</m:t>
                            </m:r>
                          </m:e>
                          <m:e>
                            <m:r>
                              <a:rPr lang="vi-VN" sz="2000" b="1">
                                <a:solidFill>
                                  <a:srgbClr val="1E293B"/>
                                </a:solidFill>
                                <a:latin typeface="Cambria Math" panose="02040503050406030204" pitchFamily="18" charset="0"/>
                              </a:rPr>
                              <m:t>&amp;</m:t>
                            </m:r>
                            <m:r>
                              <a:rPr lang="vi-VN" sz="2000" b="1">
                                <a:solidFill>
                                  <a:srgbClr val="1E293B"/>
                                </a:solidFill>
                                <a:latin typeface="Cambria Math" panose="02040503050406030204" pitchFamily="18" charset="0"/>
                              </a:rPr>
                              <m:t>y≥0</m:t>
                            </m:r>
                          </m:e>
                        </m:eqArr>
                      </m:e>
                    </m:d>
                  </m:oMath>
                </a14:m>
              </a:p>
            </p:txBody>
          </p:sp>
        </mc:Choice>
        <mc:Fallback>
          <p:sp>
            <p:nvSpPr>
              <p:cNvPr id="7" name="TextBox 6"/>
              <p:cNvSpPr txBox="1"/>
              <p:nvPr/>
            </p:nvSpPr>
            <p:spPr>
              <a:xfrm>
                <a:off x="731520" y="1463040"/>
                <a:ext cx="10789920" cy="4754880"/>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Hệ nào sau đây là hệ bất phương trình bậc nhất hai ẩn?</a:t>
                </a:r>
              </a:p>
              <a:p>
                <a:pPr algn="l">
                  <a:spcAft>
                    <a:spcPts val="800"/>
                  </a:spcAft>
                </a:pPr>
                <a:r>
                  <a:rPr sz="2000" b="1">
                    <a:solidFill>
                      <a:srgbClr val="1E293B"/>
                    </a:solidFill>
                    <a:latin typeface="Calibri"/>
                  </a:rPr>
                  <a:t>A. </a:t>
                </a:r>
                <a:r>
                  <a:rPr lang="vi-VN"/>
                  <a:t>\begin{cases} x+y\le 3\\ 2x-y&gt;1\end{cases}</a:t>
                </a:r>
              </a:p>
              <a:p>
                <a:pPr algn="l">
                  <a:spcAft>
                    <a:spcPts val="800"/>
                  </a:spcAft>
                </a:pPr>
                <a:r>
                  <a:rPr sz="2000" b="1">
                    <a:solidFill>
                      <a:srgbClr val="1E293B"/>
                    </a:solidFill>
                    <a:latin typeface="Calibri"/>
                  </a:rPr>
                  <a:t>B. </a:t>
                </a:r>
                <a:r>
                  <a:rPr lang="vi-VN"/>
                  <a:t>\begin{cases} x^2+y\le 3\\ x-y&gt;1\end{cases}</a:t>
                </a:r>
              </a:p>
              <a:p>
                <a:pPr algn="l">
                  <a:spcAft>
                    <a:spcPts val="800"/>
                  </a:spcAft>
                </a:pPr>
                <a:r>
                  <a:rPr sz="2000" b="1">
                    <a:solidFill>
                      <a:srgbClr val="1E293B"/>
                    </a:solidFill>
                    <a:latin typeface="Calibri"/>
                  </a:rPr>
                  <a:t>C. </a:t>
                </a:r>
                <a:r>
                  <a:rPr lang="vi-VN"/>
                  <a:t>\begin{cases} xy\ge 2\\ x+y&lt;5\end{cases}</a:t>
                </a:r>
              </a:p>
              <a:p>
                <a:pPr algn="l">
                  <a:spcAft>
                    <a:spcPts val="800"/>
                  </a:spcAft>
                </a:pPr>
                <a:r>
                  <a:rPr sz="2000" b="1">
                    <a:solidFill>
                      <a:srgbClr val="1E293B"/>
                    </a:solidFill>
                    <a:latin typeface="Calibri"/>
                  </a:rPr>
                  <a:t>D. </a:t>
                </a:r>
                <a:r>
                  <a:rPr lang="vi-VN"/>
                  <a:t>\begin{cases} x+y+z&lt;1\\ y\ge 0\end{cases}</a:t>
                </a:r>
              </a:p>
            </p:txBody>
          </p:sp>
        </mc:Fallback>
      </mc:AlternateContent>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ĐỀ MINH HỌA · PHẦN I · CÂU 4</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Đề cương Toán 10 · Giữa học kì I          10</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475488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000">
                    <a:solidFill>
                      <a:srgbClr val="1E293B"/>
                    </a:solidFill>
                    <a:latin typeface="Calibri"/>
                  </a:rPr>
                  <a:t>Đáp án A.</a:t>
                </a:r>
              </a:p>
              <a:p>
                <a:pPr algn="l" marL="365760" indent="-365760">
                  <a:spcAft>
                    <a:spcPts val="800"/>
                  </a:spcAft>
                  <a:buClr>
                    <a:srgbClr val="1E40AF"/>
                  </a:buClr>
                  <a:buFont typeface="Arial"/>
                  <a:buChar char="•"/>
                </a:pPr>
                <a:r>
                  <a:rPr sz="2000">
                    <a:solidFill>
                      <a:srgbClr val="1E293B"/>
                    </a:solidFill>
                    <a:latin typeface="Calibri"/>
                  </a:rPr>
                  <a:t>Hệ gồm </a:t>
                </a:r>
                <a14:m>
                  <m:oMath xmlns:m="http://schemas.openxmlformats.org/officeDocument/2006/math">
                    <m:r>
                      <a:rPr lang="vi-VN" sz="2000" b="0">
                        <a:solidFill>
                          <a:srgbClr val="1E293B"/>
                        </a:solidFill>
                        <a:latin typeface="Cambria Math" panose="02040503050406030204" pitchFamily="18" charset="0"/>
                      </a:rPr>
                      <m:t>x+y≤3</m:t>
                    </m:r>
                  </m:oMath>
                </a14:m>
                <a:r>
                  <a:rPr sz="2000">
                    <a:solidFill>
                      <a:srgbClr val="1E293B"/>
                    </a:solidFill>
                    <a:latin typeface="Calibri"/>
                  </a:rPr>
                  <a:t> và </a:t>
                </a:r>
                <a14:m>
                  <m:oMath xmlns:m="http://schemas.openxmlformats.org/officeDocument/2006/math">
                    <m:r>
                      <a:rPr lang="vi-VN" sz="2000" b="0">
                        <a:solidFill>
                          <a:srgbClr val="1E293B"/>
                        </a:solidFill>
                        <a:latin typeface="Cambria Math" panose="02040503050406030204" pitchFamily="18" charset="0"/>
                      </a:rPr>
                      <m:t>2x−y&gt;1</m:t>
                    </m:r>
                  </m:oMath>
                </a14:m>
                <a:r>
                  <a:rPr sz="2000">
                    <a:solidFill>
                      <a:srgbClr val="1E293B"/>
                    </a:solidFill>
                    <a:latin typeface="Calibri"/>
                  </a:rPr>
                  <a:t> là hệ bất phương trình bậc nhất hai ẩn. Các hệ còn lại chứa </a:t>
                </a:r>
                <a14:m>
                  <m:oMath xmlns:m="http://schemas.openxmlformats.org/officeDocument/2006/math">
                    <m:sSup>
                      <m:e>
                        <m:r>
                          <a:rPr lang="vi-VN" sz="2000" b="0">
                            <a:solidFill>
                              <a:srgbClr val="1E293B"/>
                            </a:solidFill>
                            <a:latin typeface="Cambria Math" panose="02040503050406030204" pitchFamily="18" charset="0"/>
                          </a:rPr>
                          <m:t>x</m:t>
                        </m:r>
                      </m:e>
                      <m:sup>
                        <m:r>
                          <a:rPr lang="vi-VN" sz="2000" b="0">
                            <a:solidFill>
                              <a:srgbClr val="1E293B"/>
                            </a:solidFill>
                            <a:latin typeface="Cambria Math" panose="02040503050406030204" pitchFamily="18" charset="0"/>
                          </a:rPr>
                          <m:t>2</m:t>
                        </m:r>
                      </m:sup>
                    </m:sSup>
                  </m:oMath>
                </a14:m>
                <a:r>
                  <a:rPr sz="2000">
                    <a:solidFill>
                      <a:srgbClr val="1E293B"/>
                    </a:solidFill>
                    <a:latin typeface="Calibri"/>
                  </a:rPr>
                  <a:t>, chứa </a:t>
                </a:r>
                <a14:m>
                  <m:oMath xmlns:m="http://schemas.openxmlformats.org/officeDocument/2006/math">
                    <m:r>
                      <a:rPr lang="vi-VN" sz="2000" b="0">
                        <a:solidFill>
                          <a:srgbClr val="1E293B"/>
                        </a:solidFill>
                        <a:latin typeface="Cambria Math" panose="02040503050406030204" pitchFamily="18" charset="0"/>
                      </a:rPr>
                      <m:t>xy</m:t>
                    </m:r>
                  </m:oMath>
                </a14:m>
                <a:r>
                  <a:rPr sz="2000">
                    <a:solidFill>
                      <a:srgbClr val="1E293B"/>
                    </a:solidFill>
                    <a:latin typeface="Calibri"/>
                  </a:rPr>
                  <a:t> hoặc có ba ẩn </a:t>
                </a:r>
                <a14:m>
                  <m:oMath xmlns:m="http://schemas.openxmlformats.org/officeDocument/2006/math">
                    <m:r>
                      <a:rPr lang="vi-VN" sz="2000" b="0">
                        <a:solidFill>
                          <a:srgbClr val="1E293B"/>
                        </a:solidFill>
                        <a:latin typeface="Cambria Math" panose="02040503050406030204" pitchFamily="18" charset="0"/>
                      </a:rPr>
                      <m:t>x,y,z</m:t>
                    </m:r>
                  </m:oMath>
                </a14:m>
                <a:r>
                  <a:rPr sz="2000">
                    <a:solidFill>
                      <a:srgbClr val="1E293B"/>
                    </a:solidFill>
                    <a:latin typeface="Calibri"/>
                  </a:rPr>
                  <a:t>.</a:t>
                </a:r>
              </a:p>
            </p:txBody>
          </p:sp>
        </mc:Choice>
        <mc:Fallback>
          <p:sp>
            <p:nvSpPr>
              <p:cNvPr id="7" name="TextBox 6"/>
              <p:cNvSpPr txBox="1"/>
              <p:nvPr/>
            </p:nvSpPr>
            <p:spPr>
              <a:xfrm>
                <a:off x="731520" y="1463040"/>
                <a:ext cx="10789920" cy="475488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000">
                    <a:solidFill>
                      <a:srgbClr val="1E293B"/>
                    </a:solidFill>
                    <a:latin typeface="Calibri"/>
                  </a:rPr>
                  <a:t>Đáp án A.</a:t>
                </a:r>
              </a:p>
              <a:p>
                <a:pPr algn="l" marL="365760" indent="-365760">
                  <a:spcAft>
                    <a:spcPts val="800"/>
                  </a:spcAft>
                  <a:buClr>
                    <a:srgbClr val="1E40AF"/>
                  </a:buClr>
                  <a:buFont typeface="Arial"/>
                  <a:buChar char="•"/>
                </a:pPr>
                <a:r>
                  <a:rPr sz="2000">
                    <a:solidFill>
                      <a:srgbClr val="1E293B"/>
                    </a:solidFill>
                    <a:latin typeface="Calibri"/>
                  </a:rPr>
                  <a:t>Hệ gồm </a:t>
                </a:r>
                <a:r>
                  <a:rPr lang="vi-VN"/>
                  <a:t>x+y\le 3</a:t>
                </a:r>
                <a:r>
                  <a:rPr sz="2000">
                    <a:solidFill>
                      <a:srgbClr val="1E293B"/>
                    </a:solidFill>
                    <a:latin typeface="Calibri"/>
                  </a:rPr>
                  <a:t> và </a:t>
                </a:r>
                <a:r>
                  <a:rPr lang="vi-VN"/>
                  <a:t>2x-y&gt;1</a:t>
                </a:r>
                <a:r>
                  <a:rPr sz="2000">
                    <a:solidFill>
                      <a:srgbClr val="1E293B"/>
                    </a:solidFill>
                    <a:latin typeface="Calibri"/>
                  </a:rPr>
                  <a:t> là hệ bất phương trình bậc nhất hai ẩn. Các hệ còn lại chứa </a:t>
                </a:r>
                <a:r>
                  <a:rPr lang="vi-VN"/>
                  <a:t>x^2</a:t>
                </a:r>
                <a:r>
                  <a:rPr sz="2000">
                    <a:solidFill>
                      <a:srgbClr val="1E293B"/>
                    </a:solidFill>
                    <a:latin typeface="Calibri"/>
                  </a:rPr>
                  <a:t>, chứa </a:t>
                </a:r>
                <a:r>
                  <a:rPr lang="vi-VN"/>
                  <a:t>xy</a:t>
                </a:r>
                <a:r>
                  <a:rPr sz="2000">
                    <a:solidFill>
                      <a:srgbClr val="1E293B"/>
                    </a:solidFill>
                    <a:latin typeface="Calibri"/>
                  </a:rPr>
                  <a:t> hoặc có ba ẩn </a:t>
                </a:r>
                <a:r>
                  <a:rPr lang="vi-VN"/>
                  <a:t>x, y, z</a:t>
                </a:r>
                <a:r>
                  <a:rPr sz="2000">
                    <a:solidFill>
                      <a:srgbClr val="1E293B"/>
                    </a:solidFill>
                    <a:latin typeface="Calibri"/>
                  </a:rPr>
                  <a:t>.</a:t>
                </a:r>
              </a:p>
            </p:txBody>
          </p:sp>
        </mc:Fallback>
      </mc:AlternateContent>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ĐỀ MINH HỌA · PHẦN I · CÂU 5</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Đề cương Toán 10 · Giữa học kì I          11</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4754880"/>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Giá trị của </a:t>
                </a:r>
                <a14:m>
                  <m:oMath xmlns:m="http://schemas.openxmlformats.org/officeDocument/2006/math">
                    <m:r>
                      <m:rPr>
                        <m:sty m:val="p"/>
                      </m:rPr>
                      <a:rPr lang="vi-VN" sz="2000" b="1">
                        <a:solidFill>
                          <a:srgbClr val="1E293B"/>
                        </a:solidFill>
                        <a:latin typeface="Cambria Math" panose="02040503050406030204" pitchFamily="18" charset="0"/>
                      </a:rPr>
                      <m:t>sin</m:t>
                    </m:r>
                    <m:r>
                      <m:rPr>
                        <m:sty m:val="p"/>
                      </m:rPr>
                      <a:rPr lang="vi-VN" sz="2000" b="1">
                        <a:solidFill>
                          <a:srgbClr val="1E293B"/>
                        </a:solidFill>
                        <a:latin typeface="Cambria Math" panose="02040503050406030204" pitchFamily="18" charset="0"/>
                      </a:rPr>
                      <m:t> </m:t>
                    </m:r>
                    <m:sSup>
                      <m:e>
                        <m:r>
                          <a:rPr lang="vi-VN" sz="2000" b="1">
                            <a:solidFill>
                              <a:srgbClr val="1E293B"/>
                            </a:solidFill>
                            <a:latin typeface="Cambria Math" panose="02040503050406030204" pitchFamily="18" charset="0"/>
                          </a:rPr>
                          <m:t>150</m:t>
                        </m:r>
                      </m:e>
                      <m:sup>
                        <m:r>
                          <a:rPr lang="vi-VN" sz="2000" b="1">
                            <a:solidFill>
                              <a:srgbClr val="1E293B"/>
                            </a:solidFill>
                            <a:latin typeface="Cambria Math" panose="02040503050406030204" pitchFamily="18" charset="0"/>
                          </a:rPr>
                          <m:t>∘</m:t>
                        </m:r>
                      </m:sup>
                    </m:sSup>
                  </m:oMath>
                </a14:m>
                <a:r>
                  <a:rPr sz="2000" b="1">
                    <a:solidFill>
                      <a:srgbClr val="1E293B"/>
                    </a:solidFill>
                    <a:latin typeface="Calibri"/>
                  </a:rPr>
                  <a:t> bằng</a:t>
                </a:r>
              </a:p>
              <a:p>
                <a:pPr algn="l">
                  <a:spcAft>
                    <a:spcPts val="800"/>
                  </a:spcAft>
                </a:pPr>
                <a:r>
                  <a:rPr sz="2000" b="1">
                    <a:solidFill>
                      <a:srgbClr val="1E293B"/>
                    </a:solidFill>
                    <a:latin typeface="Calibri"/>
                  </a:rPr>
                  <a:t>A. </a:t>
                </a:r>
                <a14:m>
                  <m:oMath xmlns:m="http://schemas.openxmlformats.org/officeDocument/2006/math">
                    <m:r>
                      <a:rPr lang="vi-VN" sz="2000" b="1">
                        <a:solidFill>
                          <a:srgbClr val="1E293B"/>
                        </a:solidFill>
                        <a:latin typeface="Cambria Math" panose="02040503050406030204" pitchFamily="18" charset="0"/>
                      </a:rPr>
                      <m:t>−</m:t>
                    </m:r>
                    <m:f>
                      <m:fPr>
                        <m:type m:val="bar"/>
                      </m:fPr>
                      <m:num>
                        <m:r>
                          <a:rPr lang="vi-VN" sz="2000" b="1">
                            <a:solidFill>
                              <a:srgbClr val="1E293B"/>
                            </a:solidFill>
                            <a:latin typeface="Cambria Math" panose="02040503050406030204" pitchFamily="18" charset="0"/>
                          </a:rPr>
                          <m:t>1</m:t>
                        </m:r>
                      </m:num>
                      <m:den>
                        <m:r>
                          <a:rPr lang="vi-VN" sz="2000" b="1">
                            <a:solidFill>
                              <a:srgbClr val="1E293B"/>
                            </a:solidFill>
                            <a:latin typeface="Cambria Math" panose="02040503050406030204" pitchFamily="18" charset="0"/>
                          </a:rPr>
                          <m:t>2</m:t>
                        </m:r>
                      </m:den>
                    </m:f>
                  </m:oMath>
                </a14:m>
              </a:p>
              <a:p>
                <a:pPr algn="l">
                  <a:spcAft>
                    <a:spcPts val="800"/>
                  </a:spcAft>
                </a:pPr>
                <a:r>
                  <a:rPr sz="2000" b="1">
                    <a:solidFill>
                      <a:srgbClr val="1E293B"/>
                    </a:solidFill>
                    <a:latin typeface="Calibri"/>
                  </a:rPr>
                  <a:t>B. </a:t>
                </a:r>
                <a14:m>
                  <m:oMath xmlns:m="http://schemas.openxmlformats.org/officeDocument/2006/math">
                    <m:f>
                      <m:fPr>
                        <m:type m:val="bar"/>
                      </m:fPr>
                      <m:num>
                        <m:r>
                          <a:rPr lang="vi-VN" sz="2000" b="1">
                            <a:solidFill>
                              <a:srgbClr val="1E293B"/>
                            </a:solidFill>
                            <a:latin typeface="Cambria Math" panose="02040503050406030204" pitchFamily="18" charset="0"/>
                          </a:rPr>
                          <m:t>1</m:t>
                        </m:r>
                      </m:num>
                      <m:den>
                        <m:r>
                          <a:rPr lang="vi-VN" sz="2000" b="1">
                            <a:solidFill>
                              <a:srgbClr val="1E293B"/>
                            </a:solidFill>
                            <a:latin typeface="Cambria Math" panose="02040503050406030204" pitchFamily="18" charset="0"/>
                          </a:rPr>
                          <m:t>2</m:t>
                        </m:r>
                      </m:den>
                    </m:f>
                  </m:oMath>
                </a14:m>
              </a:p>
              <a:p>
                <a:pPr algn="l">
                  <a:spcAft>
                    <a:spcPts val="800"/>
                  </a:spcAft>
                </a:pPr>
                <a:r>
                  <a:rPr sz="2000" b="1">
                    <a:solidFill>
                      <a:srgbClr val="1E293B"/>
                    </a:solidFill>
                    <a:latin typeface="Calibri"/>
                  </a:rPr>
                  <a:t>C. </a:t>
                </a:r>
                <a14:m>
                  <m:oMath xmlns:m="http://schemas.openxmlformats.org/officeDocument/2006/math">
                    <m:f>
                      <m:fPr>
                        <m:type m:val="bar"/>
                      </m:fPr>
                      <m:num>
                        <m:rad>
                          <m:radPr>
                            <m:degHide m:val="on"/>
                          </m:radPr>
                          <m:deg/>
                          <m:e>
                            <m:r>
                              <a:rPr lang="vi-VN" sz="2000" b="1">
                                <a:solidFill>
                                  <a:srgbClr val="1E293B"/>
                                </a:solidFill>
                                <a:latin typeface="Cambria Math" panose="02040503050406030204" pitchFamily="18" charset="0"/>
                              </a:rPr>
                              <m:t>3</m:t>
                            </m:r>
                          </m:e>
                        </m:rad>
                      </m:num>
                      <m:den>
                        <m:r>
                          <a:rPr lang="vi-VN" sz="2000" b="1">
                            <a:solidFill>
                              <a:srgbClr val="1E293B"/>
                            </a:solidFill>
                            <a:latin typeface="Cambria Math" panose="02040503050406030204" pitchFamily="18" charset="0"/>
                          </a:rPr>
                          <m:t>2</m:t>
                        </m:r>
                      </m:den>
                    </m:f>
                  </m:oMath>
                </a14:m>
              </a:p>
              <a:p>
                <a:pPr algn="l">
                  <a:spcAft>
                    <a:spcPts val="800"/>
                  </a:spcAft>
                </a:pPr>
                <a:r>
                  <a:rPr sz="2000" b="1">
                    <a:solidFill>
                      <a:srgbClr val="1E293B"/>
                    </a:solidFill>
                    <a:latin typeface="Calibri"/>
                  </a:rPr>
                  <a:t>D. </a:t>
                </a:r>
                <a14:m>
                  <m:oMath xmlns:m="http://schemas.openxmlformats.org/officeDocument/2006/math">
                    <m:r>
                      <a:rPr lang="vi-VN" sz="2000" b="1">
                        <a:solidFill>
                          <a:srgbClr val="1E293B"/>
                        </a:solidFill>
                        <a:latin typeface="Cambria Math" panose="02040503050406030204" pitchFamily="18" charset="0"/>
                      </a:rPr>
                      <m:t>−</m:t>
                    </m:r>
                    <m:f>
                      <m:fPr>
                        <m:type m:val="bar"/>
                      </m:fPr>
                      <m:num>
                        <m:rad>
                          <m:radPr>
                            <m:degHide m:val="on"/>
                          </m:radPr>
                          <m:deg/>
                          <m:e>
                            <m:r>
                              <a:rPr lang="vi-VN" sz="2000" b="1">
                                <a:solidFill>
                                  <a:srgbClr val="1E293B"/>
                                </a:solidFill>
                                <a:latin typeface="Cambria Math" panose="02040503050406030204" pitchFamily="18" charset="0"/>
                              </a:rPr>
                              <m:t>3</m:t>
                            </m:r>
                          </m:e>
                        </m:rad>
                      </m:num>
                      <m:den>
                        <m:r>
                          <a:rPr lang="vi-VN" sz="2000" b="1">
                            <a:solidFill>
                              <a:srgbClr val="1E293B"/>
                            </a:solidFill>
                            <a:latin typeface="Cambria Math" panose="02040503050406030204" pitchFamily="18" charset="0"/>
                          </a:rPr>
                          <m:t>2</m:t>
                        </m:r>
                      </m:den>
                    </m:f>
                  </m:oMath>
                </a14:m>
              </a:p>
            </p:txBody>
          </p:sp>
        </mc:Choice>
        <mc:Fallback>
          <p:sp>
            <p:nvSpPr>
              <p:cNvPr id="7" name="TextBox 6"/>
              <p:cNvSpPr txBox="1"/>
              <p:nvPr/>
            </p:nvSpPr>
            <p:spPr>
              <a:xfrm>
                <a:off x="731520" y="1463040"/>
                <a:ext cx="10789920" cy="4754880"/>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Giá trị của </a:t>
                </a:r>
                <a:r>
                  <a:rPr lang="vi-VN"/>
                  <a:t>\sin 150^\circ</a:t>
                </a:r>
                <a:r>
                  <a:rPr sz="2000" b="1">
                    <a:solidFill>
                      <a:srgbClr val="1E293B"/>
                    </a:solidFill>
                    <a:latin typeface="Calibri"/>
                  </a:rPr>
                  <a:t> bằng</a:t>
                </a:r>
              </a:p>
              <a:p>
                <a:pPr algn="l">
                  <a:spcAft>
                    <a:spcPts val="800"/>
                  </a:spcAft>
                </a:pPr>
                <a:r>
                  <a:rPr sz="2000" b="1">
                    <a:solidFill>
                      <a:srgbClr val="1E293B"/>
                    </a:solidFill>
                    <a:latin typeface="Calibri"/>
                  </a:rPr>
                  <a:t>A. </a:t>
                </a:r>
                <a:r>
                  <a:rPr lang="vi-VN"/>
                  <a:t>-\frac{1}{2}</a:t>
                </a:r>
              </a:p>
              <a:p>
                <a:pPr algn="l">
                  <a:spcAft>
                    <a:spcPts val="800"/>
                  </a:spcAft>
                </a:pPr>
                <a:r>
                  <a:rPr sz="2000" b="1">
                    <a:solidFill>
                      <a:srgbClr val="1E293B"/>
                    </a:solidFill>
                    <a:latin typeface="Calibri"/>
                  </a:rPr>
                  <a:t>B. </a:t>
                </a:r>
                <a:r>
                  <a:rPr lang="vi-VN"/>
                  <a:t>\frac{1}{2}</a:t>
                </a:r>
              </a:p>
              <a:p>
                <a:pPr algn="l">
                  <a:spcAft>
                    <a:spcPts val="800"/>
                  </a:spcAft>
                </a:pPr>
                <a:r>
                  <a:rPr sz="2000" b="1">
                    <a:solidFill>
                      <a:srgbClr val="1E293B"/>
                    </a:solidFill>
                    <a:latin typeface="Calibri"/>
                  </a:rPr>
                  <a:t>C. </a:t>
                </a:r>
                <a:r>
                  <a:rPr lang="vi-VN"/>
                  <a:t>\frac{\sqrt{3}}{2}</a:t>
                </a:r>
              </a:p>
              <a:p>
                <a:pPr algn="l">
                  <a:spcAft>
                    <a:spcPts val="800"/>
                  </a:spcAft>
                </a:pPr>
                <a:r>
                  <a:rPr sz="2000" b="1">
                    <a:solidFill>
                      <a:srgbClr val="1E293B"/>
                    </a:solidFill>
                    <a:latin typeface="Calibri"/>
                  </a:rPr>
                  <a:t>D. </a:t>
                </a:r>
                <a:r>
                  <a:rPr lang="vi-VN"/>
                  <a:t>-\frac{\sqrt{3}}{2}</a:t>
                </a:r>
              </a:p>
            </p:txBody>
          </p:sp>
        </mc:Fallback>
      </mc:AlternateContent>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ĐỀ MINH HỌA · PHẦN I · CÂU 5</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Đề cương Toán 10 · Giữa học kì I          12</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475488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000">
                    <a:solidFill>
                      <a:srgbClr val="1E293B"/>
                    </a:solidFill>
                    <a:latin typeface="Calibri"/>
                  </a:rPr>
                  <a:t>Đáp án B.</a:t>
                </a:r>
              </a:p>
              <a:p>
                <a:pPr algn="l" marL="365760" indent="-365760">
                  <a:spcAft>
                    <a:spcPts val="800"/>
                  </a:spcAft>
                  <a:buClr>
                    <a:srgbClr val="1E40AF"/>
                  </a:buClr>
                  <a:buFont typeface="Arial"/>
                  <a:buChar char="•"/>
                </a:pPr>
                <a14:m>
                  <m:oMath xmlns:m="http://schemas.openxmlformats.org/officeDocument/2006/math">
                    <m:r>
                      <m:rPr>
                        <m:sty m:val="p"/>
                      </m:rPr>
                      <a:rPr lang="vi-VN" sz="2000" b="0">
                        <a:solidFill>
                          <a:srgbClr val="1E293B"/>
                        </a:solidFill>
                        <a:latin typeface="Cambria Math" panose="02040503050406030204" pitchFamily="18" charset="0"/>
                      </a:rPr>
                      <m:t>sin</m:t>
                    </m:r>
                    <m:r>
                      <m:rPr>
                        <m:sty m:val="p"/>
                      </m:rPr>
                      <a:rPr lang="vi-VN" sz="2000" b="0">
                        <a:solidFill>
                          <a:srgbClr val="1E293B"/>
                        </a:solidFill>
                        <a:latin typeface="Cambria Math" panose="02040503050406030204" pitchFamily="18" charset="0"/>
                      </a:rPr>
                      <m:t> </m:t>
                    </m:r>
                    <m:sSup>
                      <m:e>
                        <m:r>
                          <a:rPr lang="vi-VN" sz="2000" b="0">
                            <a:solidFill>
                              <a:srgbClr val="1E293B"/>
                            </a:solidFill>
                            <a:latin typeface="Cambria Math" panose="02040503050406030204" pitchFamily="18" charset="0"/>
                          </a:rPr>
                          <m:t>150</m:t>
                        </m:r>
                      </m:e>
                      <m:sup>
                        <m:r>
                          <a:rPr lang="vi-VN" sz="2000" b="0">
                            <a:solidFill>
                              <a:srgbClr val="1E293B"/>
                            </a:solidFill>
                            <a:latin typeface="Cambria Math" panose="02040503050406030204" pitchFamily="18" charset="0"/>
                          </a:rPr>
                          <m:t>∘</m:t>
                        </m:r>
                      </m:sup>
                    </m:sSup>
                    <m:r>
                      <a:rPr lang="vi-VN" sz="2000" b="0">
                        <a:solidFill>
                          <a:srgbClr val="1E293B"/>
                        </a:solidFill>
                        <a:latin typeface="Cambria Math" panose="02040503050406030204" pitchFamily="18" charset="0"/>
                      </a:rPr>
                      <m:t>=</m:t>
                    </m:r>
                    <m:r>
                      <m:rPr>
                        <m:sty m:val="p"/>
                      </m:rPr>
                      <a:rPr lang="vi-VN" sz="2000" b="0">
                        <a:solidFill>
                          <a:srgbClr val="1E293B"/>
                        </a:solidFill>
                        <a:latin typeface="Cambria Math" panose="02040503050406030204" pitchFamily="18" charset="0"/>
                      </a:rPr>
                      <m:t>sin</m:t>
                    </m:r>
                    <m:r>
                      <a:rPr lang="vi-VN" sz="2000" b="0">
                        <a:solidFill>
                          <a:srgbClr val="1E293B"/>
                        </a:solidFill>
                        <a:latin typeface="Cambria Math" panose="02040503050406030204" pitchFamily="18" charset="0"/>
                      </a:rPr>
                      <m:t>(</m:t>
                    </m:r>
                    <m:sSup>
                      <m:e>
                        <m:r>
                          <a:rPr lang="vi-VN" sz="2000" b="0">
                            <a:solidFill>
                              <a:srgbClr val="1E293B"/>
                            </a:solidFill>
                            <a:latin typeface="Cambria Math" panose="02040503050406030204" pitchFamily="18" charset="0"/>
                          </a:rPr>
                          <m:t>180</m:t>
                        </m:r>
                      </m:e>
                      <m:sup>
                        <m:r>
                          <a:rPr lang="vi-VN" sz="2000" b="0">
                            <a:solidFill>
                              <a:srgbClr val="1E293B"/>
                            </a:solidFill>
                            <a:latin typeface="Cambria Math" panose="02040503050406030204" pitchFamily="18" charset="0"/>
                          </a:rPr>
                          <m:t>∘</m:t>
                        </m:r>
                      </m:sup>
                    </m:sSup>
                    <m:r>
                      <a:rPr lang="vi-VN" sz="2000" b="0">
                        <a:solidFill>
                          <a:srgbClr val="1E293B"/>
                        </a:solidFill>
                        <a:latin typeface="Cambria Math" panose="02040503050406030204" pitchFamily="18" charset="0"/>
                      </a:rPr>
                      <m:t>−</m:t>
                    </m:r>
                    <m:sSup>
                      <m:e>
                        <m:r>
                          <a:rPr lang="vi-VN" sz="2000" b="0">
                            <a:solidFill>
                              <a:srgbClr val="1E293B"/>
                            </a:solidFill>
                            <a:latin typeface="Cambria Math" panose="02040503050406030204" pitchFamily="18" charset="0"/>
                          </a:rPr>
                          <m:t>30</m:t>
                        </m:r>
                      </m:e>
                      <m:sup>
                        <m:r>
                          <a:rPr lang="vi-VN" sz="2000" b="0">
                            <a:solidFill>
                              <a:srgbClr val="1E293B"/>
                            </a:solidFill>
                            <a:latin typeface="Cambria Math" panose="02040503050406030204" pitchFamily="18" charset="0"/>
                          </a:rPr>
                          <m:t>∘</m:t>
                        </m:r>
                      </m:sup>
                    </m:sSup>
                    <m:r>
                      <a:rPr lang="vi-VN" sz="2000" b="0">
                        <a:solidFill>
                          <a:srgbClr val="1E293B"/>
                        </a:solidFill>
                        <a:latin typeface="Cambria Math" panose="02040503050406030204" pitchFamily="18" charset="0"/>
                      </a:rPr>
                      <m:t>)=</m:t>
                    </m:r>
                    <m:r>
                      <m:rPr>
                        <m:sty m:val="p"/>
                      </m:rPr>
                      <a:rPr lang="vi-VN" sz="2000" b="0">
                        <a:solidFill>
                          <a:srgbClr val="1E293B"/>
                        </a:solidFill>
                        <a:latin typeface="Cambria Math" panose="02040503050406030204" pitchFamily="18" charset="0"/>
                      </a:rPr>
                      <m:t>sin</m:t>
                    </m:r>
                    <m:r>
                      <m:rPr>
                        <m:sty m:val="p"/>
                      </m:rPr>
                      <a:rPr lang="vi-VN" sz="2000" b="0">
                        <a:solidFill>
                          <a:srgbClr val="1E293B"/>
                        </a:solidFill>
                        <a:latin typeface="Cambria Math" panose="02040503050406030204" pitchFamily="18" charset="0"/>
                      </a:rPr>
                      <m:t> </m:t>
                    </m:r>
                    <m:sSup>
                      <m:e>
                        <m:r>
                          <a:rPr lang="vi-VN" sz="2000" b="0">
                            <a:solidFill>
                              <a:srgbClr val="1E293B"/>
                            </a:solidFill>
                            <a:latin typeface="Cambria Math" panose="02040503050406030204" pitchFamily="18" charset="0"/>
                          </a:rPr>
                          <m:t>30</m:t>
                        </m:r>
                      </m:e>
                      <m:sup>
                        <m:r>
                          <a:rPr lang="vi-VN" sz="2000" b="0">
                            <a:solidFill>
                              <a:srgbClr val="1E293B"/>
                            </a:solidFill>
                            <a:latin typeface="Cambria Math" panose="02040503050406030204" pitchFamily="18" charset="0"/>
                          </a:rPr>
                          <m:t>∘</m:t>
                        </m:r>
                      </m:sup>
                    </m:sSup>
                    <m:r>
                      <a:rPr lang="vi-VN" sz="2000" b="0">
                        <a:solidFill>
                          <a:srgbClr val="1E293B"/>
                        </a:solidFill>
                        <a:latin typeface="Cambria Math" panose="02040503050406030204" pitchFamily="18" charset="0"/>
                      </a:rPr>
                      <m:t>=</m:t>
                    </m:r>
                    <m:f>
                      <m:fPr>
                        <m:type m:val="bar"/>
                      </m:fPr>
                      <m:num>
                        <m:r>
                          <a:rPr lang="vi-VN" sz="2000" b="0">
                            <a:solidFill>
                              <a:srgbClr val="1E293B"/>
                            </a:solidFill>
                            <a:latin typeface="Cambria Math" panose="02040503050406030204" pitchFamily="18" charset="0"/>
                          </a:rPr>
                          <m:t>1</m:t>
                        </m:r>
                      </m:num>
                      <m:den>
                        <m:r>
                          <a:rPr lang="vi-VN" sz="2000" b="0">
                            <a:solidFill>
                              <a:srgbClr val="1E293B"/>
                            </a:solidFill>
                            <a:latin typeface="Cambria Math" panose="02040503050406030204" pitchFamily="18" charset="0"/>
                          </a:rPr>
                          <m:t>2</m:t>
                        </m:r>
                      </m:den>
                    </m:f>
                  </m:oMath>
                </a14:m>
                <a:r>
                  <a:rPr sz="2000">
                    <a:solidFill>
                      <a:srgbClr val="1E293B"/>
                    </a:solidFill>
                    <a:latin typeface="Calibri"/>
                  </a:rPr>
                  <a:t> (hai góc bù nhau có sin bằng nhau).</a:t>
                </a:r>
              </a:p>
            </p:txBody>
          </p:sp>
        </mc:Choice>
        <mc:Fallback>
          <p:sp>
            <p:nvSpPr>
              <p:cNvPr id="7" name="TextBox 6"/>
              <p:cNvSpPr txBox="1"/>
              <p:nvPr/>
            </p:nvSpPr>
            <p:spPr>
              <a:xfrm>
                <a:off x="731520" y="1463040"/>
                <a:ext cx="10789920" cy="475488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000">
                    <a:solidFill>
                      <a:srgbClr val="1E293B"/>
                    </a:solidFill>
                    <a:latin typeface="Calibri"/>
                  </a:rPr>
                  <a:t>Đáp án B.</a:t>
                </a:r>
              </a:p>
              <a:p>
                <a:pPr algn="l" marL="365760" indent="-365760">
                  <a:spcAft>
                    <a:spcPts val="800"/>
                  </a:spcAft>
                  <a:buClr>
                    <a:srgbClr val="1E40AF"/>
                  </a:buClr>
                  <a:buFont typeface="Arial"/>
                  <a:buChar char="•"/>
                </a:pPr>
                <a:r>
                  <a:rPr lang="vi-VN"/>
                  <a:t>\sin 150^\circ=\sin(180^\circ-30^\circ)=\sin 30^\circ=\frac{1}{2}</a:t>
                </a:r>
                <a:r>
                  <a:rPr sz="2000">
                    <a:solidFill>
                      <a:srgbClr val="1E293B"/>
                    </a:solidFill>
                    <a:latin typeface="Calibri"/>
                  </a:rPr>
                  <a:t> (hai góc bù nhau có sin bằng nhau).</a:t>
                </a:r>
              </a:p>
            </p:txBody>
          </p:sp>
        </mc:Fallback>
      </mc:AlternateContent>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ĐỀ MINH HỌA · PHẦN I · CÂU 6</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Đề cương Toán 10 · Giữa học kì I          13</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4754880"/>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Một mảnh vườn hình tam giác có ba cạnh dài 5 m, 6 m và 7 m. Diện tích mảnh vườn bằng</a:t>
                </a:r>
              </a:p>
              <a:p>
                <a:pPr algn="l">
                  <a:spcAft>
                    <a:spcPts val="800"/>
                  </a:spcAft>
                </a:pPr>
                <a:r>
                  <a:rPr sz="2000" b="1">
                    <a:solidFill>
                      <a:srgbClr val="1E293B"/>
                    </a:solidFill>
                    <a:latin typeface="Calibri"/>
                  </a:rPr>
                  <a:t>A. </a:t>
                </a:r>
                <a14:m>
                  <m:oMath xmlns:m="http://schemas.openxmlformats.org/officeDocument/2006/math">
                    <m:r>
                      <a:rPr lang="vi-VN" sz="2000" b="1">
                        <a:solidFill>
                          <a:srgbClr val="1E293B"/>
                        </a:solidFill>
                        <a:latin typeface="Cambria Math" panose="02040503050406030204" pitchFamily="18" charset="0"/>
                      </a:rPr>
                      <m:t>6</m:t>
                    </m:r>
                    <m:rad>
                      <m:radPr>
                        <m:degHide m:val="on"/>
                      </m:radPr>
                      <m:deg/>
                      <m:e>
                        <m:r>
                          <a:rPr lang="vi-VN" sz="2000" b="1">
                            <a:solidFill>
                              <a:srgbClr val="1E293B"/>
                            </a:solidFill>
                            <a:latin typeface="Cambria Math" panose="02040503050406030204" pitchFamily="18" charset="0"/>
                          </a:rPr>
                          <m:t>6</m:t>
                        </m:r>
                      </m:e>
                    </m:rad>
                  </m:oMath>
                </a14:m>
                <a:r>
                  <a:rPr sz="2000" b="1">
                    <a:solidFill>
                      <a:srgbClr val="1E293B"/>
                    </a:solidFill>
                    <a:latin typeface="Calibri"/>
                  </a:rPr>
                  <a:t> m²</a:t>
                </a:r>
              </a:p>
              <a:p>
                <a:pPr algn="l">
                  <a:spcAft>
                    <a:spcPts val="800"/>
                  </a:spcAft>
                </a:pPr>
                <a:r>
                  <a:rPr sz="2000" b="1">
                    <a:solidFill>
                      <a:srgbClr val="1E293B"/>
                    </a:solidFill>
                    <a:latin typeface="Calibri"/>
                  </a:rPr>
                  <a:t>B. </a:t>
                </a:r>
                <a14:m>
                  <m:oMath xmlns:m="http://schemas.openxmlformats.org/officeDocument/2006/math">
                    <m:r>
                      <a:rPr lang="vi-VN" sz="2000" b="1">
                        <a:solidFill>
                          <a:srgbClr val="1E293B"/>
                        </a:solidFill>
                        <a:latin typeface="Cambria Math" panose="02040503050406030204" pitchFamily="18" charset="0"/>
                      </a:rPr>
                      <m:t>12</m:t>
                    </m:r>
                  </m:oMath>
                </a14:m>
                <a:r>
                  <a:rPr sz="2000" b="1">
                    <a:solidFill>
                      <a:srgbClr val="1E293B"/>
                    </a:solidFill>
                    <a:latin typeface="Calibri"/>
                  </a:rPr>
                  <a:t> m²</a:t>
                </a:r>
              </a:p>
              <a:p>
                <a:pPr algn="l">
                  <a:spcAft>
                    <a:spcPts val="800"/>
                  </a:spcAft>
                </a:pPr>
                <a:r>
                  <a:rPr sz="2000" b="1">
                    <a:solidFill>
                      <a:srgbClr val="1E293B"/>
                    </a:solidFill>
                    <a:latin typeface="Calibri"/>
                  </a:rPr>
                  <a:t>C. </a:t>
                </a:r>
                <a14:m>
                  <m:oMath xmlns:m="http://schemas.openxmlformats.org/officeDocument/2006/math">
                    <m:r>
                      <a:rPr lang="vi-VN" sz="2000" b="1">
                        <a:solidFill>
                          <a:srgbClr val="1E293B"/>
                        </a:solidFill>
                        <a:latin typeface="Cambria Math" panose="02040503050406030204" pitchFamily="18" charset="0"/>
                      </a:rPr>
                      <m:t>6</m:t>
                    </m:r>
                    <m:rad>
                      <m:radPr>
                        <m:degHide m:val="on"/>
                      </m:radPr>
                      <m:deg/>
                      <m:e>
                        <m:r>
                          <a:rPr lang="vi-VN" sz="2000" b="1">
                            <a:solidFill>
                              <a:srgbClr val="1E293B"/>
                            </a:solidFill>
                            <a:latin typeface="Cambria Math" panose="02040503050406030204" pitchFamily="18" charset="0"/>
                          </a:rPr>
                          <m:t>5</m:t>
                        </m:r>
                      </m:e>
                    </m:rad>
                  </m:oMath>
                </a14:m>
                <a:r>
                  <a:rPr sz="2000" b="1">
                    <a:solidFill>
                      <a:srgbClr val="1E293B"/>
                    </a:solidFill>
                    <a:latin typeface="Calibri"/>
                  </a:rPr>
                  <a:t> m²</a:t>
                </a:r>
              </a:p>
              <a:p>
                <a:pPr algn="l">
                  <a:spcAft>
                    <a:spcPts val="800"/>
                  </a:spcAft>
                </a:pPr>
                <a:r>
                  <a:rPr sz="2000" b="1">
                    <a:solidFill>
                      <a:srgbClr val="1E293B"/>
                    </a:solidFill>
                    <a:latin typeface="Calibri"/>
                  </a:rPr>
                  <a:t>D. </a:t>
                </a:r>
                <a14:m>
                  <m:oMath xmlns:m="http://schemas.openxmlformats.org/officeDocument/2006/math">
                    <m:r>
                      <a:rPr lang="vi-VN" sz="2000" b="1">
                        <a:solidFill>
                          <a:srgbClr val="1E293B"/>
                        </a:solidFill>
                        <a:latin typeface="Cambria Math" panose="02040503050406030204" pitchFamily="18" charset="0"/>
                      </a:rPr>
                      <m:t>18</m:t>
                    </m:r>
                  </m:oMath>
                </a14:m>
                <a:r>
                  <a:rPr sz="2000" b="1">
                    <a:solidFill>
                      <a:srgbClr val="1E293B"/>
                    </a:solidFill>
                    <a:latin typeface="Calibri"/>
                  </a:rPr>
                  <a:t> m²</a:t>
                </a:r>
              </a:p>
            </p:txBody>
          </p:sp>
        </mc:Choice>
        <mc:Fallback>
          <p:sp>
            <p:nvSpPr>
              <p:cNvPr id="7" name="TextBox 6"/>
              <p:cNvSpPr txBox="1"/>
              <p:nvPr/>
            </p:nvSpPr>
            <p:spPr>
              <a:xfrm>
                <a:off x="731520" y="1463040"/>
                <a:ext cx="10789920" cy="4754880"/>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Một mảnh vườn hình tam giác có ba cạnh dài 5 m, 6 m và 7 m. Diện tích mảnh vườn bằng</a:t>
                </a:r>
              </a:p>
              <a:p>
                <a:pPr algn="l">
                  <a:spcAft>
                    <a:spcPts val="800"/>
                  </a:spcAft>
                </a:pPr>
                <a:r>
                  <a:rPr sz="2000" b="1">
                    <a:solidFill>
                      <a:srgbClr val="1E293B"/>
                    </a:solidFill>
                    <a:latin typeface="Calibri"/>
                  </a:rPr>
                  <a:t>A. </a:t>
                </a:r>
                <a:r>
                  <a:rPr lang="vi-VN"/>
                  <a:t>6\sqrt{6}</a:t>
                </a:r>
                <a:r>
                  <a:rPr sz="2000" b="1">
                    <a:solidFill>
                      <a:srgbClr val="1E293B"/>
                    </a:solidFill>
                    <a:latin typeface="Calibri"/>
                  </a:rPr>
                  <a:t> m²</a:t>
                </a:r>
              </a:p>
              <a:p>
                <a:pPr algn="l">
                  <a:spcAft>
                    <a:spcPts val="800"/>
                  </a:spcAft>
                </a:pPr>
                <a:r>
                  <a:rPr sz="2000" b="1">
                    <a:solidFill>
                      <a:srgbClr val="1E293B"/>
                    </a:solidFill>
                    <a:latin typeface="Calibri"/>
                  </a:rPr>
                  <a:t>B. </a:t>
                </a:r>
                <a:r>
                  <a:rPr lang="vi-VN"/>
                  <a:t>12</a:t>
                </a:r>
                <a:r>
                  <a:rPr sz="2000" b="1">
                    <a:solidFill>
                      <a:srgbClr val="1E293B"/>
                    </a:solidFill>
                    <a:latin typeface="Calibri"/>
                  </a:rPr>
                  <a:t> m²</a:t>
                </a:r>
              </a:p>
              <a:p>
                <a:pPr algn="l">
                  <a:spcAft>
                    <a:spcPts val="800"/>
                  </a:spcAft>
                </a:pPr>
                <a:r>
                  <a:rPr sz="2000" b="1">
                    <a:solidFill>
                      <a:srgbClr val="1E293B"/>
                    </a:solidFill>
                    <a:latin typeface="Calibri"/>
                  </a:rPr>
                  <a:t>C. </a:t>
                </a:r>
                <a:r>
                  <a:rPr lang="vi-VN"/>
                  <a:t>6\sqrt{5}</a:t>
                </a:r>
                <a:r>
                  <a:rPr sz="2000" b="1">
                    <a:solidFill>
                      <a:srgbClr val="1E293B"/>
                    </a:solidFill>
                    <a:latin typeface="Calibri"/>
                  </a:rPr>
                  <a:t> m²</a:t>
                </a:r>
              </a:p>
              <a:p>
                <a:pPr algn="l">
                  <a:spcAft>
                    <a:spcPts val="800"/>
                  </a:spcAft>
                </a:pPr>
                <a:r>
                  <a:rPr sz="2000" b="1">
                    <a:solidFill>
                      <a:srgbClr val="1E293B"/>
                    </a:solidFill>
                    <a:latin typeface="Calibri"/>
                  </a:rPr>
                  <a:t>D. </a:t>
                </a:r>
                <a:r>
                  <a:rPr lang="vi-VN"/>
                  <a:t>18</a:t>
                </a:r>
                <a:r>
                  <a:rPr sz="2000" b="1">
                    <a:solidFill>
                      <a:srgbClr val="1E293B"/>
                    </a:solidFill>
                    <a:latin typeface="Calibri"/>
                  </a:rPr>
                  <a:t> m²</a:t>
                </a:r>
              </a:p>
            </p:txBody>
          </p:sp>
        </mc:Fallback>
      </mc:AlternateContent>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ĐỀ MINH HỌA · PHẦN I · CÂU 6</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Đề cương Toán 10 · Giữa học kì I          14</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475488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000">
                    <a:solidFill>
                      <a:srgbClr val="1E293B"/>
                    </a:solidFill>
                    <a:latin typeface="Calibri"/>
                  </a:rPr>
                  <a:t>Đáp án A.</a:t>
                </a:r>
              </a:p>
              <a:p>
                <a:pPr algn="l" marL="365760" indent="-365760">
                  <a:spcAft>
                    <a:spcPts val="800"/>
                  </a:spcAft>
                  <a:buClr>
                    <a:srgbClr val="1E40AF"/>
                  </a:buClr>
                  <a:buFont typeface="Arial"/>
                  <a:buChar char="•"/>
                </a:pPr>
                <a:r>
                  <a:rPr sz="2000">
                    <a:solidFill>
                      <a:srgbClr val="1E293B"/>
                    </a:solidFill>
                    <a:latin typeface="Calibri"/>
                  </a:rPr>
                  <a:t>Nửa chu vi </a:t>
                </a:r>
                <a14:m>
                  <m:oMath xmlns:m="http://schemas.openxmlformats.org/officeDocument/2006/math">
                    <m:r>
                      <a:rPr lang="vi-VN" sz="2000" b="0">
                        <a:solidFill>
                          <a:srgbClr val="1E293B"/>
                        </a:solidFill>
                        <a:latin typeface="Cambria Math" panose="02040503050406030204" pitchFamily="18" charset="0"/>
                      </a:rPr>
                      <m:t>p=9</m:t>
                    </m:r>
                  </m:oMath>
                </a14:m>
                <a:r>
                  <a:rPr sz="2000">
                    <a:solidFill>
                      <a:srgbClr val="1E293B"/>
                    </a:solidFill>
                    <a:latin typeface="Calibri"/>
                  </a:rPr>
                  <a:t>. Công thức Heron: </a:t>
                </a:r>
                <a14:m>
                  <m:oMath xmlns:m="http://schemas.openxmlformats.org/officeDocument/2006/math">
                    <m:r>
                      <a:rPr lang="vi-VN" sz="2000" b="0">
                        <a:solidFill>
                          <a:srgbClr val="1E293B"/>
                        </a:solidFill>
                        <a:latin typeface="Cambria Math" panose="02040503050406030204" pitchFamily="18" charset="0"/>
                      </a:rPr>
                      <m:t>S=</m:t>
                    </m:r>
                    <m:rad>
                      <m:radPr>
                        <m:degHide m:val="on"/>
                      </m:radPr>
                      <m:deg/>
                      <m:e>
                        <m:r>
                          <a:rPr lang="vi-VN" sz="2000" b="0">
                            <a:solidFill>
                              <a:srgbClr val="1E293B"/>
                            </a:solidFill>
                            <a:latin typeface="Cambria Math" panose="02040503050406030204" pitchFamily="18" charset="0"/>
                          </a:rPr>
                          <m:t>9·4·3·2</m:t>
                        </m:r>
                      </m:e>
                    </m:rad>
                    <m:r>
                      <a:rPr lang="vi-VN" sz="2000" b="0">
                        <a:solidFill>
                          <a:srgbClr val="1E293B"/>
                        </a:solidFill>
                        <a:latin typeface="Cambria Math" panose="02040503050406030204" pitchFamily="18" charset="0"/>
                      </a:rPr>
                      <m:t>=</m:t>
                    </m:r>
                    <m:rad>
                      <m:radPr>
                        <m:degHide m:val="on"/>
                      </m:radPr>
                      <m:deg/>
                      <m:e>
                        <m:r>
                          <a:rPr lang="vi-VN" sz="2000" b="0">
                            <a:solidFill>
                              <a:srgbClr val="1E293B"/>
                            </a:solidFill>
                            <a:latin typeface="Cambria Math" panose="02040503050406030204" pitchFamily="18" charset="0"/>
                          </a:rPr>
                          <m:t>216</m:t>
                        </m:r>
                      </m:e>
                    </m:rad>
                    <m:r>
                      <a:rPr lang="vi-VN" sz="2000" b="0">
                        <a:solidFill>
                          <a:srgbClr val="1E293B"/>
                        </a:solidFill>
                        <a:latin typeface="Cambria Math" panose="02040503050406030204" pitchFamily="18" charset="0"/>
                      </a:rPr>
                      <m:t>=6</m:t>
                    </m:r>
                    <m:rad>
                      <m:radPr>
                        <m:degHide m:val="on"/>
                      </m:radPr>
                      <m:deg/>
                      <m:e>
                        <m:r>
                          <a:rPr lang="vi-VN" sz="2000" b="0">
                            <a:solidFill>
                              <a:srgbClr val="1E293B"/>
                            </a:solidFill>
                            <a:latin typeface="Cambria Math" panose="02040503050406030204" pitchFamily="18" charset="0"/>
                          </a:rPr>
                          <m:t>6</m:t>
                        </m:r>
                      </m:e>
                    </m:rad>
                    <m:r>
                      <a:rPr lang="vi-VN" sz="2000" b="0">
                        <a:solidFill>
                          <a:srgbClr val="1E293B"/>
                        </a:solidFill>
                        <a:latin typeface="Cambria Math" panose="02040503050406030204" pitchFamily="18" charset="0"/>
                      </a:rPr>
                      <m:t>≈14</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7</m:t>
                    </m:r>
                  </m:oMath>
                </a14:m>
                <a:r>
                  <a:rPr sz="2000">
                    <a:solidFill>
                      <a:srgbClr val="1E293B"/>
                    </a:solidFill>
                    <a:latin typeface="Calibri"/>
                  </a:rPr>
                  <a:t> (m²).</a:t>
                </a:r>
              </a:p>
            </p:txBody>
          </p:sp>
        </mc:Choice>
        <mc:Fallback>
          <p:sp>
            <p:nvSpPr>
              <p:cNvPr id="7" name="TextBox 6"/>
              <p:cNvSpPr txBox="1"/>
              <p:nvPr/>
            </p:nvSpPr>
            <p:spPr>
              <a:xfrm>
                <a:off x="731520" y="1463040"/>
                <a:ext cx="10789920" cy="475488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000">
                    <a:solidFill>
                      <a:srgbClr val="1E293B"/>
                    </a:solidFill>
                    <a:latin typeface="Calibri"/>
                  </a:rPr>
                  <a:t>Đáp án A.</a:t>
                </a:r>
              </a:p>
              <a:p>
                <a:pPr algn="l" marL="365760" indent="-365760">
                  <a:spcAft>
                    <a:spcPts val="800"/>
                  </a:spcAft>
                  <a:buClr>
                    <a:srgbClr val="1E40AF"/>
                  </a:buClr>
                  <a:buFont typeface="Arial"/>
                  <a:buChar char="•"/>
                </a:pPr>
                <a:r>
                  <a:rPr sz="2000">
                    <a:solidFill>
                      <a:srgbClr val="1E293B"/>
                    </a:solidFill>
                    <a:latin typeface="Calibri"/>
                  </a:rPr>
                  <a:t>Nửa chu vi </a:t>
                </a:r>
                <a:r>
                  <a:rPr lang="vi-VN"/>
                  <a:t>p=9</a:t>
                </a:r>
                <a:r>
                  <a:rPr sz="2000">
                    <a:solidFill>
                      <a:srgbClr val="1E293B"/>
                    </a:solidFill>
                    <a:latin typeface="Calibri"/>
                  </a:rPr>
                  <a:t>. Công thức Heron: </a:t>
                </a:r>
                <a:r>
                  <a:rPr lang="vi-VN"/>
                  <a:t>S=\sqrt{9\cdot 4\cdot 3\cdot 2}=\sqrt{216}=6\sqrt{6}\approx 14{,}7</a:t>
                </a:r>
                <a:r>
                  <a:rPr sz="2000">
                    <a:solidFill>
                      <a:srgbClr val="1E293B"/>
                    </a:solidFill>
                    <a:latin typeface="Calibri"/>
                  </a:rPr>
                  <a:t> (m²).</a:t>
                </a:r>
              </a:p>
            </p:txBody>
          </p:sp>
        </mc:Fallback>
      </mc:AlternateContent>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ĐỀ MINH HỌA · PHẦN I · CÂU 7</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Đề cương Toán 10 · Giữa học kì I          15</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4754880"/>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Cho tập hợp </a:t>
                </a:r>
                <a14:m>
                  <m:oMath xmlns:m="http://schemas.openxmlformats.org/officeDocument/2006/math">
                    <m:r>
                      <a:rPr lang="vi-VN" sz="2000" b="1">
                        <a:solidFill>
                          <a:srgbClr val="1E293B"/>
                        </a:solidFill>
                        <a:latin typeface="Cambria Math" panose="02040503050406030204" pitchFamily="18" charset="0"/>
                      </a:rPr>
                      <m:t>A={1;2;3}</m:t>
                    </m:r>
                  </m:oMath>
                </a14:m>
                <a:r>
                  <a:rPr sz="2000" b="1">
                    <a:solidFill>
                      <a:srgbClr val="1E293B"/>
                    </a:solidFill>
                    <a:latin typeface="Calibri"/>
                  </a:rPr>
                  <a:t>. Khẳng định nào sau đây đúng?</a:t>
                </a:r>
              </a:p>
              <a:p>
                <a:pPr algn="l">
                  <a:spcAft>
                    <a:spcPts val="800"/>
                  </a:spcAft>
                </a:pPr>
                <a:r>
                  <a:rPr sz="2000" b="1">
                    <a:solidFill>
                      <a:srgbClr val="1E293B"/>
                    </a:solidFill>
                    <a:latin typeface="Calibri"/>
                  </a:rPr>
                  <a:t>A. </a:t>
                </a:r>
                <a14:m>
                  <m:oMath xmlns:m="http://schemas.openxmlformats.org/officeDocument/2006/math">
                    <m:r>
                      <a:rPr lang="vi-VN" sz="2000" b="1">
                        <a:solidFill>
                          <a:srgbClr val="1E293B"/>
                        </a:solidFill>
                        <a:latin typeface="Cambria Math" panose="02040503050406030204" pitchFamily="18" charset="0"/>
                      </a:rPr>
                      <m:t>1⊂A</m:t>
                    </m:r>
                  </m:oMath>
                </a14:m>
              </a:p>
              <a:p>
                <a:pPr algn="l">
                  <a:spcAft>
                    <a:spcPts val="800"/>
                  </a:spcAft>
                </a:pPr>
                <a:r>
                  <a:rPr sz="2000" b="1">
                    <a:solidFill>
                      <a:srgbClr val="1E293B"/>
                    </a:solidFill>
                    <a:latin typeface="Calibri"/>
                  </a:rPr>
                  <a:t>B. </a:t>
                </a:r>
                <a14:m>
                  <m:oMath xmlns:m="http://schemas.openxmlformats.org/officeDocument/2006/math">
                    <m:r>
                      <a:rPr lang="vi-VN" sz="2000" b="1">
                        <a:solidFill>
                          <a:srgbClr val="1E293B"/>
                        </a:solidFill>
                        <a:latin typeface="Cambria Math" panose="02040503050406030204" pitchFamily="18" charset="0"/>
                      </a:rPr>
                      <m:t>{1;2}⊂A</m:t>
                    </m:r>
                  </m:oMath>
                </a14:m>
              </a:p>
              <a:p>
                <a:pPr algn="l">
                  <a:spcAft>
                    <a:spcPts val="800"/>
                  </a:spcAft>
                </a:pPr>
                <a:r>
                  <a:rPr sz="2000" b="1">
                    <a:solidFill>
                      <a:srgbClr val="1E293B"/>
                    </a:solidFill>
                    <a:latin typeface="Calibri"/>
                  </a:rPr>
                  <a:t>C. </a:t>
                </a:r>
                <a14:m>
                  <m:oMath xmlns:m="http://schemas.openxmlformats.org/officeDocument/2006/math">
                    <m:r>
                      <a:rPr lang="vi-VN" sz="2000" b="1">
                        <a:solidFill>
                          <a:srgbClr val="1E293B"/>
                        </a:solidFill>
                        <a:latin typeface="Cambria Math" panose="02040503050406030204" pitchFamily="18" charset="0"/>
                      </a:rPr>
                      <m:t>{1}∈A</m:t>
                    </m:r>
                  </m:oMath>
                </a14:m>
              </a:p>
              <a:p>
                <a:pPr algn="l">
                  <a:spcAft>
                    <a:spcPts val="800"/>
                  </a:spcAft>
                </a:pPr>
                <a:r>
                  <a:rPr sz="2000" b="1">
                    <a:solidFill>
                      <a:srgbClr val="1E293B"/>
                    </a:solidFill>
                    <a:latin typeface="Calibri"/>
                  </a:rPr>
                  <a:t>D. </a:t>
                </a:r>
                <a14:m>
                  <m:oMath xmlns:m="http://schemas.openxmlformats.org/officeDocument/2006/math">
                    <m:r>
                      <a:rPr lang="vi-VN" sz="2000" b="1">
                        <a:solidFill>
                          <a:srgbClr val="1E293B"/>
                        </a:solidFill>
                        <a:latin typeface="Cambria Math" panose="02040503050406030204" pitchFamily="18" charset="0"/>
                      </a:rPr>
                      <m:t>∅∈A</m:t>
                    </m:r>
                  </m:oMath>
                </a14:m>
              </a:p>
            </p:txBody>
          </p:sp>
        </mc:Choice>
        <mc:Fallback>
          <p:sp>
            <p:nvSpPr>
              <p:cNvPr id="7" name="TextBox 6"/>
              <p:cNvSpPr txBox="1"/>
              <p:nvPr/>
            </p:nvSpPr>
            <p:spPr>
              <a:xfrm>
                <a:off x="731520" y="1463040"/>
                <a:ext cx="10789920" cy="4754880"/>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Cho tập hợp </a:t>
                </a:r>
                <a:r>
                  <a:rPr lang="vi-VN"/>
                  <a:t>A=\{1;2;3\}</a:t>
                </a:r>
                <a:r>
                  <a:rPr sz="2000" b="1">
                    <a:solidFill>
                      <a:srgbClr val="1E293B"/>
                    </a:solidFill>
                    <a:latin typeface="Calibri"/>
                  </a:rPr>
                  <a:t>. Khẳng định nào sau đây đúng?</a:t>
                </a:r>
              </a:p>
              <a:p>
                <a:pPr algn="l">
                  <a:spcAft>
                    <a:spcPts val="800"/>
                  </a:spcAft>
                </a:pPr>
                <a:r>
                  <a:rPr sz="2000" b="1">
                    <a:solidFill>
                      <a:srgbClr val="1E293B"/>
                    </a:solidFill>
                    <a:latin typeface="Calibri"/>
                  </a:rPr>
                  <a:t>A. </a:t>
                </a:r>
                <a:r>
                  <a:rPr lang="vi-VN"/>
                  <a:t>1\subset A</a:t>
                </a:r>
              </a:p>
              <a:p>
                <a:pPr algn="l">
                  <a:spcAft>
                    <a:spcPts val="800"/>
                  </a:spcAft>
                </a:pPr>
                <a:r>
                  <a:rPr sz="2000" b="1">
                    <a:solidFill>
                      <a:srgbClr val="1E293B"/>
                    </a:solidFill>
                    <a:latin typeface="Calibri"/>
                  </a:rPr>
                  <a:t>B. </a:t>
                </a:r>
                <a:r>
                  <a:rPr lang="vi-VN"/>
                  <a:t>\{1;2\}\subset A</a:t>
                </a:r>
              </a:p>
              <a:p>
                <a:pPr algn="l">
                  <a:spcAft>
                    <a:spcPts val="800"/>
                  </a:spcAft>
                </a:pPr>
                <a:r>
                  <a:rPr sz="2000" b="1">
                    <a:solidFill>
                      <a:srgbClr val="1E293B"/>
                    </a:solidFill>
                    <a:latin typeface="Calibri"/>
                  </a:rPr>
                  <a:t>C. </a:t>
                </a:r>
                <a:r>
                  <a:rPr lang="vi-VN"/>
                  <a:t>\{1\}\in A</a:t>
                </a:r>
              </a:p>
              <a:p>
                <a:pPr algn="l">
                  <a:spcAft>
                    <a:spcPts val="800"/>
                  </a:spcAft>
                </a:pPr>
                <a:r>
                  <a:rPr sz="2000" b="1">
                    <a:solidFill>
                      <a:srgbClr val="1E293B"/>
                    </a:solidFill>
                    <a:latin typeface="Calibri"/>
                  </a:rPr>
                  <a:t>D. </a:t>
                </a:r>
                <a:r>
                  <a:rPr lang="vi-VN"/>
                  <a:t>\varnothing\in A</a:t>
                </a:r>
              </a:p>
            </p:txBody>
          </p:sp>
        </mc:Fallback>
      </mc:AlternateContent>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ĐỀ MINH HỌA · PHẦN I · CÂU 7</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Đề cương Toán 10 · Giữa học kì I          16</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475488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000">
                    <a:solidFill>
                      <a:srgbClr val="1E293B"/>
                    </a:solidFill>
                    <a:latin typeface="Calibri"/>
                  </a:rPr>
                  <a:t>Đáp án B.</a:t>
                </a:r>
              </a:p>
              <a:p>
                <a:pPr algn="l" marL="365760" indent="-365760">
                  <a:spcAft>
                    <a:spcPts val="800"/>
                  </a:spcAft>
                  <a:buClr>
                    <a:srgbClr val="1E40AF"/>
                  </a:buClr>
                  <a:buFont typeface="Arial"/>
                  <a:buChar char="•"/>
                </a:pPr>
                <a:r>
                  <a:rPr sz="2000">
                    <a:solidFill>
                      <a:srgbClr val="1E293B"/>
                    </a:solidFill>
                    <a:latin typeface="Calibri"/>
                  </a:rPr>
                  <a:t>Phần tử dùng kí hiệu </a:t>
                </a:r>
                <a14:m>
                  <m:oMath xmlns:m="http://schemas.openxmlformats.org/officeDocument/2006/math">
                    <m:r>
                      <a:rPr lang="vi-VN" sz="2000" b="0">
                        <a:solidFill>
                          <a:srgbClr val="1E293B"/>
                        </a:solidFill>
                        <a:latin typeface="Cambria Math" panose="02040503050406030204" pitchFamily="18" charset="0"/>
                      </a:rPr>
                      <m:t>∈</m:t>
                    </m:r>
                  </m:oMath>
                </a14:m>
                <a:r>
                  <a:rPr sz="2000">
                    <a:solidFill>
                      <a:srgbClr val="1E293B"/>
                    </a:solidFill>
                    <a:latin typeface="Calibri"/>
                  </a:rPr>
                  <a:t> (</a:t>
                </a:r>
                <a14:m>
                  <m:oMath xmlns:m="http://schemas.openxmlformats.org/officeDocument/2006/math">
                    <m:r>
                      <a:rPr lang="vi-VN" sz="2000" b="0">
                        <a:solidFill>
                          <a:srgbClr val="1E293B"/>
                        </a:solidFill>
                        <a:latin typeface="Cambria Math" panose="02040503050406030204" pitchFamily="18" charset="0"/>
                      </a:rPr>
                      <m:t>1∈A</m:t>
                    </m:r>
                  </m:oMath>
                </a14:m>
                <a:r>
                  <a:rPr sz="2000">
                    <a:solidFill>
                      <a:srgbClr val="1E293B"/>
                    </a:solidFill>
                    <a:latin typeface="Calibri"/>
                  </a:rPr>
                  <a:t>); tập hợp dùng kí hiệu </a:t>
                </a:r>
                <a14:m>
                  <m:oMath xmlns:m="http://schemas.openxmlformats.org/officeDocument/2006/math">
                    <m:r>
                      <a:rPr lang="vi-VN" sz="2000" b="0">
                        <a:solidFill>
                          <a:srgbClr val="1E293B"/>
                        </a:solidFill>
                        <a:latin typeface="Cambria Math" panose="02040503050406030204" pitchFamily="18" charset="0"/>
                      </a:rPr>
                      <m:t>⊂</m:t>
                    </m:r>
                  </m:oMath>
                </a14:m>
                <a:r>
                  <a:rPr sz="2000">
                    <a:solidFill>
                      <a:srgbClr val="1E293B"/>
                    </a:solidFill>
                    <a:latin typeface="Calibri"/>
                  </a:rPr>
                  <a:t> (</a:t>
                </a:r>
                <a14:m>
                  <m:oMath xmlns:m="http://schemas.openxmlformats.org/officeDocument/2006/math">
                    <m:r>
                      <a:rPr lang="vi-VN" sz="2000" b="0">
                        <a:solidFill>
                          <a:srgbClr val="1E293B"/>
                        </a:solidFill>
                        <a:latin typeface="Cambria Math" panose="02040503050406030204" pitchFamily="18" charset="0"/>
                      </a:rPr>
                      <m:t>{1;2}⊂A</m:t>
                    </m:r>
                  </m:oMath>
                </a14:m>
                <a:r>
                  <a:rPr sz="2000">
                    <a:solidFill>
                      <a:srgbClr val="1E293B"/>
                    </a:solidFill>
                    <a:latin typeface="Calibri"/>
                  </a:rPr>
                  <a:t>, </a:t>
                </a:r>
                <a14:m>
                  <m:oMath xmlns:m="http://schemas.openxmlformats.org/officeDocument/2006/math">
                    <m:r>
                      <a:rPr lang="vi-VN" sz="2000" b="0">
                        <a:solidFill>
                          <a:srgbClr val="1E293B"/>
                        </a:solidFill>
                        <a:latin typeface="Cambria Math" panose="02040503050406030204" pitchFamily="18" charset="0"/>
                      </a:rPr>
                      <m:t>∅⊂A</m:t>
                    </m:r>
                  </m:oMath>
                </a14:m>
                <a:r>
                  <a:rPr sz="2000">
                    <a:solidFill>
                      <a:srgbClr val="1E293B"/>
                    </a:solidFill>
                    <a:latin typeface="Calibri"/>
                  </a:rPr>
                  <a:t>). Chỉ khẳng định </a:t>
                </a:r>
                <a14:m>
                  <m:oMath xmlns:m="http://schemas.openxmlformats.org/officeDocument/2006/math">
                    <m:r>
                      <a:rPr lang="vi-VN" sz="2000" b="0">
                        <a:solidFill>
                          <a:srgbClr val="1E293B"/>
                        </a:solidFill>
                        <a:latin typeface="Cambria Math" panose="02040503050406030204" pitchFamily="18" charset="0"/>
                      </a:rPr>
                      <m:t>{1;2}⊂A</m:t>
                    </m:r>
                  </m:oMath>
                </a14:m>
                <a:r>
                  <a:rPr sz="2000">
                    <a:solidFill>
                      <a:srgbClr val="1E293B"/>
                    </a:solidFill>
                    <a:latin typeface="Calibri"/>
                  </a:rPr>
                  <a:t> đúng.</a:t>
                </a:r>
              </a:p>
            </p:txBody>
          </p:sp>
        </mc:Choice>
        <mc:Fallback>
          <p:sp>
            <p:nvSpPr>
              <p:cNvPr id="7" name="TextBox 6"/>
              <p:cNvSpPr txBox="1"/>
              <p:nvPr/>
            </p:nvSpPr>
            <p:spPr>
              <a:xfrm>
                <a:off x="731520" y="1463040"/>
                <a:ext cx="10789920" cy="475488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000">
                    <a:solidFill>
                      <a:srgbClr val="1E293B"/>
                    </a:solidFill>
                    <a:latin typeface="Calibri"/>
                  </a:rPr>
                  <a:t>Đáp án B.</a:t>
                </a:r>
              </a:p>
              <a:p>
                <a:pPr algn="l" marL="365760" indent="-365760">
                  <a:spcAft>
                    <a:spcPts val="800"/>
                  </a:spcAft>
                  <a:buClr>
                    <a:srgbClr val="1E40AF"/>
                  </a:buClr>
                  <a:buFont typeface="Arial"/>
                  <a:buChar char="•"/>
                </a:pPr>
                <a:r>
                  <a:rPr sz="2000">
                    <a:solidFill>
                      <a:srgbClr val="1E293B"/>
                    </a:solidFill>
                    <a:latin typeface="Calibri"/>
                  </a:rPr>
                  <a:t>Phần tử dùng kí hiệu </a:t>
                </a:r>
                <a:r>
                  <a:rPr lang="vi-VN"/>
                  <a:t>\in</a:t>
                </a:r>
                <a:r>
                  <a:rPr sz="2000">
                    <a:solidFill>
                      <a:srgbClr val="1E293B"/>
                    </a:solidFill>
                    <a:latin typeface="Calibri"/>
                  </a:rPr>
                  <a:t> (</a:t>
                </a:r>
                <a:r>
                  <a:rPr lang="vi-VN"/>
                  <a:t>1\in A</a:t>
                </a:r>
                <a:r>
                  <a:rPr sz="2000">
                    <a:solidFill>
                      <a:srgbClr val="1E293B"/>
                    </a:solidFill>
                    <a:latin typeface="Calibri"/>
                  </a:rPr>
                  <a:t>); tập hợp dùng kí hiệu </a:t>
                </a:r>
                <a:r>
                  <a:rPr lang="vi-VN"/>
                  <a:t>\subset</a:t>
                </a:r>
                <a:r>
                  <a:rPr sz="2000">
                    <a:solidFill>
                      <a:srgbClr val="1E293B"/>
                    </a:solidFill>
                    <a:latin typeface="Calibri"/>
                  </a:rPr>
                  <a:t> (</a:t>
                </a:r>
                <a:r>
                  <a:rPr lang="vi-VN"/>
                  <a:t>\{1;2\}\subset A</a:t>
                </a:r>
                <a:r>
                  <a:rPr sz="2000">
                    <a:solidFill>
                      <a:srgbClr val="1E293B"/>
                    </a:solidFill>
                    <a:latin typeface="Calibri"/>
                  </a:rPr>
                  <a:t>, </a:t>
                </a:r>
                <a:r>
                  <a:rPr lang="vi-VN"/>
                  <a:t>\varnothing\subset A</a:t>
                </a:r>
                <a:r>
                  <a:rPr sz="2000">
                    <a:solidFill>
                      <a:srgbClr val="1E293B"/>
                    </a:solidFill>
                    <a:latin typeface="Calibri"/>
                  </a:rPr>
                  <a:t>). Chỉ khẳng định </a:t>
                </a:r>
                <a:r>
                  <a:rPr lang="vi-VN"/>
                  <a:t>\{1;2\}\subset A</a:t>
                </a:r>
                <a:r>
                  <a:rPr sz="2000">
                    <a:solidFill>
                      <a:srgbClr val="1E293B"/>
                    </a:solidFill>
                    <a:latin typeface="Calibri"/>
                  </a:rPr>
                  <a:t> đúng.</a:t>
                </a:r>
              </a:p>
            </p:txBody>
          </p:sp>
        </mc:Fallback>
      </mc:AlternateContent>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ĐỀ MINH HỌA · PHẦN I · CÂU 8</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Đề cương Toán 10 · Giữa học kì I          17</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4754880"/>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Cặp số nào sau đây là một nghiệm của bất phương trình </a:t>
                </a:r>
                <a14:m>
                  <m:oMath xmlns:m="http://schemas.openxmlformats.org/officeDocument/2006/math">
                    <m:r>
                      <a:rPr lang="vi-VN" sz="2000" b="1">
                        <a:solidFill>
                          <a:srgbClr val="1E293B"/>
                        </a:solidFill>
                        <a:latin typeface="Cambria Math" panose="02040503050406030204" pitchFamily="18" charset="0"/>
                      </a:rPr>
                      <m:t>3x−2y&gt;4</m:t>
                    </m:r>
                  </m:oMath>
                </a14:m>
                <a:r>
                  <a:rPr sz="2000" b="1">
                    <a:solidFill>
                      <a:srgbClr val="1E293B"/>
                    </a:solidFill>
                    <a:latin typeface="Calibri"/>
                  </a:rPr>
                  <a:t>?</a:t>
                </a:r>
              </a:p>
              <a:p>
                <a:pPr algn="l">
                  <a:spcAft>
                    <a:spcPts val="800"/>
                  </a:spcAft>
                </a:pPr>
                <a:r>
                  <a:rPr sz="2000" b="1">
                    <a:solidFill>
                      <a:srgbClr val="1E293B"/>
                    </a:solidFill>
                    <a:latin typeface="Calibri"/>
                  </a:rPr>
                  <a:t>A. </a:t>
                </a:r>
                <a14:m>
                  <m:oMath xmlns:m="http://schemas.openxmlformats.org/officeDocument/2006/math">
                    <m:d>
                      <m:dPr>
                        <m:sepChr m:val=""/>
                      </m:dPr>
                      <m:e>
                        <m:r>
                          <a:rPr lang="vi-VN" sz="2000" b="1">
                            <a:solidFill>
                              <a:srgbClr val="1E293B"/>
                            </a:solidFill>
                            <a:latin typeface="Cambria Math" panose="02040503050406030204" pitchFamily="18" charset="0"/>
                          </a:rPr>
                          <m:t>2</m:t>
                        </m:r>
                        <m:r>
                          <a:rPr lang="vi-VN" sz="2000" b="1">
                            <a:solidFill>
                              <a:srgbClr val="1E293B"/>
                            </a:solidFill>
                            <a:latin typeface="Cambria Math" panose="02040503050406030204" pitchFamily="18" charset="0"/>
                          </a:rPr>
                          <m:t>;</m:t>
                        </m:r>
                        <m:r>
                          <a:rPr lang="vi-VN" sz="2000" b="1">
                            <a:solidFill>
                              <a:srgbClr val="1E293B"/>
                            </a:solidFill>
                            <a:latin typeface="Cambria Math" panose="02040503050406030204" pitchFamily="18" charset="0"/>
                          </a:rPr>
                          <m:t>1</m:t>
                        </m:r>
                      </m:e>
                    </m:d>
                  </m:oMath>
                </a14:m>
              </a:p>
              <a:p>
                <a:pPr algn="l">
                  <a:spcAft>
                    <a:spcPts val="800"/>
                  </a:spcAft>
                </a:pPr>
                <a:r>
                  <a:rPr sz="2000" b="1">
                    <a:solidFill>
                      <a:srgbClr val="1E293B"/>
                    </a:solidFill>
                    <a:latin typeface="Calibri"/>
                  </a:rPr>
                  <a:t>B. </a:t>
                </a:r>
                <a14:m>
                  <m:oMath xmlns:m="http://schemas.openxmlformats.org/officeDocument/2006/math">
                    <m:d>
                      <m:dPr>
                        <m:sepChr m:val=""/>
                      </m:dPr>
                      <m:e>
                        <m:r>
                          <a:rPr lang="vi-VN" sz="2000" b="1">
                            <a:solidFill>
                              <a:srgbClr val="1E293B"/>
                            </a:solidFill>
                            <a:latin typeface="Cambria Math" panose="02040503050406030204" pitchFamily="18" charset="0"/>
                          </a:rPr>
                          <m:t>1</m:t>
                        </m:r>
                        <m:r>
                          <a:rPr lang="vi-VN" sz="2000" b="1">
                            <a:solidFill>
                              <a:srgbClr val="1E293B"/>
                            </a:solidFill>
                            <a:latin typeface="Cambria Math" panose="02040503050406030204" pitchFamily="18" charset="0"/>
                          </a:rPr>
                          <m:t>;</m:t>
                        </m:r>
                        <m:r>
                          <a:rPr lang="vi-VN" sz="2000" b="1">
                            <a:solidFill>
                              <a:srgbClr val="1E293B"/>
                            </a:solidFill>
                            <a:latin typeface="Cambria Math" panose="02040503050406030204" pitchFamily="18" charset="0"/>
                          </a:rPr>
                          <m:t>−</m:t>
                        </m:r>
                        <m:r>
                          <a:rPr lang="vi-VN" sz="2000" b="1">
                            <a:solidFill>
                              <a:srgbClr val="1E293B"/>
                            </a:solidFill>
                            <a:latin typeface="Cambria Math" panose="02040503050406030204" pitchFamily="18" charset="0"/>
                          </a:rPr>
                          <m:t>1</m:t>
                        </m:r>
                      </m:e>
                    </m:d>
                  </m:oMath>
                </a14:m>
              </a:p>
              <a:p>
                <a:pPr algn="l">
                  <a:spcAft>
                    <a:spcPts val="800"/>
                  </a:spcAft>
                </a:pPr>
                <a:r>
                  <a:rPr sz="2000" b="1">
                    <a:solidFill>
                      <a:srgbClr val="1E293B"/>
                    </a:solidFill>
                    <a:latin typeface="Calibri"/>
                  </a:rPr>
                  <a:t>C. </a:t>
                </a:r>
                <a14:m>
                  <m:oMath xmlns:m="http://schemas.openxmlformats.org/officeDocument/2006/math">
                    <m:d>
                      <m:dPr>
                        <m:sepChr m:val=""/>
                      </m:dPr>
                      <m:e>
                        <m:r>
                          <a:rPr lang="vi-VN" sz="2000" b="1">
                            <a:solidFill>
                              <a:srgbClr val="1E293B"/>
                            </a:solidFill>
                            <a:latin typeface="Cambria Math" panose="02040503050406030204" pitchFamily="18" charset="0"/>
                          </a:rPr>
                          <m:t>0</m:t>
                        </m:r>
                        <m:r>
                          <a:rPr lang="vi-VN" sz="2000" b="1">
                            <a:solidFill>
                              <a:srgbClr val="1E293B"/>
                            </a:solidFill>
                            <a:latin typeface="Cambria Math" panose="02040503050406030204" pitchFamily="18" charset="0"/>
                          </a:rPr>
                          <m:t>;</m:t>
                        </m:r>
                        <m:r>
                          <a:rPr lang="vi-VN" sz="2000" b="1">
                            <a:solidFill>
                              <a:srgbClr val="1E293B"/>
                            </a:solidFill>
                            <a:latin typeface="Cambria Math" panose="02040503050406030204" pitchFamily="18" charset="0"/>
                          </a:rPr>
                          <m:t>−</m:t>
                        </m:r>
                        <m:r>
                          <a:rPr lang="vi-VN" sz="2000" b="1">
                            <a:solidFill>
                              <a:srgbClr val="1E293B"/>
                            </a:solidFill>
                            <a:latin typeface="Cambria Math" panose="02040503050406030204" pitchFamily="18" charset="0"/>
                          </a:rPr>
                          <m:t>2</m:t>
                        </m:r>
                      </m:e>
                    </m:d>
                  </m:oMath>
                </a14:m>
              </a:p>
              <a:p>
                <a:pPr algn="l">
                  <a:spcAft>
                    <a:spcPts val="800"/>
                  </a:spcAft>
                </a:pPr>
                <a:r>
                  <a:rPr sz="2000" b="1">
                    <a:solidFill>
                      <a:srgbClr val="1E293B"/>
                    </a:solidFill>
                    <a:latin typeface="Calibri"/>
                  </a:rPr>
                  <a:t>D. </a:t>
                </a:r>
                <a14:m>
                  <m:oMath xmlns:m="http://schemas.openxmlformats.org/officeDocument/2006/math">
                    <m:d>
                      <m:dPr>
                        <m:sepChr m:val=""/>
                      </m:dPr>
                      <m:e>
                        <m:r>
                          <a:rPr lang="vi-VN" sz="2000" b="1">
                            <a:solidFill>
                              <a:srgbClr val="1E293B"/>
                            </a:solidFill>
                            <a:latin typeface="Cambria Math" panose="02040503050406030204" pitchFamily="18" charset="0"/>
                          </a:rPr>
                          <m:t>−</m:t>
                        </m:r>
                        <m:r>
                          <a:rPr lang="vi-VN" sz="2000" b="1">
                            <a:solidFill>
                              <a:srgbClr val="1E293B"/>
                            </a:solidFill>
                            <a:latin typeface="Cambria Math" panose="02040503050406030204" pitchFamily="18" charset="0"/>
                          </a:rPr>
                          <m:t>1</m:t>
                        </m:r>
                        <m:r>
                          <a:rPr lang="vi-VN" sz="2000" b="1">
                            <a:solidFill>
                              <a:srgbClr val="1E293B"/>
                            </a:solidFill>
                            <a:latin typeface="Cambria Math" panose="02040503050406030204" pitchFamily="18" charset="0"/>
                          </a:rPr>
                          <m:t>;</m:t>
                        </m:r>
                        <m:r>
                          <a:rPr lang="vi-VN" sz="2000" b="1">
                            <a:solidFill>
                              <a:srgbClr val="1E293B"/>
                            </a:solidFill>
                            <a:latin typeface="Cambria Math" panose="02040503050406030204" pitchFamily="18" charset="0"/>
                          </a:rPr>
                          <m:t>2</m:t>
                        </m:r>
                      </m:e>
                    </m:d>
                  </m:oMath>
                </a14:m>
              </a:p>
            </p:txBody>
          </p:sp>
        </mc:Choice>
        <mc:Fallback>
          <p:sp>
            <p:nvSpPr>
              <p:cNvPr id="7" name="TextBox 6"/>
              <p:cNvSpPr txBox="1"/>
              <p:nvPr/>
            </p:nvSpPr>
            <p:spPr>
              <a:xfrm>
                <a:off x="731520" y="1463040"/>
                <a:ext cx="10789920" cy="4754880"/>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Cặp số nào sau đây là một nghiệm của bất phương trình </a:t>
                </a:r>
                <a:r>
                  <a:rPr lang="vi-VN"/>
                  <a:t>3x-2y&gt;4</a:t>
                </a:r>
                <a:r>
                  <a:rPr sz="2000" b="1">
                    <a:solidFill>
                      <a:srgbClr val="1E293B"/>
                    </a:solidFill>
                    <a:latin typeface="Calibri"/>
                  </a:rPr>
                  <a:t>?</a:t>
                </a:r>
              </a:p>
              <a:p>
                <a:pPr algn="l">
                  <a:spcAft>
                    <a:spcPts val="800"/>
                  </a:spcAft>
                </a:pPr>
                <a:r>
                  <a:rPr sz="2000" b="1">
                    <a:solidFill>
                      <a:srgbClr val="1E293B"/>
                    </a:solidFill>
                    <a:latin typeface="Calibri"/>
                  </a:rPr>
                  <a:t>A. </a:t>
                </a:r>
                <a:r>
                  <a:rPr lang="vi-VN"/>
                  <a:t>(2;1)</a:t>
                </a:r>
              </a:p>
              <a:p>
                <a:pPr algn="l">
                  <a:spcAft>
                    <a:spcPts val="800"/>
                  </a:spcAft>
                </a:pPr>
                <a:r>
                  <a:rPr sz="2000" b="1">
                    <a:solidFill>
                      <a:srgbClr val="1E293B"/>
                    </a:solidFill>
                    <a:latin typeface="Calibri"/>
                  </a:rPr>
                  <a:t>B. </a:t>
                </a:r>
                <a:r>
                  <a:rPr lang="vi-VN"/>
                  <a:t>(1;-1)</a:t>
                </a:r>
              </a:p>
              <a:p>
                <a:pPr algn="l">
                  <a:spcAft>
                    <a:spcPts val="800"/>
                  </a:spcAft>
                </a:pPr>
                <a:r>
                  <a:rPr sz="2000" b="1">
                    <a:solidFill>
                      <a:srgbClr val="1E293B"/>
                    </a:solidFill>
                    <a:latin typeface="Calibri"/>
                  </a:rPr>
                  <a:t>C. </a:t>
                </a:r>
                <a:r>
                  <a:rPr lang="vi-VN"/>
                  <a:t>(0;-2)</a:t>
                </a:r>
              </a:p>
              <a:p>
                <a:pPr algn="l">
                  <a:spcAft>
                    <a:spcPts val="800"/>
                  </a:spcAft>
                </a:pPr>
                <a:r>
                  <a:rPr sz="2000" b="1">
                    <a:solidFill>
                      <a:srgbClr val="1E293B"/>
                    </a:solidFill>
                    <a:latin typeface="Calibri"/>
                  </a:rPr>
                  <a:t>D. </a:t>
                </a:r>
                <a:r>
                  <a:rPr lang="vi-VN"/>
                  <a:t>(-1;2)</a:t>
                </a:r>
              </a:p>
            </p:txBody>
          </p:sp>
        </mc:Fallback>
      </mc:AlternateContent>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ĐỀ MINH HỌA · PHẦN I · CÂU 8</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Đề cương Toán 10 · Giữa học kì I          18</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475488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000">
                    <a:solidFill>
                      <a:srgbClr val="1E293B"/>
                    </a:solidFill>
                    <a:latin typeface="Calibri"/>
                  </a:rPr>
                  <a:t>Đáp án B.</a:t>
                </a:r>
              </a:p>
              <a:p>
                <a:pPr algn="l" marL="365760" indent="-365760">
                  <a:spcAft>
                    <a:spcPts val="800"/>
                  </a:spcAft>
                  <a:buClr>
                    <a:srgbClr val="1E40AF"/>
                  </a:buClr>
                  <a:buFont typeface="Arial"/>
                  <a:buChar char="•"/>
                </a:pPr>
                <a:r>
                  <a:rPr sz="2000">
                    <a:solidFill>
                      <a:srgbClr val="1E293B"/>
                    </a:solidFill>
                    <a:latin typeface="Calibri"/>
                  </a:rPr>
                  <a:t>Thay </a:t>
                </a:r>
                <a14:m>
                  <m:oMath xmlns:m="http://schemas.openxmlformats.org/officeDocument/2006/math">
                    <m:d>
                      <m:dPr>
                        <m:sepChr m:val=""/>
                      </m:dPr>
                      <m:e>
                        <m:r>
                          <a:rPr lang="vi-VN" sz="2000" b="0">
                            <a:solidFill>
                              <a:srgbClr val="1E293B"/>
                            </a:solidFill>
                            <a:latin typeface="Cambria Math" panose="02040503050406030204" pitchFamily="18" charset="0"/>
                          </a:rPr>
                          <m:t>1</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1</m:t>
                        </m:r>
                      </m:e>
                    </m:d>
                  </m:oMath>
                </a14:m>
                <a:r>
                  <a:rPr sz="2000">
                    <a:solidFill>
                      <a:srgbClr val="1E293B"/>
                    </a:solidFill>
                    <a:latin typeface="Calibri"/>
                  </a:rPr>
                  <a:t>: </a:t>
                </a:r>
                <a14:m>
                  <m:oMath xmlns:m="http://schemas.openxmlformats.org/officeDocument/2006/math">
                    <m:r>
                      <a:rPr lang="vi-VN" sz="2000" b="0">
                        <a:solidFill>
                          <a:srgbClr val="1E293B"/>
                        </a:solidFill>
                        <a:latin typeface="Cambria Math" panose="02040503050406030204" pitchFamily="18" charset="0"/>
                      </a:rPr>
                      <m:t>3·1−2·(−1)=5&gt;4</m:t>
                    </m:r>
                  </m:oMath>
                </a14:m>
                <a:r>
                  <a:rPr sz="2000">
                    <a:solidFill>
                      <a:srgbClr val="1E293B"/>
                    </a:solidFill>
                    <a:latin typeface="Calibri"/>
                  </a:rPr>
                  <a:t> (đúng). Với </a:t>
                </a:r>
                <a14:m>
                  <m:oMath xmlns:m="http://schemas.openxmlformats.org/officeDocument/2006/math">
                    <m:d>
                      <m:dPr>
                        <m:sepChr m:val=""/>
                      </m:dPr>
                      <m:e>
                        <m:r>
                          <a:rPr lang="vi-VN" sz="2000" b="0">
                            <a:solidFill>
                              <a:srgbClr val="1E293B"/>
                            </a:solidFill>
                            <a:latin typeface="Cambria Math" panose="02040503050406030204" pitchFamily="18" charset="0"/>
                          </a:rPr>
                          <m:t>2</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1</m:t>
                        </m:r>
                      </m:e>
                    </m:d>
                  </m:oMath>
                </a14:m>
                <a:r>
                  <a:rPr sz="2000">
                    <a:solidFill>
                      <a:srgbClr val="1E293B"/>
                    </a:solidFill>
                    <a:latin typeface="Calibri"/>
                  </a:rPr>
                  <a:t> và </a:t>
                </a:r>
                <a14:m>
                  <m:oMath xmlns:m="http://schemas.openxmlformats.org/officeDocument/2006/math">
                    <m:d>
                      <m:dPr>
                        <m:sepChr m:val=""/>
                      </m:dPr>
                      <m:e>
                        <m:r>
                          <a:rPr lang="vi-VN" sz="2000" b="0">
                            <a:solidFill>
                              <a:srgbClr val="1E293B"/>
                            </a:solidFill>
                            <a:latin typeface="Cambria Math" panose="02040503050406030204" pitchFamily="18" charset="0"/>
                          </a:rPr>
                          <m:t>0</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2</m:t>
                        </m:r>
                      </m:e>
                    </m:d>
                  </m:oMath>
                </a14:m>
                <a:r>
                  <a:rPr sz="2000">
                    <a:solidFill>
                      <a:srgbClr val="1E293B"/>
                    </a:solidFill>
                    <a:latin typeface="Calibri"/>
                  </a:rPr>
                  <a:t> ta được </a:t>
                </a:r>
                <a14:m>
                  <m:oMath xmlns:m="http://schemas.openxmlformats.org/officeDocument/2006/math">
                    <m:r>
                      <a:rPr lang="vi-VN" sz="2000" b="0">
                        <a:solidFill>
                          <a:srgbClr val="1E293B"/>
                        </a:solidFill>
                        <a:latin typeface="Cambria Math" panose="02040503050406030204" pitchFamily="18" charset="0"/>
                      </a:rPr>
                      <m:t>4&gt;4</m:t>
                    </m:r>
                  </m:oMath>
                </a14:m>
                <a:r>
                  <a:rPr sz="2000">
                    <a:solidFill>
                      <a:srgbClr val="1E293B"/>
                    </a:solidFill>
                    <a:latin typeface="Calibri"/>
                  </a:rPr>
                  <a:t> (sai); với </a:t>
                </a:r>
                <a14:m>
                  <m:oMath xmlns:m="http://schemas.openxmlformats.org/officeDocument/2006/math">
                    <m:d>
                      <m:dPr>
                        <m:sepChr m:val=""/>
                      </m:dPr>
                      <m:e>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1</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2</m:t>
                        </m:r>
                      </m:e>
                    </m:d>
                  </m:oMath>
                </a14:m>
                <a:r>
                  <a:rPr sz="2000">
                    <a:solidFill>
                      <a:srgbClr val="1E293B"/>
                    </a:solidFill>
                    <a:latin typeface="Calibri"/>
                  </a:rPr>
                  <a:t> ta được </a:t>
                </a:r>
                <a14:m>
                  <m:oMath xmlns:m="http://schemas.openxmlformats.org/officeDocument/2006/math">
                    <m:r>
                      <a:rPr lang="vi-VN" sz="2000" b="0">
                        <a:solidFill>
                          <a:srgbClr val="1E293B"/>
                        </a:solidFill>
                        <a:latin typeface="Cambria Math" panose="02040503050406030204" pitchFamily="18" charset="0"/>
                      </a:rPr>
                      <m:t>−7&gt;4</m:t>
                    </m:r>
                  </m:oMath>
                </a14:m>
                <a:r>
                  <a:rPr sz="2000">
                    <a:solidFill>
                      <a:srgbClr val="1E293B"/>
                    </a:solidFill>
                    <a:latin typeface="Calibri"/>
                  </a:rPr>
                  <a:t> (sai).</a:t>
                </a:r>
              </a:p>
            </p:txBody>
          </p:sp>
        </mc:Choice>
        <mc:Fallback>
          <p:sp>
            <p:nvSpPr>
              <p:cNvPr id="7" name="TextBox 6"/>
              <p:cNvSpPr txBox="1"/>
              <p:nvPr/>
            </p:nvSpPr>
            <p:spPr>
              <a:xfrm>
                <a:off x="731520" y="1463040"/>
                <a:ext cx="10789920" cy="475488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000">
                    <a:solidFill>
                      <a:srgbClr val="1E293B"/>
                    </a:solidFill>
                    <a:latin typeface="Calibri"/>
                  </a:rPr>
                  <a:t>Đáp án B.</a:t>
                </a:r>
              </a:p>
              <a:p>
                <a:pPr algn="l" marL="365760" indent="-365760">
                  <a:spcAft>
                    <a:spcPts val="800"/>
                  </a:spcAft>
                  <a:buClr>
                    <a:srgbClr val="1E40AF"/>
                  </a:buClr>
                  <a:buFont typeface="Arial"/>
                  <a:buChar char="•"/>
                </a:pPr>
                <a:r>
                  <a:rPr sz="2000">
                    <a:solidFill>
                      <a:srgbClr val="1E293B"/>
                    </a:solidFill>
                    <a:latin typeface="Calibri"/>
                  </a:rPr>
                  <a:t>Thay </a:t>
                </a:r>
                <a:r>
                  <a:rPr lang="vi-VN"/>
                  <a:t>(1;-1)</a:t>
                </a:r>
                <a:r>
                  <a:rPr sz="2000">
                    <a:solidFill>
                      <a:srgbClr val="1E293B"/>
                    </a:solidFill>
                    <a:latin typeface="Calibri"/>
                  </a:rPr>
                  <a:t>: </a:t>
                </a:r>
                <a:r>
                  <a:rPr lang="vi-VN"/>
                  <a:t>3\cdot 1-2\cdot(-1)=5&gt;4</a:t>
                </a:r>
                <a:r>
                  <a:rPr sz="2000">
                    <a:solidFill>
                      <a:srgbClr val="1E293B"/>
                    </a:solidFill>
                    <a:latin typeface="Calibri"/>
                  </a:rPr>
                  <a:t> (đúng). Với </a:t>
                </a:r>
                <a:r>
                  <a:rPr lang="vi-VN"/>
                  <a:t>(2;1)</a:t>
                </a:r>
                <a:r>
                  <a:rPr sz="2000">
                    <a:solidFill>
                      <a:srgbClr val="1E293B"/>
                    </a:solidFill>
                    <a:latin typeface="Calibri"/>
                  </a:rPr>
                  <a:t> và </a:t>
                </a:r>
                <a:r>
                  <a:rPr lang="vi-VN"/>
                  <a:t>(0;-2)</a:t>
                </a:r>
                <a:r>
                  <a:rPr sz="2000">
                    <a:solidFill>
                      <a:srgbClr val="1E293B"/>
                    </a:solidFill>
                    <a:latin typeface="Calibri"/>
                  </a:rPr>
                  <a:t> ta được </a:t>
                </a:r>
                <a:r>
                  <a:rPr lang="vi-VN"/>
                  <a:t>4&gt;4</a:t>
                </a:r>
                <a:r>
                  <a:rPr sz="2000">
                    <a:solidFill>
                      <a:srgbClr val="1E293B"/>
                    </a:solidFill>
                    <a:latin typeface="Calibri"/>
                  </a:rPr>
                  <a:t> (sai); với </a:t>
                </a:r>
                <a:r>
                  <a:rPr lang="vi-VN"/>
                  <a:t>(-1;2)</a:t>
                </a:r>
                <a:r>
                  <a:rPr sz="2000">
                    <a:solidFill>
                      <a:srgbClr val="1E293B"/>
                    </a:solidFill>
                    <a:latin typeface="Calibri"/>
                  </a:rPr>
                  <a:t> ta được </a:t>
                </a:r>
                <a:r>
                  <a:rPr lang="vi-VN"/>
                  <a:t>-7&gt;4</a:t>
                </a:r>
                <a:r>
                  <a:rPr sz="2000">
                    <a:solidFill>
                      <a:srgbClr val="1E293B"/>
                    </a:solidFill>
                    <a:latin typeface="Calibri"/>
                  </a:rPr>
                  <a:t> (sai).</a:t>
                </a:r>
              </a:p>
            </p:txBody>
          </p:sp>
        </mc:Fallback>
      </mc:AlternateContent>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ĐỀ MINH HỌA · PHẦN I · CÂU 9</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Đề cương Toán 10 · Giữa học kì I          19</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4754880"/>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Tam giác </a:t>
                </a:r>
                <a14:m>
                  <m:oMath xmlns:m="http://schemas.openxmlformats.org/officeDocument/2006/math">
                    <m:r>
                      <a:rPr lang="vi-VN" sz="2000" b="1">
                        <a:solidFill>
                          <a:srgbClr val="1E293B"/>
                        </a:solidFill>
                        <a:latin typeface="Cambria Math" panose="02040503050406030204" pitchFamily="18" charset="0"/>
                      </a:rPr>
                      <m:t>ABC</m:t>
                    </m:r>
                  </m:oMath>
                </a14:m>
                <a:r>
                  <a:rPr sz="2000" b="1">
                    <a:solidFill>
                      <a:srgbClr val="1E293B"/>
                    </a:solidFill>
                    <a:latin typeface="Calibri"/>
                  </a:rPr>
                  <a:t> có </a:t>
                </a:r>
                <a14:m>
                  <m:oMath xmlns:m="http://schemas.openxmlformats.org/officeDocument/2006/math">
                    <m:limUpp>
                      <m:e>
                        <m:r>
                          <a:rPr lang="vi-VN" sz="2000" b="1">
                            <a:solidFill>
                              <a:srgbClr val="1E293B"/>
                            </a:solidFill>
                            <a:latin typeface="Cambria Math" panose="02040503050406030204" pitchFamily="18" charset="0"/>
                          </a:rPr>
                          <m:t>B</m:t>
                        </m:r>
                      </m:e>
                      <m:lim>
                        <m:r>
                          <a:rPr lang="vi-VN" sz="2000" b="1">
                            <a:solidFill>
                              <a:srgbClr val="1E293B"/>
                            </a:solidFill>
                            <a:latin typeface="Cambria Math" panose="02040503050406030204" pitchFamily="18" charset="0"/>
                          </a:rPr>
                          <m:t>^</m:t>
                        </m:r>
                      </m:lim>
                    </m:limUpp>
                    <m:r>
                      <a:rPr lang="vi-VN" sz="2000" b="1">
                        <a:solidFill>
                          <a:srgbClr val="1E293B"/>
                        </a:solidFill>
                        <a:latin typeface="Cambria Math" panose="02040503050406030204" pitchFamily="18" charset="0"/>
                      </a:rPr>
                      <m:t>=</m:t>
                    </m:r>
                    <m:sSup>
                      <m:e>
                        <m:r>
                          <a:rPr lang="vi-VN" sz="2000" b="1">
                            <a:solidFill>
                              <a:srgbClr val="1E293B"/>
                            </a:solidFill>
                            <a:latin typeface="Cambria Math" panose="02040503050406030204" pitchFamily="18" charset="0"/>
                          </a:rPr>
                          <m:t>135</m:t>
                        </m:r>
                      </m:e>
                      <m:sup>
                        <m:r>
                          <a:rPr lang="vi-VN" sz="2000" b="1">
                            <a:solidFill>
                              <a:srgbClr val="1E293B"/>
                            </a:solidFill>
                            <a:latin typeface="Cambria Math" panose="02040503050406030204" pitchFamily="18" charset="0"/>
                          </a:rPr>
                          <m:t>∘</m:t>
                        </m:r>
                      </m:sup>
                    </m:sSup>
                  </m:oMath>
                </a14:m>
                <a:r>
                  <a:rPr sz="2000" b="1">
                    <a:solidFill>
                      <a:srgbClr val="1E293B"/>
                    </a:solidFill>
                    <a:latin typeface="Calibri"/>
                  </a:rPr>
                  <a:t>, </a:t>
                </a:r>
                <a14:m>
                  <m:oMath xmlns:m="http://schemas.openxmlformats.org/officeDocument/2006/math">
                    <m:r>
                      <a:rPr lang="vi-VN" sz="2000" b="1">
                        <a:solidFill>
                          <a:srgbClr val="1E293B"/>
                        </a:solidFill>
                        <a:latin typeface="Cambria Math" panose="02040503050406030204" pitchFamily="18" charset="0"/>
                      </a:rPr>
                      <m:t>a=4</m:t>
                    </m:r>
                  </m:oMath>
                </a14:m>
                <a:r>
                  <a:rPr sz="2000" b="1">
                    <a:solidFill>
                      <a:srgbClr val="1E293B"/>
                    </a:solidFill>
                    <a:latin typeface="Calibri"/>
                  </a:rPr>
                  <a:t>, </a:t>
                </a:r>
                <a14:m>
                  <m:oMath xmlns:m="http://schemas.openxmlformats.org/officeDocument/2006/math">
                    <m:r>
                      <a:rPr lang="vi-VN" sz="2000" b="1">
                        <a:solidFill>
                          <a:srgbClr val="1E293B"/>
                        </a:solidFill>
                        <a:latin typeface="Cambria Math" panose="02040503050406030204" pitchFamily="18" charset="0"/>
                      </a:rPr>
                      <m:t>c=2</m:t>
                    </m:r>
                  </m:oMath>
                </a14:m>
                <a:r>
                  <a:rPr sz="2000" b="1">
                    <a:solidFill>
                      <a:srgbClr val="1E293B"/>
                    </a:solidFill>
                    <a:latin typeface="Calibri"/>
                  </a:rPr>
                  <a:t>. Diện tích tam giác bằng</a:t>
                </a:r>
              </a:p>
              <a:p>
                <a:pPr algn="l">
                  <a:spcAft>
                    <a:spcPts val="800"/>
                  </a:spcAft>
                </a:pPr>
                <a:r>
                  <a:rPr sz="2000" b="1">
                    <a:solidFill>
                      <a:srgbClr val="1E293B"/>
                    </a:solidFill>
                    <a:latin typeface="Calibri"/>
                  </a:rPr>
                  <a:t>A. </a:t>
                </a:r>
                <a14:m>
                  <m:oMath xmlns:m="http://schemas.openxmlformats.org/officeDocument/2006/math">
                    <m:r>
                      <a:rPr lang="vi-VN" sz="2000" b="1">
                        <a:solidFill>
                          <a:srgbClr val="1E293B"/>
                        </a:solidFill>
                        <a:latin typeface="Cambria Math" panose="02040503050406030204" pitchFamily="18" charset="0"/>
                      </a:rPr>
                      <m:t>2</m:t>
                    </m:r>
                    <m:rad>
                      <m:radPr>
                        <m:degHide m:val="on"/>
                      </m:radPr>
                      <m:deg/>
                      <m:e>
                        <m:r>
                          <a:rPr lang="vi-VN" sz="2000" b="1">
                            <a:solidFill>
                              <a:srgbClr val="1E293B"/>
                            </a:solidFill>
                            <a:latin typeface="Cambria Math" panose="02040503050406030204" pitchFamily="18" charset="0"/>
                          </a:rPr>
                          <m:t>2</m:t>
                        </m:r>
                      </m:e>
                    </m:rad>
                  </m:oMath>
                </a14:m>
              </a:p>
              <a:p>
                <a:pPr algn="l">
                  <a:spcAft>
                    <a:spcPts val="800"/>
                  </a:spcAft>
                </a:pPr>
                <a:r>
                  <a:rPr sz="2000" b="1">
                    <a:solidFill>
                      <a:srgbClr val="1E293B"/>
                    </a:solidFill>
                    <a:latin typeface="Calibri"/>
                  </a:rPr>
                  <a:t>B. </a:t>
                </a:r>
                <a14:m>
                  <m:oMath xmlns:m="http://schemas.openxmlformats.org/officeDocument/2006/math">
                    <m:r>
                      <a:rPr lang="vi-VN" sz="2000" b="1">
                        <a:solidFill>
                          <a:srgbClr val="1E293B"/>
                        </a:solidFill>
                        <a:latin typeface="Cambria Math" panose="02040503050406030204" pitchFamily="18" charset="0"/>
                      </a:rPr>
                      <m:t>4</m:t>
                    </m:r>
                    <m:rad>
                      <m:radPr>
                        <m:degHide m:val="on"/>
                      </m:radPr>
                      <m:deg/>
                      <m:e>
                        <m:r>
                          <a:rPr lang="vi-VN" sz="2000" b="1">
                            <a:solidFill>
                              <a:srgbClr val="1E293B"/>
                            </a:solidFill>
                            <a:latin typeface="Cambria Math" panose="02040503050406030204" pitchFamily="18" charset="0"/>
                          </a:rPr>
                          <m:t>2</m:t>
                        </m:r>
                      </m:e>
                    </m:rad>
                  </m:oMath>
                </a14:m>
              </a:p>
              <a:p>
                <a:pPr algn="l">
                  <a:spcAft>
                    <a:spcPts val="800"/>
                  </a:spcAft>
                </a:pPr>
                <a:r>
                  <a:rPr sz="2000" b="1">
                    <a:solidFill>
                      <a:srgbClr val="1E293B"/>
                    </a:solidFill>
                    <a:latin typeface="Calibri"/>
                  </a:rPr>
                  <a:t>C. </a:t>
                </a:r>
                <a14:m>
                  <m:oMath xmlns:m="http://schemas.openxmlformats.org/officeDocument/2006/math">
                    <m:rad>
                      <m:radPr>
                        <m:degHide m:val="on"/>
                      </m:radPr>
                      <m:deg/>
                      <m:e>
                        <m:r>
                          <a:rPr lang="vi-VN" sz="2000" b="1">
                            <a:solidFill>
                              <a:srgbClr val="1E293B"/>
                            </a:solidFill>
                            <a:latin typeface="Cambria Math" panose="02040503050406030204" pitchFamily="18" charset="0"/>
                          </a:rPr>
                          <m:t>2</m:t>
                        </m:r>
                      </m:e>
                    </m:rad>
                  </m:oMath>
                </a14:m>
              </a:p>
              <a:p>
                <a:pPr algn="l">
                  <a:spcAft>
                    <a:spcPts val="800"/>
                  </a:spcAft>
                </a:pPr>
                <a:r>
                  <a:rPr sz="2000" b="1">
                    <a:solidFill>
                      <a:srgbClr val="1E293B"/>
                    </a:solidFill>
                    <a:latin typeface="Calibri"/>
                  </a:rPr>
                  <a:t>D. </a:t>
                </a:r>
                <a14:m>
                  <m:oMath xmlns:m="http://schemas.openxmlformats.org/officeDocument/2006/math">
                    <m:r>
                      <a:rPr lang="vi-VN" sz="2000" b="1">
                        <a:solidFill>
                          <a:srgbClr val="1E293B"/>
                        </a:solidFill>
                        <a:latin typeface="Cambria Math" panose="02040503050406030204" pitchFamily="18" charset="0"/>
                      </a:rPr>
                      <m:t>4</m:t>
                    </m:r>
                  </m:oMath>
                </a14:m>
              </a:p>
            </p:txBody>
          </p:sp>
        </mc:Choice>
        <mc:Fallback>
          <p:sp>
            <p:nvSpPr>
              <p:cNvPr id="7" name="TextBox 6"/>
              <p:cNvSpPr txBox="1"/>
              <p:nvPr/>
            </p:nvSpPr>
            <p:spPr>
              <a:xfrm>
                <a:off x="731520" y="1463040"/>
                <a:ext cx="10789920" cy="4754880"/>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Tam giác </a:t>
                </a:r>
                <a:r>
                  <a:rPr lang="vi-VN"/>
                  <a:t>ABC</a:t>
                </a:r>
                <a:r>
                  <a:rPr sz="2000" b="1">
                    <a:solidFill>
                      <a:srgbClr val="1E293B"/>
                    </a:solidFill>
                    <a:latin typeface="Calibri"/>
                  </a:rPr>
                  <a:t> có </a:t>
                </a:r>
                <a:r>
                  <a:rPr lang="vi-VN"/>
                  <a:t>\widehat{B}=135^\circ</a:t>
                </a:r>
                <a:r>
                  <a:rPr sz="2000" b="1">
                    <a:solidFill>
                      <a:srgbClr val="1E293B"/>
                    </a:solidFill>
                    <a:latin typeface="Calibri"/>
                  </a:rPr>
                  <a:t>, </a:t>
                </a:r>
                <a:r>
                  <a:rPr lang="vi-VN"/>
                  <a:t>a=4</a:t>
                </a:r>
                <a:r>
                  <a:rPr sz="2000" b="1">
                    <a:solidFill>
                      <a:srgbClr val="1E293B"/>
                    </a:solidFill>
                    <a:latin typeface="Calibri"/>
                  </a:rPr>
                  <a:t>, </a:t>
                </a:r>
                <a:r>
                  <a:rPr lang="vi-VN"/>
                  <a:t>c=2</a:t>
                </a:r>
                <a:r>
                  <a:rPr sz="2000" b="1">
                    <a:solidFill>
                      <a:srgbClr val="1E293B"/>
                    </a:solidFill>
                    <a:latin typeface="Calibri"/>
                  </a:rPr>
                  <a:t>. Diện tích tam giác bằng</a:t>
                </a:r>
              </a:p>
              <a:p>
                <a:pPr algn="l">
                  <a:spcAft>
                    <a:spcPts val="800"/>
                  </a:spcAft>
                </a:pPr>
                <a:r>
                  <a:rPr sz="2000" b="1">
                    <a:solidFill>
                      <a:srgbClr val="1E293B"/>
                    </a:solidFill>
                    <a:latin typeface="Calibri"/>
                  </a:rPr>
                  <a:t>A. </a:t>
                </a:r>
                <a:r>
                  <a:rPr lang="vi-VN"/>
                  <a:t>2\sqrt{2}</a:t>
                </a:r>
              </a:p>
              <a:p>
                <a:pPr algn="l">
                  <a:spcAft>
                    <a:spcPts val="800"/>
                  </a:spcAft>
                </a:pPr>
                <a:r>
                  <a:rPr sz="2000" b="1">
                    <a:solidFill>
                      <a:srgbClr val="1E293B"/>
                    </a:solidFill>
                    <a:latin typeface="Calibri"/>
                  </a:rPr>
                  <a:t>B. </a:t>
                </a:r>
                <a:r>
                  <a:rPr lang="vi-VN"/>
                  <a:t>4\sqrt{2}</a:t>
                </a:r>
              </a:p>
              <a:p>
                <a:pPr algn="l">
                  <a:spcAft>
                    <a:spcPts val="800"/>
                  </a:spcAft>
                </a:pPr>
                <a:r>
                  <a:rPr sz="2000" b="1">
                    <a:solidFill>
                      <a:srgbClr val="1E293B"/>
                    </a:solidFill>
                    <a:latin typeface="Calibri"/>
                  </a:rPr>
                  <a:t>C. </a:t>
                </a:r>
                <a:r>
                  <a:rPr lang="vi-VN"/>
                  <a:t>\sqrt{2}</a:t>
                </a:r>
              </a:p>
              <a:p>
                <a:pPr algn="l">
                  <a:spcAft>
                    <a:spcPts val="800"/>
                  </a:spcAft>
                </a:pPr>
                <a:r>
                  <a:rPr sz="2000" b="1">
                    <a:solidFill>
                      <a:srgbClr val="1E293B"/>
                    </a:solidFill>
                    <a:latin typeface="Calibri"/>
                  </a:rPr>
                  <a:t>D. </a:t>
                </a:r>
                <a:r>
                  <a:rPr lang="vi-VN"/>
                  <a:t>4</a:t>
                </a:r>
              </a:p>
            </p:txBody>
          </p:sp>
        </mc:Fallback>
      </mc:AlternateContent>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ĐỀ MINH HỌA · PHẦN I · CÂU 9</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Đề cương Toán 10 · Giữa học kì I          20</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475488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000">
                    <a:solidFill>
                      <a:srgbClr val="1E293B"/>
                    </a:solidFill>
                    <a:latin typeface="Calibri"/>
                  </a:rPr>
                  <a:t>Đáp án A.</a:t>
                </a:r>
              </a:p>
              <a:p>
                <a:pPr algn="l" marL="365760" indent="-365760">
                  <a:spcAft>
                    <a:spcPts val="800"/>
                  </a:spcAft>
                  <a:buClr>
                    <a:srgbClr val="1E40AF"/>
                  </a:buClr>
                  <a:buFont typeface="Arial"/>
                  <a:buChar char="•"/>
                </a:pPr>
                <a14:m>
                  <m:oMath xmlns:m="http://schemas.openxmlformats.org/officeDocument/2006/math">
                    <m:r>
                      <a:rPr lang="vi-VN" sz="2000" b="0">
                        <a:solidFill>
                          <a:srgbClr val="1E293B"/>
                        </a:solidFill>
                        <a:latin typeface="Cambria Math" panose="02040503050406030204" pitchFamily="18" charset="0"/>
                      </a:rPr>
                      <m:t>S=</m:t>
                    </m:r>
                    <m:f>
                      <m:fPr>
                        <m:type m:val="bar"/>
                      </m:fPr>
                      <m:num>
                        <m:r>
                          <a:rPr lang="vi-VN" sz="2000" b="0">
                            <a:solidFill>
                              <a:srgbClr val="1E293B"/>
                            </a:solidFill>
                            <a:latin typeface="Cambria Math" panose="02040503050406030204" pitchFamily="18" charset="0"/>
                          </a:rPr>
                          <m:t>1</m:t>
                        </m:r>
                      </m:num>
                      <m:den>
                        <m:r>
                          <a:rPr lang="vi-VN" sz="2000" b="0">
                            <a:solidFill>
                              <a:srgbClr val="1E293B"/>
                            </a:solidFill>
                            <a:latin typeface="Cambria Math" panose="02040503050406030204" pitchFamily="18" charset="0"/>
                          </a:rPr>
                          <m:t>2</m:t>
                        </m:r>
                      </m:den>
                    </m:f>
                    <m:r>
                      <a:rPr lang="vi-VN" sz="2000" b="0">
                        <a:solidFill>
                          <a:srgbClr val="1E293B"/>
                        </a:solidFill>
                        <a:latin typeface="Cambria Math" panose="02040503050406030204" pitchFamily="18" charset="0"/>
                      </a:rPr>
                      <m:t>ac</m:t>
                    </m:r>
                    <m:r>
                      <m:rPr>
                        <m:sty m:val="p"/>
                      </m:rPr>
                      <a:rPr lang="vi-VN" sz="2000" b="0">
                        <a:solidFill>
                          <a:srgbClr val="1E293B"/>
                        </a:solidFill>
                        <a:latin typeface="Cambria Math" panose="02040503050406030204" pitchFamily="18" charset="0"/>
                      </a:rPr>
                      <m:t>sin</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B=</m:t>
                    </m:r>
                    <m:f>
                      <m:fPr>
                        <m:type m:val="bar"/>
                      </m:fPr>
                      <m:num>
                        <m:r>
                          <a:rPr lang="vi-VN" sz="2000" b="0">
                            <a:solidFill>
                              <a:srgbClr val="1E293B"/>
                            </a:solidFill>
                            <a:latin typeface="Cambria Math" panose="02040503050406030204" pitchFamily="18" charset="0"/>
                          </a:rPr>
                          <m:t>1</m:t>
                        </m:r>
                      </m:num>
                      <m:den>
                        <m:r>
                          <a:rPr lang="vi-VN" sz="2000" b="0">
                            <a:solidFill>
                              <a:srgbClr val="1E293B"/>
                            </a:solidFill>
                            <a:latin typeface="Cambria Math" panose="02040503050406030204" pitchFamily="18" charset="0"/>
                          </a:rPr>
                          <m:t>2</m:t>
                        </m:r>
                      </m:den>
                    </m:f>
                    <m:r>
                      <a:rPr lang="vi-VN" sz="2000" b="0">
                        <a:solidFill>
                          <a:srgbClr val="1E293B"/>
                        </a:solidFill>
                        <a:latin typeface="Cambria Math" panose="02040503050406030204" pitchFamily="18" charset="0"/>
                      </a:rPr>
                      <m:t>·4·2·</m:t>
                    </m:r>
                    <m:r>
                      <m:rPr>
                        <m:sty m:val="p"/>
                      </m:rPr>
                      <a:rPr lang="vi-VN" sz="2000" b="0">
                        <a:solidFill>
                          <a:srgbClr val="1E293B"/>
                        </a:solidFill>
                        <a:latin typeface="Cambria Math" panose="02040503050406030204" pitchFamily="18" charset="0"/>
                      </a:rPr>
                      <m:t>sin</m:t>
                    </m:r>
                    <m:r>
                      <m:rPr>
                        <m:sty m:val="p"/>
                      </m:rPr>
                      <a:rPr lang="vi-VN" sz="2000" b="0">
                        <a:solidFill>
                          <a:srgbClr val="1E293B"/>
                        </a:solidFill>
                        <a:latin typeface="Cambria Math" panose="02040503050406030204" pitchFamily="18" charset="0"/>
                      </a:rPr>
                      <m:t> </m:t>
                    </m:r>
                    <m:sSup>
                      <m:e>
                        <m:r>
                          <a:rPr lang="vi-VN" sz="2000" b="0">
                            <a:solidFill>
                              <a:srgbClr val="1E293B"/>
                            </a:solidFill>
                            <a:latin typeface="Cambria Math" panose="02040503050406030204" pitchFamily="18" charset="0"/>
                          </a:rPr>
                          <m:t>135</m:t>
                        </m:r>
                      </m:e>
                      <m:sup>
                        <m:r>
                          <a:rPr lang="vi-VN" sz="2000" b="0">
                            <a:solidFill>
                              <a:srgbClr val="1E293B"/>
                            </a:solidFill>
                            <a:latin typeface="Cambria Math" panose="02040503050406030204" pitchFamily="18" charset="0"/>
                          </a:rPr>
                          <m:t>∘</m:t>
                        </m:r>
                      </m:sup>
                    </m:sSup>
                    <m:r>
                      <a:rPr lang="vi-VN" sz="2000" b="0">
                        <a:solidFill>
                          <a:srgbClr val="1E293B"/>
                        </a:solidFill>
                        <a:latin typeface="Cambria Math" panose="02040503050406030204" pitchFamily="18" charset="0"/>
                      </a:rPr>
                      <m:t>=4·</m:t>
                    </m:r>
                    <m:f>
                      <m:fPr>
                        <m:type m:val="bar"/>
                      </m:fPr>
                      <m:num>
                        <m:rad>
                          <m:radPr>
                            <m:degHide m:val="on"/>
                          </m:radPr>
                          <m:deg/>
                          <m:e>
                            <m:r>
                              <a:rPr lang="vi-VN" sz="2000" b="0">
                                <a:solidFill>
                                  <a:srgbClr val="1E293B"/>
                                </a:solidFill>
                                <a:latin typeface="Cambria Math" panose="02040503050406030204" pitchFamily="18" charset="0"/>
                              </a:rPr>
                              <m:t>2</m:t>
                            </m:r>
                          </m:e>
                        </m:rad>
                      </m:num>
                      <m:den>
                        <m:r>
                          <a:rPr lang="vi-VN" sz="2000" b="0">
                            <a:solidFill>
                              <a:srgbClr val="1E293B"/>
                            </a:solidFill>
                            <a:latin typeface="Cambria Math" panose="02040503050406030204" pitchFamily="18" charset="0"/>
                          </a:rPr>
                          <m:t>2</m:t>
                        </m:r>
                      </m:den>
                    </m:f>
                    <m:r>
                      <a:rPr lang="vi-VN" sz="2000" b="0">
                        <a:solidFill>
                          <a:srgbClr val="1E293B"/>
                        </a:solidFill>
                        <a:latin typeface="Cambria Math" panose="02040503050406030204" pitchFamily="18" charset="0"/>
                      </a:rPr>
                      <m:t>=2</m:t>
                    </m:r>
                    <m:rad>
                      <m:radPr>
                        <m:degHide m:val="on"/>
                      </m:radPr>
                      <m:deg/>
                      <m:e>
                        <m:r>
                          <a:rPr lang="vi-VN" sz="2000" b="0">
                            <a:solidFill>
                              <a:srgbClr val="1E293B"/>
                            </a:solidFill>
                            <a:latin typeface="Cambria Math" panose="02040503050406030204" pitchFamily="18" charset="0"/>
                          </a:rPr>
                          <m:t>2</m:t>
                        </m:r>
                      </m:e>
                    </m:rad>
                  </m:oMath>
                </a14:m>
                <a:r>
                  <a:rPr sz="2000">
                    <a:solidFill>
                      <a:srgbClr val="1E293B"/>
                    </a:solidFill>
                    <a:latin typeface="Calibri"/>
                  </a:rPr>
                  <a:t>.</a:t>
                </a:r>
              </a:p>
            </p:txBody>
          </p:sp>
        </mc:Choice>
        <mc:Fallback>
          <p:sp>
            <p:nvSpPr>
              <p:cNvPr id="7" name="TextBox 6"/>
              <p:cNvSpPr txBox="1"/>
              <p:nvPr/>
            </p:nvSpPr>
            <p:spPr>
              <a:xfrm>
                <a:off x="731520" y="1463040"/>
                <a:ext cx="10789920" cy="475488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000">
                    <a:solidFill>
                      <a:srgbClr val="1E293B"/>
                    </a:solidFill>
                    <a:latin typeface="Calibri"/>
                  </a:rPr>
                  <a:t>Đáp án A.</a:t>
                </a:r>
              </a:p>
              <a:p>
                <a:pPr algn="l" marL="365760" indent="-365760">
                  <a:spcAft>
                    <a:spcPts val="800"/>
                  </a:spcAft>
                  <a:buClr>
                    <a:srgbClr val="1E40AF"/>
                  </a:buClr>
                  <a:buFont typeface="Arial"/>
                  <a:buChar char="•"/>
                </a:pPr>
                <a:r>
                  <a:rPr lang="vi-VN"/>
                  <a:t>S=\dfrac{1}{2}ac\sin B=\dfrac{1}{2}\cdot4\cdot2\cdot\sin135^\circ=4\cdot\dfrac{\sqrt{2}}{2}=2\sqrt{2}</a:t>
                </a:r>
                <a:r>
                  <a:rPr sz="2000">
                    <a:solidFill>
                      <a:srgbClr val="1E293B"/>
                    </a:solidFill>
                    <a:latin typeface="Calibri"/>
                  </a:rPr>
                  <a:t>.</a:t>
                </a:r>
              </a:p>
            </p:txBody>
          </p:sp>
        </mc:Fallback>
      </mc:AlternateContent>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ĐỀ MINH HỌA · PHẦN I · CÂU 10</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Đề cương Toán 10 · Giữa học kì I          21</a:t>
            </a:r>
          </a:p>
        </p:txBody>
      </p:sp>
      <p:sp>
        <p:nvSpPr>
          <p:cNvPr id="7" name="TextBox 6"/>
          <p:cNvSpPr txBox="1"/>
          <p:nvPr/>
        </p:nvSpPr>
        <p:spPr>
          <a:xfrm>
            <a:off x="731520" y="1463040"/>
            <a:ext cx="10789920" cy="4754880"/>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Mệnh đề phủ định của mệnh đề "Số 7 là số chẵn" là</a:t>
            </a:r>
          </a:p>
          <a:p>
            <a:pPr algn="l">
              <a:spcAft>
                <a:spcPts val="800"/>
              </a:spcAft>
            </a:pPr>
            <a:r>
              <a:rPr sz="2000" b="1">
                <a:solidFill>
                  <a:srgbClr val="1E293B"/>
                </a:solidFill>
                <a:latin typeface="Calibri"/>
              </a:rPr>
              <a:t>A. "Số 7 không là số chẵn"</a:t>
            </a:r>
          </a:p>
          <a:p>
            <a:pPr algn="l">
              <a:spcAft>
                <a:spcPts val="800"/>
              </a:spcAft>
            </a:pPr>
            <a:r>
              <a:rPr sz="2000" b="1">
                <a:solidFill>
                  <a:srgbClr val="1E293B"/>
                </a:solidFill>
                <a:latin typeface="Calibri"/>
              </a:rPr>
              <a:t>B. "Số 8 là số chẵn"</a:t>
            </a:r>
          </a:p>
          <a:p>
            <a:pPr algn="l">
              <a:spcAft>
                <a:spcPts val="800"/>
              </a:spcAft>
            </a:pPr>
            <a:r>
              <a:rPr sz="2000" b="1">
                <a:solidFill>
                  <a:srgbClr val="1E293B"/>
                </a:solidFill>
                <a:latin typeface="Calibri"/>
              </a:rPr>
              <a:t>C. "Số 7 là số nguyên tố"</a:t>
            </a:r>
          </a:p>
          <a:p>
            <a:pPr algn="l">
              <a:spcAft>
                <a:spcPts val="800"/>
              </a:spcAft>
            </a:pPr>
            <a:r>
              <a:rPr sz="2000" b="1">
                <a:solidFill>
                  <a:srgbClr val="1E293B"/>
                </a:solidFill>
                <a:latin typeface="Calibri"/>
              </a:rPr>
              <a:t>D. "Số 7 là số chẵn hoặc số lẻ"</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ĐỀ MINH HỌA · PHẦN I · CÂU 10</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Đề cương Toán 10 · Giữa học kì I          22</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475488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000">
                    <a:solidFill>
                      <a:srgbClr val="1E293B"/>
                    </a:solidFill>
                    <a:latin typeface="Calibri"/>
                  </a:rPr>
                  <a:t>Đáp án A.</a:t>
                </a:r>
              </a:p>
              <a:p>
                <a:pPr algn="l" marL="365760" indent="-365760">
                  <a:spcAft>
                    <a:spcPts val="800"/>
                  </a:spcAft>
                  <a:buClr>
                    <a:srgbClr val="1E40AF"/>
                  </a:buClr>
                  <a:buFont typeface="Arial"/>
                  <a:buChar char="•"/>
                </a:pPr>
                <a:r>
                  <a:rPr sz="2000">
                    <a:solidFill>
                      <a:srgbClr val="1E293B"/>
                    </a:solidFill>
                    <a:latin typeface="Calibri"/>
                  </a:rPr>
                  <a:t>Phủ định của mệnh đề </a:t>
                </a:r>
                <a14:m>
                  <m:oMath xmlns:m="http://schemas.openxmlformats.org/officeDocument/2006/math">
                    <m:r>
                      <a:rPr lang="vi-VN" sz="2000" b="0">
                        <a:solidFill>
                          <a:srgbClr val="1E293B"/>
                        </a:solidFill>
                        <a:latin typeface="Cambria Math" panose="02040503050406030204" pitchFamily="18" charset="0"/>
                      </a:rPr>
                      <m:t>P</m:t>
                    </m:r>
                  </m:oMath>
                </a14:m>
                <a:r>
                  <a:rPr sz="2000">
                    <a:solidFill>
                      <a:srgbClr val="1E293B"/>
                    </a:solidFill>
                    <a:latin typeface="Calibri"/>
                  </a:rPr>
                  <a:t> nhận được bằng cách thêm (hoặc bớt) từ "không" ("không phải") trước vị ngữ: "Số 7 không là số chẵn".</a:t>
                </a:r>
              </a:p>
            </p:txBody>
          </p:sp>
        </mc:Choice>
        <mc:Fallback>
          <p:sp>
            <p:nvSpPr>
              <p:cNvPr id="7" name="TextBox 6"/>
              <p:cNvSpPr txBox="1"/>
              <p:nvPr/>
            </p:nvSpPr>
            <p:spPr>
              <a:xfrm>
                <a:off x="731520" y="1463040"/>
                <a:ext cx="10789920" cy="475488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000">
                    <a:solidFill>
                      <a:srgbClr val="1E293B"/>
                    </a:solidFill>
                    <a:latin typeface="Calibri"/>
                  </a:rPr>
                  <a:t>Đáp án A.</a:t>
                </a:r>
              </a:p>
              <a:p>
                <a:pPr algn="l" marL="365760" indent="-365760">
                  <a:spcAft>
                    <a:spcPts val="800"/>
                  </a:spcAft>
                  <a:buClr>
                    <a:srgbClr val="1E40AF"/>
                  </a:buClr>
                  <a:buFont typeface="Arial"/>
                  <a:buChar char="•"/>
                </a:pPr>
                <a:r>
                  <a:rPr sz="2000">
                    <a:solidFill>
                      <a:srgbClr val="1E293B"/>
                    </a:solidFill>
                    <a:latin typeface="Calibri"/>
                  </a:rPr>
                  <a:t>Phủ định của mệnh đề </a:t>
                </a:r>
                <a:r>
                  <a:rPr lang="vi-VN"/>
                  <a:t>P</a:t>
                </a:r>
                <a:r>
                  <a:rPr sz="2000">
                    <a:solidFill>
                      <a:srgbClr val="1E293B"/>
                    </a:solidFill>
                    <a:latin typeface="Calibri"/>
                  </a:rPr>
                  <a:t> nhận được bằng cách thêm (hoặc bớt) từ "không" ("không phải") trước vị ngữ: "Số 7 không là số chẵn".</a:t>
                </a:r>
              </a:p>
            </p:txBody>
          </p:sp>
        </mc:Fallback>
      </mc:AlternateContent>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ĐỀ MINH HỌA · PHẦN I · CÂU 11</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Đề cương Toán 10 · Giữa học kì I          23</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4754880"/>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Tập hợp </a:t>
                </a:r>
                <a14:m>
                  <m:oMath xmlns:m="http://schemas.openxmlformats.org/officeDocument/2006/math">
                    <m:d>
                      <m:dPr>
                        <m:begChr m:val="{"/>
                        <m:sepChr m:val=""/>
                        <m:endChr m:val="}"/>
                      </m:dPr>
                      <m:e>
                        <m:r>
                          <a:rPr lang="vi-VN" sz="2000" b="1">
                            <a:solidFill>
                              <a:srgbClr val="1E293B"/>
                            </a:solidFill>
                            <a:latin typeface="Cambria Math" panose="02040503050406030204" pitchFamily="18" charset="0"/>
                          </a:rPr>
                          <m:t>x</m:t>
                        </m:r>
                        <m:r>
                          <a:rPr lang="vi-VN" sz="2000" b="1">
                            <a:solidFill>
                              <a:srgbClr val="1E293B"/>
                            </a:solidFill>
                            <a:latin typeface="Cambria Math" panose="02040503050406030204" pitchFamily="18" charset="0"/>
                          </a:rPr>
                          <m:t>∈</m:t>
                        </m:r>
                        <m:r>
                          <a:rPr lang="vi-VN" sz="2000" b="1">
                            <a:solidFill>
                              <a:srgbClr val="1E293B"/>
                            </a:solidFill>
                            <a:latin typeface="Cambria Math" panose="02040503050406030204" pitchFamily="18" charset="0"/>
                          </a:rPr>
                          <m:t>ℝ</m:t>
                        </m:r>
                        <m:r>
                          <a:rPr lang="vi-VN" sz="2000" b="1">
                            <a:solidFill>
                              <a:srgbClr val="1E293B"/>
                            </a:solidFill>
                            <a:latin typeface="Cambria Math" panose="02040503050406030204" pitchFamily="18" charset="0"/>
                          </a:rPr>
                          <m:t>∣</m:t>
                        </m:r>
                        <m:r>
                          <a:rPr lang="vi-VN" sz="2000" b="1">
                            <a:solidFill>
                              <a:srgbClr val="1E293B"/>
                            </a:solidFill>
                            <a:latin typeface="Cambria Math" panose="02040503050406030204" pitchFamily="18" charset="0"/>
                          </a:rPr>
                          <m:t>−</m:t>
                        </m:r>
                        <m:r>
                          <a:rPr lang="vi-VN" sz="2000" b="1">
                            <a:solidFill>
                              <a:srgbClr val="1E293B"/>
                            </a:solidFill>
                            <a:latin typeface="Cambria Math" panose="02040503050406030204" pitchFamily="18" charset="0"/>
                          </a:rPr>
                          <m:t>1</m:t>
                        </m:r>
                        <m:r>
                          <a:rPr lang="vi-VN" sz="2000" b="1">
                            <a:solidFill>
                              <a:srgbClr val="1E293B"/>
                            </a:solidFill>
                            <a:latin typeface="Cambria Math" panose="02040503050406030204" pitchFamily="18" charset="0"/>
                          </a:rPr>
                          <m:t>&lt;</m:t>
                        </m:r>
                        <m:r>
                          <a:rPr lang="vi-VN" sz="2000" b="1">
                            <a:solidFill>
                              <a:srgbClr val="1E293B"/>
                            </a:solidFill>
                            <a:latin typeface="Cambria Math" panose="02040503050406030204" pitchFamily="18" charset="0"/>
                          </a:rPr>
                          <m:t>x</m:t>
                        </m:r>
                        <m:r>
                          <a:rPr lang="vi-VN" sz="2000" b="1">
                            <a:solidFill>
                              <a:srgbClr val="1E293B"/>
                            </a:solidFill>
                            <a:latin typeface="Cambria Math" panose="02040503050406030204" pitchFamily="18" charset="0"/>
                          </a:rPr>
                          <m:t>≤</m:t>
                        </m:r>
                        <m:r>
                          <a:rPr lang="vi-VN" sz="2000" b="1">
                            <a:solidFill>
                              <a:srgbClr val="1E293B"/>
                            </a:solidFill>
                            <a:latin typeface="Cambria Math" panose="02040503050406030204" pitchFamily="18" charset="0"/>
                          </a:rPr>
                          <m:t>3</m:t>
                        </m:r>
                      </m:e>
                    </m:d>
                  </m:oMath>
                </a14:m>
                <a:r>
                  <a:rPr sz="2000" b="1">
                    <a:solidFill>
                      <a:srgbClr val="1E293B"/>
                    </a:solidFill>
                    <a:latin typeface="Calibri"/>
                  </a:rPr>
                  <a:t> được viết dưới dạng nửa khoảng là</a:t>
                </a:r>
              </a:p>
              <a:p>
                <a:pPr algn="l">
                  <a:spcAft>
                    <a:spcPts val="800"/>
                  </a:spcAft>
                </a:pPr>
                <a:r>
                  <a:rPr sz="2000" b="1">
                    <a:solidFill>
                      <a:srgbClr val="1E293B"/>
                    </a:solidFill>
                    <a:latin typeface="Calibri"/>
                  </a:rPr>
                  <a:t>A. </a:t>
                </a:r>
                <a14:m>
                  <m:oMath xmlns:m="http://schemas.openxmlformats.org/officeDocument/2006/math">
                    <m:r>
                      <a:rPr lang="vi-VN" sz="2000" b="1">
                        <a:solidFill>
                          <a:srgbClr val="1E293B"/>
                        </a:solidFill>
                        <a:latin typeface="Cambria Math" panose="02040503050406030204" pitchFamily="18" charset="0"/>
                      </a:rPr>
                      <m:t>(−1;3]</m:t>
                    </m:r>
                  </m:oMath>
                </a14:m>
              </a:p>
              <a:p>
                <a:pPr algn="l">
                  <a:spcAft>
                    <a:spcPts val="800"/>
                  </a:spcAft>
                </a:pPr>
                <a:r>
                  <a:rPr sz="2000" b="1">
                    <a:solidFill>
                      <a:srgbClr val="1E293B"/>
                    </a:solidFill>
                    <a:latin typeface="Calibri"/>
                  </a:rPr>
                  <a:t>B. </a:t>
                </a:r>
                <a14:m>
                  <m:oMath xmlns:m="http://schemas.openxmlformats.org/officeDocument/2006/math">
                    <m:r>
                      <a:rPr lang="vi-VN" sz="2000" b="1">
                        <a:solidFill>
                          <a:srgbClr val="1E293B"/>
                        </a:solidFill>
                        <a:latin typeface="Cambria Math" panose="02040503050406030204" pitchFamily="18" charset="0"/>
                      </a:rPr>
                      <m:t>[−1;3)</m:t>
                    </m:r>
                  </m:oMath>
                </a14:m>
              </a:p>
              <a:p>
                <a:pPr algn="l">
                  <a:spcAft>
                    <a:spcPts val="800"/>
                  </a:spcAft>
                </a:pPr>
                <a:r>
                  <a:rPr sz="2000" b="1">
                    <a:solidFill>
                      <a:srgbClr val="1E293B"/>
                    </a:solidFill>
                    <a:latin typeface="Calibri"/>
                  </a:rPr>
                  <a:t>C. </a:t>
                </a:r>
                <a14:m>
                  <m:oMath xmlns:m="http://schemas.openxmlformats.org/officeDocument/2006/math">
                    <m:d>
                      <m:dPr>
                        <m:begChr m:val="["/>
                        <m:sepChr m:val=""/>
                        <m:endChr m:val="]"/>
                      </m:dPr>
                      <m:e>
                        <m:r>
                          <a:rPr lang="vi-VN" sz="2000" b="1">
                            <a:solidFill>
                              <a:srgbClr val="1E293B"/>
                            </a:solidFill>
                            <a:latin typeface="Cambria Math" panose="02040503050406030204" pitchFamily="18" charset="0"/>
                          </a:rPr>
                          <m:t>−</m:t>
                        </m:r>
                        <m:r>
                          <a:rPr lang="vi-VN" sz="2000" b="1">
                            <a:solidFill>
                              <a:srgbClr val="1E293B"/>
                            </a:solidFill>
                            <a:latin typeface="Cambria Math" panose="02040503050406030204" pitchFamily="18" charset="0"/>
                          </a:rPr>
                          <m:t>1</m:t>
                        </m:r>
                        <m:r>
                          <a:rPr lang="vi-VN" sz="2000" b="1">
                            <a:solidFill>
                              <a:srgbClr val="1E293B"/>
                            </a:solidFill>
                            <a:latin typeface="Cambria Math" panose="02040503050406030204" pitchFamily="18" charset="0"/>
                          </a:rPr>
                          <m:t>;</m:t>
                        </m:r>
                        <m:r>
                          <a:rPr lang="vi-VN" sz="2000" b="1">
                            <a:solidFill>
                              <a:srgbClr val="1E293B"/>
                            </a:solidFill>
                            <a:latin typeface="Cambria Math" panose="02040503050406030204" pitchFamily="18" charset="0"/>
                          </a:rPr>
                          <m:t>3</m:t>
                        </m:r>
                      </m:e>
                    </m:d>
                  </m:oMath>
                </a14:m>
              </a:p>
              <a:p>
                <a:pPr algn="l">
                  <a:spcAft>
                    <a:spcPts val="800"/>
                  </a:spcAft>
                </a:pPr>
                <a:r>
                  <a:rPr sz="2000" b="1">
                    <a:solidFill>
                      <a:srgbClr val="1E293B"/>
                    </a:solidFill>
                    <a:latin typeface="Calibri"/>
                  </a:rPr>
                  <a:t>D. </a:t>
                </a:r>
                <a14:m>
                  <m:oMath xmlns:m="http://schemas.openxmlformats.org/officeDocument/2006/math">
                    <m:d>
                      <m:dPr>
                        <m:sepChr m:val=""/>
                      </m:dPr>
                      <m:e>
                        <m:r>
                          <a:rPr lang="vi-VN" sz="2000" b="1">
                            <a:solidFill>
                              <a:srgbClr val="1E293B"/>
                            </a:solidFill>
                            <a:latin typeface="Cambria Math" panose="02040503050406030204" pitchFamily="18" charset="0"/>
                          </a:rPr>
                          <m:t>−</m:t>
                        </m:r>
                        <m:r>
                          <a:rPr lang="vi-VN" sz="2000" b="1">
                            <a:solidFill>
                              <a:srgbClr val="1E293B"/>
                            </a:solidFill>
                            <a:latin typeface="Cambria Math" panose="02040503050406030204" pitchFamily="18" charset="0"/>
                          </a:rPr>
                          <m:t>1</m:t>
                        </m:r>
                        <m:r>
                          <a:rPr lang="vi-VN" sz="2000" b="1">
                            <a:solidFill>
                              <a:srgbClr val="1E293B"/>
                            </a:solidFill>
                            <a:latin typeface="Cambria Math" panose="02040503050406030204" pitchFamily="18" charset="0"/>
                          </a:rPr>
                          <m:t>;</m:t>
                        </m:r>
                        <m:r>
                          <a:rPr lang="vi-VN" sz="2000" b="1">
                            <a:solidFill>
                              <a:srgbClr val="1E293B"/>
                            </a:solidFill>
                            <a:latin typeface="Cambria Math" panose="02040503050406030204" pitchFamily="18" charset="0"/>
                          </a:rPr>
                          <m:t>3</m:t>
                        </m:r>
                      </m:e>
                    </m:d>
                  </m:oMath>
                </a14:m>
              </a:p>
            </p:txBody>
          </p:sp>
        </mc:Choice>
        <mc:Fallback>
          <p:sp>
            <p:nvSpPr>
              <p:cNvPr id="7" name="TextBox 6"/>
              <p:cNvSpPr txBox="1"/>
              <p:nvPr/>
            </p:nvSpPr>
            <p:spPr>
              <a:xfrm>
                <a:off x="731520" y="1463040"/>
                <a:ext cx="10789920" cy="4754880"/>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Tập hợp </a:t>
                </a:r>
                <a:r>
                  <a:rPr lang="vi-VN"/>
                  <a:t>\{x\in\mathbb{R}\mid -1&lt;x\le 3\}</a:t>
                </a:r>
                <a:r>
                  <a:rPr sz="2000" b="1">
                    <a:solidFill>
                      <a:srgbClr val="1E293B"/>
                    </a:solidFill>
                    <a:latin typeface="Calibri"/>
                  </a:rPr>
                  <a:t> được viết dưới dạng nửa khoảng là</a:t>
                </a:r>
              </a:p>
              <a:p>
                <a:pPr algn="l">
                  <a:spcAft>
                    <a:spcPts val="800"/>
                  </a:spcAft>
                </a:pPr>
                <a:r>
                  <a:rPr sz="2000" b="1">
                    <a:solidFill>
                      <a:srgbClr val="1E293B"/>
                    </a:solidFill>
                    <a:latin typeface="Calibri"/>
                  </a:rPr>
                  <a:t>A. </a:t>
                </a:r>
                <a:r>
                  <a:rPr lang="vi-VN"/>
                  <a:t>(-1;3]</a:t>
                </a:r>
              </a:p>
              <a:p>
                <a:pPr algn="l">
                  <a:spcAft>
                    <a:spcPts val="800"/>
                  </a:spcAft>
                </a:pPr>
                <a:r>
                  <a:rPr sz="2000" b="1">
                    <a:solidFill>
                      <a:srgbClr val="1E293B"/>
                    </a:solidFill>
                    <a:latin typeface="Calibri"/>
                  </a:rPr>
                  <a:t>B. </a:t>
                </a:r>
                <a:r>
                  <a:rPr lang="vi-VN"/>
                  <a:t>[-1;3)</a:t>
                </a:r>
              </a:p>
              <a:p>
                <a:pPr algn="l">
                  <a:spcAft>
                    <a:spcPts val="800"/>
                  </a:spcAft>
                </a:pPr>
                <a:r>
                  <a:rPr sz="2000" b="1">
                    <a:solidFill>
                      <a:srgbClr val="1E293B"/>
                    </a:solidFill>
                    <a:latin typeface="Calibri"/>
                  </a:rPr>
                  <a:t>C. </a:t>
                </a:r>
                <a:r>
                  <a:rPr lang="vi-VN"/>
                  <a:t>[-1;3]</a:t>
                </a:r>
              </a:p>
              <a:p>
                <a:pPr algn="l">
                  <a:spcAft>
                    <a:spcPts val="800"/>
                  </a:spcAft>
                </a:pPr>
                <a:r>
                  <a:rPr sz="2000" b="1">
                    <a:solidFill>
                      <a:srgbClr val="1E293B"/>
                    </a:solidFill>
                    <a:latin typeface="Calibri"/>
                  </a:rPr>
                  <a:t>D. </a:t>
                </a:r>
                <a:r>
                  <a:rPr lang="vi-VN"/>
                  <a:t>(-1;3)</a:t>
                </a:r>
              </a:p>
            </p:txBody>
          </p:sp>
        </mc:Fallback>
      </mc:AlternateContent>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ĐỀ MINH HỌA · PHẦN I · CÂU 11</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Đề cương Toán 10 · Giữa học kì I          24</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475488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000">
                    <a:solidFill>
                      <a:srgbClr val="1E293B"/>
                    </a:solidFill>
                    <a:latin typeface="Calibri"/>
                  </a:rPr>
                  <a:t>Đáp án A.</a:t>
                </a:r>
              </a:p>
              <a:p>
                <a:pPr algn="l" marL="365760" indent="-365760">
                  <a:spcAft>
                    <a:spcPts val="800"/>
                  </a:spcAft>
                  <a:buClr>
                    <a:srgbClr val="1E40AF"/>
                  </a:buClr>
                  <a:buFont typeface="Arial"/>
                  <a:buChar char="•"/>
                </a:pPr>
                <a:r>
                  <a:rPr sz="2000">
                    <a:solidFill>
                      <a:srgbClr val="1E293B"/>
                    </a:solidFill>
                    <a:latin typeface="Calibri"/>
                  </a:rPr>
                  <a:t>Đầu mút </a:t>
                </a:r>
                <a14:m>
                  <m:oMath xmlns:m="http://schemas.openxmlformats.org/officeDocument/2006/math">
                    <m:r>
                      <a:rPr lang="vi-VN" sz="2000" b="0">
                        <a:solidFill>
                          <a:srgbClr val="1E293B"/>
                        </a:solidFill>
                        <a:latin typeface="Cambria Math" panose="02040503050406030204" pitchFamily="18" charset="0"/>
                      </a:rPr>
                      <m:t>−1</m:t>
                    </m:r>
                  </m:oMath>
                </a14:m>
                <a:r>
                  <a:rPr sz="2000">
                    <a:solidFill>
                      <a:srgbClr val="1E293B"/>
                    </a:solidFill>
                    <a:latin typeface="Calibri"/>
                  </a:rPr>
                  <a:t> không lấy (dấu </a:t>
                </a:r>
                <a14:m>
                  <m:oMath xmlns:m="http://schemas.openxmlformats.org/officeDocument/2006/math">
                    <m:r>
                      <a:rPr lang="vi-VN" sz="2000" b="0">
                        <a:solidFill>
                          <a:srgbClr val="1E293B"/>
                        </a:solidFill>
                        <a:latin typeface="Cambria Math" panose="02040503050406030204" pitchFamily="18" charset="0"/>
                      </a:rPr>
                      <m:t>&lt;</m:t>
                    </m:r>
                  </m:oMath>
                </a14:m>
                <a:r>
                  <a:rPr sz="2000">
                    <a:solidFill>
                      <a:srgbClr val="1E293B"/>
                    </a:solidFill>
                    <a:latin typeface="Calibri"/>
                  </a:rPr>
                  <a:t>) nên dùng ngoặc tròn; đầu mút 3 được lấy (dấu </a:t>
                </a:r>
                <a14:m>
                  <m:oMath xmlns:m="http://schemas.openxmlformats.org/officeDocument/2006/math">
                    <m:r>
                      <a:rPr lang="vi-VN" sz="2000" b="0">
                        <a:solidFill>
                          <a:srgbClr val="1E293B"/>
                        </a:solidFill>
                        <a:latin typeface="Cambria Math" panose="02040503050406030204" pitchFamily="18" charset="0"/>
                      </a:rPr>
                      <m:t>≤</m:t>
                    </m:r>
                  </m:oMath>
                </a14:m>
                <a:r>
                  <a:rPr sz="2000">
                    <a:solidFill>
                      <a:srgbClr val="1E293B"/>
                    </a:solidFill>
                    <a:latin typeface="Calibri"/>
                  </a:rPr>
                  <a:t>) nên dùng ngoặc vuông: </a:t>
                </a:r>
                <a14:m>
                  <m:oMath xmlns:m="http://schemas.openxmlformats.org/officeDocument/2006/math">
                    <m:r>
                      <a:rPr lang="vi-VN" sz="2000" b="0">
                        <a:solidFill>
                          <a:srgbClr val="1E293B"/>
                        </a:solidFill>
                        <a:latin typeface="Cambria Math" panose="02040503050406030204" pitchFamily="18" charset="0"/>
                      </a:rPr>
                      <m:t>(−1;3]</m:t>
                    </m:r>
                  </m:oMath>
                </a14:m>
                <a:r>
                  <a:rPr sz="2000">
                    <a:solidFill>
                      <a:srgbClr val="1E293B"/>
                    </a:solidFill>
                    <a:latin typeface="Calibri"/>
                  </a:rPr>
                  <a:t>.</a:t>
                </a:r>
              </a:p>
            </p:txBody>
          </p:sp>
        </mc:Choice>
        <mc:Fallback>
          <p:sp>
            <p:nvSpPr>
              <p:cNvPr id="7" name="TextBox 6"/>
              <p:cNvSpPr txBox="1"/>
              <p:nvPr/>
            </p:nvSpPr>
            <p:spPr>
              <a:xfrm>
                <a:off x="731520" y="1463040"/>
                <a:ext cx="10789920" cy="475488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000">
                    <a:solidFill>
                      <a:srgbClr val="1E293B"/>
                    </a:solidFill>
                    <a:latin typeface="Calibri"/>
                  </a:rPr>
                  <a:t>Đáp án A.</a:t>
                </a:r>
              </a:p>
              <a:p>
                <a:pPr algn="l" marL="365760" indent="-365760">
                  <a:spcAft>
                    <a:spcPts val="800"/>
                  </a:spcAft>
                  <a:buClr>
                    <a:srgbClr val="1E40AF"/>
                  </a:buClr>
                  <a:buFont typeface="Arial"/>
                  <a:buChar char="•"/>
                </a:pPr>
                <a:r>
                  <a:rPr sz="2000">
                    <a:solidFill>
                      <a:srgbClr val="1E293B"/>
                    </a:solidFill>
                    <a:latin typeface="Calibri"/>
                  </a:rPr>
                  <a:t>Đầu mút </a:t>
                </a:r>
                <a:r>
                  <a:rPr lang="vi-VN"/>
                  <a:t>-1</a:t>
                </a:r>
                <a:r>
                  <a:rPr sz="2000">
                    <a:solidFill>
                      <a:srgbClr val="1E293B"/>
                    </a:solidFill>
                    <a:latin typeface="Calibri"/>
                  </a:rPr>
                  <a:t> không lấy (dấu </a:t>
                </a:r>
                <a:r>
                  <a:rPr lang="vi-VN"/>
                  <a:t>&lt;</a:t>
                </a:r>
                <a:r>
                  <a:rPr sz="2000">
                    <a:solidFill>
                      <a:srgbClr val="1E293B"/>
                    </a:solidFill>
                    <a:latin typeface="Calibri"/>
                  </a:rPr>
                  <a:t>) nên dùng ngoặc tròn; đầu mút 3 được lấy (dấu </a:t>
                </a:r>
                <a:r>
                  <a:rPr lang="vi-VN"/>
                  <a:t>\le</a:t>
                </a:r>
                <a:r>
                  <a:rPr sz="2000">
                    <a:solidFill>
                      <a:srgbClr val="1E293B"/>
                    </a:solidFill>
                    <a:latin typeface="Calibri"/>
                  </a:rPr>
                  <a:t>) nên dùng ngoặc vuông: </a:t>
                </a:r>
                <a:r>
                  <a:rPr lang="vi-VN"/>
                  <a:t>(-1;3]</a:t>
                </a:r>
                <a:r>
                  <a:rPr sz="2000">
                    <a:solidFill>
                      <a:srgbClr val="1E293B"/>
                    </a:solidFill>
                    <a:latin typeface="Calibri"/>
                  </a:rPr>
                  <a:t>.</a:t>
                </a:r>
              </a:p>
            </p:txBody>
          </p:sp>
        </mc:Fallback>
      </mc:AlternateContent>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ĐỀ MINH HỌA · PHẦN I · CÂU 12</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Đề cương Toán 10 · Giữa học kì I          25</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4754880"/>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Bất phương trình nào sau đây là bất phương trình bậc nhất hai ẩn?</a:t>
                </a:r>
              </a:p>
              <a:p>
                <a:pPr algn="l">
                  <a:spcAft>
                    <a:spcPts val="800"/>
                  </a:spcAft>
                </a:pPr>
                <a:r>
                  <a:rPr sz="2000" b="1">
                    <a:solidFill>
                      <a:srgbClr val="1E293B"/>
                    </a:solidFill>
                    <a:latin typeface="Calibri"/>
                  </a:rPr>
                  <a:t>A. </a:t>
                </a:r>
                <a14:m>
                  <m:oMath xmlns:m="http://schemas.openxmlformats.org/officeDocument/2006/math">
                    <m:r>
                      <a:rPr lang="vi-VN" sz="2000" b="1">
                        <a:solidFill>
                          <a:srgbClr val="1E293B"/>
                        </a:solidFill>
                        <a:latin typeface="Cambria Math" panose="02040503050406030204" pitchFamily="18" charset="0"/>
                      </a:rPr>
                      <m:t>2</m:t>
                    </m:r>
                    <m:sSup>
                      <m:e>
                        <m:r>
                          <a:rPr lang="vi-VN" sz="2000" b="1">
                            <a:solidFill>
                              <a:srgbClr val="1E293B"/>
                            </a:solidFill>
                            <a:latin typeface="Cambria Math" panose="02040503050406030204" pitchFamily="18" charset="0"/>
                          </a:rPr>
                          <m:t>x</m:t>
                        </m:r>
                      </m:e>
                      <m:sup>
                        <m:r>
                          <a:rPr lang="vi-VN" sz="2000" b="1">
                            <a:solidFill>
                              <a:srgbClr val="1E293B"/>
                            </a:solidFill>
                            <a:latin typeface="Cambria Math" panose="02040503050406030204" pitchFamily="18" charset="0"/>
                          </a:rPr>
                          <m:t>2</m:t>
                        </m:r>
                      </m:sup>
                    </m:sSup>
                    <m:r>
                      <a:rPr lang="vi-VN" sz="2000" b="1">
                        <a:solidFill>
                          <a:srgbClr val="1E293B"/>
                        </a:solidFill>
                        <a:latin typeface="Cambria Math" panose="02040503050406030204" pitchFamily="18" charset="0"/>
                      </a:rPr>
                      <m:t>+3y&gt;1</m:t>
                    </m:r>
                  </m:oMath>
                </a14:m>
              </a:p>
              <a:p>
                <a:pPr algn="l">
                  <a:spcAft>
                    <a:spcPts val="800"/>
                  </a:spcAft>
                </a:pPr>
                <a:r>
                  <a:rPr sz="2000" b="1">
                    <a:solidFill>
                      <a:srgbClr val="1E293B"/>
                    </a:solidFill>
                    <a:latin typeface="Calibri"/>
                  </a:rPr>
                  <a:t>B. </a:t>
                </a:r>
                <a14:m>
                  <m:oMath xmlns:m="http://schemas.openxmlformats.org/officeDocument/2006/math">
                    <m:r>
                      <a:rPr lang="vi-VN" sz="2000" b="1">
                        <a:solidFill>
                          <a:srgbClr val="1E293B"/>
                        </a:solidFill>
                        <a:latin typeface="Cambria Math" panose="02040503050406030204" pitchFamily="18" charset="0"/>
                      </a:rPr>
                      <m:t>3x−5y≤2</m:t>
                    </m:r>
                  </m:oMath>
                </a14:m>
              </a:p>
              <a:p>
                <a:pPr algn="l">
                  <a:spcAft>
                    <a:spcPts val="800"/>
                  </a:spcAft>
                </a:pPr>
                <a:r>
                  <a:rPr sz="2000" b="1">
                    <a:solidFill>
                      <a:srgbClr val="1E293B"/>
                    </a:solidFill>
                    <a:latin typeface="Calibri"/>
                  </a:rPr>
                  <a:t>C. </a:t>
                </a:r>
                <a14:m>
                  <m:oMath xmlns:m="http://schemas.openxmlformats.org/officeDocument/2006/math">
                    <m:r>
                      <a:rPr lang="vi-VN" sz="2000" b="1">
                        <a:solidFill>
                          <a:srgbClr val="1E293B"/>
                        </a:solidFill>
                        <a:latin typeface="Cambria Math" panose="02040503050406030204" pitchFamily="18" charset="0"/>
                      </a:rPr>
                      <m:t>xy+2x&lt;5</m:t>
                    </m:r>
                  </m:oMath>
                </a14:m>
              </a:p>
              <a:p>
                <a:pPr algn="l">
                  <a:spcAft>
                    <a:spcPts val="800"/>
                  </a:spcAft>
                </a:pPr>
                <a:r>
                  <a:rPr sz="2000" b="1">
                    <a:solidFill>
                      <a:srgbClr val="1E293B"/>
                    </a:solidFill>
                    <a:latin typeface="Calibri"/>
                  </a:rPr>
                  <a:t>D. </a:t>
                </a:r>
                <a14:m>
                  <m:oMath xmlns:m="http://schemas.openxmlformats.org/officeDocument/2006/math">
                    <m:r>
                      <a:rPr lang="vi-VN" sz="2000" b="1">
                        <a:solidFill>
                          <a:srgbClr val="1E293B"/>
                        </a:solidFill>
                        <a:latin typeface="Cambria Math" panose="02040503050406030204" pitchFamily="18" charset="0"/>
                      </a:rPr>
                      <m:t>x+</m:t>
                    </m:r>
                    <m:sSup>
                      <m:e>
                        <m:r>
                          <a:rPr lang="vi-VN" sz="2000" b="1">
                            <a:solidFill>
                              <a:srgbClr val="1E293B"/>
                            </a:solidFill>
                            <a:latin typeface="Cambria Math" panose="02040503050406030204" pitchFamily="18" charset="0"/>
                          </a:rPr>
                          <m:t>y</m:t>
                        </m:r>
                      </m:e>
                      <m:sup>
                        <m:r>
                          <a:rPr lang="vi-VN" sz="2000" b="1">
                            <a:solidFill>
                              <a:srgbClr val="1E293B"/>
                            </a:solidFill>
                            <a:latin typeface="Cambria Math" panose="02040503050406030204" pitchFamily="18" charset="0"/>
                          </a:rPr>
                          <m:t>2</m:t>
                        </m:r>
                      </m:sup>
                    </m:sSup>
                    <m:r>
                      <a:rPr lang="vi-VN" sz="2000" b="1">
                        <a:solidFill>
                          <a:srgbClr val="1E293B"/>
                        </a:solidFill>
                        <a:latin typeface="Cambria Math" panose="02040503050406030204" pitchFamily="18" charset="0"/>
                      </a:rPr>
                      <m:t>≥1</m:t>
                    </m:r>
                  </m:oMath>
                </a14:m>
              </a:p>
            </p:txBody>
          </p:sp>
        </mc:Choice>
        <mc:Fallback>
          <p:sp>
            <p:nvSpPr>
              <p:cNvPr id="7" name="TextBox 6"/>
              <p:cNvSpPr txBox="1"/>
              <p:nvPr/>
            </p:nvSpPr>
            <p:spPr>
              <a:xfrm>
                <a:off x="731520" y="1463040"/>
                <a:ext cx="10789920" cy="4754880"/>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Bất phương trình nào sau đây là bất phương trình bậc nhất hai ẩn?</a:t>
                </a:r>
              </a:p>
              <a:p>
                <a:pPr algn="l">
                  <a:spcAft>
                    <a:spcPts val="800"/>
                  </a:spcAft>
                </a:pPr>
                <a:r>
                  <a:rPr sz="2000" b="1">
                    <a:solidFill>
                      <a:srgbClr val="1E293B"/>
                    </a:solidFill>
                    <a:latin typeface="Calibri"/>
                  </a:rPr>
                  <a:t>A. </a:t>
                </a:r>
                <a:r>
                  <a:rPr lang="vi-VN"/>
                  <a:t>2x^2+3y&gt;1</a:t>
                </a:r>
              </a:p>
              <a:p>
                <a:pPr algn="l">
                  <a:spcAft>
                    <a:spcPts val="800"/>
                  </a:spcAft>
                </a:pPr>
                <a:r>
                  <a:rPr sz="2000" b="1">
                    <a:solidFill>
                      <a:srgbClr val="1E293B"/>
                    </a:solidFill>
                    <a:latin typeface="Calibri"/>
                  </a:rPr>
                  <a:t>B. </a:t>
                </a:r>
                <a:r>
                  <a:rPr lang="vi-VN"/>
                  <a:t>3x-5y\le 2</a:t>
                </a:r>
              </a:p>
              <a:p>
                <a:pPr algn="l">
                  <a:spcAft>
                    <a:spcPts val="800"/>
                  </a:spcAft>
                </a:pPr>
                <a:r>
                  <a:rPr sz="2000" b="1">
                    <a:solidFill>
                      <a:srgbClr val="1E293B"/>
                    </a:solidFill>
                    <a:latin typeface="Calibri"/>
                  </a:rPr>
                  <a:t>C. </a:t>
                </a:r>
                <a:r>
                  <a:rPr lang="vi-VN"/>
                  <a:t>xy+2x&lt;5</a:t>
                </a:r>
              </a:p>
              <a:p>
                <a:pPr algn="l">
                  <a:spcAft>
                    <a:spcPts val="800"/>
                  </a:spcAft>
                </a:pPr>
                <a:r>
                  <a:rPr sz="2000" b="1">
                    <a:solidFill>
                      <a:srgbClr val="1E293B"/>
                    </a:solidFill>
                    <a:latin typeface="Calibri"/>
                  </a:rPr>
                  <a:t>D. </a:t>
                </a:r>
                <a:r>
                  <a:rPr lang="vi-VN"/>
                  <a:t>x+y^2\ge 1</a:t>
                </a:r>
              </a:p>
            </p:txBody>
          </p:sp>
        </mc:Fallback>
      </mc:AlternateContent>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ĐỀ MINH HỌA · PHẦN I · CÂU 12</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Đề cương Toán 10 · Giữa học kì I          26</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475488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000">
                    <a:solidFill>
                      <a:srgbClr val="1E293B"/>
                    </a:solidFill>
                    <a:latin typeface="Calibri"/>
                  </a:rPr>
                  <a:t>Đáp án B.</a:t>
                </a:r>
              </a:p>
              <a:p>
                <a:pPr algn="l" marL="365760" indent="-365760">
                  <a:spcAft>
                    <a:spcPts val="800"/>
                  </a:spcAft>
                  <a:buClr>
                    <a:srgbClr val="1E40AF"/>
                  </a:buClr>
                  <a:buFont typeface="Arial"/>
                  <a:buChar char="•"/>
                </a:pPr>
                <a14:m>
                  <m:oMath xmlns:m="http://schemas.openxmlformats.org/officeDocument/2006/math">
                    <m:r>
                      <a:rPr lang="vi-VN" sz="2000" b="0">
                        <a:solidFill>
                          <a:srgbClr val="1E293B"/>
                        </a:solidFill>
                        <a:latin typeface="Cambria Math" panose="02040503050406030204" pitchFamily="18" charset="0"/>
                      </a:rPr>
                      <m:t>3x−5y≤2</m:t>
                    </m:r>
                  </m:oMath>
                </a14:m>
                <a:r>
                  <a:rPr sz="2000">
                    <a:solidFill>
                      <a:srgbClr val="1E293B"/>
                    </a:solidFill>
                    <a:latin typeface="Calibri"/>
                  </a:rPr>
                  <a:t> có dạng </a:t>
                </a:r>
                <a14:m>
                  <m:oMath xmlns:m="http://schemas.openxmlformats.org/officeDocument/2006/math">
                    <m:r>
                      <a:rPr lang="vi-VN" sz="2000" b="0">
                        <a:solidFill>
                          <a:srgbClr val="1E293B"/>
                        </a:solidFill>
                        <a:latin typeface="Cambria Math" panose="02040503050406030204" pitchFamily="18" charset="0"/>
                      </a:rPr>
                      <m:t>ax+by≤c</m:t>
                    </m:r>
                  </m:oMath>
                </a14:m>
                <a:r>
                  <a:rPr sz="2000">
                    <a:solidFill>
                      <a:srgbClr val="1E293B"/>
                    </a:solidFill>
                    <a:latin typeface="Calibri"/>
                  </a:rPr>
                  <a:t> với </a:t>
                </a:r>
                <a14:m>
                  <m:oMath xmlns:m="http://schemas.openxmlformats.org/officeDocument/2006/math">
                    <m:r>
                      <a:rPr lang="vi-VN" sz="2000" b="0">
                        <a:solidFill>
                          <a:srgbClr val="1E293B"/>
                        </a:solidFill>
                        <a:latin typeface="Cambria Math" panose="02040503050406030204" pitchFamily="18" charset="0"/>
                      </a:rPr>
                      <m:t>a=3</m:t>
                    </m:r>
                  </m:oMath>
                </a14:m>
                <a:r>
                  <a:rPr sz="2000">
                    <a:solidFill>
                      <a:srgbClr val="1E293B"/>
                    </a:solidFill>
                    <a:latin typeface="Calibri"/>
                  </a:rPr>
                  <a:t>, </a:t>
                </a:r>
                <a14:m>
                  <m:oMath xmlns:m="http://schemas.openxmlformats.org/officeDocument/2006/math">
                    <m:r>
                      <a:rPr lang="vi-VN" sz="2000" b="0">
                        <a:solidFill>
                          <a:srgbClr val="1E293B"/>
                        </a:solidFill>
                        <a:latin typeface="Cambria Math" panose="02040503050406030204" pitchFamily="18" charset="0"/>
                      </a:rPr>
                      <m:t>b=−5</m:t>
                    </m:r>
                  </m:oMath>
                </a14:m>
                <a:r>
                  <a:rPr sz="2000">
                    <a:solidFill>
                      <a:srgbClr val="1E293B"/>
                    </a:solidFill>
                    <a:latin typeface="Calibri"/>
                  </a:rPr>
                  <a:t>, </a:t>
                </a:r>
                <a14:m>
                  <m:oMath xmlns:m="http://schemas.openxmlformats.org/officeDocument/2006/math">
                    <m:r>
                      <a:rPr lang="vi-VN" sz="2000" b="0">
                        <a:solidFill>
                          <a:srgbClr val="1E293B"/>
                        </a:solidFill>
                        <a:latin typeface="Cambria Math" panose="02040503050406030204" pitchFamily="18" charset="0"/>
                      </a:rPr>
                      <m:t>c=2</m:t>
                    </m:r>
                  </m:oMath>
                </a14:m>
                <a:r>
                  <a:rPr sz="2000">
                    <a:solidFill>
                      <a:srgbClr val="1E293B"/>
                    </a:solidFill>
                    <a:latin typeface="Calibri"/>
                  </a:rPr>
                  <a:t>. Các bất phương trình còn lại chứa </a:t>
                </a:r>
                <a14:m>
                  <m:oMath xmlns:m="http://schemas.openxmlformats.org/officeDocument/2006/math">
                    <m:sSup>
                      <m:e>
                        <m:r>
                          <a:rPr lang="vi-VN" sz="2000" b="0">
                            <a:solidFill>
                              <a:srgbClr val="1E293B"/>
                            </a:solidFill>
                            <a:latin typeface="Cambria Math" panose="02040503050406030204" pitchFamily="18" charset="0"/>
                          </a:rPr>
                          <m:t>x</m:t>
                        </m:r>
                      </m:e>
                      <m:sup>
                        <m:r>
                          <a:rPr lang="vi-VN" sz="2000" b="0">
                            <a:solidFill>
                              <a:srgbClr val="1E293B"/>
                            </a:solidFill>
                            <a:latin typeface="Cambria Math" panose="02040503050406030204" pitchFamily="18" charset="0"/>
                          </a:rPr>
                          <m:t>2</m:t>
                        </m:r>
                      </m:sup>
                    </m:sSup>
                  </m:oMath>
                </a14:m>
                <a:r>
                  <a:rPr sz="2000">
                    <a:solidFill>
                      <a:srgbClr val="1E293B"/>
                    </a:solidFill>
                    <a:latin typeface="Calibri"/>
                  </a:rPr>
                  <a:t>, </a:t>
                </a:r>
                <a14:m>
                  <m:oMath xmlns:m="http://schemas.openxmlformats.org/officeDocument/2006/math">
                    <m:r>
                      <a:rPr lang="vi-VN" sz="2000" b="0">
                        <a:solidFill>
                          <a:srgbClr val="1E293B"/>
                        </a:solidFill>
                        <a:latin typeface="Cambria Math" panose="02040503050406030204" pitchFamily="18" charset="0"/>
                      </a:rPr>
                      <m:t>xy</m:t>
                    </m:r>
                  </m:oMath>
                </a14:m>
                <a:r>
                  <a:rPr sz="2000">
                    <a:solidFill>
                      <a:srgbClr val="1E293B"/>
                    </a:solidFill>
                    <a:latin typeface="Calibri"/>
                  </a:rPr>
                  <a:t>, </a:t>
                </a:r>
                <a14:m>
                  <m:oMath xmlns:m="http://schemas.openxmlformats.org/officeDocument/2006/math">
                    <m:sSup>
                      <m:e>
                        <m:r>
                          <a:rPr lang="vi-VN" sz="2000" b="0">
                            <a:solidFill>
                              <a:srgbClr val="1E293B"/>
                            </a:solidFill>
                            <a:latin typeface="Cambria Math" panose="02040503050406030204" pitchFamily="18" charset="0"/>
                          </a:rPr>
                          <m:t>y</m:t>
                        </m:r>
                      </m:e>
                      <m:sup>
                        <m:r>
                          <a:rPr lang="vi-VN" sz="2000" b="0">
                            <a:solidFill>
                              <a:srgbClr val="1E293B"/>
                            </a:solidFill>
                            <a:latin typeface="Cambria Math" panose="02040503050406030204" pitchFamily="18" charset="0"/>
                          </a:rPr>
                          <m:t>2</m:t>
                        </m:r>
                      </m:sup>
                    </m:sSup>
                  </m:oMath>
                </a14:m>
                <a:r>
                  <a:rPr sz="2000">
                    <a:solidFill>
                      <a:srgbClr val="1E293B"/>
                    </a:solidFill>
                    <a:latin typeface="Calibri"/>
                  </a:rPr>
                  <a:t> nên không phải bậc nhất hai ẩn.</a:t>
                </a:r>
              </a:p>
            </p:txBody>
          </p:sp>
        </mc:Choice>
        <mc:Fallback>
          <p:sp>
            <p:nvSpPr>
              <p:cNvPr id="7" name="TextBox 6"/>
              <p:cNvSpPr txBox="1"/>
              <p:nvPr/>
            </p:nvSpPr>
            <p:spPr>
              <a:xfrm>
                <a:off x="731520" y="1463040"/>
                <a:ext cx="10789920" cy="475488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000">
                    <a:solidFill>
                      <a:srgbClr val="1E293B"/>
                    </a:solidFill>
                    <a:latin typeface="Calibri"/>
                  </a:rPr>
                  <a:t>Đáp án B.</a:t>
                </a:r>
              </a:p>
              <a:p>
                <a:pPr algn="l" marL="365760" indent="-365760">
                  <a:spcAft>
                    <a:spcPts val="800"/>
                  </a:spcAft>
                  <a:buClr>
                    <a:srgbClr val="1E40AF"/>
                  </a:buClr>
                  <a:buFont typeface="Arial"/>
                  <a:buChar char="•"/>
                </a:pPr>
                <a:r>
                  <a:rPr lang="vi-VN"/>
                  <a:t>3x-5y\le 2</a:t>
                </a:r>
                <a:r>
                  <a:rPr sz="2000">
                    <a:solidFill>
                      <a:srgbClr val="1E293B"/>
                    </a:solidFill>
                    <a:latin typeface="Calibri"/>
                  </a:rPr>
                  <a:t> có dạng </a:t>
                </a:r>
                <a:r>
                  <a:rPr lang="vi-VN"/>
                  <a:t>ax+by\le c</a:t>
                </a:r>
                <a:r>
                  <a:rPr sz="2000">
                    <a:solidFill>
                      <a:srgbClr val="1E293B"/>
                    </a:solidFill>
                    <a:latin typeface="Calibri"/>
                  </a:rPr>
                  <a:t> với </a:t>
                </a:r>
                <a:r>
                  <a:rPr lang="vi-VN"/>
                  <a:t>a=3</a:t>
                </a:r>
                <a:r>
                  <a:rPr sz="2000">
                    <a:solidFill>
                      <a:srgbClr val="1E293B"/>
                    </a:solidFill>
                    <a:latin typeface="Calibri"/>
                  </a:rPr>
                  <a:t>, </a:t>
                </a:r>
                <a:r>
                  <a:rPr lang="vi-VN"/>
                  <a:t>b=-5</a:t>
                </a:r>
                <a:r>
                  <a:rPr sz="2000">
                    <a:solidFill>
                      <a:srgbClr val="1E293B"/>
                    </a:solidFill>
                    <a:latin typeface="Calibri"/>
                  </a:rPr>
                  <a:t>, </a:t>
                </a:r>
                <a:r>
                  <a:rPr lang="vi-VN"/>
                  <a:t>c=2</a:t>
                </a:r>
                <a:r>
                  <a:rPr sz="2000">
                    <a:solidFill>
                      <a:srgbClr val="1E293B"/>
                    </a:solidFill>
                    <a:latin typeface="Calibri"/>
                  </a:rPr>
                  <a:t>. Các bất phương trình còn lại chứa </a:t>
                </a:r>
                <a:r>
                  <a:rPr lang="vi-VN"/>
                  <a:t>x^2</a:t>
                </a:r>
                <a:r>
                  <a:rPr sz="2000">
                    <a:solidFill>
                      <a:srgbClr val="1E293B"/>
                    </a:solidFill>
                    <a:latin typeface="Calibri"/>
                  </a:rPr>
                  <a:t>, </a:t>
                </a:r>
                <a:r>
                  <a:rPr lang="vi-VN"/>
                  <a:t>xy</a:t>
                </a:r>
                <a:r>
                  <a:rPr sz="2000">
                    <a:solidFill>
                      <a:srgbClr val="1E293B"/>
                    </a:solidFill>
                    <a:latin typeface="Calibri"/>
                  </a:rPr>
                  <a:t>, </a:t>
                </a:r>
                <a:r>
                  <a:rPr lang="vi-VN"/>
                  <a:t>y^2</a:t>
                </a:r>
                <a:r>
                  <a:rPr sz="2000">
                    <a:solidFill>
                      <a:srgbClr val="1E293B"/>
                    </a:solidFill>
                    <a:latin typeface="Calibri"/>
                  </a:rPr>
                  <a:t> nên không phải bậc nhất hai ẩn.</a:t>
                </a:r>
              </a:p>
            </p:txBody>
          </p:sp>
        </mc:Fallback>
      </mc:AlternateContent>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ĐỀ MINH HỌA · PHẦN II · CÂU 1</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Đề cương Toán 10 · Giữa học kì I          27</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4754880"/>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(Vận dụng – thực tiễn) Một siêu thị điện máy thông báo: "Nếu hóa đơn của khách hàng từ 500 nghìn đồng trở lên thì khách hàng được giảm giá 10%." Gọi </a:t>
                </a:r>
                <a14:m>
                  <m:oMath xmlns:m="http://schemas.openxmlformats.org/officeDocument/2006/math">
                    <m:r>
                      <a:rPr lang="vi-VN" sz="2000" b="1">
                        <a:solidFill>
                          <a:srgbClr val="1E293B"/>
                        </a:solidFill>
                        <a:latin typeface="Cambria Math" panose="02040503050406030204" pitchFamily="18" charset="0"/>
                      </a:rPr>
                      <m:t>P</m:t>
                    </m:r>
                  </m:oMath>
                </a14:m>
                <a:r>
                  <a:rPr sz="2000" b="1">
                    <a:solidFill>
                      <a:srgbClr val="1E293B"/>
                    </a:solidFill>
                    <a:latin typeface="Calibri"/>
                  </a:rPr>
                  <a:t>: "Hóa đơn của khách hàng từ 500 nghìn đồng trở lên", </a:t>
                </a:r>
                <a14:m>
                  <m:oMath xmlns:m="http://schemas.openxmlformats.org/officeDocument/2006/math">
                    <m:r>
                      <a:rPr lang="vi-VN" sz="2000" b="1">
                        <a:solidFill>
                          <a:srgbClr val="1E293B"/>
                        </a:solidFill>
                        <a:latin typeface="Cambria Math" panose="02040503050406030204" pitchFamily="18" charset="0"/>
                      </a:rPr>
                      <m:t>Q</m:t>
                    </m:r>
                  </m:oMath>
                </a14:m>
                <a:r>
                  <a:rPr sz="2000" b="1">
                    <a:solidFill>
                      <a:srgbClr val="1E293B"/>
                    </a:solidFill>
                    <a:latin typeface="Calibri"/>
                  </a:rPr>
                  <a:t>: "Khách hàng được giảm giá 10%". Xét tính đúng, sai của các khẳng định sau:</a:t>
                </a:r>
              </a:p>
              <a:p>
                <a:pPr algn="l">
                  <a:spcAft>
                    <a:spcPts val="800"/>
                  </a:spcAft>
                </a:pPr>
                <a:r>
                  <a:rPr sz="2000" b="1">
                    <a:solidFill>
                      <a:srgbClr val="1E293B"/>
                    </a:solidFill>
                    <a:latin typeface="Calibri"/>
                  </a:rPr>
                  <a:t>a) Thông báo của siêu thị là mệnh đề có dạng </a:t>
                </a:r>
                <a14:m>
                  <m:oMath xmlns:m="http://schemas.openxmlformats.org/officeDocument/2006/math">
                    <m:r>
                      <a:rPr lang="vi-VN" sz="2000" b="1">
                        <a:solidFill>
                          <a:srgbClr val="1E293B"/>
                        </a:solidFill>
                        <a:latin typeface="Cambria Math" panose="02040503050406030204" pitchFamily="18" charset="0"/>
                      </a:rPr>
                      <m:t>P⇒Q</m:t>
                    </m:r>
                  </m:oMath>
                </a14:m>
                <a:r>
                  <a:rPr sz="2000" b="1">
                    <a:solidFill>
                      <a:srgbClr val="1E293B"/>
                    </a:solidFill>
                    <a:latin typeface="Calibri"/>
                  </a:rPr>
                  <a:t>.</a:t>
                </a:r>
              </a:p>
              <a:p>
                <a:pPr algn="l">
                  <a:spcAft>
                    <a:spcPts val="800"/>
                  </a:spcAft>
                </a:pPr>
                <a:r>
                  <a:rPr sz="2000" b="1">
                    <a:solidFill>
                      <a:srgbClr val="1E293B"/>
                    </a:solidFill>
                    <a:latin typeface="Calibri"/>
                  </a:rPr>
                  <a:t>b) "Hóa đơn từ 500 nghìn đồng trở lên" là điều kiện cần để khách hàng được giảm giá 10%.</a:t>
                </a:r>
              </a:p>
              <a:p>
                <a:pPr algn="l">
                  <a:spcAft>
                    <a:spcPts val="800"/>
                  </a:spcAft>
                </a:pPr>
                <a:r>
                  <a:rPr sz="2000" b="1">
                    <a:solidFill>
                      <a:srgbClr val="1E293B"/>
                    </a:solidFill>
                    <a:latin typeface="Calibri"/>
                  </a:rPr>
                  <a:t>c) Mệnh đề đảo của thông báo là: "Nếu khách hàng được giảm giá 10% thì hóa đơn của khách hàng từ 500 nghìn đồng trở lên".</a:t>
                </a:r>
              </a:p>
              <a:p>
                <a:pPr algn="l">
                  <a:spcAft>
                    <a:spcPts val="800"/>
                  </a:spcAft>
                </a:pPr>
                <a:r>
                  <a:rPr sz="2000" b="1">
                    <a:solidFill>
                      <a:srgbClr val="1E293B"/>
                    </a:solidFill>
                    <a:latin typeface="Calibri"/>
                  </a:rPr>
                  <a:t>d) Bạn An có hóa đơn 450 nghìn đồng nhưng vẫn được giảm giá 10% (nhờ thẻ thành viên). Điều này chứng tỏ thông báo của siêu thị là sai.</a:t>
                </a:r>
              </a:p>
            </p:txBody>
          </p:sp>
        </mc:Choice>
        <mc:Fallback>
          <p:sp>
            <p:nvSpPr>
              <p:cNvPr id="7" name="TextBox 6"/>
              <p:cNvSpPr txBox="1"/>
              <p:nvPr/>
            </p:nvSpPr>
            <p:spPr>
              <a:xfrm>
                <a:off x="731520" y="1463040"/>
                <a:ext cx="10789920" cy="4754880"/>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(Vận dụng – thực tiễn) Một siêu thị điện máy thông báo: "Nếu hóa đơn của khách hàng từ 500 nghìn đồng trở lên thì khách hàng được giảm giá 10%." Gọi </a:t>
                </a:r>
                <a:r>
                  <a:rPr lang="vi-VN"/>
                  <a:t>P</a:t>
                </a:r>
                <a:r>
                  <a:rPr sz="2000" b="1">
                    <a:solidFill>
                      <a:srgbClr val="1E293B"/>
                    </a:solidFill>
                    <a:latin typeface="Calibri"/>
                  </a:rPr>
                  <a:t>: "Hóa đơn của khách hàng từ 500 nghìn đồng trở lên", </a:t>
                </a:r>
                <a:r>
                  <a:rPr lang="vi-VN"/>
                  <a:t>Q</a:t>
                </a:r>
                <a:r>
                  <a:rPr sz="2000" b="1">
                    <a:solidFill>
                      <a:srgbClr val="1E293B"/>
                    </a:solidFill>
                    <a:latin typeface="Calibri"/>
                  </a:rPr>
                  <a:t>: "Khách hàng được giảm giá 10%". Xét tính đúng, sai của các khẳng định sau:</a:t>
                </a:r>
              </a:p>
              <a:p>
                <a:pPr algn="l">
                  <a:spcAft>
                    <a:spcPts val="800"/>
                  </a:spcAft>
                </a:pPr>
                <a:r>
                  <a:rPr sz="2000" b="1">
                    <a:solidFill>
                      <a:srgbClr val="1E293B"/>
                    </a:solidFill>
                    <a:latin typeface="Calibri"/>
                  </a:rPr>
                  <a:t>a) Thông báo của siêu thị là mệnh đề có dạng </a:t>
                </a:r>
                <a:r>
                  <a:rPr lang="vi-VN"/>
                  <a:t>P\Rightarrow Q</a:t>
                </a:r>
                <a:r>
                  <a:rPr sz="2000" b="1">
                    <a:solidFill>
                      <a:srgbClr val="1E293B"/>
                    </a:solidFill>
                    <a:latin typeface="Calibri"/>
                  </a:rPr>
                  <a:t>.</a:t>
                </a:r>
              </a:p>
              <a:p>
                <a:pPr algn="l">
                  <a:spcAft>
                    <a:spcPts val="800"/>
                  </a:spcAft>
                </a:pPr>
                <a:r>
                  <a:rPr sz="2000" b="1">
                    <a:solidFill>
                      <a:srgbClr val="1E293B"/>
                    </a:solidFill>
                    <a:latin typeface="Calibri"/>
                  </a:rPr>
                  <a:t>b) "Hóa đơn từ 500 nghìn đồng trở lên" là điều kiện cần để khách hàng được giảm giá 10%.</a:t>
                </a:r>
              </a:p>
              <a:p>
                <a:pPr algn="l">
                  <a:spcAft>
                    <a:spcPts val="800"/>
                  </a:spcAft>
                </a:pPr>
                <a:r>
                  <a:rPr sz="2000" b="1">
                    <a:solidFill>
                      <a:srgbClr val="1E293B"/>
                    </a:solidFill>
                    <a:latin typeface="Calibri"/>
                  </a:rPr>
                  <a:t>c) Mệnh đề đảo của thông báo là: "Nếu khách hàng được giảm giá 10% thì hóa đơn của khách hàng từ 500 nghìn đồng trở lên".</a:t>
                </a:r>
              </a:p>
              <a:p>
                <a:pPr algn="l">
                  <a:spcAft>
                    <a:spcPts val="800"/>
                  </a:spcAft>
                </a:pPr>
                <a:r>
                  <a:rPr sz="2000" b="1">
                    <a:solidFill>
                      <a:srgbClr val="1E293B"/>
                    </a:solidFill>
                    <a:latin typeface="Calibri"/>
                  </a:rPr>
                  <a:t>d) Bạn An có hóa đơn 450 nghìn đồng nhưng vẫn được giảm giá 10% (nhờ thẻ thành viên). Điều này chứng tỏ thông báo của siêu thị là sai.</a:t>
                </a:r>
              </a:p>
            </p:txBody>
          </p:sp>
        </mc:Fallback>
      </mc:AlternateContent>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ĐỀ MINH HỌA · PHẦN II · CÂU 1</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Đề cương Toán 10 · Giữa học kì I          28</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475488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000">
                    <a:solidFill>
                      <a:srgbClr val="1E293B"/>
                    </a:solidFill>
                    <a:latin typeface="Calibri"/>
                  </a:rPr>
                  <a:t>a) Đúng: Thông báo có dạng "Nếu </a:t>
                </a:r>
                <a14:m>
                  <m:oMath xmlns:m="http://schemas.openxmlformats.org/officeDocument/2006/math">
                    <m:r>
                      <a:rPr lang="vi-VN" sz="2000" b="0">
                        <a:solidFill>
                          <a:srgbClr val="1E293B"/>
                        </a:solidFill>
                        <a:latin typeface="Cambria Math" panose="02040503050406030204" pitchFamily="18" charset="0"/>
                      </a:rPr>
                      <m:t>P</m:t>
                    </m:r>
                  </m:oMath>
                </a14:m>
                <a:r>
                  <a:rPr sz="2000">
                    <a:solidFill>
                      <a:srgbClr val="1E293B"/>
                    </a:solidFill>
                    <a:latin typeface="Calibri"/>
                  </a:rPr>
                  <a:t> thì </a:t>
                </a:r>
                <a14:m>
                  <m:oMath xmlns:m="http://schemas.openxmlformats.org/officeDocument/2006/math">
                    <m:r>
                      <a:rPr lang="vi-VN" sz="2000" b="0">
                        <a:solidFill>
                          <a:srgbClr val="1E293B"/>
                        </a:solidFill>
                        <a:latin typeface="Cambria Math" panose="02040503050406030204" pitchFamily="18" charset="0"/>
                      </a:rPr>
                      <m:t>Q</m:t>
                    </m:r>
                  </m:oMath>
                </a14:m>
                <a:r>
                  <a:rPr sz="2000">
                    <a:solidFill>
                      <a:srgbClr val="1E293B"/>
                    </a:solidFill>
                    <a:latin typeface="Calibri"/>
                  </a:rPr>
                  <a:t>", tức là </a:t>
                </a:r>
                <a14:m>
                  <m:oMath xmlns:m="http://schemas.openxmlformats.org/officeDocument/2006/math">
                    <m:r>
                      <a:rPr lang="vi-VN" sz="2000" b="0">
                        <a:solidFill>
                          <a:srgbClr val="1E293B"/>
                        </a:solidFill>
                        <a:latin typeface="Cambria Math" panose="02040503050406030204" pitchFamily="18" charset="0"/>
                      </a:rPr>
                      <m:t>P⇒Q</m:t>
                    </m:r>
                  </m:oMath>
                </a14:m>
                <a:r>
                  <a:rPr sz="2000">
                    <a:solidFill>
                      <a:srgbClr val="1E293B"/>
                    </a:solidFill>
                    <a:latin typeface="Calibri"/>
                  </a:rPr>
                  <a:t>.</a:t>
                </a:r>
              </a:p>
              <a:p>
                <a:pPr algn="l" marL="365760" indent="-365760">
                  <a:spcAft>
                    <a:spcPts val="800"/>
                  </a:spcAft>
                  <a:buClr>
                    <a:srgbClr val="1E40AF"/>
                  </a:buClr>
                  <a:buFont typeface="Arial"/>
                  <a:buChar char="•"/>
                </a:pPr>
                <a:r>
                  <a:rPr sz="2000">
                    <a:solidFill>
                      <a:srgbClr val="1E293B"/>
                    </a:solidFill>
                    <a:latin typeface="Calibri"/>
                  </a:rPr>
                  <a:t>b) Sai: Trong </a:t>
                </a:r>
                <a14:m>
                  <m:oMath xmlns:m="http://schemas.openxmlformats.org/officeDocument/2006/math">
                    <m:r>
                      <a:rPr lang="vi-VN" sz="2000" b="0">
                        <a:solidFill>
                          <a:srgbClr val="1E293B"/>
                        </a:solidFill>
                        <a:latin typeface="Cambria Math" panose="02040503050406030204" pitchFamily="18" charset="0"/>
                      </a:rPr>
                      <m:t>P⇒Q</m:t>
                    </m:r>
                  </m:oMath>
                </a14:m>
                <a:r>
                  <a:rPr sz="2000">
                    <a:solidFill>
                      <a:srgbClr val="1E293B"/>
                    </a:solidFill>
                    <a:latin typeface="Calibri"/>
                  </a:rPr>
                  <a:t>, </a:t>
                </a:r>
                <a14:m>
                  <m:oMath xmlns:m="http://schemas.openxmlformats.org/officeDocument/2006/math">
                    <m:r>
                      <a:rPr lang="vi-VN" sz="2000" b="0">
                        <a:solidFill>
                          <a:srgbClr val="1E293B"/>
                        </a:solidFill>
                        <a:latin typeface="Cambria Math" panose="02040503050406030204" pitchFamily="18" charset="0"/>
                      </a:rPr>
                      <m:t>P</m:t>
                    </m:r>
                  </m:oMath>
                </a14:m>
                <a:r>
                  <a:rPr sz="2000">
                    <a:solidFill>
                      <a:srgbClr val="1E293B"/>
                    </a:solidFill>
                    <a:latin typeface="Calibri"/>
                  </a:rPr>
                  <a:t> là điều kiện đủ để có </a:t>
                </a:r>
                <a14:m>
                  <m:oMath xmlns:m="http://schemas.openxmlformats.org/officeDocument/2006/math">
                    <m:r>
                      <a:rPr lang="vi-VN" sz="2000" b="0">
                        <a:solidFill>
                          <a:srgbClr val="1E293B"/>
                        </a:solidFill>
                        <a:latin typeface="Cambria Math" panose="02040503050406030204" pitchFamily="18" charset="0"/>
                      </a:rPr>
                      <m:t>Q</m:t>
                    </m:r>
                  </m:oMath>
                </a14:m>
                <a:r>
                  <a:rPr sz="2000">
                    <a:solidFill>
                      <a:srgbClr val="1E293B"/>
                    </a:solidFill>
                    <a:latin typeface="Calibri"/>
                  </a:rPr>
                  <a:t>; </a:t>
                </a:r>
                <a14:m>
                  <m:oMath xmlns:m="http://schemas.openxmlformats.org/officeDocument/2006/math">
                    <m:r>
                      <a:rPr lang="vi-VN" sz="2000" b="0">
                        <a:solidFill>
                          <a:srgbClr val="1E293B"/>
                        </a:solidFill>
                        <a:latin typeface="Cambria Math" panose="02040503050406030204" pitchFamily="18" charset="0"/>
                      </a:rPr>
                      <m:t>Q</m:t>
                    </m:r>
                  </m:oMath>
                </a14:m>
                <a:r>
                  <a:rPr sz="2000">
                    <a:solidFill>
                      <a:srgbClr val="1E293B"/>
                    </a:solidFill>
                    <a:latin typeface="Calibri"/>
                  </a:rPr>
                  <a:t> mới là điều kiện cần để có </a:t>
                </a:r>
                <a14:m>
                  <m:oMath xmlns:m="http://schemas.openxmlformats.org/officeDocument/2006/math">
                    <m:r>
                      <a:rPr lang="vi-VN" sz="2000" b="0">
                        <a:solidFill>
                          <a:srgbClr val="1E293B"/>
                        </a:solidFill>
                        <a:latin typeface="Cambria Math" panose="02040503050406030204" pitchFamily="18" charset="0"/>
                      </a:rPr>
                      <m:t>P</m:t>
                    </m:r>
                  </m:oMath>
                </a14:m>
                <a:r>
                  <a:rPr sz="2000">
                    <a:solidFill>
                      <a:srgbClr val="1E293B"/>
                    </a:solidFill>
                    <a:latin typeface="Calibri"/>
                  </a:rPr>
                  <a:t>.</a:t>
                </a:r>
              </a:p>
              <a:p>
                <a:pPr algn="l" marL="365760" indent="-365760">
                  <a:spcAft>
                    <a:spcPts val="800"/>
                  </a:spcAft>
                  <a:buClr>
                    <a:srgbClr val="1E40AF"/>
                  </a:buClr>
                  <a:buFont typeface="Arial"/>
                  <a:buChar char="•"/>
                </a:pPr>
                <a:r>
                  <a:rPr sz="2000">
                    <a:solidFill>
                      <a:srgbClr val="1E293B"/>
                    </a:solidFill>
                    <a:latin typeface="Calibri"/>
                  </a:rPr>
                  <a:t>c) Đúng: Mệnh đề đảo của </a:t>
                </a:r>
                <a14:m>
                  <m:oMath xmlns:m="http://schemas.openxmlformats.org/officeDocument/2006/math">
                    <m:r>
                      <a:rPr lang="vi-VN" sz="2000" b="0">
                        <a:solidFill>
                          <a:srgbClr val="1E293B"/>
                        </a:solidFill>
                        <a:latin typeface="Cambria Math" panose="02040503050406030204" pitchFamily="18" charset="0"/>
                      </a:rPr>
                      <m:t>P⇒Q</m:t>
                    </m:r>
                  </m:oMath>
                </a14:m>
                <a:r>
                  <a:rPr sz="2000">
                    <a:solidFill>
                      <a:srgbClr val="1E293B"/>
                    </a:solidFill>
                    <a:latin typeface="Calibri"/>
                  </a:rPr>
                  <a:t> là </a:t>
                </a:r>
                <a14:m>
                  <m:oMath xmlns:m="http://schemas.openxmlformats.org/officeDocument/2006/math">
                    <m:r>
                      <a:rPr lang="vi-VN" sz="2000" b="0">
                        <a:solidFill>
                          <a:srgbClr val="1E293B"/>
                        </a:solidFill>
                        <a:latin typeface="Cambria Math" panose="02040503050406030204" pitchFamily="18" charset="0"/>
                      </a:rPr>
                      <m:t>Q⇒P</m:t>
                    </m:r>
                  </m:oMath>
                </a14:m>
                <a:r>
                  <a:rPr sz="2000">
                    <a:solidFill>
                      <a:srgbClr val="1E293B"/>
                    </a:solidFill>
                    <a:latin typeface="Calibri"/>
                  </a:rPr>
                  <a:t>, đúng như phát biểu.</a:t>
                </a:r>
              </a:p>
              <a:p>
                <a:pPr algn="l" marL="365760" indent="-365760">
                  <a:spcAft>
                    <a:spcPts val="800"/>
                  </a:spcAft>
                  <a:buClr>
                    <a:srgbClr val="1E40AF"/>
                  </a:buClr>
                  <a:buFont typeface="Arial"/>
                  <a:buChar char="•"/>
                </a:pPr>
                <a:r>
                  <a:rPr sz="2000">
                    <a:solidFill>
                      <a:srgbClr val="1E293B"/>
                    </a:solidFill>
                    <a:latin typeface="Calibri"/>
                  </a:rPr>
                  <a:t>d) Sai: Mệnh đề </a:t>
                </a:r>
                <a14:m>
                  <m:oMath xmlns:m="http://schemas.openxmlformats.org/officeDocument/2006/math">
                    <m:r>
                      <a:rPr lang="vi-VN" sz="2000" b="0">
                        <a:solidFill>
                          <a:srgbClr val="1E293B"/>
                        </a:solidFill>
                        <a:latin typeface="Cambria Math" panose="02040503050406030204" pitchFamily="18" charset="0"/>
                      </a:rPr>
                      <m:t>P⇒Q</m:t>
                    </m:r>
                  </m:oMath>
                </a14:m>
                <a:r>
                  <a:rPr sz="2000">
                    <a:solidFill>
                      <a:srgbClr val="1E293B"/>
                    </a:solidFill>
                    <a:latin typeface="Calibri"/>
                  </a:rPr>
                  <a:t> chỉ sai khi </a:t>
                </a:r>
                <a14:m>
                  <m:oMath xmlns:m="http://schemas.openxmlformats.org/officeDocument/2006/math">
                    <m:r>
                      <a:rPr lang="vi-VN" sz="2000" b="0">
                        <a:solidFill>
                          <a:srgbClr val="1E293B"/>
                        </a:solidFill>
                        <a:latin typeface="Cambria Math" panose="02040503050406030204" pitchFamily="18" charset="0"/>
                      </a:rPr>
                      <m:t>P</m:t>
                    </m:r>
                  </m:oMath>
                </a14:m>
                <a:r>
                  <a:rPr sz="2000">
                    <a:solidFill>
                      <a:srgbClr val="1E293B"/>
                    </a:solidFill>
                    <a:latin typeface="Calibri"/>
                  </a:rPr>
                  <a:t> đúng và </a:t>
                </a:r>
                <a14:m>
                  <m:oMath xmlns:m="http://schemas.openxmlformats.org/officeDocument/2006/math">
                    <m:r>
                      <a:rPr lang="vi-VN" sz="2000" b="0">
                        <a:solidFill>
                          <a:srgbClr val="1E293B"/>
                        </a:solidFill>
                        <a:latin typeface="Cambria Math" panose="02040503050406030204" pitchFamily="18" charset="0"/>
                      </a:rPr>
                      <m:t>Q</m:t>
                    </m:r>
                  </m:oMath>
                </a14:m>
                <a:r>
                  <a:rPr sz="2000">
                    <a:solidFill>
                      <a:srgbClr val="1E293B"/>
                    </a:solidFill>
                    <a:latin typeface="Calibri"/>
                  </a:rPr>
                  <a:t> sai. Với An, </a:t>
                </a:r>
                <a14:m>
                  <m:oMath xmlns:m="http://schemas.openxmlformats.org/officeDocument/2006/math">
                    <m:r>
                      <a:rPr lang="vi-VN" sz="2000" b="0">
                        <a:solidFill>
                          <a:srgbClr val="1E293B"/>
                        </a:solidFill>
                        <a:latin typeface="Cambria Math" panose="02040503050406030204" pitchFamily="18" charset="0"/>
                      </a:rPr>
                      <m:t>P</m:t>
                    </m:r>
                  </m:oMath>
                </a14:m>
                <a:r>
                  <a:rPr sz="2000">
                    <a:solidFill>
                      <a:srgbClr val="1E293B"/>
                    </a:solidFill>
                    <a:latin typeface="Calibri"/>
                  </a:rPr>
                  <a:t> sai nên trường hợp này không làm thông báo sai (nó chỉ cho thấy mệnh đề đảo </a:t>
                </a:r>
                <a14:m>
                  <m:oMath xmlns:m="http://schemas.openxmlformats.org/officeDocument/2006/math">
                    <m:r>
                      <a:rPr lang="vi-VN" sz="2000" b="0">
                        <a:solidFill>
                          <a:srgbClr val="1E293B"/>
                        </a:solidFill>
                        <a:latin typeface="Cambria Math" panose="02040503050406030204" pitchFamily="18" charset="0"/>
                      </a:rPr>
                      <m:t>Q⇒P</m:t>
                    </m:r>
                  </m:oMath>
                </a14:m>
                <a:r>
                  <a:rPr sz="2000">
                    <a:solidFill>
                      <a:srgbClr val="1E293B"/>
                    </a:solidFill>
                    <a:latin typeface="Calibri"/>
                  </a:rPr>
                  <a:t> sai).</a:t>
                </a:r>
              </a:p>
            </p:txBody>
          </p:sp>
        </mc:Choice>
        <mc:Fallback>
          <p:sp>
            <p:nvSpPr>
              <p:cNvPr id="7" name="TextBox 6"/>
              <p:cNvSpPr txBox="1"/>
              <p:nvPr/>
            </p:nvSpPr>
            <p:spPr>
              <a:xfrm>
                <a:off x="731520" y="1463040"/>
                <a:ext cx="10789920" cy="475488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000">
                    <a:solidFill>
                      <a:srgbClr val="1E293B"/>
                    </a:solidFill>
                    <a:latin typeface="Calibri"/>
                  </a:rPr>
                  <a:t>a) Đúng: Thông báo có dạng "Nếu </a:t>
                </a:r>
                <a:r>
                  <a:rPr lang="vi-VN"/>
                  <a:t>P</a:t>
                </a:r>
                <a:r>
                  <a:rPr sz="2000">
                    <a:solidFill>
                      <a:srgbClr val="1E293B"/>
                    </a:solidFill>
                    <a:latin typeface="Calibri"/>
                  </a:rPr>
                  <a:t> thì </a:t>
                </a:r>
                <a:r>
                  <a:rPr lang="vi-VN"/>
                  <a:t>Q</a:t>
                </a:r>
                <a:r>
                  <a:rPr sz="2000">
                    <a:solidFill>
                      <a:srgbClr val="1E293B"/>
                    </a:solidFill>
                    <a:latin typeface="Calibri"/>
                  </a:rPr>
                  <a:t>", tức là </a:t>
                </a:r>
                <a:r>
                  <a:rPr lang="vi-VN"/>
                  <a:t>P\Rightarrow Q</a:t>
                </a:r>
                <a:r>
                  <a:rPr sz="2000">
                    <a:solidFill>
                      <a:srgbClr val="1E293B"/>
                    </a:solidFill>
                    <a:latin typeface="Calibri"/>
                  </a:rPr>
                  <a:t>.</a:t>
                </a:r>
              </a:p>
              <a:p>
                <a:pPr algn="l" marL="365760" indent="-365760">
                  <a:spcAft>
                    <a:spcPts val="800"/>
                  </a:spcAft>
                  <a:buClr>
                    <a:srgbClr val="1E40AF"/>
                  </a:buClr>
                  <a:buFont typeface="Arial"/>
                  <a:buChar char="•"/>
                </a:pPr>
                <a:r>
                  <a:rPr sz="2000">
                    <a:solidFill>
                      <a:srgbClr val="1E293B"/>
                    </a:solidFill>
                    <a:latin typeface="Calibri"/>
                  </a:rPr>
                  <a:t>b) Sai: Trong </a:t>
                </a:r>
                <a:r>
                  <a:rPr lang="vi-VN"/>
                  <a:t>P\Rightarrow Q</a:t>
                </a:r>
                <a:r>
                  <a:rPr sz="2000">
                    <a:solidFill>
                      <a:srgbClr val="1E293B"/>
                    </a:solidFill>
                    <a:latin typeface="Calibri"/>
                  </a:rPr>
                  <a:t>, </a:t>
                </a:r>
                <a:r>
                  <a:rPr lang="vi-VN"/>
                  <a:t>P</a:t>
                </a:r>
                <a:r>
                  <a:rPr sz="2000">
                    <a:solidFill>
                      <a:srgbClr val="1E293B"/>
                    </a:solidFill>
                    <a:latin typeface="Calibri"/>
                  </a:rPr>
                  <a:t> là điều kiện đủ để có </a:t>
                </a:r>
                <a:r>
                  <a:rPr lang="vi-VN"/>
                  <a:t>Q</a:t>
                </a:r>
                <a:r>
                  <a:rPr sz="2000">
                    <a:solidFill>
                      <a:srgbClr val="1E293B"/>
                    </a:solidFill>
                    <a:latin typeface="Calibri"/>
                  </a:rPr>
                  <a:t>; </a:t>
                </a:r>
                <a:r>
                  <a:rPr lang="vi-VN"/>
                  <a:t>Q</a:t>
                </a:r>
                <a:r>
                  <a:rPr sz="2000">
                    <a:solidFill>
                      <a:srgbClr val="1E293B"/>
                    </a:solidFill>
                    <a:latin typeface="Calibri"/>
                  </a:rPr>
                  <a:t> mới là điều kiện cần để có </a:t>
                </a:r>
                <a:r>
                  <a:rPr lang="vi-VN"/>
                  <a:t>P</a:t>
                </a:r>
                <a:r>
                  <a:rPr sz="2000">
                    <a:solidFill>
                      <a:srgbClr val="1E293B"/>
                    </a:solidFill>
                    <a:latin typeface="Calibri"/>
                  </a:rPr>
                  <a:t>.</a:t>
                </a:r>
              </a:p>
              <a:p>
                <a:pPr algn="l" marL="365760" indent="-365760">
                  <a:spcAft>
                    <a:spcPts val="800"/>
                  </a:spcAft>
                  <a:buClr>
                    <a:srgbClr val="1E40AF"/>
                  </a:buClr>
                  <a:buFont typeface="Arial"/>
                  <a:buChar char="•"/>
                </a:pPr>
                <a:r>
                  <a:rPr sz="2000">
                    <a:solidFill>
                      <a:srgbClr val="1E293B"/>
                    </a:solidFill>
                    <a:latin typeface="Calibri"/>
                  </a:rPr>
                  <a:t>c) Đúng: Mệnh đề đảo của </a:t>
                </a:r>
                <a:r>
                  <a:rPr lang="vi-VN"/>
                  <a:t>P\Rightarrow Q</a:t>
                </a:r>
                <a:r>
                  <a:rPr sz="2000">
                    <a:solidFill>
                      <a:srgbClr val="1E293B"/>
                    </a:solidFill>
                    <a:latin typeface="Calibri"/>
                  </a:rPr>
                  <a:t> là </a:t>
                </a:r>
                <a:r>
                  <a:rPr lang="vi-VN"/>
                  <a:t>Q\Rightarrow P</a:t>
                </a:r>
                <a:r>
                  <a:rPr sz="2000">
                    <a:solidFill>
                      <a:srgbClr val="1E293B"/>
                    </a:solidFill>
                    <a:latin typeface="Calibri"/>
                  </a:rPr>
                  <a:t>, đúng như phát biểu.</a:t>
                </a:r>
              </a:p>
              <a:p>
                <a:pPr algn="l" marL="365760" indent="-365760">
                  <a:spcAft>
                    <a:spcPts val="800"/>
                  </a:spcAft>
                  <a:buClr>
                    <a:srgbClr val="1E40AF"/>
                  </a:buClr>
                  <a:buFont typeface="Arial"/>
                  <a:buChar char="•"/>
                </a:pPr>
                <a:r>
                  <a:rPr sz="2000">
                    <a:solidFill>
                      <a:srgbClr val="1E293B"/>
                    </a:solidFill>
                    <a:latin typeface="Calibri"/>
                  </a:rPr>
                  <a:t>d) Sai: Mệnh đề </a:t>
                </a:r>
                <a:r>
                  <a:rPr lang="vi-VN"/>
                  <a:t>P\Rightarrow Q</a:t>
                </a:r>
                <a:r>
                  <a:rPr sz="2000">
                    <a:solidFill>
                      <a:srgbClr val="1E293B"/>
                    </a:solidFill>
                    <a:latin typeface="Calibri"/>
                  </a:rPr>
                  <a:t> chỉ sai khi </a:t>
                </a:r>
                <a:r>
                  <a:rPr lang="vi-VN"/>
                  <a:t>P</a:t>
                </a:r>
                <a:r>
                  <a:rPr sz="2000">
                    <a:solidFill>
                      <a:srgbClr val="1E293B"/>
                    </a:solidFill>
                    <a:latin typeface="Calibri"/>
                  </a:rPr>
                  <a:t> đúng và </a:t>
                </a:r>
                <a:r>
                  <a:rPr lang="vi-VN"/>
                  <a:t>Q</a:t>
                </a:r>
                <a:r>
                  <a:rPr sz="2000">
                    <a:solidFill>
                      <a:srgbClr val="1E293B"/>
                    </a:solidFill>
                    <a:latin typeface="Calibri"/>
                  </a:rPr>
                  <a:t> sai. Với An, </a:t>
                </a:r>
                <a:r>
                  <a:rPr lang="vi-VN"/>
                  <a:t>P</a:t>
                </a:r>
                <a:r>
                  <a:rPr sz="2000">
                    <a:solidFill>
                      <a:srgbClr val="1E293B"/>
                    </a:solidFill>
                    <a:latin typeface="Calibri"/>
                  </a:rPr>
                  <a:t> sai nên trường hợp này không làm thông báo sai (nó chỉ cho thấy mệnh đề đảo </a:t>
                </a:r>
                <a:r>
                  <a:rPr lang="vi-VN"/>
                  <a:t>Q\Rightarrow P</a:t>
                </a:r>
                <a:r>
                  <a:rPr sz="2000">
                    <a:solidFill>
                      <a:srgbClr val="1E293B"/>
                    </a:solidFill>
                    <a:latin typeface="Calibri"/>
                  </a:rPr>
                  <a:t> sai).</a:t>
                </a:r>
              </a:p>
            </p:txBody>
          </p:sp>
        </mc:Fallback>
      </mc:AlternateContent>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ĐỀ MINH HỌA · PHẦN II · CÂU 2</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Đề cương Toán 10 · Giữa học kì I          29</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4754880"/>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(Vận dụng – thực tiễn) Lớp 10A1 có 40 học sinh. Khảo sát cho thấy có 25 học sinh dùng Zalo để học nhóm, 18 học sinh dùng Google Classroom, trong đó có 10 học sinh dùng cả hai ứng dụng. Gọi </a:t>
                </a:r>
                <a14:m>
                  <m:oMath xmlns:m="http://schemas.openxmlformats.org/officeDocument/2006/math">
                    <m:r>
                      <a:rPr lang="vi-VN" sz="2000" b="1">
                        <a:solidFill>
                          <a:srgbClr val="1E293B"/>
                        </a:solidFill>
                        <a:latin typeface="Cambria Math" panose="02040503050406030204" pitchFamily="18" charset="0"/>
                      </a:rPr>
                      <m:t>A</m:t>
                    </m:r>
                  </m:oMath>
                </a14:m>
                <a:r>
                  <a:rPr sz="2000" b="1">
                    <a:solidFill>
                      <a:srgbClr val="1E293B"/>
                    </a:solidFill>
                    <a:latin typeface="Calibri"/>
                  </a:rPr>
                  <a:t> là tập hợp học sinh dùng Zalo, </a:t>
                </a:r>
                <a14:m>
                  <m:oMath xmlns:m="http://schemas.openxmlformats.org/officeDocument/2006/math">
                    <m:r>
                      <a:rPr lang="vi-VN" sz="2000" b="1">
                        <a:solidFill>
                          <a:srgbClr val="1E293B"/>
                        </a:solidFill>
                        <a:latin typeface="Cambria Math" panose="02040503050406030204" pitchFamily="18" charset="0"/>
                      </a:rPr>
                      <m:t>B</m:t>
                    </m:r>
                  </m:oMath>
                </a14:m>
                <a:r>
                  <a:rPr sz="2000" b="1">
                    <a:solidFill>
                      <a:srgbClr val="1E293B"/>
                    </a:solidFill>
                    <a:latin typeface="Calibri"/>
                  </a:rPr>
                  <a:t> là tập hợp học sinh dùng Google Classroom. Xét tính đúng, sai của các khẳng định sau:</a:t>
                </a:r>
              </a:p>
              <a:p>
                <a:pPr algn="l">
                  <a:spcAft>
                    <a:spcPts val="800"/>
                  </a:spcAft>
                </a:pPr>
                <a:r>
                  <a:rPr sz="2000" b="1">
                    <a:solidFill>
                      <a:srgbClr val="1E293B"/>
                    </a:solidFill>
                    <a:latin typeface="Calibri"/>
                  </a:rPr>
                  <a:t>a) </a:t>
                </a:r>
                <a14:m>
                  <m:oMath xmlns:m="http://schemas.openxmlformats.org/officeDocument/2006/math">
                    <m:r>
                      <a:rPr lang="vi-VN" sz="2000" b="1">
                        <a:solidFill>
                          <a:srgbClr val="1E293B"/>
                        </a:solidFill>
                        <a:latin typeface="Cambria Math" panose="02040503050406030204" pitchFamily="18" charset="0"/>
                      </a:rPr>
                      <m:t>n(A∩B)=10</m:t>
                    </m:r>
                  </m:oMath>
                </a14:m>
                <a:r>
                  <a:rPr sz="2000" b="1">
                    <a:solidFill>
                      <a:srgbClr val="1E293B"/>
                    </a:solidFill>
                    <a:latin typeface="Calibri"/>
                  </a:rPr>
                  <a:t>.</a:t>
                </a:r>
              </a:p>
              <a:p>
                <a:pPr algn="l">
                  <a:spcAft>
                    <a:spcPts val="800"/>
                  </a:spcAft>
                </a:pPr>
                <a:r>
                  <a:rPr sz="2000" b="1">
                    <a:solidFill>
                      <a:srgbClr val="1E293B"/>
                    </a:solidFill>
                    <a:latin typeface="Calibri"/>
                  </a:rPr>
                  <a:t>b) Có 43 học sinh dùng ít nhất một trong hai ứng dụng.</a:t>
                </a:r>
              </a:p>
              <a:p>
                <a:pPr algn="l">
                  <a:spcAft>
                    <a:spcPts val="800"/>
                  </a:spcAft>
                </a:pPr>
                <a:r>
                  <a:rPr sz="2000" b="1">
                    <a:solidFill>
                      <a:srgbClr val="1E293B"/>
                    </a:solidFill>
                    <a:latin typeface="Calibri"/>
                  </a:rPr>
                  <a:t>c) Số học sinh chỉ dùng Zalo (không dùng Google Classroom) là 15.</a:t>
                </a:r>
              </a:p>
              <a:p>
                <a:pPr algn="l">
                  <a:spcAft>
                    <a:spcPts val="800"/>
                  </a:spcAft>
                </a:pPr>
                <a:r>
                  <a:rPr sz="2000" b="1">
                    <a:solidFill>
                      <a:srgbClr val="1E293B"/>
                    </a:solidFill>
                    <a:latin typeface="Calibri"/>
                  </a:rPr>
                  <a:t>d) Có 7 học sinh không dùng ứng dụng nào trong hai ứng dụng trên.</a:t>
                </a:r>
              </a:p>
            </p:txBody>
          </p:sp>
        </mc:Choice>
        <mc:Fallback>
          <p:sp>
            <p:nvSpPr>
              <p:cNvPr id="7" name="TextBox 6"/>
              <p:cNvSpPr txBox="1"/>
              <p:nvPr/>
            </p:nvSpPr>
            <p:spPr>
              <a:xfrm>
                <a:off x="731520" y="1463040"/>
                <a:ext cx="10789920" cy="4754880"/>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(Vận dụng – thực tiễn) Lớp 10A1 có 40 học sinh. Khảo sát cho thấy có 25 học sinh dùng Zalo để học nhóm, 18 học sinh dùng Google Classroom, trong đó có 10 học sinh dùng cả hai ứng dụng. Gọi </a:t>
                </a:r>
                <a:r>
                  <a:rPr lang="vi-VN"/>
                  <a:t>A</a:t>
                </a:r>
                <a:r>
                  <a:rPr sz="2000" b="1">
                    <a:solidFill>
                      <a:srgbClr val="1E293B"/>
                    </a:solidFill>
                    <a:latin typeface="Calibri"/>
                  </a:rPr>
                  <a:t> là tập hợp học sinh dùng Zalo, </a:t>
                </a:r>
                <a:r>
                  <a:rPr lang="vi-VN"/>
                  <a:t>B</a:t>
                </a:r>
                <a:r>
                  <a:rPr sz="2000" b="1">
                    <a:solidFill>
                      <a:srgbClr val="1E293B"/>
                    </a:solidFill>
                    <a:latin typeface="Calibri"/>
                  </a:rPr>
                  <a:t> là tập hợp học sinh dùng Google Classroom. Xét tính đúng, sai của các khẳng định sau:</a:t>
                </a:r>
              </a:p>
              <a:p>
                <a:pPr algn="l">
                  <a:spcAft>
                    <a:spcPts val="800"/>
                  </a:spcAft>
                </a:pPr>
                <a:r>
                  <a:rPr sz="2000" b="1">
                    <a:solidFill>
                      <a:srgbClr val="1E293B"/>
                    </a:solidFill>
                    <a:latin typeface="Calibri"/>
                  </a:rPr>
                  <a:t>a) </a:t>
                </a:r>
                <a:r>
                  <a:rPr lang="vi-VN"/>
                  <a:t>n(A\cap B)=10</a:t>
                </a:r>
                <a:r>
                  <a:rPr sz="2000" b="1">
                    <a:solidFill>
                      <a:srgbClr val="1E293B"/>
                    </a:solidFill>
                    <a:latin typeface="Calibri"/>
                  </a:rPr>
                  <a:t>.</a:t>
                </a:r>
              </a:p>
              <a:p>
                <a:pPr algn="l">
                  <a:spcAft>
                    <a:spcPts val="800"/>
                  </a:spcAft>
                </a:pPr>
                <a:r>
                  <a:rPr sz="2000" b="1">
                    <a:solidFill>
                      <a:srgbClr val="1E293B"/>
                    </a:solidFill>
                    <a:latin typeface="Calibri"/>
                  </a:rPr>
                  <a:t>b) Có 43 học sinh dùng ít nhất một trong hai ứng dụng.</a:t>
                </a:r>
              </a:p>
              <a:p>
                <a:pPr algn="l">
                  <a:spcAft>
                    <a:spcPts val="800"/>
                  </a:spcAft>
                </a:pPr>
                <a:r>
                  <a:rPr sz="2000" b="1">
                    <a:solidFill>
                      <a:srgbClr val="1E293B"/>
                    </a:solidFill>
                    <a:latin typeface="Calibri"/>
                  </a:rPr>
                  <a:t>c) Số học sinh chỉ dùng Zalo (không dùng Google Classroom) là 15.</a:t>
                </a:r>
              </a:p>
              <a:p>
                <a:pPr algn="l">
                  <a:spcAft>
                    <a:spcPts val="800"/>
                  </a:spcAft>
                </a:pPr>
                <a:r>
                  <a:rPr sz="2000" b="1">
                    <a:solidFill>
                      <a:srgbClr val="1E293B"/>
                    </a:solidFill>
                    <a:latin typeface="Calibri"/>
                  </a:rPr>
                  <a:t>d) Có 7 học sinh không dùng ứng dụng nào trong hai ứng dụng trên.</a:t>
                </a:r>
              </a:p>
            </p:txBody>
          </p:sp>
        </mc:Fallback>
      </mc:AlternateContent>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ĐỀ MINH HỌA · PHẦN II · CÂU 2</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Đề cương Toán 10 · Giữa học kì I          30</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475488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000">
                    <a:solidFill>
                      <a:srgbClr val="1E293B"/>
                    </a:solidFill>
                    <a:latin typeface="Calibri"/>
                  </a:rPr>
                  <a:t>a) Đúng: </a:t>
                </a:r>
                <a14:m>
                  <m:oMath xmlns:m="http://schemas.openxmlformats.org/officeDocument/2006/math">
                    <m:r>
                      <a:rPr lang="vi-VN" sz="2000" b="0">
                        <a:solidFill>
                          <a:srgbClr val="1E293B"/>
                        </a:solidFill>
                        <a:latin typeface="Cambria Math" panose="02040503050406030204" pitchFamily="18" charset="0"/>
                      </a:rPr>
                      <m:t>A∩B</m:t>
                    </m:r>
                  </m:oMath>
                </a14:m>
                <a:r>
                  <a:rPr sz="2000">
                    <a:solidFill>
                      <a:srgbClr val="1E293B"/>
                    </a:solidFill>
                    <a:latin typeface="Calibri"/>
                  </a:rPr>
                  <a:t> là tập hợp học sinh dùng cả hai ứng dụng, có 10 học sinh.</a:t>
                </a:r>
              </a:p>
              <a:p>
                <a:pPr algn="l" marL="365760" indent="-365760">
                  <a:spcAft>
                    <a:spcPts val="800"/>
                  </a:spcAft>
                  <a:buClr>
                    <a:srgbClr val="1E40AF"/>
                  </a:buClr>
                  <a:buFont typeface="Arial"/>
                  <a:buChar char="•"/>
                </a:pPr>
                <a:r>
                  <a:rPr sz="2000">
                    <a:solidFill>
                      <a:srgbClr val="1E293B"/>
                    </a:solidFill>
                    <a:latin typeface="Calibri"/>
                  </a:rPr>
                  <a:t>b) Sai: </a:t>
                </a:r>
                <a14:m>
                  <m:oMath xmlns:m="http://schemas.openxmlformats.org/officeDocument/2006/math">
                    <m:r>
                      <a:rPr lang="vi-VN" sz="2000" b="0">
                        <a:solidFill>
                          <a:srgbClr val="1E293B"/>
                        </a:solidFill>
                        <a:latin typeface="Cambria Math" panose="02040503050406030204" pitchFamily="18" charset="0"/>
                      </a:rPr>
                      <m:t>n(A∪B)=n(A)+n(B)−n(A∩B)=25+18−10=33</m:t>
                    </m:r>
                  </m:oMath>
                </a14:m>
                <a:r>
                  <a:rPr sz="2000">
                    <a:solidFill>
                      <a:srgbClr val="1E293B"/>
                    </a:solidFill>
                    <a:latin typeface="Calibri"/>
                  </a:rPr>
                  <a:t> học sinh (cộng 25 + 18 là đếm hai lần 10 bạn dùng cả hai).</a:t>
                </a:r>
              </a:p>
              <a:p>
                <a:pPr algn="l" marL="365760" indent="-365760">
                  <a:spcAft>
                    <a:spcPts val="800"/>
                  </a:spcAft>
                  <a:buClr>
                    <a:srgbClr val="1E40AF"/>
                  </a:buClr>
                  <a:buFont typeface="Arial"/>
                  <a:buChar char="•"/>
                </a:pPr>
                <a:r>
                  <a:rPr sz="2000">
                    <a:solidFill>
                      <a:srgbClr val="1E293B"/>
                    </a:solidFill>
                    <a:latin typeface="Calibri"/>
                  </a:rPr>
                  <a:t>c) Đúng: </a:t>
                </a:r>
                <a14:m>
                  <m:oMath xmlns:m="http://schemas.openxmlformats.org/officeDocument/2006/math">
                    <m:r>
                      <a:rPr lang="vi-VN" sz="2000" b="0">
                        <a:solidFill>
                          <a:srgbClr val="1E293B"/>
                        </a:solidFill>
                        <a:latin typeface="Cambria Math" panose="02040503050406030204" pitchFamily="18" charset="0"/>
                      </a:rPr>
                      <m:t>n(A⧵B)=n(A)−n(A∩B)=25−10=15</m:t>
                    </m:r>
                  </m:oMath>
                </a14:m>
                <a:r>
                  <a:rPr sz="2000">
                    <a:solidFill>
                      <a:srgbClr val="1E293B"/>
                    </a:solidFill>
                    <a:latin typeface="Calibri"/>
                  </a:rPr>
                  <a:t>.</a:t>
                </a:r>
              </a:p>
              <a:p>
                <a:pPr algn="l" marL="365760" indent="-365760">
                  <a:spcAft>
                    <a:spcPts val="800"/>
                  </a:spcAft>
                  <a:buClr>
                    <a:srgbClr val="1E40AF"/>
                  </a:buClr>
                  <a:buFont typeface="Arial"/>
                  <a:buChar char="•"/>
                </a:pPr>
                <a:r>
                  <a:rPr sz="2000">
                    <a:solidFill>
                      <a:srgbClr val="1E293B"/>
                    </a:solidFill>
                    <a:latin typeface="Calibri"/>
                  </a:rPr>
                  <a:t>d) Đúng: Số học sinh không dùng ứng dụng nào: </a:t>
                </a:r>
                <a14:m>
                  <m:oMath xmlns:m="http://schemas.openxmlformats.org/officeDocument/2006/math">
                    <m:r>
                      <a:rPr lang="vi-VN" sz="2000" b="0">
                        <a:solidFill>
                          <a:srgbClr val="1E293B"/>
                        </a:solidFill>
                        <a:latin typeface="Cambria Math" panose="02040503050406030204" pitchFamily="18" charset="0"/>
                      </a:rPr>
                      <m:t>40−n(A∪B)=40−33=7</m:t>
                    </m:r>
                  </m:oMath>
                </a14:m>
                <a:r>
                  <a:rPr sz="2000">
                    <a:solidFill>
                      <a:srgbClr val="1E293B"/>
                    </a:solidFill>
                    <a:latin typeface="Calibri"/>
                  </a:rPr>
                  <a:t>.</a:t>
                </a:r>
              </a:p>
            </p:txBody>
          </p:sp>
        </mc:Choice>
        <mc:Fallback>
          <p:sp>
            <p:nvSpPr>
              <p:cNvPr id="7" name="TextBox 6"/>
              <p:cNvSpPr txBox="1"/>
              <p:nvPr/>
            </p:nvSpPr>
            <p:spPr>
              <a:xfrm>
                <a:off x="731520" y="1463040"/>
                <a:ext cx="10789920" cy="475488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000">
                    <a:solidFill>
                      <a:srgbClr val="1E293B"/>
                    </a:solidFill>
                    <a:latin typeface="Calibri"/>
                  </a:rPr>
                  <a:t>a) Đúng: </a:t>
                </a:r>
                <a:r>
                  <a:rPr lang="vi-VN"/>
                  <a:t>A\cap B</a:t>
                </a:r>
                <a:r>
                  <a:rPr sz="2000">
                    <a:solidFill>
                      <a:srgbClr val="1E293B"/>
                    </a:solidFill>
                    <a:latin typeface="Calibri"/>
                  </a:rPr>
                  <a:t> là tập hợp học sinh dùng cả hai ứng dụng, có 10 học sinh.</a:t>
                </a:r>
              </a:p>
              <a:p>
                <a:pPr algn="l" marL="365760" indent="-365760">
                  <a:spcAft>
                    <a:spcPts val="800"/>
                  </a:spcAft>
                  <a:buClr>
                    <a:srgbClr val="1E40AF"/>
                  </a:buClr>
                  <a:buFont typeface="Arial"/>
                  <a:buChar char="•"/>
                </a:pPr>
                <a:r>
                  <a:rPr sz="2000">
                    <a:solidFill>
                      <a:srgbClr val="1E293B"/>
                    </a:solidFill>
                    <a:latin typeface="Calibri"/>
                  </a:rPr>
                  <a:t>b) Sai: </a:t>
                </a:r>
                <a:r>
                  <a:rPr lang="vi-VN"/>
                  <a:t>n(A\cup B)=n(A)+n(B)-n(A\cap B)=25+18-10=33</a:t>
                </a:r>
                <a:r>
                  <a:rPr sz="2000">
                    <a:solidFill>
                      <a:srgbClr val="1E293B"/>
                    </a:solidFill>
                    <a:latin typeface="Calibri"/>
                  </a:rPr>
                  <a:t> học sinh (cộng 25 + 18 là đếm hai lần 10 bạn dùng cả hai).</a:t>
                </a:r>
              </a:p>
              <a:p>
                <a:pPr algn="l" marL="365760" indent="-365760">
                  <a:spcAft>
                    <a:spcPts val="800"/>
                  </a:spcAft>
                  <a:buClr>
                    <a:srgbClr val="1E40AF"/>
                  </a:buClr>
                  <a:buFont typeface="Arial"/>
                  <a:buChar char="•"/>
                </a:pPr>
                <a:r>
                  <a:rPr sz="2000">
                    <a:solidFill>
                      <a:srgbClr val="1E293B"/>
                    </a:solidFill>
                    <a:latin typeface="Calibri"/>
                  </a:rPr>
                  <a:t>c) Đúng: </a:t>
                </a:r>
                <a:r>
                  <a:rPr lang="vi-VN"/>
                  <a:t>n(A\setminus B)=n(A)-n(A\cap B)=25-10=15</a:t>
                </a:r>
                <a:r>
                  <a:rPr sz="2000">
                    <a:solidFill>
                      <a:srgbClr val="1E293B"/>
                    </a:solidFill>
                    <a:latin typeface="Calibri"/>
                  </a:rPr>
                  <a:t>.</a:t>
                </a:r>
              </a:p>
              <a:p>
                <a:pPr algn="l" marL="365760" indent="-365760">
                  <a:spcAft>
                    <a:spcPts val="800"/>
                  </a:spcAft>
                  <a:buClr>
                    <a:srgbClr val="1E40AF"/>
                  </a:buClr>
                  <a:buFont typeface="Arial"/>
                  <a:buChar char="•"/>
                </a:pPr>
                <a:r>
                  <a:rPr sz="2000">
                    <a:solidFill>
                      <a:srgbClr val="1E293B"/>
                    </a:solidFill>
                    <a:latin typeface="Calibri"/>
                  </a:rPr>
                  <a:t>d) Đúng: Số học sinh không dùng ứng dụng nào: </a:t>
                </a:r>
                <a:r>
                  <a:rPr lang="vi-VN"/>
                  <a:t>40-n(A\cup B)=40-33=7</a:t>
                </a:r>
                <a:r>
                  <a:rPr sz="2000">
                    <a:solidFill>
                      <a:srgbClr val="1E293B"/>
                    </a:solidFill>
                    <a:latin typeface="Calibri"/>
                  </a:rPr>
                  <a:t>.</a:t>
                </a:r>
              </a:p>
            </p:txBody>
          </p:sp>
        </mc:Fallback>
      </mc:AlternateContent>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ĐỀ MINH HỌA · PHẦN II · CÂU 3</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Đề cương Toán 10 · Giữa học kì I          31</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4754880"/>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(Vận dụng – thực tiễn) Bác Ba ở xã địa phương cần mua phân bón cho vườn cà phê gồm phân NPK giá 15 nghìn đồng/kg và phân hữu cơ vi sinh giá 5 nghìn đồng/kg. Số tiền mua phân bón không quá 3 triệu đồng. Gọi </a:t>
                </a:r>
                <a14:m>
                  <m:oMath xmlns:m="http://schemas.openxmlformats.org/officeDocument/2006/math">
                    <m:r>
                      <a:rPr lang="vi-VN" sz="2000" b="1">
                        <a:solidFill>
                          <a:srgbClr val="1E293B"/>
                        </a:solidFill>
                        <a:latin typeface="Cambria Math" panose="02040503050406030204" pitchFamily="18" charset="0"/>
                      </a:rPr>
                      <m:t>x</m:t>
                    </m:r>
                  </m:oMath>
                </a14:m>
                <a:r>
                  <a:rPr sz="2000" b="1">
                    <a:solidFill>
                      <a:srgbClr val="1E293B"/>
                    </a:solidFill>
                    <a:latin typeface="Calibri"/>
                  </a:rPr>
                  <a:t>, </a:t>
                </a:r>
                <a14:m>
                  <m:oMath xmlns:m="http://schemas.openxmlformats.org/officeDocument/2006/math">
                    <m:r>
                      <a:rPr lang="vi-VN" sz="2000" b="1">
                        <a:solidFill>
                          <a:srgbClr val="1E293B"/>
                        </a:solidFill>
                        <a:latin typeface="Cambria Math" panose="02040503050406030204" pitchFamily="18" charset="0"/>
                      </a:rPr>
                      <m:t>y</m:t>
                    </m:r>
                  </m:oMath>
                </a14:m>
                <a:r>
                  <a:rPr sz="2000" b="1">
                    <a:solidFill>
                      <a:srgbClr val="1E293B"/>
                    </a:solidFill>
                    <a:latin typeface="Calibri"/>
                  </a:rPr>
                  <a:t> lần lượt là số ki-lô-gam phân NPK và phân hữu cơ vi sinh bác Ba mua (</a:t>
                </a:r>
                <a14:m>
                  <m:oMath xmlns:m="http://schemas.openxmlformats.org/officeDocument/2006/math">
                    <m:r>
                      <a:rPr lang="vi-VN" sz="2000" b="1">
                        <a:solidFill>
                          <a:srgbClr val="1E293B"/>
                        </a:solidFill>
                        <a:latin typeface="Cambria Math" panose="02040503050406030204" pitchFamily="18" charset="0"/>
                      </a:rPr>
                      <m:t>x≥0</m:t>
                    </m:r>
                  </m:oMath>
                </a14:m>
                <a:r>
                  <a:rPr sz="2000" b="1">
                    <a:solidFill>
                      <a:srgbClr val="1E293B"/>
                    </a:solidFill>
                    <a:latin typeface="Calibri"/>
                  </a:rPr>
                  <a:t>, </a:t>
                </a:r>
                <a14:m>
                  <m:oMath xmlns:m="http://schemas.openxmlformats.org/officeDocument/2006/math">
                    <m:r>
                      <a:rPr lang="vi-VN" sz="2000" b="1">
                        <a:solidFill>
                          <a:srgbClr val="1E293B"/>
                        </a:solidFill>
                        <a:latin typeface="Cambria Math" panose="02040503050406030204" pitchFamily="18" charset="0"/>
                      </a:rPr>
                      <m:t>y≥0</m:t>
                    </m:r>
                  </m:oMath>
                </a14:m>
                <a:r>
                  <a:rPr sz="2000" b="1">
                    <a:solidFill>
                      <a:srgbClr val="1E293B"/>
                    </a:solidFill>
                    <a:latin typeface="Calibri"/>
                  </a:rPr>
                  <a:t>). Xét tính đúng, sai của các khẳng định sau:</a:t>
                </a:r>
              </a:p>
              <a:p>
                <a:pPr algn="l">
                  <a:spcAft>
                    <a:spcPts val="800"/>
                  </a:spcAft>
                </a:pPr>
                <a:r>
                  <a:rPr sz="2000" b="1">
                    <a:solidFill>
                      <a:srgbClr val="1E293B"/>
                    </a:solidFill>
                    <a:latin typeface="Calibri"/>
                  </a:rPr>
                  <a:t>a) </a:t>
                </a:r>
                <a14:m>
                  <m:oMath xmlns:m="http://schemas.openxmlformats.org/officeDocument/2006/math">
                    <m:r>
                      <a:rPr lang="vi-VN" sz="2000" b="1">
                        <a:solidFill>
                          <a:srgbClr val="1E293B"/>
                        </a:solidFill>
                        <a:latin typeface="Cambria Math" panose="02040503050406030204" pitchFamily="18" charset="0"/>
                      </a:rPr>
                      <m:t>x</m:t>
                    </m:r>
                  </m:oMath>
                </a14:m>
                <a:r>
                  <a:rPr sz="2000" b="1">
                    <a:solidFill>
                      <a:srgbClr val="1E293B"/>
                    </a:solidFill>
                    <a:latin typeface="Calibri"/>
                  </a:rPr>
                  <a:t>, </a:t>
                </a:r>
                <a14:m>
                  <m:oMath xmlns:m="http://schemas.openxmlformats.org/officeDocument/2006/math">
                    <m:r>
                      <a:rPr lang="vi-VN" sz="2000" b="1">
                        <a:solidFill>
                          <a:srgbClr val="1E293B"/>
                        </a:solidFill>
                        <a:latin typeface="Cambria Math" panose="02040503050406030204" pitchFamily="18" charset="0"/>
                      </a:rPr>
                      <m:t>y</m:t>
                    </m:r>
                  </m:oMath>
                </a14:m>
                <a:r>
                  <a:rPr sz="2000" b="1">
                    <a:solidFill>
                      <a:srgbClr val="1E293B"/>
                    </a:solidFill>
                    <a:latin typeface="Calibri"/>
                  </a:rPr>
                  <a:t> thỏa mãn bất phương trình </a:t>
                </a:r>
                <a14:m>
                  <m:oMath xmlns:m="http://schemas.openxmlformats.org/officeDocument/2006/math">
                    <m:r>
                      <a:rPr lang="vi-VN" sz="2000" b="1">
                        <a:solidFill>
                          <a:srgbClr val="1E293B"/>
                        </a:solidFill>
                        <a:latin typeface="Cambria Math" panose="02040503050406030204" pitchFamily="18" charset="0"/>
                      </a:rPr>
                      <m:t>15x+5y≤3000</m:t>
                    </m:r>
                  </m:oMath>
                </a14:m>
                <a:r>
                  <a:rPr sz="2000" b="1">
                    <a:solidFill>
                      <a:srgbClr val="1E293B"/>
                    </a:solidFill>
                    <a:latin typeface="Calibri"/>
                  </a:rPr>
                  <a:t>.</a:t>
                </a:r>
              </a:p>
              <a:p>
                <a:pPr algn="l">
                  <a:spcAft>
                    <a:spcPts val="800"/>
                  </a:spcAft>
                </a:pPr>
                <a:r>
                  <a:rPr sz="2000" b="1">
                    <a:solidFill>
                      <a:srgbClr val="1E293B"/>
                    </a:solidFill>
                    <a:latin typeface="Calibri"/>
                  </a:rPr>
                  <a:t>b) Nếu bác Ba mua 100 kg phân NPK và 250 kg phân hữu cơ vi sinh thì vượt quá số tiền cho phép.</a:t>
                </a:r>
              </a:p>
              <a:p>
                <a:pPr algn="l">
                  <a:spcAft>
                    <a:spcPts val="800"/>
                  </a:spcAft>
                </a:pPr>
                <a:r>
                  <a:rPr sz="2000" b="1">
                    <a:solidFill>
                      <a:srgbClr val="1E293B"/>
                    </a:solidFill>
                    <a:latin typeface="Calibri"/>
                  </a:rPr>
                  <a:t>c) Miền nghiệm của bất phương trình ở câu a là nửa mặt phẳng bờ </a:t>
                </a:r>
                <a14:m>
                  <m:oMath xmlns:m="http://schemas.openxmlformats.org/officeDocument/2006/math">
                    <m:r>
                      <a:rPr lang="vi-VN" sz="2000" b="1">
                        <a:solidFill>
                          <a:srgbClr val="1E293B"/>
                        </a:solidFill>
                        <a:latin typeface="Cambria Math" panose="02040503050406030204" pitchFamily="18" charset="0"/>
                      </a:rPr>
                      <m:t>d:3x+y=600</m:t>
                    </m:r>
                  </m:oMath>
                </a14:m>
                <a:r>
                  <a:rPr sz="2000" b="1">
                    <a:solidFill>
                      <a:srgbClr val="1E293B"/>
                    </a:solidFill>
                    <a:latin typeface="Calibri"/>
                  </a:rPr>
                  <a:t> chứa gốc tọa độ, kể cả đường thẳng </a:t>
                </a:r>
                <a14:m>
                  <m:oMath xmlns:m="http://schemas.openxmlformats.org/officeDocument/2006/math">
                    <m:r>
                      <a:rPr lang="vi-VN" sz="2000" b="1">
                        <a:solidFill>
                          <a:srgbClr val="1E293B"/>
                        </a:solidFill>
                        <a:latin typeface="Cambria Math" panose="02040503050406030204" pitchFamily="18" charset="0"/>
                      </a:rPr>
                      <m:t>d</m:t>
                    </m:r>
                  </m:oMath>
                </a14:m>
                <a:r>
                  <a:rPr sz="2000" b="1">
                    <a:solidFill>
                      <a:srgbClr val="1E293B"/>
                    </a:solidFill>
                    <a:latin typeface="Calibri"/>
                  </a:rPr>
                  <a:t>.</a:t>
                </a:r>
              </a:p>
              <a:p>
                <a:pPr algn="l">
                  <a:spcAft>
                    <a:spcPts val="800"/>
                  </a:spcAft>
                </a:pPr>
                <a:r>
                  <a:rPr sz="2000" b="1">
                    <a:solidFill>
                      <a:srgbClr val="1E293B"/>
                    </a:solidFill>
                    <a:latin typeface="Calibri"/>
                  </a:rPr>
                  <a:t>d) Nếu bác Ba mua 150 kg phân NPK thì bác mua được nhiều nhất 160 kg phân hữu cơ vi sinh.</a:t>
                </a:r>
              </a:p>
            </p:txBody>
          </p:sp>
        </mc:Choice>
        <mc:Fallback>
          <p:sp>
            <p:nvSpPr>
              <p:cNvPr id="7" name="TextBox 6"/>
              <p:cNvSpPr txBox="1"/>
              <p:nvPr/>
            </p:nvSpPr>
            <p:spPr>
              <a:xfrm>
                <a:off x="731520" y="1463040"/>
                <a:ext cx="10789920" cy="4754880"/>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(Vận dụng – thực tiễn) Bác Ba ở xã địa phương cần mua phân bón cho vườn cà phê gồm phân NPK giá 15 nghìn đồng/kg và phân hữu cơ vi sinh giá 5 nghìn đồng/kg. Số tiền mua phân bón không quá 3 triệu đồng. Gọi </a:t>
                </a:r>
                <a:r>
                  <a:rPr lang="vi-VN"/>
                  <a:t>x</a:t>
                </a:r>
                <a:r>
                  <a:rPr sz="2000" b="1">
                    <a:solidFill>
                      <a:srgbClr val="1E293B"/>
                    </a:solidFill>
                    <a:latin typeface="Calibri"/>
                  </a:rPr>
                  <a:t>, </a:t>
                </a:r>
                <a:r>
                  <a:rPr lang="vi-VN"/>
                  <a:t>y</a:t>
                </a:r>
                <a:r>
                  <a:rPr sz="2000" b="1">
                    <a:solidFill>
                      <a:srgbClr val="1E293B"/>
                    </a:solidFill>
                    <a:latin typeface="Calibri"/>
                  </a:rPr>
                  <a:t> lần lượt là số ki-lô-gam phân NPK và phân hữu cơ vi sinh bác Ba mua (</a:t>
                </a:r>
                <a:r>
                  <a:rPr lang="vi-VN"/>
                  <a:t>x\ge 0</a:t>
                </a:r>
                <a:r>
                  <a:rPr sz="2000" b="1">
                    <a:solidFill>
                      <a:srgbClr val="1E293B"/>
                    </a:solidFill>
                    <a:latin typeface="Calibri"/>
                  </a:rPr>
                  <a:t>, </a:t>
                </a:r>
                <a:r>
                  <a:rPr lang="vi-VN"/>
                  <a:t>y\ge 0</a:t>
                </a:r>
                <a:r>
                  <a:rPr sz="2000" b="1">
                    <a:solidFill>
                      <a:srgbClr val="1E293B"/>
                    </a:solidFill>
                    <a:latin typeface="Calibri"/>
                  </a:rPr>
                  <a:t>). Xét tính đúng, sai của các khẳng định sau:</a:t>
                </a:r>
              </a:p>
              <a:p>
                <a:pPr algn="l">
                  <a:spcAft>
                    <a:spcPts val="800"/>
                  </a:spcAft>
                </a:pPr>
                <a:r>
                  <a:rPr sz="2000" b="1">
                    <a:solidFill>
                      <a:srgbClr val="1E293B"/>
                    </a:solidFill>
                    <a:latin typeface="Calibri"/>
                  </a:rPr>
                  <a:t>a) </a:t>
                </a:r>
                <a:r>
                  <a:rPr lang="vi-VN"/>
                  <a:t>x</a:t>
                </a:r>
                <a:r>
                  <a:rPr sz="2000" b="1">
                    <a:solidFill>
                      <a:srgbClr val="1E293B"/>
                    </a:solidFill>
                    <a:latin typeface="Calibri"/>
                  </a:rPr>
                  <a:t>, </a:t>
                </a:r>
                <a:r>
                  <a:rPr lang="vi-VN"/>
                  <a:t>y</a:t>
                </a:r>
                <a:r>
                  <a:rPr sz="2000" b="1">
                    <a:solidFill>
                      <a:srgbClr val="1E293B"/>
                    </a:solidFill>
                    <a:latin typeface="Calibri"/>
                  </a:rPr>
                  <a:t> thỏa mãn bất phương trình </a:t>
                </a:r>
                <a:r>
                  <a:rPr lang="vi-VN"/>
                  <a:t>15x+5y\le 3000</a:t>
                </a:r>
                <a:r>
                  <a:rPr sz="2000" b="1">
                    <a:solidFill>
                      <a:srgbClr val="1E293B"/>
                    </a:solidFill>
                    <a:latin typeface="Calibri"/>
                  </a:rPr>
                  <a:t>.</a:t>
                </a:r>
              </a:p>
              <a:p>
                <a:pPr algn="l">
                  <a:spcAft>
                    <a:spcPts val="800"/>
                  </a:spcAft>
                </a:pPr>
                <a:r>
                  <a:rPr sz="2000" b="1">
                    <a:solidFill>
                      <a:srgbClr val="1E293B"/>
                    </a:solidFill>
                    <a:latin typeface="Calibri"/>
                  </a:rPr>
                  <a:t>b) Nếu bác Ba mua 100 kg phân NPK và 250 kg phân hữu cơ vi sinh thì vượt quá số tiền cho phép.</a:t>
                </a:r>
              </a:p>
              <a:p>
                <a:pPr algn="l">
                  <a:spcAft>
                    <a:spcPts val="800"/>
                  </a:spcAft>
                </a:pPr>
                <a:r>
                  <a:rPr sz="2000" b="1">
                    <a:solidFill>
                      <a:srgbClr val="1E293B"/>
                    </a:solidFill>
                    <a:latin typeface="Calibri"/>
                  </a:rPr>
                  <a:t>c) Miền nghiệm của bất phương trình ở câu a là nửa mặt phẳng bờ </a:t>
                </a:r>
                <a:r>
                  <a:rPr lang="vi-VN"/>
                  <a:t>d: 3x+y=600</a:t>
                </a:r>
                <a:r>
                  <a:rPr sz="2000" b="1">
                    <a:solidFill>
                      <a:srgbClr val="1E293B"/>
                    </a:solidFill>
                    <a:latin typeface="Calibri"/>
                  </a:rPr>
                  <a:t> chứa gốc tọa độ, kể cả đường thẳng </a:t>
                </a:r>
                <a:r>
                  <a:rPr lang="vi-VN"/>
                  <a:t>d</a:t>
                </a:r>
                <a:r>
                  <a:rPr sz="2000" b="1">
                    <a:solidFill>
                      <a:srgbClr val="1E293B"/>
                    </a:solidFill>
                    <a:latin typeface="Calibri"/>
                  </a:rPr>
                  <a:t>.</a:t>
                </a:r>
              </a:p>
              <a:p>
                <a:pPr algn="l">
                  <a:spcAft>
                    <a:spcPts val="800"/>
                  </a:spcAft>
                </a:pPr>
                <a:r>
                  <a:rPr sz="2000" b="1">
                    <a:solidFill>
                      <a:srgbClr val="1E293B"/>
                    </a:solidFill>
                    <a:latin typeface="Calibri"/>
                  </a:rPr>
                  <a:t>d) Nếu bác Ba mua 150 kg phân NPK thì bác mua được nhiều nhất 160 kg phân hữu cơ vi sinh.</a:t>
                </a:r>
              </a:p>
            </p:txBody>
          </p:sp>
        </mc:Fallback>
      </mc:AlternateContent>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ĐỀ MINH HỌA · PHẦN II · CÂU 3</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Đề cương Toán 10 · Giữa học kì I          32</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475488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000">
                    <a:solidFill>
                      <a:srgbClr val="1E293B"/>
                    </a:solidFill>
                    <a:latin typeface="Calibri"/>
                  </a:rPr>
                  <a:t>a) Đúng: Số tiền mua phân bón là </a:t>
                </a:r>
                <a14:m>
                  <m:oMath xmlns:m="http://schemas.openxmlformats.org/officeDocument/2006/math">
                    <m:r>
                      <a:rPr lang="vi-VN" sz="2000" b="0">
                        <a:solidFill>
                          <a:srgbClr val="1E293B"/>
                        </a:solidFill>
                        <a:latin typeface="Cambria Math" panose="02040503050406030204" pitchFamily="18" charset="0"/>
                      </a:rPr>
                      <m:t>15x+5y</m:t>
                    </m:r>
                  </m:oMath>
                </a14:m>
                <a:r>
                  <a:rPr sz="2000">
                    <a:solidFill>
                      <a:srgbClr val="1E293B"/>
                    </a:solidFill>
                    <a:latin typeface="Calibri"/>
                  </a:rPr>
                  <a:t> (nghìn đồng), không quá 3 triệu đồng </a:t>
                </a:r>
                <a14:m>
                  <m:oMath xmlns:m="http://schemas.openxmlformats.org/officeDocument/2006/math">
                    <m:r>
                      <a:rPr lang="vi-VN" sz="2000" b="0">
                        <a:solidFill>
                          <a:srgbClr val="1E293B"/>
                        </a:solidFill>
                        <a:latin typeface="Cambria Math" panose="02040503050406030204" pitchFamily="18" charset="0"/>
                      </a:rPr>
                      <m:t>=3000</m:t>
                    </m:r>
                  </m:oMath>
                </a14:m>
                <a:r>
                  <a:rPr sz="2000">
                    <a:solidFill>
                      <a:srgbClr val="1E293B"/>
                    </a:solidFill>
                    <a:latin typeface="Calibri"/>
                  </a:rPr>
                  <a:t> nghìn đồng nên </a:t>
                </a:r>
                <a14:m>
                  <m:oMath xmlns:m="http://schemas.openxmlformats.org/officeDocument/2006/math">
                    <m:r>
                      <a:rPr lang="vi-VN" sz="2000" b="0">
                        <a:solidFill>
                          <a:srgbClr val="1E293B"/>
                        </a:solidFill>
                        <a:latin typeface="Cambria Math" panose="02040503050406030204" pitchFamily="18" charset="0"/>
                      </a:rPr>
                      <m:t>15x+5y≤3000</m:t>
                    </m:r>
                  </m:oMath>
                </a14:m>
                <a:r>
                  <a:rPr sz="2000">
                    <a:solidFill>
                      <a:srgbClr val="1E293B"/>
                    </a:solidFill>
                    <a:latin typeface="Calibri"/>
                  </a:rPr>
                  <a:t>.</a:t>
                </a:r>
              </a:p>
              <a:p>
                <a:pPr algn="l" marL="365760" indent="-365760">
                  <a:spcAft>
                    <a:spcPts val="800"/>
                  </a:spcAft>
                  <a:buClr>
                    <a:srgbClr val="1E40AF"/>
                  </a:buClr>
                  <a:buFont typeface="Arial"/>
                  <a:buChar char="•"/>
                </a:pPr>
                <a:r>
                  <a:rPr sz="2000">
                    <a:solidFill>
                      <a:srgbClr val="1E293B"/>
                    </a:solidFill>
                    <a:latin typeface="Calibri"/>
                  </a:rPr>
                  <a:t>b) Sai: </a:t>
                </a:r>
                <a14:m>
                  <m:oMath xmlns:m="http://schemas.openxmlformats.org/officeDocument/2006/math">
                    <m:r>
                      <a:rPr lang="vi-VN" sz="2000" b="0">
                        <a:solidFill>
                          <a:srgbClr val="1E293B"/>
                        </a:solidFill>
                        <a:latin typeface="Cambria Math" panose="02040503050406030204" pitchFamily="18" charset="0"/>
                      </a:rPr>
                      <m:t>15·100+5·250=1500+1250=2750≤3000</m:t>
                    </m:r>
                  </m:oMath>
                </a14:m>
                <a:r>
                  <a:rPr sz="2000">
                    <a:solidFill>
                      <a:srgbClr val="1E293B"/>
                    </a:solidFill>
                    <a:latin typeface="Calibri"/>
                  </a:rPr>
                  <a:t>: không vượt quá số tiền cho phép.</a:t>
                </a:r>
              </a:p>
              <a:p>
                <a:pPr algn="l" marL="365760" indent="-365760">
                  <a:spcAft>
                    <a:spcPts val="800"/>
                  </a:spcAft>
                  <a:buClr>
                    <a:srgbClr val="1E40AF"/>
                  </a:buClr>
                  <a:buFont typeface="Arial"/>
                  <a:buChar char="•"/>
                </a:pPr>
                <a:r>
                  <a:rPr sz="2000">
                    <a:solidFill>
                      <a:srgbClr val="1E293B"/>
                    </a:solidFill>
                    <a:latin typeface="Calibri"/>
                  </a:rPr>
                  <a:t>c) Đúng: </a:t>
                </a:r>
                <a14:m>
                  <m:oMath xmlns:m="http://schemas.openxmlformats.org/officeDocument/2006/math">
                    <m:r>
                      <a:rPr lang="vi-VN" sz="2000" b="0">
                        <a:solidFill>
                          <a:srgbClr val="1E293B"/>
                        </a:solidFill>
                        <a:latin typeface="Cambria Math" panose="02040503050406030204" pitchFamily="18" charset="0"/>
                      </a:rPr>
                      <m:t>15x+5y≤3000⇔3x+y≤600</m:t>
                    </m:r>
                  </m:oMath>
                </a14:m>
                <a:r>
                  <a:rPr sz="2000">
                    <a:solidFill>
                      <a:srgbClr val="1E293B"/>
                    </a:solidFill>
                    <a:latin typeface="Calibri"/>
                  </a:rPr>
                  <a:t>; tại </a:t>
                </a:r>
                <a14:m>
                  <m:oMath xmlns:m="http://schemas.openxmlformats.org/officeDocument/2006/math">
                    <m:r>
                      <a:rPr lang="vi-VN" sz="2000" b="0">
                        <a:solidFill>
                          <a:srgbClr val="1E293B"/>
                        </a:solidFill>
                        <a:latin typeface="Cambria Math" panose="02040503050406030204" pitchFamily="18" charset="0"/>
                      </a:rPr>
                      <m:t>O</m:t>
                    </m:r>
                  </m:oMath>
                </a14:m>
                <a:r>
                  <a:rPr sz="2000">
                    <a:solidFill>
                      <a:srgbClr val="1E293B"/>
                    </a:solidFill>
                    <a:latin typeface="Calibri"/>
                  </a:rPr>
                  <a:t>: </a:t>
                </a:r>
                <a14:m>
                  <m:oMath xmlns:m="http://schemas.openxmlformats.org/officeDocument/2006/math">
                    <m:r>
                      <a:rPr lang="vi-VN" sz="2000" b="0">
                        <a:solidFill>
                          <a:srgbClr val="1E293B"/>
                        </a:solidFill>
                        <a:latin typeface="Cambria Math" panose="02040503050406030204" pitchFamily="18" charset="0"/>
                      </a:rPr>
                      <m:t>0≤600</m:t>
                    </m:r>
                  </m:oMath>
                </a14:m>
                <a:r>
                  <a:rPr sz="2000">
                    <a:solidFill>
                      <a:srgbClr val="1E293B"/>
                    </a:solidFill>
                    <a:latin typeface="Calibri"/>
                  </a:rPr>
                  <a:t> đúng nên miền nghiệm là nửa mặt phẳng bờ </a:t>
                </a:r>
                <a14:m>
                  <m:oMath xmlns:m="http://schemas.openxmlformats.org/officeDocument/2006/math">
                    <m:r>
                      <a:rPr lang="vi-VN" sz="2000" b="0">
                        <a:solidFill>
                          <a:srgbClr val="1E293B"/>
                        </a:solidFill>
                        <a:latin typeface="Cambria Math" panose="02040503050406030204" pitchFamily="18" charset="0"/>
                      </a:rPr>
                      <m:t>d</m:t>
                    </m:r>
                  </m:oMath>
                </a14:m>
                <a:r>
                  <a:rPr sz="2000">
                    <a:solidFill>
                      <a:srgbClr val="1E293B"/>
                    </a:solidFill>
                    <a:latin typeface="Calibri"/>
                  </a:rPr>
                  <a:t> chứa gốc tọa độ, kể cả </a:t>
                </a:r>
                <a14:m>
                  <m:oMath xmlns:m="http://schemas.openxmlformats.org/officeDocument/2006/math">
                    <m:r>
                      <a:rPr lang="vi-VN" sz="2000" b="0">
                        <a:solidFill>
                          <a:srgbClr val="1E293B"/>
                        </a:solidFill>
                        <a:latin typeface="Cambria Math" panose="02040503050406030204" pitchFamily="18" charset="0"/>
                      </a:rPr>
                      <m:t>d</m:t>
                    </m:r>
                  </m:oMath>
                </a14:m>
                <a:r>
                  <a:rPr sz="2000">
                    <a:solidFill>
                      <a:srgbClr val="1E293B"/>
                    </a:solidFill>
                    <a:latin typeface="Calibri"/>
                  </a:rPr>
                  <a:t>.</a:t>
                </a:r>
              </a:p>
              <a:p>
                <a:pPr algn="l" marL="365760" indent="-365760">
                  <a:spcAft>
                    <a:spcPts val="800"/>
                  </a:spcAft>
                  <a:buClr>
                    <a:srgbClr val="1E40AF"/>
                  </a:buClr>
                  <a:buFont typeface="Arial"/>
                  <a:buChar char="•"/>
                </a:pPr>
                <a:r>
                  <a:rPr sz="2000">
                    <a:solidFill>
                      <a:srgbClr val="1E293B"/>
                    </a:solidFill>
                    <a:latin typeface="Calibri"/>
                  </a:rPr>
                  <a:t>d) Sai: Với </a:t>
                </a:r>
                <a14:m>
                  <m:oMath xmlns:m="http://schemas.openxmlformats.org/officeDocument/2006/math">
                    <m:r>
                      <a:rPr lang="vi-VN" sz="2000" b="0">
                        <a:solidFill>
                          <a:srgbClr val="1E293B"/>
                        </a:solidFill>
                        <a:latin typeface="Cambria Math" panose="02040503050406030204" pitchFamily="18" charset="0"/>
                      </a:rPr>
                      <m:t>x=150</m:t>
                    </m:r>
                  </m:oMath>
                </a14:m>
                <a:r>
                  <a:rPr sz="2000">
                    <a:solidFill>
                      <a:srgbClr val="1E293B"/>
                    </a:solidFill>
                    <a:latin typeface="Calibri"/>
                  </a:rPr>
                  <a:t>: </a:t>
                </a:r>
                <a14:m>
                  <m:oMath xmlns:m="http://schemas.openxmlformats.org/officeDocument/2006/math">
                    <m:r>
                      <a:rPr lang="vi-VN" sz="2000" b="0">
                        <a:solidFill>
                          <a:srgbClr val="1E293B"/>
                        </a:solidFill>
                        <a:latin typeface="Cambria Math" panose="02040503050406030204" pitchFamily="18" charset="0"/>
                      </a:rPr>
                      <m:t>2250+5y≤3000⇔y≤150</m:t>
                    </m:r>
                  </m:oMath>
                </a14:m>
                <a:r>
                  <a:rPr sz="2000">
                    <a:solidFill>
                      <a:srgbClr val="1E293B"/>
                    </a:solidFill>
                    <a:latin typeface="Calibri"/>
                  </a:rPr>
                  <a:t>. Bác mua được nhiều nhất 150 kg phân hữu cơ vi sinh.</a:t>
                </a:r>
              </a:p>
            </p:txBody>
          </p:sp>
        </mc:Choice>
        <mc:Fallback>
          <p:sp>
            <p:nvSpPr>
              <p:cNvPr id="7" name="TextBox 6"/>
              <p:cNvSpPr txBox="1"/>
              <p:nvPr/>
            </p:nvSpPr>
            <p:spPr>
              <a:xfrm>
                <a:off x="731520" y="1463040"/>
                <a:ext cx="10789920" cy="475488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000">
                    <a:solidFill>
                      <a:srgbClr val="1E293B"/>
                    </a:solidFill>
                    <a:latin typeface="Calibri"/>
                  </a:rPr>
                  <a:t>a) Đúng: Số tiền mua phân bón là </a:t>
                </a:r>
                <a:r>
                  <a:rPr lang="vi-VN"/>
                  <a:t>15x+5y</a:t>
                </a:r>
                <a:r>
                  <a:rPr sz="2000">
                    <a:solidFill>
                      <a:srgbClr val="1E293B"/>
                    </a:solidFill>
                    <a:latin typeface="Calibri"/>
                  </a:rPr>
                  <a:t> (nghìn đồng), không quá 3 triệu đồng </a:t>
                </a:r>
                <a:r>
                  <a:rPr lang="vi-VN"/>
                  <a:t>=3000</a:t>
                </a:r>
                <a:r>
                  <a:rPr sz="2000">
                    <a:solidFill>
                      <a:srgbClr val="1E293B"/>
                    </a:solidFill>
                    <a:latin typeface="Calibri"/>
                  </a:rPr>
                  <a:t> nghìn đồng nên </a:t>
                </a:r>
                <a:r>
                  <a:rPr lang="vi-VN"/>
                  <a:t>15x+5y\le 3000</a:t>
                </a:r>
                <a:r>
                  <a:rPr sz="2000">
                    <a:solidFill>
                      <a:srgbClr val="1E293B"/>
                    </a:solidFill>
                    <a:latin typeface="Calibri"/>
                  </a:rPr>
                  <a:t>.</a:t>
                </a:r>
              </a:p>
              <a:p>
                <a:pPr algn="l" marL="365760" indent="-365760">
                  <a:spcAft>
                    <a:spcPts val="800"/>
                  </a:spcAft>
                  <a:buClr>
                    <a:srgbClr val="1E40AF"/>
                  </a:buClr>
                  <a:buFont typeface="Arial"/>
                  <a:buChar char="•"/>
                </a:pPr>
                <a:r>
                  <a:rPr sz="2000">
                    <a:solidFill>
                      <a:srgbClr val="1E293B"/>
                    </a:solidFill>
                    <a:latin typeface="Calibri"/>
                  </a:rPr>
                  <a:t>b) Sai: </a:t>
                </a:r>
                <a:r>
                  <a:rPr lang="vi-VN"/>
                  <a:t>15\cdot 100+5\cdot 250=1500+1250=2750\le 3000</a:t>
                </a:r>
                <a:r>
                  <a:rPr sz="2000">
                    <a:solidFill>
                      <a:srgbClr val="1E293B"/>
                    </a:solidFill>
                    <a:latin typeface="Calibri"/>
                  </a:rPr>
                  <a:t>: không vượt quá số tiền cho phép.</a:t>
                </a:r>
              </a:p>
              <a:p>
                <a:pPr algn="l" marL="365760" indent="-365760">
                  <a:spcAft>
                    <a:spcPts val="800"/>
                  </a:spcAft>
                  <a:buClr>
                    <a:srgbClr val="1E40AF"/>
                  </a:buClr>
                  <a:buFont typeface="Arial"/>
                  <a:buChar char="•"/>
                </a:pPr>
                <a:r>
                  <a:rPr sz="2000">
                    <a:solidFill>
                      <a:srgbClr val="1E293B"/>
                    </a:solidFill>
                    <a:latin typeface="Calibri"/>
                  </a:rPr>
                  <a:t>c) Đúng: </a:t>
                </a:r>
                <a:r>
                  <a:rPr lang="vi-VN"/>
                  <a:t>15x+5y\le 3000\Leftrightarrow 3x+y\le 600</a:t>
                </a:r>
                <a:r>
                  <a:rPr sz="2000">
                    <a:solidFill>
                      <a:srgbClr val="1E293B"/>
                    </a:solidFill>
                    <a:latin typeface="Calibri"/>
                  </a:rPr>
                  <a:t>; tại </a:t>
                </a:r>
                <a:r>
                  <a:rPr lang="vi-VN"/>
                  <a:t>O</a:t>
                </a:r>
                <a:r>
                  <a:rPr sz="2000">
                    <a:solidFill>
                      <a:srgbClr val="1E293B"/>
                    </a:solidFill>
                    <a:latin typeface="Calibri"/>
                  </a:rPr>
                  <a:t>: </a:t>
                </a:r>
                <a:r>
                  <a:rPr lang="vi-VN"/>
                  <a:t>0\le 600</a:t>
                </a:r>
                <a:r>
                  <a:rPr sz="2000">
                    <a:solidFill>
                      <a:srgbClr val="1E293B"/>
                    </a:solidFill>
                    <a:latin typeface="Calibri"/>
                  </a:rPr>
                  <a:t> đúng nên miền nghiệm là nửa mặt phẳng bờ </a:t>
                </a:r>
                <a:r>
                  <a:rPr lang="vi-VN"/>
                  <a:t>d</a:t>
                </a:r>
                <a:r>
                  <a:rPr sz="2000">
                    <a:solidFill>
                      <a:srgbClr val="1E293B"/>
                    </a:solidFill>
                    <a:latin typeface="Calibri"/>
                  </a:rPr>
                  <a:t> chứa gốc tọa độ, kể cả </a:t>
                </a:r>
                <a:r>
                  <a:rPr lang="vi-VN"/>
                  <a:t>d</a:t>
                </a:r>
                <a:r>
                  <a:rPr sz="2000">
                    <a:solidFill>
                      <a:srgbClr val="1E293B"/>
                    </a:solidFill>
                    <a:latin typeface="Calibri"/>
                  </a:rPr>
                  <a:t>.</a:t>
                </a:r>
              </a:p>
              <a:p>
                <a:pPr algn="l" marL="365760" indent="-365760">
                  <a:spcAft>
                    <a:spcPts val="800"/>
                  </a:spcAft>
                  <a:buClr>
                    <a:srgbClr val="1E40AF"/>
                  </a:buClr>
                  <a:buFont typeface="Arial"/>
                  <a:buChar char="•"/>
                </a:pPr>
                <a:r>
                  <a:rPr sz="2000">
                    <a:solidFill>
                      <a:srgbClr val="1E293B"/>
                    </a:solidFill>
                    <a:latin typeface="Calibri"/>
                  </a:rPr>
                  <a:t>d) Sai: Với </a:t>
                </a:r>
                <a:r>
                  <a:rPr lang="vi-VN"/>
                  <a:t>x=150</a:t>
                </a:r>
                <a:r>
                  <a:rPr sz="2000">
                    <a:solidFill>
                      <a:srgbClr val="1E293B"/>
                    </a:solidFill>
                    <a:latin typeface="Calibri"/>
                  </a:rPr>
                  <a:t>: </a:t>
                </a:r>
                <a:r>
                  <a:rPr lang="vi-VN"/>
                  <a:t>2250+5y\le 3000\Leftrightarrow y\le 150</a:t>
                </a:r>
                <a:r>
                  <a:rPr sz="2000">
                    <a:solidFill>
                      <a:srgbClr val="1E293B"/>
                    </a:solidFill>
                    <a:latin typeface="Calibri"/>
                  </a:rPr>
                  <a:t>. Bác mua được nhiều nhất 150 kg phân hữu cơ vi sinh.</a:t>
                </a:r>
              </a:p>
            </p:txBody>
          </p:sp>
        </mc:Fallback>
      </mc:AlternateContent>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ĐỀ MINH HỌA · PHẦN II · CÂU 4</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Đề cương Toán 10 · Giữa học kì I          33</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4754880"/>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(Vận dụng – thực tiễn) Bếp ăn bán trú của một trường ở địa phương mỗi ngày mua </a:t>
                </a:r>
                <a14:m>
                  <m:oMath xmlns:m="http://schemas.openxmlformats.org/officeDocument/2006/math">
                    <m:r>
                      <a:rPr lang="vi-VN" sz="2000" b="1">
                        <a:solidFill>
                          <a:srgbClr val="1E293B"/>
                        </a:solidFill>
                        <a:latin typeface="Cambria Math" panose="02040503050406030204" pitchFamily="18" charset="0"/>
                      </a:rPr>
                      <m:t>x</m:t>
                    </m:r>
                  </m:oMath>
                </a14:m>
                <a:r>
                  <a:rPr sz="2000" b="1">
                    <a:solidFill>
                      <a:srgbClr val="1E293B"/>
                    </a:solidFill>
                    <a:latin typeface="Calibri"/>
                  </a:rPr>
                  <a:t> kg thịt gà và </a:t>
                </a:r>
                <a14:m>
                  <m:oMath xmlns:m="http://schemas.openxmlformats.org/officeDocument/2006/math">
                    <m:r>
                      <a:rPr lang="vi-VN" sz="2000" b="1">
                        <a:solidFill>
                          <a:srgbClr val="1E293B"/>
                        </a:solidFill>
                        <a:latin typeface="Cambria Math" panose="02040503050406030204" pitchFamily="18" charset="0"/>
                      </a:rPr>
                      <m:t>y</m:t>
                    </m:r>
                  </m:oMath>
                </a14:m>
                <a:r>
                  <a:rPr sz="2000" b="1">
                    <a:solidFill>
                      <a:srgbClr val="1E293B"/>
                    </a:solidFill>
                    <a:latin typeface="Calibri"/>
                  </a:rPr>
                  <a:t> kg cá rô phi. Giá thịt gà là 120 nghìn đồng/kg, giá cá rô phi là 60 nghìn đồng/kg; số tiền mua không quá 1,2 triệu đồng; tổng khối lượng ít nhất 12 kg; cá rô phi không quá 10 kg (</a:t>
                </a:r>
                <a14:m>
                  <m:oMath xmlns:m="http://schemas.openxmlformats.org/officeDocument/2006/math">
                    <m:r>
                      <a:rPr lang="vi-VN" sz="2000" b="1">
                        <a:solidFill>
                          <a:srgbClr val="1E293B"/>
                        </a:solidFill>
                        <a:latin typeface="Cambria Math" panose="02040503050406030204" pitchFamily="18" charset="0"/>
                      </a:rPr>
                      <m:t>x≥0</m:t>
                    </m:r>
                  </m:oMath>
                </a14:m>
                <a:r>
                  <a:rPr sz="2000" b="1">
                    <a:solidFill>
                      <a:srgbClr val="1E293B"/>
                    </a:solidFill>
                    <a:latin typeface="Calibri"/>
                  </a:rPr>
                  <a:t>, </a:t>
                </a:r>
                <a14:m>
                  <m:oMath xmlns:m="http://schemas.openxmlformats.org/officeDocument/2006/math">
                    <m:r>
                      <a:rPr lang="vi-VN" sz="2000" b="1">
                        <a:solidFill>
                          <a:srgbClr val="1E293B"/>
                        </a:solidFill>
                        <a:latin typeface="Cambria Math" panose="02040503050406030204" pitchFamily="18" charset="0"/>
                      </a:rPr>
                      <m:t>y≥0</m:t>
                    </m:r>
                  </m:oMath>
                </a14:m>
                <a:r>
                  <a:rPr sz="2000" b="1">
                    <a:solidFill>
                      <a:srgbClr val="1E293B"/>
                    </a:solidFill>
                    <a:latin typeface="Calibri"/>
                  </a:rPr>
                  <a:t>). Xét tính đúng, sai của các khẳng định sau:</a:t>
                </a:r>
              </a:p>
              <a:p>
                <a:pPr algn="l">
                  <a:spcAft>
                    <a:spcPts val="800"/>
                  </a:spcAft>
                </a:pPr>
                <a:r>
                  <a:rPr sz="2000" b="1">
                    <a:solidFill>
                      <a:srgbClr val="1E293B"/>
                    </a:solidFill>
                    <a:latin typeface="Calibri"/>
                  </a:rPr>
                  <a:t>a) Điều kiện về số tiền mua được viết là </a:t>
                </a:r>
                <a14:m>
                  <m:oMath xmlns:m="http://schemas.openxmlformats.org/officeDocument/2006/math">
                    <m:r>
                      <a:rPr lang="vi-VN" sz="2000" b="1">
                        <a:solidFill>
                          <a:srgbClr val="1E293B"/>
                        </a:solidFill>
                        <a:latin typeface="Cambria Math" panose="02040503050406030204" pitchFamily="18" charset="0"/>
                      </a:rPr>
                      <m:t>2x+y≤20</m:t>
                    </m:r>
                  </m:oMath>
                </a14:m>
                <a:r>
                  <a:rPr sz="2000" b="1">
                    <a:solidFill>
                      <a:srgbClr val="1E293B"/>
                    </a:solidFill>
                    <a:latin typeface="Calibri"/>
                  </a:rPr>
                  <a:t>.</a:t>
                </a:r>
              </a:p>
              <a:p>
                <a:pPr algn="l">
                  <a:spcAft>
                    <a:spcPts val="800"/>
                  </a:spcAft>
                </a:pPr>
                <a:r>
                  <a:rPr sz="2000" b="1">
                    <a:solidFill>
                      <a:srgbClr val="1E293B"/>
                    </a:solidFill>
                    <a:latin typeface="Calibri"/>
                  </a:rPr>
                  <a:t>b) Cặp số </a:t>
                </a:r>
                <a14:m>
                  <m:oMath xmlns:m="http://schemas.openxmlformats.org/officeDocument/2006/math">
                    <m:d>
                      <m:dPr>
                        <m:sepChr m:val=""/>
                      </m:dPr>
                      <m:e>
                        <m:r>
                          <a:rPr lang="vi-VN" sz="2000" b="1">
                            <a:solidFill>
                              <a:srgbClr val="1E293B"/>
                            </a:solidFill>
                            <a:latin typeface="Cambria Math" panose="02040503050406030204" pitchFamily="18" charset="0"/>
                          </a:rPr>
                          <m:t>6</m:t>
                        </m:r>
                        <m:r>
                          <a:rPr lang="vi-VN" sz="2000" b="1">
                            <a:solidFill>
                              <a:srgbClr val="1E293B"/>
                            </a:solidFill>
                            <a:latin typeface="Cambria Math" panose="02040503050406030204" pitchFamily="18" charset="0"/>
                          </a:rPr>
                          <m:t>;</m:t>
                        </m:r>
                        <m:r>
                          <a:rPr lang="vi-VN" sz="2000" b="1">
                            <a:solidFill>
                              <a:srgbClr val="1E293B"/>
                            </a:solidFill>
                            <a:latin typeface="Cambria Math" panose="02040503050406030204" pitchFamily="18" charset="0"/>
                          </a:rPr>
                          <m:t>5</m:t>
                        </m:r>
                      </m:e>
                    </m:d>
                  </m:oMath>
                </a14:m>
                <a:r>
                  <a:rPr sz="2000" b="1">
                    <a:solidFill>
                      <a:srgbClr val="1E293B"/>
                    </a:solidFill>
                    <a:latin typeface="Calibri"/>
                  </a:rPr>
                  <a:t> thuộc miền nghiệm của hệ bất phương trình biểu thị các điều kiện của bài toán.</a:t>
                </a:r>
              </a:p>
              <a:p>
                <a:pPr algn="l">
                  <a:spcAft>
                    <a:spcPts val="800"/>
                  </a:spcAft>
                </a:pPr>
                <a:r>
                  <a:rPr sz="2000" b="1">
                    <a:solidFill>
                      <a:srgbClr val="1E293B"/>
                    </a:solidFill>
                    <a:latin typeface="Calibri"/>
                  </a:rPr>
                  <a:t>c) Miền nghiệm của hệ là miền tam giác có các đỉnh </a:t>
                </a:r>
                <a14:m>
                  <m:oMath xmlns:m="http://schemas.openxmlformats.org/officeDocument/2006/math">
                    <m:d>
                      <m:dPr>
                        <m:sepChr m:val=""/>
                      </m:dPr>
                      <m:e>
                        <m:r>
                          <a:rPr lang="vi-VN" sz="2000" b="1">
                            <a:solidFill>
                              <a:srgbClr val="1E293B"/>
                            </a:solidFill>
                            <a:latin typeface="Cambria Math" panose="02040503050406030204" pitchFamily="18" charset="0"/>
                          </a:rPr>
                          <m:t>2</m:t>
                        </m:r>
                        <m:r>
                          <a:rPr lang="vi-VN" sz="2000" b="1">
                            <a:solidFill>
                              <a:srgbClr val="1E293B"/>
                            </a:solidFill>
                            <a:latin typeface="Cambria Math" panose="02040503050406030204" pitchFamily="18" charset="0"/>
                          </a:rPr>
                          <m:t>;</m:t>
                        </m:r>
                        <m:r>
                          <a:rPr lang="vi-VN" sz="2000" b="1">
                            <a:solidFill>
                              <a:srgbClr val="1E293B"/>
                            </a:solidFill>
                            <a:latin typeface="Cambria Math" panose="02040503050406030204" pitchFamily="18" charset="0"/>
                          </a:rPr>
                          <m:t>10</m:t>
                        </m:r>
                      </m:e>
                    </m:d>
                  </m:oMath>
                </a14:m>
                <a:r>
                  <a:rPr sz="2000" b="1">
                    <a:solidFill>
                      <a:srgbClr val="1E293B"/>
                    </a:solidFill>
                    <a:latin typeface="Calibri"/>
                  </a:rPr>
                  <a:t>, </a:t>
                </a:r>
                <a14:m>
                  <m:oMath xmlns:m="http://schemas.openxmlformats.org/officeDocument/2006/math">
                    <m:d>
                      <m:dPr>
                        <m:sepChr m:val=""/>
                      </m:dPr>
                      <m:e>
                        <m:r>
                          <a:rPr lang="vi-VN" sz="2000" b="1">
                            <a:solidFill>
                              <a:srgbClr val="1E293B"/>
                            </a:solidFill>
                            <a:latin typeface="Cambria Math" panose="02040503050406030204" pitchFamily="18" charset="0"/>
                          </a:rPr>
                          <m:t>5</m:t>
                        </m:r>
                        <m:r>
                          <a:rPr lang="vi-VN" sz="2000" b="1">
                            <a:solidFill>
                              <a:srgbClr val="1E293B"/>
                            </a:solidFill>
                            <a:latin typeface="Cambria Math" panose="02040503050406030204" pitchFamily="18" charset="0"/>
                          </a:rPr>
                          <m:t>;</m:t>
                        </m:r>
                        <m:r>
                          <a:rPr lang="vi-VN" sz="2000" b="1">
                            <a:solidFill>
                              <a:srgbClr val="1E293B"/>
                            </a:solidFill>
                            <a:latin typeface="Cambria Math" panose="02040503050406030204" pitchFamily="18" charset="0"/>
                          </a:rPr>
                          <m:t>10</m:t>
                        </m:r>
                      </m:e>
                    </m:d>
                  </m:oMath>
                </a14:m>
                <a:r>
                  <a:rPr sz="2000" b="1">
                    <a:solidFill>
                      <a:srgbClr val="1E293B"/>
                    </a:solidFill>
                    <a:latin typeface="Calibri"/>
                  </a:rPr>
                  <a:t>, </a:t>
                </a:r>
                <a14:m>
                  <m:oMath xmlns:m="http://schemas.openxmlformats.org/officeDocument/2006/math">
                    <m:d>
                      <m:dPr>
                        <m:sepChr m:val=""/>
                      </m:dPr>
                      <m:e>
                        <m:r>
                          <a:rPr lang="vi-VN" sz="2000" b="1">
                            <a:solidFill>
                              <a:srgbClr val="1E293B"/>
                            </a:solidFill>
                            <a:latin typeface="Cambria Math" panose="02040503050406030204" pitchFamily="18" charset="0"/>
                          </a:rPr>
                          <m:t>8</m:t>
                        </m:r>
                        <m:r>
                          <a:rPr lang="vi-VN" sz="2000" b="1">
                            <a:solidFill>
                              <a:srgbClr val="1E293B"/>
                            </a:solidFill>
                            <a:latin typeface="Cambria Math" panose="02040503050406030204" pitchFamily="18" charset="0"/>
                          </a:rPr>
                          <m:t>;</m:t>
                        </m:r>
                        <m:r>
                          <a:rPr lang="vi-VN" sz="2000" b="1">
                            <a:solidFill>
                              <a:srgbClr val="1E293B"/>
                            </a:solidFill>
                            <a:latin typeface="Cambria Math" panose="02040503050406030204" pitchFamily="18" charset="0"/>
                          </a:rPr>
                          <m:t>4</m:t>
                        </m:r>
                      </m:e>
                    </m:d>
                  </m:oMath>
                </a14:m>
                <a:r>
                  <a:rPr sz="2000" b="1">
                    <a:solidFill>
                      <a:srgbClr val="1E293B"/>
                    </a:solidFill>
                    <a:latin typeface="Calibri"/>
                  </a:rPr>
                  <a:t>.</a:t>
                </a:r>
              </a:p>
              <a:p>
                <a:pPr algn="l">
                  <a:spcAft>
                    <a:spcPts val="800"/>
                  </a:spcAft>
                </a:pPr>
                <a:r>
                  <a:rPr sz="2000" b="1">
                    <a:solidFill>
                      <a:srgbClr val="1E293B"/>
                    </a:solidFill>
                    <a:latin typeface="Calibri"/>
                  </a:rPr>
                  <a:t>d) Để chi phí thấp nhất, bếp ăn cần mua 8 kg thịt gà và 4 kg cá rô phi.</a:t>
                </a:r>
              </a:p>
            </p:txBody>
          </p:sp>
        </mc:Choice>
        <mc:Fallback>
          <p:sp>
            <p:nvSpPr>
              <p:cNvPr id="7" name="TextBox 6"/>
              <p:cNvSpPr txBox="1"/>
              <p:nvPr/>
            </p:nvSpPr>
            <p:spPr>
              <a:xfrm>
                <a:off x="731520" y="1463040"/>
                <a:ext cx="10789920" cy="4754880"/>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(Vận dụng – thực tiễn) Bếp ăn bán trú của một trường ở địa phương mỗi ngày mua </a:t>
                </a:r>
                <a:r>
                  <a:rPr lang="vi-VN"/>
                  <a:t>x</a:t>
                </a:r>
                <a:r>
                  <a:rPr sz="2000" b="1">
                    <a:solidFill>
                      <a:srgbClr val="1E293B"/>
                    </a:solidFill>
                    <a:latin typeface="Calibri"/>
                  </a:rPr>
                  <a:t> kg thịt gà và </a:t>
                </a:r>
                <a:r>
                  <a:rPr lang="vi-VN"/>
                  <a:t>y</a:t>
                </a:r>
                <a:r>
                  <a:rPr sz="2000" b="1">
                    <a:solidFill>
                      <a:srgbClr val="1E293B"/>
                    </a:solidFill>
                    <a:latin typeface="Calibri"/>
                  </a:rPr>
                  <a:t> kg cá rô phi. Giá thịt gà là 120 nghìn đồng/kg, giá cá rô phi là 60 nghìn đồng/kg; số tiền mua không quá 1,2 triệu đồng; tổng khối lượng ít nhất 12 kg; cá rô phi không quá 10 kg (</a:t>
                </a:r>
                <a:r>
                  <a:rPr lang="vi-VN"/>
                  <a:t>x\ge 0</a:t>
                </a:r>
                <a:r>
                  <a:rPr sz="2000" b="1">
                    <a:solidFill>
                      <a:srgbClr val="1E293B"/>
                    </a:solidFill>
                    <a:latin typeface="Calibri"/>
                  </a:rPr>
                  <a:t>, </a:t>
                </a:r>
                <a:r>
                  <a:rPr lang="vi-VN"/>
                  <a:t>y\ge 0</a:t>
                </a:r>
                <a:r>
                  <a:rPr sz="2000" b="1">
                    <a:solidFill>
                      <a:srgbClr val="1E293B"/>
                    </a:solidFill>
                    <a:latin typeface="Calibri"/>
                  </a:rPr>
                  <a:t>). Xét tính đúng, sai của các khẳng định sau:</a:t>
                </a:r>
              </a:p>
              <a:p>
                <a:pPr algn="l">
                  <a:spcAft>
                    <a:spcPts val="800"/>
                  </a:spcAft>
                </a:pPr>
                <a:r>
                  <a:rPr sz="2000" b="1">
                    <a:solidFill>
                      <a:srgbClr val="1E293B"/>
                    </a:solidFill>
                    <a:latin typeface="Calibri"/>
                  </a:rPr>
                  <a:t>a) Điều kiện về số tiền mua được viết là </a:t>
                </a:r>
                <a:r>
                  <a:rPr lang="vi-VN"/>
                  <a:t>2x+y\le 20</a:t>
                </a:r>
                <a:r>
                  <a:rPr sz="2000" b="1">
                    <a:solidFill>
                      <a:srgbClr val="1E293B"/>
                    </a:solidFill>
                    <a:latin typeface="Calibri"/>
                  </a:rPr>
                  <a:t>.</a:t>
                </a:r>
              </a:p>
              <a:p>
                <a:pPr algn="l">
                  <a:spcAft>
                    <a:spcPts val="800"/>
                  </a:spcAft>
                </a:pPr>
                <a:r>
                  <a:rPr sz="2000" b="1">
                    <a:solidFill>
                      <a:srgbClr val="1E293B"/>
                    </a:solidFill>
                    <a:latin typeface="Calibri"/>
                  </a:rPr>
                  <a:t>b) Cặp số </a:t>
                </a:r>
                <a:r>
                  <a:rPr lang="vi-VN"/>
                  <a:t>(6;5)</a:t>
                </a:r>
                <a:r>
                  <a:rPr sz="2000" b="1">
                    <a:solidFill>
                      <a:srgbClr val="1E293B"/>
                    </a:solidFill>
                    <a:latin typeface="Calibri"/>
                  </a:rPr>
                  <a:t> thuộc miền nghiệm của hệ bất phương trình biểu thị các điều kiện của bài toán.</a:t>
                </a:r>
              </a:p>
              <a:p>
                <a:pPr algn="l">
                  <a:spcAft>
                    <a:spcPts val="800"/>
                  </a:spcAft>
                </a:pPr>
                <a:r>
                  <a:rPr sz="2000" b="1">
                    <a:solidFill>
                      <a:srgbClr val="1E293B"/>
                    </a:solidFill>
                    <a:latin typeface="Calibri"/>
                  </a:rPr>
                  <a:t>c) Miền nghiệm của hệ là miền tam giác có các đỉnh </a:t>
                </a:r>
                <a:r>
                  <a:rPr lang="vi-VN"/>
                  <a:t>(2;10)</a:t>
                </a:r>
                <a:r>
                  <a:rPr sz="2000" b="1">
                    <a:solidFill>
                      <a:srgbClr val="1E293B"/>
                    </a:solidFill>
                    <a:latin typeface="Calibri"/>
                  </a:rPr>
                  <a:t>, </a:t>
                </a:r>
                <a:r>
                  <a:rPr lang="vi-VN"/>
                  <a:t>(5;10)</a:t>
                </a:r>
                <a:r>
                  <a:rPr sz="2000" b="1">
                    <a:solidFill>
                      <a:srgbClr val="1E293B"/>
                    </a:solidFill>
                    <a:latin typeface="Calibri"/>
                  </a:rPr>
                  <a:t>, </a:t>
                </a:r>
                <a:r>
                  <a:rPr lang="vi-VN"/>
                  <a:t>(8;4)</a:t>
                </a:r>
                <a:r>
                  <a:rPr sz="2000" b="1">
                    <a:solidFill>
                      <a:srgbClr val="1E293B"/>
                    </a:solidFill>
                    <a:latin typeface="Calibri"/>
                  </a:rPr>
                  <a:t>.</a:t>
                </a:r>
              </a:p>
              <a:p>
                <a:pPr algn="l">
                  <a:spcAft>
                    <a:spcPts val="800"/>
                  </a:spcAft>
                </a:pPr>
                <a:r>
                  <a:rPr sz="2000" b="1">
                    <a:solidFill>
                      <a:srgbClr val="1E293B"/>
                    </a:solidFill>
                    <a:latin typeface="Calibri"/>
                  </a:rPr>
                  <a:t>d) Để chi phí thấp nhất, bếp ăn cần mua 8 kg thịt gà và 4 kg cá rô phi.</a:t>
                </a:r>
              </a:p>
            </p:txBody>
          </p:sp>
        </mc:Fallback>
      </mc:AlternateContent>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ĐỀ MINH HỌA · PHẦN II · CÂU 4</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Đề cương Toán 10 · Giữa học kì I          34</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475488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000">
                    <a:solidFill>
                      <a:srgbClr val="1E293B"/>
                    </a:solidFill>
                    <a:latin typeface="Calibri"/>
                  </a:rPr>
                  <a:t>a) Đúng: Số tiền mua là </a:t>
                </a:r>
                <a14:m>
                  <m:oMath xmlns:m="http://schemas.openxmlformats.org/officeDocument/2006/math">
                    <m:r>
                      <a:rPr lang="vi-VN" sz="2000" b="0">
                        <a:solidFill>
                          <a:srgbClr val="1E293B"/>
                        </a:solidFill>
                        <a:latin typeface="Cambria Math" panose="02040503050406030204" pitchFamily="18" charset="0"/>
                      </a:rPr>
                      <m:t>120x+60y</m:t>
                    </m:r>
                  </m:oMath>
                </a14:m>
                <a:r>
                  <a:rPr sz="2000">
                    <a:solidFill>
                      <a:srgbClr val="1E293B"/>
                    </a:solidFill>
                    <a:latin typeface="Calibri"/>
                  </a:rPr>
                  <a:t> (nghìn đồng), không quá </a:t>
                </a:r>
                <a14:m>
                  <m:oMath xmlns:m="http://schemas.openxmlformats.org/officeDocument/2006/math">
                    <m:r>
                      <a:rPr lang="vi-VN" sz="2000" b="0">
                        <a:solidFill>
                          <a:srgbClr val="1E293B"/>
                        </a:solidFill>
                        <a:latin typeface="Cambria Math" panose="02040503050406030204" pitchFamily="18" charset="0"/>
                      </a:rPr>
                      <m:t>1200</m:t>
                    </m:r>
                  </m:oMath>
                </a14:m>
                <a:r>
                  <a:rPr sz="2000">
                    <a:solidFill>
                      <a:srgbClr val="1E293B"/>
                    </a:solidFill>
                    <a:latin typeface="Calibri"/>
                  </a:rPr>
                  <a:t> nghìn đồng: </a:t>
                </a:r>
                <a14:m>
                  <m:oMath xmlns:m="http://schemas.openxmlformats.org/officeDocument/2006/math">
                    <m:r>
                      <a:rPr lang="vi-VN" sz="2000" b="0">
                        <a:solidFill>
                          <a:srgbClr val="1E293B"/>
                        </a:solidFill>
                        <a:latin typeface="Cambria Math" panose="02040503050406030204" pitchFamily="18" charset="0"/>
                      </a:rPr>
                      <m:t>120x+60y≤1200⇔2x+y≤20</m:t>
                    </m:r>
                  </m:oMath>
                </a14:m>
                <a:r>
                  <a:rPr sz="2000">
                    <a:solidFill>
                      <a:srgbClr val="1E293B"/>
                    </a:solidFill>
                    <a:latin typeface="Calibri"/>
                  </a:rPr>
                  <a:t>.</a:t>
                </a:r>
              </a:p>
              <a:p>
                <a:pPr algn="l" marL="365760" indent="-365760">
                  <a:spcAft>
                    <a:spcPts val="800"/>
                  </a:spcAft>
                  <a:buClr>
                    <a:srgbClr val="1E40AF"/>
                  </a:buClr>
                  <a:buFont typeface="Arial"/>
                  <a:buChar char="•"/>
                </a:pPr>
                <a:r>
                  <a:rPr sz="2000">
                    <a:solidFill>
                      <a:srgbClr val="1E293B"/>
                    </a:solidFill>
                    <a:latin typeface="Calibri"/>
                  </a:rPr>
                  <a:t>b) Sai: </a:t>
                </a:r>
                <a14:m>
                  <m:oMath xmlns:m="http://schemas.openxmlformats.org/officeDocument/2006/math">
                    <m:r>
                      <a:rPr lang="vi-VN" sz="2000" b="0">
                        <a:solidFill>
                          <a:srgbClr val="1E293B"/>
                        </a:solidFill>
                        <a:latin typeface="Cambria Math" panose="02040503050406030204" pitchFamily="18" charset="0"/>
                      </a:rPr>
                      <m:t>6+5=11&lt;12</m:t>
                    </m:r>
                  </m:oMath>
                </a14:m>
                <a:r>
                  <a:rPr sz="2000">
                    <a:solidFill>
                      <a:srgbClr val="1E293B"/>
                    </a:solidFill>
                    <a:latin typeface="Calibri"/>
                  </a:rPr>
                  <a:t>: không thỏa mãn điều kiện tổng khối lượng ít nhất 12 kg nên </a:t>
                </a:r>
                <a14:m>
                  <m:oMath xmlns:m="http://schemas.openxmlformats.org/officeDocument/2006/math">
                    <m:d>
                      <m:dPr>
                        <m:sepChr m:val=""/>
                      </m:dPr>
                      <m:e>
                        <m:r>
                          <a:rPr lang="vi-VN" sz="2000" b="0">
                            <a:solidFill>
                              <a:srgbClr val="1E293B"/>
                            </a:solidFill>
                            <a:latin typeface="Cambria Math" panose="02040503050406030204" pitchFamily="18" charset="0"/>
                          </a:rPr>
                          <m:t>6</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5</m:t>
                        </m:r>
                      </m:e>
                    </m:d>
                  </m:oMath>
                </a14:m>
                <a:r>
                  <a:rPr sz="2000">
                    <a:solidFill>
                      <a:srgbClr val="1E293B"/>
                    </a:solidFill>
                    <a:latin typeface="Calibri"/>
                  </a:rPr>
                  <a:t> không thuộc miền nghiệm.</a:t>
                </a:r>
              </a:p>
              <a:p>
                <a:pPr algn="l" marL="365760" indent="-365760">
                  <a:spcAft>
                    <a:spcPts val="800"/>
                  </a:spcAft>
                  <a:buClr>
                    <a:srgbClr val="1E40AF"/>
                  </a:buClr>
                  <a:buFont typeface="Arial"/>
                  <a:buChar char="•"/>
                </a:pPr>
                <a:r>
                  <a:rPr sz="2000">
                    <a:solidFill>
                      <a:srgbClr val="1E293B"/>
                    </a:solidFill>
                    <a:latin typeface="Calibri"/>
                  </a:rPr>
                  <a:t>c) Đúng: Hệ: </a:t>
                </a:r>
                <a14:m>
                  <m:oMath xmlns:m="http://schemas.openxmlformats.org/officeDocument/2006/math">
                    <m:r>
                      <a:rPr lang="vi-VN" sz="2000" b="0">
                        <a:solidFill>
                          <a:srgbClr val="1E293B"/>
                        </a:solidFill>
                        <a:latin typeface="Cambria Math" panose="02040503050406030204" pitchFamily="18" charset="0"/>
                      </a:rPr>
                      <m:t>x≥0</m:t>
                    </m:r>
                  </m:oMath>
                </a14:m>
                <a:r>
                  <a:rPr sz="2000">
                    <a:solidFill>
                      <a:srgbClr val="1E293B"/>
                    </a:solidFill>
                    <a:latin typeface="Calibri"/>
                  </a:rPr>
                  <a:t>, </a:t>
                </a:r>
                <a14:m>
                  <m:oMath xmlns:m="http://schemas.openxmlformats.org/officeDocument/2006/math">
                    <m:r>
                      <a:rPr lang="vi-VN" sz="2000" b="0">
                        <a:solidFill>
                          <a:srgbClr val="1E293B"/>
                        </a:solidFill>
                        <a:latin typeface="Cambria Math" panose="02040503050406030204" pitchFamily="18" charset="0"/>
                      </a:rPr>
                      <m:t>y≥0</m:t>
                    </m:r>
                  </m:oMath>
                </a14:m>
                <a:r>
                  <a:rPr sz="2000">
                    <a:solidFill>
                      <a:srgbClr val="1E293B"/>
                    </a:solidFill>
                    <a:latin typeface="Calibri"/>
                  </a:rPr>
                  <a:t>, </a:t>
                </a:r>
                <a14:m>
                  <m:oMath xmlns:m="http://schemas.openxmlformats.org/officeDocument/2006/math">
                    <m:r>
                      <a:rPr lang="vi-VN" sz="2000" b="0">
                        <a:solidFill>
                          <a:srgbClr val="1E293B"/>
                        </a:solidFill>
                        <a:latin typeface="Cambria Math" panose="02040503050406030204" pitchFamily="18" charset="0"/>
                      </a:rPr>
                      <m:t>y≤10</m:t>
                    </m:r>
                  </m:oMath>
                </a14:m>
                <a:r>
                  <a:rPr sz="2000">
                    <a:solidFill>
                      <a:srgbClr val="1E293B"/>
                    </a:solidFill>
                    <a:latin typeface="Calibri"/>
                  </a:rPr>
                  <a:t>, </a:t>
                </a:r>
                <a14:m>
                  <m:oMath xmlns:m="http://schemas.openxmlformats.org/officeDocument/2006/math">
                    <m:r>
                      <a:rPr lang="vi-VN" sz="2000" b="0">
                        <a:solidFill>
                          <a:srgbClr val="1E293B"/>
                        </a:solidFill>
                        <a:latin typeface="Cambria Math" panose="02040503050406030204" pitchFamily="18" charset="0"/>
                      </a:rPr>
                      <m:t>x+y≥12</m:t>
                    </m:r>
                  </m:oMath>
                </a14:m>
                <a:r>
                  <a:rPr sz="2000">
                    <a:solidFill>
                      <a:srgbClr val="1E293B"/>
                    </a:solidFill>
                    <a:latin typeface="Calibri"/>
                  </a:rPr>
                  <a:t>, </a:t>
                </a:r>
                <a14:m>
                  <m:oMath xmlns:m="http://schemas.openxmlformats.org/officeDocument/2006/math">
                    <m:r>
                      <a:rPr lang="vi-VN" sz="2000" b="0">
                        <a:solidFill>
                          <a:srgbClr val="1E293B"/>
                        </a:solidFill>
                        <a:latin typeface="Cambria Math" panose="02040503050406030204" pitchFamily="18" charset="0"/>
                      </a:rPr>
                      <m:t>2x+y≤20</m:t>
                    </m:r>
                  </m:oMath>
                </a14:m>
                <a:r>
                  <a:rPr sz="2000">
                    <a:solidFill>
                      <a:srgbClr val="1E293B"/>
                    </a:solidFill>
                    <a:latin typeface="Calibri"/>
                  </a:rPr>
                  <a:t>. Các đỉnh: giao của </a:t>
                </a:r>
                <a14:m>
                  <m:oMath xmlns:m="http://schemas.openxmlformats.org/officeDocument/2006/math">
                    <m:r>
                      <a:rPr lang="vi-VN" sz="2000" b="0">
                        <a:solidFill>
                          <a:srgbClr val="1E293B"/>
                        </a:solidFill>
                        <a:latin typeface="Cambria Math" panose="02040503050406030204" pitchFamily="18" charset="0"/>
                      </a:rPr>
                      <m:t>y=10</m:t>
                    </m:r>
                  </m:oMath>
                </a14:m>
                <a:r>
                  <a:rPr sz="2000">
                    <a:solidFill>
                      <a:srgbClr val="1E293B"/>
                    </a:solidFill>
                    <a:latin typeface="Calibri"/>
                  </a:rPr>
                  <a:t> và </a:t>
                </a:r>
                <a14:m>
                  <m:oMath xmlns:m="http://schemas.openxmlformats.org/officeDocument/2006/math">
                    <m:r>
                      <a:rPr lang="vi-VN" sz="2000" b="0">
                        <a:solidFill>
                          <a:srgbClr val="1E293B"/>
                        </a:solidFill>
                        <a:latin typeface="Cambria Math" panose="02040503050406030204" pitchFamily="18" charset="0"/>
                      </a:rPr>
                      <m:t>x+y=12</m:t>
                    </m:r>
                  </m:oMath>
                </a14:m>
                <a:r>
                  <a:rPr sz="2000">
                    <a:solidFill>
                      <a:srgbClr val="1E293B"/>
                    </a:solidFill>
                    <a:latin typeface="Calibri"/>
                  </a:rPr>
                  <a:t> là </a:t>
                </a:r>
                <a14:m>
                  <m:oMath xmlns:m="http://schemas.openxmlformats.org/officeDocument/2006/math">
                    <m:d>
                      <m:dPr>
                        <m:sepChr m:val=""/>
                      </m:dPr>
                      <m:e>
                        <m:r>
                          <a:rPr lang="vi-VN" sz="2000" b="0">
                            <a:solidFill>
                              <a:srgbClr val="1E293B"/>
                            </a:solidFill>
                            <a:latin typeface="Cambria Math" panose="02040503050406030204" pitchFamily="18" charset="0"/>
                          </a:rPr>
                          <m:t>2</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10</m:t>
                        </m:r>
                      </m:e>
                    </m:d>
                  </m:oMath>
                </a14:m>
                <a:r>
                  <a:rPr sz="2000">
                    <a:solidFill>
                      <a:srgbClr val="1E293B"/>
                    </a:solidFill>
                    <a:latin typeface="Calibri"/>
                  </a:rPr>
                  <a:t>; của </a:t>
                </a:r>
                <a14:m>
                  <m:oMath xmlns:m="http://schemas.openxmlformats.org/officeDocument/2006/math">
                    <m:r>
                      <a:rPr lang="vi-VN" sz="2000" b="0">
                        <a:solidFill>
                          <a:srgbClr val="1E293B"/>
                        </a:solidFill>
                        <a:latin typeface="Cambria Math" panose="02040503050406030204" pitchFamily="18" charset="0"/>
                      </a:rPr>
                      <m:t>y=10</m:t>
                    </m:r>
                  </m:oMath>
                </a14:m>
                <a:r>
                  <a:rPr sz="2000">
                    <a:solidFill>
                      <a:srgbClr val="1E293B"/>
                    </a:solidFill>
                    <a:latin typeface="Calibri"/>
                  </a:rPr>
                  <a:t> và </a:t>
                </a:r>
                <a14:m>
                  <m:oMath xmlns:m="http://schemas.openxmlformats.org/officeDocument/2006/math">
                    <m:r>
                      <a:rPr lang="vi-VN" sz="2000" b="0">
                        <a:solidFill>
                          <a:srgbClr val="1E293B"/>
                        </a:solidFill>
                        <a:latin typeface="Cambria Math" panose="02040503050406030204" pitchFamily="18" charset="0"/>
                      </a:rPr>
                      <m:t>2x+y=20</m:t>
                    </m:r>
                  </m:oMath>
                </a14:m>
                <a:r>
                  <a:rPr sz="2000">
                    <a:solidFill>
                      <a:srgbClr val="1E293B"/>
                    </a:solidFill>
                    <a:latin typeface="Calibri"/>
                  </a:rPr>
                  <a:t> là </a:t>
                </a:r>
                <a14:m>
                  <m:oMath xmlns:m="http://schemas.openxmlformats.org/officeDocument/2006/math">
                    <m:d>
                      <m:dPr>
                        <m:sepChr m:val=""/>
                      </m:dPr>
                      <m:e>
                        <m:r>
                          <a:rPr lang="vi-VN" sz="2000" b="0">
                            <a:solidFill>
                              <a:srgbClr val="1E293B"/>
                            </a:solidFill>
                            <a:latin typeface="Cambria Math" panose="02040503050406030204" pitchFamily="18" charset="0"/>
                          </a:rPr>
                          <m:t>5</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10</m:t>
                        </m:r>
                      </m:e>
                    </m:d>
                  </m:oMath>
                </a14:m>
                <a:r>
                  <a:rPr sz="2000">
                    <a:solidFill>
                      <a:srgbClr val="1E293B"/>
                    </a:solidFill>
                    <a:latin typeface="Calibri"/>
                  </a:rPr>
                  <a:t>; của </a:t>
                </a:r>
                <a14:m>
                  <m:oMath xmlns:m="http://schemas.openxmlformats.org/officeDocument/2006/math">
                    <m:r>
                      <a:rPr lang="vi-VN" sz="2000" b="0">
                        <a:solidFill>
                          <a:srgbClr val="1E293B"/>
                        </a:solidFill>
                        <a:latin typeface="Cambria Math" panose="02040503050406030204" pitchFamily="18" charset="0"/>
                      </a:rPr>
                      <m:t>x+y=12</m:t>
                    </m:r>
                  </m:oMath>
                </a14:m>
                <a:r>
                  <a:rPr sz="2000">
                    <a:solidFill>
                      <a:srgbClr val="1E293B"/>
                    </a:solidFill>
                    <a:latin typeface="Calibri"/>
                  </a:rPr>
                  <a:t> và </a:t>
                </a:r>
                <a14:m>
                  <m:oMath xmlns:m="http://schemas.openxmlformats.org/officeDocument/2006/math">
                    <m:r>
                      <a:rPr lang="vi-VN" sz="2000" b="0">
                        <a:solidFill>
                          <a:srgbClr val="1E293B"/>
                        </a:solidFill>
                        <a:latin typeface="Cambria Math" panose="02040503050406030204" pitchFamily="18" charset="0"/>
                      </a:rPr>
                      <m:t>2x+y=20</m:t>
                    </m:r>
                  </m:oMath>
                </a14:m>
                <a:r>
                  <a:rPr sz="2000">
                    <a:solidFill>
                      <a:srgbClr val="1E293B"/>
                    </a:solidFill>
                    <a:latin typeface="Calibri"/>
                  </a:rPr>
                  <a:t> là </a:t>
                </a:r>
                <a14:m>
                  <m:oMath xmlns:m="http://schemas.openxmlformats.org/officeDocument/2006/math">
                    <m:d>
                      <m:dPr>
                        <m:sepChr m:val=""/>
                      </m:dPr>
                      <m:e>
                        <m:r>
                          <a:rPr lang="vi-VN" sz="2000" b="0">
                            <a:solidFill>
                              <a:srgbClr val="1E293B"/>
                            </a:solidFill>
                            <a:latin typeface="Cambria Math" panose="02040503050406030204" pitchFamily="18" charset="0"/>
                          </a:rPr>
                          <m:t>8</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4</m:t>
                        </m:r>
                      </m:e>
                    </m:d>
                  </m:oMath>
                </a14:m>
                <a:r>
                  <a:rPr sz="2000">
                    <a:solidFill>
                      <a:srgbClr val="1E293B"/>
                    </a:solidFill>
                    <a:latin typeface="Calibri"/>
                  </a:rPr>
                  <a:t>.</a:t>
                </a:r>
              </a:p>
              <a:p>
                <a:pPr algn="l" marL="365760" indent="-365760">
                  <a:spcAft>
                    <a:spcPts val="800"/>
                  </a:spcAft>
                  <a:buClr>
                    <a:srgbClr val="1E40AF"/>
                  </a:buClr>
                  <a:buFont typeface="Arial"/>
                  <a:buChar char="•"/>
                </a:pPr>
                <a:r>
                  <a:rPr sz="2000">
                    <a:solidFill>
                      <a:srgbClr val="1E293B"/>
                    </a:solidFill>
                    <a:latin typeface="Calibri"/>
                  </a:rPr>
                  <a:t>d) Sai: Chi phí </a:t>
                </a:r>
                <a14:m>
                  <m:oMath xmlns:m="http://schemas.openxmlformats.org/officeDocument/2006/math">
                    <m:r>
                      <a:rPr lang="vi-VN" sz="2000" b="0">
                        <a:solidFill>
                          <a:srgbClr val="1E293B"/>
                        </a:solidFill>
                        <a:latin typeface="Cambria Math" panose="02040503050406030204" pitchFamily="18" charset="0"/>
                      </a:rPr>
                      <m:t>F=120x+60y</m:t>
                    </m:r>
                  </m:oMath>
                </a14:m>
                <a:r>
                  <a:rPr sz="2000">
                    <a:solidFill>
                      <a:srgbClr val="1E293B"/>
                    </a:solidFill>
                    <a:latin typeface="Calibri"/>
                  </a:rPr>
                  <a:t>: </a:t>
                </a:r>
                <a14:m>
                  <m:oMath xmlns:m="http://schemas.openxmlformats.org/officeDocument/2006/math">
                    <m:r>
                      <a:rPr lang="vi-VN" sz="2000" b="0">
                        <a:solidFill>
                          <a:srgbClr val="1E293B"/>
                        </a:solidFill>
                        <a:latin typeface="Cambria Math" panose="02040503050406030204" pitchFamily="18" charset="0"/>
                      </a:rPr>
                      <m:t>F(2;10)=840</m:t>
                    </m:r>
                  </m:oMath>
                </a14:m>
                <a:r>
                  <a:rPr sz="2000">
                    <a:solidFill>
                      <a:srgbClr val="1E293B"/>
                    </a:solidFill>
                    <a:latin typeface="Calibri"/>
                  </a:rPr>
                  <a:t>, </a:t>
                </a:r>
                <a14:m>
                  <m:oMath xmlns:m="http://schemas.openxmlformats.org/officeDocument/2006/math">
                    <m:r>
                      <a:rPr lang="vi-VN" sz="2000" b="0">
                        <a:solidFill>
                          <a:srgbClr val="1E293B"/>
                        </a:solidFill>
                        <a:latin typeface="Cambria Math" panose="02040503050406030204" pitchFamily="18" charset="0"/>
                      </a:rPr>
                      <m:t>F(5;10)=1200</m:t>
                    </m:r>
                  </m:oMath>
                </a14:m>
                <a:r>
                  <a:rPr sz="2000">
                    <a:solidFill>
                      <a:srgbClr val="1E293B"/>
                    </a:solidFill>
                    <a:latin typeface="Calibri"/>
                  </a:rPr>
                  <a:t>, </a:t>
                </a:r>
                <a14:m>
                  <m:oMath xmlns:m="http://schemas.openxmlformats.org/officeDocument/2006/math">
                    <m:r>
                      <a:rPr lang="vi-VN" sz="2000" b="0">
                        <a:solidFill>
                          <a:srgbClr val="1E293B"/>
                        </a:solidFill>
                        <a:latin typeface="Cambria Math" panose="02040503050406030204" pitchFamily="18" charset="0"/>
                      </a:rPr>
                      <m:t>F(8;4)=1200</m:t>
                    </m:r>
                  </m:oMath>
                </a14:m>
                <a:r>
                  <a:rPr sz="2000">
                    <a:solidFill>
                      <a:srgbClr val="1E293B"/>
                    </a:solidFill>
                    <a:latin typeface="Calibri"/>
                  </a:rPr>
                  <a:t>. Chi phí thấp nhất là 840 nghìn đồng khi mua 2 kg thịt gà và 10 kg cá rô phi.</a:t>
                </a:r>
              </a:p>
            </p:txBody>
          </p:sp>
        </mc:Choice>
        <mc:Fallback>
          <p:sp>
            <p:nvSpPr>
              <p:cNvPr id="7" name="TextBox 6"/>
              <p:cNvSpPr txBox="1"/>
              <p:nvPr/>
            </p:nvSpPr>
            <p:spPr>
              <a:xfrm>
                <a:off x="731520" y="1463040"/>
                <a:ext cx="10789920" cy="475488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000">
                    <a:solidFill>
                      <a:srgbClr val="1E293B"/>
                    </a:solidFill>
                    <a:latin typeface="Calibri"/>
                  </a:rPr>
                  <a:t>a) Đúng: Số tiền mua là </a:t>
                </a:r>
                <a:r>
                  <a:rPr lang="vi-VN"/>
                  <a:t>120x+60y</a:t>
                </a:r>
                <a:r>
                  <a:rPr sz="2000">
                    <a:solidFill>
                      <a:srgbClr val="1E293B"/>
                    </a:solidFill>
                    <a:latin typeface="Calibri"/>
                  </a:rPr>
                  <a:t> (nghìn đồng), không quá </a:t>
                </a:r>
                <a:r>
                  <a:rPr lang="vi-VN"/>
                  <a:t>1200</a:t>
                </a:r>
                <a:r>
                  <a:rPr sz="2000">
                    <a:solidFill>
                      <a:srgbClr val="1E293B"/>
                    </a:solidFill>
                    <a:latin typeface="Calibri"/>
                  </a:rPr>
                  <a:t> nghìn đồng: </a:t>
                </a:r>
                <a:r>
                  <a:rPr lang="vi-VN"/>
                  <a:t>120x+60y\le 1200\Leftrightarrow 2x+y\le 20</a:t>
                </a:r>
                <a:r>
                  <a:rPr sz="2000">
                    <a:solidFill>
                      <a:srgbClr val="1E293B"/>
                    </a:solidFill>
                    <a:latin typeface="Calibri"/>
                  </a:rPr>
                  <a:t>.</a:t>
                </a:r>
              </a:p>
              <a:p>
                <a:pPr algn="l" marL="365760" indent="-365760">
                  <a:spcAft>
                    <a:spcPts val="800"/>
                  </a:spcAft>
                  <a:buClr>
                    <a:srgbClr val="1E40AF"/>
                  </a:buClr>
                  <a:buFont typeface="Arial"/>
                  <a:buChar char="•"/>
                </a:pPr>
                <a:r>
                  <a:rPr sz="2000">
                    <a:solidFill>
                      <a:srgbClr val="1E293B"/>
                    </a:solidFill>
                    <a:latin typeface="Calibri"/>
                  </a:rPr>
                  <a:t>b) Sai: </a:t>
                </a:r>
                <a:r>
                  <a:rPr lang="vi-VN"/>
                  <a:t>6+5=11&lt;12</a:t>
                </a:r>
                <a:r>
                  <a:rPr sz="2000">
                    <a:solidFill>
                      <a:srgbClr val="1E293B"/>
                    </a:solidFill>
                    <a:latin typeface="Calibri"/>
                  </a:rPr>
                  <a:t>: không thỏa mãn điều kiện tổng khối lượng ít nhất 12 kg nên </a:t>
                </a:r>
                <a:r>
                  <a:rPr lang="vi-VN"/>
                  <a:t>(6;5)</a:t>
                </a:r>
                <a:r>
                  <a:rPr sz="2000">
                    <a:solidFill>
                      <a:srgbClr val="1E293B"/>
                    </a:solidFill>
                    <a:latin typeface="Calibri"/>
                  </a:rPr>
                  <a:t> không thuộc miền nghiệm.</a:t>
                </a:r>
              </a:p>
              <a:p>
                <a:pPr algn="l" marL="365760" indent="-365760">
                  <a:spcAft>
                    <a:spcPts val="800"/>
                  </a:spcAft>
                  <a:buClr>
                    <a:srgbClr val="1E40AF"/>
                  </a:buClr>
                  <a:buFont typeface="Arial"/>
                  <a:buChar char="•"/>
                </a:pPr>
                <a:r>
                  <a:rPr sz="2000">
                    <a:solidFill>
                      <a:srgbClr val="1E293B"/>
                    </a:solidFill>
                    <a:latin typeface="Calibri"/>
                  </a:rPr>
                  <a:t>c) Đúng: Hệ: </a:t>
                </a:r>
                <a:r>
                  <a:rPr lang="vi-VN"/>
                  <a:t>x\ge 0</a:t>
                </a:r>
                <a:r>
                  <a:rPr sz="2000">
                    <a:solidFill>
                      <a:srgbClr val="1E293B"/>
                    </a:solidFill>
                    <a:latin typeface="Calibri"/>
                  </a:rPr>
                  <a:t>, </a:t>
                </a:r>
                <a:r>
                  <a:rPr lang="vi-VN"/>
                  <a:t>y\ge 0</a:t>
                </a:r>
                <a:r>
                  <a:rPr sz="2000">
                    <a:solidFill>
                      <a:srgbClr val="1E293B"/>
                    </a:solidFill>
                    <a:latin typeface="Calibri"/>
                  </a:rPr>
                  <a:t>, </a:t>
                </a:r>
                <a:r>
                  <a:rPr lang="vi-VN"/>
                  <a:t>y\le 10</a:t>
                </a:r>
                <a:r>
                  <a:rPr sz="2000">
                    <a:solidFill>
                      <a:srgbClr val="1E293B"/>
                    </a:solidFill>
                    <a:latin typeface="Calibri"/>
                  </a:rPr>
                  <a:t>, </a:t>
                </a:r>
                <a:r>
                  <a:rPr lang="vi-VN"/>
                  <a:t>x+y\ge 12</a:t>
                </a:r>
                <a:r>
                  <a:rPr sz="2000">
                    <a:solidFill>
                      <a:srgbClr val="1E293B"/>
                    </a:solidFill>
                    <a:latin typeface="Calibri"/>
                  </a:rPr>
                  <a:t>, </a:t>
                </a:r>
                <a:r>
                  <a:rPr lang="vi-VN"/>
                  <a:t>2x+y\le 20</a:t>
                </a:r>
                <a:r>
                  <a:rPr sz="2000">
                    <a:solidFill>
                      <a:srgbClr val="1E293B"/>
                    </a:solidFill>
                    <a:latin typeface="Calibri"/>
                  </a:rPr>
                  <a:t>. Các đỉnh: giao của </a:t>
                </a:r>
                <a:r>
                  <a:rPr lang="vi-VN"/>
                  <a:t>y=10</a:t>
                </a:r>
                <a:r>
                  <a:rPr sz="2000">
                    <a:solidFill>
                      <a:srgbClr val="1E293B"/>
                    </a:solidFill>
                    <a:latin typeface="Calibri"/>
                  </a:rPr>
                  <a:t> và </a:t>
                </a:r>
                <a:r>
                  <a:rPr lang="vi-VN"/>
                  <a:t>x+y=12</a:t>
                </a:r>
                <a:r>
                  <a:rPr sz="2000">
                    <a:solidFill>
                      <a:srgbClr val="1E293B"/>
                    </a:solidFill>
                    <a:latin typeface="Calibri"/>
                  </a:rPr>
                  <a:t> là </a:t>
                </a:r>
                <a:r>
                  <a:rPr lang="vi-VN"/>
                  <a:t>(2;10)</a:t>
                </a:r>
                <a:r>
                  <a:rPr sz="2000">
                    <a:solidFill>
                      <a:srgbClr val="1E293B"/>
                    </a:solidFill>
                    <a:latin typeface="Calibri"/>
                  </a:rPr>
                  <a:t>; của </a:t>
                </a:r>
                <a:r>
                  <a:rPr lang="vi-VN"/>
                  <a:t>y=10</a:t>
                </a:r>
                <a:r>
                  <a:rPr sz="2000">
                    <a:solidFill>
                      <a:srgbClr val="1E293B"/>
                    </a:solidFill>
                    <a:latin typeface="Calibri"/>
                  </a:rPr>
                  <a:t> và </a:t>
                </a:r>
                <a:r>
                  <a:rPr lang="vi-VN"/>
                  <a:t>2x+y=20</a:t>
                </a:r>
                <a:r>
                  <a:rPr sz="2000">
                    <a:solidFill>
                      <a:srgbClr val="1E293B"/>
                    </a:solidFill>
                    <a:latin typeface="Calibri"/>
                  </a:rPr>
                  <a:t> là </a:t>
                </a:r>
                <a:r>
                  <a:rPr lang="vi-VN"/>
                  <a:t>(5;10)</a:t>
                </a:r>
                <a:r>
                  <a:rPr sz="2000">
                    <a:solidFill>
                      <a:srgbClr val="1E293B"/>
                    </a:solidFill>
                    <a:latin typeface="Calibri"/>
                  </a:rPr>
                  <a:t>; của </a:t>
                </a:r>
                <a:r>
                  <a:rPr lang="vi-VN"/>
                  <a:t>x+y=12</a:t>
                </a:r>
                <a:r>
                  <a:rPr sz="2000">
                    <a:solidFill>
                      <a:srgbClr val="1E293B"/>
                    </a:solidFill>
                    <a:latin typeface="Calibri"/>
                  </a:rPr>
                  <a:t> và </a:t>
                </a:r>
                <a:r>
                  <a:rPr lang="vi-VN"/>
                  <a:t>2x+y=20</a:t>
                </a:r>
                <a:r>
                  <a:rPr sz="2000">
                    <a:solidFill>
                      <a:srgbClr val="1E293B"/>
                    </a:solidFill>
                    <a:latin typeface="Calibri"/>
                  </a:rPr>
                  <a:t> là </a:t>
                </a:r>
                <a:r>
                  <a:rPr lang="vi-VN"/>
                  <a:t>(8;4)</a:t>
                </a:r>
                <a:r>
                  <a:rPr sz="2000">
                    <a:solidFill>
                      <a:srgbClr val="1E293B"/>
                    </a:solidFill>
                    <a:latin typeface="Calibri"/>
                  </a:rPr>
                  <a:t>.</a:t>
                </a:r>
              </a:p>
              <a:p>
                <a:pPr algn="l" marL="365760" indent="-365760">
                  <a:spcAft>
                    <a:spcPts val="800"/>
                  </a:spcAft>
                  <a:buClr>
                    <a:srgbClr val="1E40AF"/>
                  </a:buClr>
                  <a:buFont typeface="Arial"/>
                  <a:buChar char="•"/>
                </a:pPr>
                <a:r>
                  <a:rPr sz="2000">
                    <a:solidFill>
                      <a:srgbClr val="1E293B"/>
                    </a:solidFill>
                    <a:latin typeface="Calibri"/>
                  </a:rPr>
                  <a:t>d) Sai: Chi phí </a:t>
                </a:r>
                <a:r>
                  <a:rPr lang="vi-VN"/>
                  <a:t>F=120x+60y</a:t>
                </a:r>
                <a:r>
                  <a:rPr sz="2000">
                    <a:solidFill>
                      <a:srgbClr val="1E293B"/>
                    </a:solidFill>
                    <a:latin typeface="Calibri"/>
                  </a:rPr>
                  <a:t>: </a:t>
                </a:r>
                <a:r>
                  <a:rPr lang="vi-VN"/>
                  <a:t>F(2;10)=840</a:t>
                </a:r>
                <a:r>
                  <a:rPr sz="2000">
                    <a:solidFill>
                      <a:srgbClr val="1E293B"/>
                    </a:solidFill>
                    <a:latin typeface="Calibri"/>
                  </a:rPr>
                  <a:t>, </a:t>
                </a:r>
                <a:r>
                  <a:rPr lang="vi-VN"/>
                  <a:t>F(5;10)=1200</a:t>
                </a:r>
                <a:r>
                  <a:rPr sz="2000">
                    <a:solidFill>
                      <a:srgbClr val="1E293B"/>
                    </a:solidFill>
                    <a:latin typeface="Calibri"/>
                  </a:rPr>
                  <a:t>, </a:t>
                </a:r>
                <a:r>
                  <a:rPr lang="vi-VN"/>
                  <a:t>F(8;4)=1200</a:t>
                </a:r>
                <a:r>
                  <a:rPr sz="2000">
                    <a:solidFill>
                      <a:srgbClr val="1E293B"/>
                    </a:solidFill>
                    <a:latin typeface="Calibri"/>
                  </a:rPr>
                  <a:t>. Chi phí thấp nhất là 840 nghìn đồng khi mua 2 kg thịt gà và 10 kg cá rô phi.</a:t>
                </a:r>
              </a:p>
            </p:txBody>
          </p:sp>
        </mc:Fallback>
      </mc:AlternateContent>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