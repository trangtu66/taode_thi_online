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2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CÔNG THỨC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4 – 5 theo PPCT (T4, T5)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Nhớ và dùng công thức cộng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nhân đôi, hạ bậc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Biến đổi tích thành tổng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Biến đổi tổng thành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trị, rút gọn biểu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sóng âm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ÂM KẾT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Âm kết hợp: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t+5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phải sóng hình sin không?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Âm kết hợp: </a:t>
                </a:r>
                <a:r>
                  <a:rPr lang="vi-VN"/>
                  <a:t>f(t)=5\sin\ t+5\cos\ 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phải sóng hình sin không?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Biên độ có bằng 5 + 5 = 10?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3602736"/>
            <a:ext cx="6537960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KIỂM CHỨNG MỘT NHẬN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An: “cos(a + b) = cos a + cos b”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nhưng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An: “cos(a + b) = cos a + cos b”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a=b=\frac{\pi}{3}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 </a:t>
                </a:r>
                <a:r>
                  <a:rPr lang="vi-VN"/>
                  <a:t>\cos\ (a+b)=−\frac{1}{2}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nhưng </a:t>
                </a:r>
                <a:r>
                  <a:rPr lang="vi-VN"/>
                  <a:t>\cos\ a+\cos\ b=1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cos(a + b) ≠ cos a + cos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CÔNG THỨC CỘNG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6060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b∓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b±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a+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a−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(a\pm b)=\cos\ a\cos\ b\mp\sin\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(a\pm b)=\sin\ a\cos\ b\pm\cos\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(a+b)=\frac{\tan\ a+\tan\ b}{1−\tan\ a\tan\ b}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(a−b)=\frac{\tan\ a−\tan\ b}{1+\tan\ a\tan\ b}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75^\circ=\cos\ (45^\circ+30^\circ)=\frac{\sqrt{6}−\sqrt{2}}{4}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\frac{\pi}{12}=\tan\ \left(\frac{\pi}{3}−\frac{\pi}{4}\right)=2−\sqrt{3}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Tách thành tổng, hiệu góc đặc biệt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 và Vận dụng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 và Vận dụng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x+\cos\ x=\sqrt{2}\sin\ \left(x+\frac{\pi}{4}\right)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f(t)=5\sqrt{2}\sin\ \left(t+\frac{\pi}{4}\right)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Biên độ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k=5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≈7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pha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φ=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Biên độ </a:t>
                </a:r>
                <a:r>
                  <a:rPr lang="vi-VN"/>
                  <a:t>k=5\sqrt{2}\approx 7{,}07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pha </a:t>
                </a:r>
                <a:r>
                  <a:rPr lang="vi-VN"/>
                  <a:t>\varphi=\frac{\pi}{4}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CÔNG THỨC NHÂN ĐÔI, HẠ BẬC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Hạ bậc: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Hạ bậc: </a:t>
                </a:r>
                <a:r>
                  <a:rPr lang="vi-VN"/>
                  <a:t>\cos^2a=\frac{1+\cos\ 2a}{2}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\sin^2a=\frac{1−\cos\ 2a}{2}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487167"/>
            <a:ext cx="8686800" cy="187451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487167"/>
                <a:ext cx="8321040" cy="18745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a−1=1−2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487167"/>
                <a:ext cx="8321040" cy="18745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2a=2\sin\ a\cos\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2a=\cos^2a−\sin^2a=2\cos^2a−1=1−2\sin^2a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2a=\frac{2\tan\ a}{1−\tan^2a}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4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&lt;a&lt;π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4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\cos\ a=−\frac{1}{3}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\frac{\pi}{2}&lt;a&lt;\pi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a&gt;0\Rightarrow\sin\ a=\frac{2\sqrt{2}}{3}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2a=2\sin\ a\cos\ a=−\frac{4\sqrt{2}}{9}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2: </a:t>
                </a:r>
                <a:r>
                  <a:rPr lang="vi-VN"/>
                  <a:t>\cos\ \frac{\pi}{8}=\frac{\sqrt{2+\sqrt{2}}}{2}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TÍCH THÀNH TỔNG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7711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Ví dụ: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7711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Ví dụ: </a:t>
                </a:r>
                <a:r>
                  <a:rPr lang="vi-VN"/>
                  <a:t>\cos\ 75^\circ\cos\ 15^\circ=\frac{1}{2}(\cos\ 60^\circ+\cos\ 90^\circ)=\frac{1}{4}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417064"/>
            <a:ext cx="8686800" cy="2240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417064"/>
                <a:ext cx="8321040" cy="2240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417064"/>
                <a:ext cx="8321040" cy="2240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a\cos\ b=\frac{1}{2}[\cos\ (a−b)+\cos\ (a+b)]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a\sin\ b=\frac{1}{2}[\cos\ (a−b)−\cos\ (a+b)]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a\cos\ b=\frac{1}{2}[\sin\ (a−b)+\sin\ (a+b)]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TỔNG THÀNH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910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910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v=−2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910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u+\cos\ v=2\cos\ \frac{u+v}{2}\cos\ \frac{u−v}{2}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u−\cos\ v=−2\sin\ \frac{u+v}{2}\sin\ \frac{u−v}{2}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u+\sin\ v=2\sin\ \frac{u+v}{2}\cos\ \frac{u−v}{2}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u−\sin\ v=2\cos\ \frac{u+v}{2}\sin\ \frac{u−v}{2}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A=\sin\ \frac{\pi}{9}−\sin\ \frac{4\pi}{9}+\sin\ \frac{7\pi}{9}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=2\sin\ \frac{4\pi}{9}\cos\ \frac{\pi}{3}−\sin\ \frac{4\pi}{9}=0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Ghép cặp để dùng tổng thành tích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5x−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4x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\cos\ 75^\circ=\frac{\sqrt{6}+\sqrt{2}}{4}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\sin\ 5x−\sin\ 3x=2\sin\ 4x\cos\ x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và 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4x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Bấm máy thử để kiểm chứng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\frac{\sqrt{6}−\sqrt{2}}{4}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và  </a:t>
                </a:r>
                <a:r>
                  <a:rPr lang="vi-VN"/>
                  <a:t>2\cos\ 4x\sin\ x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Bấm máy thử để kiểm chứng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ÂM THANH BÀN PHÍM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Phím 4: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770 Hz,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1209 Hz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(1540πt)+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(2418πt)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Phím 4: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770 Hz,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1209 Hz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y=\sin\ (1540\pi t)+\sin\ (2418\pi 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(1979πt)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(439πt)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y=2\sin\ (1979\pi t)\cos\ (439\pi t)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0164"/>
            <a:ext cx="4389120" cy="29149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3 phím số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 sóng âm từng phím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Biến đổi về dạng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đồ thị trên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hiểu hiện tượng phách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16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850629" y="2043450"/>
            <a:ext cx="1488259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2012" y="1767138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sin(a±b) = sinacosb ±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cosasinb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850629" y="2670962"/>
            <a:ext cx="1488259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2012" y="2394651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cos(a±b) = cosacosb 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sinasinb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979407" y="2670962"/>
            <a:ext cx="1359481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3234" y="3022163"/>
            <a:ext cx="234617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tan(a±b)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(tana±tanb)/(1∓tanatanb)</a:t>
            </a:r>
          </a:p>
        </p:txBody>
      </p:sp>
      <p:sp>
        <p:nvSpPr>
          <p:cNvPr id="13" name="Oval 12"/>
          <p:cNvSpPr/>
          <p:nvPr/>
        </p:nvSpPr>
        <p:spPr>
          <a:xfrm>
            <a:off x="3225238" y="2427575"/>
            <a:ext cx="2227301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Công thức cộng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144161"/>
            <a:ext cx="1659963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75609" y="1968560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sin2a = 2sinacosa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488259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03905" y="2394651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cos2a = cos²a−sin²a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2cos²a−1 = 1−2sin²a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402407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18053" y="3022163"/>
            <a:ext cx="2260321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tan2a = 2tana/(1−tan²a)</a:t>
            </a:r>
          </a:p>
        </p:txBody>
      </p:sp>
      <p:sp>
        <p:nvSpPr>
          <p:cNvPr id="21" name="Oval 20"/>
          <p:cNvSpPr/>
          <p:nvPr/>
        </p:nvSpPr>
        <p:spPr>
          <a:xfrm>
            <a:off x="6601995" y="2259078"/>
            <a:ext cx="222730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Công thức nhân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đôi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764777" y="5025552"/>
            <a:ext cx="1574111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7864" y="4849952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cos²a = (1+cos2a)/2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764777" y="5238597"/>
            <a:ext cx="1574111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7864" y="5276042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sin²a = (1−cos2a)/2</a:t>
            </a:r>
          </a:p>
        </p:txBody>
      </p:sp>
      <p:sp>
        <p:nvSpPr>
          <p:cNvPr id="27" name="Oval 26"/>
          <p:cNvSpPr/>
          <p:nvPr/>
        </p:nvSpPr>
        <p:spPr>
          <a:xfrm>
            <a:off x="3363922" y="4826713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Công thức hạ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bậc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15646" y="4611085"/>
            <a:ext cx="1659963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75609" y="4334774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2sinacosb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sin(a+b)+sin(a−b)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5646" y="5238597"/>
            <a:ext cx="1316555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32201" y="4962286"/>
            <a:ext cx="243202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sina+sinb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2sin((a+b)/2)cos((a−b)/2)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316555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32201" y="5589798"/>
            <a:ext cx="243202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cosa+cosb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2cos((a+b)/2)cos((a−b)/2)</a:t>
            </a:r>
          </a:p>
        </p:txBody>
      </p:sp>
      <p:sp>
        <p:nvSpPr>
          <p:cNvPr id="35" name="Oval 34"/>
          <p:cNvSpPr/>
          <p:nvPr/>
        </p:nvSpPr>
        <p:spPr>
          <a:xfrm>
            <a:off x="6810021" y="4826713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Tích → Tổng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Tổng → Tích</a:t>
            </a:r>
          </a:p>
        </p:txBody>
      </p:sp>
      <p:sp>
        <p:nvSpPr>
          <p:cNvPr id="36" name="Oval 35"/>
          <p:cNvSpPr/>
          <p:nvPr/>
        </p:nvSpPr>
        <p:spPr>
          <a:xfrm>
            <a:off x="4705590" y="3484793"/>
            <a:ext cx="2643353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CÔNG THỨC LƯỢNG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GIÁC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