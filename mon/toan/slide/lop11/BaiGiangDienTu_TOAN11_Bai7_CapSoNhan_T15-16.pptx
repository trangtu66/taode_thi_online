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Bìa. Đáp án, lời giải hiện theo click. Nút GeoGebra mở trang online (cần Internet).</a:t>
            </a:r>
          </a:p>
          <a:p>
            <a:r>
              <a:t>Khối 11 năm học 2026 – 2027 không có HS khuyết tật; vẫn ghi đủ chữ trên slide để HS tự đọc lại.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Yêu cầu cần đạt lấy từ khung 'Kiến thức, kĩ năng' SGK tr.52.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Chiếu để HS nắm lộ trình bài học.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1 (45'): Khởi động 5' – HĐ1, định nghĩa, câu hỏi 8' – Ví dụ 1, 2, LT1: 10' – HĐ2, số hạng tổng quát 6' – Ví dụ 3, 4: 8' – LT2: 4' – Tổng kết 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Chiếu video mở đầu (ảnh thật, lồng tiếng, phụ đề – không nói đáp án), HS quét QR xem lại. 5'. HS dự đoán. Giải ở Ví dụ 5 (Tiết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HĐ1: xét tỉ số u_n/u_{n−1} (click 1). Chốt khung (click 2). Câu hỏi: click 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1–3. Chứng minh cấp số nhân (các số hạng khác 0): tỉ số u_n/u_{n−1} không đổi.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HĐ2: click 1. Chốt khung (click 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1–3.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Click 1–4.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Tiết 2 (45'): HĐ3, khung, câu hỏi 8' – Ví dụ 5, 6: 8' – Vận dụng 6' – Bài tập 2.18 – 2.21: 10' – Rung chuông vàng 9' – Củng cố 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HĐ3: nhân S_n với q rồi trừ (click 1). Chốt khung (click 2). Câu hỏi q = 1: click 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5 giải tình huống mở đầu (click 1). Ví dụ 6: click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Nhóm 4 HS so sánh (click 1–3). 3 năm = 12 quý; mỗi quý 3 tháng (đối chiếu KHBD).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hiện đáp án (đối chiếu KHBD; đã kiểm tra).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hiện đáp án.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HS một bảng con. Mỗi câu 30 giây (Đ/S, trả lời ngắn, thực tế: 60 giây). Sai rời sàn thi; có thể 'cứu trợ' 1 lần. Cấu trúc 5 câu theo đề thi từ 2025: nhiều lựa chọn, Đúng/Sai, trả lời ngắn, thực tế. Đáp án đã kiểm tra bằng Python.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giây. Click 1: đáp án. Nhiễu C: dùng q⁵.</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1–4. Đ – S – Đ – Đ.</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giây. Click 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HS quét QR làm bài củng cố online ở nhà. Đáp án chỉ mở khi GV cho phép.</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Củng cố cuối bài.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ẩn – chỉ GV xem khi chuẩn bị.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ẩn – chỉ GV xem khi chuẩn bị.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hyperlink" Target="https://trangtu66.github.io/Taode_thi_online/mon/toan/video/lop11/VIDEO_MoDau_TOAN11_Bai7_CapSoNhan.mp4" TargetMode="External"/><Relationship Id="rId4" Type="http://schemas.openxmlformats.org/officeDocument/2006/relationships/image" Target="../media/image1.png"/><Relationship Id="rId5"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png"/><Relationship Id="rId4" Type="http://schemas.openxmlformats.org/officeDocument/2006/relationships/hyperlink" Target="https://trangtu66.github.io/Taode_thi_online/cc_bai7_t11.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000" b="1">
                <a:solidFill>
                  <a:srgbClr val="FCD34D"/>
                </a:solidFill>
                <a:latin typeface="Cambria"/>
              </a:rPr>
              <a:t>CHƯƠNG II. DÃY SỐ. CẤP SỐ CỘNG VÀ CẤP SỐ NHÂN</a:t>
            </a:r>
          </a:p>
          <a:p>
            <a:pPr>
              <a:spcAft>
                <a:spcPts val="600"/>
              </a:spcAft>
            </a:pPr>
            <a:r>
              <a:rPr sz="3000" b="1">
                <a:solidFill>
                  <a:srgbClr val="FFFFFF"/>
                </a:solidFill>
                <a:latin typeface="Cambria"/>
              </a:rPr>
              <a:t>BÀI 7</a:t>
            </a:r>
          </a:p>
          <a:p>
            <a:pPr>
              <a:spcAft>
                <a:spcPts val="600"/>
              </a:spcAft>
            </a:pPr>
            <a:r>
              <a:rPr sz="4000" b="1">
                <a:solidFill>
                  <a:srgbClr val="FFFFFF"/>
                </a:solidFill>
                <a:latin typeface="Cambria"/>
              </a:rPr>
              <a:t>CẤP SỐ NHÂN</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2 tiết: T15 – T16</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MỤC TIÊU BÀI HỌC</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Cấp số nhân – Toán 11          2</a:t>
            </a:r>
          </a:p>
        </p:txBody>
      </p:sp>
      <p:sp>
        <p:nvSpPr>
          <p:cNvPr id="7" name="Rounded Rectangle 6"/>
          <p:cNvSpPr/>
          <p:nvPr/>
        </p:nvSpPr>
        <p:spPr>
          <a:xfrm>
            <a:off x="548640" y="1417320"/>
            <a:ext cx="11064240" cy="2243328"/>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53896"/>
                <a:ext cx="10735056" cy="2170176"/>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Yêu cầu cần đạt</a:t>
                </a:r>
                <a:r>
                  <a:rPr sz="2200">
                    <a:solidFill>
                      <a:srgbClr val="1E293B"/>
                    </a:solidFill>
                    <a:latin typeface="Calibri"/>
                  </a:rPr>
                  <a:t> (SGK tr.52)</a:t>
                </a:r>
              </a:p>
              <a:p>
                <a:pPr algn="l" marL="365760" indent="-365760">
                  <a:spcAft>
                    <a:spcPts val="800"/>
                  </a:spcAft>
                  <a:buClr>
                    <a:srgbClr val="1E40AF"/>
                  </a:buClr>
                  <a:buFont typeface="Arial"/>
                  <a:buChar char="•"/>
                </a:pPr>
                <a:r>
                  <a:rPr sz="2200">
                    <a:solidFill>
                      <a:srgbClr val="1E293B"/>
                    </a:solidFill>
                    <a:latin typeface="Calibri"/>
                  </a:rPr>
                  <a:t>Nhận biết một dãy số là cấp số nhân.</a:t>
                </a:r>
              </a:p>
              <a:p>
                <a:pPr algn="l" marL="365760" indent="-365760">
                  <a:spcAft>
                    <a:spcPts val="800"/>
                  </a:spcAft>
                  <a:buClr>
                    <a:srgbClr val="1E40AF"/>
                  </a:buClr>
                  <a:buFont typeface="Arial"/>
                  <a:buChar char="•"/>
                </a:pPr>
                <a:r>
                  <a:rPr sz="2200">
                    <a:solidFill>
                      <a:srgbClr val="1E293B"/>
                    </a:solidFill>
                    <a:latin typeface="Calibri"/>
                  </a:rPr>
                  <a:t>Giải thích công thức xác định số hạng tổng quát của cấp số nhân.</a:t>
                </a:r>
              </a:p>
              <a:p>
                <a:pPr algn="l" marL="365760" indent="-365760">
                  <a:spcAft>
                    <a:spcPts val="800"/>
                  </a:spcAft>
                  <a:buClr>
                    <a:srgbClr val="1E40AF"/>
                  </a:buClr>
                  <a:buFont typeface="Arial"/>
                  <a:buChar char="•"/>
                </a:pPr>
                <a:r>
                  <a:rPr sz="2200">
                    <a:solidFill>
                      <a:srgbClr val="1E293B"/>
                    </a:solidFill>
                    <a:latin typeface="Calibri"/>
                  </a:rPr>
                  <a:t>Tính tổng của </a:t>
                </a:r>
                <a14:m>
                  <m:oMath xmlns:m="http://schemas.openxmlformats.org/officeDocument/2006/math">
                    <m:r>
                      <a:rPr lang="vi-VN" sz="2200" b="0">
                        <a:solidFill>
                          <a:srgbClr val="1E293B"/>
                        </a:solidFill>
                        <a:latin typeface="Cambria Math" panose="02040503050406030204" pitchFamily="18" charset="0"/>
                      </a:rPr>
                      <m:t>n</m:t>
                    </m:r>
                  </m:oMath>
                </a14:m>
                <a:r>
                  <a:rPr sz="2200">
                    <a:solidFill>
                      <a:srgbClr val="1E293B"/>
                    </a:solidFill>
                    <a:latin typeface="Calibri"/>
                  </a:rPr>
                  <a:t> số hạng đầu của cấp số nhân; giải quyết một số vấn đề thực tiễn gắn với cấp số nhân.</a:t>
                </a:r>
              </a:p>
            </p:txBody>
          </p:sp>
        </mc:Choice>
        <mc:Fallback>
          <p:sp>
            <p:nvSpPr>
              <p:cNvPr id="8" name="TextBox 7"/>
              <p:cNvSpPr txBox="1"/>
              <p:nvPr/>
            </p:nvSpPr>
            <p:spPr>
              <a:xfrm>
                <a:off x="713232" y="1453896"/>
                <a:ext cx="10735056" cy="2170176"/>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Yêu cầu cần đạt</a:t>
                </a:r>
                <a:r>
                  <a:rPr sz="2200">
                    <a:solidFill>
                      <a:srgbClr val="1E293B"/>
                    </a:solidFill>
                    <a:latin typeface="Calibri"/>
                  </a:rPr>
                  <a:t> (SGK tr.52)</a:t>
                </a:r>
              </a:p>
              <a:p>
                <a:pPr algn="l" marL="365760" indent="-365760">
                  <a:spcAft>
                    <a:spcPts val="800"/>
                  </a:spcAft>
                  <a:buClr>
                    <a:srgbClr val="1E40AF"/>
                  </a:buClr>
                  <a:buFont typeface="Arial"/>
                  <a:buChar char="•"/>
                </a:pPr>
                <a:r>
                  <a:rPr sz="2200">
                    <a:solidFill>
                      <a:srgbClr val="1E293B"/>
                    </a:solidFill>
                    <a:latin typeface="Calibri"/>
                  </a:rPr>
                  <a:t>Nhận biết một dãy số là cấp số nhân.</a:t>
                </a:r>
              </a:p>
              <a:p>
                <a:pPr algn="l" marL="365760" indent="-365760">
                  <a:spcAft>
                    <a:spcPts val="800"/>
                  </a:spcAft>
                  <a:buClr>
                    <a:srgbClr val="1E40AF"/>
                  </a:buClr>
                  <a:buFont typeface="Arial"/>
                  <a:buChar char="•"/>
                </a:pPr>
                <a:r>
                  <a:rPr sz="2200">
                    <a:solidFill>
                      <a:srgbClr val="1E293B"/>
                    </a:solidFill>
                    <a:latin typeface="Calibri"/>
                  </a:rPr>
                  <a:t>Giải thích công thức xác định số hạng tổng quát của cấp số nhân.</a:t>
                </a:r>
              </a:p>
              <a:p>
                <a:pPr algn="l" marL="365760" indent="-365760">
                  <a:spcAft>
                    <a:spcPts val="800"/>
                  </a:spcAft>
                  <a:buClr>
                    <a:srgbClr val="1E40AF"/>
                  </a:buClr>
                  <a:buFont typeface="Arial"/>
                  <a:buChar char="•"/>
                </a:pPr>
                <a:r>
                  <a:rPr sz="2200">
                    <a:solidFill>
                      <a:srgbClr val="1E293B"/>
                    </a:solidFill>
                    <a:latin typeface="Calibri"/>
                  </a:rPr>
                  <a:t>Tính tổng của </a:t>
                </a:r>
                <a:r>
                  <a:rPr lang="vi-VN"/>
                  <a:t>n</a:t>
                </a:r>
                <a:r>
                  <a:rPr sz="2200">
                    <a:solidFill>
                      <a:srgbClr val="1E293B"/>
                    </a:solidFill>
                    <a:latin typeface="Calibri"/>
                  </a:rPr>
                  <a:t> số hạng đầu của cấp số nhân; giải quyết một số vấn đề thực tiễn gắn với cấp số nhân.</a:t>
                </a:r>
              </a:p>
            </p:txBody>
          </p:sp>
        </mc:Fallback>
      </mc:AlternateContent>
      <p:sp>
        <p:nvSpPr>
          <p:cNvPr id="9" name="TextBox 8"/>
          <p:cNvSpPr txBox="1"/>
          <p:nvPr/>
        </p:nvSpPr>
        <p:spPr>
          <a:xfrm>
            <a:off x="548640" y="3889248"/>
            <a:ext cx="11064240" cy="274320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200" b="1">
                <a:solidFill>
                  <a:srgbClr val="1E293B"/>
                </a:solidFill>
                <a:latin typeface="Calibri"/>
              </a:rPr>
              <a:t>Năng lực toán học:</a:t>
            </a:r>
            <a:r>
              <a:rPr sz="2200">
                <a:solidFill>
                  <a:srgbClr val="1E293B"/>
                </a:solidFill>
                <a:latin typeface="Calibri"/>
              </a:rPr>
              <a:t> tư duy và lập luận; mô hình hoá (lương, vi khuẩn, khấu hao, dân số, thuốc); giải quyết vấn đề; sử dụng công cụ (máy tính cầm tay).</a:t>
            </a:r>
          </a:p>
          <a:p>
            <a:pPr algn="l" marL="365760" indent="-365760">
              <a:spcAft>
                <a:spcPts val="800"/>
              </a:spcAft>
              <a:buClr>
                <a:srgbClr val="1E40AF"/>
              </a:buClr>
              <a:buFont typeface="Arial"/>
              <a:buChar char="•"/>
            </a:pPr>
            <a:r>
              <a:rPr sz="2200" b="1">
                <a:solidFill>
                  <a:srgbClr val="1E293B"/>
                </a:solidFill>
                <a:latin typeface="Calibri"/>
              </a:rPr>
              <a:t>Phẩm chất:</a:t>
            </a:r>
            <a:r>
              <a:rPr sz="2200">
                <a:solidFill>
                  <a:srgbClr val="1E293B"/>
                </a:solidFill>
                <a:latin typeface="Calibri"/>
              </a:rPr>
              <a:t> chăm chỉ, trung thực, trách nhiệm.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LỘ TRÌNH 2 TIẾT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Cấp số nhân – Toán 11          3</a:t>
            </a:r>
          </a:p>
        </p:txBody>
      </p:sp>
      <p:sp>
        <p:nvSpPr>
          <p:cNvPr id="7" name="Rounded Rectangle 6"/>
          <p:cNvSpPr/>
          <p:nvPr/>
        </p:nvSpPr>
        <p:spPr>
          <a:xfrm>
            <a:off x="548640" y="155448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2763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T15</a:t>
            </a:r>
          </a:p>
        </p:txBody>
      </p:sp>
      <p:sp>
        <p:nvSpPr>
          <p:cNvPr id="9" name="TextBox 8"/>
          <p:cNvSpPr txBox="1"/>
          <p:nvPr/>
        </p:nvSpPr>
        <p:spPr>
          <a:xfrm>
            <a:off x="1920240" y="164592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1. Định nghĩa. 2. Số hạng tổng quát</a:t>
            </a:r>
          </a:p>
        </p:txBody>
      </p:sp>
      <p:sp>
        <p:nvSpPr>
          <p:cNvPr id="10" name="TextBox 9"/>
          <p:cNvSpPr txBox="1"/>
          <p:nvPr/>
        </p:nvSpPr>
        <p:spPr>
          <a:xfrm>
            <a:off x="8046720" y="164592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Ai nhanh hơn</a:t>
            </a:r>
          </a:p>
        </p:txBody>
      </p:sp>
      <p:sp>
        <p:nvSpPr>
          <p:cNvPr id="11" name="Rounded Rectangle 10"/>
          <p:cNvSpPr/>
          <p:nvPr/>
        </p:nvSpPr>
        <p:spPr>
          <a:xfrm>
            <a:off x="548640" y="2514600"/>
            <a:ext cx="1188720" cy="73152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587752"/>
            <a:ext cx="1188720" cy="594360"/>
          </a:xfrm>
          <a:prstGeom prst="rect">
            <a:avLst/>
          </a:prstGeom>
          <a:noFill/>
        </p:spPr>
        <p:txBody>
          <a:bodyPr wrap="square" anchor="t" lIns="45720" rIns="45720">
            <a:spAutoFit/>
          </a:bodyPr>
          <a:lstStyle/>
          <a:p>
            <a:pPr algn="ctr">
              <a:spcAft>
                <a:spcPts val="800"/>
              </a:spcAft>
            </a:pPr>
            <a:r>
              <a:rPr sz="2400" b="1">
                <a:solidFill>
                  <a:srgbClr val="FFFFFF"/>
                </a:solidFill>
                <a:latin typeface="Calibri"/>
              </a:rPr>
              <a:t>T16</a:t>
            </a:r>
          </a:p>
        </p:txBody>
      </p:sp>
      <mc:AlternateContent xmlns:mc="http://schemas.openxmlformats.org/markup-compatibility/2006">
        <mc:Choice xmlns:a14="http://schemas.microsoft.com/office/drawing/2010/main" Requires="a14">
          <p:sp>
            <p:nvSpPr>
              <p:cNvPr id="13" name="TextBox 12"/>
              <p:cNvSpPr txBox="1"/>
              <p:nvPr/>
            </p:nvSpPr>
            <p:spPr>
              <a:xfrm>
                <a:off x="1920240" y="260604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3. Tổng </a:t>
                </a:r>
                <a14:m>
                  <m:oMath xmlns:m="http://schemas.openxmlformats.org/officeDocument/2006/math">
                    <m:r>
                      <a:rPr lang="vi-VN" sz="2200" b="0">
                        <a:solidFill>
                          <a:srgbClr val="1E293B"/>
                        </a:solidFill>
                        <a:latin typeface="Cambria Math" panose="02040503050406030204" pitchFamily="18" charset="0"/>
                      </a:rPr>
                      <m:t>n</m:t>
                    </m:r>
                  </m:oMath>
                </a14:m>
                <a:r>
                  <a:rPr sz="2200">
                    <a:solidFill>
                      <a:srgbClr val="1E293B"/>
                    </a:solidFill>
                    <a:latin typeface="Calibri"/>
                  </a:rPr>
                  <a:t> số hạng đầu; Vận dụng (hai phương án lương); bài tập</a:t>
                </a:r>
              </a:p>
            </p:txBody>
          </p:sp>
        </mc:Choice>
        <mc:Fallback>
          <p:sp>
            <p:nvSpPr>
              <p:cNvPr id="13" name="TextBox 12"/>
              <p:cNvSpPr txBox="1"/>
              <p:nvPr/>
            </p:nvSpPr>
            <p:spPr>
              <a:xfrm>
                <a:off x="1920240" y="2606040"/>
                <a:ext cx="6035040" cy="731520"/>
              </a:xfrm>
              <a:prstGeom prst="rect">
                <a:avLst/>
              </a:prstGeom>
              <a:noFill/>
            </p:spPr>
            <p:txBody>
              <a:bodyPr wrap="square" anchor="t" lIns="45720" rIns="45720">
                <a:spAutoFit/>
              </a:bodyPr>
              <a:lstStyle/>
              <a:p>
                <a:pPr algn="l">
                  <a:spcAft>
                    <a:spcPts val="800"/>
                  </a:spcAft>
                </a:pPr>
                <a:r>
                  <a:rPr sz="2200">
                    <a:solidFill>
                      <a:srgbClr val="1E293B"/>
                    </a:solidFill>
                    <a:latin typeface="Calibri"/>
                  </a:rPr>
                  <a:t>3. Tổng </a:t>
                </a:r>
                <a:r>
                  <a:rPr lang="vi-VN"/>
                  <a:t>n</a:t>
                </a:r>
                <a:r>
                  <a:rPr sz="2200">
                    <a:solidFill>
                      <a:srgbClr val="1E293B"/>
                    </a:solidFill>
                    <a:latin typeface="Calibri"/>
                  </a:rPr>
                  <a:t> số hạng đầu; Vận dụng (hai phương án lương); bài tập</a:t>
                </a:r>
              </a:p>
            </p:txBody>
          </p:sp>
        </mc:Fallback>
      </mc:AlternateContent>
      <p:sp>
        <p:nvSpPr>
          <p:cNvPr id="14" name="TextBox 13"/>
          <p:cNvSpPr txBox="1"/>
          <p:nvPr/>
        </p:nvSpPr>
        <p:spPr>
          <a:xfrm>
            <a:off x="8046720" y="2606040"/>
            <a:ext cx="3749039" cy="731520"/>
          </a:xfrm>
          <a:prstGeom prst="rect">
            <a:avLst/>
          </a:prstGeom>
          <a:noFill/>
        </p:spPr>
        <p:txBody>
          <a:bodyPr wrap="square" anchor="t" lIns="45720" rIns="45720">
            <a:spAutoFit/>
          </a:bodyPr>
          <a:lstStyle/>
          <a:p>
            <a:pPr algn="l">
              <a:spcAft>
                <a:spcPts val="800"/>
              </a:spcAft>
            </a:pPr>
            <a:r>
              <a:rPr sz="2000">
                <a:solidFill>
                  <a:srgbClr val="1E293B"/>
                </a:solidFill>
                <a:latin typeface="Calibri"/>
              </a:rPr>
              <a:t>🎮 Rung chuông vàng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1 (T15)</a:t>
            </a:r>
          </a:p>
          <a:p>
            <a:pPr>
              <a:spcAft>
                <a:spcPts val="600"/>
              </a:spcAft>
            </a:pPr>
            <a:r>
              <a:rPr sz="4000" b="1">
                <a:solidFill>
                  <a:srgbClr val="FFFFFF"/>
                </a:solidFill>
                <a:latin typeface="Cambria"/>
              </a:rPr>
              <a:t>Định nghĩa. Số hạng tổng quát của cấp số nhân</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Nhận biết cấp số nhân, công bội.</a:t>
            </a:r>
          </a:p>
          <a:p>
            <a:pPr algn="l">
              <a:spcAft>
                <a:spcPts val="800"/>
              </a:spcAft>
            </a:pPr>
            <a:r>
              <a:rPr sz="2200">
                <a:solidFill>
                  <a:srgbClr val="E0E7FF"/>
                </a:solidFill>
                <a:latin typeface="Calibri"/>
              </a:rPr>
              <a:t>• Xác định số hạng tổng quát u_n = u_1q^n-1.</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KHỞI ĐỘNG</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KHỞI ĐỘNG – LƯƠNG CHUYÊN GIA CÔNG NGHỆ</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Cấp số nhân – Toán 11          5</a:t>
            </a:r>
          </a:p>
        </p:txBody>
      </p:sp>
      <p:sp>
        <p:nvSpPr>
          <p:cNvPr id="7" name="TextBox 6"/>
          <p:cNvSpPr txBox="1"/>
          <p:nvPr/>
        </p:nvSpPr>
        <p:spPr>
          <a:xfrm>
            <a:off x="548640" y="1417320"/>
            <a:ext cx="6583680" cy="3840480"/>
          </a:xfrm>
          <a:prstGeom prst="rect">
            <a:avLst/>
          </a:prstGeom>
          <a:noFill/>
        </p:spPr>
        <p:txBody>
          <a:bodyPr wrap="square" anchor="t" lIns="45720" rIns="45720">
            <a:spAutoFit/>
          </a:bodyPr>
          <a:lstStyle/>
          <a:p>
            <a:pPr algn="l">
              <a:spcAft>
                <a:spcPts val="800"/>
              </a:spcAft>
            </a:pPr>
            <a:r>
              <a:rPr sz="2200">
                <a:solidFill>
                  <a:srgbClr val="1E293B"/>
                </a:solidFill>
                <a:latin typeface="Calibri"/>
              </a:rPr>
              <a:t>Một công ty tuyển một chuyên gia về công nghệ thông tin với mức lương năm đầu là 240 triệu đồng và cam kết sẽ tăng thêm 5% lương mỗi năm so với năm liền trước đó. </a:t>
            </a:r>
            <a:r>
              <a:rPr sz="2200" b="1">
                <a:solidFill>
                  <a:srgbClr val="1E293B"/>
                </a:solidFill>
                <a:latin typeface="Calibri"/>
              </a:rPr>
              <a:t>Tính tổng số lương mà chuyên gia đó nhận được sau khi làm việc cho công ty 10 năm</a:t>
            </a:r>
            <a:r>
              <a:rPr sz="2200">
                <a:solidFill>
                  <a:srgbClr val="1E293B"/>
                </a:solidFill>
                <a:latin typeface="Calibri"/>
              </a:rPr>
              <a:t> (làm tròn đến triệu đồng).</a:t>
            </a:r>
          </a:p>
          <a:p>
            <a:pPr algn="l">
              <a:spcAft>
                <a:spcPts val="800"/>
              </a:spcAft>
            </a:pPr>
            <a:r>
              <a:rPr sz="2000">
                <a:solidFill>
                  <a:srgbClr val="64748B"/>
                </a:solidFill>
                <a:latin typeface="Calibri"/>
              </a:rPr>
              <a:t>(SGK Toán 11 tập một, tr.52)</a:t>
            </a:r>
          </a:p>
        </p:txBody>
      </p:sp>
      <p:sp>
        <p:nvSpPr>
          <p:cNvPr id="8" name="Rounded Rectangle 7">
            <a:hlinkClick r:id="rId3"/>
          </p:cNvPr>
          <p:cNvSpPr/>
          <p:nvPr/>
        </p:nvSpPr>
        <p:spPr>
          <a:xfrm>
            <a:off x="548640" y="5349240"/>
            <a:ext cx="3931920" cy="64008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VIDEO MỞ ĐẦU</a:t>
            </a:r>
          </a:p>
        </p:txBody>
      </p:sp>
      <p:pic>
        <p:nvPicPr>
          <p:cNvPr id="9" name="Picture 8" descr="qr_video.png"/>
          <p:cNvPicPr>
            <a:picLocks noChangeAspect="1"/>
          </p:cNvPicPr>
          <p:nvPr/>
        </p:nvPicPr>
        <p:blipFill>
          <a:blip r:embed="rId4"/>
          <a:stretch>
            <a:fillRect/>
          </a:stretch>
        </p:blipFill>
        <p:spPr>
          <a:xfrm>
            <a:off x="4663440" y="5074920"/>
            <a:ext cx="1188720" cy="1188720"/>
          </a:xfrm>
          <a:prstGeom prst="rect">
            <a:avLst/>
          </a:prstGeom>
        </p:spPr>
      </p:pic>
      <p:pic>
        <p:nvPicPr>
          <p:cNvPr id="10" name="Picture 9" descr="laptrinh.jpg"/>
          <p:cNvPicPr>
            <a:picLocks noChangeAspect="1"/>
          </p:cNvPicPr>
          <p:nvPr/>
        </p:nvPicPr>
        <p:blipFill>
          <a:blip r:embed="rId5"/>
          <a:stretch>
            <a:fillRect/>
          </a:stretch>
        </p:blipFill>
        <p:spPr>
          <a:xfrm>
            <a:off x="7315200" y="1777132"/>
            <a:ext cx="4389120" cy="339517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1. ĐỊNH NGHĨA – HĐ1 (SGK TR.52)</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Cấp số nhân – Toán 11          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HĐ1.</a:t>
                </a:r>
                <a:r>
                  <a:rPr sz="2100">
                    <a:solidFill>
                      <a:srgbClr val="1E293B"/>
                    </a:solidFill>
                    <a:latin typeface="Calibri"/>
                  </a:rPr>
                  <a:t> Cho dãy số </a:t>
                </a:r>
                <a14:m>
                  <m:oMath xmlns:m="http://schemas.openxmlformats.org/officeDocument/2006/math">
                    <m:sSub>
                      <m:e>
                        <m:r>
                          <a:rPr lang="vi-VN" sz="2100" b="0">
                            <a:solidFill>
                              <a:srgbClr val="1E293B"/>
                            </a:solidFill>
                            <a:latin typeface="Cambria Math" panose="02040503050406030204" pitchFamily="18" charset="0"/>
                          </a:rPr>
                          <m:t>u</m:t>
                        </m:r>
                      </m:e>
                      <m:sub>
                        <m:r>
                          <a:rPr lang="vi-VN" sz="2100" b="0">
                            <a:solidFill>
                              <a:srgbClr val="1E293B"/>
                            </a:solidFill>
                            <a:latin typeface="Cambria Math" panose="02040503050406030204" pitchFamily="18" charset="0"/>
                          </a:rPr>
                          <m:t>n</m:t>
                        </m:r>
                      </m:sub>
                    </m:sSub>
                    <m:r>
                      <a:rPr lang="vi-VN" sz="2100" b="0">
                        <a:solidFill>
                          <a:srgbClr val="1E293B"/>
                        </a:solidFill>
                        <a:latin typeface="Cambria Math" panose="02040503050406030204" pitchFamily="18" charset="0"/>
                      </a:rPr>
                      <m:t>=3·</m:t>
                    </m:r>
                    <m:sSup>
                      <m:e>
                        <m:r>
                          <a:rPr lang="vi-VN" sz="2100" b="0">
                            <a:solidFill>
                              <a:srgbClr val="1E293B"/>
                            </a:solidFill>
                            <a:latin typeface="Cambria Math" panose="02040503050406030204" pitchFamily="18" charset="0"/>
                          </a:rPr>
                          <m:t>2</m:t>
                        </m:r>
                      </m:e>
                      <m:sup>
                        <m:r>
                          <a:rPr lang="vi-VN" sz="2100" b="0">
                            <a:solidFill>
                              <a:srgbClr val="1E293B"/>
                            </a:solidFill>
                            <a:latin typeface="Cambria Math" panose="02040503050406030204" pitchFamily="18" charset="0"/>
                          </a:rPr>
                          <m:t>n</m:t>
                        </m:r>
                      </m:sup>
                    </m:sSup>
                  </m:oMath>
                </a14:m>
                <a:r>
                  <a:rPr sz="2100">
                    <a:solidFill>
                      <a:srgbClr val="1E293B"/>
                    </a:solidFill>
                    <a:latin typeface="Calibri"/>
                  </a:rPr>
                  <a:t>. a) Viết năm số hạng đầu. b) Dự đoán hệ thức truy hồi liên hệ </a:t>
                </a:r>
                <a14:m>
                  <m:oMath xmlns:m="http://schemas.openxmlformats.org/officeDocument/2006/math">
                    <m:sSub>
                      <m:e>
                        <m:r>
                          <a:rPr lang="vi-VN" sz="2100" b="0">
                            <a:solidFill>
                              <a:srgbClr val="1E293B"/>
                            </a:solidFill>
                            <a:latin typeface="Cambria Math" panose="02040503050406030204" pitchFamily="18" charset="0"/>
                          </a:rPr>
                          <m:t>u</m:t>
                        </m:r>
                      </m:e>
                      <m:sub>
                        <m:r>
                          <a:rPr lang="vi-VN" sz="2100" b="0">
                            <a:solidFill>
                              <a:srgbClr val="1E293B"/>
                            </a:solidFill>
                            <a:latin typeface="Cambria Math" panose="02040503050406030204" pitchFamily="18" charset="0"/>
                          </a:rPr>
                          <m:t>n</m:t>
                        </m:r>
                      </m:sub>
                    </m:sSub>
                  </m:oMath>
                </a14:m>
                <a:r>
                  <a:rPr sz="2100">
                    <a:solidFill>
                      <a:srgbClr val="1E293B"/>
                    </a:solidFill>
                    <a:latin typeface="Calibri"/>
                  </a:rPr>
                  <a:t> và </a:t>
                </a:r>
                <a14:m>
                  <m:oMath xmlns:m="http://schemas.openxmlformats.org/officeDocument/2006/math">
                    <m:sSub>
                      <m:e>
                        <m:r>
                          <a:rPr lang="vi-VN" sz="2100" b="0">
                            <a:solidFill>
                              <a:srgbClr val="1E293B"/>
                            </a:solidFill>
                            <a:latin typeface="Cambria Math" panose="02040503050406030204" pitchFamily="18" charset="0"/>
                          </a:rPr>
                          <m:t>u</m:t>
                        </m:r>
                      </m:e>
                      <m:sub>
                        <m:r>
                          <a:rPr lang="vi-VN" sz="2100" b="0">
                            <a:solidFill>
                              <a:srgbClr val="1E293B"/>
                            </a:solidFill>
                            <a:latin typeface="Cambria Math" panose="02040503050406030204" pitchFamily="18" charset="0"/>
                          </a:rPr>
                          <m:t>n−1</m:t>
                        </m:r>
                      </m:sub>
                    </m:sSub>
                  </m:oMath>
                </a14:m>
                <a:r>
                  <a:rPr sz="2100">
                    <a:solidFill>
                      <a:srgbClr val="1E293B"/>
                    </a:solidFill>
                    <a:latin typeface="Calibri"/>
                  </a:rPr>
                  <a:t>.</a:t>
                </a:r>
              </a:p>
            </p:txBody>
          </p:sp>
        </mc:Choice>
        <mc:Fallback>
          <p:sp>
            <p:nvSpPr>
              <p:cNvPr id="7" name="TextBox 6"/>
              <p:cNvSpPr txBox="1"/>
              <p:nvPr/>
            </p:nvSpPr>
            <p:spPr>
              <a:xfrm>
                <a:off x="548640" y="1371600"/>
                <a:ext cx="11064240" cy="813815"/>
              </a:xfrm>
              <a:prstGeom prst="rect">
                <a:avLst/>
              </a:prstGeom>
              <a:noFill/>
            </p:spPr>
            <p:txBody>
              <a:bodyPr wrap="square" anchor="t" lIns="45720" rIns="45720">
                <a:spAutoFit/>
              </a:bodyPr>
              <a:lstStyle/>
              <a:p>
                <a:pPr algn="l">
                  <a:spcAft>
                    <a:spcPts val="800"/>
                  </a:spcAft>
                </a:pPr>
                <a:r>
                  <a:rPr sz="2100" b="1">
                    <a:solidFill>
                      <a:srgbClr val="1E293B"/>
                    </a:solidFill>
                    <a:latin typeface="Calibri"/>
                  </a:rPr>
                  <a:t>HĐ1.</a:t>
                </a:r>
                <a:r>
                  <a:rPr sz="2100">
                    <a:solidFill>
                      <a:srgbClr val="1E293B"/>
                    </a:solidFill>
                    <a:latin typeface="Calibri"/>
                  </a:rPr>
                  <a:t> Cho dãy số </a:t>
                </a:r>
                <a:r>
                  <a:rPr lang="vi-VN"/>
                  <a:t>u_n=3\cdot 2^n</a:t>
                </a:r>
                <a:r>
                  <a:rPr sz="2100">
                    <a:solidFill>
                      <a:srgbClr val="1E293B"/>
                    </a:solidFill>
                    <a:latin typeface="Calibri"/>
                  </a:rPr>
                  <a:t>. a) Viết năm số hạng đầu. b) Dự đoán hệ thức truy hồi liên hệ </a:t>
                </a:r>
                <a:r>
                  <a:rPr lang="vi-VN"/>
                  <a:t>u_n</a:t>
                </a:r>
                <a:r>
                  <a:rPr sz="2100">
                    <a:solidFill>
                      <a:srgbClr val="1E293B"/>
                    </a:solidFill>
                    <a:latin typeface="Calibri"/>
                  </a:rPr>
                  <a:t> và </a:t>
                </a:r>
                <a:r>
                  <a:rPr lang="vi-VN"/>
                  <a:t>u_{n-1}</a:t>
                </a:r>
                <a:r>
                  <a:rPr sz="2100">
                    <a:solidFill>
                      <a:srgbClr val="1E293B"/>
                    </a:solidFill>
                    <a:latin typeface="Calibri"/>
                  </a:rPr>
                  <a:t>.</a:t>
                </a:r>
              </a:p>
            </p:txBody>
          </p:sp>
        </mc:Fallback>
      </mc:AlternateContent>
      <p:sp>
        <p:nvSpPr>
          <p:cNvPr id="8" name="s1_nen"/>
          <p:cNvSpPr/>
          <p:nvPr/>
        </p:nvSpPr>
        <p:spPr>
          <a:xfrm>
            <a:off x="548640" y="2295144"/>
            <a:ext cx="1106424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331720"/>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14:m>
                  <m:oMath xmlns:m="http://schemas.openxmlformats.org/officeDocument/2006/math">
                    <m:r>
                      <a:rPr lang="vi-VN" sz="2100" b="0">
                        <a:solidFill>
                          <a:srgbClr val="1E293B"/>
                        </a:solidFill>
                        <a:latin typeface="Cambria Math" panose="02040503050406030204" pitchFamily="18" charset="0"/>
                      </a:rPr>
                      <m:t>6,</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12,</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24,</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48,</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96</m:t>
                    </m:r>
                  </m:oMath>
                </a14:m>
                <a:r>
                  <a:rPr sz="2100">
                    <a:solidFill>
                      <a:srgbClr val="1E293B"/>
                    </a:solidFill>
                    <a:latin typeface="Calibri"/>
                  </a:rPr>
                  <a:t>. b) </a:t>
                </a:r>
                <a14:m>
                  <m:oMath xmlns:m="http://schemas.openxmlformats.org/officeDocument/2006/math">
                    <m:sSub>
                      <m:e>
                        <m:r>
                          <a:rPr lang="vi-VN" sz="2100" b="0">
                            <a:solidFill>
                              <a:srgbClr val="1E293B"/>
                            </a:solidFill>
                            <a:latin typeface="Cambria Math" panose="02040503050406030204" pitchFamily="18" charset="0"/>
                          </a:rPr>
                          <m:t>u</m:t>
                        </m:r>
                      </m:e>
                      <m:sub>
                        <m:r>
                          <a:rPr lang="vi-VN" sz="2100" b="0">
                            <a:solidFill>
                              <a:srgbClr val="1E293B"/>
                            </a:solidFill>
                            <a:latin typeface="Cambria Math" panose="02040503050406030204" pitchFamily="18" charset="0"/>
                          </a:rPr>
                          <m:t>n</m:t>
                        </m:r>
                      </m:sub>
                    </m:sSub>
                    <m:r>
                      <a:rPr lang="vi-VN" sz="2100" b="0">
                        <a:solidFill>
                          <a:srgbClr val="1E293B"/>
                        </a:solidFill>
                        <a:latin typeface="Cambria Math" panose="02040503050406030204" pitchFamily="18" charset="0"/>
                      </a:rPr>
                      <m:t>=2</m:t>
                    </m:r>
                    <m:sSub>
                      <m:e>
                        <m:r>
                          <a:rPr lang="vi-VN" sz="2100" b="0">
                            <a:solidFill>
                              <a:srgbClr val="1E293B"/>
                            </a:solidFill>
                            <a:latin typeface="Cambria Math" panose="02040503050406030204" pitchFamily="18" charset="0"/>
                          </a:rPr>
                          <m:t>u</m:t>
                        </m:r>
                      </m:e>
                      <m:sub>
                        <m:r>
                          <a:rPr lang="vi-VN" sz="2100" b="0">
                            <a:solidFill>
                              <a:srgbClr val="1E293B"/>
                            </a:solidFill>
                            <a:latin typeface="Cambria Math" panose="02040503050406030204" pitchFamily="18" charset="0"/>
                          </a:rPr>
                          <m:t>n−1</m:t>
                        </m:r>
                      </m:sub>
                    </m:sSub>
                  </m:oMath>
                </a14:m>
                <a:r>
                  <a:rPr sz="2100">
                    <a:solidFill>
                      <a:srgbClr val="1E293B"/>
                    </a:solidFill>
                    <a:latin typeface="Calibri"/>
                  </a:rPr>
                  <a:t> </a:t>
                </a:r>
                <a14:m>
                  <m:oMath xmlns:m="http://schemas.openxmlformats.org/officeDocument/2006/math">
                    <m:d>
                      <m:dPr>
                        <m:sepChr m:val="≥"/>
                      </m:dPr>
                      <m:e>
                        <m:r>
                          <a:rPr lang="vi-VN" sz="2100" b="0">
                            <a:solidFill>
                              <a:srgbClr val="1E293B"/>
                            </a:solidFill>
                            <a:latin typeface="Cambria Math" panose="02040503050406030204" pitchFamily="18" charset="0"/>
                          </a:rPr>
                          <m:t>n</m:t>
                        </m:r>
                      </m:e>
                      <m:e>
                        <m:r>
                          <a:rPr lang="vi-VN" sz="2100" b="0">
                            <a:solidFill>
                              <a:srgbClr val="1E293B"/>
                            </a:solidFill>
                            <a:latin typeface="Cambria Math" panose="02040503050406030204" pitchFamily="18" charset="0"/>
                          </a:rPr>
                          <m:t>2</m:t>
                        </m:r>
                      </m:e>
                    </m:d>
                  </m:oMath>
                </a14:m>
                <a:r>
                  <a:rPr sz="2100">
                    <a:solidFill>
                      <a:srgbClr val="1E293B"/>
                    </a:solidFill>
                    <a:latin typeface="Calibri"/>
                  </a:rPr>
                  <a:t>.</a:t>
                </a:r>
              </a:p>
            </p:txBody>
          </p:sp>
        </mc:Choice>
        <mc:Fallback>
          <p:sp>
            <p:nvSpPr>
              <p:cNvPr id="9" name="TextBox 8"/>
              <p:cNvSpPr txBox="1"/>
              <p:nvPr/>
            </p:nvSpPr>
            <p:spPr>
              <a:xfrm>
                <a:off x="713232" y="2331720"/>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a) </a:t>
                </a:r>
                <a:r>
                  <a:rPr lang="vi-VN"/>
                  <a:t>6,\ 12,\ 24,\ 48,\ 96</a:t>
                </a:r>
                <a:r>
                  <a:rPr sz="2100">
                    <a:solidFill>
                      <a:srgbClr val="1E293B"/>
                    </a:solidFill>
                    <a:latin typeface="Calibri"/>
                  </a:rPr>
                  <a:t>. b) </a:t>
                </a:r>
                <a:r>
                  <a:rPr lang="vi-VN"/>
                  <a:t>u_n=2u_{n-1}</a:t>
                </a:r>
                <a:r>
                  <a:rPr sz="2100">
                    <a:solidFill>
                      <a:srgbClr val="1E293B"/>
                    </a:solidFill>
                    <a:latin typeface="Calibri"/>
                  </a:rPr>
                  <a:t> </a:t>
                </a:r>
                <a:r>
                  <a:rPr lang="vi-VN"/>
                  <a:t>(n\ge 2)</a:t>
                </a:r>
                <a:r>
                  <a:rPr sz="2100">
                    <a:solidFill>
                      <a:srgbClr val="1E293B"/>
                    </a:solidFill>
                    <a:latin typeface="Calibri"/>
                  </a:rPr>
                  <a:t>.</a:t>
                </a:r>
              </a:p>
            </p:txBody>
          </p:sp>
        </mc:Fallback>
      </mc:AlternateContent>
      <p:sp>
        <p:nvSpPr>
          <p:cNvPr id="10" name="s2_nen"/>
          <p:cNvSpPr/>
          <p:nvPr/>
        </p:nvSpPr>
        <p:spPr>
          <a:xfrm>
            <a:off x="548640" y="2990087"/>
            <a:ext cx="11064240" cy="1545336"/>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026663"/>
                <a:ext cx="10735056" cy="1472184"/>
              </a:xfrm>
              <a:prstGeom prst="rect">
                <a:avLst/>
              </a:prstGeom>
              <a:noFill/>
            </p:spPr>
            <p:txBody>
              <a:bodyPr wrap="square" anchor="ctr" lIns="45720" rIns="45720">
                <a:spAutoFit/>
              </a:bodyPr>
              <a:lstStyle/>
              <a:p>
                <a:pPr algn="l">
                  <a:spcAft>
                    <a:spcPts val="800"/>
                  </a:spcAft>
                </a:pPr>
                <a:r>
                  <a:rPr sz="2100" b="1">
                    <a:solidFill>
                      <a:srgbClr val="1E293B"/>
                    </a:solidFill>
                    <a:latin typeface="Calibri"/>
                  </a:rPr>
                  <a:t>Cấp số nhân</a:t>
                </a:r>
                <a:r>
                  <a:rPr sz="2100">
                    <a:solidFill>
                      <a:srgbClr val="1E293B"/>
                    </a:solidFill>
                    <a:latin typeface="Calibri"/>
                  </a:rPr>
                  <a:t> là một dãy số (hữu hạn hay vô hạn), trong đó kể từ số hạng thứ hai, mỗi số hạng đều là tích của số hạng đứng ngay trước nó với một số không đổi </a:t>
                </a:r>
                <a14:m>
                  <m:oMath xmlns:m="http://schemas.openxmlformats.org/officeDocument/2006/math">
                    <m:r>
                      <a:rPr lang="vi-VN" sz="2100" b="0">
                        <a:solidFill>
                          <a:srgbClr val="1E293B"/>
                        </a:solidFill>
                        <a:latin typeface="Cambria Math" panose="02040503050406030204" pitchFamily="18" charset="0"/>
                      </a:rPr>
                      <m:t>q</m:t>
                    </m:r>
                  </m:oMath>
                </a14:m>
                <a:r>
                  <a:rPr sz="2100">
                    <a:solidFill>
                      <a:srgbClr val="1E293B"/>
                    </a:solidFill>
                    <a:latin typeface="Calibri"/>
                  </a:rPr>
                  <a:t>. Số </a:t>
                </a:r>
                <a14:m>
                  <m:oMath xmlns:m="http://schemas.openxmlformats.org/officeDocument/2006/math">
                    <m:r>
                      <a:rPr lang="vi-VN" sz="2100" b="0">
                        <a:solidFill>
                          <a:srgbClr val="1E293B"/>
                        </a:solidFill>
                        <a:latin typeface="Cambria Math" panose="02040503050406030204" pitchFamily="18" charset="0"/>
                      </a:rPr>
                      <m:t>q</m:t>
                    </m:r>
                  </m:oMath>
                </a14:m>
                <a:r>
                  <a:rPr sz="2100">
                    <a:solidFill>
                      <a:srgbClr val="1E293B"/>
                    </a:solidFill>
                    <a:latin typeface="Calibri"/>
                  </a:rPr>
                  <a:t> được gọi là </a:t>
                </a:r>
                <a:r>
                  <a:rPr sz="2100" b="1">
                    <a:solidFill>
                      <a:srgbClr val="1E293B"/>
                    </a:solidFill>
                    <a:latin typeface="Calibri"/>
                  </a:rPr>
                  <a:t>công bội</a:t>
                </a:r>
                <a:r>
                  <a:rPr sz="2100">
                    <a:solidFill>
                      <a:srgbClr val="1E293B"/>
                    </a:solidFill>
                    <a:latin typeface="Calibri"/>
                  </a:rPr>
                  <a:t> của cấp số nhân. Cấp số nhân </a:t>
                </a:r>
                <a14:m>
                  <m:oMath xmlns:m="http://schemas.openxmlformats.org/officeDocument/2006/math">
                    <m:d>
                      <m:dPr>
                        <m:sepChr m:val=""/>
                      </m:dPr>
                      <m:e>
                        <m:sSub>
                          <m:e>
                            <m:r>
                              <a:rPr lang="vi-VN" sz="2100" b="0">
                                <a:solidFill>
                                  <a:srgbClr val="1E293B"/>
                                </a:solidFill>
                                <a:latin typeface="Cambria Math" panose="02040503050406030204" pitchFamily="18" charset="0"/>
                              </a:rPr>
                              <m:t>u</m:t>
                            </m:r>
                          </m:e>
                          <m:sub>
                            <m:r>
                              <a:rPr lang="vi-VN" sz="2100" b="0">
                                <a:solidFill>
                                  <a:srgbClr val="1E293B"/>
                                </a:solidFill>
                                <a:latin typeface="Cambria Math" panose="02040503050406030204" pitchFamily="18" charset="0"/>
                              </a:rPr>
                              <m:t>n</m:t>
                            </m:r>
                          </m:sub>
                        </m:sSub>
                      </m:e>
                    </m:d>
                  </m:oMath>
                </a14:m>
                <a:r>
                  <a:rPr sz="2100">
                    <a:solidFill>
                      <a:srgbClr val="1E293B"/>
                    </a:solidFill>
                    <a:latin typeface="Calibri"/>
                  </a:rPr>
                  <a:t> với công bội </a:t>
                </a:r>
                <a14:m>
                  <m:oMath xmlns:m="http://schemas.openxmlformats.org/officeDocument/2006/math">
                    <m:r>
                      <a:rPr lang="vi-VN" sz="2100" b="0">
                        <a:solidFill>
                          <a:srgbClr val="1E293B"/>
                        </a:solidFill>
                        <a:latin typeface="Cambria Math" panose="02040503050406030204" pitchFamily="18" charset="0"/>
                      </a:rPr>
                      <m:t>q</m:t>
                    </m:r>
                  </m:oMath>
                </a14:m>
                <a:r>
                  <a:rPr sz="2100">
                    <a:solidFill>
                      <a:srgbClr val="1E293B"/>
                    </a:solidFill>
                    <a:latin typeface="Calibri"/>
                  </a:rPr>
                  <a:t> được cho bởi hệ thức truy hồi </a:t>
                </a:r>
                <a14:m>
                  <m:oMath xmlns:m="http://schemas.openxmlformats.org/officeDocument/2006/math">
                    <m:sSub>
                      <m:e>
                        <m:r>
                          <a:rPr lang="vi-VN" sz="2100" b="0">
                            <a:solidFill>
                              <a:srgbClr val="1E293B"/>
                            </a:solidFill>
                            <a:latin typeface="Cambria Math" panose="02040503050406030204" pitchFamily="18" charset="0"/>
                          </a:rPr>
                          <m:t>u</m:t>
                        </m:r>
                      </m:e>
                      <m:sub>
                        <m:r>
                          <a:rPr lang="vi-VN" sz="2100" b="0">
                            <a:solidFill>
                              <a:srgbClr val="1E293B"/>
                            </a:solidFill>
                            <a:latin typeface="Cambria Math" panose="02040503050406030204" pitchFamily="18" charset="0"/>
                          </a:rPr>
                          <m:t>n</m:t>
                        </m:r>
                      </m:sub>
                    </m:sSub>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u</m:t>
                        </m:r>
                      </m:e>
                      <m:sub>
                        <m:r>
                          <a:rPr lang="vi-VN" sz="2100" b="0">
                            <a:solidFill>
                              <a:srgbClr val="1E293B"/>
                            </a:solidFill>
                            <a:latin typeface="Cambria Math" panose="02040503050406030204" pitchFamily="18" charset="0"/>
                          </a:rPr>
                          <m:t>n−1</m:t>
                        </m:r>
                      </m:sub>
                    </m:sSub>
                    <m:r>
                      <a:rPr lang="vi-VN" sz="2100" b="0">
                        <a:solidFill>
                          <a:srgbClr val="1E293B"/>
                        </a:solidFill>
                        <a:latin typeface="Cambria Math" panose="02040503050406030204" pitchFamily="18" charset="0"/>
                      </a:rPr>
                      <m:t>·q</m:t>
                    </m:r>
                  </m:oMath>
                </a14:m>
                <a:r>
                  <a:rPr sz="2100">
                    <a:solidFill>
                      <a:srgbClr val="1E293B"/>
                    </a:solidFill>
                    <a:latin typeface="Calibri"/>
                  </a:rPr>
                  <a:t> với </a:t>
                </a:r>
                <a14:m>
                  <m:oMath xmlns:m="http://schemas.openxmlformats.org/officeDocument/2006/math">
                    <m:r>
                      <a:rPr lang="vi-VN" sz="2100" b="0">
                        <a:solidFill>
                          <a:srgbClr val="1E293B"/>
                        </a:solidFill>
                        <a:latin typeface="Cambria Math" panose="02040503050406030204" pitchFamily="18" charset="0"/>
                      </a:rPr>
                      <m:t>n≥2</m:t>
                    </m:r>
                  </m:oMath>
                </a14:m>
                <a:r>
                  <a:rPr sz="2100">
                    <a:solidFill>
                      <a:srgbClr val="1E293B"/>
                    </a:solidFill>
                    <a:latin typeface="Calibri"/>
                  </a:rPr>
                  <a:t>.</a:t>
                </a:r>
              </a:p>
            </p:txBody>
          </p:sp>
        </mc:Choice>
        <mc:Fallback>
          <p:sp>
            <p:nvSpPr>
              <p:cNvPr id="11" name="TextBox 10"/>
              <p:cNvSpPr txBox="1"/>
              <p:nvPr/>
            </p:nvSpPr>
            <p:spPr>
              <a:xfrm>
                <a:off x="713232" y="3026663"/>
                <a:ext cx="10735056" cy="1472184"/>
              </a:xfrm>
              <a:prstGeom prst="rect">
                <a:avLst/>
              </a:prstGeom>
              <a:noFill/>
            </p:spPr>
            <p:txBody>
              <a:bodyPr wrap="square" anchor="ctr" lIns="45720" rIns="45720">
                <a:spAutoFit/>
              </a:bodyPr>
              <a:lstStyle/>
              <a:p>
                <a:pPr algn="l">
                  <a:spcAft>
                    <a:spcPts val="800"/>
                  </a:spcAft>
                </a:pPr>
                <a:r>
                  <a:rPr sz="2100" b="1">
                    <a:solidFill>
                      <a:srgbClr val="1E293B"/>
                    </a:solidFill>
                    <a:latin typeface="Calibri"/>
                  </a:rPr>
                  <a:t>Cấp số nhân</a:t>
                </a:r>
                <a:r>
                  <a:rPr sz="2100">
                    <a:solidFill>
                      <a:srgbClr val="1E293B"/>
                    </a:solidFill>
                    <a:latin typeface="Calibri"/>
                  </a:rPr>
                  <a:t> là một dãy số (hữu hạn hay vô hạn), trong đó kể từ số hạng thứ hai, mỗi số hạng đều là tích của số hạng đứng ngay trước nó với một số không đổi </a:t>
                </a:r>
                <a:r>
                  <a:rPr lang="vi-VN"/>
                  <a:t>q</a:t>
                </a:r>
                <a:r>
                  <a:rPr sz="2100">
                    <a:solidFill>
                      <a:srgbClr val="1E293B"/>
                    </a:solidFill>
                    <a:latin typeface="Calibri"/>
                  </a:rPr>
                  <a:t>. Số </a:t>
                </a:r>
                <a:r>
                  <a:rPr lang="vi-VN"/>
                  <a:t>q</a:t>
                </a:r>
                <a:r>
                  <a:rPr sz="2100">
                    <a:solidFill>
                      <a:srgbClr val="1E293B"/>
                    </a:solidFill>
                    <a:latin typeface="Calibri"/>
                  </a:rPr>
                  <a:t> được gọi là </a:t>
                </a:r>
                <a:r>
                  <a:rPr sz="2100" b="1">
                    <a:solidFill>
                      <a:srgbClr val="1E293B"/>
                    </a:solidFill>
                    <a:latin typeface="Calibri"/>
                  </a:rPr>
                  <a:t>công bội</a:t>
                </a:r>
                <a:r>
                  <a:rPr sz="2100">
                    <a:solidFill>
                      <a:srgbClr val="1E293B"/>
                    </a:solidFill>
                    <a:latin typeface="Calibri"/>
                  </a:rPr>
                  <a:t> của cấp số nhân. Cấp số nhân </a:t>
                </a:r>
                <a:r>
                  <a:rPr lang="vi-VN"/>
                  <a:t>(u_n)</a:t>
                </a:r>
                <a:r>
                  <a:rPr sz="2100">
                    <a:solidFill>
                      <a:srgbClr val="1E293B"/>
                    </a:solidFill>
                    <a:latin typeface="Calibri"/>
                  </a:rPr>
                  <a:t> với công bội </a:t>
                </a:r>
                <a:r>
                  <a:rPr lang="vi-VN"/>
                  <a:t>q</a:t>
                </a:r>
                <a:r>
                  <a:rPr sz="2100">
                    <a:solidFill>
                      <a:srgbClr val="1E293B"/>
                    </a:solidFill>
                    <a:latin typeface="Calibri"/>
                  </a:rPr>
                  <a:t> được cho bởi hệ thức truy hồi </a:t>
                </a:r>
                <a:r>
                  <a:rPr lang="vi-VN"/>
                  <a:t>u_n=u_{n-1}\cdot q</a:t>
                </a:r>
                <a:r>
                  <a:rPr sz="2100">
                    <a:solidFill>
                      <a:srgbClr val="1E293B"/>
                    </a:solidFill>
                    <a:latin typeface="Calibri"/>
                  </a:rPr>
                  <a:t> với </a:t>
                </a:r>
                <a:r>
                  <a:rPr lang="vi-VN"/>
                  <a:t>n\ge 2</a:t>
                </a:r>
                <a:r>
                  <a:rPr sz="21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2" name="s3_chu"/>
              <p:cNvSpPr txBox="1"/>
              <p:nvPr/>
            </p:nvSpPr>
            <p:spPr>
              <a:xfrm>
                <a:off x="548640" y="4645152"/>
                <a:ext cx="11064240" cy="493775"/>
              </a:xfrm>
              <a:prstGeom prst="rect">
                <a:avLst/>
              </a:prstGeom>
              <a:noFill/>
            </p:spPr>
            <p:txBody>
              <a:bodyPr wrap="square" anchor="t" lIns="45720" rIns="45720">
                <a:spAutoFit/>
              </a:bodyPr>
              <a:lstStyle/>
              <a:p>
                <a:pPr algn="l">
                  <a:spcAft>
                    <a:spcPts val="800"/>
                  </a:spcAft>
                </a:pPr>
                <a:r>
                  <a:rPr sz="2100">
                    <a:solidFill>
                      <a:srgbClr val="1E293B"/>
                    </a:solidFill>
                    <a:latin typeface="Calibri"/>
                  </a:rPr>
                  <a:t>❓ Dãy số không đổi </a:t>
                </a:r>
                <a14:m>
                  <m:oMath xmlns:m="http://schemas.openxmlformats.org/officeDocument/2006/math">
                    <m:r>
                      <a:rPr lang="vi-VN" sz="2100" b="0">
                        <a:solidFill>
                          <a:srgbClr val="1E293B"/>
                        </a:solidFill>
                        <a:latin typeface="Cambria Math" panose="02040503050406030204" pitchFamily="18" charset="0"/>
                      </a:rPr>
                      <m:t>a,</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a,</m:t>
                    </m:r>
                    <m:r>
                      <m:rPr>
                        <m:sty m:val="p"/>
                      </m:rPr>
                      <a:rPr lang="vi-VN" sz="2100" b="0">
                        <a:solidFill>
                          <a:srgbClr val="1E293B"/>
                        </a:solidFill>
                        <a:latin typeface="Cambria Math" panose="02040503050406030204" pitchFamily="18" charset="0"/>
                      </a:rPr>
                      <m:t> </m:t>
                    </m:r>
                    <m:r>
                      <a:rPr lang="vi-VN" sz="2100" b="0">
                        <a:solidFill>
                          <a:srgbClr val="1E293B"/>
                        </a:solidFill>
                        <a:latin typeface="Cambria Math" panose="02040503050406030204" pitchFamily="18" charset="0"/>
                      </a:rPr>
                      <m:t>a,…</m:t>
                    </m:r>
                  </m:oMath>
                </a14:m>
                <a:r>
                  <a:rPr sz="2100">
                    <a:solidFill>
                      <a:srgbClr val="1E293B"/>
                    </a:solidFill>
                    <a:latin typeface="Calibri"/>
                  </a:rPr>
                  <a:t> có phải là một cấp số nhân không?</a:t>
                </a:r>
              </a:p>
            </p:txBody>
          </p:sp>
        </mc:Choice>
        <mc:Fallback>
          <p:sp>
            <p:nvSpPr>
              <p:cNvPr id="12" name="TextBox 11"/>
              <p:cNvSpPr txBox="1"/>
              <p:nvPr/>
            </p:nvSpPr>
            <p:spPr>
              <a:xfrm>
                <a:off x="548640" y="4645152"/>
                <a:ext cx="11064240" cy="493775"/>
              </a:xfrm>
              <a:prstGeom prst="rect">
                <a:avLst/>
              </a:prstGeom>
              <a:noFill/>
            </p:spPr>
            <p:txBody>
              <a:bodyPr wrap="square" anchor="t" lIns="45720" rIns="45720">
                <a:spAutoFit/>
              </a:bodyPr>
              <a:lstStyle/>
              <a:p>
                <a:pPr algn="l">
                  <a:spcAft>
                    <a:spcPts val="800"/>
                  </a:spcAft>
                </a:pPr>
                <a:r>
                  <a:rPr sz="2100">
                    <a:solidFill>
                      <a:srgbClr val="1E293B"/>
                    </a:solidFill>
                    <a:latin typeface="Calibri"/>
                  </a:rPr>
                  <a:t>❓ Dãy số không đổi </a:t>
                </a:r>
                <a:r>
                  <a:rPr lang="vi-VN"/>
                  <a:t>a,\ a,\ a,\ldots</a:t>
                </a:r>
                <a:r>
                  <a:rPr sz="2100">
                    <a:solidFill>
                      <a:srgbClr val="1E293B"/>
                    </a:solidFill>
                    <a:latin typeface="Calibri"/>
                  </a:rPr>
                  <a:t> có phải là một cấp số nhân không?</a:t>
                </a:r>
              </a:p>
            </p:txBody>
          </p:sp>
        </mc:Fallback>
      </mc:AlternateContent>
      <p:sp>
        <p:nvSpPr>
          <p:cNvPr id="13" name="s4_nen"/>
          <p:cNvSpPr/>
          <p:nvPr/>
        </p:nvSpPr>
        <p:spPr>
          <a:xfrm>
            <a:off x="548640" y="5248656"/>
            <a:ext cx="1106424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4" name="s4_chu"/>
              <p:cNvSpPr txBox="1"/>
              <p:nvPr/>
            </p:nvSpPr>
            <p:spPr>
              <a:xfrm>
                <a:off x="713232" y="5285232"/>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Có – cấp số nhân với công bội </a:t>
                </a:r>
                <a14:m>
                  <m:oMath xmlns:m="http://schemas.openxmlformats.org/officeDocument/2006/math">
                    <m:r>
                      <a:rPr lang="vi-VN" sz="2100" b="0">
                        <a:solidFill>
                          <a:srgbClr val="1E293B"/>
                        </a:solidFill>
                        <a:latin typeface="Cambria Math" panose="02040503050406030204" pitchFamily="18" charset="0"/>
                      </a:rPr>
                      <m:t>q=1</m:t>
                    </m:r>
                  </m:oMath>
                </a14:m>
                <a:r>
                  <a:rPr sz="2100">
                    <a:solidFill>
                      <a:srgbClr val="1E293B"/>
                    </a:solidFill>
                    <a:latin typeface="Calibri"/>
                  </a:rPr>
                  <a:t> (cũng là cấp số cộng với </a:t>
                </a:r>
                <a14:m>
                  <m:oMath xmlns:m="http://schemas.openxmlformats.org/officeDocument/2006/math">
                    <m:r>
                      <a:rPr lang="vi-VN" sz="2100" b="0">
                        <a:solidFill>
                          <a:srgbClr val="1E293B"/>
                        </a:solidFill>
                        <a:latin typeface="Cambria Math" panose="02040503050406030204" pitchFamily="18" charset="0"/>
                      </a:rPr>
                      <m:t>d=0</m:t>
                    </m:r>
                  </m:oMath>
                </a14:m>
                <a:r>
                  <a:rPr sz="2100">
                    <a:solidFill>
                      <a:srgbClr val="1E293B"/>
                    </a:solidFill>
                    <a:latin typeface="Calibri"/>
                  </a:rPr>
                  <a:t>).</a:t>
                </a:r>
              </a:p>
            </p:txBody>
          </p:sp>
        </mc:Choice>
        <mc:Fallback>
          <p:sp>
            <p:nvSpPr>
              <p:cNvPr id="14" name="TextBox 13"/>
              <p:cNvSpPr txBox="1"/>
              <p:nvPr/>
            </p:nvSpPr>
            <p:spPr>
              <a:xfrm>
                <a:off x="713232" y="5285232"/>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Có – cấp số nhân với công bội </a:t>
                </a:r>
                <a:r>
                  <a:rPr lang="vi-VN"/>
                  <a:t>q=1</a:t>
                </a:r>
                <a:r>
                  <a:rPr sz="2100">
                    <a:solidFill>
                      <a:srgbClr val="1E293B"/>
                    </a:solidFill>
                    <a:latin typeface="Calibri"/>
                  </a:rPr>
                  <a:t> (cũng là cấp số cộng với </a:t>
                </a:r>
                <a:r>
                  <a:rPr lang="vi-VN"/>
                  <a:t>d=0</a:t>
                </a:r>
                <a:r>
                  <a:rPr sz="21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1 – VÍ DỤ 2 – LUYỆN TẬP 1 (SGK TR.52 – 53)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Cấp số nhân – Toán 11          7</a:t>
            </a:r>
          </a:p>
        </p:txBody>
      </p:sp>
      <mc:AlternateContent xmlns:mc="http://schemas.openxmlformats.org/markup-compatibility/2006">
        <mc:Choice xmlns:a14="http://schemas.microsoft.com/office/drawing/2010/main" Requires="a14">
          <p:sp>
            <p:nvSpPr>
              <p:cNvPr id="7" name="TextBox 6"/>
              <p:cNvSpPr txBox="1"/>
              <p:nvPr/>
            </p:nvSpPr>
            <p:spPr>
              <a:xfrm>
                <a:off x="548640" y="1554480"/>
                <a:ext cx="11064240" cy="1032510"/>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Ví dụ 1.</a:t>
                </a:r>
                <a:r>
                  <a:rPr sz="2300">
                    <a:solidFill>
                      <a:srgbClr val="1E293B"/>
                    </a:solidFill>
                    <a:latin typeface="Calibri"/>
                  </a:rPr>
                  <a:t>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1</m:t>
                        </m:r>
                      </m:sub>
                    </m:sSub>
                    <m:r>
                      <a:rPr lang="vi-VN" sz="2300" b="0">
                        <a:solidFill>
                          <a:srgbClr val="1E293B"/>
                        </a:solidFill>
                        <a:latin typeface="Cambria Math" panose="02040503050406030204" pitchFamily="18" charset="0"/>
                      </a:rPr>
                      <m:t>=5</m:t>
                    </m:r>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q=−2</m:t>
                    </m:r>
                  </m:oMath>
                </a14:m>
                <a:r>
                  <a:rPr sz="2300">
                    <a:solidFill>
                      <a:srgbClr val="1E293B"/>
                    </a:solidFill>
                    <a:latin typeface="Calibri"/>
                  </a:rPr>
                  <a:t>: năm số hạng đầu.  </a:t>
                </a:r>
                <a:r>
                  <a:rPr sz="2300" b="1">
                    <a:solidFill>
                      <a:srgbClr val="1E293B"/>
                    </a:solidFill>
                    <a:latin typeface="Calibri"/>
                  </a:rPr>
                  <a:t>Ví dụ 2.</a:t>
                </a:r>
                <a:r>
                  <a:rPr sz="2300">
                    <a:solidFill>
                      <a:srgbClr val="1E293B"/>
                    </a:solidFill>
                    <a:latin typeface="Calibri"/>
                  </a:rPr>
                  <a:t>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n</m:t>
                        </m:r>
                      </m:sub>
                    </m:sSub>
                    <m:r>
                      <a:rPr lang="vi-VN" sz="2300" b="0">
                        <a:solidFill>
                          <a:srgbClr val="1E293B"/>
                        </a:solidFill>
                        <a:latin typeface="Cambria Math" panose="02040503050406030204" pitchFamily="18" charset="0"/>
                      </a:rPr>
                      <m:t>=</m:t>
                    </m:r>
                    <m:f>
                      <m:fPr>
                        <m:type m:val="bar"/>
                      </m:fPr>
                      <m:num>
                        <m:r>
                          <a:rPr lang="vi-VN" sz="2300" b="0">
                            <a:solidFill>
                              <a:srgbClr val="1E293B"/>
                            </a:solidFill>
                            <a:latin typeface="Cambria Math" panose="02040503050406030204" pitchFamily="18" charset="0"/>
                          </a:rPr>
                          <m:t>1</m:t>
                        </m:r>
                      </m:num>
                      <m:den>
                        <m:sSup>
                          <m:e>
                            <m:r>
                              <a:rPr lang="vi-VN" sz="2300" b="0">
                                <a:solidFill>
                                  <a:srgbClr val="1E293B"/>
                                </a:solidFill>
                                <a:latin typeface="Cambria Math" panose="02040503050406030204" pitchFamily="18" charset="0"/>
                              </a:rPr>
                              <m:t>3</m:t>
                            </m:r>
                          </m:e>
                          <m:sup>
                            <m:r>
                              <a:rPr lang="vi-VN" sz="2300" b="0">
                                <a:solidFill>
                                  <a:srgbClr val="1E293B"/>
                                </a:solidFill>
                                <a:latin typeface="Cambria Math" panose="02040503050406030204" pitchFamily="18" charset="0"/>
                              </a:rPr>
                              <m:t>n−1</m:t>
                            </m:r>
                          </m:sup>
                        </m:sSup>
                      </m:den>
                    </m:f>
                  </m:oMath>
                </a14:m>
                <a:r>
                  <a:rPr sz="2300">
                    <a:solidFill>
                      <a:srgbClr val="1E293B"/>
                    </a:solidFill>
                    <a:latin typeface="Calibri"/>
                  </a:rPr>
                  <a:t>: chứng minh là cấp số nhân; xác định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1</m:t>
                        </m:r>
                      </m:sub>
                    </m:sSub>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q</m:t>
                    </m:r>
                  </m:oMath>
                </a14:m>
                <a:r>
                  <a:rPr sz="2300">
                    <a:solidFill>
                      <a:srgbClr val="1E293B"/>
                    </a:solidFill>
                    <a:latin typeface="Calibri"/>
                  </a:rPr>
                  <a:t>.</a:t>
                </a:r>
              </a:p>
            </p:txBody>
          </p:sp>
        </mc:Choice>
        <mc:Fallback>
          <p:sp>
            <p:nvSpPr>
              <p:cNvPr id="7" name="TextBox 6"/>
              <p:cNvSpPr txBox="1"/>
              <p:nvPr/>
            </p:nvSpPr>
            <p:spPr>
              <a:xfrm>
                <a:off x="548640" y="1554480"/>
                <a:ext cx="11064240" cy="1032510"/>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Ví dụ 1.</a:t>
                </a:r>
                <a:r>
                  <a:rPr sz="2300">
                    <a:solidFill>
                      <a:srgbClr val="1E293B"/>
                    </a:solidFill>
                    <a:latin typeface="Calibri"/>
                  </a:rPr>
                  <a:t> </a:t>
                </a:r>
                <a:r>
                  <a:rPr lang="vi-VN"/>
                  <a:t>u_1=5</a:t>
                </a:r>
                <a:r>
                  <a:rPr sz="2300">
                    <a:solidFill>
                      <a:srgbClr val="1E293B"/>
                    </a:solidFill>
                    <a:latin typeface="Calibri"/>
                  </a:rPr>
                  <a:t>, </a:t>
                </a:r>
                <a:r>
                  <a:rPr lang="vi-VN"/>
                  <a:t>q=-2</a:t>
                </a:r>
                <a:r>
                  <a:rPr sz="2300">
                    <a:solidFill>
                      <a:srgbClr val="1E293B"/>
                    </a:solidFill>
                    <a:latin typeface="Calibri"/>
                  </a:rPr>
                  <a:t>: năm số hạng đầu.  </a:t>
                </a:r>
                <a:r>
                  <a:rPr sz="2300" b="1">
                    <a:solidFill>
                      <a:srgbClr val="1E293B"/>
                    </a:solidFill>
                    <a:latin typeface="Calibri"/>
                  </a:rPr>
                  <a:t>Ví dụ 2.</a:t>
                </a:r>
                <a:r>
                  <a:rPr sz="2300">
                    <a:solidFill>
                      <a:srgbClr val="1E293B"/>
                    </a:solidFill>
                    <a:latin typeface="Calibri"/>
                  </a:rPr>
                  <a:t> </a:t>
                </a:r>
                <a:r>
                  <a:rPr lang="vi-VN"/>
                  <a:t>u_n=\frac{1}{3^{n-1}}</a:t>
                </a:r>
                <a:r>
                  <a:rPr sz="2300">
                    <a:solidFill>
                      <a:srgbClr val="1E293B"/>
                    </a:solidFill>
                    <a:latin typeface="Calibri"/>
                  </a:rPr>
                  <a:t>: chứng minh là cấp số nhân; xác định </a:t>
                </a:r>
                <a:r>
                  <a:rPr lang="vi-VN"/>
                  <a:t>u_1</a:t>
                </a:r>
                <a:r>
                  <a:rPr sz="2300">
                    <a:solidFill>
                      <a:srgbClr val="1E293B"/>
                    </a:solidFill>
                    <a:latin typeface="Calibri"/>
                  </a:rPr>
                  <a:t>, </a:t>
                </a:r>
                <a:r>
                  <a:rPr lang="vi-VN"/>
                  <a:t>q</a:t>
                </a:r>
                <a:r>
                  <a:rPr sz="2300">
                    <a:solidFill>
                      <a:srgbClr val="1E293B"/>
                    </a:solidFill>
                    <a:latin typeface="Calibri"/>
                  </a:rPr>
                  <a:t>.</a:t>
                </a:r>
              </a:p>
            </p:txBody>
          </p:sp>
        </mc:Fallback>
      </mc:AlternateContent>
      <p:sp>
        <p:nvSpPr>
          <p:cNvPr id="8" name="s1_nen"/>
          <p:cNvSpPr/>
          <p:nvPr/>
        </p:nvSpPr>
        <p:spPr>
          <a:xfrm>
            <a:off x="548640" y="2769870"/>
            <a:ext cx="11064240" cy="1439418"/>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806446"/>
                <a:ext cx="10735056" cy="1366266"/>
              </a:xfrm>
              <a:prstGeom prst="rect">
                <a:avLst/>
              </a:prstGeom>
              <a:noFill/>
            </p:spPr>
            <p:txBody>
              <a:bodyPr wrap="square" anchor="ctr" lIns="45720" rIns="45720">
                <a:spAutoFit/>
              </a:bodyPr>
              <a:lstStyle/>
              <a:p>
                <a:pPr algn="l">
                  <a:spcAft>
                    <a:spcPts val="800"/>
                  </a:spcAft>
                </a:pPr>
                <a:r>
                  <a:rPr sz="2300">
                    <a:solidFill>
                      <a:srgbClr val="1E293B"/>
                    </a:solidFill>
                    <a:latin typeface="Calibri"/>
                  </a:rPr>
                  <a:t>Ví dụ 1: </a:t>
                </a:r>
                <a14:m>
                  <m:oMath xmlns:m="http://schemas.openxmlformats.org/officeDocument/2006/math">
                    <m:r>
                      <a:rPr lang="vi-VN" sz="2300" b="0">
                        <a:solidFill>
                          <a:srgbClr val="1E293B"/>
                        </a:solidFill>
                        <a:latin typeface="Cambria Math" panose="02040503050406030204" pitchFamily="18" charset="0"/>
                      </a:rPr>
                      <m:t>5,</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−10,</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20,</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−40,</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80</m:t>
                    </m:r>
                  </m:oMath>
                </a14:m>
                <a:r>
                  <a:rPr sz="2300">
                    <a:solidFill>
                      <a:srgbClr val="1E293B"/>
                    </a:solidFill>
                    <a:latin typeface="Calibri"/>
                  </a:rPr>
                  <a:t>. Ví dụ 2: </a:t>
                </a:r>
                <a14:m>
                  <m:oMath xmlns:m="http://schemas.openxmlformats.org/officeDocument/2006/math">
                    <m:f>
                      <m:fPr>
                        <m:type m:val="bar"/>
                      </m:fPr>
                      <m:num>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n</m:t>
                            </m:r>
                          </m:sub>
                        </m:sSub>
                      </m:num>
                      <m:den>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n−1</m:t>
                            </m:r>
                          </m:sub>
                        </m:sSub>
                      </m:den>
                    </m:f>
                    <m:r>
                      <a:rPr lang="vi-VN" sz="2300" b="0">
                        <a:solidFill>
                          <a:srgbClr val="1E293B"/>
                        </a:solidFill>
                        <a:latin typeface="Cambria Math" panose="02040503050406030204" pitchFamily="18" charset="0"/>
                      </a:rPr>
                      <m:t>=</m:t>
                    </m:r>
                    <m:f>
                      <m:fPr>
                        <m:type m:val="bar"/>
                      </m:fPr>
                      <m:num>
                        <m:sSup>
                          <m:e>
                            <m:r>
                              <a:rPr lang="vi-VN" sz="2300" b="0">
                                <a:solidFill>
                                  <a:srgbClr val="1E293B"/>
                                </a:solidFill>
                                <a:latin typeface="Cambria Math" panose="02040503050406030204" pitchFamily="18" charset="0"/>
                              </a:rPr>
                              <m:t>3</m:t>
                            </m:r>
                          </m:e>
                          <m:sup>
                            <m:r>
                              <a:rPr lang="vi-VN" sz="2300" b="0">
                                <a:solidFill>
                                  <a:srgbClr val="1E293B"/>
                                </a:solidFill>
                                <a:latin typeface="Cambria Math" panose="02040503050406030204" pitchFamily="18" charset="0"/>
                              </a:rPr>
                              <m:t>n−2</m:t>
                            </m:r>
                          </m:sup>
                        </m:sSup>
                      </m:num>
                      <m:den>
                        <m:sSup>
                          <m:e>
                            <m:r>
                              <a:rPr lang="vi-VN" sz="2300" b="0">
                                <a:solidFill>
                                  <a:srgbClr val="1E293B"/>
                                </a:solidFill>
                                <a:latin typeface="Cambria Math" panose="02040503050406030204" pitchFamily="18" charset="0"/>
                              </a:rPr>
                              <m:t>3</m:t>
                            </m:r>
                          </m:e>
                          <m:sup>
                            <m:r>
                              <a:rPr lang="vi-VN" sz="2300" b="0">
                                <a:solidFill>
                                  <a:srgbClr val="1E293B"/>
                                </a:solidFill>
                                <a:latin typeface="Cambria Math" panose="02040503050406030204" pitchFamily="18" charset="0"/>
                              </a:rPr>
                              <m:t>n−1</m:t>
                            </m:r>
                          </m:sup>
                        </m:sSup>
                      </m:den>
                    </m:f>
                    <m:r>
                      <a:rPr lang="vi-VN" sz="2300" b="0">
                        <a:solidFill>
                          <a:srgbClr val="1E293B"/>
                        </a:solidFill>
                        <a:latin typeface="Cambria Math" panose="02040503050406030204" pitchFamily="18" charset="0"/>
                      </a:rPr>
                      <m:t>=</m:t>
                    </m:r>
                    <m:f>
                      <m:fPr>
                        <m:type m:val="bar"/>
                      </m:fPr>
                      <m:num>
                        <m:r>
                          <a:rPr lang="vi-VN" sz="2300" b="0">
                            <a:solidFill>
                              <a:srgbClr val="1E293B"/>
                            </a:solidFill>
                            <a:latin typeface="Cambria Math" panose="02040503050406030204" pitchFamily="18" charset="0"/>
                          </a:rPr>
                          <m:t>1</m:t>
                        </m:r>
                      </m:num>
                      <m:den>
                        <m:r>
                          <a:rPr lang="vi-VN" sz="2300" b="0">
                            <a:solidFill>
                              <a:srgbClr val="1E293B"/>
                            </a:solidFill>
                            <a:latin typeface="Cambria Math" panose="02040503050406030204" pitchFamily="18" charset="0"/>
                          </a:rPr>
                          <m:t>3</m:t>
                        </m:r>
                      </m:den>
                    </m:f>
                  </m:oMath>
                </a14:m>
                <a:r>
                  <a:rPr sz="2300">
                    <a:solidFill>
                      <a:srgbClr val="1E293B"/>
                    </a:solidFill>
                    <a:latin typeface="Calibri"/>
                  </a:rPr>
                  <a:t>: cấp số nhân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1</m:t>
                        </m:r>
                      </m:sub>
                    </m:sSub>
                    <m:r>
                      <a:rPr lang="vi-VN" sz="2300" b="0">
                        <a:solidFill>
                          <a:srgbClr val="1E293B"/>
                        </a:solidFill>
                        <a:latin typeface="Cambria Math" panose="02040503050406030204" pitchFamily="18" charset="0"/>
                      </a:rPr>
                      <m:t>=1</m:t>
                    </m:r>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q=</m:t>
                    </m:r>
                    <m:f>
                      <m:fPr>
                        <m:type m:val="bar"/>
                      </m:fPr>
                      <m:num>
                        <m:r>
                          <a:rPr lang="vi-VN" sz="2300" b="0">
                            <a:solidFill>
                              <a:srgbClr val="1E293B"/>
                            </a:solidFill>
                            <a:latin typeface="Cambria Math" panose="02040503050406030204" pitchFamily="18" charset="0"/>
                          </a:rPr>
                          <m:t>1</m:t>
                        </m:r>
                      </m:num>
                      <m:den>
                        <m:r>
                          <a:rPr lang="vi-VN" sz="2300" b="0">
                            <a:solidFill>
                              <a:srgbClr val="1E293B"/>
                            </a:solidFill>
                            <a:latin typeface="Cambria Math" panose="02040503050406030204" pitchFamily="18" charset="0"/>
                          </a:rPr>
                          <m:t>3</m:t>
                        </m:r>
                      </m:den>
                    </m:f>
                  </m:oMath>
                </a14:m>
                <a:r>
                  <a:rPr sz="2300">
                    <a:solidFill>
                      <a:srgbClr val="1E293B"/>
                    </a:solidFill>
                    <a:latin typeface="Calibri"/>
                  </a:rPr>
                  <a:t>.</a:t>
                </a:r>
              </a:p>
            </p:txBody>
          </p:sp>
        </mc:Choice>
        <mc:Fallback>
          <p:sp>
            <p:nvSpPr>
              <p:cNvPr id="9" name="TextBox 8"/>
              <p:cNvSpPr txBox="1"/>
              <p:nvPr/>
            </p:nvSpPr>
            <p:spPr>
              <a:xfrm>
                <a:off x="713232" y="2806446"/>
                <a:ext cx="10735056" cy="1366266"/>
              </a:xfrm>
              <a:prstGeom prst="rect">
                <a:avLst/>
              </a:prstGeom>
              <a:noFill/>
            </p:spPr>
            <p:txBody>
              <a:bodyPr wrap="square" anchor="ctr" lIns="45720" rIns="45720">
                <a:spAutoFit/>
              </a:bodyPr>
              <a:lstStyle/>
              <a:p>
                <a:pPr algn="l">
                  <a:spcAft>
                    <a:spcPts val="800"/>
                  </a:spcAft>
                </a:pPr>
                <a:r>
                  <a:rPr sz="2300">
                    <a:solidFill>
                      <a:srgbClr val="1E293B"/>
                    </a:solidFill>
                    <a:latin typeface="Calibri"/>
                  </a:rPr>
                  <a:t>Ví dụ 1: </a:t>
                </a:r>
                <a:r>
                  <a:rPr lang="vi-VN"/>
                  <a:t>5,\ -10,\ 20,\ -40,\ 80</a:t>
                </a:r>
                <a:r>
                  <a:rPr sz="2300">
                    <a:solidFill>
                      <a:srgbClr val="1E293B"/>
                    </a:solidFill>
                    <a:latin typeface="Calibri"/>
                  </a:rPr>
                  <a:t>. Ví dụ 2: </a:t>
                </a:r>
                <a:r>
                  <a:rPr lang="vi-VN"/>
                  <a:t>\frac{u_n}{u_{n-1}}=\frac{3^{n-2}}{3^{n-1}}=\frac{1}{3}</a:t>
                </a:r>
                <a:r>
                  <a:rPr sz="2300">
                    <a:solidFill>
                      <a:srgbClr val="1E293B"/>
                    </a:solidFill>
                    <a:latin typeface="Calibri"/>
                  </a:rPr>
                  <a:t>: cấp số nhân </a:t>
                </a:r>
                <a:r>
                  <a:rPr lang="vi-VN"/>
                  <a:t>u_1=1</a:t>
                </a:r>
                <a:r>
                  <a:rPr sz="2300">
                    <a:solidFill>
                      <a:srgbClr val="1E293B"/>
                    </a:solidFill>
                    <a:latin typeface="Calibri"/>
                  </a:rPr>
                  <a:t>, </a:t>
                </a:r>
                <a:r>
                  <a:rPr lang="vi-VN"/>
                  <a:t>q=\frac{1}{3}</a:t>
                </a:r>
                <a:r>
                  <a:rPr sz="23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4392168"/>
                <a:ext cx="11064240" cy="524255"/>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Luyện tập 1.</a:t>
                </a:r>
                <a:r>
                  <a:rPr sz="2300">
                    <a:solidFill>
                      <a:srgbClr val="1E293B"/>
                    </a:solidFill>
                    <a:latin typeface="Calibri"/>
                  </a:rPr>
                  <a:t>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n</m:t>
                        </m:r>
                      </m:sub>
                    </m:sSub>
                    <m:r>
                      <a:rPr lang="vi-VN" sz="2300" b="0">
                        <a:solidFill>
                          <a:srgbClr val="1E293B"/>
                        </a:solidFill>
                        <a:latin typeface="Cambria Math" panose="02040503050406030204" pitchFamily="18" charset="0"/>
                      </a:rPr>
                      <m:t>=2·</m:t>
                    </m:r>
                    <m:sSup>
                      <m:e>
                        <m:r>
                          <a:rPr lang="vi-VN" sz="2300" b="0">
                            <a:solidFill>
                              <a:srgbClr val="1E293B"/>
                            </a:solidFill>
                            <a:latin typeface="Cambria Math" panose="02040503050406030204" pitchFamily="18" charset="0"/>
                          </a:rPr>
                          <m:t>5</m:t>
                        </m:r>
                      </m:e>
                      <m:sup>
                        <m:r>
                          <a:rPr lang="vi-VN" sz="2300" b="0">
                            <a:solidFill>
                              <a:srgbClr val="1E293B"/>
                            </a:solidFill>
                            <a:latin typeface="Cambria Math" panose="02040503050406030204" pitchFamily="18" charset="0"/>
                          </a:rPr>
                          <m:t>n</m:t>
                        </m:r>
                      </m:sup>
                    </m:sSup>
                  </m:oMath>
                </a14:m>
                <a:r>
                  <a:rPr sz="2300">
                    <a:solidFill>
                      <a:srgbClr val="1E293B"/>
                    </a:solidFill>
                    <a:latin typeface="Calibri"/>
                  </a:rPr>
                  <a:t>: chứng minh là cấp số nhân; xác định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1</m:t>
                        </m:r>
                      </m:sub>
                    </m:sSub>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q</m:t>
                    </m:r>
                  </m:oMath>
                </a14:m>
                <a:r>
                  <a:rPr sz="2300">
                    <a:solidFill>
                      <a:srgbClr val="1E293B"/>
                    </a:solidFill>
                    <a:latin typeface="Calibri"/>
                  </a:rPr>
                  <a:t>.</a:t>
                </a:r>
              </a:p>
            </p:txBody>
          </p:sp>
        </mc:Choice>
        <mc:Fallback>
          <p:sp>
            <p:nvSpPr>
              <p:cNvPr id="10" name="TextBox 9"/>
              <p:cNvSpPr txBox="1"/>
              <p:nvPr/>
            </p:nvSpPr>
            <p:spPr>
              <a:xfrm>
                <a:off x="548640" y="4392168"/>
                <a:ext cx="11064240" cy="524255"/>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Luyện tập 1.</a:t>
                </a:r>
                <a:r>
                  <a:rPr sz="2300">
                    <a:solidFill>
                      <a:srgbClr val="1E293B"/>
                    </a:solidFill>
                    <a:latin typeface="Calibri"/>
                  </a:rPr>
                  <a:t> </a:t>
                </a:r>
                <a:r>
                  <a:rPr lang="vi-VN"/>
                  <a:t>u_n=2\cdot 5^n</a:t>
                </a:r>
                <a:r>
                  <a:rPr sz="2300">
                    <a:solidFill>
                      <a:srgbClr val="1E293B"/>
                    </a:solidFill>
                    <a:latin typeface="Calibri"/>
                  </a:rPr>
                  <a:t>: chứng minh là cấp số nhân; xác định </a:t>
                </a:r>
                <a:r>
                  <a:rPr lang="vi-VN"/>
                  <a:t>u_1</a:t>
                </a:r>
                <a:r>
                  <a:rPr sz="2300">
                    <a:solidFill>
                      <a:srgbClr val="1E293B"/>
                    </a:solidFill>
                    <a:latin typeface="Calibri"/>
                  </a:rPr>
                  <a:t>, </a:t>
                </a:r>
                <a:r>
                  <a:rPr lang="vi-VN"/>
                  <a:t>q</a:t>
                </a:r>
                <a:r>
                  <a:rPr sz="2300">
                    <a:solidFill>
                      <a:srgbClr val="1E293B"/>
                    </a:solidFill>
                    <a:latin typeface="Calibri"/>
                  </a:rPr>
                  <a:t>.</a:t>
                </a:r>
              </a:p>
            </p:txBody>
          </p:sp>
        </mc:Fallback>
      </mc:AlternateContent>
      <p:sp>
        <p:nvSpPr>
          <p:cNvPr id="11" name="s3_nen"/>
          <p:cNvSpPr/>
          <p:nvPr/>
        </p:nvSpPr>
        <p:spPr>
          <a:xfrm>
            <a:off x="548640" y="5099304"/>
            <a:ext cx="11064240" cy="931163"/>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5135880"/>
                <a:ext cx="10735056" cy="858011"/>
              </a:xfrm>
              <a:prstGeom prst="rect">
                <a:avLst/>
              </a:prstGeom>
              <a:noFill/>
            </p:spPr>
            <p:txBody>
              <a:bodyPr wrap="square" anchor="ctr" lIns="45720" rIns="45720">
                <a:spAutoFit/>
              </a:bodyPr>
              <a:lstStyle/>
              <a:p>
                <a:pPr algn="l">
                  <a:spcAft>
                    <a:spcPts val="800"/>
                  </a:spcAft>
                </a:pPr>
                <a:r>
                  <a:rPr sz="2300">
                    <a:solidFill>
                      <a:srgbClr val="1E293B"/>
                    </a:solidFill>
                    <a:latin typeface="Calibri"/>
                  </a:rPr>
                  <a:t> </a:t>
                </a:r>
                <a14:m>
                  <m:oMath xmlns:m="http://schemas.openxmlformats.org/officeDocument/2006/math">
                    <m:f>
                      <m:fPr>
                        <m:type m:val="bar"/>
                      </m:fPr>
                      <m:num>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n</m:t>
                            </m:r>
                          </m:sub>
                        </m:sSub>
                      </m:num>
                      <m:den>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n−1</m:t>
                            </m:r>
                          </m:sub>
                        </m:sSub>
                      </m:den>
                    </m:f>
                    <m:r>
                      <a:rPr lang="vi-VN" sz="2300" b="0">
                        <a:solidFill>
                          <a:srgbClr val="1E293B"/>
                        </a:solidFill>
                        <a:latin typeface="Cambria Math" panose="02040503050406030204" pitchFamily="18" charset="0"/>
                      </a:rPr>
                      <m:t>=</m:t>
                    </m:r>
                    <m:f>
                      <m:fPr>
                        <m:type m:val="bar"/>
                      </m:fPr>
                      <m:num>
                        <m:r>
                          <a:rPr lang="vi-VN" sz="2300" b="0">
                            <a:solidFill>
                              <a:srgbClr val="1E293B"/>
                            </a:solidFill>
                            <a:latin typeface="Cambria Math" panose="02040503050406030204" pitchFamily="18" charset="0"/>
                          </a:rPr>
                          <m:t>2·</m:t>
                        </m:r>
                        <m:sSup>
                          <m:e>
                            <m:r>
                              <a:rPr lang="vi-VN" sz="2300" b="0">
                                <a:solidFill>
                                  <a:srgbClr val="1E293B"/>
                                </a:solidFill>
                                <a:latin typeface="Cambria Math" panose="02040503050406030204" pitchFamily="18" charset="0"/>
                              </a:rPr>
                              <m:t>5</m:t>
                            </m:r>
                          </m:e>
                          <m:sup>
                            <m:r>
                              <a:rPr lang="vi-VN" sz="2300" b="0">
                                <a:solidFill>
                                  <a:srgbClr val="1E293B"/>
                                </a:solidFill>
                                <a:latin typeface="Cambria Math" panose="02040503050406030204" pitchFamily="18" charset="0"/>
                              </a:rPr>
                              <m:t>n</m:t>
                            </m:r>
                          </m:sup>
                        </m:sSup>
                      </m:num>
                      <m:den>
                        <m:r>
                          <a:rPr lang="vi-VN" sz="2300" b="0">
                            <a:solidFill>
                              <a:srgbClr val="1E293B"/>
                            </a:solidFill>
                            <a:latin typeface="Cambria Math" panose="02040503050406030204" pitchFamily="18" charset="0"/>
                          </a:rPr>
                          <m:t>2·</m:t>
                        </m:r>
                        <m:sSup>
                          <m:e>
                            <m:r>
                              <a:rPr lang="vi-VN" sz="2300" b="0">
                                <a:solidFill>
                                  <a:srgbClr val="1E293B"/>
                                </a:solidFill>
                                <a:latin typeface="Cambria Math" panose="02040503050406030204" pitchFamily="18" charset="0"/>
                              </a:rPr>
                              <m:t>5</m:t>
                            </m:r>
                          </m:e>
                          <m:sup>
                            <m:r>
                              <a:rPr lang="vi-VN" sz="2300" b="0">
                                <a:solidFill>
                                  <a:srgbClr val="1E293B"/>
                                </a:solidFill>
                                <a:latin typeface="Cambria Math" panose="02040503050406030204" pitchFamily="18" charset="0"/>
                              </a:rPr>
                              <m:t>n−1</m:t>
                            </m:r>
                          </m:sup>
                        </m:sSup>
                      </m:den>
                    </m:f>
                    <m:r>
                      <a:rPr lang="vi-VN" sz="2300" b="0">
                        <a:solidFill>
                          <a:srgbClr val="1E293B"/>
                        </a:solidFill>
                        <a:latin typeface="Cambria Math" panose="02040503050406030204" pitchFamily="18" charset="0"/>
                      </a:rPr>
                      <m:t>=5</m:t>
                    </m:r>
                  </m:oMath>
                </a14:m>
                <a:r>
                  <a:rPr sz="2300">
                    <a:solidFill>
                      <a:srgbClr val="1E293B"/>
                    </a:solidFill>
                    <a:latin typeface="Calibri"/>
                  </a:rPr>
                  <a:t> với mọi </a:t>
                </a:r>
                <a14:m>
                  <m:oMath xmlns:m="http://schemas.openxmlformats.org/officeDocument/2006/math">
                    <m:r>
                      <a:rPr lang="vi-VN" sz="2300" b="0">
                        <a:solidFill>
                          <a:srgbClr val="1E293B"/>
                        </a:solidFill>
                        <a:latin typeface="Cambria Math" panose="02040503050406030204" pitchFamily="18" charset="0"/>
                      </a:rPr>
                      <m:t>n≥2</m:t>
                    </m:r>
                  </m:oMath>
                </a14:m>
                <a:r>
                  <a:rPr sz="2300">
                    <a:solidFill>
                      <a:srgbClr val="1E293B"/>
                    </a:solidFill>
                    <a:latin typeface="Calibri"/>
                  </a:rPr>
                  <a:t>: cấp số nhân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1</m:t>
                        </m:r>
                      </m:sub>
                    </m:sSub>
                    <m:r>
                      <a:rPr lang="vi-VN" sz="2300" b="0">
                        <a:solidFill>
                          <a:srgbClr val="1E293B"/>
                        </a:solidFill>
                        <a:latin typeface="Cambria Math" panose="02040503050406030204" pitchFamily="18" charset="0"/>
                      </a:rPr>
                      <m:t>=10</m:t>
                    </m:r>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q=5</m:t>
                    </m:r>
                  </m:oMath>
                </a14:m>
                <a:r>
                  <a:rPr sz="2300">
                    <a:solidFill>
                      <a:srgbClr val="1E293B"/>
                    </a:solidFill>
                    <a:latin typeface="Calibri"/>
                  </a:rPr>
                  <a:t>.</a:t>
                </a:r>
              </a:p>
            </p:txBody>
          </p:sp>
        </mc:Choice>
        <mc:Fallback>
          <p:sp>
            <p:nvSpPr>
              <p:cNvPr id="12" name="TextBox 11"/>
              <p:cNvSpPr txBox="1"/>
              <p:nvPr/>
            </p:nvSpPr>
            <p:spPr>
              <a:xfrm>
                <a:off x="713232" y="5135880"/>
                <a:ext cx="10735056" cy="858011"/>
              </a:xfrm>
              <a:prstGeom prst="rect">
                <a:avLst/>
              </a:prstGeom>
              <a:noFill/>
            </p:spPr>
            <p:txBody>
              <a:bodyPr wrap="square" anchor="ctr" lIns="45720" rIns="45720">
                <a:spAutoFit/>
              </a:bodyPr>
              <a:lstStyle/>
              <a:p>
                <a:pPr algn="l">
                  <a:spcAft>
                    <a:spcPts val="800"/>
                  </a:spcAft>
                </a:pPr>
                <a:r>
                  <a:rPr sz="2300">
                    <a:solidFill>
                      <a:srgbClr val="1E293B"/>
                    </a:solidFill>
                    <a:latin typeface="Calibri"/>
                  </a:rPr>
                  <a:t> </a:t>
                </a:r>
                <a:r>
                  <a:rPr lang="vi-VN"/>
                  <a:t>\frac{u_n}{u_{n-1}}=\frac{2\cdot 5^n}{2\cdot 5^{n-1}}=5</a:t>
                </a:r>
                <a:r>
                  <a:rPr sz="2300">
                    <a:solidFill>
                      <a:srgbClr val="1E293B"/>
                    </a:solidFill>
                    <a:latin typeface="Calibri"/>
                  </a:rPr>
                  <a:t> với mọi </a:t>
                </a:r>
                <a:r>
                  <a:rPr lang="vi-VN"/>
                  <a:t>n\ge 2</a:t>
                </a:r>
                <a:r>
                  <a:rPr sz="2300">
                    <a:solidFill>
                      <a:srgbClr val="1E293B"/>
                    </a:solidFill>
                    <a:latin typeface="Calibri"/>
                  </a:rPr>
                  <a:t>: cấp số nhân </a:t>
                </a:r>
                <a:r>
                  <a:rPr lang="vi-VN"/>
                  <a:t>u_1=10</a:t>
                </a:r>
                <a:r>
                  <a:rPr sz="2300">
                    <a:solidFill>
                      <a:srgbClr val="1E293B"/>
                    </a:solidFill>
                    <a:latin typeface="Calibri"/>
                  </a:rPr>
                  <a:t>, </a:t>
                </a:r>
                <a:r>
                  <a:rPr lang="vi-VN"/>
                  <a:t>q=5</a:t>
                </a:r>
                <a:r>
                  <a:rPr sz="23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2. SỐ HẠNG TỔNG QUÁT – HĐ2 (SGK TR.53)</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Cấp số nhân – Toán 11          8</a:t>
            </a:r>
          </a:p>
        </p:txBody>
      </p:sp>
      <mc:AlternateContent xmlns:mc="http://schemas.openxmlformats.org/markup-compatibility/2006">
        <mc:Choice xmlns:a14="http://schemas.microsoft.com/office/drawing/2010/main" Requires="a14">
          <p:sp>
            <p:nvSpPr>
              <p:cNvPr id="7" name="TextBox 6"/>
              <p:cNvSpPr txBox="1"/>
              <p:nvPr/>
            </p:nvSpPr>
            <p:spPr>
              <a:xfrm>
                <a:off x="548640" y="1645920"/>
                <a:ext cx="11064240" cy="874775"/>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HĐ2.</a:t>
                </a:r>
                <a:r>
                  <a:rPr sz="2300">
                    <a:solidFill>
                      <a:srgbClr val="1E293B"/>
                    </a:solidFill>
                    <a:latin typeface="Calibri"/>
                  </a:rPr>
                  <a:t> Cấp số nhân </a:t>
                </a:r>
                <a14:m>
                  <m:oMath xmlns:m="http://schemas.openxmlformats.org/officeDocument/2006/math">
                    <m:d>
                      <m:dPr>
                        <m:sepChr m:val=""/>
                      </m:dPr>
                      <m:e>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n</m:t>
                            </m:r>
                          </m:sub>
                        </m:sSub>
                      </m:e>
                    </m:d>
                  </m:oMath>
                </a14:m>
                <a:r>
                  <a:rPr sz="2300">
                    <a:solidFill>
                      <a:srgbClr val="1E293B"/>
                    </a:solidFill>
                    <a:latin typeface="Calibri"/>
                  </a:rPr>
                  <a:t> có số hạng đầu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1</m:t>
                        </m:r>
                      </m:sub>
                    </m:sSub>
                  </m:oMath>
                </a14:m>
                <a:r>
                  <a:rPr sz="2300">
                    <a:solidFill>
                      <a:srgbClr val="1E293B"/>
                    </a:solidFill>
                    <a:latin typeface="Calibri"/>
                  </a:rPr>
                  <a:t>, công bội </a:t>
                </a:r>
                <a14:m>
                  <m:oMath xmlns:m="http://schemas.openxmlformats.org/officeDocument/2006/math">
                    <m:r>
                      <a:rPr lang="vi-VN" sz="2300" b="0">
                        <a:solidFill>
                          <a:srgbClr val="1E293B"/>
                        </a:solidFill>
                        <a:latin typeface="Cambria Math" panose="02040503050406030204" pitchFamily="18" charset="0"/>
                      </a:rPr>
                      <m:t>q</m:t>
                    </m:r>
                  </m:oMath>
                </a14:m>
                <a:r>
                  <a:rPr sz="2300">
                    <a:solidFill>
                      <a:srgbClr val="1E293B"/>
                    </a:solidFill>
                    <a:latin typeface="Calibri"/>
                  </a:rPr>
                  <a:t>. a) Tính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2</m:t>
                        </m:r>
                      </m:sub>
                    </m:sSub>
                    <m:r>
                      <a:rPr lang="vi-VN" sz="2300" b="0">
                        <a:solidFill>
                          <a:srgbClr val="1E293B"/>
                        </a:solidFill>
                        <a:latin typeface="Cambria Math" panose="02040503050406030204" pitchFamily="18" charset="0"/>
                      </a:rPr>
                      <m:t>,</m:t>
                    </m:r>
                    <m:r>
                      <m:rPr>
                        <m:sty m:val="p"/>
                      </m:rPr>
                      <a:rPr lang="vi-VN" sz="2300" b="0">
                        <a:solidFill>
                          <a:srgbClr val="1E293B"/>
                        </a:solidFill>
                        <a:latin typeface="Cambria Math" panose="02040503050406030204" pitchFamily="18" charset="0"/>
                      </a:rPr>
                      <m:t> </m:t>
                    </m:r>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3</m:t>
                        </m:r>
                      </m:sub>
                    </m:sSub>
                    <m:r>
                      <a:rPr lang="vi-VN" sz="2300" b="0">
                        <a:solidFill>
                          <a:srgbClr val="1E293B"/>
                        </a:solidFill>
                        <a:latin typeface="Cambria Math" panose="02040503050406030204" pitchFamily="18" charset="0"/>
                      </a:rPr>
                      <m:t>,</m:t>
                    </m:r>
                    <m:r>
                      <m:rPr>
                        <m:sty m:val="p"/>
                      </m:rPr>
                      <a:rPr lang="vi-VN" sz="2300" b="0">
                        <a:solidFill>
                          <a:srgbClr val="1E293B"/>
                        </a:solidFill>
                        <a:latin typeface="Cambria Math" panose="02040503050406030204" pitchFamily="18" charset="0"/>
                      </a:rPr>
                      <m:t> </m:t>
                    </m:r>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4</m:t>
                        </m:r>
                      </m:sub>
                    </m:sSub>
                    <m:r>
                      <a:rPr lang="vi-VN" sz="2300" b="0">
                        <a:solidFill>
                          <a:srgbClr val="1E293B"/>
                        </a:solidFill>
                        <a:latin typeface="Cambria Math" panose="02040503050406030204" pitchFamily="18" charset="0"/>
                      </a:rPr>
                      <m:t>,</m:t>
                    </m:r>
                    <m:r>
                      <m:rPr>
                        <m:sty m:val="p"/>
                      </m:rPr>
                      <a:rPr lang="vi-VN" sz="2300" b="0">
                        <a:solidFill>
                          <a:srgbClr val="1E293B"/>
                        </a:solidFill>
                        <a:latin typeface="Cambria Math" panose="02040503050406030204" pitchFamily="18" charset="0"/>
                      </a:rPr>
                      <m:t> </m:t>
                    </m:r>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5</m:t>
                        </m:r>
                      </m:sub>
                    </m:sSub>
                  </m:oMath>
                </a14:m>
                <a:r>
                  <a:rPr sz="2300">
                    <a:solidFill>
                      <a:srgbClr val="1E293B"/>
                    </a:solidFill>
                    <a:latin typeface="Calibri"/>
                  </a:rPr>
                  <a:t> theo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1</m:t>
                        </m:r>
                      </m:sub>
                    </m:sSub>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q</m:t>
                    </m:r>
                  </m:oMath>
                </a14:m>
                <a:r>
                  <a:rPr sz="2300">
                    <a:solidFill>
                      <a:srgbClr val="1E293B"/>
                    </a:solidFill>
                    <a:latin typeface="Calibri"/>
                  </a:rPr>
                  <a:t>. b) Dự đoán công thức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n</m:t>
                        </m:r>
                      </m:sub>
                    </m:sSub>
                  </m:oMath>
                </a14:m>
                <a:r>
                  <a:rPr sz="2300">
                    <a:solidFill>
                      <a:srgbClr val="1E293B"/>
                    </a:solidFill>
                    <a:latin typeface="Calibri"/>
                  </a:rPr>
                  <a:t>.</a:t>
                </a:r>
              </a:p>
            </p:txBody>
          </p:sp>
        </mc:Choice>
        <mc:Fallback>
          <p:sp>
            <p:nvSpPr>
              <p:cNvPr id="7" name="TextBox 6"/>
              <p:cNvSpPr txBox="1"/>
              <p:nvPr/>
            </p:nvSpPr>
            <p:spPr>
              <a:xfrm>
                <a:off x="548640" y="1645920"/>
                <a:ext cx="11064240" cy="874775"/>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HĐ2.</a:t>
                </a:r>
                <a:r>
                  <a:rPr sz="2300">
                    <a:solidFill>
                      <a:srgbClr val="1E293B"/>
                    </a:solidFill>
                    <a:latin typeface="Calibri"/>
                  </a:rPr>
                  <a:t> Cấp số nhân </a:t>
                </a:r>
                <a:r>
                  <a:rPr lang="vi-VN"/>
                  <a:t>(u_n)</a:t>
                </a:r>
                <a:r>
                  <a:rPr sz="2300">
                    <a:solidFill>
                      <a:srgbClr val="1E293B"/>
                    </a:solidFill>
                    <a:latin typeface="Calibri"/>
                  </a:rPr>
                  <a:t> có số hạng đầu </a:t>
                </a:r>
                <a:r>
                  <a:rPr lang="vi-VN"/>
                  <a:t>u_1</a:t>
                </a:r>
                <a:r>
                  <a:rPr sz="2300">
                    <a:solidFill>
                      <a:srgbClr val="1E293B"/>
                    </a:solidFill>
                    <a:latin typeface="Calibri"/>
                  </a:rPr>
                  <a:t>, công bội </a:t>
                </a:r>
                <a:r>
                  <a:rPr lang="vi-VN"/>
                  <a:t>q</a:t>
                </a:r>
                <a:r>
                  <a:rPr sz="2300">
                    <a:solidFill>
                      <a:srgbClr val="1E293B"/>
                    </a:solidFill>
                    <a:latin typeface="Calibri"/>
                  </a:rPr>
                  <a:t>. a) Tính </a:t>
                </a:r>
                <a:r>
                  <a:rPr lang="vi-VN"/>
                  <a:t>u_2,\ u_3,\ u_4,\ u_5</a:t>
                </a:r>
                <a:r>
                  <a:rPr sz="2300">
                    <a:solidFill>
                      <a:srgbClr val="1E293B"/>
                    </a:solidFill>
                    <a:latin typeface="Calibri"/>
                  </a:rPr>
                  <a:t> theo </a:t>
                </a:r>
                <a:r>
                  <a:rPr lang="vi-VN"/>
                  <a:t>u_1</a:t>
                </a:r>
                <a:r>
                  <a:rPr sz="2300">
                    <a:solidFill>
                      <a:srgbClr val="1E293B"/>
                    </a:solidFill>
                    <a:latin typeface="Calibri"/>
                  </a:rPr>
                  <a:t>, </a:t>
                </a:r>
                <a:r>
                  <a:rPr lang="vi-VN"/>
                  <a:t>q</a:t>
                </a:r>
                <a:r>
                  <a:rPr sz="2300">
                    <a:solidFill>
                      <a:srgbClr val="1E293B"/>
                    </a:solidFill>
                    <a:latin typeface="Calibri"/>
                  </a:rPr>
                  <a:t>. b) Dự đoán công thức </a:t>
                </a:r>
                <a:r>
                  <a:rPr lang="vi-VN"/>
                  <a:t>u_n</a:t>
                </a:r>
                <a:r>
                  <a:rPr sz="2300">
                    <a:solidFill>
                      <a:srgbClr val="1E293B"/>
                    </a:solidFill>
                    <a:latin typeface="Calibri"/>
                  </a:rPr>
                  <a:t>.</a:t>
                </a:r>
              </a:p>
            </p:txBody>
          </p:sp>
        </mc:Fallback>
      </mc:AlternateContent>
      <p:sp>
        <p:nvSpPr>
          <p:cNvPr id="8" name="s1_nen"/>
          <p:cNvSpPr/>
          <p:nvPr/>
        </p:nvSpPr>
        <p:spPr>
          <a:xfrm>
            <a:off x="548640" y="2749296"/>
            <a:ext cx="11064240" cy="61569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785872"/>
                <a:ext cx="10735056" cy="542543"/>
              </a:xfrm>
              <a:prstGeom prst="rect">
                <a:avLst/>
              </a:prstGeom>
              <a:noFill/>
            </p:spPr>
            <p:txBody>
              <a:bodyPr wrap="square" anchor="ctr" lIns="45720" rIns="45720">
                <a:spAutoFit/>
              </a:bodyPr>
              <a:lstStyle/>
              <a:p>
                <a:pPr algn="l">
                  <a:spcAft>
                    <a:spcPts val="800"/>
                  </a:spcAft>
                </a:pPr>
                <a:r>
                  <a:rPr sz="2300">
                    <a:solidFill>
                      <a:srgbClr val="1E293B"/>
                    </a:solidFill>
                    <a:latin typeface="Calibri"/>
                  </a:rPr>
                  <a:t>a)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2</m:t>
                        </m:r>
                      </m:sub>
                    </m:sSub>
                    <m:r>
                      <a:rPr lang="vi-VN" sz="2300" b="0">
                        <a:solidFill>
                          <a:srgbClr val="1E293B"/>
                        </a:solidFill>
                        <a:latin typeface="Cambria Math" panose="02040503050406030204" pitchFamily="18" charset="0"/>
                      </a:rPr>
                      <m:t>=</m:t>
                    </m:r>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1</m:t>
                        </m:r>
                      </m:sub>
                    </m:sSub>
                    <m:r>
                      <a:rPr lang="vi-VN" sz="2300" b="0">
                        <a:solidFill>
                          <a:srgbClr val="1E293B"/>
                        </a:solidFill>
                        <a:latin typeface="Cambria Math" panose="02040503050406030204" pitchFamily="18" charset="0"/>
                      </a:rPr>
                      <m:t>q</m:t>
                    </m:r>
                  </m:oMath>
                </a14:m>
                <a:r>
                  <a:rPr sz="2300">
                    <a:solidFill>
                      <a:srgbClr val="1E293B"/>
                    </a:solidFill>
                    <a:latin typeface="Calibri"/>
                  </a:rPr>
                  <a:t>,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3</m:t>
                        </m:r>
                      </m:sub>
                    </m:sSub>
                    <m:r>
                      <a:rPr lang="vi-VN" sz="2300" b="0">
                        <a:solidFill>
                          <a:srgbClr val="1E293B"/>
                        </a:solidFill>
                        <a:latin typeface="Cambria Math" panose="02040503050406030204" pitchFamily="18" charset="0"/>
                      </a:rPr>
                      <m:t>=</m:t>
                    </m:r>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1</m:t>
                        </m:r>
                      </m:sub>
                    </m:sSub>
                    <m:sSup>
                      <m:e>
                        <m:r>
                          <a:rPr lang="vi-VN" sz="2300" b="0">
                            <a:solidFill>
                              <a:srgbClr val="1E293B"/>
                            </a:solidFill>
                            <a:latin typeface="Cambria Math" panose="02040503050406030204" pitchFamily="18" charset="0"/>
                          </a:rPr>
                          <m:t>q</m:t>
                        </m:r>
                      </m:e>
                      <m:sup>
                        <m:r>
                          <a:rPr lang="vi-VN" sz="2300" b="0">
                            <a:solidFill>
                              <a:srgbClr val="1E293B"/>
                            </a:solidFill>
                            <a:latin typeface="Cambria Math" panose="02040503050406030204" pitchFamily="18" charset="0"/>
                          </a:rPr>
                          <m:t>2</m:t>
                        </m:r>
                      </m:sup>
                    </m:sSup>
                  </m:oMath>
                </a14:m>
                <a:r>
                  <a:rPr sz="2300">
                    <a:solidFill>
                      <a:srgbClr val="1E293B"/>
                    </a:solidFill>
                    <a:latin typeface="Calibri"/>
                  </a:rPr>
                  <a:t>,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4</m:t>
                        </m:r>
                      </m:sub>
                    </m:sSub>
                    <m:r>
                      <a:rPr lang="vi-VN" sz="2300" b="0">
                        <a:solidFill>
                          <a:srgbClr val="1E293B"/>
                        </a:solidFill>
                        <a:latin typeface="Cambria Math" panose="02040503050406030204" pitchFamily="18" charset="0"/>
                      </a:rPr>
                      <m:t>=</m:t>
                    </m:r>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1</m:t>
                        </m:r>
                      </m:sub>
                    </m:sSub>
                    <m:sSup>
                      <m:e>
                        <m:r>
                          <a:rPr lang="vi-VN" sz="2300" b="0">
                            <a:solidFill>
                              <a:srgbClr val="1E293B"/>
                            </a:solidFill>
                            <a:latin typeface="Cambria Math" panose="02040503050406030204" pitchFamily="18" charset="0"/>
                          </a:rPr>
                          <m:t>q</m:t>
                        </m:r>
                      </m:e>
                      <m:sup>
                        <m:r>
                          <a:rPr lang="vi-VN" sz="2300" b="0">
                            <a:solidFill>
                              <a:srgbClr val="1E293B"/>
                            </a:solidFill>
                            <a:latin typeface="Cambria Math" panose="02040503050406030204" pitchFamily="18" charset="0"/>
                          </a:rPr>
                          <m:t>3</m:t>
                        </m:r>
                      </m:sup>
                    </m:sSup>
                  </m:oMath>
                </a14:m>
                <a:r>
                  <a:rPr sz="2300">
                    <a:solidFill>
                      <a:srgbClr val="1E293B"/>
                    </a:solidFill>
                    <a:latin typeface="Calibri"/>
                  </a:rPr>
                  <a:t>,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5</m:t>
                        </m:r>
                      </m:sub>
                    </m:sSub>
                    <m:r>
                      <a:rPr lang="vi-VN" sz="2300" b="0">
                        <a:solidFill>
                          <a:srgbClr val="1E293B"/>
                        </a:solidFill>
                        <a:latin typeface="Cambria Math" panose="02040503050406030204" pitchFamily="18" charset="0"/>
                      </a:rPr>
                      <m:t>=</m:t>
                    </m:r>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1</m:t>
                        </m:r>
                      </m:sub>
                    </m:sSub>
                    <m:sSup>
                      <m:e>
                        <m:r>
                          <a:rPr lang="vi-VN" sz="2300" b="0">
                            <a:solidFill>
                              <a:srgbClr val="1E293B"/>
                            </a:solidFill>
                            <a:latin typeface="Cambria Math" panose="02040503050406030204" pitchFamily="18" charset="0"/>
                          </a:rPr>
                          <m:t>q</m:t>
                        </m:r>
                      </m:e>
                      <m:sup>
                        <m:r>
                          <a:rPr lang="vi-VN" sz="2300" b="0">
                            <a:solidFill>
                              <a:srgbClr val="1E293B"/>
                            </a:solidFill>
                            <a:latin typeface="Cambria Math" panose="02040503050406030204" pitchFamily="18" charset="0"/>
                          </a:rPr>
                          <m:t>4</m:t>
                        </m:r>
                      </m:sup>
                    </m:sSup>
                  </m:oMath>
                </a14:m>
                <a:r>
                  <a:rPr sz="2300">
                    <a:solidFill>
                      <a:srgbClr val="1E293B"/>
                    </a:solidFill>
                    <a:latin typeface="Calibri"/>
                  </a:rPr>
                  <a:t>. b)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n</m:t>
                        </m:r>
                      </m:sub>
                    </m:sSub>
                    <m:r>
                      <a:rPr lang="vi-VN" sz="2300" b="0">
                        <a:solidFill>
                          <a:srgbClr val="1E293B"/>
                        </a:solidFill>
                        <a:latin typeface="Cambria Math" panose="02040503050406030204" pitchFamily="18" charset="0"/>
                      </a:rPr>
                      <m:t>=</m:t>
                    </m:r>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1</m:t>
                        </m:r>
                      </m:sub>
                    </m:sSub>
                    <m:sSup>
                      <m:e>
                        <m:r>
                          <a:rPr lang="vi-VN" sz="2300" b="0">
                            <a:solidFill>
                              <a:srgbClr val="1E293B"/>
                            </a:solidFill>
                            <a:latin typeface="Cambria Math" panose="02040503050406030204" pitchFamily="18" charset="0"/>
                          </a:rPr>
                          <m:t>q</m:t>
                        </m:r>
                      </m:e>
                      <m:sup>
                        <m:r>
                          <a:rPr lang="vi-VN" sz="2300" b="0">
                            <a:solidFill>
                              <a:srgbClr val="1E293B"/>
                            </a:solidFill>
                            <a:latin typeface="Cambria Math" panose="02040503050406030204" pitchFamily="18" charset="0"/>
                          </a:rPr>
                          <m:t>n−1</m:t>
                        </m:r>
                      </m:sup>
                    </m:sSup>
                  </m:oMath>
                </a14:m>
                <a:r>
                  <a:rPr sz="2300">
                    <a:solidFill>
                      <a:srgbClr val="1E293B"/>
                    </a:solidFill>
                    <a:latin typeface="Calibri"/>
                  </a:rPr>
                  <a:t>.</a:t>
                </a:r>
              </a:p>
            </p:txBody>
          </p:sp>
        </mc:Choice>
        <mc:Fallback>
          <p:sp>
            <p:nvSpPr>
              <p:cNvPr id="9" name="TextBox 8"/>
              <p:cNvSpPr txBox="1"/>
              <p:nvPr/>
            </p:nvSpPr>
            <p:spPr>
              <a:xfrm>
                <a:off x="713232" y="2785872"/>
                <a:ext cx="10735056" cy="542543"/>
              </a:xfrm>
              <a:prstGeom prst="rect">
                <a:avLst/>
              </a:prstGeom>
              <a:noFill/>
            </p:spPr>
            <p:txBody>
              <a:bodyPr wrap="square" anchor="ctr" lIns="45720" rIns="45720">
                <a:spAutoFit/>
              </a:bodyPr>
              <a:lstStyle/>
              <a:p>
                <a:pPr algn="l">
                  <a:spcAft>
                    <a:spcPts val="800"/>
                  </a:spcAft>
                </a:pPr>
                <a:r>
                  <a:rPr sz="2300">
                    <a:solidFill>
                      <a:srgbClr val="1E293B"/>
                    </a:solidFill>
                    <a:latin typeface="Calibri"/>
                  </a:rPr>
                  <a:t>a) </a:t>
                </a:r>
                <a:r>
                  <a:rPr lang="vi-VN"/>
                  <a:t>u_2=u_1q</a:t>
                </a:r>
                <a:r>
                  <a:rPr sz="2300">
                    <a:solidFill>
                      <a:srgbClr val="1E293B"/>
                    </a:solidFill>
                    <a:latin typeface="Calibri"/>
                  </a:rPr>
                  <a:t>, </a:t>
                </a:r>
                <a:r>
                  <a:rPr lang="vi-VN"/>
                  <a:t>u_3=u_1q^2</a:t>
                </a:r>
                <a:r>
                  <a:rPr sz="2300">
                    <a:solidFill>
                      <a:srgbClr val="1E293B"/>
                    </a:solidFill>
                    <a:latin typeface="Calibri"/>
                  </a:rPr>
                  <a:t>, </a:t>
                </a:r>
                <a:r>
                  <a:rPr lang="vi-VN"/>
                  <a:t>u_4=u_1q^3</a:t>
                </a:r>
                <a:r>
                  <a:rPr sz="2300">
                    <a:solidFill>
                      <a:srgbClr val="1E293B"/>
                    </a:solidFill>
                    <a:latin typeface="Calibri"/>
                  </a:rPr>
                  <a:t>, </a:t>
                </a:r>
                <a:r>
                  <a:rPr lang="vi-VN"/>
                  <a:t>u_5=u_1q^4</a:t>
                </a:r>
                <a:r>
                  <a:rPr sz="2300">
                    <a:solidFill>
                      <a:srgbClr val="1E293B"/>
                    </a:solidFill>
                    <a:latin typeface="Calibri"/>
                  </a:rPr>
                  <a:t>. b) </a:t>
                </a:r>
                <a:r>
                  <a:rPr lang="vi-VN"/>
                  <a:t>u_n=u_1q^{n-1}</a:t>
                </a:r>
                <a:r>
                  <a:rPr sz="2300">
                    <a:solidFill>
                      <a:srgbClr val="1E293B"/>
                    </a:solidFill>
                    <a:latin typeface="Calibri"/>
                  </a:rPr>
                  <a:t>.</a:t>
                </a:r>
              </a:p>
            </p:txBody>
          </p:sp>
        </mc:Fallback>
      </mc:AlternateContent>
      <p:sp>
        <p:nvSpPr>
          <p:cNvPr id="10" name="s2_nen"/>
          <p:cNvSpPr/>
          <p:nvPr/>
        </p:nvSpPr>
        <p:spPr>
          <a:xfrm>
            <a:off x="548640" y="3593592"/>
            <a:ext cx="11064240" cy="966216"/>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630168"/>
                <a:ext cx="10735056" cy="893064"/>
              </a:xfrm>
              <a:prstGeom prst="rect">
                <a:avLst/>
              </a:prstGeom>
              <a:noFill/>
            </p:spPr>
            <p:txBody>
              <a:bodyPr wrap="square" anchor="ctr" lIns="45720" rIns="45720">
                <a:spAutoFit/>
              </a:bodyPr>
              <a:lstStyle/>
              <a:p>
                <a:pPr algn="l">
                  <a:spcAft>
                    <a:spcPts val="800"/>
                  </a:spcAft>
                </a:pPr>
                <a:r>
                  <a:rPr sz="2600">
                    <a:solidFill>
                      <a:srgbClr val="1E293B"/>
                    </a:solidFill>
                    <a:latin typeface="Calibri"/>
                  </a:rPr>
                  <a:t>Nếu một cấp số nhân có số hạng đầu </a:t>
                </a:r>
                <a14:m>
                  <m:oMath xmlns:m="http://schemas.openxmlformats.org/officeDocument/2006/math">
                    <m:sSub>
                      <m:e>
                        <m:r>
                          <a:rPr lang="vi-VN" sz="2600" b="0">
                            <a:solidFill>
                              <a:srgbClr val="1E293B"/>
                            </a:solidFill>
                            <a:latin typeface="Cambria Math" panose="02040503050406030204" pitchFamily="18" charset="0"/>
                          </a:rPr>
                          <m:t>u</m:t>
                        </m:r>
                      </m:e>
                      <m:sub>
                        <m:r>
                          <a:rPr lang="vi-VN" sz="2600" b="0">
                            <a:solidFill>
                              <a:srgbClr val="1E293B"/>
                            </a:solidFill>
                            <a:latin typeface="Cambria Math" panose="02040503050406030204" pitchFamily="18" charset="0"/>
                          </a:rPr>
                          <m:t>1</m:t>
                        </m:r>
                      </m:sub>
                    </m:sSub>
                  </m:oMath>
                </a14:m>
                <a:r>
                  <a:rPr sz="2600">
                    <a:solidFill>
                      <a:srgbClr val="1E293B"/>
                    </a:solidFill>
                    <a:latin typeface="Calibri"/>
                  </a:rPr>
                  <a:t> và công bội </a:t>
                </a:r>
                <a14:m>
                  <m:oMath xmlns:m="http://schemas.openxmlformats.org/officeDocument/2006/math">
                    <m:r>
                      <a:rPr lang="vi-VN" sz="2600" b="0">
                        <a:solidFill>
                          <a:srgbClr val="1E293B"/>
                        </a:solidFill>
                        <a:latin typeface="Cambria Math" panose="02040503050406030204" pitchFamily="18" charset="0"/>
                      </a:rPr>
                      <m:t>q</m:t>
                    </m:r>
                  </m:oMath>
                </a14:m>
                <a:r>
                  <a:rPr sz="2600">
                    <a:solidFill>
                      <a:srgbClr val="1E293B"/>
                    </a:solidFill>
                    <a:latin typeface="Calibri"/>
                  </a:rPr>
                  <a:t> thì </a:t>
                </a:r>
                <a:r>
                  <a:rPr sz="2600" b="1">
                    <a:solidFill>
                      <a:srgbClr val="1E293B"/>
                    </a:solidFill>
                    <a:latin typeface="Calibri"/>
                  </a:rPr>
                  <a:t>số hạng tổng quát</a:t>
                </a:r>
                <a:r>
                  <a:rPr sz="2600">
                    <a:solidFill>
                      <a:srgbClr val="1E293B"/>
                    </a:solidFill>
                    <a:latin typeface="Calibri"/>
                  </a:rPr>
                  <a:t> </a:t>
                </a:r>
                <a14:m>
                  <m:oMath xmlns:m="http://schemas.openxmlformats.org/officeDocument/2006/math">
                    <m:sSub>
                      <m:e>
                        <m:r>
                          <a:rPr lang="vi-VN" sz="2600" b="0">
                            <a:solidFill>
                              <a:srgbClr val="1E293B"/>
                            </a:solidFill>
                            <a:latin typeface="Cambria Math" panose="02040503050406030204" pitchFamily="18" charset="0"/>
                          </a:rPr>
                          <m:t>u</m:t>
                        </m:r>
                      </m:e>
                      <m:sub>
                        <m:r>
                          <a:rPr lang="vi-VN" sz="2600" b="0">
                            <a:solidFill>
                              <a:srgbClr val="1E293B"/>
                            </a:solidFill>
                            <a:latin typeface="Cambria Math" panose="02040503050406030204" pitchFamily="18" charset="0"/>
                          </a:rPr>
                          <m:t>n</m:t>
                        </m:r>
                      </m:sub>
                    </m:sSub>
                  </m:oMath>
                </a14:m>
                <a:r>
                  <a:rPr sz="2600">
                    <a:solidFill>
                      <a:srgbClr val="1E293B"/>
                    </a:solidFill>
                    <a:latin typeface="Calibri"/>
                  </a:rPr>
                  <a:t> của nó được xác định bởi công thức </a:t>
                </a:r>
                <a14:m>
                  <m:oMath xmlns:m="http://schemas.openxmlformats.org/officeDocument/2006/math">
                    <m:sSub>
                      <m:e>
                        <m:r>
                          <a:rPr lang="vi-VN" sz="2600" b="0">
                            <a:solidFill>
                              <a:srgbClr val="1E293B"/>
                            </a:solidFill>
                            <a:latin typeface="Cambria Math" panose="02040503050406030204" pitchFamily="18" charset="0"/>
                          </a:rPr>
                          <m:t>u</m:t>
                        </m:r>
                      </m:e>
                      <m:sub>
                        <m:r>
                          <a:rPr lang="vi-VN" sz="2600" b="0">
                            <a:solidFill>
                              <a:srgbClr val="1E293B"/>
                            </a:solidFill>
                            <a:latin typeface="Cambria Math" panose="02040503050406030204" pitchFamily="18" charset="0"/>
                          </a:rPr>
                          <m:t>n</m:t>
                        </m:r>
                      </m:sub>
                    </m:sSub>
                    <m:r>
                      <a:rPr lang="vi-VN" sz="2600" b="0">
                        <a:solidFill>
                          <a:srgbClr val="1E293B"/>
                        </a:solidFill>
                        <a:latin typeface="Cambria Math" panose="02040503050406030204" pitchFamily="18" charset="0"/>
                      </a:rPr>
                      <m:t>=</m:t>
                    </m:r>
                    <m:sSub>
                      <m:e>
                        <m:r>
                          <a:rPr lang="vi-VN" sz="2600" b="0">
                            <a:solidFill>
                              <a:srgbClr val="1E293B"/>
                            </a:solidFill>
                            <a:latin typeface="Cambria Math" panose="02040503050406030204" pitchFamily="18" charset="0"/>
                          </a:rPr>
                          <m:t>u</m:t>
                        </m:r>
                      </m:e>
                      <m:sub>
                        <m:r>
                          <a:rPr lang="vi-VN" sz="2600" b="0">
                            <a:solidFill>
                              <a:srgbClr val="1E293B"/>
                            </a:solidFill>
                            <a:latin typeface="Cambria Math" panose="02040503050406030204" pitchFamily="18" charset="0"/>
                          </a:rPr>
                          <m:t>1</m:t>
                        </m:r>
                      </m:sub>
                    </m:sSub>
                    <m:r>
                      <a:rPr lang="vi-VN" sz="2600" b="0">
                        <a:solidFill>
                          <a:srgbClr val="1E293B"/>
                        </a:solidFill>
                        <a:latin typeface="Cambria Math" panose="02040503050406030204" pitchFamily="18" charset="0"/>
                      </a:rPr>
                      <m:t>·</m:t>
                    </m:r>
                    <m:sSup>
                      <m:e>
                        <m:r>
                          <a:rPr lang="vi-VN" sz="2600" b="0">
                            <a:solidFill>
                              <a:srgbClr val="1E293B"/>
                            </a:solidFill>
                            <a:latin typeface="Cambria Math" panose="02040503050406030204" pitchFamily="18" charset="0"/>
                          </a:rPr>
                          <m:t>q</m:t>
                        </m:r>
                      </m:e>
                      <m:sup>
                        <m:r>
                          <a:rPr lang="vi-VN" sz="2600" b="0">
                            <a:solidFill>
                              <a:srgbClr val="1E293B"/>
                            </a:solidFill>
                            <a:latin typeface="Cambria Math" panose="02040503050406030204" pitchFamily="18" charset="0"/>
                          </a:rPr>
                          <m:t>n−1</m:t>
                        </m:r>
                      </m:sup>
                    </m:sSup>
                  </m:oMath>
                </a14:m>
                <a:r>
                  <a:rPr sz="2600">
                    <a:solidFill>
                      <a:srgbClr val="1E293B"/>
                    </a:solidFill>
                    <a:latin typeface="Calibri"/>
                  </a:rPr>
                  <a:t> với </a:t>
                </a:r>
                <a14:m>
                  <m:oMath xmlns:m="http://schemas.openxmlformats.org/officeDocument/2006/math">
                    <m:r>
                      <a:rPr lang="vi-VN" sz="2600" b="0">
                        <a:solidFill>
                          <a:srgbClr val="1E293B"/>
                        </a:solidFill>
                        <a:latin typeface="Cambria Math" panose="02040503050406030204" pitchFamily="18" charset="0"/>
                      </a:rPr>
                      <m:t>n≥2</m:t>
                    </m:r>
                  </m:oMath>
                </a14:m>
                <a:r>
                  <a:rPr sz="2600">
                    <a:solidFill>
                      <a:srgbClr val="1E293B"/>
                    </a:solidFill>
                    <a:latin typeface="Calibri"/>
                  </a:rPr>
                  <a:t>.</a:t>
                </a:r>
              </a:p>
            </p:txBody>
          </p:sp>
        </mc:Choice>
        <mc:Fallback>
          <p:sp>
            <p:nvSpPr>
              <p:cNvPr id="11" name="TextBox 10"/>
              <p:cNvSpPr txBox="1"/>
              <p:nvPr/>
            </p:nvSpPr>
            <p:spPr>
              <a:xfrm>
                <a:off x="713232" y="3630168"/>
                <a:ext cx="10735056" cy="893064"/>
              </a:xfrm>
              <a:prstGeom prst="rect">
                <a:avLst/>
              </a:prstGeom>
              <a:noFill/>
            </p:spPr>
            <p:txBody>
              <a:bodyPr wrap="square" anchor="ctr" lIns="45720" rIns="45720">
                <a:spAutoFit/>
              </a:bodyPr>
              <a:lstStyle/>
              <a:p>
                <a:pPr algn="l">
                  <a:spcAft>
                    <a:spcPts val="800"/>
                  </a:spcAft>
                </a:pPr>
                <a:r>
                  <a:rPr sz="2600">
                    <a:solidFill>
                      <a:srgbClr val="1E293B"/>
                    </a:solidFill>
                    <a:latin typeface="Calibri"/>
                  </a:rPr>
                  <a:t>Nếu một cấp số nhân có số hạng đầu </a:t>
                </a:r>
                <a:r>
                  <a:rPr lang="vi-VN"/>
                  <a:t>u_1</a:t>
                </a:r>
                <a:r>
                  <a:rPr sz="2600">
                    <a:solidFill>
                      <a:srgbClr val="1E293B"/>
                    </a:solidFill>
                    <a:latin typeface="Calibri"/>
                  </a:rPr>
                  <a:t> và công bội </a:t>
                </a:r>
                <a:r>
                  <a:rPr lang="vi-VN"/>
                  <a:t>q</a:t>
                </a:r>
                <a:r>
                  <a:rPr sz="2600">
                    <a:solidFill>
                      <a:srgbClr val="1E293B"/>
                    </a:solidFill>
                    <a:latin typeface="Calibri"/>
                  </a:rPr>
                  <a:t> thì </a:t>
                </a:r>
                <a:r>
                  <a:rPr sz="2600" b="1">
                    <a:solidFill>
                      <a:srgbClr val="1E293B"/>
                    </a:solidFill>
                    <a:latin typeface="Calibri"/>
                  </a:rPr>
                  <a:t>số hạng tổng quát</a:t>
                </a:r>
                <a:r>
                  <a:rPr sz="2600">
                    <a:solidFill>
                      <a:srgbClr val="1E293B"/>
                    </a:solidFill>
                    <a:latin typeface="Calibri"/>
                  </a:rPr>
                  <a:t> </a:t>
                </a:r>
                <a:r>
                  <a:rPr lang="vi-VN"/>
                  <a:t>u_n</a:t>
                </a:r>
                <a:r>
                  <a:rPr sz="2600">
                    <a:solidFill>
                      <a:srgbClr val="1E293B"/>
                    </a:solidFill>
                    <a:latin typeface="Calibri"/>
                  </a:rPr>
                  <a:t> của nó được xác định bởi công thức </a:t>
                </a:r>
                <a:r>
                  <a:rPr lang="vi-VN"/>
                  <a:t>u_n=u_1\cdot q^{n-1}</a:t>
                </a:r>
                <a:r>
                  <a:rPr sz="2600">
                    <a:solidFill>
                      <a:srgbClr val="1E293B"/>
                    </a:solidFill>
                    <a:latin typeface="Calibri"/>
                  </a:rPr>
                  <a:t> với </a:t>
                </a:r>
                <a:r>
                  <a:rPr lang="vi-VN"/>
                  <a:t>n\ge 2</a:t>
                </a:r>
                <a:r>
                  <a:rPr sz="26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3 – VÍ DỤ 4 – LUYỆN TẬP 2 (SGK TR.53 – 54)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Cấp số nhân – Toán 11          9</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11064240" cy="844295"/>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Ví dụ 3.</a:t>
                </a:r>
                <a:r>
                  <a:rPr sz="2200">
                    <a:solidFill>
                      <a:srgbClr val="1E293B"/>
                    </a:solidFill>
                    <a:latin typeface="Calibri"/>
                  </a:rPr>
                  <a:t> Năm số hạng đầu và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100</m:t>
                        </m:r>
                      </m:sub>
                    </m:sSub>
                  </m:oMath>
                </a14:m>
                <a:r>
                  <a:rPr sz="2200">
                    <a:solidFill>
                      <a:srgbClr val="1E293B"/>
                    </a:solidFill>
                    <a:latin typeface="Calibri"/>
                  </a:rPr>
                  <a:t> của cấp số nhân </a:t>
                </a:r>
                <a14:m>
                  <m:oMath xmlns:m="http://schemas.openxmlformats.org/officeDocument/2006/math">
                    <m:r>
                      <a:rPr lang="vi-VN" sz="2200" b="0">
                        <a:solidFill>
                          <a:srgbClr val="1E293B"/>
                        </a:solidFill>
                        <a:latin typeface="Cambria Math" panose="02040503050406030204" pitchFamily="18" charset="0"/>
                      </a:rPr>
                      <m:t>8,</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−4,…</m:t>
                    </m:r>
                  </m:oMath>
                </a14:m>
                <a:r>
                  <a:rPr sz="2200">
                    <a:solidFill>
                      <a:srgbClr val="1E293B"/>
                    </a:solidFill>
                    <a:latin typeface="Calibri"/>
                  </a:rPr>
                  <a:t>  </a:t>
                </a:r>
                <a:r>
                  <a:rPr sz="2200" b="1">
                    <a:solidFill>
                      <a:srgbClr val="1E293B"/>
                    </a:solidFill>
                    <a:latin typeface="Calibri"/>
                  </a:rPr>
                  <a:t>Ví dụ 4.</a:t>
                </a:r>
                <a:r>
                  <a:rPr sz="2200">
                    <a:solidFill>
                      <a:srgbClr val="1E293B"/>
                    </a:solidFill>
                    <a:latin typeface="Calibri"/>
                  </a:rPr>
                  <a:t> Cấp số nhân các số hạng dương: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10</m:t>
                        </m:r>
                      </m:sub>
                    </m:sSub>
                    <m:r>
                      <a:rPr lang="vi-VN" sz="2200" b="0">
                        <a:solidFill>
                          <a:srgbClr val="1E293B"/>
                        </a:solidFill>
                        <a:latin typeface="Cambria Math" panose="02040503050406030204" pitchFamily="18" charset="0"/>
                      </a:rPr>
                      <m:t>=1</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536</m:t>
                    </m:r>
                  </m:oMath>
                </a14:m>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12</m:t>
                        </m:r>
                      </m:sub>
                    </m:sSub>
                    <m:r>
                      <a:rPr lang="vi-VN" sz="2200" b="0">
                        <a:solidFill>
                          <a:srgbClr val="1E293B"/>
                        </a:solidFill>
                        <a:latin typeface="Cambria Math" panose="02040503050406030204" pitchFamily="18" charset="0"/>
                      </a:rPr>
                      <m:t>=6</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144</m:t>
                    </m:r>
                  </m:oMath>
                </a14:m>
                <a:r>
                  <a:rPr sz="2200">
                    <a:solidFill>
                      <a:srgbClr val="1E293B"/>
                    </a:solidFill>
                    <a:latin typeface="Calibri"/>
                  </a:rPr>
                  <a:t>. Tìm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20</m:t>
                        </m:r>
                      </m:sub>
                    </m:sSub>
                  </m:oMath>
                </a14:m>
                <a:r>
                  <a:rPr sz="2200">
                    <a:solidFill>
                      <a:srgbClr val="1E293B"/>
                    </a:solidFill>
                    <a:latin typeface="Calibri"/>
                  </a:rPr>
                  <a:t>.</a:t>
                </a:r>
              </a:p>
            </p:txBody>
          </p:sp>
        </mc:Choice>
        <mc:Fallback>
          <p:sp>
            <p:nvSpPr>
              <p:cNvPr id="7" name="TextBox 6"/>
              <p:cNvSpPr txBox="1"/>
              <p:nvPr/>
            </p:nvSpPr>
            <p:spPr>
              <a:xfrm>
                <a:off x="548640" y="1463040"/>
                <a:ext cx="11064240" cy="844295"/>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Ví dụ 3.</a:t>
                </a:r>
                <a:r>
                  <a:rPr sz="2200">
                    <a:solidFill>
                      <a:srgbClr val="1E293B"/>
                    </a:solidFill>
                    <a:latin typeface="Calibri"/>
                  </a:rPr>
                  <a:t> Năm số hạng đầu và </a:t>
                </a:r>
                <a:r>
                  <a:rPr lang="vi-VN"/>
                  <a:t>u_{100}</a:t>
                </a:r>
                <a:r>
                  <a:rPr sz="2200">
                    <a:solidFill>
                      <a:srgbClr val="1E293B"/>
                    </a:solidFill>
                    <a:latin typeface="Calibri"/>
                  </a:rPr>
                  <a:t> của cấp số nhân </a:t>
                </a:r>
                <a:r>
                  <a:rPr lang="vi-VN"/>
                  <a:t>8,\ -4,\ldots</a:t>
                </a:r>
                <a:r>
                  <a:rPr sz="2200">
                    <a:solidFill>
                      <a:srgbClr val="1E293B"/>
                    </a:solidFill>
                    <a:latin typeface="Calibri"/>
                  </a:rPr>
                  <a:t>  </a:t>
                </a:r>
                <a:r>
                  <a:rPr sz="2200" b="1">
                    <a:solidFill>
                      <a:srgbClr val="1E293B"/>
                    </a:solidFill>
                    <a:latin typeface="Calibri"/>
                  </a:rPr>
                  <a:t>Ví dụ 4.</a:t>
                </a:r>
                <a:r>
                  <a:rPr sz="2200">
                    <a:solidFill>
                      <a:srgbClr val="1E293B"/>
                    </a:solidFill>
                    <a:latin typeface="Calibri"/>
                  </a:rPr>
                  <a:t> Cấp số nhân các số hạng dương: </a:t>
                </a:r>
                <a:r>
                  <a:rPr lang="vi-VN"/>
                  <a:t>u_{10}=1\ 536</a:t>
                </a:r>
                <a:r>
                  <a:rPr sz="2200">
                    <a:solidFill>
                      <a:srgbClr val="1E293B"/>
                    </a:solidFill>
                    <a:latin typeface="Calibri"/>
                  </a:rPr>
                  <a:t>, </a:t>
                </a:r>
                <a:r>
                  <a:rPr lang="vi-VN"/>
                  <a:t>u_{12}=6\ 144</a:t>
                </a:r>
                <a:r>
                  <a:rPr sz="2200">
                    <a:solidFill>
                      <a:srgbClr val="1E293B"/>
                    </a:solidFill>
                    <a:latin typeface="Calibri"/>
                  </a:rPr>
                  <a:t>. Tìm </a:t>
                </a:r>
                <a:r>
                  <a:rPr lang="vi-VN"/>
                  <a:t>u_{20}</a:t>
                </a:r>
                <a:r>
                  <a:rPr sz="2200">
                    <a:solidFill>
                      <a:srgbClr val="1E293B"/>
                    </a:solidFill>
                    <a:latin typeface="Calibri"/>
                  </a:rPr>
                  <a:t>.</a:t>
                </a:r>
              </a:p>
            </p:txBody>
          </p:sp>
        </mc:Fallback>
      </mc:AlternateContent>
      <p:sp>
        <p:nvSpPr>
          <p:cNvPr id="8" name="s1_nen"/>
          <p:cNvSpPr/>
          <p:nvPr/>
        </p:nvSpPr>
        <p:spPr>
          <a:xfrm>
            <a:off x="548640" y="2444496"/>
            <a:ext cx="11064240" cy="1053084"/>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481072"/>
                <a:ext cx="10735056" cy="979932"/>
              </a:xfrm>
              <a:prstGeom prst="rect">
                <a:avLst/>
              </a:prstGeom>
              <a:noFill/>
            </p:spPr>
            <p:txBody>
              <a:bodyPr wrap="square" anchor="ctr" lIns="45720" rIns="45720">
                <a:spAutoFit/>
              </a:bodyPr>
              <a:lstStyle/>
              <a:p>
                <a:pPr algn="l">
                  <a:spcAft>
                    <a:spcPts val="800"/>
                  </a:spcAft>
                </a:pPr>
                <a:r>
                  <a:rPr sz="2200">
                    <a:solidFill>
                      <a:srgbClr val="1E293B"/>
                    </a:solidFill>
                    <a:latin typeface="Calibri"/>
                  </a:rPr>
                  <a:t>Ví dụ 3: </a:t>
                </a:r>
                <a14:m>
                  <m:oMath xmlns:m="http://schemas.openxmlformats.org/officeDocument/2006/math">
                    <m:r>
                      <a:rPr lang="vi-VN" sz="2200" b="0">
                        <a:solidFill>
                          <a:srgbClr val="1E293B"/>
                        </a:solidFill>
                        <a:latin typeface="Cambria Math" panose="02040503050406030204" pitchFamily="18" charset="0"/>
                      </a:rPr>
                      <m:t>q=−</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2</m:t>
                        </m:r>
                      </m:den>
                    </m:f>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8,</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−4,</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2,</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−1,</m:t>
                    </m:r>
                    <m:r>
                      <m:rPr>
                        <m:sty m:val="p"/>
                      </m:rPr>
                      <a:rPr lang="vi-VN" sz="2200" b="0">
                        <a:solidFill>
                          <a:srgbClr val="1E293B"/>
                        </a:solidFill>
                        <a:latin typeface="Cambria Math" panose="02040503050406030204" pitchFamily="18" charset="0"/>
                      </a:rPr>
                      <m:t> </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2</m:t>
                        </m:r>
                      </m:den>
                    </m:f>
                  </m:oMath>
                </a14:m>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100</m:t>
                        </m:r>
                      </m:sub>
                    </m:sSub>
                    <m:r>
                      <a:rPr lang="vi-VN" sz="2200" b="0">
                        <a:solidFill>
                          <a:srgbClr val="1E293B"/>
                        </a:solidFill>
                        <a:latin typeface="Cambria Math" panose="02040503050406030204" pitchFamily="18" charset="0"/>
                      </a:rPr>
                      <m:t>=8·</m:t>
                    </m:r>
                    <m:sSup>
                      <m:e>
                        <m:d>
                          <m:dPr>
                            <m:sepChr m:val=""/>
                          </m:dPr>
                          <m:e>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r>
                                  <a:rPr lang="vi-VN" sz="2200" b="0">
                                    <a:solidFill>
                                      <a:srgbClr val="1E293B"/>
                                    </a:solidFill>
                                    <a:latin typeface="Cambria Math" panose="02040503050406030204" pitchFamily="18" charset="0"/>
                                  </a:rPr>
                                  <m:t>2</m:t>
                                </m:r>
                              </m:den>
                            </m:f>
                          </m:e>
                        </m:d>
                      </m:e>
                      <m:sup>
                        <m:r>
                          <a:rPr lang="vi-VN" sz="2200" b="0">
                            <a:solidFill>
                              <a:srgbClr val="1E293B"/>
                            </a:solidFill>
                            <a:latin typeface="Cambria Math" panose="02040503050406030204" pitchFamily="18" charset="0"/>
                          </a:rPr>
                          <m:t>99</m:t>
                        </m:r>
                      </m:sup>
                    </m:sSup>
                    <m:r>
                      <a:rPr lang="vi-VN" sz="2200" b="0">
                        <a:solidFill>
                          <a:srgbClr val="1E293B"/>
                        </a:solidFill>
                        <a:latin typeface="Cambria Math" panose="02040503050406030204" pitchFamily="18" charset="0"/>
                      </a:rPr>
                      <m:t>=−</m:t>
                    </m:r>
                    <m:f>
                      <m:fPr>
                        <m:type m:val="bar"/>
                      </m:fPr>
                      <m:num>
                        <m:r>
                          <a:rPr lang="vi-VN" sz="2200" b="0">
                            <a:solidFill>
                              <a:srgbClr val="1E293B"/>
                            </a:solidFill>
                            <a:latin typeface="Cambria Math" panose="02040503050406030204" pitchFamily="18" charset="0"/>
                          </a:rPr>
                          <m:t>1</m:t>
                        </m:r>
                      </m:num>
                      <m:den>
                        <m:sSup>
                          <m:e>
                            <m:r>
                              <a:rPr lang="vi-VN" sz="2200" b="0">
                                <a:solidFill>
                                  <a:srgbClr val="1E293B"/>
                                </a:solidFill>
                                <a:latin typeface="Cambria Math" panose="02040503050406030204" pitchFamily="18" charset="0"/>
                              </a:rPr>
                              <m:t>2</m:t>
                            </m:r>
                          </m:e>
                          <m:sup>
                            <m:r>
                              <a:rPr lang="vi-VN" sz="2200" b="0">
                                <a:solidFill>
                                  <a:srgbClr val="1E293B"/>
                                </a:solidFill>
                                <a:latin typeface="Cambria Math" panose="02040503050406030204" pitchFamily="18" charset="0"/>
                              </a:rPr>
                              <m:t>96</m:t>
                            </m:r>
                          </m:sup>
                        </m:sSup>
                      </m:den>
                    </m:f>
                  </m:oMath>
                </a14:m>
                <a:r>
                  <a:rPr sz="2200">
                    <a:solidFill>
                      <a:srgbClr val="1E293B"/>
                    </a:solidFill>
                    <a:latin typeface="Calibri"/>
                  </a:rPr>
                  <a:t>.</a:t>
                </a:r>
              </a:p>
            </p:txBody>
          </p:sp>
        </mc:Choice>
        <mc:Fallback>
          <p:sp>
            <p:nvSpPr>
              <p:cNvPr id="9" name="TextBox 8"/>
              <p:cNvSpPr txBox="1"/>
              <p:nvPr/>
            </p:nvSpPr>
            <p:spPr>
              <a:xfrm>
                <a:off x="713232" y="2481072"/>
                <a:ext cx="10735056" cy="979932"/>
              </a:xfrm>
              <a:prstGeom prst="rect">
                <a:avLst/>
              </a:prstGeom>
              <a:noFill/>
            </p:spPr>
            <p:txBody>
              <a:bodyPr wrap="square" anchor="ctr" lIns="45720" rIns="45720">
                <a:spAutoFit/>
              </a:bodyPr>
              <a:lstStyle/>
              <a:p>
                <a:pPr algn="l">
                  <a:spcAft>
                    <a:spcPts val="800"/>
                  </a:spcAft>
                </a:pPr>
                <a:r>
                  <a:rPr sz="2200">
                    <a:solidFill>
                      <a:srgbClr val="1E293B"/>
                    </a:solidFill>
                    <a:latin typeface="Calibri"/>
                  </a:rPr>
                  <a:t>Ví dụ 3: </a:t>
                </a:r>
                <a:r>
                  <a:rPr lang="vi-VN"/>
                  <a:t>q=-\frac{1}{2}</a:t>
                </a:r>
                <a:r>
                  <a:rPr sz="2200">
                    <a:solidFill>
                      <a:srgbClr val="1E293B"/>
                    </a:solidFill>
                    <a:latin typeface="Calibri"/>
                  </a:rPr>
                  <a:t>; </a:t>
                </a:r>
                <a:r>
                  <a:rPr lang="vi-VN"/>
                  <a:t>8,\ -4,\ 2,\ -1,\ \frac{1}{2}</a:t>
                </a:r>
                <a:r>
                  <a:rPr sz="2200">
                    <a:solidFill>
                      <a:srgbClr val="1E293B"/>
                    </a:solidFill>
                    <a:latin typeface="Calibri"/>
                  </a:rPr>
                  <a:t>; </a:t>
                </a:r>
                <a:r>
                  <a:rPr lang="vi-VN"/>
                  <a:t>u_{100}=8\cdot\left(-\frac{1}{2}\right)^{99}=-\frac{1}{2^{96}}</a:t>
                </a:r>
                <a:r>
                  <a:rPr sz="2200">
                    <a:solidFill>
                      <a:srgbClr val="1E293B"/>
                    </a:solidFill>
                    <a:latin typeface="Calibri"/>
                  </a:rPr>
                  <a:t>.</a:t>
                </a:r>
              </a:p>
            </p:txBody>
          </p:sp>
        </mc:Fallback>
      </mc:AlternateContent>
      <p:sp>
        <p:nvSpPr>
          <p:cNvPr id="10" name="s2_nen"/>
          <p:cNvSpPr/>
          <p:nvPr/>
        </p:nvSpPr>
        <p:spPr>
          <a:xfrm>
            <a:off x="548640" y="363474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671315"/>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Ví dụ 4: </a:t>
                </a:r>
                <a14:m>
                  <m:oMath xmlns:m="http://schemas.openxmlformats.org/officeDocument/2006/math">
                    <m:sSup>
                      <m:e>
                        <m:r>
                          <a:rPr lang="vi-VN" sz="2200" b="0">
                            <a:solidFill>
                              <a:srgbClr val="1E293B"/>
                            </a:solidFill>
                            <a:latin typeface="Cambria Math" panose="02040503050406030204" pitchFamily="18" charset="0"/>
                          </a:rPr>
                          <m:t>q</m:t>
                        </m:r>
                      </m:e>
                      <m:sup>
                        <m:r>
                          <a:rPr lang="vi-VN" sz="2200" b="0">
                            <a:solidFill>
                              <a:srgbClr val="1E293B"/>
                            </a:solidFill>
                            <a:latin typeface="Cambria Math" panose="02040503050406030204" pitchFamily="18" charset="0"/>
                          </a:rPr>
                          <m:t>2</m:t>
                        </m:r>
                      </m:sup>
                    </m:sSup>
                    <m:r>
                      <a:rPr lang="vi-VN" sz="2200" b="0">
                        <a:solidFill>
                          <a:srgbClr val="1E293B"/>
                        </a:solidFill>
                        <a:latin typeface="Cambria Math" panose="02040503050406030204" pitchFamily="18" charset="0"/>
                      </a:rPr>
                      <m:t>=4</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q=2⇒</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=3</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q=−2</m:t>
                    </m:r>
                  </m:oMath>
                </a14:m>
                <a:r>
                  <a:rPr sz="2200">
                    <a:solidFill>
                      <a:srgbClr val="1E293B"/>
                    </a:solidFill>
                    <a:latin typeface="Calibri"/>
                  </a:rPr>
                  <a:t> cho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=−3</m:t>
                    </m:r>
                  </m:oMath>
                </a14:m>
                <a:r>
                  <a:rPr sz="2200">
                    <a:solidFill>
                      <a:srgbClr val="1E293B"/>
                    </a:solidFill>
                    <a:latin typeface="Calibri"/>
                  </a:rPr>
                  <a:t>, loại).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20</m:t>
                        </m:r>
                      </m:sub>
                    </m:sSub>
                    <m:r>
                      <a:rPr lang="vi-VN" sz="2200" b="0">
                        <a:solidFill>
                          <a:srgbClr val="1E293B"/>
                        </a:solidFill>
                        <a:latin typeface="Cambria Math" panose="02040503050406030204" pitchFamily="18" charset="0"/>
                      </a:rPr>
                      <m:t>=3·</m:t>
                    </m:r>
                    <m:sSup>
                      <m:e>
                        <m:r>
                          <a:rPr lang="vi-VN" sz="2200" b="0">
                            <a:solidFill>
                              <a:srgbClr val="1E293B"/>
                            </a:solidFill>
                            <a:latin typeface="Cambria Math" panose="02040503050406030204" pitchFamily="18" charset="0"/>
                          </a:rPr>
                          <m:t>2</m:t>
                        </m:r>
                      </m:e>
                      <m:sup>
                        <m:r>
                          <a:rPr lang="vi-VN" sz="2200" b="0">
                            <a:solidFill>
                              <a:srgbClr val="1E293B"/>
                            </a:solidFill>
                            <a:latin typeface="Cambria Math" panose="02040503050406030204" pitchFamily="18" charset="0"/>
                          </a:rPr>
                          <m:t>19</m:t>
                        </m:r>
                      </m:sup>
                    </m:sSup>
                    <m:r>
                      <a:rPr lang="vi-VN" sz="2200" b="0">
                        <a:solidFill>
                          <a:srgbClr val="1E293B"/>
                        </a:solidFill>
                        <a:latin typeface="Cambria Math" panose="02040503050406030204" pitchFamily="18" charset="0"/>
                      </a:rPr>
                      <m:t>=1</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572</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864</m:t>
                    </m:r>
                  </m:oMath>
                </a14:m>
                <a:r>
                  <a:rPr sz="2200">
                    <a:solidFill>
                      <a:srgbClr val="1E293B"/>
                    </a:solidFill>
                    <a:latin typeface="Calibri"/>
                  </a:rPr>
                  <a:t>.</a:t>
                </a:r>
              </a:p>
            </p:txBody>
          </p:sp>
        </mc:Choice>
        <mc:Fallback>
          <p:sp>
            <p:nvSpPr>
              <p:cNvPr id="11" name="TextBox 10"/>
              <p:cNvSpPr txBox="1"/>
              <p:nvPr/>
            </p:nvSpPr>
            <p:spPr>
              <a:xfrm>
                <a:off x="713232" y="3671315"/>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Ví dụ 4: </a:t>
                </a:r>
                <a:r>
                  <a:rPr lang="vi-VN"/>
                  <a:t>q^2=4</a:t>
                </a:r>
                <a:r>
                  <a:rPr sz="2200">
                    <a:solidFill>
                      <a:srgbClr val="1E293B"/>
                    </a:solidFill>
                    <a:latin typeface="Calibri"/>
                  </a:rPr>
                  <a:t>; </a:t>
                </a:r>
                <a:r>
                  <a:rPr lang="vi-VN"/>
                  <a:t>q=2\Rightarrow u_1=3</a:t>
                </a:r>
                <a:r>
                  <a:rPr sz="2200">
                    <a:solidFill>
                      <a:srgbClr val="1E293B"/>
                    </a:solidFill>
                    <a:latin typeface="Calibri"/>
                  </a:rPr>
                  <a:t> (</a:t>
                </a:r>
                <a:r>
                  <a:rPr lang="vi-VN"/>
                  <a:t>q=-2</a:t>
                </a:r>
                <a:r>
                  <a:rPr sz="2200">
                    <a:solidFill>
                      <a:srgbClr val="1E293B"/>
                    </a:solidFill>
                    <a:latin typeface="Calibri"/>
                  </a:rPr>
                  <a:t> cho </a:t>
                </a:r>
                <a:r>
                  <a:rPr lang="vi-VN"/>
                  <a:t>u_1=-3</a:t>
                </a:r>
                <a:r>
                  <a:rPr sz="2200">
                    <a:solidFill>
                      <a:srgbClr val="1E293B"/>
                    </a:solidFill>
                    <a:latin typeface="Calibri"/>
                  </a:rPr>
                  <a:t>, loại). </a:t>
                </a:r>
                <a:r>
                  <a:rPr lang="vi-VN"/>
                  <a:t>u_{20}=3\cdot 2^{19}=1\ 572\ 864</a:t>
                </a:r>
                <a:r>
                  <a:rPr sz="2200">
                    <a:solidFill>
                      <a:srgbClr val="1E293B"/>
                    </a:solidFill>
                    <a:latin typeface="Calibri"/>
                  </a:rPr>
                  <a:t>.</a:t>
                </a:r>
              </a:p>
            </p:txBody>
          </p:sp>
        </mc:Fallback>
      </mc:AlternateContent>
      <p:sp>
        <p:nvSpPr>
          <p:cNvPr id="12" name="s3_chu"/>
          <p:cNvSpPr txBox="1"/>
          <p:nvPr/>
        </p:nvSpPr>
        <p:spPr>
          <a:xfrm>
            <a:off x="548640" y="4372356"/>
            <a:ext cx="11064240" cy="844295"/>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Luyện tập 2.</a:t>
            </a:r>
            <a:r>
              <a:rPr sz="2200">
                <a:solidFill>
                  <a:srgbClr val="1E293B"/>
                </a:solidFill>
                <a:latin typeface="Calibri"/>
              </a:rPr>
              <a:t> Ban đầu có 5 000 con vi khuẩn, số lượng tăng thêm 8% mỗi giờ. Sau 5 giờ có bao nhiêu con?</a:t>
            </a:r>
          </a:p>
        </p:txBody>
      </p:sp>
      <p:sp>
        <p:nvSpPr>
          <p:cNvPr id="13" name="s4_nen"/>
          <p:cNvSpPr/>
          <p:nvPr/>
        </p:nvSpPr>
        <p:spPr>
          <a:xfrm>
            <a:off x="548640" y="5353812"/>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4" name="s4_chu"/>
              <p:cNvSpPr txBox="1"/>
              <p:nvPr/>
            </p:nvSpPr>
            <p:spPr>
              <a:xfrm>
                <a:off x="713232" y="5390388"/>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=5</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000</m:t>
                    </m:r>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q=1</m:t>
                    </m:r>
                    <m:r>
                      <a:rPr lang="vi-VN" sz="2200" b="0">
                        <a:solidFill>
                          <a:srgbClr val="1E293B"/>
                        </a:solidFill>
                        <a:latin typeface="Cambria Math" panose="02040503050406030204" pitchFamily="18" charset="0"/>
                      </a:rPr>
                      <m:t>,</m:t>
                    </m:r>
                    <m:r>
                      <a:rPr lang="vi-VN" sz="2200" b="0">
                        <a:solidFill>
                          <a:srgbClr val="1E293B"/>
                        </a:solidFill>
                        <a:latin typeface="Cambria Math" panose="02040503050406030204" pitchFamily="18" charset="0"/>
                      </a:rPr>
                      <m:t>08</m:t>
                    </m:r>
                  </m:oMath>
                </a14:m>
                <a:r>
                  <a:rPr sz="2200">
                    <a:solidFill>
                      <a:srgbClr val="1E293B"/>
                    </a:solidFill>
                    <a:latin typeface="Calibri"/>
                  </a:rPr>
                  <a:t>: sau 5 giờ là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6</m:t>
                        </m:r>
                      </m:sub>
                    </m:sSub>
                    <m:r>
                      <a:rPr lang="vi-VN" sz="2200" b="0">
                        <a:solidFill>
                          <a:srgbClr val="1E293B"/>
                        </a:solidFill>
                        <a:latin typeface="Cambria Math" panose="02040503050406030204" pitchFamily="18" charset="0"/>
                      </a:rPr>
                      <m:t>=5</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000·1</m:t>
                    </m:r>
                    <m:r>
                      <a:rPr lang="vi-VN" sz="2200" b="0">
                        <a:solidFill>
                          <a:srgbClr val="1E293B"/>
                        </a:solidFill>
                        <a:latin typeface="Cambria Math" panose="02040503050406030204" pitchFamily="18" charset="0"/>
                      </a:rPr>
                      <m:t>,</m:t>
                    </m:r>
                    <m:sSup>
                      <m:e>
                        <m:r>
                          <a:rPr lang="vi-VN" sz="2200" b="0">
                            <a:solidFill>
                              <a:srgbClr val="1E293B"/>
                            </a:solidFill>
                            <a:latin typeface="Cambria Math" panose="02040503050406030204" pitchFamily="18" charset="0"/>
                          </a:rPr>
                          <m:t>08</m:t>
                        </m:r>
                      </m:e>
                      <m:sup>
                        <m:r>
                          <a:rPr lang="vi-VN" sz="2200" b="0">
                            <a:solidFill>
                              <a:srgbClr val="1E293B"/>
                            </a:solidFill>
                            <a:latin typeface="Cambria Math" panose="02040503050406030204" pitchFamily="18" charset="0"/>
                          </a:rPr>
                          <m:t>5</m:t>
                        </m:r>
                      </m:sup>
                    </m:sSup>
                    <m:r>
                      <a:rPr lang="vi-VN" sz="2200" b="0">
                        <a:solidFill>
                          <a:srgbClr val="1E293B"/>
                        </a:solidFill>
                        <a:latin typeface="Cambria Math" panose="02040503050406030204" pitchFamily="18" charset="0"/>
                      </a:rPr>
                      <m:t>≈7</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347</m:t>
                    </m:r>
                  </m:oMath>
                </a14:m>
                <a:r>
                  <a:rPr sz="2200">
                    <a:solidFill>
                      <a:srgbClr val="1E293B"/>
                    </a:solidFill>
                    <a:latin typeface="Calibri"/>
                  </a:rPr>
                  <a:t> (con).</a:t>
                </a:r>
              </a:p>
            </p:txBody>
          </p:sp>
        </mc:Choice>
        <mc:Fallback>
          <p:sp>
            <p:nvSpPr>
              <p:cNvPr id="14" name="TextBox 13"/>
              <p:cNvSpPr txBox="1"/>
              <p:nvPr/>
            </p:nvSpPr>
            <p:spPr>
              <a:xfrm>
                <a:off x="713232" y="5390388"/>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u_1=5\ 000</a:t>
                </a:r>
                <a:r>
                  <a:rPr sz="2200">
                    <a:solidFill>
                      <a:srgbClr val="1E293B"/>
                    </a:solidFill>
                    <a:latin typeface="Calibri"/>
                  </a:rPr>
                  <a:t>, </a:t>
                </a:r>
                <a:r>
                  <a:rPr lang="vi-VN"/>
                  <a:t>q=1{,}08</a:t>
                </a:r>
                <a:r>
                  <a:rPr sz="2200">
                    <a:solidFill>
                      <a:srgbClr val="1E293B"/>
                    </a:solidFill>
                    <a:latin typeface="Calibri"/>
                  </a:rPr>
                  <a:t>: sau 5 giờ là </a:t>
                </a:r>
                <a:r>
                  <a:rPr lang="vi-VN"/>
                  <a:t>u_6=5\ 000\cdot 1{,}08^5\approx 7\ 347</a:t>
                </a:r>
                <a:r>
                  <a:rPr sz="2200">
                    <a:solidFill>
                      <a:srgbClr val="1E293B"/>
                    </a:solidFill>
                    <a:latin typeface="Calibri"/>
                  </a:rPr>
                  <a:t> (con).</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AI NHANH HƠN?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Cấp số nhân – Toán 11          10</a:t>
            </a:r>
          </a:p>
        </p:txBody>
      </p:sp>
      <p:sp>
        <p:nvSpPr>
          <p:cNvPr id="7" name="TextBox 6"/>
          <p:cNvSpPr txBox="1"/>
          <p:nvPr/>
        </p:nvSpPr>
        <p:spPr>
          <a:xfrm>
            <a:off x="548640" y="1325880"/>
            <a:ext cx="11064240" cy="457200"/>
          </a:xfrm>
          <a:prstGeom prst="rect">
            <a:avLst/>
          </a:prstGeom>
          <a:noFill/>
        </p:spPr>
        <p:txBody>
          <a:bodyPr wrap="square" anchor="t" lIns="45720" rIns="45720">
            <a:spAutoFit/>
          </a:bodyPr>
          <a:lstStyle/>
          <a:p>
            <a:pPr algn="l">
              <a:spcAft>
                <a:spcPts val="800"/>
              </a:spcAft>
            </a:pPr>
            <a:r>
              <a:rPr sz="1800">
                <a:solidFill>
                  <a:srgbClr val="64748B"/>
                </a:solidFill>
                <a:latin typeface="Calibri"/>
              </a:rPr>
              <a:t>📋 Từng cặp ghi đáp án lên bảng con. Mỗi câu 20 giây.</a:t>
            </a:r>
          </a:p>
        </p:txBody>
      </p:sp>
      <mc:AlternateContent xmlns:mc="http://schemas.openxmlformats.org/markup-compatibility/2006">
        <mc:Choice xmlns:a14="http://schemas.microsoft.com/office/drawing/2010/main" Requires="a14">
          <p:sp>
            <p:nvSpPr>
              <p:cNvPr id="8" name="TextBox 7"/>
              <p:cNvSpPr txBox="1"/>
              <p:nvPr/>
            </p:nvSpPr>
            <p:spPr>
              <a:xfrm>
                <a:off x="548640" y="1783080"/>
                <a:ext cx="7589520" cy="640080"/>
              </a:xfrm>
              <a:prstGeom prst="rect">
                <a:avLst/>
              </a:prstGeom>
              <a:noFill/>
            </p:spPr>
            <p:txBody>
              <a:bodyPr wrap="square" anchor="t" lIns="45720" rIns="45720">
                <a:spAutoFit/>
              </a:bodyPr>
              <a:lstStyle/>
              <a:p>
                <a:pPr algn="l">
                  <a:spcAft>
                    <a:spcPts val="800"/>
                  </a:spcAft>
                </a:pPr>
                <a:r>
                  <a:rPr sz="2200">
                    <a:solidFill>
                      <a:srgbClr val="1E293B"/>
                    </a:solidFill>
                    <a:latin typeface="Calibri"/>
                  </a:rPr>
                  <a:t>Cấp số nhân </a:t>
                </a:r>
                <a14:m>
                  <m:oMath xmlns:m="http://schemas.openxmlformats.org/officeDocument/2006/math">
                    <m:r>
                      <a:rPr lang="vi-VN" sz="2200" b="0">
                        <a:solidFill>
                          <a:srgbClr val="1E293B"/>
                        </a:solidFill>
                        <a:latin typeface="Cambria Math" panose="02040503050406030204" pitchFamily="18" charset="0"/>
                      </a:rPr>
                      <m:t>3,</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6,</m:t>
                    </m:r>
                    <m:r>
                      <m:rPr>
                        <m:sty m:val="p"/>
                      </m:rPr>
                      <a:rPr lang="vi-VN" sz="2200" b="0">
                        <a:solidFill>
                          <a:srgbClr val="1E293B"/>
                        </a:solidFill>
                        <a:latin typeface="Cambria Math" panose="02040503050406030204" pitchFamily="18" charset="0"/>
                      </a:rPr>
                      <m:t> </m:t>
                    </m:r>
                    <m:r>
                      <a:rPr lang="vi-VN" sz="2200" b="0">
                        <a:solidFill>
                          <a:srgbClr val="1E293B"/>
                        </a:solidFill>
                        <a:latin typeface="Cambria Math" panose="02040503050406030204" pitchFamily="18" charset="0"/>
                      </a:rPr>
                      <m:t>12,…</m:t>
                    </m:r>
                  </m:oMath>
                </a14:m>
                <a:r>
                  <a:rPr sz="2200">
                    <a:solidFill>
                      <a:srgbClr val="1E293B"/>
                    </a:solidFill>
                    <a:latin typeface="Calibri"/>
                  </a:rPr>
                  <a:t>:</a:t>
                </a:r>
              </a:p>
            </p:txBody>
          </p:sp>
        </mc:Choice>
        <mc:Fallback>
          <p:sp>
            <p:nvSpPr>
              <p:cNvPr id="8" name="TextBox 7"/>
              <p:cNvSpPr txBox="1"/>
              <p:nvPr/>
            </p:nvSpPr>
            <p:spPr>
              <a:xfrm>
                <a:off x="548640" y="1783080"/>
                <a:ext cx="7589520" cy="640080"/>
              </a:xfrm>
              <a:prstGeom prst="rect">
                <a:avLst/>
              </a:prstGeom>
              <a:noFill/>
            </p:spPr>
            <p:txBody>
              <a:bodyPr wrap="square" anchor="t" lIns="45720" rIns="45720">
                <a:spAutoFit/>
              </a:bodyPr>
              <a:lstStyle/>
              <a:p>
                <a:pPr algn="l">
                  <a:spcAft>
                    <a:spcPts val="800"/>
                  </a:spcAft>
                </a:pPr>
                <a:r>
                  <a:rPr sz="2200">
                    <a:solidFill>
                      <a:srgbClr val="1E293B"/>
                    </a:solidFill>
                    <a:latin typeface="Calibri"/>
                  </a:rPr>
                  <a:t>Cấp số nhân </a:t>
                </a:r>
                <a:r>
                  <a:rPr lang="vi-VN"/>
                  <a:t>3,\ 6,\ 12,\ldots</a:t>
                </a:r>
                <a:r>
                  <a:rPr sz="22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548640" y="2468879"/>
                <a:ext cx="438912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a:t>
                </a:r>
                <a:r>
                  <a:rPr sz="2400">
                    <a:solidFill>
                      <a:srgbClr val="1E293B"/>
                    </a:solidFill>
                    <a:latin typeface="Calibri"/>
                  </a:rPr>
                  <a:t> Công bội </a:t>
                </a:r>
                <a14:m>
                  <m:oMath xmlns:m="http://schemas.openxmlformats.org/officeDocument/2006/math">
                    <m:r>
                      <a:rPr lang="vi-VN" sz="2400" b="0">
                        <a:solidFill>
                          <a:srgbClr val="1E293B"/>
                        </a:solidFill>
                        <a:latin typeface="Cambria Math" panose="02040503050406030204" pitchFamily="18" charset="0"/>
                      </a:rPr>
                      <m:t>q=</m:t>
                    </m:r>
                  </m:oMath>
                </a14:m>
                <a:r>
                  <a:rPr sz="2400">
                    <a:solidFill>
                      <a:srgbClr val="1E293B"/>
                    </a:solidFill>
                    <a:latin typeface="Calibri"/>
                  </a:rPr>
                  <a:t>?</a:t>
                </a:r>
              </a:p>
            </p:txBody>
          </p:sp>
        </mc:Choice>
        <mc:Fallback>
          <p:sp>
            <p:nvSpPr>
              <p:cNvPr id="9" name="TextBox 8"/>
              <p:cNvSpPr txBox="1"/>
              <p:nvPr/>
            </p:nvSpPr>
            <p:spPr>
              <a:xfrm>
                <a:off x="548640" y="2468879"/>
                <a:ext cx="438912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1.</a:t>
                </a:r>
                <a:r>
                  <a:rPr sz="2400">
                    <a:solidFill>
                      <a:srgbClr val="1E293B"/>
                    </a:solidFill>
                    <a:latin typeface="Calibri"/>
                  </a:rPr>
                  <a:t> Công bội </a:t>
                </a:r>
                <a:r>
                  <a:rPr lang="vi-VN"/>
                  <a:t>q=</a:t>
                </a:r>
                <a:r>
                  <a:rPr sz="2400">
                    <a:solidFill>
                      <a:srgbClr val="1E293B"/>
                    </a:solidFill>
                    <a:latin typeface="Calibri"/>
                  </a:rPr>
                  <a:t>?</a:t>
                </a:r>
              </a:p>
            </p:txBody>
          </p:sp>
        </mc:Fallback>
      </mc:AlternateContent>
      <p:sp>
        <p:nvSpPr>
          <p:cNvPr id="10" name="s1_nen"/>
          <p:cNvSpPr/>
          <p:nvPr/>
        </p:nvSpPr>
        <p:spPr>
          <a:xfrm>
            <a:off x="5029200" y="2423160"/>
            <a:ext cx="274320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1_chu"/>
              <p:cNvSpPr txBox="1"/>
              <p:nvPr/>
            </p:nvSpPr>
            <p:spPr>
              <a:xfrm>
                <a:off x="5193792" y="2459736"/>
                <a:ext cx="241401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2</m:t>
                    </m:r>
                  </m:oMath>
                </a14:m>
              </a:p>
            </p:txBody>
          </p:sp>
        </mc:Choice>
        <mc:Fallback>
          <p:sp>
            <p:nvSpPr>
              <p:cNvPr id="11" name="TextBox 10"/>
              <p:cNvSpPr txBox="1"/>
              <p:nvPr/>
            </p:nvSpPr>
            <p:spPr>
              <a:xfrm>
                <a:off x="5193792" y="2459736"/>
                <a:ext cx="241401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2</a:t>
                </a:r>
              </a:p>
            </p:txBody>
          </p:sp>
        </mc:Fallback>
      </mc:AlternateContent>
      <mc:AlternateContent xmlns:mc="http://schemas.openxmlformats.org/markup-compatibility/2006">
        <mc:Choice xmlns:a14="http://schemas.microsoft.com/office/drawing/2010/main" Requires="a14">
          <p:sp>
            <p:nvSpPr>
              <p:cNvPr id="12" name="TextBox 11"/>
              <p:cNvSpPr txBox="1"/>
              <p:nvPr/>
            </p:nvSpPr>
            <p:spPr>
              <a:xfrm>
                <a:off x="548640" y="3417570"/>
                <a:ext cx="438912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2.</a:t>
                </a:r>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6</m:t>
                        </m:r>
                      </m:sub>
                    </m:sSub>
                    <m:r>
                      <a:rPr lang="vi-VN" sz="2400" b="0">
                        <a:solidFill>
                          <a:srgbClr val="1E293B"/>
                        </a:solidFill>
                        <a:latin typeface="Cambria Math" panose="02040503050406030204" pitchFamily="18" charset="0"/>
                      </a:rPr>
                      <m:t>=</m:t>
                    </m:r>
                  </m:oMath>
                </a14:m>
                <a:r>
                  <a:rPr sz="2400">
                    <a:solidFill>
                      <a:srgbClr val="1E293B"/>
                    </a:solidFill>
                    <a:latin typeface="Calibri"/>
                  </a:rPr>
                  <a:t>?</a:t>
                </a:r>
              </a:p>
            </p:txBody>
          </p:sp>
        </mc:Choice>
        <mc:Fallback>
          <p:sp>
            <p:nvSpPr>
              <p:cNvPr id="12" name="TextBox 11"/>
              <p:cNvSpPr txBox="1"/>
              <p:nvPr/>
            </p:nvSpPr>
            <p:spPr>
              <a:xfrm>
                <a:off x="548640" y="3417570"/>
                <a:ext cx="438912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2.</a:t>
                </a:r>
                <a:r>
                  <a:rPr sz="2400">
                    <a:solidFill>
                      <a:srgbClr val="1E293B"/>
                    </a:solidFill>
                    <a:latin typeface="Calibri"/>
                  </a:rPr>
                  <a:t> </a:t>
                </a:r>
                <a:r>
                  <a:rPr lang="vi-VN"/>
                  <a:t>u_6=</a:t>
                </a:r>
                <a:r>
                  <a:rPr sz="2400">
                    <a:solidFill>
                      <a:srgbClr val="1E293B"/>
                    </a:solidFill>
                    <a:latin typeface="Calibri"/>
                  </a:rPr>
                  <a:t>?</a:t>
                </a:r>
              </a:p>
            </p:txBody>
          </p:sp>
        </mc:Fallback>
      </mc:AlternateContent>
      <p:sp>
        <p:nvSpPr>
          <p:cNvPr id="13" name="s2_nen"/>
          <p:cNvSpPr/>
          <p:nvPr/>
        </p:nvSpPr>
        <p:spPr>
          <a:xfrm>
            <a:off x="5029200" y="3371850"/>
            <a:ext cx="274320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4" name="s2_chu"/>
              <p:cNvSpPr txBox="1"/>
              <p:nvPr/>
            </p:nvSpPr>
            <p:spPr>
              <a:xfrm>
                <a:off x="5193792" y="3408426"/>
                <a:ext cx="241401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96</m:t>
                    </m:r>
                  </m:oMath>
                </a14:m>
              </a:p>
            </p:txBody>
          </p:sp>
        </mc:Choice>
        <mc:Fallback>
          <p:sp>
            <p:nvSpPr>
              <p:cNvPr id="14" name="TextBox 13"/>
              <p:cNvSpPr txBox="1"/>
              <p:nvPr/>
            </p:nvSpPr>
            <p:spPr>
              <a:xfrm>
                <a:off x="5193792" y="3408426"/>
                <a:ext cx="241401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96</a:t>
                </a:r>
              </a:p>
            </p:txBody>
          </p:sp>
        </mc:Fallback>
      </mc:AlternateContent>
      <mc:AlternateContent xmlns:mc="http://schemas.openxmlformats.org/markup-compatibility/2006">
        <mc:Choice xmlns:a14="http://schemas.microsoft.com/office/drawing/2010/main" Requires="a14">
          <p:sp>
            <p:nvSpPr>
              <p:cNvPr id="15" name="TextBox 14"/>
              <p:cNvSpPr txBox="1"/>
              <p:nvPr/>
            </p:nvSpPr>
            <p:spPr>
              <a:xfrm>
                <a:off x="548640" y="4366259"/>
                <a:ext cx="438912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3.</a:t>
                </a:r>
                <a:r>
                  <a:rPr sz="2400">
                    <a:solidFill>
                      <a:srgbClr val="1E293B"/>
                    </a:solidFill>
                    <a:latin typeface="Calibri"/>
                  </a:rPr>
                  <a:t>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oMath>
                </a14:m>
                <a:r>
                  <a:rPr sz="2400">
                    <a:solidFill>
                      <a:srgbClr val="1E293B"/>
                    </a:solidFill>
                    <a:latin typeface="Calibri"/>
                  </a:rPr>
                  <a:t>?</a:t>
                </a:r>
              </a:p>
            </p:txBody>
          </p:sp>
        </mc:Choice>
        <mc:Fallback>
          <p:sp>
            <p:nvSpPr>
              <p:cNvPr id="15" name="TextBox 14"/>
              <p:cNvSpPr txBox="1"/>
              <p:nvPr/>
            </p:nvSpPr>
            <p:spPr>
              <a:xfrm>
                <a:off x="548640" y="4366259"/>
                <a:ext cx="438912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3.</a:t>
                </a:r>
                <a:r>
                  <a:rPr sz="2400">
                    <a:solidFill>
                      <a:srgbClr val="1E293B"/>
                    </a:solidFill>
                    <a:latin typeface="Calibri"/>
                  </a:rPr>
                  <a:t> </a:t>
                </a:r>
                <a:r>
                  <a:rPr lang="vi-VN"/>
                  <a:t>u_n=</a:t>
                </a:r>
                <a:r>
                  <a:rPr sz="2400">
                    <a:solidFill>
                      <a:srgbClr val="1E293B"/>
                    </a:solidFill>
                    <a:latin typeface="Calibri"/>
                  </a:rPr>
                  <a:t>?</a:t>
                </a:r>
              </a:p>
            </p:txBody>
          </p:sp>
        </mc:Fallback>
      </mc:AlternateContent>
      <p:sp>
        <p:nvSpPr>
          <p:cNvPr id="16" name="s3_nen"/>
          <p:cNvSpPr/>
          <p:nvPr/>
        </p:nvSpPr>
        <p:spPr>
          <a:xfrm>
            <a:off x="5029200" y="4320540"/>
            <a:ext cx="274320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3_chu"/>
              <p:cNvSpPr txBox="1"/>
              <p:nvPr/>
            </p:nvSpPr>
            <p:spPr>
              <a:xfrm>
                <a:off x="5193792" y="4357116"/>
                <a:ext cx="241401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3·</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n−1</m:t>
                        </m:r>
                      </m:sup>
                    </m:sSup>
                  </m:oMath>
                </a14:m>
              </a:p>
            </p:txBody>
          </p:sp>
        </mc:Choice>
        <mc:Fallback>
          <p:sp>
            <p:nvSpPr>
              <p:cNvPr id="17" name="TextBox 16"/>
              <p:cNvSpPr txBox="1"/>
              <p:nvPr/>
            </p:nvSpPr>
            <p:spPr>
              <a:xfrm>
                <a:off x="5193792" y="4357116"/>
                <a:ext cx="241401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3\cdot 2^{n-1}</a:t>
                </a:r>
              </a:p>
            </p:txBody>
          </p:sp>
        </mc:Fallback>
      </mc:AlternateContent>
      <p:sp>
        <p:nvSpPr>
          <p:cNvPr id="18" name="TextBox 17"/>
          <p:cNvSpPr txBox="1"/>
          <p:nvPr/>
        </p:nvSpPr>
        <p:spPr>
          <a:xfrm>
            <a:off x="548640" y="5314950"/>
            <a:ext cx="4389120" cy="857250"/>
          </a:xfrm>
          <a:prstGeom prst="rect">
            <a:avLst/>
          </a:prstGeom>
          <a:noFill/>
        </p:spPr>
        <p:txBody>
          <a:bodyPr wrap="square" anchor="t" lIns="45720" rIns="45720">
            <a:spAutoFit/>
          </a:bodyPr>
          <a:lstStyle/>
          <a:p>
            <a:pPr algn="l">
              <a:spcAft>
                <a:spcPts val="800"/>
              </a:spcAft>
            </a:pPr>
            <a:r>
              <a:rPr sz="2400" b="1">
                <a:solidFill>
                  <a:srgbClr val="1E293B"/>
                </a:solidFill>
                <a:latin typeface="Calibri"/>
              </a:rPr>
              <a:t>4.</a:t>
            </a:r>
            <a:r>
              <a:rPr sz="2400">
                <a:solidFill>
                  <a:srgbClr val="1E293B"/>
                </a:solidFill>
                <a:latin typeface="Calibri"/>
              </a:rPr>
              <a:t> Số 384 là số hạng thứ?</a:t>
            </a:r>
          </a:p>
        </p:txBody>
      </p:sp>
      <p:sp>
        <p:nvSpPr>
          <p:cNvPr id="19" name="s4_nen"/>
          <p:cNvSpPr/>
          <p:nvPr/>
        </p:nvSpPr>
        <p:spPr>
          <a:xfrm>
            <a:off x="5029200" y="5269230"/>
            <a:ext cx="2743200" cy="8115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20" name="s4_chu"/>
              <p:cNvSpPr txBox="1"/>
              <p:nvPr/>
            </p:nvSpPr>
            <p:spPr>
              <a:xfrm>
                <a:off x="5193792" y="5305806"/>
                <a:ext cx="241401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8</m:t>
                    </m:r>
                  </m:oMath>
                </a14:m>
              </a:p>
            </p:txBody>
          </p:sp>
        </mc:Choice>
        <mc:Fallback>
          <p:sp>
            <p:nvSpPr>
              <p:cNvPr id="20" name="TextBox 19"/>
              <p:cNvSpPr txBox="1"/>
              <p:nvPr/>
            </p:nvSpPr>
            <p:spPr>
              <a:xfrm>
                <a:off x="5193792" y="5305806"/>
                <a:ext cx="2414016" cy="738378"/>
              </a:xfrm>
              <a:prstGeom prst="rect">
                <a:avLst/>
              </a:prstGeom>
              <a:noFill/>
            </p:spPr>
            <p:txBody>
              <a:bodyPr wrap="square" anchor="ctr" lIns="45720" rIns="45720">
                <a:spAutoFit/>
              </a:bodyPr>
              <a:lstStyle/>
              <a:p>
                <a:pPr algn="ctr">
                  <a:spcAft>
                    <a:spcPts val="800"/>
                  </a:spcAft>
                </a:pPr>
                <a:r>
                  <a:rPr sz="2400">
                    <a:solidFill>
                      <a:srgbClr val="1E293B"/>
                    </a:solidFill>
                    <a:latin typeface="Calibri"/>
                  </a:rPr>
                  <a:t> </a:t>
                </a:r>
                <a:r>
                  <a:rPr lang="vi-VN"/>
                  <a:t>8</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TỔNG KẾT TIẾT 1</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Cấp số nhân – Toán 11          11</a:t>
            </a:r>
          </a:p>
        </p:txBody>
      </p:sp>
      <p:sp>
        <p:nvSpPr>
          <p:cNvPr id="7" name="Rounded Rectangle 6"/>
          <p:cNvSpPr/>
          <p:nvPr/>
        </p:nvSpPr>
        <p:spPr>
          <a:xfrm>
            <a:off x="548640" y="1463040"/>
            <a:ext cx="11064240" cy="1187196"/>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8" name="TextBox 7"/>
              <p:cNvSpPr txBox="1"/>
              <p:nvPr/>
            </p:nvSpPr>
            <p:spPr>
              <a:xfrm>
                <a:off x="713232" y="1499616"/>
                <a:ext cx="10735056" cy="1114044"/>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Cấp số nhân: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n−1</m:t>
                        </m:r>
                      </m:sub>
                    </m:sSub>
                    <m:r>
                      <a:rPr lang="vi-VN" sz="2200" b="0">
                        <a:solidFill>
                          <a:srgbClr val="1E293B"/>
                        </a:solidFill>
                        <a:latin typeface="Cambria Math" panose="02040503050406030204" pitchFamily="18" charset="0"/>
                      </a:rPr>
                      <m:t>·q</m:t>
                    </m:r>
                  </m:oMath>
                </a14:m>
                <a:r>
                  <a:rPr sz="2200">
                    <a:solidFill>
                      <a:srgbClr val="1E293B"/>
                    </a:solidFill>
                    <a:latin typeface="Calibri"/>
                  </a:rPr>
                  <a:t>; chứng minh: tỉ số </a:t>
                </a:r>
                <a14:m>
                  <m:oMath xmlns:m="http://schemas.openxmlformats.org/officeDocument/2006/math">
                    <m:f>
                      <m:fPr>
                        <m:type m:val="bar"/>
                      </m:fPr>
                      <m:num>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num>
                      <m:den>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n−1</m:t>
                            </m:r>
                          </m:sub>
                        </m:sSub>
                      </m:den>
                    </m:f>
                  </m:oMath>
                </a14:m>
                <a:r>
                  <a:rPr sz="2200">
                    <a:solidFill>
                      <a:srgbClr val="1E293B"/>
                    </a:solidFill>
                    <a:latin typeface="Calibri"/>
                  </a:rPr>
                  <a:t> không đổi.</a:t>
                </a:r>
              </a:p>
              <a:p>
                <a:pPr algn="l" marL="365760" indent="-365760">
                  <a:spcAft>
                    <a:spcPts val="800"/>
                  </a:spcAft>
                  <a:buClr>
                    <a:srgbClr val="1E40AF"/>
                  </a:buClr>
                  <a:buFont typeface="Arial"/>
                  <a:buChar char="•"/>
                </a:pP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sSup>
                      <m:e>
                        <m:r>
                          <a:rPr lang="vi-VN" sz="2200" b="0">
                            <a:solidFill>
                              <a:srgbClr val="1E293B"/>
                            </a:solidFill>
                            <a:latin typeface="Cambria Math" panose="02040503050406030204" pitchFamily="18" charset="0"/>
                          </a:rPr>
                          <m:t>q</m:t>
                        </m:r>
                      </m:e>
                      <m:sup>
                        <m:r>
                          <a:rPr lang="vi-VN" sz="2200" b="0">
                            <a:solidFill>
                              <a:srgbClr val="1E293B"/>
                            </a:solidFill>
                            <a:latin typeface="Cambria Math" panose="02040503050406030204" pitchFamily="18" charset="0"/>
                          </a:rPr>
                          <m:t>n−1</m:t>
                        </m:r>
                      </m:sup>
                    </m:sSup>
                  </m:oMath>
                </a14:m>
                <a:r>
                  <a:rPr sz="2200">
                    <a:solidFill>
                      <a:srgbClr val="1E293B"/>
                    </a:solidFill>
                    <a:latin typeface="Calibri"/>
                  </a:rPr>
                  <a:t>.</a:t>
                </a:r>
              </a:p>
            </p:txBody>
          </p:sp>
        </mc:Choice>
        <mc:Fallback>
          <p:sp>
            <p:nvSpPr>
              <p:cNvPr id="8" name="TextBox 7"/>
              <p:cNvSpPr txBox="1"/>
              <p:nvPr/>
            </p:nvSpPr>
            <p:spPr>
              <a:xfrm>
                <a:off x="713232" y="1499616"/>
                <a:ext cx="10735056" cy="1114044"/>
              </a:xfrm>
              <a:prstGeom prst="rect">
                <a:avLst/>
              </a:prstGeom>
              <a:noFill/>
            </p:spPr>
            <p:txBody>
              <a:bodyPr wrap="square" anchor="ctr" lIns="45720" rIns="45720">
                <a:spAutoFit/>
              </a:bodyPr>
              <a:lstStyle/>
              <a:p>
                <a:pPr algn="l" marL="365760" indent="-365760">
                  <a:spcAft>
                    <a:spcPts val="800"/>
                  </a:spcAft>
                  <a:buClr>
                    <a:srgbClr val="1E40AF"/>
                  </a:buClr>
                  <a:buFont typeface="Arial"/>
                  <a:buChar char="•"/>
                </a:pPr>
                <a:r>
                  <a:rPr sz="2200">
                    <a:solidFill>
                      <a:srgbClr val="1E293B"/>
                    </a:solidFill>
                    <a:latin typeface="Calibri"/>
                  </a:rPr>
                  <a:t>Cấp số nhân: </a:t>
                </a:r>
                <a:r>
                  <a:rPr lang="vi-VN"/>
                  <a:t>u_n=u_{n-1}\cdot q</a:t>
                </a:r>
                <a:r>
                  <a:rPr sz="2200">
                    <a:solidFill>
                      <a:srgbClr val="1E293B"/>
                    </a:solidFill>
                    <a:latin typeface="Calibri"/>
                  </a:rPr>
                  <a:t>; chứng minh: tỉ số </a:t>
                </a:r>
                <a:r>
                  <a:rPr lang="vi-VN"/>
                  <a:t>\frac{u_n}{u_{n-1}}</a:t>
                </a:r>
                <a:r>
                  <a:rPr sz="2200">
                    <a:solidFill>
                      <a:srgbClr val="1E293B"/>
                    </a:solidFill>
                    <a:latin typeface="Calibri"/>
                  </a:rPr>
                  <a:t> không đổi.</a:t>
                </a:r>
              </a:p>
              <a:p>
                <a:pPr algn="l" marL="365760" indent="-365760">
                  <a:spcAft>
                    <a:spcPts val="800"/>
                  </a:spcAft>
                  <a:buClr>
                    <a:srgbClr val="1E40AF"/>
                  </a:buClr>
                  <a:buFont typeface="Arial"/>
                  <a:buChar char="•"/>
                </a:pPr>
                <a:r>
                  <a:rPr lang="vi-VN"/>
                  <a:t>u_n=u_1q^{n-1}</a:t>
                </a:r>
                <a:r>
                  <a:rPr sz="2200">
                    <a:solidFill>
                      <a:srgbClr val="1E293B"/>
                    </a:solidFill>
                    <a:latin typeface="Calibri"/>
                  </a:rPr>
                  <a:t>.</a:t>
                </a:r>
              </a:p>
            </p:txBody>
          </p:sp>
        </mc:Fallback>
      </mc:AlternateContent>
      <p:sp>
        <p:nvSpPr>
          <p:cNvPr id="9" name="Rounded Rectangle 8"/>
          <p:cNvSpPr/>
          <p:nvPr/>
        </p:nvSpPr>
        <p:spPr>
          <a:xfrm>
            <a:off x="548640" y="2878836"/>
            <a:ext cx="11064240" cy="1472184"/>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915412"/>
            <a:ext cx="10735056" cy="1399032"/>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Làm Bài tập 2.15, 2.16, 2.17 (SGK tr.55).</a:t>
            </a:r>
          </a:p>
          <a:p>
            <a:pPr algn="l" marL="365760" indent="-365760">
              <a:spcAft>
                <a:spcPts val="800"/>
              </a:spcAft>
              <a:buClr>
                <a:srgbClr val="1E40AF"/>
              </a:buClr>
              <a:buFont typeface="Arial"/>
              <a:buChar char="•"/>
            </a:pPr>
            <a:r>
              <a:rPr sz="2200">
                <a:solidFill>
                  <a:srgbClr val="1E293B"/>
                </a:solidFill>
                <a:latin typeface="Calibri"/>
              </a:rPr>
              <a:t>Đọc trước mục 3 (SGK tr.54).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172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37160"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10332720" cy="3291840"/>
          </a:xfrm>
          <a:prstGeom prst="rect">
            <a:avLst/>
          </a:prstGeom>
          <a:noFill/>
        </p:spPr>
        <p:txBody>
          <a:bodyPr wrap="square" anchor="ctr">
            <a:spAutoFit/>
          </a:bodyPr>
          <a:lstStyle/>
          <a:p>
            <a:pPr>
              <a:spcAft>
                <a:spcPts val="600"/>
              </a:spcAft>
            </a:pPr>
            <a:r>
              <a:rPr sz="2400" b="1">
                <a:solidFill>
                  <a:srgbClr val="FCD34D"/>
                </a:solidFill>
                <a:latin typeface="Cambria"/>
              </a:rPr>
              <a:t>TIẾT 2 (T16)</a:t>
            </a:r>
          </a:p>
          <a:p>
            <a:pPr>
              <a:spcAft>
                <a:spcPts val="600"/>
              </a:spcAft>
            </a:pPr>
            <a:r>
              <a:rPr sz="4000" b="1">
                <a:solidFill>
                  <a:srgbClr val="FFFFFF"/>
                </a:solidFill>
                <a:latin typeface="Cambria"/>
              </a:rPr>
              <a:t>Tổng n số hạng đầu của một cấp số nhân</a:t>
            </a:r>
          </a:p>
        </p:txBody>
      </p:sp>
      <p:sp>
        <p:nvSpPr>
          <p:cNvPr id="5" name="TextBox 4"/>
          <p:cNvSpPr txBox="1"/>
          <p:nvPr/>
        </p:nvSpPr>
        <p:spPr>
          <a:xfrm>
            <a:off x="1097280" y="4343400"/>
            <a:ext cx="10332720" cy="1828800"/>
          </a:xfrm>
          <a:prstGeom prst="rect">
            <a:avLst/>
          </a:prstGeom>
          <a:noFill/>
        </p:spPr>
        <p:txBody>
          <a:bodyPr wrap="square" anchor="t" lIns="45720" rIns="45720">
            <a:spAutoFit/>
          </a:bodyPr>
          <a:lstStyle/>
          <a:p>
            <a:pPr algn="l">
              <a:spcAft>
                <a:spcPts val="800"/>
              </a:spcAft>
            </a:pPr>
            <a:r>
              <a:rPr sz="2200">
                <a:solidFill>
                  <a:srgbClr val="E0E7FF"/>
                </a:solidFill>
                <a:latin typeface="Calibri"/>
              </a:rPr>
              <a:t>Mục tiêu tiết học:</a:t>
            </a:r>
          </a:p>
          <a:p>
            <a:pPr algn="l">
              <a:spcAft>
                <a:spcPts val="800"/>
              </a:spcAft>
            </a:pPr>
            <a:r>
              <a:rPr sz="2200">
                <a:solidFill>
                  <a:srgbClr val="E0E7FF"/>
                </a:solidFill>
                <a:latin typeface="Calibri"/>
              </a:rPr>
              <a:t>• Tính tổng n số hạng đầu của cấp số nhân.</a:t>
            </a:r>
          </a:p>
          <a:p>
            <a:pPr algn="l">
              <a:spcAft>
                <a:spcPts val="800"/>
              </a:spcAft>
            </a:pPr>
            <a:r>
              <a:rPr sz="2200">
                <a:solidFill>
                  <a:srgbClr val="E0E7FF"/>
                </a:solidFill>
                <a:latin typeface="Calibri"/>
              </a:rPr>
              <a:t>• So sánh các phương án lương; bài toán thực tiễn.</a:t>
            </a:r>
          </a:p>
        </p:txBody>
      </p:sp>
      <p:sp>
        <p:nvSpPr>
          <p:cNvPr id="6" name="TextBox 5"/>
          <p:cNvSpPr txBox="1"/>
          <p:nvPr/>
        </p:nvSpPr>
        <p:spPr>
          <a:xfrm>
            <a:off x="731520" y="6382512"/>
            <a:ext cx="10698480" cy="365760"/>
          </a:xfrm>
          <a:prstGeom prst="rect">
            <a:avLst/>
          </a:prstGeom>
          <a:noFill/>
        </p:spPr>
        <p:txBody>
          <a:bodyPr wrap="none">
            <a:spAutoFit/>
          </a:bodyPr>
          <a:lstStyle/>
          <a:p>
            <a:pPr algn="r"/>
            <a:r>
              <a:rPr sz="1200">
                <a:solidFill>
                  <a:srgbClr val="C7D2FE"/>
                </a:solidFill>
              </a:rPr>
              <a:t>GV Trương Tử Trang – THPT Vĩnh Thạnh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3. TỔNG n SỐ HẠNG ĐẦU – HĐ3 (SGK TR.54)</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Cấp số nhân – Toán 11          13</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11064240" cy="844295"/>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HĐ3.</a:t>
                </a:r>
                <a:r>
                  <a:rPr sz="2200">
                    <a:solidFill>
                      <a:srgbClr val="1E293B"/>
                    </a:solidFill>
                    <a:latin typeface="Calibri"/>
                  </a:rPr>
                  <a:t> Cấp số nhân </a:t>
                </a:r>
                <a14:m>
                  <m:oMath xmlns:m="http://schemas.openxmlformats.org/officeDocument/2006/math">
                    <m:d>
                      <m:dPr>
                        <m:sepChr m:val=""/>
                      </m:dPr>
                      <m:e>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e>
                    </m:d>
                  </m:oMath>
                </a14:m>
                <a:r>
                  <a:rPr sz="2200">
                    <a:solidFill>
                      <a:srgbClr val="1E293B"/>
                    </a:solidFill>
                    <a:latin typeface="Calibri"/>
                  </a:rPr>
                  <a:t> có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 công bội </a:t>
                </a:r>
                <a14:m>
                  <m:oMath xmlns:m="http://schemas.openxmlformats.org/officeDocument/2006/math">
                    <m:r>
                      <a:rPr lang="vi-VN" sz="2200" b="0">
                        <a:solidFill>
                          <a:srgbClr val="1E293B"/>
                        </a:solidFill>
                        <a:latin typeface="Cambria Math" panose="02040503050406030204" pitchFamily="18" charset="0"/>
                      </a:rPr>
                      <m:t>q≠1</m:t>
                    </m:r>
                  </m:oMath>
                </a14:m>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2</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a) Biểu diễn </a:t>
                </a:r>
                <a14:m>
                  <m:oMath xmlns:m="http://schemas.openxmlformats.org/officeDocument/2006/math">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theo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q</m:t>
                    </m:r>
                  </m:oMath>
                </a14:m>
                <a:r>
                  <a:rPr sz="2200">
                    <a:solidFill>
                      <a:srgbClr val="1E293B"/>
                    </a:solidFill>
                    <a:latin typeface="Calibri"/>
                  </a:rPr>
                  <a:t>. b) Tính </a:t>
                </a:r>
                <a14:m>
                  <m:oMath xmlns:m="http://schemas.openxmlformats.org/officeDocument/2006/math">
                    <m:r>
                      <a:rPr lang="vi-VN" sz="2200" b="0">
                        <a:solidFill>
                          <a:srgbClr val="1E293B"/>
                        </a:solidFill>
                        <a:latin typeface="Cambria Math" panose="02040503050406030204" pitchFamily="18" charset="0"/>
                      </a:rPr>
                      <m:t>q·</m:t>
                    </m:r>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c) Trừ từng vế để tính </a:t>
                </a:r>
                <a14:m>
                  <m:oMath xmlns:m="http://schemas.openxmlformats.org/officeDocument/2006/math">
                    <m:r>
                      <a:rPr lang="vi-VN" sz="2200" b="0">
                        <a:solidFill>
                          <a:srgbClr val="1E293B"/>
                        </a:solidFill>
                        <a:latin typeface="Cambria Math" panose="02040503050406030204" pitchFamily="18" charset="0"/>
                      </a:rPr>
                      <m:t>(1−q)</m:t>
                    </m:r>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a:t>
                </a:r>
              </a:p>
            </p:txBody>
          </p:sp>
        </mc:Choice>
        <mc:Fallback>
          <p:sp>
            <p:nvSpPr>
              <p:cNvPr id="7" name="TextBox 6"/>
              <p:cNvSpPr txBox="1"/>
              <p:nvPr/>
            </p:nvSpPr>
            <p:spPr>
              <a:xfrm>
                <a:off x="548640" y="1463040"/>
                <a:ext cx="11064240" cy="844295"/>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HĐ3.</a:t>
                </a:r>
                <a:r>
                  <a:rPr sz="2200">
                    <a:solidFill>
                      <a:srgbClr val="1E293B"/>
                    </a:solidFill>
                    <a:latin typeface="Calibri"/>
                  </a:rPr>
                  <a:t> Cấp số nhân </a:t>
                </a:r>
                <a:r>
                  <a:rPr lang="vi-VN"/>
                  <a:t>(u_n)</a:t>
                </a:r>
                <a:r>
                  <a:rPr sz="2200">
                    <a:solidFill>
                      <a:srgbClr val="1E293B"/>
                    </a:solidFill>
                    <a:latin typeface="Calibri"/>
                  </a:rPr>
                  <a:t> có </a:t>
                </a:r>
                <a:r>
                  <a:rPr lang="vi-VN"/>
                  <a:t>u_1</a:t>
                </a:r>
                <a:r>
                  <a:rPr sz="2200">
                    <a:solidFill>
                      <a:srgbClr val="1E293B"/>
                    </a:solidFill>
                    <a:latin typeface="Calibri"/>
                  </a:rPr>
                  <a:t>, công bội </a:t>
                </a:r>
                <a:r>
                  <a:rPr lang="vi-VN"/>
                  <a:t>q\ne 1</a:t>
                </a:r>
                <a:r>
                  <a:rPr sz="2200">
                    <a:solidFill>
                      <a:srgbClr val="1E293B"/>
                    </a:solidFill>
                    <a:latin typeface="Calibri"/>
                  </a:rPr>
                  <a:t>; </a:t>
                </a:r>
                <a:r>
                  <a:rPr lang="vi-VN"/>
                  <a:t>S_n=u_1+u_2+\ldots+u_n</a:t>
                </a:r>
                <a:r>
                  <a:rPr sz="2200">
                    <a:solidFill>
                      <a:srgbClr val="1E293B"/>
                    </a:solidFill>
                    <a:latin typeface="Calibri"/>
                  </a:rPr>
                  <a:t>. a) Biểu diễn </a:t>
                </a:r>
                <a:r>
                  <a:rPr lang="vi-VN"/>
                  <a:t>S_n</a:t>
                </a:r>
                <a:r>
                  <a:rPr sz="2200">
                    <a:solidFill>
                      <a:srgbClr val="1E293B"/>
                    </a:solidFill>
                    <a:latin typeface="Calibri"/>
                  </a:rPr>
                  <a:t> theo </a:t>
                </a:r>
                <a:r>
                  <a:rPr lang="vi-VN"/>
                  <a:t>u_1</a:t>
                </a:r>
                <a:r>
                  <a:rPr sz="2200">
                    <a:solidFill>
                      <a:srgbClr val="1E293B"/>
                    </a:solidFill>
                    <a:latin typeface="Calibri"/>
                  </a:rPr>
                  <a:t>, </a:t>
                </a:r>
                <a:r>
                  <a:rPr lang="vi-VN"/>
                  <a:t>q</a:t>
                </a:r>
                <a:r>
                  <a:rPr sz="2200">
                    <a:solidFill>
                      <a:srgbClr val="1E293B"/>
                    </a:solidFill>
                    <a:latin typeface="Calibri"/>
                  </a:rPr>
                  <a:t>. b) Tính </a:t>
                </a:r>
                <a:r>
                  <a:rPr lang="vi-VN"/>
                  <a:t>q\cdot S_n</a:t>
                </a:r>
                <a:r>
                  <a:rPr sz="2200">
                    <a:solidFill>
                      <a:srgbClr val="1E293B"/>
                    </a:solidFill>
                    <a:latin typeface="Calibri"/>
                  </a:rPr>
                  <a:t>. c) Trừ từng vế để tính </a:t>
                </a:r>
                <a:r>
                  <a:rPr lang="vi-VN"/>
                  <a:t>(1-q)S_n</a:t>
                </a:r>
                <a:r>
                  <a:rPr sz="2200">
                    <a:solidFill>
                      <a:srgbClr val="1E293B"/>
                    </a:solidFill>
                    <a:latin typeface="Calibri"/>
                  </a:rPr>
                  <a:t>.</a:t>
                </a:r>
              </a:p>
            </p:txBody>
          </p:sp>
        </mc:Fallback>
      </mc:AlternateContent>
      <p:sp>
        <p:nvSpPr>
          <p:cNvPr id="8" name="s1_nen"/>
          <p:cNvSpPr/>
          <p:nvPr/>
        </p:nvSpPr>
        <p:spPr>
          <a:xfrm>
            <a:off x="548640" y="2444496"/>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481072"/>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q+…+</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sSup>
                      <m:e>
                        <m:r>
                          <a:rPr lang="vi-VN" sz="2200" b="0">
                            <a:solidFill>
                              <a:srgbClr val="1E293B"/>
                            </a:solidFill>
                            <a:latin typeface="Cambria Math" panose="02040503050406030204" pitchFamily="18" charset="0"/>
                          </a:rPr>
                          <m:t>q</m:t>
                        </m:r>
                      </m:e>
                      <m:sup>
                        <m:r>
                          <a:rPr lang="vi-VN" sz="2200" b="0">
                            <a:solidFill>
                              <a:srgbClr val="1E293B"/>
                            </a:solidFill>
                            <a:latin typeface="Cambria Math" panose="02040503050406030204" pitchFamily="18" charset="0"/>
                          </a:rPr>
                          <m:t>n−1</m:t>
                        </m:r>
                      </m:sup>
                    </m:sSup>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q</m:t>
                    </m:r>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q+…+</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sSup>
                      <m:e>
                        <m:r>
                          <a:rPr lang="vi-VN" sz="2200" b="0">
                            <a:solidFill>
                              <a:srgbClr val="1E293B"/>
                            </a:solidFill>
                            <a:latin typeface="Cambria Math" panose="02040503050406030204" pitchFamily="18" charset="0"/>
                          </a:rPr>
                          <m:t>q</m:t>
                        </m:r>
                      </m:e>
                      <m:sup>
                        <m:r>
                          <a:rPr lang="vi-VN" sz="2200" b="0">
                            <a:solidFill>
                              <a:srgbClr val="1E293B"/>
                            </a:solidFill>
                            <a:latin typeface="Cambria Math" panose="02040503050406030204" pitchFamily="18" charset="0"/>
                          </a:rPr>
                          <m:t>n</m:t>
                        </m:r>
                      </m:sup>
                    </m:sSup>
                  </m:oMath>
                </a14:m>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(1−q)</m:t>
                    </m:r>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r>
                      <a:rPr lang="vi-VN" sz="2200" b="0">
                        <a:solidFill>
                          <a:srgbClr val="1E293B"/>
                        </a:solidFill>
                        <a:latin typeface="Cambria Math" panose="02040503050406030204" pitchFamily="18" charset="0"/>
                      </a:rPr>
                      <m:t>−</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sSup>
                      <m:e>
                        <m:r>
                          <a:rPr lang="vi-VN" sz="2200" b="0">
                            <a:solidFill>
                              <a:srgbClr val="1E293B"/>
                            </a:solidFill>
                            <a:latin typeface="Cambria Math" panose="02040503050406030204" pitchFamily="18" charset="0"/>
                          </a:rPr>
                          <m:t>q</m:t>
                        </m:r>
                      </m:e>
                      <m:sup>
                        <m:r>
                          <a:rPr lang="vi-VN" sz="2200" b="0">
                            <a:solidFill>
                              <a:srgbClr val="1E293B"/>
                            </a:solidFill>
                            <a:latin typeface="Cambria Math" panose="02040503050406030204" pitchFamily="18" charset="0"/>
                          </a:rPr>
                          <m:t>n</m:t>
                        </m:r>
                      </m:sup>
                    </m:sSup>
                  </m:oMath>
                </a14:m>
                <a:r>
                  <a:rPr sz="2200">
                    <a:solidFill>
                      <a:srgbClr val="1E293B"/>
                    </a:solidFill>
                    <a:latin typeface="Calibri"/>
                  </a:rPr>
                  <a:t>.</a:t>
                </a:r>
              </a:p>
            </p:txBody>
          </p:sp>
        </mc:Choice>
        <mc:Fallback>
          <p:sp>
            <p:nvSpPr>
              <p:cNvPr id="9" name="TextBox 8"/>
              <p:cNvSpPr txBox="1"/>
              <p:nvPr/>
            </p:nvSpPr>
            <p:spPr>
              <a:xfrm>
                <a:off x="713232" y="2481072"/>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S_n=u_1+u_1q+\ldots+u_1q^{n-1}</a:t>
                </a:r>
                <a:r>
                  <a:rPr sz="2200">
                    <a:solidFill>
                      <a:srgbClr val="1E293B"/>
                    </a:solidFill>
                    <a:latin typeface="Calibri"/>
                  </a:rPr>
                  <a:t>; </a:t>
                </a:r>
                <a:r>
                  <a:rPr lang="vi-VN"/>
                  <a:t>qS_n=u_1q+\ldots+u_1q^n</a:t>
                </a:r>
                <a:r>
                  <a:rPr sz="2200">
                    <a:solidFill>
                      <a:srgbClr val="1E293B"/>
                    </a:solidFill>
                    <a:latin typeface="Calibri"/>
                  </a:rPr>
                  <a:t>; </a:t>
                </a:r>
                <a:r>
                  <a:rPr lang="vi-VN"/>
                  <a:t>(1-q)S_n=u_1-u_1q^n</a:t>
                </a:r>
                <a:r>
                  <a:rPr sz="2200">
                    <a:solidFill>
                      <a:srgbClr val="1E293B"/>
                    </a:solidFill>
                    <a:latin typeface="Calibri"/>
                  </a:rPr>
                  <a:t>.</a:t>
                </a:r>
              </a:p>
            </p:txBody>
          </p:sp>
        </mc:Fallback>
      </mc:AlternateContent>
      <p:sp>
        <p:nvSpPr>
          <p:cNvPr id="10" name="s2_nen"/>
          <p:cNvSpPr/>
          <p:nvPr/>
        </p:nvSpPr>
        <p:spPr>
          <a:xfrm>
            <a:off x="548640" y="3182112"/>
            <a:ext cx="11064240" cy="1086612"/>
          </a:xfrm>
          <a:prstGeom prst="roundRect">
            <a:avLst>
              <a:gd name="adj" fmla="val 6000"/>
            </a:avLst>
          </a:prstGeom>
          <a:solidFill>
            <a:srgbClr val="FEF2F2"/>
          </a:solidFill>
          <a:ln w="19050">
            <a:solidFill>
              <a:srgbClr val="99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3218688"/>
                <a:ext cx="10735056" cy="1013460"/>
              </a:xfrm>
              <a:prstGeom prst="rect">
                <a:avLst/>
              </a:prstGeom>
              <a:noFill/>
            </p:spPr>
            <p:txBody>
              <a:bodyPr wrap="square" anchor="ctr" lIns="45720" rIns="45720">
                <a:spAutoFit/>
              </a:bodyPr>
              <a:lstStyle/>
              <a:p>
                <a:pPr algn="l">
                  <a:spcAft>
                    <a:spcPts val="800"/>
                  </a:spcAft>
                </a:pPr>
                <a:r>
                  <a:rPr sz="2400">
                    <a:solidFill>
                      <a:srgbClr val="1E293B"/>
                    </a:solidFill>
                    <a:latin typeface="Calibri"/>
                  </a:rPr>
                  <a:t>Cho cấp số nhân </a:t>
                </a:r>
                <a14:m>
                  <m:oMath xmlns:m="http://schemas.openxmlformats.org/officeDocument/2006/math">
                    <m:d>
                      <m:dPr>
                        <m:sepChr m:val=""/>
                      </m:dPr>
                      <m:e>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e>
                    </m:d>
                  </m:oMath>
                </a14:m>
                <a:r>
                  <a:rPr sz="2400">
                    <a:solidFill>
                      <a:srgbClr val="1E293B"/>
                    </a:solidFill>
                    <a:latin typeface="Calibri"/>
                  </a:rPr>
                  <a:t> với công bội </a:t>
                </a:r>
                <a14:m>
                  <m:oMath xmlns:m="http://schemas.openxmlformats.org/officeDocument/2006/math">
                    <m:r>
                      <a:rPr lang="vi-VN" sz="2400" b="0">
                        <a:solidFill>
                          <a:srgbClr val="1E293B"/>
                        </a:solidFill>
                        <a:latin typeface="Cambria Math" panose="02040503050406030204" pitchFamily="18" charset="0"/>
                      </a:rPr>
                      <m:t>q≠1</m:t>
                    </m:r>
                  </m:oMath>
                </a14:m>
                <a:r>
                  <a:rPr sz="2400">
                    <a:solidFill>
                      <a:srgbClr val="1E293B"/>
                    </a:solidFill>
                    <a:latin typeface="Calibri"/>
                  </a:rPr>
                  <a:t>. Đặt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2</m:t>
                        </m:r>
                      </m:sub>
                    </m:sSub>
                    <m:r>
                      <a:rPr lang="vi-VN" sz="2400" b="0">
                        <a:solidFill>
                          <a:srgbClr val="1E293B"/>
                        </a:solidFill>
                        <a:latin typeface="Cambria Math" panose="02040503050406030204" pitchFamily="18" charset="0"/>
                      </a:rPr>
                      <m:t>+…+</m:t>
                    </m:r>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n</m:t>
                        </m:r>
                      </m:sub>
                    </m:sSub>
                  </m:oMath>
                </a14:m>
                <a:r>
                  <a:rPr sz="2400">
                    <a:solidFill>
                      <a:srgbClr val="1E293B"/>
                    </a:solidFill>
                    <a:latin typeface="Calibri"/>
                  </a:rPr>
                  <a:t>. Khi đó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n</m:t>
                        </m:r>
                      </m:sub>
                    </m:sSub>
                    <m:r>
                      <a:rPr lang="vi-VN" sz="2400" b="0">
                        <a:solidFill>
                          <a:srgbClr val="1E293B"/>
                        </a:solidFill>
                        <a:latin typeface="Cambria Math" panose="02040503050406030204" pitchFamily="18" charset="0"/>
                      </a:rPr>
                      <m:t>=</m:t>
                    </m:r>
                    <m:f>
                      <m:fPr>
                        <m:type m:val="bar"/>
                      </m:fPr>
                      <m:num>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m:t>
                        </m:r>
                        <m:sSup>
                          <m:e>
                            <m:r>
                              <a:rPr lang="vi-VN" sz="2400" b="0">
                                <a:solidFill>
                                  <a:srgbClr val="1E293B"/>
                                </a:solidFill>
                                <a:latin typeface="Cambria Math" panose="02040503050406030204" pitchFamily="18" charset="0"/>
                              </a:rPr>
                              <m:t>q</m:t>
                            </m:r>
                          </m:e>
                          <m:sup>
                            <m:r>
                              <a:rPr lang="vi-VN" sz="2400" b="0">
                                <a:solidFill>
                                  <a:srgbClr val="1E293B"/>
                                </a:solidFill>
                                <a:latin typeface="Cambria Math" panose="02040503050406030204" pitchFamily="18" charset="0"/>
                              </a:rPr>
                              <m:t>n</m:t>
                            </m:r>
                          </m:sup>
                        </m:sSup>
                        <m:r>
                          <a:rPr lang="vi-VN" sz="2400" b="0">
                            <a:solidFill>
                              <a:srgbClr val="1E293B"/>
                            </a:solidFill>
                            <a:latin typeface="Cambria Math" panose="02040503050406030204" pitchFamily="18" charset="0"/>
                          </a:rPr>
                          <m:t>)</m:t>
                        </m:r>
                      </m:num>
                      <m:den>
                        <m:r>
                          <a:rPr lang="vi-VN" sz="2400" b="0">
                            <a:solidFill>
                              <a:srgbClr val="1E293B"/>
                            </a:solidFill>
                            <a:latin typeface="Cambria Math" panose="02040503050406030204" pitchFamily="18" charset="0"/>
                          </a:rPr>
                          <m:t>1−q</m:t>
                        </m:r>
                      </m:den>
                    </m:f>
                  </m:oMath>
                </a14:m>
                <a:r>
                  <a:rPr sz="2400">
                    <a:solidFill>
                      <a:srgbClr val="1E293B"/>
                    </a:solidFill>
                    <a:latin typeface="Calibri"/>
                  </a:rPr>
                  <a:t>.</a:t>
                </a:r>
              </a:p>
            </p:txBody>
          </p:sp>
        </mc:Choice>
        <mc:Fallback>
          <p:sp>
            <p:nvSpPr>
              <p:cNvPr id="11" name="TextBox 10"/>
              <p:cNvSpPr txBox="1"/>
              <p:nvPr/>
            </p:nvSpPr>
            <p:spPr>
              <a:xfrm>
                <a:off x="713232" y="3218688"/>
                <a:ext cx="10735056" cy="1013460"/>
              </a:xfrm>
              <a:prstGeom prst="rect">
                <a:avLst/>
              </a:prstGeom>
              <a:noFill/>
            </p:spPr>
            <p:txBody>
              <a:bodyPr wrap="square" anchor="ctr" lIns="45720" rIns="45720">
                <a:spAutoFit/>
              </a:bodyPr>
              <a:lstStyle/>
              <a:p>
                <a:pPr algn="l">
                  <a:spcAft>
                    <a:spcPts val="800"/>
                  </a:spcAft>
                </a:pPr>
                <a:r>
                  <a:rPr sz="2400">
                    <a:solidFill>
                      <a:srgbClr val="1E293B"/>
                    </a:solidFill>
                    <a:latin typeface="Calibri"/>
                  </a:rPr>
                  <a:t>Cho cấp số nhân </a:t>
                </a:r>
                <a:r>
                  <a:rPr lang="vi-VN"/>
                  <a:t>(u_n)</a:t>
                </a:r>
                <a:r>
                  <a:rPr sz="2400">
                    <a:solidFill>
                      <a:srgbClr val="1E293B"/>
                    </a:solidFill>
                    <a:latin typeface="Calibri"/>
                  </a:rPr>
                  <a:t> với công bội </a:t>
                </a:r>
                <a:r>
                  <a:rPr lang="vi-VN"/>
                  <a:t>q\ne 1</a:t>
                </a:r>
                <a:r>
                  <a:rPr sz="2400">
                    <a:solidFill>
                      <a:srgbClr val="1E293B"/>
                    </a:solidFill>
                    <a:latin typeface="Calibri"/>
                  </a:rPr>
                  <a:t>. Đặt </a:t>
                </a:r>
                <a:r>
                  <a:rPr lang="vi-VN"/>
                  <a:t>S_n=u_1+u_2+\ldots+u_n</a:t>
                </a:r>
                <a:r>
                  <a:rPr sz="2400">
                    <a:solidFill>
                      <a:srgbClr val="1E293B"/>
                    </a:solidFill>
                    <a:latin typeface="Calibri"/>
                  </a:rPr>
                  <a:t>. Khi đó </a:t>
                </a:r>
                <a:r>
                  <a:rPr lang="vi-VN"/>
                  <a:t>S_n=\frac{u_1(1-q^n)}{1-q}</a:t>
                </a:r>
                <a:r>
                  <a:rPr sz="24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2" name="s3_chu"/>
              <p:cNvSpPr txBox="1"/>
              <p:nvPr/>
            </p:nvSpPr>
            <p:spPr>
              <a:xfrm>
                <a:off x="548640" y="4405884"/>
                <a:ext cx="11064240" cy="844295"/>
              </a:xfrm>
              <a:prstGeom prst="rect">
                <a:avLst/>
              </a:prstGeom>
              <a:noFill/>
            </p:spPr>
            <p:txBody>
              <a:bodyPr wrap="square" anchor="t" lIns="45720" rIns="45720">
                <a:spAutoFit/>
              </a:bodyPr>
              <a:lstStyle/>
              <a:p>
                <a:pPr algn="l">
                  <a:spcAft>
                    <a:spcPts val="800"/>
                  </a:spcAft>
                </a:pPr>
                <a:r>
                  <a:rPr sz="2200">
                    <a:solidFill>
                      <a:srgbClr val="1E293B"/>
                    </a:solidFill>
                    <a:latin typeface="Calibri"/>
                  </a:rPr>
                  <a:t>❓ Nếu cấp số nhân có công bội </a:t>
                </a:r>
                <a14:m>
                  <m:oMath xmlns:m="http://schemas.openxmlformats.org/officeDocument/2006/math">
                    <m:r>
                      <a:rPr lang="vi-VN" sz="2200" b="0">
                        <a:solidFill>
                          <a:srgbClr val="1E293B"/>
                        </a:solidFill>
                        <a:latin typeface="Cambria Math" panose="02040503050406030204" pitchFamily="18" charset="0"/>
                      </a:rPr>
                      <m:t>q=1</m:t>
                    </m:r>
                  </m:oMath>
                </a14:m>
                <a:r>
                  <a:rPr sz="2200">
                    <a:solidFill>
                      <a:srgbClr val="1E293B"/>
                    </a:solidFill>
                    <a:latin typeface="Calibri"/>
                  </a:rPr>
                  <a:t> thì tổng </a:t>
                </a:r>
                <a14:m>
                  <m:oMath xmlns:m="http://schemas.openxmlformats.org/officeDocument/2006/math">
                    <m:r>
                      <a:rPr lang="vi-VN" sz="2200" b="0">
                        <a:solidFill>
                          <a:srgbClr val="1E293B"/>
                        </a:solidFill>
                        <a:latin typeface="Cambria Math" panose="02040503050406030204" pitchFamily="18" charset="0"/>
                      </a:rPr>
                      <m:t>n</m:t>
                    </m:r>
                  </m:oMath>
                </a14:m>
                <a:r>
                  <a:rPr sz="2200">
                    <a:solidFill>
                      <a:srgbClr val="1E293B"/>
                    </a:solidFill>
                    <a:latin typeface="Calibri"/>
                  </a:rPr>
                  <a:t> số hạng đầu </a:t>
                </a:r>
                <a14:m>
                  <m:oMath xmlns:m="http://schemas.openxmlformats.org/officeDocument/2006/math">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oMath>
                </a14:m>
                <a:r>
                  <a:rPr sz="2200">
                    <a:solidFill>
                      <a:srgbClr val="1E293B"/>
                    </a:solidFill>
                    <a:latin typeface="Calibri"/>
                  </a:rPr>
                  <a:t> bằng bao nhiêu?</a:t>
                </a:r>
              </a:p>
            </p:txBody>
          </p:sp>
        </mc:Choice>
        <mc:Fallback>
          <p:sp>
            <p:nvSpPr>
              <p:cNvPr id="12" name="TextBox 11"/>
              <p:cNvSpPr txBox="1"/>
              <p:nvPr/>
            </p:nvSpPr>
            <p:spPr>
              <a:xfrm>
                <a:off x="548640" y="4405884"/>
                <a:ext cx="11064240" cy="844295"/>
              </a:xfrm>
              <a:prstGeom prst="rect">
                <a:avLst/>
              </a:prstGeom>
              <a:noFill/>
            </p:spPr>
            <p:txBody>
              <a:bodyPr wrap="square" anchor="t" lIns="45720" rIns="45720">
                <a:spAutoFit/>
              </a:bodyPr>
              <a:lstStyle/>
              <a:p>
                <a:pPr algn="l">
                  <a:spcAft>
                    <a:spcPts val="800"/>
                  </a:spcAft>
                </a:pPr>
                <a:r>
                  <a:rPr sz="2200">
                    <a:solidFill>
                      <a:srgbClr val="1E293B"/>
                    </a:solidFill>
                    <a:latin typeface="Calibri"/>
                  </a:rPr>
                  <a:t>❓ Nếu cấp số nhân có công bội </a:t>
                </a:r>
                <a:r>
                  <a:rPr lang="vi-VN"/>
                  <a:t>q=1</a:t>
                </a:r>
                <a:r>
                  <a:rPr sz="2200">
                    <a:solidFill>
                      <a:srgbClr val="1E293B"/>
                    </a:solidFill>
                    <a:latin typeface="Calibri"/>
                  </a:rPr>
                  <a:t> thì tổng </a:t>
                </a:r>
                <a:r>
                  <a:rPr lang="vi-VN"/>
                  <a:t>n</a:t>
                </a:r>
                <a:r>
                  <a:rPr sz="2200">
                    <a:solidFill>
                      <a:srgbClr val="1E293B"/>
                    </a:solidFill>
                    <a:latin typeface="Calibri"/>
                  </a:rPr>
                  <a:t> số hạng đầu </a:t>
                </a:r>
                <a:r>
                  <a:rPr lang="vi-VN"/>
                  <a:t>S_n</a:t>
                </a:r>
                <a:r>
                  <a:rPr sz="2200">
                    <a:solidFill>
                      <a:srgbClr val="1E293B"/>
                    </a:solidFill>
                    <a:latin typeface="Calibri"/>
                  </a:rPr>
                  <a:t> bằng bao nhiêu?</a:t>
                </a:r>
              </a:p>
            </p:txBody>
          </p:sp>
        </mc:Fallback>
      </mc:AlternateContent>
      <p:sp>
        <p:nvSpPr>
          <p:cNvPr id="13" name="s4_nen"/>
          <p:cNvSpPr/>
          <p:nvPr/>
        </p:nvSpPr>
        <p:spPr>
          <a:xfrm>
            <a:off x="548640" y="538734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4" name="s4_chu"/>
              <p:cNvSpPr txBox="1"/>
              <p:nvPr/>
            </p:nvSpPr>
            <p:spPr>
              <a:xfrm>
                <a:off x="713232" y="5423916"/>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S</m:t>
                        </m:r>
                      </m:e>
                      <m:sub>
                        <m:r>
                          <a:rPr lang="vi-VN" sz="2200" b="0">
                            <a:solidFill>
                              <a:srgbClr val="1E293B"/>
                            </a:solidFill>
                            <a:latin typeface="Cambria Math" panose="02040503050406030204" pitchFamily="18" charset="0"/>
                          </a:rPr>
                          <m:t>n</m:t>
                        </m:r>
                      </m:sub>
                    </m:sSub>
                    <m:r>
                      <a:rPr lang="vi-VN" sz="2200" b="0">
                        <a:solidFill>
                          <a:srgbClr val="1E293B"/>
                        </a:solidFill>
                        <a:latin typeface="Cambria Math" panose="02040503050406030204" pitchFamily="18" charset="0"/>
                      </a:rPr>
                      <m:t>=n</m:t>
                    </m:r>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1</m:t>
                        </m:r>
                      </m:sub>
                    </m:sSub>
                  </m:oMath>
                </a14:m>
                <a:r>
                  <a:rPr sz="2200">
                    <a:solidFill>
                      <a:srgbClr val="1E293B"/>
                    </a:solidFill>
                    <a:latin typeface="Calibri"/>
                  </a:rPr>
                  <a:t>.</a:t>
                </a:r>
              </a:p>
            </p:txBody>
          </p:sp>
        </mc:Choice>
        <mc:Fallback>
          <p:sp>
            <p:nvSpPr>
              <p:cNvPr id="14" name="TextBox 13"/>
              <p:cNvSpPr txBox="1"/>
              <p:nvPr/>
            </p:nvSpPr>
            <p:spPr>
              <a:xfrm>
                <a:off x="713232" y="5423916"/>
                <a:ext cx="10735056" cy="527304"/>
              </a:xfrm>
              <a:prstGeom prst="rect">
                <a:avLst/>
              </a:prstGeom>
              <a:noFill/>
            </p:spPr>
            <p:txBody>
              <a:bodyPr wrap="square" anchor="ctr" lIns="45720" rIns="45720">
                <a:spAutoFit/>
              </a:bodyPr>
              <a:lstStyle/>
              <a:p>
                <a:pPr algn="l">
                  <a:spcAft>
                    <a:spcPts val="800"/>
                  </a:spcAft>
                </a:pPr>
                <a:r>
                  <a:rPr sz="2200">
                    <a:solidFill>
                      <a:srgbClr val="1E293B"/>
                    </a:solidFill>
                    <a:latin typeface="Calibri"/>
                  </a:rPr>
                  <a:t> </a:t>
                </a:r>
                <a:r>
                  <a:rPr lang="vi-VN"/>
                  <a:t>S_n=nu_1</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037015" y="457200"/>
            <a:ext cx="2606040" cy="457200"/>
          </a:xfrm>
          <a:prstGeom prst="round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HÌNH THÀNH KIẾN THỨC</a:t>
            </a:r>
          </a:p>
        </p:txBody>
      </p:sp>
      <p:sp>
        <p:nvSpPr>
          <p:cNvPr id="4" name="TextBox 3"/>
          <p:cNvSpPr txBox="1"/>
          <p:nvPr/>
        </p:nvSpPr>
        <p:spPr>
          <a:xfrm>
            <a:off x="731520" y="274320"/>
            <a:ext cx="8366760" cy="868680"/>
          </a:xfrm>
          <a:prstGeom prst="rect">
            <a:avLst/>
          </a:prstGeom>
          <a:noFill/>
        </p:spPr>
        <p:txBody>
          <a:bodyPr wrap="square" anchor="ctr">
            <a:spAutoFit/>
          </a:bodyPr>
          <a:lstStyle/>
          <a:p>
            <a:r>
              <a:rPr sz="3000" b="1">
                <a:solidFill>
                  <a:srgbClr val="1E40AF"/>
                </a:solidFill>
                <a:latin typeface="Cambria"/>
              </a:rPr>
              <a:t>VÍ DỤ 5 – VÍ DỤ 6 (SGK TR.54 – 55)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Cấp số nhân – Toán 11          14</a:t>
            </a:r>
          </a:p>
        </p:txBody>
      </p:sp>
      <p:sp>
        <p:nvSpPr>
          <p:cNvPr id="7" name="TextBox 6"/>
          <p:cNvSpPr txBox="1"/>
          <p:nvPr/>
        </p:nvSpPr>
        <p:spPr>
          <a:xfrm>
            <a:off x="548640" y="1554480"/>
            <a:ext cx="11064240" cy="874775"/>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Ví dụ 5.</a:t>
            </a:r>
            <a:r>
              <a:rPr sz="2300">
                <a:solidFill>
                  <a:srgbClr val="1E293B"/>
                </a:solidFill>
                <a:latin typeface="Calibri"/>
              </a:rPr>
              <a:t> Giải bài toán ở tình huống mở đầu (240 triệu đồng, tăng 5% mỗi năm, 10 năm).</a:t>
            </a:r>
          </a:p>
        </p:txBody>
      </p:sp>
      <p:sp>
        <p:nvSpPr>
          <p:cNvPr id="8" name="s1_nen"/>
          <p:cNvSpPr/>
          <p:nvPr/>
        </p:nvSpPr>
        <p:spPr>
          <a:xfrm>
            <a:off x="548640" y="2612136"/>
            <a:ext cx="11064240" cy="112395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648712"/>
                <a:ext cx="10735056" cy="1050798"/>
              </a:xfrm>
              <a:prstGeom prst="rect">
                <a:avLst/>
              </a:prstGeom>
              <a:noFill/>
            </p:spPr>
            <p:txBody>
              <a:bodyPr wrap="square" anchor="ctr" lIns="45720" rIns="45720">
                <a:spAutoFit/>
              </a:bodyPr>
              <a:lstStyle/>
              <a:p>
                <a:pPr algn="l">
                  <a:spcAft>
                    <a:spcPts val="800"/>
                  </a:spcAft>
                </a:pPr>
                <a:r>
                  <a:rPr sz="2300">
                    <a:solidFill>
                      <a:srgbClr val="1E293B"/>
                    </a:solidFill>
                    <a:latin typeface="Calibri"/>
                  </a:rPr>
                  <a:t>Cấp số nhân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1</m:t>
                        </m:r>
                      </m:sub>
                    </m:sSub>
                    <m:r>
                      <a:rPr lang="vi-VN" sz="2300" b="0">
                        <a:solidFill>
                          <a:srgbClr val="1E293B"/>
                        </a:solidFill>
                        <a:latin typeface="Cambria Math" panose="02040503050406030204" pitchFamily="18" charset="0"/>
                      </a:rPr>
                      <m:t>=240</m:t>
                    </m:r>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q=1</m:t>
                    </m:r>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05</m:t>
                    </m:r>
                  </m:oMath>
                </a14:m>
                <a:r>
                  <a:rPr sz="2300">
                    <a:solidFill>
                      <a:srgbClr val="1E293B"/>
                    </a:solidFill>
                    <a:latin typeface="Calibri"/>
                  </a:rPr>
                  <a:t>: </a:t>
                </a:r>
                <a14:m>
                  <m:oMath xmlns:m="http://schemas.openxmlformats.org/officeDocument/2006/math">
                    <m:sSub>
                      <m:e>
                        <m:r>
                          <a:rPr lang="vi-VN" sz="2300" b="0">
                            <a:solidFill>
                              <a:srgbClr val="1E293B"/>
                            </a:solidFill>
                            <a:latin typeface="Cambria Math" panose="02040503050406030204" pitchFamily="18" charset="0"/>
                          </a:rPr>
                          <m:t>S</m:t>
                        </m:r>
                      </m:e>
                      <m:sub>
                        <m:r>
                          <a:rPr lang="vi-VN" sz="2300" b="0">
                            <a:solidFill>
                              <a:srgbClr val="1E293B"/>
                            </a:solidFill>
                            <a:latin typeface="Cambria Math" panose="02040503050406030204" pitchFamily="18" charset="0"/>
                          </a:rPr>
                          <m:t>10</m:t>
                        </m:r>
                      </m:sub>
                    </m:sSub>
                    <m:r>
                      <a:rPr lang="vi-VN" sz="2300" b="0">
                        <a:solidFill>
                          <a:srgbClr val="1E293B"/>
                        </a:solidFill>
                        <a:latin typeface="Cambria Math" panose="02040503050406030204" pitchFamily="18" charset="0"/>
                      </a:rPr>
                      <m:t>=</m:t>
                    </m:r>
                    <m:f>
                      <m:fPr>
                        <m:type m:val="bar"/>
                      </m:fPr>
                      <m:num>
                        <m:r>
                          <a:rPr lang="vi-VN" sz="2300" b="0">
                            <a:solidFill>
                              <a:srgbClr val="1E293B"/>
                            </a:solidFill>
                            <a:latin typeface="Cambria Math" panose="02040503050406030204" pitchFamily="18" charset="0"/>
                          </a:rPr>
                          <m:t>240[1−(1</m:t>
                        </m:r>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05</m:t>
                        </m:r>
                        <m:sSup>
                          <m:e>
                            <m:r>
                              <a:rPr lang="vi-VN" sz="2300" b="0">
                                <a:solidFill>
                                  <a:srgbClr val="1E293B"/>
                                </a:solidFill>
                                <a:latin typeface="Cambria Math" panose="02040503050406030204" pitchFamily="18" charset="0"/>
                              </a:rPr>
                              <m:t>)</m:t>
                            </m:r>
                          </m:e>
                          <m:sup>
                            <m:r>
                              <a:rPr lang="vi-VN" sz="2300" b="0">
                                <a:solidFill>
                                  <a:srgbClr val="1E293B"/>
                                </a:solidFill>
                                <a:latin typeface="Cambria Math" panose="02040503050406030204" pitchFamily="18" charset="0"/>
                              </a:rPr>
                              <m:t>10</m:t>
                            </m:r>
                          </m:sup>
                        </m:sSup>
                        <m:r>
                          <a:rPr lang="vi-VN" sz="2300" b="0">
                            <a:solidFill>
                              <a:srgbClr val="1E293B"/>
                            </a:solidFill>
                            <a:latin typeface="Cambria Math" panose="02040503050406030204" pitchFamily="18" charset="0"/>
                          </a:rPr>
                          <m:t>]</m:t>
                        </m:r>
                      </m:num>
                      <m:den>
                        <m:r>
                          <a:rPr lang="vi-VN" sz="2300" b="0">
                            <a:solidFill>
                              <a:srgbClr val="1E293B"/>
                            </a:solidFill>
                            <a:latin typeface="Cambria Math" panose="02040503050406030204" pitchFamily="18" charset="0"/>
                          </a:rPr>
                          <m:t>1−1</m:t>
                        </m:r>
                        <m:r>
                          <a:rPr lang="vi-VN" sz="2300" b="0">
                            <a:solidFill>
                              <a:srgbClr val="1E293B"/>
                            </a:solidFill>
                            <a:latin typeface="Cambria Math" panose="02040503050406030204" pitchFamily="18" charset="0"/>
                          </a:rPr>
                          <m:t>,</m:t>
                        </m:r>
                        <m:r>
                          <a:rPr lang="vi-VN" sz="2300" b="0">
                            <a:solidFill>
                              <a:srgbClr val="1E293B"/>
                            </a:solidFill>
                            <a:latin typeface="Cambria Math" panose="02040503050406030204" pitchFamily="18" charset="0"/>
                          </a:rPr>
                          <m:t>05</m:t>
                        </m:r>
                      </m:den>
                    </m:f>
                    <m:r>
                      <a:rPr lang="vi-VN" sz="2300" b="0">
                        <a:solidFill>
                          <a:srgbClr val="1E293B"/>
                        </a:solidFill>
                        <a:latin typeface="Cambria Math" panose="02040503050406030204" pitchFamily="18" charset="0"/>
                      </a:rPr>
                      <m:t>≈3</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019</m:t>
                    </m:r>
                  </m:oMath>
                </a14:m>
                <a:r>
                  <a:rPr sz="2300">
                    <a:solidFill>
                      <a:srgbClr val="1E293B"/>
                    </a:solidFill>
                    <a:latin typeface="Calibri"/>
                  </a:rPr>
                  <a:t> (triệu đồng) hay khoảng 3,019 tỉ đồng.</a:t>
                </a:r>
              </a:p>
            </p:txBody>
          </p:sp>
        </mc:Choice>
        <mc:Fallback>
          <p:sp>
            <p:nvSpPr>
              <p:cNvPr id="9" name="TextBox 8"/>
              <p:cNvSpPr txBox="1"/>
              <p:nvPr/>
            </p:nvSpPr>
            <p:spPr>
              <a:xfrm>
                <a:off x="713232" y="2648712"/>
                <a:ext cx="10735056" cy="1050798"/>
              </a:xfrm>
              <a:prstGeom prst="rect">
                <a:avLst/>
              </a:prstGeom>
              <a:noFill/>
            </p:spPr>
            <p:txBody>
              <a:bodyPr wrap="square" anchor="ctr" lIns="45720" rIns="45720">
                <a:spAutoFit/>
              </a:bodyPr>
              <a:lstStyle/>
              <a:p>
                <a:pPr algn="l">
                  <a:spcAft>
                    <a:spcPts val="800"/>
                  </a:spcAft>
                </a:pPr>
                <a:r>
                  <a:rPr sz="2300">
                    <a:solidFill>
                      <a:srgbClr val="1E293B"/>
                    </a:solidFill>
                    <a:latin typeface="Calibri"/>
                  </a:rPr>
                  <a:t>Cấp số nhân </a:t>
                </a:r>
                <a:r>
                  <a:rPr lang="vi-VN"/>
                  <a:t>u_1=240</a:t>
                </a:r>
                <a:r>
                  <a:rPr sz="2300">
                    <a:solidFill>
                      <a:srgbClr val="1E293B"/>
                    </a:solidFill>
                    <a:latin typeface="Calibri"/>
                  </a:rPr>
                  <a:t>, </a:t>
                </a:r>
                <a:r>
                  <a:rPr lang="vi-VN"/>
                  <a:t>q=1{,}05</a:t>
                </a:r>
                <a:r>
                  <a:rPr sz="2300">
                    <a:solidFill>
                      <a:srgbClr val="1E293B"/>
                    </a:solidFill>
                    <a:latin typeface="Calibri"/>
                  </a:rPr>
                  <a:t>: </a:t>
                </a:r>
                <a:r>
                  <a:rPr lang="vi-VN"/>
                  <a:t>S_{10}=\frac{240[1-(1{,}05)^{10}]}{1-1{,}05}\approx 3\ 019</a:t>
                </a:r>
                <a:r>
                  <a:rPr sz="2300">
                    <a:solidFill>
                      <a:srgbClr val="1E293B"/>
                    </a:solidFill>
                    <a:latin typeface="Calibri"/>
                  </a:rPr>
                  <a:t> (triệu đồng) hay khoảng 3,019 tỉ đồng.</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918966"/>
                <a:ext cx="11064240" cy="874775"/>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Ví dụ 6.</a:t>
                </a:r>
                <a:r>
                  <a:rPr sz="2300">
                    <a:solidFill>
                      <a:srgbClr val="1E293B"/>
                    </a:solidFill>
                    <a:latin typeface="Calibri"/>
                  </a:rPr>
                  <a:t> Cần lấy tổng của bao nhiêu số hạng đầu của cấp số nhân </a:t>
                </a:r>
                <a14:m>
                  <m:oMath xmlns:m="http://schemas.openxmlformats.org/officeDocument/2006/math">
                    <m:r>
                      <a:rPr lang="vi-VN" sz="2300" b="0">
                        <a:solidFill>
                          <a:srgbClr val="1E293B"/>
                        </a:solidFill>
                        <a:latin typeface="Cambria Math" panose="02040503050406030204" pitchFamily="18" charset="0"/>
                      </a:rPr>
                      <m:t>2,</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6,</m:t>
                    </m:r>
                    <m:r>
                      <m:rPr>
                        <m:sty m:val="p"/>
                      </m:rPr>
                      <a:rPr lang="vi-VN" sz="2300" b="0">
                        <a:solidFill>
                          <a:srgbClr val="1E293B"/>
                        </a:solidFill>
                        <a:latin typeface="Cambria Math" panose="02040503050406030204" pitchFamily="18" charset="0"/>
                      </a:rPr>
                      <m:t> </m:t>
                    </m:r>
                    <m:r>
                      <a:rPr lang="vi-VN" sz="2300" b="0">
                        <a:solidFill>
                          <a:srgbClr val="1E293B"/>
                        </a:solidFill>
                        <a:latin typeface="Cambria Math" panose="02040503050406030204" pitchFamily="18" charset="0"/>
                      </a:rPr>
                      <m:t>18,…</m:t>
                    </m:r>
                  </m:oMath>
                </a14:m>
                <a:r>
                  <a:rPr sz="2300">
                    <a:solidFill>
                      <a:srgbClr val="1E293B"/>
                    </a:solidFill>
                    <a:latin typeface="Calibri"/>
                  </a:rPr>
                  <a:t> để được 728?</a:t>
                </a:r>
              </a:p>
            </p:txBody>
          </p:sp>
        </mc:Choice>
        <mc:Fallback>
          <p:sp>
            <p:nvSpPr>
              <p:cNvPr id="10" name="TextBox 9"/>
              <p:cNvSpPr txBox="1"/>
              <p:nvPr/>
            </p:nvSpPr>
            <p:spPr>
              <a:xfrm>
                <a:off x="548640" y="3918966"/>
                <a:ext cx="11064240" cy="874775"/>
              </a:xfrm>
              <a:prstGeom prst="rect">
                <a:avLst/>
              </a:prstGeom>
              <a:noFill/>
            </p:spPr>
            <p:txBody>
              <a:bodyPr wrap="square" anchor="t" lIns="45720" rIns="45720">
                <a:spAutoFit/>
              </a:bodyPr>
              <a:lstStyle/>
              <a:p>
                <a:pPr algn="l">
                  <a:spcAft>
                    <a:spcPts val="800"/>
                  </a:spcAft>
                </a:pPr>
                <a:r>
                  <a:rPr sz="2300" b="1">
                    <a:solidFill>
                      <a:srgbClr val="1E293B"/>
                    </a:solidFill>
                    <a:latin typeface="Calibri"/>
                  </a:rPr>
                  <a:t>Ví dụ 6.</a:t>
                </a:r>
                <a:r>
                  <a:rPr sz="2300">
                    <a:solidFill>
                      <a:srgbClr val="1E293B"/>
                    </a:solidFill>
                    <a:latin typeface="Calibri"/>
                  </a:rPr>
                  <a:t> Cần lấy tổng của bao nhiêu số hạng đầu của cấp số nhân </a:t>
                </a:r>
                <a:r>
                  <a:rPr lang="vi-VN"/>
                  <a:t>2,\ 6,\ 18,\ldots</a:t>
                </a:r>
                <a:r>
                  <a:rPr sz="2300">
                    <a:solidFill>
                      <a:srgbClr val="1E293B"/>
                    </a:solidFill>
                    <a:latin typeface="Calibri"/>
                  </a:rPr>
                  <a:t> để được 728?</a:t>
                </a:r>
              </a:p>
            </p:txBody>
          </p:sp>
        </mc:Fallback>
      </mc:AlternateContent>
      <p:sp>
        <p:nvSpPr>
          <p:cNvPr id="11" name="s3_nen"/>
          <p:cNvSpPr/>
          <p:nvPr/>
        </p:nvSpPr>
        <p:spPr>
          <a:xfrm>
            <a:off x="548640" y="4976622"/>
            <a:ext cx="11064240" cy="773430"/>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5013198"/>
                <a:ext cx="10735056" cy="700278"/>
              </a:xfrm>
              <a:prstGeom prst="rect">
                <a:avLst/>
              </a:prstGeom>
              <a:noFill/>
            </p:spPr>
            <p:txBody>
              <a:bodyPr wrap="square" anchor="ctr" lIns="45720" rIns="45720">
                <a:spAutoFit/>
              </a:bodyPr>
              <a:lstStyle/>
              <a:p>
                <a:pPr algn="l">
                  <a:spcAft>
                    <a:spcPts val="800"/>
                  </a:spcAft>
                </a:pPr>
                <a:r>
                  <a:rPr sz="2300">
                    <a:solidFill>
                      <a:srgbClr val="1E293B"/>
                    </a:solidFill>
                    <a:latin typeface="Calibri"/>
                  </a:rPr>
                  <a:t>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1</m:t>
                        </m:r>
                      </m:sub>
                    </m:sSub>
                    <m:r>
                      <a:rPr lang="vi-VN" sz="2300" b="0">
                        <a:solidFill>
                          <a:srgbClr val="1E293B"/>
                        </a:solidFill>
                        <a:latin typeface="Cambria Math" panose="02040503050406030204" pitchFamily="18" charset="0"/>
                      </a:rPr>
                      <m:t>=2</m:t>
                    </m:r>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q=3</m:t>
                    </m:r>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728=</m:t>
                    </m:r>
                    <m:f>
                      <m:fPr>
                        <m:type m:val="bar"/>
                      </m:fPr>
                      <m:num>
                        <m:r>
                          <a:rPr lang="vi-VN" sz="2300" b="0">
                            <a:solidFill>
                              <a:srgbClr val="1E293B"/>
                            </a:solidFill>
                            <a:latin typeface="Cambria Math" panose="02040503050406030204" pitchFamily="18" charset="0"/>
                          </a:rPr>
                          <m:t>2(1−</m:t>
                        </m:r>
                        <m:sSup>
                          <m:e>
                            <m:r>
                              <a:rPr lang="vi-VN" sz="2300" b="0">
                                <a:solidFill>
                                  <a:srgbClr val="1E293B"/>
                                </a:solidFill>
                                <a:latin typeface="Cambria Math" panose="02040503050406030204" pitchFamily="18" charset="0"/>
                              </a:rPr>
                              <m:t>3</m:t>
                            </m:r>
                          </m:e>
                          <m:sup>
                            <m:r>
                              <a:rPr lang="vi-VN" sz="2300" b="0">
                                <a:solidFill>
                                  <a:srgbClr val="1E293B"/>
                                </a:solidFill>
                                <a:latin typeface="Cambria Math" panose="02040503050406030204" pitchFamily="18" charset="0"/>
                              </a:rPr>
                              <m:t>n</m:t>
                            </m:r>
                          </m:sup>
                        </m:sSup>
                        <m:r>
                          <a:rPr lang="vi-VN" sz="2300" b="0">
                            <a:solidFill>
                              <a:srgbClr val="1E293B"/>
                            </a:solidFill>
                            <a:latin typeface="Cambria Math" panose="02040503050406030204" pitchFamily="18" charset="0"/>
                          </a:rPr>
                          <m:t>)</m:t>
                        </m:r>
                      </m:num>
                      <m:den>
                        <m:r>
                          <a:rPr lang="vi-VN" sz="2300" b="0">
                            <a:solidFill>
                              <a:srgbClr val="1E293B"/>
                            </a:solidFill>
                            <a:latin typeface="Cambria Math" panose="02040503050406030204" pitchFamily="18" charset="0"/>
                          </a:rPr>
                          <m:t>1−3</m:t>
                        </m:r>
                      </m:den>
                    </m:f>
                    <m:r>
                      <a:rPr lang="vi-VN" sz="2300" b="0">
                        <a:solidFill>
                          <a:srgbClr val="1E293B"/>
                        </a:solidFill>
                        <a:latin typeface="Cambria Math" panose="02040503050406030204" pitchFamily="18" charset="0"/>
                      </a:rPr>
                      <m:t>=</m:t>
                    </m:r>
                    <m:sSup>
                      <m:e>
                        <m:r>
                          <a:rPr lang="vi-VN" sz="2300" b="0">
                            <a:solidFill>
                              <a:srgbClr val="1E293B"/>
                            </a:solidFill>
                            <a:latin typeface="Cambria Math" panose="02040503050406030204" pitchFamily="18" charset="0"/>
                          </a:rPr>
                          <m:t>3</m:t>
                        </m:r>
                      </m:e>
                      <m:sup>
                        <m:r>
                          <a:rPr lang="vi-VN" sz="2300" b="0">
                            <a:solidFill>
                              <a:srgbClr val="1E293B"/>
                            </a:solidFill>
                            <a:latin typeface="Cambria Math" panose="02040503050406030204" pitchFamily="18" charset="0"/>
                          </a:rPr>
                          <m:t>n</m:t>
                        </m:r>
                      </m:sup>
                    </m:sSup>
                    <m:r>
                      <a:rPr lang="vi-VN" sz="2300" b="0">
                        <a:solidFill>
                          <a:srgbClr val="1E293B"/>
                        </a:solidFill>
                        <a:latin typeface="Cambria Math" panose="02040503050406030204" pitchFamily="18" charset="0"/>
                      </a:rPr>
                      <m:t>−1⇒</m:t>
                    </m:r>
                    <m:sSup>
                      <m:e>
                        <m:r>
                          <a:rPr lang="vi-VN" sz="2300" b="0">
                            <a:solidFill>
                              <a:srgbClr val="1E293B"/>
                            </a:solidFill>
                            <a:latin typeface="Cambria Math" panose="02040503050406030204" pitchFamily="18" charset="0"/>
                          </a:rPr>
                          <m:t>3</m:t>
                        </m:r>
                      </m:e>
                      <m:sup>
                        <m:r>
                          <a:rPr lang="vi-VN" sz="2300" b="0">
                            <a:solidFill>
                              <a:srgbClr val="1E293B"/>
                            </a:solidFill>
                            <a:latin typeface="Cambria Math" panose="02040503050406030204" pitchFamily="18" charset="0"/>
                          </a:rPr>
                          <m:t>n</m:t>
                        </m:r>
                      </m:sup>
                    </m:sSup>
                    <m:r>
                      <a:rPr lang="vi-VN" sz="2300" b="0">
                        <a:solidFill>
                          <a:srgbClr val="1E293B"/>
                        </a:solidFill>
                        <a:latin typeface="Cambria Math" panose="02040503050406030204" pitchFamily="18" charset="0"/>
                      </a:rPr>
                      <m:t>=729=</m:t>
                    </m:r>
                    <m:sSup>
                      <m:e>
                        <m:r>
                          <a:rPr lang="vi-VN" sz="2300" b="0">
                            <a:solidFill>
                              <a:srgbClr val="1E293B"/>
                            </a:solidFill>
                            <a:latin typeface="Cambria Math" panose="02040503050406030204" pitchFamily="18" charset="0"/>
                          </a:rPr>
                          <m:t>3</m:t>
                        </m:r>
                      </m:e>
                      <m:sup>
                        <m:r>
                          <a:rPr lang="vi-VN" sz="2300" b="0">
                            <a:solidFill>
                              <a:srgbClr val="1E293B"/>
                            </a:solidFill>
                            <a:latin typeface="Cambria Math" panose="02040503050406030204" pitchFamily="18" charset="0"/>
                          </a:rPr>
                          <m:t>6</m:t>
                        </m:r>
                      </m:sup>
                    </m:sSup>
                  </m:oMath>
                </a14:m>
                <a:r>
                  <a:rPr sz="2300">
                    <a:solidFill>
                      <a:srgbClr val="1E293B"/>
                    </a:solidFill>
                    <a:latin typeface="Calibri"/>
                  </a:rPr>
                  <a:t>, </a:t>
                </a:r>
                <a14:m>
                  <m:oMath xmlns:m="http://schemas.openxmlformats.org/officeDocument/2006/math">
                    <m:r>
                      <a:rPr lang="vi-VN" sz="2300" b="0">
                        <a:solidFill>
                          <a:srgbClr val="1E293B"/>
                        </a:solidFill>
                        <a:latin typeface="Cambria Math" panose="02040503050406030204" pitchFamily="18" charset="0"/>
                      </a:rPr>
                      <m:t>n=6</m:t>
                    </m:r>
                  </m:oMath>
                </a14:m>
                <a:r>
                  <a:rPr sz="2300">
                    <a:solidFill>
                      <a:srgbClr val="1E293B"/>
                    </a:solidFill>
                    <a:latin typeface="Calibri"/>
                  </a:rPr>
                  <a:t>.</a:t>
                </a:r>
              </a:p>
            </p:txBody>
          </p:sp>
        </mc:Choice>
        <mc:Fallback>
          <p:sp>
            <p:nvSpPr>
              <p:cNvPr id="12" name="TextBox 11"/>
              <p:cNvSpPr txBox="1"/>
              <p:nvPr/>
            </p:nvSpPr>
            <p:spPr>
              <a:xfrm>
                <a:off x="713232" y="5013198"/>
                <a:ext cx="10735056" cy="700278"/>
              </a:xfrm>
              <a:prstGeom prst="rect">
                <a:avLst/>
              </a:prstGeom>
              <a:noFill/>
            </p:spPr>
            <p:txBody>
              <a:bodyPr wrap="square" anchor="ctr" lIns="45720" rIns="45720">
                <a:spAutoFit/>
              </a:bodyPr>
              <a:lstStyle/>
              <a:p>
                <a:pPr algn="l">
                  <a:spcAft>
                    <a:spcPts val="800"/>
                  </a:spcAft>
                </a:pPr>
                <a:r>
                  <a:rPr sz="2300">
                    <a:solidFill>
                      <a:srgbClr val="1E293B"/>
                    </a:solidFill>
                    <a:latin typeface="Calibri"/>
                  </a:rPr>
                  <a:t> </a:t>
                </a:r>
                <a:r>
                  <a:rPr lang="vi-VN"/>
                  <a:t>u_1=2</a:t>
                </a:r>
                <a:r>
                  <a:rPr sz="2300">
                    <a:solidFill>
                      <a:srgbClr val="1E293B"/>
                    </a:solidFill>
                    <a:latin typeface="Calibri"/>
                  </a:rPr>
                  <a:t>, </a:t>
                </a:r>
                <a:r>
                  <a:rPr lang="vi-VN"/>
                  <a:t>q=3</a:t>
                </a:r>
                <a:r>
                  <a:rPr sz="2300">
                    <a:solidFill>
                      <a:srgbClr val="1E293B"/>
                    </a:solidFill>
                    <a:latin typeface="Calibri"/>
                  </a:rPr>
                  <a:t>: </a:t>
                </a:r>
                <a:r>
                  <a:rPr lang="vi-VN"/>
                  <a:t>728=\frac{2(1-3^n)}{1-3}=3^n-1\Rightarrow 3^n=729=3^6</a:t>
                </a:r>
                <a:r>
                  <a:rPr sz="2300">
                    <a:solidFill>
                      <a:srgbClr val="1E293B"/>
                    </a:solidFill>
                    <a:latin typeface="Calibri"/>
                  </a:rPr>
                  <a:t>, </a:t>
                </a:r>
                <a:r>
                  <a:rPr lang="vi-VN"/>
                  <a:t>n=6</a:t>
                </a:r>
                <a:r>
                  <a:rPr sz="23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VẬN DỤNG – HAI PHƯƠNG ÁN LƯƠNG (SGK TR.55)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Cấp số nhân – Toán 11          15</a:t>
            </a:r>
          </a:p>
        </p:txBody>
      </p:sp>
      <p:sp>
        <p:nvSpPr>
          <p:cNvPr id="7" name="TextBox 6"/>
          <p:cNvSpPr txBox="1"/>
          <p:nvPr/>
        </p:nvSpPr>
        <p:spPr>
          <a:xfrm>
            <a:off x="548640" y="1463040"/>
            <a:ext cx="11064240" cy="1453896"/>
          </a:xfrm>
          <a:prstGeom prst="rect">
            <a:avLst/>
          </a:prstGeom>
          <a:noFill/>
        </p:spPr>
        <p:txBody>
          <a:bodyPr wrap="square" anchor="t" lIns="45720" rIns="45720">
            <a:spAutoFit/>
          </a:bodyPr>
          <a:lstStyle/>
          <a:p>
            <a:pPr algn="l">
              <a:spcAft>
                <a:spcPts val="800"/>
              </a:spcAft>
            </a:pPr>
            <a:r>
              <a:rPr sz="2100">
                <a:solidFill>
                  <a:srgbClr val="1E293B"/>
                </a:solidFill>
                <a:latin typeface="Calibri"/>
              </a:rPr>
              <a:t>Nhà máy tuyển công nhân làm việc 3 năm, hai phương án: </a:t>
            </a:r>
            <a:r>
              <a:rPr sz="2100" b="1">
                <a:solidFill>
                  <a:srgbClr val="1E293B"/>
                </a:solidFill>
                <a:latin typeface="Calibri"/>
              </a:rPr>
              <a:t>Phương án 1:</a:t>
            </a:r>
            <a:r>
              <a:rPr sz="2100">
                <a:solidFill>
                  <a:srgbClr val="1E293B"/>
                </a:solidFill>
                <a:latin typeface="Calibri"/>
              </a:rPr>
              <a:t> lương tháng khởi điểm 5 triệu đồng, sau mỗi quý lương tháng tăng thêm 500 nghìn đồng. </a:t>
            </a:r>
            <a:r>
              <a:rPr sz="2100" b="1">
                <a:solidFill>
                  <a:srgbClr val="1E293B"/>
                </a:solidFill>
                <a:latin typeface="Calibri"/>
              </a:rPr>
              <a:t>Phương án 2:</a:t>
            </a:r>
            <a:r>
              <a:rPr sz="2100">
                <a:solidFill>
                  <a:srgbClr val="1E293B"/>
                </a:solidFill>
                <a:latin typeface="Calibri"/>
              </a:rPr>
              <a:t> lương tháng khởi điểm 5 triệu đồng, sau mỗi quý lương tháng tăng thêm 5%. Với phương án nào tổng lương sau ba năm lớn hơn?</a:t>
            </a:r>
          </a:p>
        </p:txBody>
      </p:sp>
      <p:sp>
        <p:nvSpPr>
          <p:cNvPr id="8" name="s1_nen"/>
          <p:cNvSpPr/>
          <p:nvPr/>
        </p:nvSpPr>
        <p:spPr>
          <a:xfrm>
            <a:off x="548640" y="3054096"/>
            <a:ext cx="11064240" cy="1049274"/>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090672"/>
                <a:ext cx="10735056" cy="976122"/>
              </a:xfrm>
              <a:prstGeom prst="rect">
                <a:avLst/>
              </a:prstGeom>
              <a:noFill/>
            </p:spPr>
            <p:txBody>
              <a:bodyPr wrap="square" anchor="ctr" lIns="45720" rIns="45720">
                <a:spAutoFit/>
              </a:bodyPr>
              <a:lstStyle/>
              <a:p>
                <a:pPr algn="l">
                  <a:spcAft>
                    <a:spcPts val="800"/>
                  </a:spcAft>
                </a:pPr>
                <a:r>
                  <a:rPr sz="2100">
                    <a:solidFill>
                      <a:srgbClr val="1E293B"/>
                    </a:solidFill>
                    <a:latin typeface="Calibri"/>
                  </a:rPr>
                  <a:t>Phương án 1: lương tháng theo quý là cấp số cộng </a:t>
                </a:r>
                <a14:m>
                  <m:oMath xmlns:m="http://schemas.openxmlformats.org/officeDocument/2006/math">
                    <m:sSub>
                      <m:e>
                        <m:r>
                          <a:rPr lang="vi-VN" sz="2100" b="0">
                            <a:solidFill>
                              <a:srgbClr val="1E293B"/>
                            </a:solidFill>
                            <a:latin typeface="Cambria Math" panose="02040503050406030204" pitchFamily="18" charset="0"/>
                          </a:rPr>
                          <m:t>u</m:t>
                        </m:r>
                      </m:e>
                      <m:sub>
                        <m:r>
                          <a:rPr lang="vi-VN" sz="2100" b="0">
                            <a:solidFill>
                              <a:srgbClr val="1E293B"/>
                            </a:solidFill>
                            <a:latin typeface="Cambria Math" panose="02040503050406030204" pitchFamily="18" charset="0"/>
                          </a:rPr>
                          <m:t>1</m:t>
                        </m:r>
                      </m:sub>
                    </m:sSub>
                    <m:r>
                      <a:rPr lang="vi-VN" sz="2100" b="0">
                        <a:solidFill>
                          <a:srgbClr val="1E293B"/>
                        </a:solidFill>
                        <a:latin typeface="Cambria Math" panose="02040503050406030204" pitchFamily="18" charset="0"/>
                      </a:rPr>
                      <m:t>=5</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d=0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m:t>
                    </m:r>
                  </m:oMath>
                </a14:m>
                <a:r>
                  <a:rPr sz="2100">
                    <a:solidFill>
                      <a:srgbClr val="1E293B"/>
                    </a:solidFill>
                    <a:latin typeface="Calibri"/>
                  </a:rPr>
                  <a:t>: tổng </a:t>
                </a:r>
                <a14:m>
                  <m:oMath xmlns:m="http://schemas.openxmlformats.org/officeDocument/2006/math">
                    <m:r>
                      <a:rPr lang="vi-VN" sz="2100" b="0">
                        <a:solidFill>
                          <a:srgbClr val="1E293B"/>
                        </a:solidFill>
                        <a:latin typeface="Cambria Math" panose="02040503050406030204" pitchFamily="18" charset="0"/>
                      </a:rPr>
                      <m:t>3·</m:t>
                    </m:r>
                    <m:sSub>
                      <m:e>
                        <m:r>
                          <a:rPr lang="vi-VN" sz="2100" b="0">
                            <a:solidFill>
                              <a:srgbClr val="1E293B"/>
                            </a:solidFill>
                            <a:latin typeface="Cambria Math" panose="02040503050406030204" pitchFamily="18" charset="0"/>
                          </a:rPr>
                          <m:t>S</m:t>
                        </m:r>
                      </m:e>
                      <m:sub>
                        <m:r>
                          <a:rPr lang="vi-VN" sz="2100" b="0">
                            <a:solidFill>
                              <a:srgbClr val="1E293B"/>
                            </a:solidFill>
                            <a:latin typeface="Cambria Math" panose="02040503050406030204" pitchFamily="18" charset="0"/>
                          </a:rPr>
                          <m:t>12</m:t>
                        </m:r>
                      </m:sub>
                    </m:sSub>
                    <m:r>
                      <a:rPr lang="vi-VN" sz="2100" b="0">
                        <a:solidFill>
                          <a:srgbClr val="1E293B"/>
                        </a:solidFill>
                        <a:latin typeface="Cambria Math" panose="02040503050406030204" pitchFamily="18" charset="0"/>
                      </a:rPr>
                      <m:t>=3·</m:t>
                    </m:r>
                    <m:f>
                      <m:fPr>
                        <m:type m:val="bar"/>
                      </m:fPr>
                      <m:num>
                        <m:r>
                          <a:rPr lang="vi-VN" sz="2100" b="0">
                            <a:solidFill>
                              <a:srgbClr val="1E293B"/>
                            </a:solidFill>
                            <a:latin typeface="Cambria Math" panose="02040503050406030204" pitchFamily="18" charset="0"/>
                          </a:rPr>
                          <m:t>12</m:t>
                        </m:r>
                      </m:num>
                      <m:den>
                        <m:r>
                          <a:rPr lang="vi-VN" sz="2100" b="0">
                            <a:solidFill>
                              <a:srgbClr val="1E293B"/>
                            </a:solidFill>
                            <a:latin typeface="Cambria Math" panose="02040503050406030204" pitchFamily="18" charset="0"/>
                          </a:rPr>
                          <m:t>2</m:t>
                        </m:r>
                      </m:den>
                    </m:f>
                    <m:r>
                      <a:rPr lang="vi-VN" sz="2100" b="0">
                        <a:solidFill>
                          <a:srgbClr val="1E293B"/>
                        </a:solidFill>
                        <a:latin typeface="Cambria Math" panose="02040503050406030204" pitchFamily="18" charset="0"/>
                      </a:rPr>
                      <m:t>[10+11·0</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5]=279</m:t>
                    </m:r>
                  </m:oMath>
                </a14:m>
                <a:r>
                  <a:rPr sz="2100">
                    <a:solidFill>
                      <a:srgbClr val="1E293B"/>
                    </a:solidFill>
                    <a:latin typeface="Calibri"/>
                  </a:rPr>
                  <a:t> (triệu đồng).</a:t>
                </a:r>
              </a:p>
            </p:txBody>
          </p:sp>
        </mc:Choice>
        <mc:Fallback>
          <p:sp>
            <p:nvSpPr>
              <p:cNvPr id="9" name="TextBox 8"/>
              <p:cNvSpPr txBox="1"/>
              <p:nvPr/>
            </p:nvSpPr>
            <p:spPr>
              <a:xfrm>
                <a:off x="713232" y="3090672"/>
                <a:ext cx="10735056" cy="976122"/>
              </a:xfrm>
              <a:prstGeom prst="rect">
                <a:avLst/>
              </a:prstGeom>
              <a:noFill/>
            </p:spPr>
            <p:txBody>
              <a:bodyPr wrap="square" anchor="ctr" lIns="45720" rIns="45720">
                <a:spAutoFit/>
              </a:bodyPr>
              <a:lstStyle/>
              <a:p>
                <a:pPr algn="l">
                  <a:spcAft>
                    <a:spcPts val="800"/>
                  </a:spcAft>
                </a:pPr>
                <a:r>
                  <a:rPr sz="2100">
                    <a:solidFill>
                      <a:srgbClr val="1E293B"/>
                    </a:solidFill>
                    <a:latin typeface="Calibri"/>
                  </a:rPr>
                  <a:t>Phương án 1: lương tháng theo quý là cấp số cộng </a:t>
                </a:r>
                <a:r>
                  <a:rPr lang="vi-VN"/>
                  <a:t>u_1=5</a:t>
                </a:r>
                <a:r>
                  <a:rPr sz="2100">
                    <a:solidFill>
                      <a:srgbClr val="1E293B"/>
                    </a:solidFill>
                    <a:latin typeface="Calibri"/>
                  </a:rPr>
                  <a:t>, </a:t>
                </a:r>
                <a:r>
                  <a:rPr lang="vi-VN"/>
                  <a:t>d=0{,}5</a:t>
                </a:r>
                <a:r>
                  <a:rPr sz="2100">
                    <a:solidFill>
                      <a:srgbClr val="1E293B"/>
                    </a:solidFill>
                    <a:latin typeface="Calibri"/>
                  </a:rPr>
                  <a:t>: tổng </a:t>
                </a:r>
                <a:r>
                  <a:rPr lang="vi-VN"/>
                  <a:t>3\cdot S_{12}=3\cdot\frac{12}{2}[10+11\cdot 0{,}5]=279</a:t>
                </a:r>
                <a:r>
                  <a:rPr sz="2100">
                    <a:solidFill>
                      <a:srgbClr val="1E293B"/>
                    </a:solidFill>
                    <a:latin typeface="Calibri"/>
                  </a:rPr>
                  <a:t> (triệu đồng).</a:t>
                </a:r>
              </a:p>
            </p:txBody>
          </p:sp>
        </mc:Fallback>
      </mc:AlternateContent>
      <p:sp>
        <p:nvSpPr>
          <p:cNvPr id="10" name="s2_nen"/>
          <p:cNvSpPr/>
          <p:nvPr/>
        </p:nvSpPr>
        <p:spPr>
          <a:xfrm>
            <a:off x="548640" y="4240530"/>
            <a:ext cx="11064240" cy="1049274"/>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s2_chu"/>
              <p:cNvSpPr txBox="1"/>
              <p:nvPr/>
            </p:nvSpPr>
            <p:spPr>
              <a:xfrm>
                <a:off x="713232" y="4277106"/>
                <a:ext cx="10735056" cy="976122"/>
              </a:xfrm>
              <a:prstGeom prst="rect">
                <a:avLst/>
              </a:prstGeom>
              <a:noFill/>
            </p:spPr>
            <p:txBody>
              <a:bodyPr wrap="square" anchor="ctr" lIns="45720" rIns="45720">
                <a:spAutoFit/>
              </a:bodyPr>
              <a:lstStyle/>
              <a:p>
                <a:pPr algn="l">
                  <a:spcAft>
                    <a:spcPts val="800"/>
                  </a:spcAft>
                </a:pPr>
                <a:r>
                  <a:rPr sz="2100">
                    <a:solidFill>
                      <a:srgbClr val="1E293B"/>
                    </a:solidFill>
                    <a:latin typeface="Calibri"/>
                  </a:rPr>
                  <a:t>Phương án 2: cấp số nhân </a:t>
                </a:r>
                <a14:m>
                  <m:oMath xmlns:m="http://schemas.openxmlformats.org/officeDocument/2006/math">
                    <m:sSub>
                      <m:e>
                        <m:r>
                          <a:rPr lang="vi-VN" sz="2100" b="0">
                            <a:solidFill>
                              <a:srgbClr val="1E293B"/>
                            </a:solidFill>
                            <a:latin typeface="Cambria Math" panose="02040503050406030204" pitchFamily="18" charset="0"/>
                          </a:rPr>
                          <m:t>v</m:t>
                        </m:r>
                      </m:e>
                      <m:sub>
                        <m:r>
                          <a:rPr lang="vi-VN" sz="2100" b="0">
                            <a:solidFill>
                              <a:srgbClr val="1E293B"/>
                            </a:solidFill>
                            <a:latin typeface="Cambria Math" panose="02040503050406030204" pitchFamily="18" charset="0"/>
                          </a:rPr>
                          <m:t>1</m:t>
                        </m:r>
                      </m:sub>
                    </m:sSub>
                    <m:r>
                      <a:rPr lang="vi-VN" sz="2100" b="0">
                        <a:solidFill>
                          <a:srgbClr val="1E293B"/>
                        </a:solidFill>
                        <a:latin typeface="Cambria Math" panose="02040503050406030204" pitchFamily="18" charset="0"/>
                      </a:rPr>
                      <m:t>=5</m:t>
                    </m:r>
                  </m:oMath>
                </a14:m>
                <a:r>
                  <a:rPr sz="2100">
                    <a:solidFill>
                      <a:srgbClr val="1E293B"/>
                    </a:solidFill>
                    <a:latin typeface="Calibri"/>
                  </a:rPr>
                  <a:t>, </a:t>
                </a:r>
                <a14:m>
                  <m:oMath xmlns:m="http://schemas.openxmlformats.org/officeDocument/2006/math">
                    <m:r>
                      <a:rPr lang="vi-VN" sz="2100" b="0">
                        <a:solidFill>
                          <a:srgbClr val="1E293B"/>
                        </a:solidFill>
                        <a:latin typeface="Cambria Math" panose="02040503050406030204" pitchFamily="18" charset="0"/>
                      </a:rPr>
                      <m:t>q=1</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05</m:t>
                    </m:r>
                  </m:oMath>
                </a14:m>
                <a:r>
                  <a:rPr sz="2100">
                    <a:solidFill>
                      <a:srgbClr val="1E293B"/>
                    </a:solidFill>
                    <a:latin typeface="Calibri"/>
                  </a:rPr>
                  <a:t>: tổng </a:t>
                </a:r>
                <a14:m>
                  <m:oMath xmlns:m="http://schemas.openxmlformats.org/officeDocument/2006/math">
                    <m:r>
                      <a:rPr lang="vi-VN" sz="2100" b="0">
                        <a:solidFill>
                          <a:srgbClr val="1E293B"/>
                        </a:solidFill>
                        <a:latin typeface="Cambria Math" panose="02040503050406030204" pitchFamily="18" charset="0"/>
                      </a:rPr>
                      <m:t>3·</m:t>
                    </m:r>
                    <m:f>
                      <m:fPr>
                        <m:type m:val="bar"/>
                      </m:fPr>
                      <m:num>
                        <m:r>
                          <a:rPr lang="vi-VN" sz="2100" b="0">
                            <a:solidFill>
                              <a:srgbClr val="1E293B"/>
                            </a:solidFill>
                            <a:latin typeface="Cambria Math" panose="02040503050406030204" pitchFamily="18" charset="0"/>
                          </a:rPr>
                          <m:t>5(1−1</m:t>
                        </m:r>
                        <m:r>
                          <a:rPr lang="vi-VN" sz="2100" b="0">
                            <a:solidFill>
                              <a:srgbClr val="1E293B"/>
                            </a:solidFill>
                            <a:latin typeface="Cambria Math" panose="02040503050406030204" pitchFamily="18" charset="0"/>
                          </a:rPr>
                          <m:t>,</m:t>
                        </m:r>
                        <m:sSup>
                          <m:e>
                            <m:r>
                              <a:rPr lang="vi-VN" sz="2100" b="0">
                                <a:solidFill>
                                  <a:srgbClr val="1E293B"/>
                                </a:solidFill>
                                <a:latin typeface="Cambria Math" panose="02040503050406030204" pitchFamily="18" charset="0"/>
                              </a:rPr>
                              <m:t>05</m:t>
                            </m:r>
                          </m:e>
                          <m:sup>
                            <m:r>
                              <a:rPr lang="vi-VN" sz="2100" b="0">
                                <a:solidFill>
                                  <a:srgbClr val="1E293B"/>
                                </a:solidFill>
                                <a:latin typeface="Cambria Math" panose="02040503050406030204" pitchFamily="18" charset="0"/>
                              </a:rPr>
                              <m:t>12</m:t>
                            </m:r>
                          </m:sup>
                        </m:sSup>
                        <m:r>
                          <a:rPr lang="vi-VN" sz="2100" b="0">
                            <a:solidFill>
                              <a:srgbClr val="1E293B"/>
                            </a:solidFill>
                            <a:latin typeface="Cambria Math" panose="02040503050406030204" pitchFamily="18" charset="0"/>
                          </a:rPr>
                          <m:t>)</m:t>
                        </m:r>
                      </m:num>
                      <m:den>
                        <m:r>
                          <a:rPr lang="vi-VN" sz="2100" b="0">
                            <a:solidFill>
                              <a:srgbClr val="1E293B"/>
                            </a:solidFill>
                            <a:latin typeface="Cambria Math" panose="02040503050406030204" pitchFamily="18" charset="0"/>
                          </a:rPr>
                          <m:t>1−1</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05</m:t>
                        </m:r>
                      </m:den>
                    </m:f>
                    <m:r>
                      <a:rPr lang="vi-VN" sz="2100" b="0">
                        <a:solidFill>
                          <a:srgbClr val="1E293B"/>
                        </a:solidFill>
                        <a:latin typeface="Cambria Math" panose="02040503050406030204" pitchFamily="18" charset="0"/>
                      </a:rPr>
                      <m:t>≈238</m:t>
                    </m:r>
                    <m:r>
                      <a:rPr lang="vi-VN" sz="2100" b="0">
                        <a:solidFill>
                          <a:srgbClr val="1E293B"/>
                        </a:solidFill>
                        <a:latin typeface="Cambria Math" panose="02040503050406030204" pitchFamily="18" charset="0"/>
                      </a:rPr>
                      <m:t>,</m:t>
                    </m:r>
                    <m:r>
                      <a:rPr lang="vi-VN" sz="2100" b="0">
                        <a:solidFill>
                          <a:srgbClr val="1E293B"/>
                        </a:solidFill>
                        <a:latin typeface="Cambria Math" panose="02040503050406030204" pitchFamily="18" charset="0"/>
                      </a:rPr>
                      <m:t>76</m:t>
                    </m:r>
                  </m:oMath>
                </a14:m>
                <a:r>
                  <a:rPr sz="2100">
                    <a:solidFill>
                      <a:srgbClr val="1E293B"/>
                    </a:solidFill>
                    <a:latin typeface="Calibri"/>
                  </a:rPr>
                  <a:t> (triệu đồng).</a:t>
                </a:r>
              </a:p>
            </p:txBody>
          </p:sp>
        </mc:Choice>
        <mc:Fallback>
          <p:sp>
            <p:nvSpPr>
              <p:cNvPr id="11" name="TextBox 10"/>
              <p:cNvSpPr txBox="1"/>
              <p:nvPr/>
            </p:nvSpPr>
            <p:spPr>
              <a:xfrm>
                <a:off x="713232" y="4277106"/>
                <a:ext cx="10735056" cy="976122"/>
              </a:xfrm>
              <a:prstGeom prst="rect">
                <a:avLst/>
              </a:prstGeom>
              <a:noFill/>
            </p:spPr>
            <p:txBody>
              <a:bodyPr wrap="square" anchor="ctr" lIns="45720" rIns="45720">
                <a:spAutoFit/>
              </a:bodyPr>
              <a:lstStyle/>
              <a:p>
                <a:pPr algn="l">
                  <a:spcAft>
                    <a:spcPts val="800"/>
                  </a:spcAft>
                </a:pPr>
                <a:r>
                  <a:rPr sz="2100">
                    <a:solidFill>
                      <a:srgbClr val="1E293B"/>
                    </a:solidFill>
                    <a:latin typeface="Calibri"/>
                  </a:rPr>
                  <a:t>Phương án 2: cấp số nhân </a:t>
                </a:r>
                <a:r>
                  <a:rPr lang="vi-VN"/>
                  <a:t>v_1=5</a:t>
                </a:r>
                <a:r>
                  <a:rPr sz="2100">
                    <a:solidFill>
                      <a:srgbClr val="1E293B"/>
                    </a:solidFill>
                    <a:latin typeface="Calibri"/>
                  </a:rPr>
                  <a:t>, </a:t>
                </a:r>
                <a:r>
                  <a:rPr lang="vi-VN"/>
                  <a:t>q=1{,}05</a:t>
                </a:r>
                <a:r>
                  <a:rPr sz="2100">
                    <a:solidFill>
                      <a:srgbClr val="1E293B"/>
                    </a:solidFill>
                    <a:latin typeface="Calibri"/>
                  </a:rPr>
                  <a:t>: tổng </a:t>
                </a:r>
                <a:r>
                  <a:rPr lang="vi-VN"/>
                  <a:t>3\cdot\frac{5(1-1{,}05^{12})}{1-1{,}05}\approx 238{,}76</a:t>
                </a:r>
                <a:r>
                  <a:rPr sz="2100">
                    <a:solidFill>
                      <a:srgbClr val="1E293B"/>
                    </a:solidFill>
                    <a:latin typeface="Calibri"/>
                  </a:rPr>
                  <a:t> (triệu đồng).</a:t>
                </a:r>
              </a:p>
            </p:txBody>
          </p:sp>
        </mc:Fallback>
      </mc:AlternateContent>
      <p:sp>
        <p:nvSpPr>
          <p:cNvPr id="12" name="s3_nen"/>
          <p:cNvSpPr/>
          <p:nvPr/>
        </p:nvSpPr>
        <p:spPr>
          <a:xfrm>
            <a:off x="548640" y="5426964"/>
            <a:ext cx="11064240" cy="58521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3_chu"/>
          <p:cNvSpPr txBox="1"/>
          <p:nvPr/>
        </p:nvSpPr>
        <p:spPr>
          <a:xfrm>
            <a:off x="713232" y="5463540"/>
            <a:ext cx="10735056" cy="512063"/>
          </a:xfrm>
          <a:prstGeom prst="rect">
            <a:avLst/>
          </a:prstGeom>
          <a:noFill/>
        </p:spPr>
        <p:txBody>
          <a:bodyPr wrap="square" anchor="ctr" lIns="45720" rIns="45720">
            <a:spAutoFit/>
          </a:bodyPr>
          <a:lstStyle/>
          <a:p>
            <a:pPr algn="l">
              <a:spcAft>
                <a:spcPts val="800"/>
              </a:spcAft>
            </a:pPr>
            <a:r>
              <a:rPr sz="2100">
                <a:solidFill>
                  <a:srgbClr val="1E293B"/>
                </a:solidFill>
                <a:latin typeface="Calibri"/>
              </a:rPr>
              <a:t>Phương án 1 cho tổng lương lớn hơn (trong 3 năm).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344607" y="457200"/>
            <a:ext cx="1298448" cy="45720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LUYỆN TẬP</a:t>
            </a:r>
          </a:p>
        </p:txBody>
      </p:sp>
      <p:sp>
        <p:nvSpPr>
          <p:cNvPr id="4" name="TextBox 3"/>
          <p:cNvSpPr txBox="1"/>
          <p:nvPr/>
        </p:nvSpPr>
        <p:spPr>
          <a:xfrm>
            <a:off x="731520" y="274320"/>
            <a:ext cx="9674352" cy="868680"/>
          </a:xfrm>
          <a:prstGeom prst="rect">
            <a:avLst/>
          </a:prstGeom>
          <a:noFill/>
        </p:spPr>
        <p:txBody>
          <a:bodyPr wrap="square" anchor="ctr">
            <a:spAutoFit/>
          </a:bodyPr>
          <a:lstStyle/>
          <a:p>
            <a:r>
              <a:rPr sz="3000" b="1">
                <a:solidFill>
                  <a:srgbClr val="1E40AF"/>
                </a:solidFill>
                <a:latin typeface="Cambria"/>
              </a:rPr>
              <a:t>BÀI TẬP 2.15 – 2.18 (SGK TR.55)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Cấp số nhân – Toán 11          16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1013460"/>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2.15.</a:t>
                </a:r>
                <a:r>
                  <a:rPr sz="1900">
                    <a:solidFill>
                      <a:srgbClr val="1E293B"/>
                    </a:solidFill>
                    <a:latin typeface="Calibri"/>
                  </a:rPr>
                  <a:t> Công bội,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5</m:t>
                        </m:r>
                      </m:sub>
                    </m:sSub>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n</m:t>
                        </m:r>
                      </m:sub>
                    </m:sSub>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100</m:t>
                        </m:r>
                      </m:sub>
                    </m:sSub>
                  </m:oMath>
                </a14:m>
                <a:r>
                  <a:rPr sz="1900">
                    <a:solidFill>
                      <a:srgbClr val="1E293B"/>
                    </a:solidFill>
                    <a:latin typeface="Calibri"/>
                  </a:rPr>
                  <a:t>: a) </a:t>
                </a:r>
                <a14:m>
                  <m:oMath xmlns:m="http://schemas.openxmlformats.org/officeDocument/2006/math">
                    <m:r>
                      <a:rPr lang="vi-VN" sz="1900" b="0">
                        <a:solidFill>
                          <a:srgbClr val="1E293B"/>
                        </a:solidFill>
                        <a:latin typeface="Cambria Math" panose="02040503050406030204" pitchFamily="18" charset="0"/>
                      </a:rPr>
                      <m:t>1,</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4,</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16,…</m:t>
                    </m:r>
                  </m:oMath>
                </a14:m>
                <a:r>
                  <a:rPr sz="1900">
                    <a:solidFill>
                      <a:srgbClr val="1E293B"/>
                    </a:solidFill>
                    <a:latin typeface="Calibri"/>
                  </a:rPr>
                  <a:t>; b) </a:t>
                </a:r>
                <a14:m>
                  <m:oMath xmlns:m="http://schemas.openxmlformats.org/officeDocument/2006/math">
                    <m:r>
                      <a:rPr lang="vi-VN" sz="1900" b="0">
                        <a:solidFill>
                          <a:srgbClr val="1E293B"/>
                        </a:solidFill>
                        <a:latin typeface="Cambria Math" panose="02040503050406030204" pitchFamily="18" charset="0"/>
                      </a:rPr>
                      <m:t>2,</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m:t>
                    </m:r>
                    <m:f>
                      <m:fPr>
                        <m:type m:val="bar"/>
                      </m:fPr>
                      <m:num>
                        <m:r>
                          <a:rPr lang="vi-VN" sz="1900" b="0">
                            <a:solidFill>
                              <a:srgbClr val="1E293B"/>
                            </a:solidFill>
                            <a:latin typeface="Cambria Math" panose="02040503050406030204" pitchFamily="18" charset="0"/>
                          </a:rPr>
                          <m:t>1</m:t>
                        </m:r>
                      </m:num>
                      <m:den>
                        <m:r>
                          <a:rPr lang="vi-VN" sz="1900" b="0">
                            <a:solidFill>
                              <a:srgbClr val="1E293B"/>
                            </a:solidFill>
                            <a:latin typeface="Cambria Math" panose="02040503050406030204" pitchFamily="18" charset="0"/>
                          </a:rPr>
                          <m:t>2</m:t>
                        </m:r>
                      </m:den>
                    </m:f>
                    <m:r>
                      <a:rPr lang="vi-VN" sz="1900" b="0">
                        <a:solidFill>
                          <a:srgbClr val="1E293B"/>
                        </a:solidFill>
                        <a:latin typeface="Cambria Math" panose="02040503050406030204" pitchFamily="18" charset="0"/>
                      </a:rPr>
                      <m:t>,</m:t>
                    </m:r>
                    <m:r>
                      <m:rPr>
                        <m:sty m:val="p"/>
                      </m:rPr>
                      <a:rPr lang="vi-VN" sz="1900" b="0">
                        <a:solidFill>
                          <a:srgbClr val="1E293B"/>
                        </a:solidFill>
                        <a:latin typeface="Cambria Math" panose="02040503050406030204" pitchFamily="18" charset="0"/>
                      </a:rPr>
                      <m:t> </m:t>
                    </m:r>
                    <m:f>
                      <m:fPr>
                        <m:type m:val="bar"/>
                      </m:fPr>
                      <m:num>
                        <m:r>
                          <a:rPr lang="vi-VN" sz="1900" b="0">
                            <a:solidFill>
                              <a:srgbClr val="1E293B"/>
                            </a:solidFill>
                            <a:latin typeface="Cambria Math" panose="02040503050406030204" pitchFamily="18" charset="0"/>
                          </a:rPr>
                          <m:t>1</m:t>
                        </m:r>
                      </m:num>
                      <m:den>
                        <m:r>
                          <a:rPr lang="vi-VN" sz="1900" b="0">
                            <a:solidFill>
                              <a:srgbClr val="1E293B"/>
                            </a:solidFill>
                            <a:latin typeface="Cambria Math" panose="02040503050406030204" pitchFamily="18" charset="0"/>
                          </a:rPr>
                          <m:t>8</m:t>
                        </m:r>
                      </m:den>
                    </m:f>
                    <m:r>
                      <a:rPr lang="vi-VN" sz="1900" b="0">
                        <a:solidFill>
                          <a:srgbClr val="1E293B"/>
                        </a:solidFill>
                        <a:latin typeface="Cambria Math" panose="02040503050406030204" pitchFamily="18" charset="0"/>
                      </a:rPr>
                      <m:t>,…</m:t>
                    </m:r>
                  </m:oMath>
                </a14:m>
                <a:r>
                  <a:rPr sz="1900">
                    <a:solidFill>
                      <a:srgbClr val="1E293B"/>
                    </a:solidFill>
                    <a:latin typeface="Calibri"/>
                  </a:rPr>
                  <a:t> </a:t>
                </a:r>
                <a:r>
                  <a:rPr sz="1900" b="1">
                    <a:solidFill>
                      <a:srgbClr val="1E293B"/>
                    </a:solidFill>
                    <a:latin typeface="Calibri"/>
                  </a:rPr>
                  <a:t>2.16.</a:t>
                </a:r>
                <a:r>
                  <a:rPr sz="1900">
                    <a:solidFill>
                      <a:srgbClr val="1E293B"/>
                    </a:solidFill>
                    <a:latin typeface="Calibri"/>
                  </a:rPr>
                  <a:t> Cấp số nhân? a)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n</m:t>
                        </m:r>
                      </m:sub>
                    </m:sSub>
                    <m:r>
                      <a:rPr lang="vi-VN" sz="1900" b="0">
                        <a:solidFill>
                          <a:srgbClr val="1E293B"/>
                        </a:solidFill>
                        <a:latin typeface="Cambria Math" panose="02040503050406030204" pitchFamily="18" charset="0"/>
                      </a:rPr>
                      <m:t>=5n</m:t>
                    </m:r>
                  </m:oMath>
                </a14:m>
                <a:r>
                  <a:rPr sz="1900">
                    <a:solidFill>
                      <a:srgbClr val="1E293B"/>
                    </a:solidFill>
                    <a:latin typeface="Calibri"/>
                  </a:rPr>
                  <a:t>; b)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n</m:t>
                        </m:r>
                      </m:sub>
                    </m:sSub>
                    <m:r>
                      <a:rPr lang="vi-VN" sz="1900" b="0">
                        <a:solidFill>
                          <a:srgbClr val="1E293B"/>
                        </a:solidFill>
                        <a:latin typeface="Cambria Math" panose="02040503050406030204" pitchFamily="18" charset="0"/>
                      </a:rPr>
                      <m:t>=</m:t>
                    </m:r>
                    <m:sSup>
                      <m:e>
                        <m:r>
                          <a:rPr lang="vi-VN" sz="1900" b="0">
                            <a:solidFill>
                              <a:srgbClr val="1E293B"/>
                            </a:solidFill>
                            <a:latin typeface="Cambria Math" panose="02040503050406030204" pitchFamily="18" charset="0"/>
                          </a:rPr>
                          <m:t>5</m:t>
                        </m:r>
                      </m:e>
                      <m:sup>
                        <m:r>
                          <a:rPr lang="vi-VN" sz="1900" b="0">
                            <a:solidFill>
                              <a:srgbClr val="1E293B"/>
                            </a:solidFill>
                            <a:latin typeface="Cambria Math" panose="02040503050406030204" pitchFamily="18" charset="0"/>
                          </a:rPr>
                          <m:t>n</m:t>
                        </m:r>
                      </m:sup>
                    </m:sSup>
                  </m:oMath>
                </a14:m>
                <a:r>
                  <a:rPr sz="1900">
                    <a:solidFill>
                      <a:srgbClr val="1E293B"/>
                    </a:solidFill>
                    <a:latin typeface="Calibri"/>
                  </a:rPr>
                  <a:t>; c)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1</m:t>
                        </m:r>
                      </m:sub>
                    </m:sSub>
                    <m:r>
                      <a:rPr lang="vi-VN" sz="1900" b="0">
                        <a:solidFill>
                          <a:srgbClr val="1E293B"/>
                        </a:solidFill>
                        <a:latin typeface="Cambria Math" panose="02040503050406030204" pitchFamily="18" charset="0"/>
                      </a:rPr>
                      <m:t>=1</m:t>
                    </m:r>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n</m:t>
                        </m:r>
                      </m:sub>
                    </m:sSub>
                    <m:r>
                      <a:rPr lang="vi-VN" sz="1900" b="0">
                        <a:solidFill>
                          <a:srgbClr val="1E293B"/>
                        </a:solidFill>
                        <a:latin typeface="Cambria Math" panose="02040503050406030204" pitchFamily="18" charset="0"/>
                      </a:rPr>
                      <m:t>=n</m:t>
                    </m:r>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n−1</m:t>
                        </m:r>
                      </m:sub>
                    </m:sSub>
                  </m:oMath>
                </a14:m>
                <a:r>
                  <a:rPr sz="1900">
                    <a:solidFill>
                      <a:srgbClr val="1E293B"/>
                    </a:solidFill>
                    <a:latin typeface="Calibri"/>
                  </a:rPr>
                  <a:t>; d)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1</m:t>
                        </m:r>
                      </m:sub>
                    </m:sSub>
                    <m:r>
                      <a:rPr lang="vi-VN" sz="1900" b="0">
                        <a:solidFill>
                          <a:srgbClr val="1E293B"/>
                        </a:solidFill>
                        <a:latin typeface="Cambria Math" panose="02040503050406030204" pitchFamily="18" charset="0"/>
                      </a:rPr>
                      <m:t>=1</m:t>
                    </m:r>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n</m:t>
                        </m:r>
                      </m:sub>
                    </m:sSub>
                    <m:r>
                      <a:rPr lang="vi-VN" sz="1900" b="0">
                        <a:solidFill>
                          <a:srgbClr val="1E293B"/>
                        </a:solidFill>
                        <a:latin typeface="Cambria Math" panose="02040503050406030204" pitchFamily="18" charset="0"/>
                      </a:rPr>
                      <m:t>=5</m:t>
                    </m:r>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n−1</m:t>
                        </m:r>
                      </m:sub>
                    </m:sSub>
                  </m:oMath>
                </a14:m>
                <a:r>
                  <a:rPr sz="1900">
                    <a:solidFill>
                      <a:srgbClr val="1E293B"/>
                    </a:solidFill>
                    <a:latin typeface="Calibri"/>
                  </a:rPr>
                  <a:t>.</a:t>
                </a:r>
              </a:p>
            </p:txBody>
          </p:sp>
        </mc:Choice>
        <mc:Fallback>
          <p:sp>
            <p:nvSpPr>
              <p:cNvPr id="7" name="TextBox 6"/>
              <p:cNvSpPr txBox="1"/>
              <p:nvPr/>
            </p:nvSpPr>
            <p:spPr>
              <a:xfrm>
                <a:off x="548640" y="1371600"/>
                <a:ext cx="11064240" cy="1013460"/>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2.15.</a:t>
                </a:r>
                <a:r>
                  <a:rPr sz="1900">
                    <a:solidFill>
                      <a:srgbClr val="1E293B"/>
                    </a:solidFill>
                    <a:latin typeface="Calibri"/>
                  </a:rPr>
                  <a:t> Công bội, </a:t>
                </a:r>
                <a:r>
                  <a:rPr lang="vi-VN"/>
                  <a:t>u_5</a:t>
                </a:r>
                <a:r>
                  <a:rPr sz="1900">
                    <a:solidFill>
                      <a:srgbClr val="1E293B"/>
                    </a:solidFill>
                    <a:latin typeface="Calibri"/>
                  </a:rPr>
                  <a:t>, </a:t>
                </a:r>
                <a:r>
                  <a:rPr lang="vi-VN"/>
                  <a:t>u_n</a:t>
                </a:r>
                <a:r>
                  <a:rPr sz="1900">
                    <a:solidFill>
                      <a:srgbClr val="1E293B"/>
                    </a:solidFill>
                    <a:latin typeface="Calibri"/>
                  </a:rPr>
                  <a:t>, </a:t>
                </a:r>
                <a:r>
                  <a:rPr lang="vi-VN"/>
                  <a:t>u_{100}</a:t>
                </a:r>
                <a:r>
                  <a:rPr sz="1900">
                    <a:solidFill>
                      <a:srgbClr val="1E293B"/>
                    </a:solidFill>
                    <a:latin typeface="Calibri"/>
                  </a:rPr>
                  <a:t>: a) </a:t>
                </a:r>
                <a:r>
                  <a:rPr lang="vi-VN"/>
                  <a:t>1,\ 4,\ 16,\ldots</a:t>
                </a:r>
                <a:r>
                  <a:rPr sz="1900">
                    <a:solidFill>
                      <a:srgbClr val="1E293B"/>
                    </a:solidFill>
                    <a:latin typeface="Calibri"/>
                  </a:rPr>
                  <a:t>; b) </a:t>
                </a:r>
                <a:r>
                  <a:rPr lang="vi-VN"/>
                  <a:t>2,\ -\frac{1}{2},\ \frac{1}{8},\ldots</a:t>
                </a:r>
                <a:r>
                  <a:rPr sz="1900">
                    <a:solidFill>
                      <a:srgbClr val="1E293B"/>
                    </a:solidFill>
                    <a:latin typeface="Calibri"/>
                  </a:rPr>
                  <a:t> </a:t>
                </a:r>
                <a:r>
                  <a:rPr sz="1900" b="1">
                    <a:solidFill>
                      <a:srgbClr val="1E293B"/>
                    </a:solidFill>
                    <a:latin typeface="Calibri"/>
                  </a:rPr>
                  <a:t>2.16.</a:t>
                </a:r>
                <a:r>
                  <a:rPr sz="1900">
                    <a:solidFill>
                      <a:srgbClr val="1E293B"/>
                    </a:solidFill>
                    <a:latin typeface="Calibri"/>
                  </a:rPr>
                  <a:t> Cấp số nhân? a) </a:t>
                </a:r>
                <a:r>
                  <a:rPr lang="vi-VN"/>
                  <a:t>u_n=5n</a:t>
                </a:r>
                <a:r>
                  <a:rPr sz="1900">
                    <a:solidFill>
                      <a:srgbClr val="1E293B"/>
                    </a:solidFill>
                    <a:latin typeface="Calibri"/>
                  </a:rPr>
                  <a:t>; b) </a:t>
                </a:r>
                <a:r>
                  <a:rPr lang="vi-VN"/>
                  <a:t>u_n=5^n</a:t>
                </a:r>
                <a:r>
                  <a:rPr sz="1900">
                    <a:solidFill>
                      <a:srgbClr val="1E293B"/>
                    </a:solidFill>
                    <a:latin typeface="Calibri"/>
                  </a:rPr>
                  <a:t>; c) </a:t>
                </a:r>
                <a:r>
                  <a:rPr lang="vi-VN"/>
                  <a:t>u_1=1</a:t>
                </a:r>
                <a:r>
                  <a:rPr sz="1900">
                    <a:solidFill>
                      <a:srgbClr val="1E293B"/>
                    </a:solidFill>
                    <a:latin typeface="Calibri"/>
                  </a:rPr>
                  <a:t>, </a:t>
                </a:r>
                <a:r>
                  <a:rPr lang="vi-VN"/>
                  <a:t>u_n=nu_{n-1}</a:t>
                </a:r>
                <a:r>
                  <a:rPr sz="1900">
                    <a:solidFill>
                      <a:srgbClr val="1E293B"/>
                    </a:solidFill>
                    <a:latin typeface="Calibri"/>
                  </a:rPr>
                  <a:t>; d) </a:t>
                </a:r>
                <a:r>
                  <a:rPr lang="vi-VN"/>
                  <a:t>u_1=1</a:t>
                </a:r>
                <a:r>
                  <a:rPr sz="1900">
                    <a:solidFill>
                      <a:srgbClr val="1E293B"/>
                    </a:solidFill>
                    <a:latin typeface="Calibri"/>
                  </a:rPr>
                  <a:t>, </a:t>
                </a:r>
                <a:r>
                  <a:rPr lang="vi-VN"/>
                  <a:t>u_n=5u_{n-1}</a:t>
                </a:r>
                <a:r>
                  <a:rPr sz="1900">
                    <a:solidFill>
                      <a:srgbClr val="1E293B"/>
                    </a:solidFill>
                    <a:latin typeface="Calibri"/>
                  </a:rPr>
                  <a:t>.</a:t>
                </a:r>
              </a:p>
            </p:txBody>
          </p:sp>
        </mc:Fallback>
      </mc:AlternateContent>
      <p:sp>
        <p:nvSpPr>
          <p:cNvPr id="8" name="s1_nen"/>
          <p:cNvSpPr/>
          <p:nvPr/>
        </p:nvSpPr>
        <p:spPr>
          <a:xfrm>
            <a:off x="548640" y="2449068"/>
            <a:ext cx="11064240" cy="123520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485644"/>
                <a:ext cx="10735056" cy="1162050"/>
              </a:xfrm>
              <a:prstGeom prst="rect">
                <a:avLst/>
              </a:prstGeom>
              <a:noFill/>
            </p:spPr>
            <p:txBody>
              <a:bodyPr wrap="square" anchor="ctr" lIns="45720" rIns="45720">
                <a:spAutoFit/>
              </a:bodyPr>
              <a:lstStyle/>
              <a:p>
                <a:pPr algn="l">
                  <a:spcAft>
                    <a:spcPts val="800"/>
                  </a:spcAft>
                </a:pPr>
                <a:r>
                  <a:rPr sz="1900">
                    <a:solidFill>
                      <a:srgbClr val="1E293B"/>
                    </a:solidFill>
                    <a:latin typeface="Calibri"/>
                  </a:rPr>
                  <a:t>2.15. a) </a:t>
                </a:r>
                <a14:m>
                  <m:oMath xmlns:m="http://schemas.openxmlformats.org/officeDocument/2006/math">
                    <m:r>
                      <a:rPr lang="vi-VN" sz="1900" b="0">
                        <a:solidFill>
                          <a:srgbClr val="1E293B"/>
                        </a:solidFill>
                        <a:latin typeface="Cambria Math" panose="02040503050406030204" pitchFamily="18" charset="0"/>
                      </a:rPr>
                      <m:t>q=4</m:t>
                    </m:r>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5</m:t>
                        </m:r>
                      </m:sub>
                    </m:sSub>
                    <m:r>
                      <a:rPr lang="vi-VN" sz="1900" b="0">
                        <a:solidFill>
                          <a:srgbClr val="1E293B"/>
                        </a:solidFill>
                        <a:latin typeface="Cambria Math" panose="02040503050406030204" pitchFamily="18" charset="0"/>
                      </a:rPr>
                      <m:t>=256</m:t>
                    </m:r>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n</m:t>
                        </m:r>
                      </m:sub>
                    </m:sSub>
                    <m:r>
                      <a:rPr lang="vi-VN" sz="1900" b="0">
                        <a:solidFill>
                          <a:srgbClr val="1E293B"/>
                        </a:solidFill>
                        <a:latin typeface="Cambria Math" panose="02040503050406030204" pitchFamily="18" charset="0"/>
                      </a:rPr>
                      <m:t>=</m:t>
                    </m:r>
                    <m:sSup>
                      <m:e>
                        <m:r>
                          <a:rPr lang="vi-VN" sz="1900" b="0">
                            <a:solidFill>
                              <a:srgbClr val="1E293B"/>
                            </a:solidFill>
                            <a:latin typeface="Cambria Math" panose="02040503050406030204" pitchFamily="18" charset="0"/>
                          </a:rPr>
                          <m:t>4</m:t>
                        </m:r>
                      </m:e>
                      <m:sup>
                        <m:r>
                          <a:rPr lang="vi-VN" sz="1900" b="0">
                            <a:solidFill>
                              <a:srgbClr val="1E293B"/>
                            </a:solidFill>
                            <a:latin typeface="Cambria Math" panose="02040503050406030204" pitchFamily="18" charset="0"/>
                          </a:rPr>
                          <m:t>n−1</m:t>
                        </m:r>
                      </m:sup>
                    </m:sSup>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100</m:t>
                        </m:r>
                      </m:sub>
                    </m:sSub>
                    <m:r>
                      <a:rPr lang="vi-VN" sz="1900" b="0">
                        <a:solidFill>
                          <a:srgbClr val="1E293B"/>
                        </a:solidFill>
                        <a:latin typeface="Cambria Math" panose="02040503050406030204" pitchFamily="18" charset="0"/>
                      </a:rPr>
                      <m:t>=</m:t>
                    </m:r>
                    <m:sSup>
                      <m:e>
                        <m:r>
                          <a:rPr lang="vi-VN" sz="1900" b="0">
                            <a:solidFill>
                              <a:srgbClr val="1E293B"/>
                            </a:solidFill>
                            <a:latin typeface="Cambria Math" panose="02040503050406030204" pitchFamily="18" charset="0"/>
                          </a:rPr>
                          <m:t>4</m:t>
                        </m:r>
                      </m:e>
                      <m:sup>
                        <m:r>
                          <a:rPr lang="vi-VN" sz="1900" b="0">
                            <a:solidFill>
                              <a:srgbClr val="1E293B"/>
                            </a:solidFill>
                            <a:latin typeface="Cambria Math" panose="02040503050406030204" pitchFamily="18" charset="0"/>
                          </a:rPr>
                          <m:t>99</m:t>
                        </m:r>
                      </m:sup>
                    </m:sSup>
                  </m:oMath>
                </a14:m>
                <a:r>
                  <a:rPr sz="1900">
                    <a:solidFill>
                      <a:srgbClr val="1E293B"/>
                    </a:solidFill>
                    <a:latin typeface="Calibri"/>
                  </a:rPr>
                  <a:t>. b) </a:t>
                </a:r>
                <a14:m>
                  <m:oMath xmlns:m="http://schemas.openxmlformats.org/officeDocument/2006/math">
                    <m:r>
                      <a:rPr lang="vi-VN" sz="1900" b="0">
                        <a:solidFill>
                          <a:srgbClr val="1E293B"/>
                        </a:solidFill>
                        <a:latin typeface="Cambria Math" panose="02040503050406030204" pitchFamily="18" charset="0"/>
                      </a:rPr>
                      <m:t>q=−</m:t>
                    </m:r>
                    <m:f>
                      <m:fPr>
                        <m:type m:val="bar"/>
                      </m:fPr>
                      <m:num>
                        <m:r>
                          <a:rPr lang="vi-VN" sz="1900" b="0">
                            <a:solidFill>
                              <a:srgbClr val="1E293B"/>
                            </a:solidFill>
                            <a:latin typeface="Cambria Math" panose="02040503050406030204" pitchFamily="18" charset="0"/>
                          </a:rPr>
                          <m:t>1</m:t>
                        </m:r>
                      </m:num>
                      <m:den>
                        <m:r>
                          <a:rPr lang="vi-VN" sz="1900" b="0">
                            <a:solidFill>
                              <a:srgbClr val="1E293B"/>
                            </a:solidFill>
                            <a:latin typeface="Cambria Math" panose="02040503050406030204" pitchFamily="18" charset="0"/>
                          </a:rPr>
                          <m:t>4</m:t>
                        </m:r>
                      </m:den>
                    </m:f>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5</m:t>
                        </m:r>
                      </m:sub>
                    </m:sSub>
                    <m:r>
                      <a:rPr lang="vi-VN" sz="1900" b="0">
                        <a:solidFill>
                          <a:srgbClr val="1E293B"/>
                        </a:solidFill>
                        <a:latin typeface="Cambria Math" panose="02040503050406030204" pitchFamily="18" charset="0"/>
                      </a:rPr>
                      <m:t>=</m:t>
                    </m:r>
                    <m:f>
                      <m:fPr>
                        <m:type m:val="bar"/>
                      </m:fPr>
                      <m:num>
                        <m:r>
                          <a:rPr lang="vi-VN" sz="1900" b="0">
                            <a:solidFill>
                              <a:srgbClr val="1E293B"/>
                            </a:solidFill>
                            <a:latin typeface="Cambria Math" panose="02040503050406030204" pitchFamily="18" charset="0"/>
                          </a:rPr>
                          <m:t>1</m:t>
                        </m:r>
                      </m:num>
                      <m:den>
                        <m:r>
                          <a:rPr lang="vi-VN" sz="1900" b="0">
                            <a:solidFill>
                              <a:srgbClr val="1E293B"/>
                            </a:solidFill>
                            <a:latin typeface="Cambria Math" panose="02040503050406030204" pitchFamily="18" charset="0"/>
                          </a:rPr>
                          <m:t>128</m:t>
                        </m:r>
                      </m:den>
                    </m:f>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n</m:t>
                        </m:r>
                      </m:sub>
                    </m:sSub>
                    <m:r>
                      <a:rPr lang="vi-VN" sz="1900" b="0">
                        <a:solidFill>
                          <a:srgbClr val="1E293B"/>
                        </a:solidFill>
                        <a:latin typeface="Cambria Math" panose="02040503050406030204" pitchFamily="18" charset="0"/>
                      </a:rPr>
                      <m:t>=2·</m:t>
                    </m:r>
                    <m:sSup>
                      <m:e>
                        <m:d>
                          <m:dPr>
                            <m:sepChr m:val=""/>
                          </m:dPr>
                          <m:e>
                            <m:r>
                              <a:rPr lang="vi-VN" sz="1900" b="0">
                                <a:solidFill>
                                  <a:srgbClr val="1E293B"/>
                                </a:solidFill>
                                <a:latin typeface="Cambria Math" panose="02040503050406030204" pitchFamily="18" charset="0"/>
                              </a:rPr>
                              <m:t>−</m:t>
                            </m:r>
                            <m:f>
                              <m:fPr>
                                <m:type m:val="bar"/>
                              </m:fPr>
                              <m:num>
                                <m:r>
                                  <a:rPr lang="vi-VN" sz="1900" b="0">
                                    <a:solidFill>
                                      <a:srgbClr val="1E293B"/>
                                    </a:solidFill>
                                    <a:latin typeface="Cambria Math" panose="02040503050406030204" pitchFamily="18" charset="0"/>
                                  </a:rPr>
                                  <m:t>1</m:t>
                                </m:r>
                              </m:num>
                              <m:den>
                                <m:r>
                                  <a:rPr lang="vi-VN" sz="1900" b="0">
                                    <a:solidFill>
                                      <a:srgbClr val="1E293B"/>
                                    </a:solidFill>
                                    <a:latin typeface="Cambria Math" panose="02040503050406030204" pitchFamily="18" charset="0"/>
                                  </a:rPr>
                                  <m:t>4</m:t>
                                </m:r>
                              </m:den>
                            </m:f>
                          </m:e>
                        </m:d>
                      </m:e>
                      <m:sup>
                        <m:r>
                          <a:rPr lang="vi-VN" sz="1900" b="0">
                            <a:solidFill>
                              <a:srgbClr val="1E293B"/>
                            </a:solidFill>
                            <a:latin typeface="Cambria Math" panose="02040503050406030204" pitchFamily="18" charset="0"/>
                          </a:rPr>
                          <m:t>n−1</m:t>
                        </m:r>
                      </m:sup>
                    </m:sSup>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100</m:t>
                        </m:r>
                      </m:sub>
                    </m:sSub>
                    <m:r>
                      <a:rPr lang="vi-VN" sz="1900" b="0">
                        <a:solidFill>
                          <a:srgbClr val="1E293B"/>
                        </a:solidFill>
                        <a:latin typeface="Cambria Math" panose="02040503050406030204" pitchFamily="18" charset="0"/>
                      </a:rPr>
                      <m:t>=−</m:t>
                    </m:r>
                    <m:f>
                      <m:fPr>
                        <m:type m:val="bar"/>
                      </m:fPr>
                      <m:num>
                        <m:r>
                          <a:rPr lang="vi-VN" sz="1900" b="0">
                            <a:solidFill>
                              <a:srgbClr val="1E293B"/>
                            </a:solidFill>
                            <a:latin typeface="Cambria Math" panose="02040503050406030204" pitchFamily="18" charset="0"/>
                          </a:rPr>
                          <m:t>1</m:t>
                        </m:r>
                      </m:num>
                      <m:den>
                        <m:sSup>
                          <m:e>
                            <m:r>
                              <a:rPr lang="vi-VN" sz="1900" b="0">
                                <a:solidFill>
                                  <a:srgbClr val="1E293B"/>
                                </a:solidFill>
                                <a:latin typeface="Cambria Math" panose="02040503050406030204" pitchFamily="18" charset="0"/>
                              </a:rPr>
                              <m:t>2</m:t>
                            </m:r>
                          </m:e>
                          <m:sup>
                            <m:r>
                              <a:rPr lang="vi-VN" sz="1900" b="0">
                                <a:solidFill>
                                  <a:srgbClr val="1E293B"/>
                                </a:solidFill>
                                <a:latin typeface="Cambria Math" panose="02040503050406030204" pitchFamily="18" charset="0"/>
                              </a:rPr>
                              <m:t>197</m:t>
                            </m:r>
                          </m:sup>
                        </m:sSup>
                      </m:den>
                    </m:f>
                  </m:oMath>
                </a14:m>
                <a:r>
                  <a:rPr sz="1900">
                    <a:solidFill>
                      <a:srgbClr val="1E293B"/>
                    </a:solidFill>
                    <a:latin typeface="Calibri"/>
                  </a:rPr>
                  <a:t>. 2.16. a) không; b) </a:t>
                </a:r>
                <a14:m>
                  <m:oMath xmlns:m="http://schemas.openxmlformats.org/officeDocument/2006/math">
                    <m:r>
                      <a:rPr lang="vi-VN" sz="1900" b="0">
                        <a:solidFill>
                          <a:srgbClr val="1E293B"/>
                        </a:solidFill>
                        <a:latin typeface="Cambria Math" panose="02040503050406030204" pitchFamily="18" charset="0"/>
                      </a:rPr>
                      <m:t>q=5</m:t>
                    </m:r>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n</m:t>
                        </m:r>
                      </m:sub>
                    </m:sSub>
                    <m:r>
                      <a:rPr lang="vi-VN" sz="1900" b="0">
                        <a:solidFill>
                          <a:srgbClr val="1E293B"/>
                        </a:solidFill>
                        <a:latin typeface="Cambria Math" panose="02040503050406030204" pitchFamily="18" charset="0"/>
                      </a:rPr>
                      <m:t>=5·</m:t>
                    </m:r>
                    <m:sSup>
                      <m:e>
                        <m:r>
                          <a:rPr lang="vi-VN" sz="1900" b="0">
                            <a:solidFill>
                              <a:srgbClr val="1E293B"/>
                            </a:solidFill>
                            <a:latin typeface="Cambria Math" panose="02040503050406030204" pitchFamily="18" charset="0"/>
                          </a:rPr>
                          <m:t>5</m:t>
                        </m:r>
                      </m:e>
                      <m:sup>
                        <m:r>
                          <a:rPr lang="vi-VN" sz="1900" b="0">
                            <a:solidFill>
                              <a:srgbClr val="1E293B"/>
                            </a:solidFill>
                            <a:latin typeface="Cambria Math" panose="02040503050406030204" pitchFamily="18" charset="0"/>
                          </a:rPr>
                          <m:t>n−1</m:t>
                        </m:r>
                      </m:sup>
                    </m:sSup>
                  </m:oMath>
                </a14:m>
                <a:r>
                  <a:rPr sz="1900">
                    <a:solidFill>
                      <a:srgbClr val="1E293B"/>
                    </a:solidFill>
                    <a:latin typeface="Calibri"/>
                  </a:rPr>
                  <a:t>; c) không; d) </a:t>
                </a:r>
                <a14:m>
                  <m:oMath xmlns:m="http://schemas.openxmlformats.org/officeDocument/2006/math">
                    <m:r>
                      <a:rPr lang="vi-VN" sz="1900" b="0">
                        <a:solidFill>
                          <a:srgbClr val="1E293B"/>
                        </a:solidFill>
                        <a:latin typeface="Cambria Math" panose="02040503050406030204" pitchFamily="18" charset="0"/>
                      </a:rPr>
                      <m:t>q=5</m:t>
                    </m:r>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n</m:t>
                        </m:r>
                      </m:sub>
                    </m:sSub>
                    <m:r>
                      <a:rPr lang="vi-VN" sz="1900" b="0">
                        <a:solidFill>
                          <a:srgbClr val="1E293B"/>
                        </a:solidFill>
                        <a:latin typeface="Cambria Math" panose="02040503050406030204" pitchFamily="18" charset="0"/>
                      </a:rPr>
                      <m:t>=</m:t>
                    </m:r>
                    <m:sSup>
                      <m:e>
                        <m:r>
                          <a:rPr lang="vi-VN" sz="1900" b="0">
                            <a:solidFill>
                              <a:srgbClr val="1E293B"/>
                            </a:solidFill>
                            <a:latin typeface="Cambria Math" panose="02040503050406030204" pitchFamily="18" charset="0"/>
                          </a:rPr>
                          <m:t>5</m:t>
                        </m:r>
                      </m:e>
                      <m:sup>
                        <m:r>
                          <a:rPr lang="vi-VN" sz="1900" b="0">
                            <a:solidFill>
                              <a:srgbClr val="1E293B"/>
                            </a:solidFill>
                            <a:latin typeface="Cambria Math" panose="02040503050406030204" pitchFamily="18" charset="0"/>
                          </a:rPr>
                          <m:t>n−1</m:t>
                        </m:r>
                      </m:sup>
                    </m:sSup>
                  </m:oMath>
                </a14:m>
                <a:r>
                  <a:rPr sz="1900">
                    <a:solidFill>
                      <a:srgbClr val="1E293B"/>
                    </a:solidFill>
                    <a:latin typeface="Calibri"/>
                  </a:rPr>
                  <a:t>.</a:t>
                </a:r>
              </a:p>
            </p:txBody>
          </p:sp>
        </mc:Choice>
        <mc:Fallback>
          <p:sp>
            <p:nvSpPr>
              <p:cNvPr id="9" name="TextBox 8"/>
              <p:cNvSpPr txBox="1"/>
              <p:nvPr/>
            </p:nvSpPr>
            <p:spPr>
              <a:xfrm>
                <a:off x="713232" y="2485644"/>
                <a:ext cx="10735056" cy="1162050"/>
              </a:xfrm>
              <a:prstGeom prst="rect">
                <a:avLst/>
              </a:prstGeom>
              <a:noFill/>
            </p:spPr>
            <p:txBody>
              <a:bodyPr wrap="square" anchor="ctr" lIns="45720" rIns="45720">
                <a:spAutoFit/>
              </a:bodyPr>
              <a:lstStyle/>
              <a:p>
                <a:pPr algn="l">
                  <a:spcAft>
                    <a:spcPts val="800"/>
                  </a:spcAft>
                </a:pPr>
                <a:r>
                  <a:rPr sz="1900">
                    <a:solidFill>
                      <a:srgbClr val="1E293B"/>
                    </a:solidFill>
                    <a:latin typeface="Calibri"/>
                  </a:rPr>
                  <a:t>2.15. a) </a:t>
                </a:r>
                <a:r>
                  <a:rPr lang="vi-VN"/>
                  <a:t>q=4</a:t>
                </a:r>
                <a:r>
                  <a:rPr sz="1900">
                    <a:solidFill>
                      <a:srgbClr val="1E293B"/>
                    </a:solidFill>
                    <a:latin typeface="Calibri"/>
                  </a:rPr>
                  <a:t>, </a:t>
                </a:r>
                <a:r>
                  <a:rPr lang="vi-VN"/>
                  <a:t>u_5=256</a:t>
                </a:r>
                <a:r>
                  <a:rPr sz="1900">
                    <a:solidFill>
                      <a:srgbClr val="1E293B"/>
                    </a:solidFill>
                    <a:latin typeface="Calibri"/>
                  </a:rPr>
                  <a:t>, </a:t>
                </a:r>
                <a:r>
                  <a:rPr lang="vi-VN"/>
                  <a:t>u_n=4^{n-1}</a:t>
                </a:r>
                <a:r>
                  <a:rPr sz="1900">
                    <a:solidFill>
                      <a:srgbClr val="1E293B"/>
                    </a:solidFill>
                    <a:latin typeface="Calibri"/>
                  </a:rPr>
                  <a:t>, </a:t>
                </a:r>
                <a:r>
                  <a:rPr lang="vi-VN"/>
                  <a:t>u_{100}=4^{99}</a:t>
                </a:r>
                <a:r>
                  <a:rPr sz="1900">
                    <a:solidFill>
                      <a:srgbClr val="1E293B"/>
                    </a:solidFill>
                    <a:latin typeface="Calibri"/>
                  </a:rPr>
                  <a:t>. b) </a:t>
                </a:r>
                <a:r>
                  <a:rPr lang="vi-VN"/>
                  <a:t>q=-\frac{1}{4}</a:t>
                </a:r>
                <a:r>
                  <a:rPr sz="1900">
                    <a:solidFill>
                      <a:srgbClr val="1E293B"/>
                    </a:solidFill>
                    <a:latin typeface="Calibri"/>
                  </a:rPr>
                  <a:t>, </a:t>
                </a:r>
                <a:r>
                  <a:rPr lang="vi-VN"/>
                  <a:t>u_5=\frac{1}{128}</a:t>
                </a:r>
                <a:r>
                  <a:rPr sz="1900">
                    <a:solidFill>
                      <a:srgbClr val="1E293B"/>
                    </a:solidFill>
                    <a:latin typeface="Calibri"/>
                  </a:rPr>
                  <a:t>, </a:t>
                </a:r>
                <a:r>
                  <a:rPr lang="vi-VN"/>
                  <a:t>u_n=2\cdot\left(-\frac{1}{4}\right)^{n-1}</a:t>
                </a:r>
                <a:r>
                  <a:rPr sz="1900">
                    <a:solidFill>
                      <a:srgbClr val="1E293B"/>
                    </a:solidFill>
                    <a:latin typeface="Calibri"/>
                  </a:rPr>
                  <a:t>, </a:t>
                </a:r>
                <a:r>
                  <a:rPr lang="vi-VN"/>
                  <a:t>u_{100}=-\frac{1}{2^{197}}</a:t>
                </a:r>
                <a:r>
                  <a:rPr sz="1900">
                    <a:solidFill>
                      <a:srgbClr val="1E293B"/>
                    </a:solidFill>
                    <a:latin typeface="Calibri"/>
                  </a:rPr>
                  <a:t>. 2.16. a) không; b) </a:t>
                </a:r>
                <a:r>
                  <a:rPr lang="vi-VN"/>
                  <a:t>q=5</a:t>
                </a:r>
                <a:r>
                  <a:rPr sz="1900">
                    <a:solidFill>
                      <a:srgbClr val="1E293B"/>
                    </a:solidFill>
                    <a:latin typeface="Calibri"/>
                  </a:rPr>
                  <a:t>, </a:t>
                </a:r>
                <a:r>
                  <a:rPr lang="vi-VN"/>
                  <a:t>u_n=5\cdot 5^{n-1}</a:t>
                </a:r>
                <a:r>
                  <a:rPr sz="1900">
                    <a:solidFill>
                      <a:srgbClr val="1E293B"/>
                    </a:solidFill>
                    <a:latin typeface="Calibri"/>
                  </a:rPr>
                  <a:t>; c) không; d) </a:t>
                </a:r>
                <a:r>
                  <a:rPr lang="vi-VN"/>
                  <a:t>q=5</a:t>
                </a:r>
                <a:r>
                  <a:rPr sz="1900">
                    <a:solidFill>
                      <a:srgbClr val="1E293B"/>
                    </a:solidFill>
                    <a:latin typeface="Calibri"/>
                  </a:rPr>
                  <a:t>, </a:t>
                </a:r>
                <a:r>
                  <a:rPr lang="vi-VN"/>
                  <a:t>u_n=5^{n-1}</a:t>
                </a:r>
                <a:r>
                  <a:rPr sz="1900">
                    <a:solidFill>
                      <a:srgbClr val="1E293B"/>
                    </a:solidFill>
                    <a:latin typeface="Calibri"/>
                  </a:rPr>
                  <a:t>.</a:t>
                </a:r>
              </a:p>
            </p:txBody>
          </p:sp>
        </mc:Fallback>
      </mc:AlternateContent>
      <mc:AlternateContent xmlns:mc="http://schemas.openxmlformats.org/markup-compatibility/2006">
        <mc:Choice xmlns:a14="http://schemas.microsoft.com/office/drawing/2010/main" Requires="a14">
          <p:sp>
            <p:nvSpPr>
              <p:cNvPr id="10" name="s2_chu"/>
              <p:cNvSpPr txBox="1"/>
              <p:nvPr/>
            </p:nvSpPr>
            <p:spPr>
              <a:xfrm>
                <a:off x="548640" y="3748278"/>
                <a:ext cx="11064240" cy="46329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2.17.</a:t>
                </a:r>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6</m:t>
                        </m:r>
                      </m:sub>
                    </m:sSub>
                    <m:r>
                      <a:rPr lang="vi-VN" sz="1900" b="0">
                        <a:solidFill>
                          <a:srgbClr val="1E293B"/>
                        </a:solidFill>
                        <a:latin typeface="Cambria Math" panose="02040503050406030204" pitchFamily="18" charset="0"/>
                      </a:rPr>
                      <m:t>=96</m:t>
                    </m:r>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3</m:t>
                        </m:r>
                      </m:sub>
                    </m:sSub>
                    <m:r>
                      <a:rPr lang="vi-VN" sz="1900" b="0">
                        <a:solidFill>
                          <a:srgbClr val="1E293B"/>
                        </a:solidFill>
                        <a:latin typeface="Cambria Math" panose="02040503050406030204" pitchFamily="18" charset="0"/>
                      </a:rPr>
                      <m:t>=12</m:t>
                    </m:r>
                  </m:oMath>
                </a14:m>
                <a:r>
                  <a:rPr sz="1900">
                    <a:solidFill>
                      <a:srgbClr val="1E293B"/>
                    </a:solidFill>
                    <a:latin typeface="Calibri"/>
                  </a:rPr>
                  <a:t>: tìm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50</m:t>
                        </m:r>
                      </m:sub>
                    </m:sSub>
                  </m:oMath>
                </a14:m>
                <a:r>
                  <a:rPr sz="1900">
                    <a:solidFill>
                      <a:srgbClr val="1E293B"/>
                    </a:solidFill>
                    <a:latin typeface="Calibri"/>
                  </a:rPr>
                  <a:t>. </a:t>
                </a:r>
                <a:r>
                  <a:rPr sz="1900" b="1">
                    <a:solidFill>
                      <a:srgbClr val="1E293B"/>
                    </a:solidFill>
                    <a:latin typeface="Calibri"/>
                  </a:rPr>
                  <a:t>2.18.</a:t>
                </a:r>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1</m:t>
                        </m:r>
                      </m:sub>
                    </m:sSub>
                    <m:r>
                      <a:rPr lang="vi-VN" sz="1900" b="0">
                        <a:solidFill>
                          <a:srgbClr val="1E293B"/>
                        </a:solidFill>
                        <a:latin typeface="Cambria Math" panose="02040503050406030204" pitchFamily="18" charset="0"/>
                      </a:rPr>
                      <m:t>=5</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q=2</m:t>
                    </m:r>
                  </m:oMath>
                </a14:m>
                <a:r>
                  <a:rPr sz="1900">
                    <a:solidFill>
                      <a:srgbClr val="1E293B"/>
                    </a:solidFill>
                    <a:latin typeface="Calibri"/>
                  </a:rPr>
                  <a:t>: tổng bao nhiêu số hạng đầu bằng 5 115?</a:t>
                </a:r>
              </a:p>
            </p:txBody>
          </p:sp>
        </mc:Choice>
        <mc:Fallback>
          <p:sp>
            <p:nvSpPr>
              <p:cNvPr id="10" name="TextBox 9"/>
              <p:cNvSpPr txBox="1"/>
              <p:nvPr/>
            </p:nvSpPr>
            <p:spPr>
              <a:xfrm>
                <a:off x="548640" y="3748278"/>
                <a:ext cx="11064240" cy="463295"/>
              </a:xfrm>
              <a:prstGeom prst="rect">
                <a:avLst/>
              </a:prstGeom>
              <a:noFill/>
            </p:spPr>
            <p:txBody>
              <a:bodyPr wrap="square" anchor="t" lIns="45720" rIns="45720">
                <a:spAutoFit/>
              </a:bodyPr>
              <a:lstStyle/>
              <a:p>
                <a:pPr algn="l">
                  <a:spcAft>
                    <a:spcPts val="800"/>
                  </a:spcAft>
                </a:pPr>
                <a:r>
                  <a:rPr sz="1900" b="1">
                    <a:solidFill>
                      <a:srgbClr val="1E293B"/>
                    </a:solidFill>
                    <a:latin typeface="Calibri"/>
                  </a:rPr>
                  <a:t>2.17.</a:t>
                </a:r>
                <a:r>
                  <a:rPr sz="1900">
                    <a:solidFill>
                      <a:srgbClr val="1E293B"/>
                    </a:solidFill>
                    <a:latin typeface="Calibri"/>
                  </a:rPr>
                  <a:t> </a:t>
                </a:r>
                <a:r>
                  <a:rPr lang="vi-VN"/>
                  <a:t>u_6=96</a:t>
                </a:r>
                <a:r>
                  <a:rPr sz="1900">
                    <a:solidFill>
                      <a:srgbClr val="1E293B"/>
                    </a:solidFill>
                    <a:latin typeface="Calibri"/>
                  </a:rPr>
                  <a:t>, </a:t>
                </a:r>
                <a:r>
                  <a:rPr lang="vi-VN"/>
                  <a:t>u_3=12</a:t>
                </a:r>
                <a:r>
                  <a:rPr sz="1900">
                    <a:solidFill>
                      <a:srgbClr val="1E293B"/>
                    </a:solidFill>
                    <a:latin typeface="Calibri"/>
                  </a:rPr>
                  <a:t>: tìm </a:t>
                </a:r>
                <a:r>
                  <a:rPr lang="vi-VN"/>
                  <a:t>u_{50}</a:t>
                </a:r>
                <a:r>
                  <a:rPr sz="1900">
                    <a:solidFill>
                      <a:srgbClr val="1E293B"/>
                    </a:solidFill>
                    <a:latin typeface="Calibri"/>
                  </a:rPr>
                  <a:t>. </a:t>
                </a:r>
                <a:r>
                  <a:rPr sz="1900" b="1">
                    <a:solidFill>
                      <a:srgbClr val="1E293B"/>
                    </a:solidFill>
                    <a:latin typeface="Calibri"/>
                  </a:rPr>
                  <a:t>2.18.</a:t>
                </a:r>
                <a:r>
                  <a:rPr sz="1900">
                    <a:solidFill>
                      <a:srgbClr val="1E293B"/>
                    </a:solidFill>
                    <a:latin typeface="Calibri"/>
                  </a:rPr>
                  <a:t> </a:t>
                </a:r>
                <a:r>
                  <a:rPr lang="vi-VN"/>
                  <a:t>u_1=5</a:t>
                </a:r>
                <a:r>
                  <a:rPr sz="1900">
                    <a:solidFill>
                      <a:srgbClr val="1E293B"/>
                    </a:solidFill>
                    <a:latin typeface="Calibri"/>
                  </a:rPr>
                  <a:t>, </a:t>
                </a:r>
                <a:r>
                  <a:rPr lang="vi-VN"/>
                  <a:t>q=2</a:t>
                </a:r>
                <a:r>
                  <a:rPr sz="1900">
                    <a:solidFill>
                      <a:srgbClr val="1E293B"/>
                    </a:solidFill>
                    <a:latin typeface="Calibri"/>
                  </a:rPr>
                  <a:t>: tổng bao nhiêu số hạng đầu bằng 5 115?</a:t>
                </a:r>
              </a:p>
            </p:txBody>
          </p:sp>
        </mc:Fallback>
      </mc:AlternateContent>
      <p:sp>
        <p:nvSpPr>
          <p:cNvPr id="11" name="s3_nen"/>
          <p:cNvSpPr/>
          <p:nvPr/>
        </p:nvSpPr>
        <p:spPr>
          <a:xfrm>
            <a:off x="548640" y="4275582"/>
            <a:ext cx="11064240" cy="55473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312158"/>
                <a:ext cx="107350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2.17. </a:t>
                </a:r>
                <a14:m>
                  <m:oMath xmlns:m="http://schemas.openxmlformats.org/officeDocument/2006/math">
                    <m:sSup>
                      <m:e>
                        <m:r>
                          <a:rPr lang="vi-VN" sz="1900" b="0">
                            <a:solidFill>
                              <a:srgbClr val="1E293B"/>
                            </a:solidFill>
                            <a:latin typeface="Cambria Math" panose="02040503050406030204" pitchFamily="18" charset="0"/>
                          </a:rPr>
                          <m:t>q</m:t>
                        </m:r>
                      </m:e>
                      <m:sup>
                        <m:r>
                          <a:rPr lang="vi-VN" sz="1900" b="0">
                            <a:solidFill>
                              <a:srgbClr val="1E293B"/>
                            </a:solidFill>
                            <a:latin typeface="Cambria Math" panose="02040503050406030204" pitchFamily="18" charset="0"/>
                          </a:rPr>
                          <m:t>3</m:t>
                        </m:r>
                      </m:sup>
                    </m:sSup>
                    <m:r>
                      <a:rPr lang="vi-VN" sz="1900" b="0">
                        <a:solidFill>
                          <a:srgbClr val="1E293B"/>
                        </a:solidFill>
                        <a:latin typeface="Cambria Math" panose="02040503050406030204" pitchFamily="18" charset="0"/>
                      </a:rPr>
                      <m:t>=8</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q=2</m:t>
                    </m:r>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1</m:t>
                        </m:r>
                      </m:sub>
                    </m:sSub>
                    <m:r>
                      <a:rPr lang="vi-VN" sz="1900" b="0">
                        <a:solidFill>
                          <a:srgbClr val="1E293B"/>
                        </a:solidFill>
                        <a:latin typeface="Cambria Math" panose="02040503050406030204" pitchFamily="18" charset="0"/>
                      </a:rPr>
                      <m:t>=3</m:t>
                    </m:r>
                  </m:oMath>
                </a14:m>
                <a:r>
                  <a:rPr sz="1900">
                    <a:solidFill>
                      <a:srgbClr val="1E293B"/>
                    </a:solidFill>
                    <a:latin typeface="Calibri"/>
                  </a:rPr>
                  <a:t>, </a:t>
                </a:r>
                <a14:m>
                  <m:oMath xmlns:m="http://schemas.openxmlformats.org/officeDocument/2006/math">
                    <m:sSub>
                      <m:e>
                        <m:r>
                          <a:rPr lang="vi-VN" sz="1900" b="0">
                            <a:solidFill>
                              <a:srgbClr val="1E293B"/>
                            </a:solidFill>
                            <a:latin typeface="Cambria Math" panose="02040503050406030204" pitchFamily="18" charset="0"/>
                          </a:rPr>
                          <m:t>u</m:t>
                        </m:r>
                      </m:e>
                      <m:sub>
                        <m:r>
                          <a:rPr lang="vi-VN" sz="1900" b="0">
                            <a:solidFill>
                              <a:srgbClr val="1E293B"/>
                            </a:solidFill>
                            <a:latin typeface="Cambria Math" panose="02040503050406030204" pitchFamily="18" charset="0"/>
                          </a:rPr>
                          <m:t>50</m:t>
                        </m:r>
                      </m:sub>
                    </m:sSub>
                    <m:r>
                      <a:rPr lang="vi-VN" sz="1900" b="0">
                        <a:solidFill>
                          <a:srgbClr val="1E293B"/>
                        </a:solidFill>
                        <a:latin typeface="Cambria Math" panose="02040503050406030204" pitchFamily="18" charset="0"/>
                      </a:rPr>
                      <m:t>=3·</m:t>
                    </m:r>
                    <m:sSup>
                      <m:e>
                        <m:r>
                          <a:rPr lang="vi-VN" sz="1900" b="0">
                            <a:solidFill>
                              <a:srgbClr val="1E293B"/>
                            </a:solidFill>
                            <a:latin typeface="Cambria Math" panose="02040503050406030204" pitchFamily="18" charset="0"/>
                          </a:rPr>
                          <m:t>2</m:t>
                        </m:r>
                      </m:e>
                      <m:sup>
                        <m:r>
                          <a:rPr lang="vi-VN" sz="1900" b="0">
                            <a:solidFill>
                              <a:srgbClr val="1E293B"/>
                            </a:solidFill>
                            <a:latin typeface="Cambria Math" panose="02040503050406030204" pitchFamily="18" charset="0"/>
                          </a:rPr>
                          <m:t>49</m:t>
                        </m:r>
                      </m:sup>
                    </m:sSup>
                  </m:oMath>
                </a14:m>
                <a:r>
                  <a:rPr sz="1900">
                    <a:solidFill>
                      <a:srgbClr val="1E293B"/>
                    </a:solidFill>
                    <a:latin typeface="Calibri"/>
                  </a:rPr>
                  <a:t>. 2.18. </a:t>
                </a:r>
                <a14:m>
                  <m:oMath xmlns:m="http://schemas.openxmlformats.org/officeDocument/2006/math">
                    <m:r>
                      <a:rPr lang="vi-VN" sz="1900" b="0">
                        <a:solidFill>
                          <a:srgbClr val="1E293B"/>
                        </a:solidFill>
                        <a:latin typeface="Cambria Math" panose="02040503050406030204" pitchFamily="18" charset="0"/>
                      </a:rPr>
                      <m:t>5(</m:t>
                    </m:r>
                    <m:sSup>
                      <m:e>
                        <m:r>
                          <a:rPr lang="vi-VN" sz="1900" b="0">
                            <a:solidFill>
                              <a:srgbClr val="1E293B"/>
                            </a:solidFill>
                            <a:latin typeface="Cambria Math" panose="02040503050406030204" pitchFamily="18" charset="0"/>
                          </a:rPr>
                          <m:t>2</m:t>
                        </m:r>
                      </m:e>
                      <m:sup>
                        <m:r>
                          <a:rPr lang="vi-VN" sz="1900" b="0">
                            <a:solidFill>
                              <a:srgbClr val="1E293B"/>
                            </a:solidFill>
                            <a:latin typeface="Cambria Math" panose="02040503050406030204" pitchFamily="18" charset="0"/>
                          </a:rPr>
                          <m:t>n</m:t>
                        </m:r>
                      </m:sup>
                    </m:sSup>
                    <m:r>
                      <a:rPr lang="vi-VN" sz="1900" b="0">
                        <a:solidFill>
                          <a:srgbClr val="1E293B"/>
                        </a:solidFill>
                        <a:latin typeface="Cambria Math" panose="02040503050406030204" pitchFamily="18" charset="0"/>
                      </a:rPr>
                      <m:t>−1)=5</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115⇒</m:t>
                    </m:r>
                    <m:sSup>
                      <m:e>
                        <m:r>
                          <a:rPr lang="vi-VN" sz="1900" b="0">
                            <a:solidFill>
                              <a:srgbClr val="1E293B"/>
                            </a:solidFill>
                            <a:latin typeface="Cambria Math" panose="02040503050406030204" pitchFamily="18" charset="0"/>
                          </a:rPr>
                          <m:t>2</m:t>
                        </m:r>
                      </m:e>
                      <m:sup>
                        <m:r>
                          <a:rPr lang="vi-VN" sz="1900" b="0">
                            <a:solidFill>
                              <a:srgbClr val="1E293B"/>
                            </a:solidFill>
                            <a:latin typeface="Cambria Math" panose="02040503050406030204" pitchFamily="18" charset="0"/>
                          </a:rPr>
                          <m:t>n</m:t>
                        </m:r>
                      </m:sup>
                    </m:sSup>
                    <m:r>
                      <a:rPr lang="vi-VN" sz="1900" b="0">
                        <a:solidFill>
                          <a:srgbClr val="1E293B"/>
                        </a:solidFill>
                        <a:latin typeface="Cambria Math" panose="02040503050406030204" pitchFamily="18" charset="0"/>
                      </a:rPr>
                      <m:t>=1</m:t>
                    </m:r>
                    <m:r>
                      <m:rPr>
                        <m:sty m:val="p"/>
                      </m:rPr>
                      <a:rPr lang="vi-VN" sz="1900" b="0">
                        <a:solidFill>
                          <a:srgbClr val="1E293B"/>
                        </a:solidFill>
                        <a:latin typeface="Cambria Math" panose="02040503050406030204" pitchFamily="18" charset="0"/>
                      </a:rPr>
                      <m:t> </m:t>
                    </m:r>
                    <m:r>
                      <a:rPr lang="vi-VN" sz="1900" b="0">
                        <a:solidFill>
                          <a:srgbClr val="1E293B"/>
                        </a:solidFill>
                        <a:latin typeface="Cambria Math" panose="02040503050406030204" pitchFamily="18" charset="0"/>
                      </a:rPr>
                      <m:t>024</m:t>
                    </m:r>
                  </m:oMath>
                </a14:m>
                <a:r>
                  <a:rPr sz="1900">
                    <a:solidFill>
                      <a:srgbClr val="1E293B"/>
                    </a:solidFill>
                    <a:latin typeface="Calibri"/>
                  </a:rPr>
                  <a:t>, </a:t>
                </a:r>
                <a14:m>
                  <m:oMath xmlns:m="http://schemas.openxmlformats.org/officeDocument/2006/math">
                    <m:r>
                      <a:rPr lang="vi-VN" sz="1900" b="0">
                        <a:solidFill>
                          <a:srgbClr val="1E293B"/>
                        </a:solidFill>
                        <a:latin typeface="Cambria Math" panose="02040503050406030204" pitchFamily="18" charset="0"/>
                      </a:rPr>
                      <m:t>n=10</m:t>
                    </m:r>
                  </m:oMath>
                </a14:m>
                <a:r>
                  <a:rPr sz="1900">
                    <a:solidFill>
                      <a:srgbClr val="1E293B"/>
                    </a:solidFill>
                    <a:latin typeface="Calibri"/>
                  </a:rPr>
                  <a:t>.</a:t>
                </a:r>
              </a:p>
            </p:txBody>
          </p:sp>
        </mc:Choice>
        <mc:Fallback>
          <p:sp>
            <p:nvSpPr>
              <p:cNvPr id="12" name="TextBox 11"/>
              <p:cNvSpPr txBox="1"/>
              <p:nvPr/>
            </p:nvSpPr>
            <p:spPr>
              <a:xfrm>
                <a:off x="713232" y="4312158"/>
                <a:ext cx="10735056" cy="481583"/>
              </a:xfrm>
              <a:prstGeom prst="rect">
                <a:avLst/>
              </a:prstGeom>
              <a:noFill/>
            </p:spPr>
            <p:txBody>
              <a:bodyPr wrap="square" anchor="ctr" lIns="45720" rIns="45720">
                <a:spAutoFit/>
              </a:bodyPr>
              <a:lstStyle/>
              <a:p>
                <a:pPr algn="l">
                  <a:spcAft>
                    <a:spcPts val="800"/>
                  </a:spcAft>
                </a:pPr>
                <a:r>
                  <a:rPr sz="1900">
                    <a:solidFill>
                      <a:srgbClr val="1E293B"/>
                    </a:solidFill>
                    <a:latin typeface="Calibri"/>
                  </a:rPr>
                  <a:t>2.17. </a:t>
                </a:r>
                <a:r>
                  <a:rPr lang="vi-VN"/>
                  <a:t>q^3=8</a:t>
                </a:r>
                <a:r>
                  <a:rPr sz="1900">
                    <a:solidFill>
                      <a:srgbClr val="1E293B"/>
                    </a:solidFill>
                    <a:latin typeface="Calibri"/>
                  </a:rPr>
                  <a:t>, </a:t>
                </a:r>
                <a:r>
                  <a:rPr lang="vi-VN"/>
                  <a:t>q=2</a:t>
                </a:r>
                <a:r>
                  <a:rPr sz="1900">
                    <a:solidFill>
                      <a:srgbClr val="1E293B"/>
                    </a:solidFill>
                    <a:latin typeface="Calibri"/>
                  </a:rPr>
                  <a:t>, </a:t>
                </a:r>
                <a:r>
                  <a:rPr lang="vi-VN"/>
                  <a:t>u_1=3</a:t>
                </a:r>
                <a:r>
                  <a:rPr sz="1900">
                    <a:solidFill>
                      <a:srgbClr val="1E293B"/>
                    </a:solidFill>
                    <a:latin typeface="Calibri"/>
                  </a:rPr>
                  <a:t>, </a:t>
                </a:r>
                <a:r>
                  <a:rPr lang="vi-VN"/>
                  <a:t>u_{50}=3\cdot 2^{49}</a:t>
                </a:r>
                <a:r>
                  <a:rPr sz="1900">
                    <a:solidFill>
                      <a:srgbClr val="1E293B"/>
                    </a:solidFill>
                    <a:latin typeface="Calibri"/>
                  </a:rPr>
                  <a:t>. 2.18. </a:t>
                </a:r>
                <a:r>
                  <a:rPr lang="vi-VN"/>
                  <a:t>5(2^n-1)=5\ 115\Rightarrow 2^n=1\ 024</a:t>
                </a:r>
                <a:r>
                  <a:rPr sz="1900">
                    <a:solidFill>
                      <a:srgbClr val="1E293B"/>
                    </a:solidFill>
                    <a:latin typeface="Calibri"/>
                  </a:rPr>
                  <a:t>, </a:t>
                </a:r>
                <a:r>
                  <a:rPr lang="vi-VN"/>
                  <a:t>n=10</a:t>
                </a:r>
                <a:r>
                  <a:rPr sz="19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VẬN DỤNG</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BÀI TẬP 2.19 – 2.21 (SGK TR.55)</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Cấp số nhân – Toán 11          17</a:t>
            </a:r>
          </a:p>
        </p:txBody>
      </p:sp>
      <p:sp>
        <p:nvSpPr>
          <p:cNvPr id="7" name="TextBox 6"/>
          <p:cNvSpPr txBox="1"/>
          <p:nvPr/>
        </p:nvSpPr>
        <p:spPr>
          <a:xfrm>
            <a:off x="548640" y="1371600"/>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2.19.</a:t>
            </a:r>
            <a:r>
              <a:rPr sz="2000">
                <a:solidFill>
                  <a:srgbClr val="1E293B"/>
                </a:solidFill>
                <a:latin typeface="Calibri"/>
              </a:rPr>
              <a:t> Máy ủi giá 3 tỉ đồng, mỗi năm giảm 20% so với năm trước. Giá trị sau 5 năm? </a:t>
            </a:r>
            <a:r>
              <a:rPr sz="2000" b="1">
                <a:solidFill>
                  <a:srgbClr val="1E293B"/>
                </a:solidFill>
                <a:latin typeface="Calibri"/>
              </a:rPr>
              <a:t>2.20.</a:t>
            </a:r>
            <a:r>
              <a:rPr sz="2000">
                <a:solidFill>
                  <a:srgbClr val="1E293B"/>
                </a:solidFill>
                <a:latin typeface="Calibri"/>
              </a:rPr>
              <a:t> Năm 2020 dân số 97 triệu người, tốc độ tăng 0,91%/năm. Ước tính dân số năm 2030.</a:t>
            </a:r>
          </a:p>
        </p:txBody>
      </p:sp>
      <p:sp>
        <p:nvSpPr>
          <p:cNvPr id="8" name="s1_nen"/>
          <p:cNvSpPr/>
          <p:nvPr/>
        </p:nvSpPr>
        <p:spPr>
          <a:xfrm>
            <a:off x="548640" y="2218944"/>
            <a:ext cx="11064240" cy="87477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2255520"/>
                <a:ext cx="107350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2.19. </a:t>
                </a:r>
                <a14:m>
                  <m:oMath xmlns:m="http://schemas.openxmlformats.org/officeDocument/2006/math">
                    <m:r>
                      <a:rPr lang="vi-VN" sz="2000" b="0">
                        <a:solidFill>
                          <a:srgbClr val="1E293B"/>
                        </a:solidFill>
                        <a:latin typeface="Cambria Math" panose="02040503050406030204" pitchFamily="18" charset="0"/>
                      </a:rPr>
                      <m:t>3·0</m:t>
                    </m:r>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8</m:t>
                        </m:r>
                      </m:e>
                      <m:sup>
                        <m:r>
                          <a:rPr lang="vi-VN" sz="2000" b="0">
                            <a:solidFill>
                              <a:srgbClr val="1E293B"/>
                            </a:solidFill>
                            <a:latin typeface="Cambria Math" panose="02040503050406030204" pitchFamily="18" charset="0"/>
                          </a:rPr>
                          <m:t>5</m:t>
                        </m:r>
                      </m:sup>
                    </m:sSup>
                    <m:r>
                      <a:rPr lang="vi-VN" sz="2000" b="0">
                        <a:solidFill>
                          <a:srgbClr val="1E293B"/>
                        </a:solidFill>
                        <a:latin typeface="Cambria Math" panose="02040503050406030204" pitchFamily="18" charset="0"/>
                      </a:rPr>
                      <m:t>=0</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98304</m:t>
                    </m:r>
                  </m:oMath>
                </a14:m>
                <a:r>
                  <a:rPr sz="2000">
                    <a:solidFill>
                      <a:srgbClr val="1E293B"/>
                    </a:solidFill>
                    <a:latin typeface="Calibri"/>
                  </a:rPr>
                  <a:t> tỉ đồng (khoảng 983 triệu đồng). 2.20. </a:t>
                </a:r>
                <a14:m>
                  <m:oMath xmlns:m="http://schemas.openxmlformats.org/officeDocument/2006/math">
                    <m:r>
                      <a:rPr lang="vi-VN" sz="2000" b="0">
                        <a:solidFill>
                          <a:srgbClr val="1E293B"/>
                        </a:solidFill>
                        <a:latin typeface="Cambria Math" panose="02040503050406030204" pitchFamily="18" charset="0"/>
                      </a:rPr>
                      <m:t>97·1</m:t>
                    </m:r>
                    <m:r>
                      <a:rPr lang="vi-VN" sz="2000" b="0">
                        <a:solidFill>
                          <a:srgbClr val="1E293B"/>
                        </a:solidFill>
                        <a:latin typeface="Cambria Math" panose="02040503050406030204" pitchFamily="18" charset="0"/>
                      </a:rPr>
                      <m:t>,</m:t>
                    </m:r>
                    <m:sSup>
                      <m:e>
                        <m:r>
                          <a:rPr lang="vi-VN" sz="2000" b="0">
                            <a:solidFill>
                              <a:srgbClr val="1E293B"/>
                            </a:solidFill>
                            <a:latin typeface="Cambria Math" panose="02040503050406030204" pitchFamily="18" charset="0"/>
                          </a:rPr>
                          <m:t>0091</m:t>
                        </m:r>
                      </m:e>
                      <m:sup>
                        <m:r>
                          <a:rPr lang="vi-VN" sz="2000" b="0">
                            <a:solidFill>
                              <a:srgbClr val="1E293B"/>
                            </a:solidFill>
                            <a:latin typeface="Cambria Math" panose="02040503050406030204" pitchFamily="18" charset="0"/>
                          </a:rPr>
                          <m:t>10</m:t>
                        </m:r>
                      </m:sup>
                    </m:sSup>
                    <m:r>
                      <a:rPr lang="vi-VN" sz="2000" b="0">
                        <a:solidFill>
                          <a:srgbClr val="1E293B"/>
                        </a:solidFill>
                        <a:latin typeface="Cambria Math" panose="02040503050406030204" pitchFamily="18" charset="0"/>
                      </a:rPr>
                      <m:t>≈106</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2</m:t>
                    </m:r>
                  </m:oMath>
                </a14:m>
                <a:r>
                  <a:rPr sz="2000">
                    <a:solidFill>
                      <a:srgbClr val="1E293B"/>
                    </a:solidFill>
                    <a:latin typeface="Calibri"/>
                  </a:rPr>
                  <a:t> triệu người.</a:t>
                </a:r>
              </a:p>
            </p:txBody>
          </p:sp>
        </mc:Choice>
        <mc:Fallback>
          <p:sp>
            <p:nvSpPr>
              <p:cNvPr id="9" name="TextBox 8"/>
              <p:cNvSpPr txBox="1"/>
              <p:nvPr/>
            </p:nvSpPr>
            <p:spPr>
              <a:xfrm>
                <a:off x="713232" y="2255520"/>
                <a:ext cx="10735056" cy="801623"/>
              </a:xfrm>
              <a:prstGeom prst="rect">
                <a:avLst/>
              </a:prstGeom>
              <a:noFill/>
            </p:spPr>
            <p:txBody>
              <a:bodyPr wrap="square" anchor="ctr" lIns="45720" rIns="45720">
                <a:spAutoFit/>
              </a:bodyPr>
              <a:lstStyle/>
              <a:p>
                <a:pPr algn="l">
                  <a:spcAft>
                    <a:spcPts val="800"/>
                  </a:spcAft>
                </a:pPr>
                <a:r>
                  <a:rPr sz="2000">
                    <a:solidFill>
                      <a:srgbClr val="1E293B"/>
                    </a:solidFill>
                    <a:latin typeface="Calibri"/>
                  </a:rPr>
                  <a:t>2.19. </a:t>
                </a:r>
                <a:r>
                  <a:rPr lang="vi-VN"/>
                  <a:t>3\cdot 0{,}8^5=0{,}98304</a:t>
                </a:r>
                <a:r>
                  <a:rPr sz="2000">
                    <a:solidFill>
                      <a:srgbClr val="1E293B"/>
                    </a:solidFill>
                    <a:latin typeface="Calibri"/>
                  </a:rPr>
                  <a:t> tỉ đồng (khoảng 983 triệu đồng). 2.20. </a:t>
                </a:r>
                <a:r>
                  <a:rPr lang="vi-VN"/>
                  <a:t>97\cdot 1{,}0091^{10}\approx 106{,}2</a:t>
                </a:r>
                <a:r>
                  <a:rPr sz="2000">
                    <a:solidFill>
                      <a:srgbClr val="1E293B"/>
                    </a:solidFill>
                    <a:latin typeface="Calibri"/>
                  </a:rPr>
                  <a:t> triệu người.</a:t>
                </a:r>
              </a:p>
            </p:txBody>
          </p:sp>
        </mc:Fallback>
      </mc:AlternateContent>
      <p:sp>
        <p:nvSpPr>
          <p:cNvPr id="10" name="s2_chu"/>
          <p:cNvSpPr txBox="1"/>
          <p:nvPr/>
        </p:nvSpPr>
        <p:spPr>
          <a:xfrm>
            <a:off x="548640" y="3157728"/>
            <a:ext cx="11064240" cy="783335"/>
          </a:xfrm>
          <a:prstGeom prst="rect">
            <a:avLst/>
          </a:prstGeom>
          <a:noFill/>
        </p:spPr>
        <p:txBody>
          <a:bodyPr wrap="square" anchor="t" lIns="45720" rIns="45720">
            <a:spAutoFit/>
          </a:bodyPr>
          <a:lstStyle/>
          <a:p>
            <a:pPr algn="l">
              <a:spcAft>
                <a:spcPts val="800"/>
              </a:spcAft>
            </a:pPr>
            <a:r>
              <a:rPr sz="2000" b="1">
                <a:solidFill>
                  <a:srgbClr val="1E293B"/>
                </a:solidFill>
                <a:latin typeface="Calibri"/>
              </a:rPr>
              <a:t>2.21.</a:t>
            </a:r>
            <a:r>
              <a:rPr sz="2000">
                <a:solidFill>
                  <a:srgbClr val="1E293B"/>
                </a:solidFill>
                <a:latin typeface="Calibri"/>
              </a:rPr>
              <a:t> Lượng thuốc trong máu ngày đầu 50 mg, mỗi ngày sau còn một nửa so với ngày trước. Tổng lượng thuốc sau 10 ngày?</a:t>
            </a:r>
          </a:p>
        </p:txBody>
      </p:sp>
      <p:sp>
        <p:nvSpPr>
          <p:cNvPr id="11" name="s3_nen"/>
          <p:cNvSpPr/>
          <p:nvPr/>
        </p:nvSpPr>
        <p:spPr>
          <a:xfrm>
            <a:off x="548640" y="4005072"/>
            <a:ext cx="11064240" cy="981455"/>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2" name="s3_chu"/>
              <p:cNvSpPr txBox="1"/>
              <p:nvPr/>
            </p:nvSpPr>
            <p:spPr>
              <a:xfrm>
                <a:off x="713232" y="4041648"/>
                <a:ext cx="10735056" cy="90830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2.21. </a:t>
                </a:r>
                <a14:m>
                  <m:oMath xmlns:m="http://schemas.openxmlformats.org/officeDocument/2006/math">
                    <m:sSub>
                      <m:e>
                        <m:r>
                          <a:rPr lang="vi-VN" sz="2000" b="0">
                            <a:solidFill>
                              <a:srgbClr val="1E293B"/>
                            </a:solidFill>
                            <a:latin typeface="Cambria Math" panose="02040503050406030204" pitchFamily="18" charset="0"/>
                          </a:rPr>
                          <m:t>u</m:t>
                        </m:r>
                      </m:e>
                      <m:sub>
                        <m:r>
                          <a:rPr lang="vi-VN" sz="2000" b="0">
                            <a:solidFill>
                              <a:srgbClr val="1E293B"/>
                            </a:solidFill>
                            <a:latin typeface="Cambria Math" panose="02040503050406030204" pitchFamily="18" charset="0"/>
                          </a:rPr>
                          <m:t>1</m:t>
                        </m:r>
                      </m:sub>
                    </m:sSub>
                    <m:r>
                      <a:rPr lang="vi-VN" sz="2000" b="0">
                        <a:solidFill>
                          <a:srgbClr val="1E293B"/>
                        </a:solidFill>
                        <a:latin typeface="Cambria Math" panose="02040503050406030204" pitchFamily="18" charset="0"/>
                      </a:rPr>
                      <m:t>=50</m:t>
                    </m:r>
                  </m:oMath>
                </a14:m>
                <a:r>
                  <a:rPr sz="2000">
                    <a:solidFill>
                      <a:srgbClr val="1E293B"/>
                    </a:solidFill>
                    <a:latin typeface="Calibri"/>
                  </a:rPr>
                  <a:t>, </a:t>
                </a:r>
                <a14:m>
                  <m:oMath xmlns:m="http://schemas.openxmlformats.org/officeDocument/2006/math">
                    <m:r>
                      <a:rPr lang="vi-VN" sz="2000" b="0">
                        <a:solidFill>
                          <a:srgbClr val="1E293B"/>
                        </a:solidFill>
                        <a:latin typeface="Cambria Math" panose="02040503050406030204" pitchFamily="18" charset="0"/>
                      </a:rPr>
                      <m:t>q=</m:t>
                    </m:r>
                    <m:f>
                      <m:fPr>
                        <m:type m:val="bar"/>
                      </m:fPr>
                      <m:num>
                        <m:r>
                          <a:rPr lang="vi-VN" sz="2000" b="0">
                            <a:solidFill>
                              <a:srgbClr val="1E293B"/>
                            </a:solidFill>
                            <a:latin typeface="Cambria Math" panose="02040503050406030204" pitchFamily="18" charset="0"/>
                          </a:rPr>
                          <m:t>1</m:t>
                        </m:r>
                      </m:num>
                      <m:den>
                        <m:r>
                          <a:rPr lang="vi-VN" sz="2000" b="0">
                            <a:solidFill>
                              <a:srgbClr val="1E293B"/>
                            </a:solidFill>
                            <a:latin typeface="Cambria Math" panose="02040503050406030204" pitchFamily="18" charset="0"/>
                          </a:rPr>
                          <m:t>2</m:t>
                        </m:r>
                      </m:den>
                    </m:f>
                  </m:oMath>
                </a14:m>
                <a:r>
                  <a:rPr sz="2000">
                    <a:solidFill>
                      <a:srgbClr val="1E293B"/>
                    </a:solidFill>
                    <a:latin typeface="Calibri"/>
                  </a:rPr>
                  <a:t>: </a:t>
                </a:r>
                <a14:m>
                  <m:oMath xmlns:m="http://schemas.openxmlformats.org/officeDocument/2006/math">
                    <m:sSub>
                      <m:e>
                        <m:r>
                          <a:rPr lang="vi-VN" sz="2000" b="0">
                            <a:solidFill>
                              <a:srgbClr val="1E293B"/>
                            </a:solidFill>
                            <a:latin typeface="Cambria Math" panose="02040503050406030204" pitchFamily="18" charset="0"/>
                          </a:rPr>
                          <m:t>S</m:t>
                        </m:r>
                      </m:e>
                      <m:sub>
                        <m:r>
                          <a:rPr lang="vi-VN" sz="2000" b="0">
                            <a:solidFill>
                              <a:srgbClr val="1E293B"/>
                            </a:solidFill>
                            <a:latin typeface="Cambria Math" panose="02040503050406030204" pitchFamily="18" charset="0"/>
                          </a:rPr>
                          <m:t>10</m:t>
                        </m:r>
                      </m:sub>
                    </m:sSub>
                    <m:r>
                      <a:rPr lang="vi-VN" sz="2000" b="0">
                        <a:solidFill>
                          <a:srgbClr val="1E293B"/>
                        </a:solidFill>
                        <a:latin typeface="Cambria Math" panose="02040503050406030204" pitchFamily="18" charset="0"/>
                      </a:rPr>
                      <m:t>=</m:t>
                    </m:r>
                    <m:f>
                      <m:fPr>
                        <m:type m:val="bar"/>
                      </m:fPr>
                      <m:num>
                        <m:r>
                          <a:rPr lang="vi-VN" sz="2000" b="0">
                            <a:solidFill>
                              <a:srgbClr val="1E293B"/>
                            </a:solidFill>
                            <a:latin typeface="Cambria Math" panose="02040503050406030204" pitchFamily="18" charset="0"/>
                          </a:rPr>
                          <m:t>50</m:t>
                        </m:r>
                        <m:d>
                          <m:dPr>
                            <m:sepChr m:val=""/>
                          </m:dPr>
                          <m:e>
                            <m:r>
                              <a:rPr lang="vi-VN" sz="2000" b="0">
                                <a:solidFill>
                                  <a:srgbClr val="1E293B"/>
                                </a:solidFill>
                                <a:latin typeface="Cambria Math" panose="02040503050406030204" pitchFamily="18" charset="0"/>
                              </a:rPr>
                              <m:t>1</m:t>
                            </m:r>
                            <m:r>
                              <a:rPr lang="vi-VN" sz="2000" b="0">
                                <a:solidFill>
                                  <a:srgbClr val="1E293B"/>
                                </a:solidFill>
                                <a:latin typeface="Cambria Math" panose="02040503050406030204" pitchFamily="18" charset="0"/>
                              </a:rPr>
                              <m:t>−</m:t>
                            </m:r>
                            <m:f>
                              <m:fPr>
                                <m:type m:val="bar"/>
                              </m:fPr>
                              <m:num>
                                <m:r>
                                  <a:rPr lang="vi-VN" sz="2000" b="0">
                                    <a:solidFill>
                                      <a:srgbClr val="1E293B"/>
                                    </a:solidFill>
                                    <a:latin typeface="Cambria Math" panose="02040503050406030204" pitchFamily="18" charset="0"/>
                                  </a:rPr>
                                  <m:t>1</m:t>
                                </m:r>
                              </m:num>
                              <m:den>
                                <m:sSup>
                                  <m:e>
                                    <m:r>
                                      <a:rPr lang="vi-VN" sz="2000" b="0">
                                        <a:solidFill>
                                          <a:srgbClr val="1E293B"/>
                                        </a:solidFill>
                                        <a:latin typeface="Cambria Math" panose="02040503050406030204" pitchFamily="18" charset="0"/>
                                      </a:rPr>
                                      <m:t>2</m:t>
                                    </m:r>
                                  </m:e>
                                  <m:sup>
                                    <m:r>
                                      <a:rPr lang="vi-VN" sz="2000" b="0">
                                        <a:solidFill>
                                          <a:srgbClr val="1E293B"/>
                                        </a:solidFill>
                                        <a:latin typeface="Cambria Math" panose="02040503050406030204" pitchFamily="18" charset="0"/>
                                      </a:rPr>
                                      <m:t>10</m:t>
                                    </m:r>
                                  </m:sup>
                                </m:sSup>
                              </m:den>
                            </m:f>
                          </m:e>
                        </m:d>
                      </m:num>
                      <m:den>
                        <m:f>
                          <m:fPr>
                            <m:type m:val="lin"/>
                          </m:fPr>
                          <m:num>
                            <m:r>
                              <a:rPr lang="vi-VN" sz="2000" b="0">
                                <a:solidFill>
                                  <a:srgbClr val="1E293B"/>
                                </a:solidFill>
                                <a:latin typeface="Cambria Math" panose="02040503050406030204" pitchFamily="18" charset="0"/>
                              </a:rPr>
                              <m:t>1</m:t>
                            </m:r>
                          </m:num>
                          <m:den>
                            <m:r>
                              <a:rPr lang="vi-VN" sz="2000" b="0">
                                <a:solidFill>
                                  <a:srgbClr val="1E293B"/>
                                </a:solidFill>
                                <a:latin typeface="Cambria Math" panose="02040503050406030204" pitchFamily="18" charset="0"/>
                              </a:rPr>
                              <m:t>2</m:t>
                            </m:r>
                          </m:den>
                        </m:f>
                      </m:den>
                    </m:f>
                    <m:r>
                      <a:rPr lang="vi-VN" sz="2000" b="0">
                        <a:solidFill>
                          <a:srgbClr val="1E293B"/>
                        </a:solidFill>
                        <a:latin typeface="Cambria Math" panose="02040503050406030204" pitchFamily="18" charset="0"/>
                      </a:rPr>
                      <m:t>≈99</m:t>
                    </m:r>
                    <m:r>
                      <a:rPr lang="vi-VN" sz="2000" b="0">
                        <a:solidFill>
                          <a:srgbClr val="1E293B"/>
                        </a:solidFill>
                        <a:latin typeface="Cambria Math" panose="02040503050406030204" pitchFamily="18" charset="0"/>
                      </a:rPr>
                      <m:t>,</m:t>
                    </m:r>
                    <m:r>
                      <a:rPr lang="vi-VN" sz="2000" b="0">
                        <a:solidFill>
                          <a:srgbClr val="1E293B"/>
                        </a:solidFill>
                        <a:latin typeface="Cambria Math" panose="02040503050406030204" pitchFamily="18" charset="0"/>
                      </a:rPr>
                      <m:t>9</m:t>
                    </m:r>
                  </m:oMath>
                </a14:m>
                <a:r>
                  <a:rPr sz="2000">
                    <a:solidFill>
                      <a:srgbClr val="1E293B"/>
                    </a:solidFill>
                    <a:latin typeface="Calibri"/>
                  </a:rPr>
                  <a:t> mg.</a:t>
                </a:r>
              </a:p>
            </p:txBody>
          </p:sp>
        </mc:Choice>
        <mc:Fallback>
          <p:sp>
            <p:nvSpPr>
              <p:cNvPr id="12" name="TextBox 11"/>
              <p:cNvSpPr txBox="1"/>
              <p:nvPr/>
            </p:nvSpPr>
            <p:spPr>
              <a:xfrm>
                <a:off x="713232" y="4041648"/>
                <a:ext cx="10735056" cy="908304"/>
              </a:xfrm>
              <a:prstGeom prst="rect">
                <a:avLst/>
              </a:prstGeom>
              <a:noFill/>
            </p:spPr>
            <p:txBody>
              <a:bodyPr wrap="square" anchor="ctr" lIns="45720" rIns="45720">
                <a:spAutoFit/>
              </a:bodyPr>
              <a:lstStyle/>
              <a:p>
                <a:pPr algn="l">
                  <a:spcAft>
                    <a:spcPts val="800"/>
                  </a:spcAft>
                </a:pPr>
                <a:r>
                  <a:rPr sz="2000">
                    <a:solidFill>
                      <a:srgbClr val="1E293B"/>
                    </a:solidFill>
                    <a:latin typeface="Calibri"/>
                  </a:rPr>
                  <a:t>2.21. </a:t>
                </a:r>
                <a:r>
                  <a:rPr lang="vi-VN"/>
                  <a:t>u_1=50</a:t>
                </a:r>
                <a:r>
                  <a:rPr sz="2000">
                    <a:solidFill>
                      <a:srgbClr val="1E293B"/>
                    </a:solidFill>
                    <a:latin typeface="Calibri"/>
                  </a:rPr>
                  <a:t>, </a:t>
                </a:r>
                <a:r>
                  <a:rPr lang="vi-VN"/>
                  <a:t>q=\frac{1}{2}</a:t>
                </a:r>
                <a:r>
                  <a:rPr sz="2000">
                    <a:solidFill>
                      <a:srgbClr val="1E293B"/>
                    </a:solidFill>
                    <a:latin typeface="Calibri"/>
                  </a:rPr>
                  <a:t>: </a:t>
                </a:r>
                <a:r>
                  <a:rPr lang="vi-VN"/>
                  <a:t>S_{10}=\frac{50\left(1-\frac{1}{2^{10}}\right)}{1/2}\approx 99{,}9</a:t>
                </a:r>
                <a:r>
                  <a:rPr sz="2000">
                    <a:solidFill>
                      <a:srgbClr val="1E293B"/>
                    </a:solidFill>
                    <a:latin typeface="Calibri"/>
                  </a:rPr>
                  <a:t> mg.</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TRÒ CHƠI: RUNG CHUÔNG VÀNG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Cấp số nhân – Toán 11          18</a:t>
            </a:r>
          </a:p>
        </p:txBody>
      </p:sp>
      <p:sp>
        <p:nvSpPr>
          <p:cNvPr id="7" name="Rounded Rectangle 6"/>
          <p:cNvSpPr/>
          <p:nvPr/>
        </p:nvSpPr>
        <p:spPr>
          <a:xfrm>
            <a:off x="1371600" y="1554480"/>
            <a:ext cx="9418320" cy="2962656"/>
          </a:xfrm>
          <a:prstGeom prst="roundRect">
            <a:avLst>
              <a:gd name="adj" fmla="val 6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36192" y="1591056"/>
            <a:ext cx="9089136" cy="2889504"/>
          </a:xfrm>
          <a:prstGeom prst="rect">
            <a:avLst/>
          </a:prstGeom>
          <a:noFill/>
        </p:spPr>
        <p:txBody>
          <a:bodyPr wrap="square" anchor="ctr" lIns="45720" rIns="45720">
            <a:spAutoFit/>
          </a:bodyPr>
          <a:lstStyle/>
          <a:p>
            <a:pPr algn="ctr">
              <a:spcAft>
                <a:spcPts val="800"/>
              </a:spcAft>
            </a:pPr>
            <a:r>
              <a:rPr sz="3000">
                <a:solidFill>
                  <a:srgbClr val="1E293B"/>
                </a:solidFill>
                <a:latin typeface="Calibri"/>
              </a:rPr>
              <a:t>🔔 </a:t>
            </a:r>
            <a:r>
              <a:rPr sz="3000" b="1">
                <a:solidFill>
                  <a:srgbClr val="1E293B"/>
                </a:solidFill>
                <a:latin typeface="Calibri"/>
              </a:rPr>
              <a:t>Luật chơi</a:t>
            </a:r>
          </a:p>
          <a:p>
            <a:pPr algn="l" marL="365760" indent="-365760">
              <a:spcAft>
                <a:spcPts val="800"/>
              </a:spcAft>
              <a:buClr>
                <a:srgbClr val="1E40AF"/>
              </a:buClr>
              <a:buFont typeface="Arial"/>
              <a:buChar char="•"/>
            </a:pPr>
            <a:r>
              <a:rPr sz="2400">
                <a:solidFill>
                  <a:srgbClr val="1E293B"/>
                </a:solidFill>
                <a:latin typeface="Calibri"/>
              </a:rPr>
              <a:t>Mỗi bạn một bảng con – viết đáp án khi hết giờ.</a:t>
            </a:r>
          </a:p>
          <a:p>
            <a:pPr algn="l" marL="365760" indent="-365760">
              <a:spcAft>
                <a:spcPts val="800"/>
              </a:spcAft>
              <a:buClr>
                <a:srgbClr val="1E40AF"/>
              </a:buClr>
              <a:buFont typeface="Arial"/>
              <a:buChar char="•"/>
            </a:pPr>
            <a:r>
              <a:rPr sz="2400">
                <a:solidFill>
                  <a:srgbClr val="1E293B"/>
                </a:solidFill>
                <a:latin typeface="Calibri"/>
              </a:rPr>
              <a:t>Câu nhiều lựa chọn: ghi A, B, C hoặc D (30 giây).</a:t>
            </a:r>
          </a:p>
          <a:p>
            <a:pPr algn="l" marL="365760" indent="-365760">
              <a:spcAft>
                <a:spcPts val="800"/>
              </a:spcAft>
              <a:buClr>
                <a:srgbClr val="1E40AF"/>
              </a:buClr>
              <a:buFont typeface="Arial"/>
              <a:buChar char="•"/>
            </a:pPr>
            <a:r>
              <a:rPr sz="2400">
                <a:solidFill>
                  <a:srgbClr val="1E293B"/>
                </a:solidFill>
                <a:latin typeface="Calibri"/>
              </a:rPr>
              <a:t>Câu Đúng/Sai: ghi Đ hoặc S cho từng ý (60 giây).</a:t>
            </a:r>
          </a:p>
          <a:p>
            <a:pPr algn="l" marL="365760" indent="-365760">
              <a:spcAft>
                <a:spcPts val="800"/>
              </a:spcAft>
              <a:buClr>
                <a:srgbClr val="1E40AF"/>
              </a:buClr>
              <a:buFont typeface="Arial"/>
              <a:buChar char="•"/>
            </a:pPr>
            <a:r>
              <a:rPr sz="2400">
                <a:solidFill>
                  <a:srgbClr val="1E293B"/>
                </a:solidFill>
                <a:latin typeface="Calibri"/>
              </a:rPr>
              <a:t>Câu trả lời ngắn, thực tế: ghi một số (60 giây).</a:t>
            </a:r>
          </a:p>
          <a:p>
            <a:pPr algn="l" marL="365760" indent="-365760">
              <a:spcAft>
                <a:spcPts val="800"/>
              </a:spcAft>
              <a:buClr>
                <a:srgbClr val="1E40AF"/>
              </a:buClr>
              <a:buFont typeface="Arial"/>
              <a:buChar char="•"/>
            </a:pPr>
            <a:r>
              <a:rPr sz="2400">
                <a:solidFill>
                  <a:srgbClr val="1E293B"/>
                </a:solidFill>
                <a:latin typeface="Calibri"/>
              </a:rPr>
              <a:t>Sai: rời sàn thi. Bạn trụ lại cuối cùng </a:t>
            </a:r>
            <a:r>
              <a:rPr sz="2400" b="1">
                <a:solidFill>
                  <a:srgbClr val="1E293B"/>
                </a:solidFill>
                <a:latin typeface="Calibri"/>
              </a:rPr>
              <a:t>rung chuông vàng</a:t>
            </a:r>
            <a:r>
              <a:rPr sz="2400">
                <a:solidFill>
                  <a:srgbClr val="1E293B"/>
                </a:solidFill>
                <a:latin typeface="Calibri"/>
              </a:rPr>
              <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1 (BIẾT)</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Cấp số nhân – Toán 11          19</a:t>
            </a:r>
          </a:p>
        </p:txBody>
      </p:sp>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Dãy số nào sau đây là cấp số nhân?</a:t>
            </a:r>
          </a:p>
        </p:txBody>
      </p:sp>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3,</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5,</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7</m:t>
                    </m:r>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1,\ 3,\ 5,\ 7</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2,</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−4,</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8,</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−16</m:t>
                    </m:r>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2,\ -4,\ 8,\ -16</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4,</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9,</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16</m:t>
                    </m:r>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1,\ 4,\ 9,\ 16</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2,</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4,</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7</m:t>
                    </m:r>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1,\ 2,\ 4,\ 7</a:t>
                </a:r>
              </a:p>
            </p:txBody>
          </p:sp>
        </mc:Fallback>
      </mc:AlternateContent>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14:m>
                  <m:oMath xmlns:m="http://schemas.openxmlformats.org/officeDocument/2006/math">
                    <m:r>
                      <a:rPr lang="vi-VN" sz="2200" b="0">
                        <a:solidFill>
                          <a:srgbClr val="1E293B"/>
                        </a:solidFill>
                        <a:latin typeface="Cambria Math" panose="02040503050406030204" pitchFamily="18" charset="0"/>
                      </a:rPr>
                      <m:t>q=−2</m:t>
                    </m:r>
                  </m:oMath>
                </a14:m>
                <a:r>
                  <a:rPr sz="2200">
                    <a:solidFill>
                      <a:srgbClr val="1E293B"/>
                    </a:solidFill>
                    <a:latin typeface="Calibri"/>
                  </a:rPr>
                  <a:t>.</a:t>
                </a:r>
              </a:p>
            </p:txBody>
          </p:sp>
        </mc:Choice>
        <mc:Fallback>
          <p:sp>
            <p:nvSpPr>
              <p:cNvPr id="17" name="TextBox 16"/>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r>
                  <a:rPr lang="vi-VN"/>
                  <a:t>q=-2</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2 (HIỂU)</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Cấp số nhân – Toán 11          20</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Cấp số nhân có </a:t>
                </a:r>
                <a14:m>
                  <m:oMath xmlns:m="http://schemas.openxmlformats.org/officeDocument/2006/math">
                    <m:sSub>
                      <m:e>
                        <m:r>
                          <a:rPr lang="vi-VN" sz="2600" b="0">
                            <a:solidFill>
                              <a:srgbClr val="1E293B"/>
                            </a:solidFill>
                            <a:latin typeface="Cambria Math" panose="02040503050406030204" pitchFamily="18" charset="0"/>
                          </a:rPr>
                          <m:t>u</m:t>
                        </m:r>
                      </m:e>
                      <m:sub>
                        <m:r>
                          <a:rPr lang="vi-VN" sz="2600" b="0">
                            <a:solidFill>
                              <a:srgbClr val="1E293B"/>
                            </a:solidFill>
                            <a:latin typeface="Cambria Math" panose="02040503050406030204" pitchFamily="18" charset="0"/>
                          </a:rPr>
                          <m:t>1</m:t>
                        </m:r>
                      </m:sub>
                    </m:sSub>
                    <m:r>
                      <a:rPr lang="vi-VN" sz="2600" b="0">
                        <a:solidFill>
                          <a:srgbClr val="1E293B"/>
                        </a:solidFill>
                        <a:latin typeface="Cambria Math" panose="02040503050406030204" pitchFamily="18" charset="0"/>
                      </a:rPr>
                      <m:t>=3</m:t>
                    </m:r>
                  </m:oMath>
                </a14:m>
                <a:r>
                  <a:rPr sz="2600">
                    <a:solidFill>
                      <a:srgbClr val="1E293B"/>
                    </a:solidFill>
                    <a:latin typeface="Calibri"/>
                  </a:rPr>
                  <a:t>, </a:t>
                </a:r>
                <a14:m>
                  <m:oMath xmlns:m="http://schemas.openxmlformats.org/officeDocument/2006/math">
                    <m:r>
                      <a:rPr lang="vi-VN" sz="2600" b="0">
                        <a:solidFill>
                          <a:srgbClr val="1E293B"/>
                        </a:solidFill>
                        <a:latin typeface="Cambria Math" panose="02040503050406030204" pitchFamily="18" charset="0"/>
                      </a:rPr>
                      <m:t>q=−2</m:t>
                    </m:r>
                  </m:oMath>
                </a14:m>
                <a:r>
                  <a:rPr sz="2600">
                    <a:solidFill>
                      <a:srgbClr val="1E293B"/>
                    </a:solidFill>
                    <a:latin typeface="Calibri"/>
                  </a:rPr>
                  <a:t>. Số hạng </a:t>
                </a:r>
                <a14:m>
                  <m:oMath xmlns:m="http://schemas.openxmlformats.org/officeDocument/2006/math">
                    <m:sSub>
                      <m:e>
                        <m:r>
                          <a:rPr lang="vi-VN" sz="2600" b="0">
                            <a:solidFill>
                              <a:srgbClr val="1E293B"/>
                            </a:solidFill>
                            <a:latin typeface="Cambria Math" panose="02040503050406030204" pitchFamily="18" charset="0"/>
                          </a:rPr>
                          <m:t>u</m:t>
                        </m:r>
                      </m:e>
                      <m:sub>
                        <m:r>
                          <a:rPr lang="vi-VN" sz="2600" b="0">
                            <a:solidFill>
                              <a:srgbClr val="1E293B"/>
                            </a:solidFill>
                            <a:latin typeface="Cambria Math" panose="02040503050406030204" pitchFamily="18" charset="0"/>
                          </a:rPr>
                          <m:t>5</m:t>
                        </m:r>
                      </m:sub>
                    </m:sSub>
                  </m:oMath>
                </a14:m>
                <a:r>
                  <a:rPr sz="2600">
                    <a:solidFill>
                      <a:srgbClr val="1E293B"/>
                    </a:solidFill>
                    <a:latin typeface="Calibri"/>
                  </a:rPr>
                  <a:t> bằng</a:t>
                </a:r>
              </a:p>
            </p:txBody>
          </p:sp>
        </mc:Choice>
        <mc:Fallback>
          <p:sp>
            <p:nvSpPr>
              <p:cNvPr id="7" name="TextBox 6"/>
              <p:cNvSpPr txBox="1"/>
              <p:nvPr/>
            </p:nvSpPr>
            <p:spPr>
              <a:xfrm>
                <a:off x="548640" y="137160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Cấp số nhân có </a:t>
                </a:r>
                <a:r>
                  <a:rPr lang="vi-VN"/>
                  <a:t>u_1=3</a:t>
                </a:r>
                <a:r>
                  <a:rPr sz="2600">
                    <a:solidFill>
                      <a:srgbClr val="1E293B"/>
                    </a:solidFill>
                    <a:latin typeface="Calibri"/>
                  </a:rPr>
                  <a:t>, </a:t>
                </a:r>
                <a:r>
                  <a:rPr lang="vi-VN"/>
                  <a:t>q=-2</a:t>
                </a:r>
                <a:r>
                  <a:rPr sz="2600">
                    <a:solidFill>
                      <a:srgbClr val="1E293B"/>
                    </a:solidFill>
                    <a:latin typeface="Calibri"/>
                  </a:rPr>
                  <a:t>. Số hạng </a:t>
                </a:r>
                <a:r>
                  <a:rPr lang="vi-VN"/>
                  <a:t>u_5</a:t>
                </a:r>
                <a:r>
                  <a:rPr sz="2600">
                    <a:solidFill>
                      <a:srgbClr val="1E293B"/>
                    </a:solidFill>
                    <a:latin typeface="Calibri"/>
                  </a:rPr>
                  <a:t> bằng</a:t>
                </a:r>
              </a:p>
            </p:txBody>
          </p:sp>
        </mc:Fallback>
      </mc:AlternateContent>
      <p:sp>
        <p:nvSpPr>
          <p:cNvPr id="8" name="Rounded Rectangle 7"/>
          <p:cNvSpPr/>
          <p:nvPr/>
        </p:nvSpPr>
        <p:spPr>
          <a:xfrm>
            <a:off x="54864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−48</m:t>
                    </m:r>
                  </m:oMath>
                </a14:m>
              </a:p>
            </p:txBody>
          </p:sp>
        </mc:Choice>
        <mc:Fallback>
          <p:sp>
            <p:nvSpPr>
              <p:cNvPr id="9" name="TextBox 8"/>
              <p:cNvSpPr txBox="1"/>
              <p:nvPr/>
            </p:nvSpPr>
            <p:spPr>
              <a:xfrm>
                <a:off x="71323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A.</a:t>
                </a:r>
                <a:r>
                  <a:rPr sz="2400">
                    <a:solidFill>
                      <a:srgbClr val="1E293B"/>
                    </a:solidFill>
                    <a:latin typeface="Calibri"/>
                  </a:rPr>
                  <a:t> </a:t>
                </a:r>
                <a:r>
                  <a:rPr lang="vi-VN"/>
                  <a:t>-48</a:t>
                </a:r>
              </a:p>
            </p:txBody>
          </p:sp>
        </mc:Fallback>
      </mc:AlternateContent>
      <p:sp>
        <p:nvSpPr>
          <p:cNvPr id="10" name="Rounded Rectangle 9"/>
          <p:cNvSpPr/>
          <p:nvPr/>
        </p:nvSpPr>
        <p:spPr>
          <a:xfrm>
            <a:off x="6172200" y="246888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48</m:t>
                    </m:r>
                  </m:oMath>
                </a14:m>
              </a:p>
            </p:txBody>
          </p:sp>
        </mc:Choice>
        <mc:Fallback>
          <p:sp>
            <p:nvSpPr>
              <p:cNvPr id="11" name="TextBox 10"/>
              <p:cNvSpPr txBox="1"/>
              <p:nvPr/>
            </p:nvSpPr>
            <p:spPr>
              <a:xfrm>
                <a:off x="6336792" y="250545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B.</a:t>
                </a:r>
                <a:r>
                  <a:rPr sz="2400">
                    <a:solidFill>
                      <a:srgbClr val="1E293B"/>
                    </a:solidFill>
                    <a:latin typeface="Calibri"/>
                  </a:rPr>
                  <a:t> </a:t>
                </a:r>
                <a:r>
                  <a:rPr lang="vi-VN"/>
                  <a:t>48</a:t>
                </a:r>
              </a:p>
            </p:txBody>
          </p:sp>
        </mc:Fallback>
      </mc:AlternateContent>
      <p:sp>
        <p:nvSpPr>
          <p:cNvPr id="12" name="Rounded Rectangle 11"/>
          <p:cNvSpPr/>
          <p:nvPr/>
        </p:nvSpPr>
        <p:spPr>
          <a:xfrm>
            <a:off x="54864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96</m:t>
                    </m:r>
                  </m:oMath>
                </a14:m>
              </a:p>
            </p:txBody>
          </p:sp>
        </mc:Choice>
        <mc:Fallback>
          <p:sp>
            <p:nvSpPr>
              <p:cNvPr id="13" name="TextBox 12"/>
              <p:cNvSpPr txBox="1"/>
              <p:nvPr/>
            </p:nvSpPr>
            <p:spPr>
              <a:xfrm>
                <a:off x="71323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C.</a:t>
                </a:r>
                <a:r>
                  <a:rPr sz="2400">
                    <a:solidFill>
                      <a:srgbClr val="1E293B"/>
                    </a:solidFill>
                    <a:latin typeface="Calibri"/>
                  </a:rPr>
                  <a:t> </a:t>
                </a:r>
                <a:r>
                  <a:rPr lang="vi-VN"/>
                  <a:t>96</a:t>
                </a:r>
              </a:p>
            </p:txBody>
          </p:sp>
        </mc:Fallback>
      </mc:AlternateContent>
      <p:sp>
        <p:nvSpPr>
          <p:cNvPr id="14" name="Rounded Rectangle 13"/>
          <p:cNvSpPr/>
          <p:nvPr/>
        </p:nvSpPr>
        <p:spPr>
          <a:xfrm>
            <a:off x="6172200" y="3474720"/>
            <a:ext cx="5440680" cy="841248"/>
          </a:xfrm>
          <a:prstGeom prst="roundRect">
            <a:avLst>
              <a:gd name="adj" fmla="val 6000"/>
            </a:avLst>
          </a:prstGeom>
          <a:solidFill>
            <a:srgbClr val="EFF4FF"/>
          </a:solidFill>
          <a:ln w="1905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−96</m:t>
                    </m:r>
                  </m:oMath>
                </a14:m>
              </a:p>
            </p:txBody>
          </p:sp>
        </mc:Choice>
        <mc:Fallback>
          <p:sp>
            <p:nvSpPr>
              <p:cNvPr id="15" name="TextBox 14"/>
              <p:cNvSpPr txBox="1"/>
              <p:nvPr/>
            </p:nvSpPr>
            <p:spPr>
              <a:xfrm>
                <a:off x="6336792" y="3511296"/>
                <a:ext cx="5111496" cy="768096"/>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D.</a:t>
                </a:r>
                <a:r>
                  <a:rPr sz="2400">
                    <a:solidFill>
                      <a:srgbClr val="1E293B"/>
                    </a:solidFill>
                    <a:latin typeface="Calibri"/>
                  </a:rPr>
                  <a:t> </a:t>
                </a:r>
                <a:r>
                  <a:rPr lang="vi-VN"/>
                  <a:t>-96</a:t>
                </a:r>
              </a:p>
            </p:txBody>
          </p:sp>
        </mc:Fallback>
      </mc:AlternateContent>
      <p:sp>
        <p:nvSpPr>
          <p:cNvPr id="16" name="s1_nen"/>
          <p:cNvSpPr/>
          <p:nvPr/>
        </p:nvSpPr>
        <p:spPr>
          <a:xfrm>
            <a:off x="548640" y="4617720"/>
            <a:ext cx="11064240" cy="60045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17" name="s1_chu"/>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14:m>
                  <m:oMath xmlns:m="http://schemas.openxmlformats.org/officeDocument/2006/math">
                    <m:sSub>
                      <m:e>
                        <m:r>
                          <a:rPr lang="vi-VN" sz="2200" b="0">
                            <a:solidFill>
                              <a:srgbClr val="1E293B"/>
                            </a:solidFill>
                            <a:latin typeface="Cambria Math" panose="02040503050406030204" pitchFamily="18" charset="0"/>
                          </a:rPr>
                          <m:t>u</m:t>
                        </m:r>
                      </m:e>
                      <m:sub>
                        <m:r>
                          <a:rPr lang="vi-VN" sz="2200" b="0">
                            <a:solidFill>
                              <a:srgbClr val="1E293B"/>
                            </a:solidFill>
                            <a:latin typeface="Cambria Math" panose="02040503050406030204" pitchFamily="18" charset="0"/>
                          </a:rPr>
                          <m:t>5</m:t>
                        </m:r>
                      </m:sub>
                    </m:sSub>
                    <m:r>
                      <a:rPr lang="vi-VN" sz="2200" b="0">
                        <a:solidFill>
                          <a:srgbClr val="1E293B"/>
                        </a:solidFill>
                        <a:latin typeface="Cambria Math" panose="02040503050406030204" pitchFamily="18" charset="0"/>
                      </a:rPr>
                      <m:t>=3·(−2</m:t>
                    </m:r>
                    <m:sSup>
                      <m:e>
                        <m:r>
                          <a:rPr lang="vi-VN" sz="2200" b="0">
                            <a:solidFill>
                              <a:srgbClr val="1E293B"/>
                            </a:solidFill>
                            <a:latin typeface="Cambria Math" panose="02040503050406030204" pitchFamily="18" charset="0"/>
                          </a:rPr>
                          <m:t>)</m:t>
                        </m:r>
                      </m:e>
                      <m:sup>
                        <m:r>
                          <a:rPr lang="vi-VN" sz="2200" b="0">
                            <a:solidFill>
                              <a:srgbClr val="1E293B"/>
                            </a:solidFill>
                            <a:latin typeface="Cambria Math" panose="02040503050406030204" pitchFamily="18" charset="0"/>
                          </a:rPr>
                          <m:t>4</m:t>
                        </m:r>
                      </m:sup>
                    </m:sSup>
                    <m:r>
                      <a:rPr lang="vi-VN" sz="2200" b="0">
                        <a:solidFill>
                          <a:srgbClr val="1E293B"/>
                        </a:solidFill>
                        <a:latin typeface="Cambria Math" panose="02040503050406030204" pitchFamily="18" charset="0"/>
                      </a:rPr>
                      <m:t>=48</m:t>
                    </m:r>
                  </m:oMath>
                </a14:m>
                <a:r>
                  <a:rPr sz="2200">
                    <a:solidFill>
                      <a:srgbClr val="1E293B"/>
                    </a:solidFill>
                    <a:latin typeface="Calibri"/>
                  </a:rPr>
                  <a:t>.</a:t>
                </a:r>
              </a:p>
            </p:txBody>
          </p:sp>
        </mc:Choice>
        <mc:Fallback>
          <p:sp>
            <p:nvSpPr>
              <p:cNvPr id="17" name="TextBox 16"/>
              <p:cNvSpPr txBox="1"/>
              <p:nvPr/>
            </p:nvSpPr>
            <p:spPr>
              <a:xfrm>
                <a:off x="713232" y="4654296"/>
                <a:ext cx="10735056" cy="527304"/>
              </a:xfrm>
              <a:prstGeom prst="rect">
                <a:avLst/>
              </a:prstGeom>
              <a:noFill/>
            </p:spPr>
            <p:txBody>
              <a:bodyPr wrap="square" anchor="ctr" lIns="45720" rIns="45720">
                <a:spAutoFit/>
              </a:bodyPr>
              <a:lstStyle/>
              <a:p>
                <a:pPr algn="l">
                  <a:spcAft>
                    <a:spcPts val="800"/>
                  </a:spcAft>
                </a:pPr>
                <a:r>
                  <a:rPr sz="2200" b="1">
                    <a:solidFill>
                      <a:srgbClr val="1E293B"/>
                    </a:solidFill>
                    <a:latin typeface="Calibri"/>
                  </a:rPr>
                  <a:t>Đáp án B.</a:t>
                </a:r>
                <a:r>
                  <a:rPr sz="2200">
                    <a:solidFill>
                      <a:srgbClr val="1E293B"/>
                    </a:solidFill>
                    <a:latin typeface="Calibri"/>
                  </a:rPr>
                  <a:t> </a:t>
                </a:r>
                <a:r>
                  <a:rPr lang="vi-VN"/>
                  <a:t>u_5=3\cdot(-2)^4=48</a:t>
                </a:r>
                <a:r>
                  <a:rPr sz="22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3 (ĐÚNG/SAI)</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Cấp số nhân – Toán 11          21</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539496"/>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cấp số nhân </a:t>
                </a:r>
                <a14:m>
                  <m:oMath xmlns:m="http://schemas.openxmlformats.org/officeDocument/2006/math">
                    <m:r>
                      <a:rPr lang="vi-VN" sz="2400" b="0">
                        <a:solidFill>
                          <a:srgbClr val="1E293B"/>
                        </a:solidFill>
                        <a:latin typeface="Cambria Math" panose="02040503050406030204" pitchFamily="18" charset="0"/>
                      </a:rPr>
                      <m:t>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3,</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9,…</m:t>
                    </m:r>
                  </m:oMath>
                </a14:m>
                <a:r>
                  <a:rPr sz="2400">
                    <a:solidFill>
                      <a:srgbClr val="1E293B"/>
                    </a:solidFill>
                    <a:latin typeface="Calibri"/>
                  </a:rPr>
                  <a:t> Xét tính đúng, sai:</a:t>
                </a:r>
              </a:p>
            </p:txBody>
          </p:sp>
        </mc:Choice>
        <mc:Fallback>
          <p:sp>
            <p:nvSpPr>
              <p:cNvPr id="7" name="TextBox 6"/>
              <p:cNvSpPr txBox="1"/>
              <p:nvPr/>
            </p:nvSpPr>
            <p:spPr>
              <a:xfrm>
                <a:off x="548640" y="1371600"/>
                <a:ext cx="11064240" cy="539496"/>
              </a:xfrm>
              <a:prstGeom prst="rect">
                <a:avLst/>
              </a:prstGeom>
              <a:noFill/>
            </p:spPr>
            <p:txBody>
              <a:bodyPr wrap="square" anchor="t" lIns="45720" rIns="45720">
                <a:spAutoFit/>
              </a:bodyPr>
              <a:lstStyle/>
              <a:p>
                <a:pPr algn="l">
                  <a:spcAft>
                    <a:spcPts val="800"/>
                  </a:spcAft>
                </a:pPr>
                <a:r>
                  <a:rPr sz="2400">
                    <a:solidFill>
                      <a:srgbClr val="1E293B"/>
                    </a:solidFill>
                    <a:latin typeface="Calibri"/>
                  </a:rPr>
                  <a:t>Cho cấp số nhân </a:t>
                </a:r>
                <a:r>
                  <a:rPr lang="vi-VN"/>
                  <a:t>1,\ 3,\ 9,\ldots</a:t>
                </a:r>
                <a:r>
                  <a:rPr sz="2400">
                    <a:solidFill>
                      <a:srgbClr val="1E293B"/>
                    </a:solidFill>
                    <a:latin typeface="Calibri"/>
                  </a:rPr>
                  <a:t> Xét tính đúng, sai:</a:t>
                </a:r>
              </a:p>
            </p:txBody>
          </p:sp>
        </mc:Fallback>
      </mc:AlternateContent>
      <mc:AlternateContent xmlns:mc="http://schemas.openxmlformats.org/markup-compatibility/2006">
        <mc:Choice xmlns:a14="http://schemas.microsoft.com/office/drawing/2010/main" Requires="a14">
          <p:sp>
            <p:nvSpPr>
              <p:cNvPr id="8" name="TextBox 7"/>
              <p:cNvSpPr txBox="1"/>
              <p:nvPr/>
            </p:nvSpPr>
            <p:spPr>
              <a:xfrm>
                <a:off x="548640" y="2002536"/>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a) Công bội </a:t>
                </a:r>
                <a14:m>
                  <m:oMath xmlns:m="http://schemas.openxmlformats.org/officeDocument/2006/math">
                    <m:r>
                      <a:rPr lang="vi-VN" sz="2300" b="0">
                        <a:solidFill>
                          <a:srgbClr val="1E293B"/>
                        </a:solidFill>
                        <a:latin typeface="Cambria Math" panose="02040503050406030204" pitchFamily="18" charset="0"/>
                      </a:rPr>
                      <m:t>q=3</m:t>
                    </m:r>
                  </m:oMath>
                </a14:m>
                <a:r>
                  <a:rPr sz="2300">
                    <a:solidFill>
                      <a:srgbClr val="1E293B"/>
                    </a:solidFill>
                    <a:latin typeface="Calibri"/>
                  </a:rPr>
                  <a:t>.</a:t>
                </a:r>
              </a:p>
            </p:txBody>
          </p:sp>
        </mc:Choice>
        <mc:Fallback>
          <p:sp>
            <p:nvSpPr>
              <p:cNvPr id="8" name="TextBox 7"/>
              <p:cNvSpPr txBox="1"/>
              <p:nvPr/>
            </p:nvSpPr>
            <p:spPr>
              <a:xfrm>
                <a:off x="548640" y="2002536"/>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a) Công bội </a:t>
                </a:r>
                <a:r>
                  <a:rPr lang="vi-VN"/>
                  <a:t>q=3</a:t>
                </a:r>
                <a:r>
                  <a:rPr sz="2300">
                    <a:solidFill>
                      <a:srgbClr val="1E293B"/>
                    </a:solidFill>
                    <a:latin typeface="Calibri"/>
                  </a:rPr>
                  <a:t>.</a:t>
                </a:r>
              </a:p>
            </p:txBody>
          </p:sp>
        </mc:Fallback>
      </mc:AlternateContent>
      <p:sp>
        <p:nvSpPr>
          <p:cNvPr id="9" name="s1_nen"/>
          <p:cNvSpPr/>
          <p:nvPr/>
        </p:nvSpPr>
        <p:spPr>
          <a:xfrm>
            <a:off x="8412480" y="1975104"/>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1_chu"/>
          <p:cNvSpPr txBox="1"/>
          <p:nvPr/>
        </p:nvSpPr>
        <p:spPr>
          <a:xfrm>
            <a:off x="8577072" y="2011680"/>
            <a:ext cx="2871216" cy="731520"/>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ĐÚNG</a:t>
            </a:r>
          </a:p>
        </p:txBody>
      </p:sp>
      <mc:AlternateContent xmlns:mc="http://schemas.openxmlformats.org/markup-compatibility/2006">
        <mc:Choice xmlns:a14="http://schemas.microsoft.com/office/drawing/2010/main" Requires="a14">
          <p:sp>
            <p:nvSpPr>
              <p:cNvPr id="11" name="TextBox 10"/>
              <p:cNvSpPr txBox="1"/>
              <p:nvPr/>
            </p:nvSpPr>
            <p:spPr>
              <a:xfrm>
                <a:off x="548640" y="2990088"/>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b) </a:t>
                </a:r>
                <a14:m>
                  <m:oMath xmlns:m="http://schemas.openxmlformats.org/officeDocument/2006/math">
                    <m:sSub>
                      <m:e>
                        <m:r>
                          <a:rPr lang="vi-VN" sz="2300" b="0">
                            <a:solidFill>
                              <a:srgbClr val="1E293B"/>
                            </a:solidFill>
                            <a:latin typeface="Cambria Math" panose="02040503050406030204" pitchFamily="18" charset="0"/>
                          </a:rPr>
                          <m:t>u</m:t>
                        </m:r>
                      </m:e>
                      <m:sub>
                        <m:r>
                          <a:rPr lang="vi-VN" sz="2300" b="0">
                            <a:solidFill>
                              <a:srgbClr val="1E293B"/>
                            </a:solidFill>
                            <a:latin typeface="Cambria Math" panose="02040503050406030204" pitchFamily="18" charset="0"/>
                          </a:rPr>
                          <m:t>n</m:t>
                        </m:r>
                      </m:sub>
                    </m:sSub>
                    <m:r>
                      <a:rPr lang="vi-VN" sz="2300" b="0">
                        <a:solidFill>
                          <a:srgbClr val="1E293B"/>
                        </a:solidFill>
                        <a:latin typeface="Cambria Math" panose="02040503050406030204" pitchFamily="18" charset="0"/>
                      </a:rPr>
                      <m:t>=</m:t>
                    </m:r>
                    <m:sSup>
                      <m:e>
                        <m:r>
                          <a:rPr lang="vi-VN" sz="2300" b="0">
                            <a:solidFill>
                              <a:srgbClr val="1E293B"/>
                            </a:solidFill>
                            <a:latin typeface="Cambria Math" panose="02040503050406030204" pitchFamily="18" charset="0"/>
                          </a:rPr>
                          <m:t>3</m:t>
                        </m:r>
                      </m:e>
                      <m:sup>
                        <m:r>
                          <a:rPr lang="vi-VN" sz="2300" b="0">
                            <a:solidFill>
                              <a:srgbClr val="1E293B"/>
                            </a:solidFill>
                            <a:latin typeface="Cambria Math" panose="02040503050406030204" pitchFamily="18" charset="0"/>
                          </a:rPr>
                          <m:t>n</m:t>
                        </m:r>
                      </m:sup>
                    </m:sSup>
                  </m:oMath>
                </a14:m>
                <a:r>
                  <a:rPr sz="2300">
                    <a:solidFill>
                      <a:srgbClr val="1E293B"/>
                    </a:solidFill>
                    <a:latin typeface="Calibri"/>
                  </a:rPr>
                  <a:t>.</a:t>
                </a:r>
              </a:p>
            </p:txBody>
          </p:sp>
        </mc:Choice>
        <mc:Fallback>
          <p:sp>
            <p:nvSpPr>
              <p:cNvPr id="11" name="TextBox 10"/>
              <p:cNvSpPr txBox="1"/>
              <p:nvPr/>
            </p:nvSpPr>
            <p:spPr>
              <a:xfrm>
                <a:off x="548640" y="2990088"/>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b) </a:t>
                </a:r>
                <a:r>
                  <a:rPr lang="vi-VN"/>
                  <a:t>u_n=3^n</a:t>
                </a:r>
                <a:r>
                  <a:rPr sz="2300">
                    <a:solidFill>
                      <a:srgbClr val="1E293B"/>
                    </a:solidFill>
                    <a:latin typeface="Calibri"/>
                  </a:rPr>
                  <a:t>.</a:t>
                </a:r>
              </a:p>
            </p:txBody>
          </p:sp>
        </mc:Fallback>
      </mc:AlternateContent>
      <p:sp>
        <p:nvSpPr>
          <p:cNvPr id="12" name="s2_nen"/>
          <p:cNvSpPr/>
          <p:nvPr/>
        </p:nvSpPr>
        <p:spPr>
          <a:xfrm>
            <a:off x="8412480" y="2962656"/>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2_chu"/>
          <p:cNvSpPr txBox="1"/>
          <p:nvPr/>
        </p:nvSpPr>
        <p:spPr>
          <a:xfrm>
            <a:off x="8577072" y="2999232"/>
            <a:ext cx="2871216" cy="731520"/>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SAI</a:t>
            </a:r>
            <a:r>
              <a:rPr sz="2100">
                <a:solidFill>
                  <a:srgbClr val="1E293B"/>
                </a:solidFill>
                <a:latin typeface="Calibri"/>
              </a:rPr>
              <a:t> (3ⁿ⁻¹)</a:t>
            </a:r>
          </a:p>
        </p:txBody>
      </p:sp>
      <mc:AlternateContent xmlns:mc="http://schemas.openxmlformats.org/markup-compatibility/2006">
        <mc:Choice xmlns:a14="http://schemas.microsoft.com/office/drawing/2010/main" Requires="a14">
          <p:sp>
            <p:nvSpPr>
              <p:cNvPr id="14" name="TextBox 13"/>
              <p:cNvSpPr txBox="1"/>
              <p:nvPr/>
            </p:nvSpPr>
            <p:spPr>
              <a:xfrm>
                <a:off x="548640" y="3977639"/>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c) </a:t>
                </a:r>
                <a14:m>
                  <m:oMath xmlns:m="http://schemas.openxmlformats.org/officeDocument/2006/math">
                    <m:sSub>
                      <m:e>
                        <m:r>
                          <a:rPr lang="vi-VN" sz="2300" b="0">
                            <a:solidFill>
                              <a:srgbClr val="1E293B"/>
                            </a:solidFill>
                            <a:latin typeface="Cambria Math" panose="02040503050406030204" pitchFamily="18" charset="0"/>
                          </a:rPr>
                          <m:t>S</m:t>
                        </m:r>
                      </m:e>
                      <m:sub>
                        <m:r>
                          <a:rPr lang="vi-VN" sz="2300" b="0">
                            <a:solidFill>
                              <a:srgbClr val="1E293B"/>
                            </a:solidFill>
                            <a:latin typeface="Cambria Math" panose="02040503050406030204" pitchFamily="18" charset="0"/>
                          </a:rPr>
                          <m:t>5</m:t>
                        </m:r>
                      </m:sub>
                    </m:sSub>
                    <m:r>
                      <a:rPr lang="vi-VN" sz="2300" b="0">
                        <a:solidFill>
                          <a:srgbClr val="1E293B"/>
                        </a:solidFill>
                        <a:latin typeface="Cambria Math" panose="02040503050406030204" pitchFamily="18" charset="0"/>
                      </a:rPr>
                      <m:t>=121</m:t>
                    </m:r>
                  </m:oMath>
                </a14:m>
                <a:r>
                  <a:rPr sz="2300">
                    <a:solidFill>
                      <a:srgbClr val="1E293B"/>
                    </a:solidFill>
                    <a:latin typeface="Calibri"/>
                  </a:rPr>
                  <a:t>.</a:t>
                </a:r>
              </a:p>
            </p:txBody>
          </p:sp>
        </mc:Choice>
        <mc:Fallback>
          <p:sp>
            <p:nvSpPr>
              <p:cNvPr id="14" name="TextBox 13"/>
              <p:cNvSpPr txBox="1"/>
              <p:nvPr/>
            </p:nvSpPr>
            <p:spPr>
              <a:xfrm>
                <a:off x="548640" y="3977639"/>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c) </a:t>
                </a:r>
                <a:r>
                  <a:rPr lang="vi-VN"/>
                  <a:t>S_5=121</a:t>
                </a:r>
                <a:r>
                  <a:rPr sz="2300">
                    <a:solidFill>
                      <a:srgbClr val="1E293B"/>
                    </a:solidFill>
                    <a:latin typeface="Calibri"/>
                  </a:rPr>
                  <a:t>.</a:t>
                </a:r>
              </a:p>
            </p:txBody>
          </p:sp>
        </mc:Fallback>
      </mc:AlternateContent>
      <p:sp>
        <p:nvSpPr>
          <p:cNvPr id="15" name="s3_nen"/>
          <p:cNvSpPr/>
          <p:nvPr/>
        </p:nvSpPr>
        <p:spPr>
          <a:xfrm>
            <a:off x="8412480" y="3950207"/>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3_chu"/>
          <p:cNvSpPr txBox="1"/>
          <p:nvPr/>
        </p:nvSpPr>
        <p:spPr>
          <a:xfrm>
            <a:off x="8577072" y="3986783"/>
            <a:ext cx="2871216" cy="731520"/>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ĐÚNG</a:t>
            </a:r>
          </a:p>
        </p:txBody>
      </p:sp>
      <p:sp>
        <p:nvSpPr>
          <p:cNvPr id="17" name="TextBox 16"/>
          <p:cNvSpPr txBox="1"/>
          <p:nvPr/>
        </p:nvSpPr>
        <p:spPr>
          <a:xfrm>
            <a:off x="548640" y="4965192"/>
            <a:ext cx="7680960" cy="941832"/>
          </a:xfrm>
          <a:prstGeom prst="rect">
            <a:avLst/>
          </a:prstGeom>
          <a:noFill/>
        </p:spPr>
        <p:txBody>
          <a:bodyPr wrap="square" anchor="t" lIns="45720" rIns="45720">
            <a:spAutoFit/>
          </a:bodyPr>
          <a:lstStyle/>
          <a:p>
            <a:pPr algn="l">
              <a:spcAft>
                <a:spcPts val="800"/>
              </a:spcAft>
            </a:pPr>
            <a:r>
              <a:rPr sz="2300">
                <a:solidFill>
                  <a:srgbClr val="1E293B"/>
                </a:solidFill>
                <a:latin typeface="Calibri"/>
              </a:rPr>
              <a:t>d) 243 là số hạng thứ 6.</a:t>
            </a:r>
          </a:p>
        </p:txBody>
      </p:sp>
      <p:sp>
        <p:nvSpPr>
          <p:cNvPr id="18" name="s4_nen"/>
          <p:cNvSpPr/>
          <p:nvPr/>
        </p:nvSpPr>
        <p:spPr>
          <a:xfrm>
            <a:off x="8412480" y="4937759"/>
            <a:ext cx="3200400" cy="804672"/>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4_chu"/>
          <p:cNvSpPr txBox="1"/>
          <p:nvPr/>
        </p:nvSpPr>
        <p:spPr>
          <a:xfrm>
            <a:off x="8577072" y="4974336"/>
            <a:ext cx="2871216" cy="731520"/>
          </a:xfrm>
          <a:prstGeom prst="rect">
            <a:avLst/>
          </a:prstGeom>
          <a:noFill/>
        </p:spPr>
        <p:txBody>
          <a:bodyPr wrap="square" anchor="ctr" lIns="45720" rIns="45720">
            <a:spAutoFit/>
          </a:bodyPr>
          <a:lstStyle/>
          <a:p>
            <a:pPr algn="ctr">
              <a:spcAft>
                <a:spcPts val="800"/>
              </a:spcAft>
            </a:pPr>
            <a:r>
              <a:rPr sz="2100" b="1">
                <a:solidFill>
                  <a:srgbClr val="1E293B"/>
                </a:solidFill>
                <a:latin typeface="Calibri"/>
              </a:rPr>
              <a:t>ĐÚNG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4 (TRẢ LỜI NGẮN)</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Cấp số nhân – Toán 11          22</a:t>
            </a:r>
          </a:p>
        </p:txBody>
      </p:sp>
      <mc:AlternateContent xmlns:mc="http://schemas.openxmlformats.org/markup-compatibility/2006">
        <mc:Choice xmlns:a14="http://schemas.microsoft.com/office/drawing/2010/main" Requires="a14">
          <p:sp>
            <p:nvSpPr>
              <p:cNvPr id="7" name="TextBox 6"/>
              <p:cNvSpPr txBox="1"/>
              <p:nvPr/>
            </p:nvSpPr>
            <p:spPr>
              <a:xfrm>
                <a:off x="548640" y="146304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Tính tổng </a:t>
                </a:r>
                <a14:m>
                  <m:oMath xmlns:m="http://schemas.openxmlformats.org/officeDocument/2006/math">
                    <m:r>
                      <a:rPr lang="vi-VN" sz="2600" b="0">
                        <a:solidFill>
                          <a:srgbClr val="1E293B"/>
                        </a:solidFill>
                        <a:latin typeface="Cambria Math" panose="02040503050406030204" pitchFamily="18" charset="0"/>
                      </a:rPr>
                      <m:t>1+2+4+…+512</m:t>
                    </m:r>
                  </m:oMath>
                </a14:m>
                <a:r>
                  <a:rPr sz="2600">
                    <a:solidFill>
                      <a:srgbClr val="1E293B"/>
                    </a:solidFill>
                    <a:latin typeface="Calibri"/>
                  </a:rPr>
                  <a:t>.</a:t>
                </a:r>
              </a:p>
            </p:txBody>
          </p:sp>
        </mc:Choice>
        <mc:Fallback>
          <p:sp>
            <p:nvSpPr>
              <p:cNvPr id="7" name="TextBox 6"/>
              <p:cNvSpPr txBox="1"/>
              <p:nvPr/>
            </p:nvSpPr>
            <p:spPr>
              <a:xfrm>
                <a:off x="548640" y="1463040"/>
                <a:ext cx="11064240" cy="569976"/>
              </a:xfrm>
              <a:prstGeom prst="rect">
                <a:avLst/>
              </a:prstGeom>
              <a:noFill/>
            </p:spPr>
            <p:txBody>
              <a:bodyPr wrap="square" anchor="t" lIns="45720" rIns="45720">
                <a:spAutoFit/>
              </a:bodyPr>
              <a:lstStyle/>
              <a:p>
                <a:pPr algn="l">
                  <a:spcAft>
                    <a:spcPts val="800"/>
                  </a:spcAft>
                </a:pPr>
                <a:r>
                  <a:rPr sz="2600">
                    <a:solidFill>
                      <a:srgbClr val="1E293B"/>
                    </a:solidFill>
                    <a:latin typeface="Calibri"/>
                  </a:rPr>
                  <a:t>Tính tổng </a:t>
                </a:r>
                <a:r>
                  <a:rPr lang="vi-VN"/>
                  <a:t>1+2+4+\ldots+512</a:t>
                </a:r>
                <a:r>
                  <a:rPr sz="2600">
                    <a:solidFill>
                      <a:srgbClr val="1E293B"/>
                    </a:solidFill>
                    <a:latin typeface="Calibri"/>
                  </a:rPr>
                  <a:t>.</a:t>
                </a:r>
              </a:p>
            </p:txBody>
          </p:sp>
        </mc:Fallback>
      </mc:AlternateContent>
      <p:sp>
        <p:nvSpPr>
          <p:cNvPr id="8" name="s1_nen"/>
          <p:cNvSpPr/>
          <p:nvPr/>
        </p:nvSpPr>
        <p:spPr>
          <a:xfrm>
            <a:off x="548640" y="3931920"/>
            <a:ext cx="1106424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968496"/>
                <a:ext cx="10735056" cy="557784"/>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1023.</a:t>
                </a:r>
                <a:r>
                  <a:rPr sz="2400">
                    <a:solidFill>
                      <a:srgbClr val="1E293B"/>
                    </a:solidFill>
                    <a:latin typeface="Calibri"/>
                  </a:rPr>
                  <a:t> Cấp số nhân </a:t>
                </a:r>
                <a14:m>
                  <m:oMath xmlns:m="http://schemas.openxmlformats.org/officeDocument/2006/math">
                    <m:sSub>
                      <m:e>
                        <m:r>
                          <a:rPr lang="vi-VN" sz="2400" b="0">
                            <a:solidFill>
                              <a:srgbClr val="1E293B"/>
                            </a:solidFill>
                            <a:latin typeface="Cambria Math" panose="02040503050406030204" pitchFamily="18" charset="0"/>
                          </a:rPr>
                          <m:t>u</m:t>
                        </m:r>
                      </m:e>
                      <m:sub>
                        <m:r>
                          <a:rPr lang="vi-VN" sz="2400" b="0">
                            <a:solidFill>
                              <a:srgbClr val="1E293B"/>
                            </a:solidFill>
                            <a:latin typeface="Cambria Math" panose="02040503050406030204" pitchFamily="18" charset="0"/>
                          </a:rPr>
                          <m:t>1</m:t>
                        </m:r>
                      </m:sub>
                    </m:sSub>
                    <m:r>
                      <a:rPr lang="vi-VN" sz="2400" b="0">
                        <a:solidFill>
                          <a:srgbClr val="1E293B"/>
                        </a:solidFill>
                        <a:latin typeface="Cambria Math" panose="02040503050406030204" pitchFamily="18" charset="0"/>
                      </a:rPr>
                      <m:t>=1</m:t>
                    </m:r>
                  </m:oMath>
                </a14:m>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q=2</m:t>
                    </m:r>
                  </m:oMath>
                </a14:m>
                <a:r>
                  <a:rPr sz="2400">
                    <a:solidFill>
                      <a:srgbClr val="1E293B"/>
                    </a:solidFill>
                    <a:latin typeface="Calibri"/>
                  </a:rPr>
                  <a:t>, 10 số hạng: </a:t>
                </a:r>
                <a14:m>
                  <m:oMath xmlns:m="http://schemas.openxmlformats.org/officeDocument/2006/math">
                    <m:sSub>
                      <m:e>
                        <m:r>
                          <a:rPr lang="vi-VN" sz="2400" b="0">
                            <a:solidFill>
                              <a:srgbClr val="1E293B"/>
                            </a:solidFill>
                            <a:latin typeface="Cambria Math" panose="02040503050406030204" pitchFamily="18" charset="0"/>
                          </a:rPr>
                          <m:t>S</m:t>
                        </m:r>
                      </m:e>
                      <m:sub>
                        <m:r>
                          <a:rPr lang="vi-VN" sz="2400" b="0">
                            <a:solidFill>
                              <a:srgbClr val="1E293B"/>
                            </a:solidFill>
                            <a:latin typeface="Cambria Math" panose="02040503050406030204" pitchFamily="18" charset="0"/>
                          </a:rPr>
                          <m:t>10</m:t>
                        </m:r>
                      </m:sub>
                    </m:sSub>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2</m:t>
                        </m:r>
                      </m:e>
                      <m:sup>
                        <m:r>
                          <a:rPr lang="vi-VN" sz="2400" b="0">
                            <a:solidFill>
                              <a:srgbClr val="1E293B"/>
                            </a:solidFill>
                            <a:latin typeface="Cambria Math" panose="02040503050406030204" pitchFamily="18" charset="0"/>
                          </a:rPr>
                          <m:t>10</m:t>
                        </m:r>
                      </m:sup>
                    </m:sSup>
                    <m:r>
                      <a:rPr lang="vi-VN" sz="2400" b="0">
                        <a:solidFill>
                          <a:srgbClr val="1E293B"/>
                        </a:solidFill>
                        <a:latin typeface="Cambria Math" panose="02040503050406030204" pitchFamily="18" charset="0"/>
                      </a:rPr>
                      <m:t>−1=1</m:t>
                    </m:r>
                    <m:r>
                      <m:rPr>
                        <m:sty m:val="p"/>
                      </m:rPr>
                      <a:rPr lang="vi-VN" sz="2400" b="0">
                        <a:solidFill>
                          <a:srgbClr val="1E293B"/>
                        </a:solidFill>
                        <a:latin typeface="Cambria Math" panose="02040503050406030204" pitchFamily="18" charset="0"/>
                      </a:rPr>
                      <m:t> </m:t>
                    </m:r>
                    <m:r>
                      <a:rPr lang="vi-VN" sz="2400" b="0">
                        <a:solidFill>
                          <a:srgbClr val="1E293B"/>
                        </a:solidFill>
                        <a:latin typeface="Cambria Math" panose="02040503050406030204" pitchFamily="18" charset="0"/>
                      </a:rPr>
                      <m:t>023</m:t>
                    </m:r>
                  </m:oMath>
                </a14:m>
                <a:r>
                  <a:rPr sz="2400">
                    <a:solidFill>
                      <a:srgbClr val="1E293B"/>
                    </a:solidFill>
                    <a:latin typeface="Calibri"/>
                  </a:rPr>
                  <a:t>.</a:t>
                </a:r>
              </a:p>
            </p:txBody>
          </p:sp>
        </mc:Choice>
        <mc:Fallback>
          <p:sp>
            <p:nvSpPr>
              <p:cNvPr id="9" name="TextBox 8"/>
              <p:cNvSpPr txBox="1"/>
              <p:nvPr/>
            </p:nvSpPr>
            <p:spPr>
              <a:xfrm>
                <a:off x="713232" y="3968496"/>
                <a:ext cx="10735056" cy="557784"/>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1023.</a:t>
                </a:r>
                <a:r>
                  <a:rPr sz="2400">
                    <a:solidFill>
                      <a:srgbClr val="1E293B"/>
                    </a:solidFill>
                    <a:latin typeface="Calibri"/>
                  </a:rPr>
                  <a:t> Cấp số nhân </a:t>
                </a:r>
                <a:r>
                  <a:rPr lang="vi-VN"/>
                  <a:t>u_1=1</a:t>
                </a:r>
                <a:r>
                  <a:rPr sz="2400">
                    <a:solidFill>
                      <a:srgbClr val="1E293B"/>
                    </a:solidFill>
                    <a:latin typeface="Calibri"/>
                  </a:rPr>
                  <a:t>, </a:t>
                </a:r>
                <a:r>
                  <a:rPr lang="vi-VN"/>
                  <a:t>q=2</a:t>
                </a:r>
                <a:r>
                  <a:rPr sz="2400">
                    <a:solidFill>
                      <a:srgbClr val="1E293B"/>
                    </a:solidFill>
                    <a:latin typeface="Calibri"/>
                  </a:rPr>
                  <a:t>, 10 số hạng: </a:t>
                </a:r>
                <a:r>
                  <a:rPr lang="vi-VN"/>
                  <a:t>S_{10}=2^{10}-1=1\ 023</a:t>
                </a:r>
                <a:r>
                  <a:rPr sz="2400">
                    <a:solidFill>
                      <a:srgbClr val="1E293B"/>
                    </a:solidFill>
                    <a:latin typeface="Calibri"/>
                  </a:rPr>
                  <a:t>.</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DB2777"/>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TRÒ CHƠI</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RUNG CHUÔNG VÀNG – CÂU 5 (THỰC TẾ)</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Cấp số nhân – Toán 11          23</a:t>
            </a:r>
          </a:p>
        </p:txBody>
      </p:sp>
      <p:sp>
        <p:nvSpPr>
          <p:cNvPr id="7" name="TextBox 6"/>
          <p:cNvSpPr txBox="1"/>
          <p:nvPr/>
        </p:nvSpPr>
        <p:spPr>
          <a:xfrm>
            <a:off x="548640" y="1463040"/>
            <a:ext cx="11064240" cy="966216"/>
          </a:xfrm>
          <a:prstGeom prst="rect">
            <a:avLst/>
          </a:prstGeom>
          <a:noFill/>
        </p:spPr>
        <p:txBody>
          <a:bodyPr wrap="square" anchor="t" lIns="45720" rIns="45720">
            <a:spAutoFit/>
          </a:bodyPr>
          <a:lstStyle/>
          <a:p>
            <a:pPr algn="l">
              <a:spcAft>
                <a:spcPts val="800"/>
              </a:spcAft>
            </a:pPr>
            <a:r>
              <a:rPr sz="2600">
                <a:solidFill>
                  <a:srgbClr val="1E293B"/>
                </a:solidFill>
                <a:latin typeface="Calibri"/>
              </a:rPr>
              <a:t>Gửi tiết kiệm 100 triệu đồng, lãi kép 6%/năm. Sau 3 năm nhận được bao nhiêu triệu đồng (làm tròn đến hàng phần mười)?</a:t>
            </a:r>
          </a:p>
        </p:txBody>
      </p:sp>
      <p:sp>
        <p:nvSpPr>
          <p:cNvPr id="8" name="s1_nen"/>
          <p:cNvSpPr/>
          <p:nvPr/>
        </p:nvSpPr>
        <p:spPr>
          <a:xfrm>
            <a:off x="548640" y="3931920"/>
            <a:ext cx="11064240" cy="630936"/>
          </a:xfrm>
          <a:prstGeom prst="roundRect">
            <a:avLst>
              <a:gd name="adj" fmla="val 6000"/>
            </a:avLst>
          </a:prstGeom>
          <a:solidFill>
            <a:srgbClr val="ECFDF3"/>
          </a:solidFill>
          <a:ln w="19050">
            <a:solidFill>
              <a:srgbClr val="1665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mc:Choice xmlns:a14="http://schemas.microsoft.com/office/drawing/2010/main" Requires="a14">
          <p:sp>
            <p:nvSpPr>
              <p:cNvPr id="9" name="s1_chu"/>
              <p:cNvSpPr txBox="1"/>
              <p:nvPr/>
            </p:nvSpPr>
            <p:spPr>
              <a:xfrm>
                <a:off x="713232" y="3968496"/>
                <a:ext cx="10735056" cy="557784"/>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119,1.</a:t>
                </a:r>
                <a:r>
                  <a:rPr sz="2400">
                    <a:solidFill>
                      <a:srgbClr val="1E293B"/>
                    </a:solidFill>
                    <a:latin typeface="Calibri"/>
                  </a:rPr>
                  <a:t> </a:t>
                </a:r>
                <a14:m>
                  <m:oMath xmlns:m="http://schemas.openxmlformats.org/officeDocument/2006/math">
                    <m:r>
                      <a:rPr lang="vi-VN" sz="2400" b="0">
                        <a:solidFill>
                          <a:srgbClr val="1E293B"/>
                        </a:solidFill>
                        <a:latin typeface="Cambria Math" panose="02040503050406030204" pitchFamily="18" charset="0"/>
                      </a:rPr>
                      <m:t>100·1</m:t>
                    </m:r>
                    <m:r>
                      <a:rPr lang="vi-VN" sz="2400" b="0">
                        <a:solidFill>
                          <a:srgbClr val="1E293B"/>
                        </a:solidFill>
                        <a:latin typeface="Cambria Math" panose="02040503050406030204" pitchFamily="18" charset="0"/>
                      </a:rPr>
                      <m:t>,</m:t>
                    </m:r>
                    <m:sSup>
                      <m:e>
                        <m:r>
                          <a:rPr lang="vi-VN" sz="2400" b="0">
                            <a:solidFill>
                              <a:srgbClr val="1E293B"/>
                            </a:solidFill>
                            <a:latin typeface="Cambria Math" panose="02040503050406030204" pitchFamily="18" charset="0"/>
                          </a:rPr>
                          <m:t>06</m:t>
                        </m:r>
                      </m:e>
                      <m:sup>
                        <m:r>
                          <a:rPr lang="vi-VN" sz="2400" b="0">
                            <a:solidFill>
                              <a:srgbClr val="1E293B"/>
                            </a:solidFill>
                            <a:latin typeface="Cambria Math" panose="02040503050406030204" pitchFamily="18" charset="0"/>
                          </a:rPr>
                          <m:t>3</m:t>
                        </m:r>
                      </m:sup>
                    </m:sSup>
                    <m:r>
                      <a:rPr lang="vi-VN" sz="2400" b="0">
                        <a:solidFill>
                          <a:srgbClr val="1E293B"/>
                        </a:solidFill>
                        <a:latin typeface="Cambria Math" panose="02040503050406030204" pitchFamily="18" charset="0"/>
                      </a:rPr>
                      <m:t>≈119</m:t>
                    </m:r>
                    <m:r>
                      <a:rPr lang="vi-VN" sz="2400" b="0">
                        <a:solidFill>
                          <a:srgbClr val="1E293B"/>
                        </a:solidFill>
                        <a:latin typeface="Cambria Math" panose="02040503050406030204" pitchFamily="18" charset="0"/>
                      </a:rPr>
                      <m:t>,</m:t>
                    </m:r>
                    <m:r>
                      <a:rPr lang="vi-VN" sz="2400" b="0">
                        <a:solidFill>
                          <a:srgbClr val="1E293B"/>
                        </a:solidFill>
                        <a:latin typeface="Cambria Math" panose="02040503050406030204" pitchFamily="18" charset="0"/>
                      </a:rPr>
                      <m:t>1</m:t>
                    </m:r>
                  </m:oMath>
                </a14:m>
                <a:r>
                  <a:rPr sz="2400">
                    <a:solidFill>
                      <a:srgbClr val="1E293B"/>
                    </a:solidFill>
                    <a:latin typeface="Calibri"/>
                  </a:rPr>
                  <a:t> triệu đồng.</a:t>
                </a:r>
              </a:p>
            </p:txBody>
          </p:sp>
        </mc:Choice>
        <mc:Fallback>
          <p:sp>
            <p:nvSpPr>
              <p:cNvPr id="9" name="TextBox 8"/>
              <p:cNvSpPr txBox="1"/>
              <p:nvPr/>
            </p:nvSpPr>
            <p:spPr>
              <a:xfrm>
                <a:off x="713232" y="3968496"/>
                <a:ext cx="10735056" cy="557784"/>
              </a:xfrm>
              <a:prstGeom prst="rect">
                <a:avLst/>
              </a:prstGeom>
              <a:noFill/>
            </p:spPr>
            <p:txBody>
              <a:bodyPr wrap="square" anchor="ctr" lIns="45720" rIns="45720">
                <a:spAutoFit/>
              </a:bodyPr>
              <a:lstStyle/>
              <a:p>
                <a:pPr algn="l">
                  <a:spcAft>
                    <a:spcPts val="800"/>
                  </a:spcAft>
                </a:pPr>
                <a:r>
                  <a:rPr sz="2400" b="1">
                    <a:solidFill>
                      <a:srgbClr val="1E293B"/>
                    </a:solidFill>
                    <a:latin typeface="Calibri"/>
                  </a:rPr>
                  <a:t>Đáp số: 119,1.</a:t>
                </a:r>
                <a:r>
                  <a:rPr sz="2400">
                    <a:solidFill>
                      <a:srgbClr val="1E293B"/>
                    </a:solidFill>
                    <a:latin typeface="Calibri"/>
                  </a:rPr>
                  <a:t> </a:t>
                </a:r>
                <a:r>
                  <a:rPr lang="vi-VN"/>
                  <a:t>100\cdot 1{,}06^3\approx 119{,}1</a:t>
                </a:r>
                <a:r>
                  <a:rPr sz="2400">
                    <a:solidFill>
                      <a:srgbClr val="1E293B"/>
                    </a:solidFill>
                    <a:latin typeface="Calibri"/>
                  </a:rPr>
                  <a:t> triệu đồng.</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CỦNG CỐ TRỰC TUYẾN – NHIỆM VỤ VỀ NHÀ</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Cấp số nhân – Toán 11          24</a:t>
            </a:r>
          </a:p>
        </p:txBody>
      </p:sp>
      <p:sp>
        <p:nvSpPr>
          <p:cNvPr id="7" name="TextBox 6"/>
          <p:cNvSpPr txBox="1"/>
          <p:nvPr/>
        </p:nvSpPr>
        <p:spPr>
          <a:xfrm>
            <a:off x="548640" y="1417320"/>
            <a:ext cx="7589520" cy="4754880"/>
          </a:xfrm>
          <a:prstGeom prst="rect">
            <a:avLst/>
          </a:prstGeom>
          <a:noFill/>
        </p:spPr>
        <p:txBody>
          <a:bodyPr wrap="square" anchor="t" lIns="45720" rIns="45720">
            <a:spAutoFit/>
          </a:bodyPr>
          <a:lstStyle/>
          <a:p>
            <a:pPr algn="l">
              <a:spcAft>
                <a:spcPts val="800"/>
              </a:spcAft>
            </a:pPr>
            <a:r>
              <a:rPr sz="2200" b="1">
                <a:solidFill>
                  <a:srgbClr val="1E293B"/>
                </a:solidFill>
                <a:latin typeface="Calibri"/>
              </a:rPr>
              <a:t>Bài củng cố trực tuyến</a:t>
            </a:r>
            <a:r>
              <a:rPr sz="2200">
                <a:solidFill>
                  <a:srgbClr val="1E293B"/>
                </a:solidFill>
                <a:latin typeface="Calibri"/>
              </a:rPr>
              <a:t> – quét mã QR hoặc mở đường link:</a:t>
            </a:r>
          </a:p>
          <a:p>
            <a:pPr algn="l">
              <a:spcAft>
                <a:spcPts val="800"/>
              </a:spcAft>
            </a:pPr>
            <a:r>
              <a:rPr sz="2000">
                <a:solidFill>
                  <a:srgbClr val="64748B"/>
                </a:solidFill>
                <a:latin typeface="Calibri"/>
              </a:rPr>
              <a:t>https://trangtu66.github.io/Taode_thi_online/cc_bai7_t11.html</a:t>
            </a:r>
          </a:p>
          <a:p>
            <a:pPr algn="l">
              <a:spcAft>
                <a:spcPts val="800"/>
              </a:spcAft>
            </a:pPr>
            <a:r>
              <a:rPr sz="2200" b="1">
                <a:solidFill>
                  <a:srgbClr val="1E293B"/>
                </a:solidFill>
                <a:latin typeface="Calibri"/>
              </a:rPr>
              <a:t>Nhiệm vụ về nhà:</a:t>
            </a:r>
          </a:p>
          <a:p>
            <a:pPr algn="l" marL="365760" indent="-365760">
              <a:spcAft>
                <a:spcPts val="800"/>
              </a:spcAft>
              <a:buClr>
                <a:srgbClr val="1E40AF"/>
              </a:buClr>
              <a:buFont typeface="Arial"/>
              <a:buChar char="•"/>
            </a:pPr>
            <a:r>
              <a:rPr sz="2200">
                <a:solidFill>
                  <a:srgbClr val="1E293B"/>
                </a:solidFill>
                <a:latin typeface="Calibri"/>
              </a:rPr>
              <a:t>Hoàn thành Bài tập 2.15 – 2.21.</a:t>
            </a:r>
          </a:p>
          <a:p>
            <a:pPr algn="l" marL="365760" indent="-365760">
              <a:spcAft>
                <a:spcPts val="800"/>
              </a:spcAft>
              <a:buClr>
                <a:srgbClr val="1E40AF"/>
              </a:buClr>
              <a:buFont typeface="Arial"/>
              <a:buChar char="•"/>
            </a:pPr>
            <a:r>
              <a:rPr sz="2200">
                <a:solidFill>
                  <a:srgbClr val="1E293B"/>
                </a:solidFill>
                <a:latin typeface="Calibri"/>
              </a:rPr>
              <a:t>Ôn tập Chương II, làm trước </a:t>
            </a:r>
            <a:r>
              <a:rPr sz="2200" b="1">
                <a:solidFill>
                  <a:srgbClr val="1E293B"/>
                </a:solidFill>
                <a:latin typeface="Calibri"/>
              </a:rPr>
              <a:t>Bài tập cuối chương II</a:t>
            </a:r>
            <a:r>
              <a:rPr sz="2200">
                <a:solidFill>
                  <a:srgbClr val="1E293B"/>
                </a:solidFill>
                <a:latin typeface="Calibri"/>
              </a:rPr>
              <a:t> (SGK tr.56).</a:t>
            </a:r>
          </a:p>
        </p:txBody>
      </p:sp>
      <p:pic>
        <p:nvPicPr>
          <p:cNvPr id="8" name="Picture 7" descr="QR_CungCo_Bai7_Toan11.png"/>
          <p:cNvPicPr>
            <a:picLocks noChangeAspect="1"/>
          </p:cNvPicPr>
          <p:nvPr/>
        </p:nvPicPr>
        <p:blipFill>
          <a:blip r:embed="rId3"/>
          <a:stretch>
            <a:fillRect/>
          </a:stretch>
        </p:blipFill>
        <p:spPr>
          <a:xfrm>
            <a:off x="8412480" y="1554480"/>
            <a:ext cx="3291840" cy="3291840"/>
          </a:xfrm>
          <a:prstGeom prst="rect">
            <a:avLst/>
          </a:prstGeom>
        </p:spPr>
      </p:pic>
      <p:sp>
        <p:nvSpPr>
          <p:cNvPr id="9" name="Rounded Rectangle 8">
            <a:hlinkClick r:id="rId4"/>
          </p:cNvPr>
          <p:cNvSpPr/>
          <p:nvPr/>
        </p:nvSpPr>
        <p:spPr>
          <a:xfrm>
            <a:off x="8412480" y="5029200"/>
            <a:ext cx="3291840" cy="594360"/>
          </a:xfrm>
          <a:prstGeom prst="round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latin typeface="Calibri"/>
              </a:rPr>
              <a:t>▶  MỞ BÀI CỦNG CỐ</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463479" y="457200"/>
            <a:ext cx="1179576" cy="457200"/>
          </a:xfrm>
          <a:prstGeom prst="roundRect">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TỔNG KẾT</a:t>
            </a:r>
          </a:p>
        </p:txBody>
      </p:sp>
      <p:sp>
        <p:nvSpPr>
          <p:cNvPr id="4" name="TextBox 3"/>
          <p:cNvSpPr txBox="1"/>
          <p:nvPr/>
        </p:nvSpPr>
        <p:spPr>
          <a:xfrm>
            <a:off x="731520" y="274320"/>
            <a:ext cx="9793224" cy="868680"/>
          </a:xfrm>
          <a:prstGeom prst="rect">
            <a:avLst/>
          </a:prstGeom>
          <a:noFill/>
        </p:spPr>
        <p:txBody>
          <a:bodyPr wrap="square" anchor="ctr">
            <a:spAutoFit/>
          </a:bodyPr>
          <a:lstStyle/>
          <a:p>
            <a:r>
              <a:rPr sz="3000" b="1">
                <a:solidFill>
                  <a:srgbClr val="1E40AF"/>
                </a:solidFill>
                <a:latin typeface="Cambria"/>
              </a:rPr>
              <a:t>SƠ ĐỒ TƯ DUY – BÀI 7</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Cấp số nhân – Toán 11          25</a:t>
            </a:r>
          </a:p>
        </p:txBody>
      </p:sp>
      <p:pic>
        <p:nvPicPr>
          <p:cNvPr id="7" name="Picture 6" descr="SoDoTuDuy_TOAN11_Bai7_CapSoNhan_T15-16.png"/>
          <p:cNvPicPr>
            <a:picLocks noChangeAspect="1"/>
          </p:cNvPicPr>
          <p:nvPr/>
        </p:nvPicPr>
        <p:blipFill>
          <a:blip r:embed="rId3"/>
          <a:stretch>
            <a:fillRect/>
          </a:stretch>
        </p:blipFill>
        <p:spPr>
          <a:xfrm>
            <a:off x="1765397" y="1371600"/>
            <a:ext cx="8630725" cy="484632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1 – SAI LẦM THƯỜNG GẶP</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Cấp số nhân – Toán 11          26</a:t>
            </a:r>
          </a:p>
        </p:txBody>
      </p:sp>
      <mc:AlternateContent xmlns:mc="http://schemas.openxmlformats.org/markup-compatibility/2006">
        <mc:Choice xmlns:a14="http://schemas.microsoft.com/office/drawing/2010/main" Requires="a14">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Dùng </a:t>
                </a:r>
                <a14:m>
                  <m:oMath xmlns:m="http://schemas.openxmlformats.org/officeDocument/2006/math">
                    <m:sSub>
                      <m:e>
                        <m:r>
                          <a:rPr lang="vi-VN" sz="2100" b="0">
                            <a:solidFill>
                              <a:srgbClr val="1E293B"/>
                            </a:solidFill>
                            <a:latin typeface="Cambria Math" panose="02040503050406030204" pitchFamily="18" charset="0"/>
                          </a:rPr>
                          <m:t>u</m:t>
                        </m:r>
                      </m:e>
                      <m:sub>
                        <m:r>
                          <a:rPr lang="vi-VN" sz="2100" b="0">
                            <a:solidFill>
                              <a:srgbClr val="1E293B"/>
                            </a:solidFill>
                            <a:latin typeface="Cambria Math" panose="02040503050406030204" pitchFamily="18" charset="0"/>
                          </a:rPr>
                          <m:t>n</m:t>
                        </m:r>
                      </m:sub>
                    </m:sSub>
                    <m:r>
                      <a:rPr lang="vi-VN" sz="2100" b="0">
                        <a:solidFill>
                          <a:srgbClr val="1E293B"/>
                        </a:solidFill>
                        <a:latin typeface="Cambria Math" panose="02040503050406030204" pitchFamily="18" charset="0"/>
                      </a:rPr>
                      <m:t>=</m:t>
                    </m:r>
                    <m:sSub>
                      <m:e>
                        <m:r>
                          <a:rPr lang="vi-VN" sz="2100" b="0">
                            <a:solidFill>
                              <a:srgbClr val="1E293B"/>
                            </a:solidFill>
                            <a:latin typeface="Cambria Math" panose="02040503050406030204" pitchFamily="18" charset="0"/>
                          </a:rPr>
                          <m:t>u</m:t>
                        </m:r>
                      </m:e>
                      <m:sub>
                        <m:r>
                          <a:rPr lang="vi-VN" sz="2100" b="0">
                            <a:solidFill>
                              <a:srgbClr val="1E293B"/>
                            </a:solidFill>
                            <a:latin typeface="Cambria Math" panose="02040503050406030204" pitchFamily="18" charset="0"/>
                          </a:rPr>
                          <m:t>1</m:t>
                        </m:r>
                      </m:sub>
                    </m:sSub>
                    <m:sSup>
                      <m:e>
                        <m:r>
                          <a:rPr lang="vi-VN" sz="2100" b="0">
                            <a:solidFill>
                              <a:srgbClr val="1E293B"/>
                            </a:solidFill>
                            <a:latin typeface="Cambria Math" panose="02040503050406030204" pitchFamily="18" charset="0"/>
                          </a:rPr>
                          <m:t>q</m:t>
                        </m:r>
                      </m:e>
                      <m:sup>
                        <m:r>
                          <a:rPr lang="vi-VN" sz="2100" b="0">
                            <a:solidFill>
                              <a:srgbClr val="1E293B"/>
                            </a:solidFill>
                            <a:latin typeface="Cambria Math" panose="02040503050406030204" pitchFamily="18" charset="0"/>
                          </a:rPr>
                          <m:t>n</m:t>
                        </m:r>
                      </m:sup>
                    </m:sSup>
                  </m:oMath>
                </a14:m>
                <a:r>
                  <a:rPr sz="2100">
                    <a:solidFill>
                      <a:srgbClr val="1E293B"/>
                    </a:solidFill>
                    <a:latin typeface="Calibri"/>
                  </a:rPr>
                  <a:t> (đúng là </a:t>
                </a:r>
                <a14:m>
                  <m:oMath xmlns:m="http://schemas.openxmlformats.org/officeDocument/2006/math">
                    <m:sSup>
                      <m:e>
                        <m:r>
                          <a:rPr lang="vi-VN" sz="2100" b="0">
                            <a:solidFill>
                              <a:srgbClr val="1E293B"/>
                            </a:solidFill>
                            <a:latin typeface="Cambria Math" panose="02040503050406030204" pitchFamily="18" charset="0"/>
                          </a:rPr>
                          <m:t>q</m:t>
                        </m:r>
                      </m:e>
                      <m:sup>
                        <m:r>
                          <a:rPr lang="vi-VN" sz="2100" b="0">
                            <a:solidFill>
                              <a:srgbClr val="1E293B"/>
                            </a:solidFill>
                            <a:latin typeface="Cambria Math" panose="02040503050406030204" pitchFamily="18" charset="0"/>
                          </a:rPr>
                          <m:t>n−1</m:t>
                        </m:r>
                      </m:sup>
                    </m:sSup>
                  </m:oMath>
                </a14:m>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Ví dụ 4: quên loại trường hợp </a:t>
                </a:r>
                <a14:m>
                  <m:oMath xmlns:m="http://schemas.openxmlformats.org/officeDocument/2006/math">
                    <m:r>
                      <a:rPr lang="vi-VN" sz="2100" b="0">
                        <a:solidFill>
                          <a:srgbClr val="1E293B"/>
                        </a:solidFill>
                        <a:latin typeface="Cambria Math" panose="02040503050406030204" pitchFamily="18" charset="0"/>
                      </a:rPr>
                      <m:t>q=−2</m:t>
                    </m:r>
                  </m:oMath>
                </a14:m>
                <a:r>
                  <a:rPr sz="2100">
                    <a:solidFill>
                      <a:srgbClr val="1E293B"/>
                    </a:solidFill>
                    <a:latin typeface="Calibri"/>
                  </a:rPr>
                  <a:t> (số hạng dương).</a:t>
                </a:r>
              </a:p>
              <a:p>
                <a:pPr algn="l" marL="365760" indent="-365760">
                  <a:spcAft>
                    <a:spcPts val="800"/>
                  </a:spcAft>
                  <a:buClr>
                    <a:srgbClr val="1E40AF"/>
                  </a:buClr>
                  <a:buFont typeface="Arial"/>
                  <a:buChar char="•"/>
                </a:pPr>
                <a:r>
                  <a:rPr sz="2100">
                    <a:solidFill>
                      <a:srgbClr val="1E293B"/>
                    </a:solidFill>
                    <a:latin typeface="Calibri"/>
                  </a:rPr>
                  <a:t>Luyện tập 2: tính </a:t>
                </a:r>
                <a14:m>
                  <m:oMath xmlns:m="http://schemas.openxmlformats.org/officeDocument/2006/math">
                    <m:sSub>
                      <m:e>
                        <m:r>
                          <a:rPr lang="vi-VN" sz="2100" b="0">
                            <a:solidFill>
                              <a:srgbClr val="1E293B"/>
                            </a:solidFill>
                            <a:latin typeface="Cambria Math" panose="02040503050406030204" pitchFamily="18" charset="0"/>
                          </a:rPr>
                          <m:t>u</m:t>
                        </m:r>
                      </m:e>
                      <m:sub>
                        <m:r>
                          <a:rPr lang="vi-VN" sz="2100" b="0">
                            <a:solidFill>
                              <a:srgbClr val="1E293B"/>
                            </a:solidFill>
                            <a:latin typeface="Cambria Math" panose="02040503050406030204" pitchFamily="18" charset="0"/>
                          </a:rPr>
                          <m:t>5</m:t>
                        </m:r>
                      </m:sub>
                    </m:sSub>
                  </m:oMath>
                </a14:m>
                <a:r>
                  <a:rPr sz="2100">
                    <a:solidFill>
                      <a:srgbClr val="1E293B"/>
                    </a:solidFill>
                    <a:latin typeface="Calibri"/>
                  </a:rPr>
                  <a:t> thay vì </a:t>
                </a:r>
                <a14:m>
                  <m:oMath xmlns:m="http://schemas.openxmlformats.org/officeDocument/2006/math">
                    <m:sSub>
                      <m:e>
                        <m:r>
                          <a:rPr lang="vi-VN" sz="2100" b="0">
                            <a:solidFill>
                              <a:srgbClr val="1E293B"/>
                            </a:solidFill>
                            <a:latin typeface="Cambria Math" panose="02040503050406030204" pitchFamily="18" charset="0"/>
                          </a:rPr>
                          <m:t>u</m:t>
                        </m:r>
                      </m:e>
                      <m:sub>
                        <m:r>
                          <a:rPr lang="vi-VN" sz="2100" b="0">
                            <a:solidFill>
                              <a:srgbClr val="1E293B"/>
                            </a:solidFill>
                            <a:latin typeface="Cambria Math" panose="02040503050406030204" pitchFamily="18" charset="0"/>
                          </a:rPr>
                          <m:t>6</m:t>
                        </m:r>
                      </m:sub>
                    </m:sSub>
                  </m:oMath>
                </a14:m>
                <a:r>
                  <a:rPr sz="2100">
                    <a:solidFill>
                      <a:srgbClr val="1E293B"/>
                    </a:solidFill>
                    <a:latin typeface="Calibri"/>
                  </a:rPr>
                  <a:t> (ban đầu là </a:t>
                </a:r>
                <a14:m>
                  <m:oMath xmlns:m="http://schemas.openxmlformats.org/officeDocument/2006/math">
                    <m:sSub>
                      <m:e>
                        <m:r>
                          <a:rPr lang="vi-VN" sz="2100" b="0">
                            <a:solidFill>
                              <a:srgbClr val="1E293B"/>
                            </a:solidFill>
                            <a:latin typeface="Cambria Math" panose="02040503050406030204" pitchFamily="18" charset="0"/>
                          </a:rPr>
                          <m:t>u</m:t>
                        </m:r>
                      </m:e>
                      <m:sub>
                        <m:r>
                          <a:rPr lang="vi-VN" sz="2100" b="0">
                            <a:solidFill>
                              <a:srgbClr val="1E293B"/>
                            </a:solidFill>
                            <a:latin typeface="Cambria Math" panose="02040503050406030204" pitchFamily="18" charset="0"/>
                          </a:rPr>
                          <m:t>1</m:t>
                        </m:r>
                      </m:sub>
                    </m:sSub>
                  </m:oMath>
                </a14:m>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Áp dụng công thức tổng khi </a:t>
                </a:r>
                <a14:m>
                  <m:oMath xmlns:m="http://schemas.openxmlformats.org/officeDocument/2006/math">
                    <m:r>
                      <a:rPr lang="vi-VN" sz="2100" b="0">
                        <a:solidFill>
                          <a:srgbClr val="1E293B"/>
                        </a:solidFill>
                        <a:latin typeface="Cambria Math" panose="02040503050406030204" pitchFamily="18" charset="0"/>
                      </a:rPr>
                      <m:t>q=1</m:t>
                    </m:r>
                  </m:oMath>
                </a14:m>
                <a:r>
                  <a:rPr sz="2100">
                    <a:solidFill>
                      <a:srgbClr val="1E293B"/>
                    </a:solidFill>
                    <a:latin typeface="Calibri"/>
                  </a:rPr>
                  <a:t>.</a:t>
                </a:r>
              </a:p>
            </p:txBody>
          </p:sp>
        </mc:Choice>
        <mc:Fallback>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100">
                    <a:solidFill>
                      <a:srgbClr val="1E293B"/>
                    </a:solidFill>
                    <a:latin typeface="Calibri"/>
                  </a:rPr>
                  <a:t>Dùng </a:t>
                </a:r>
                <a:r>
                  <a:rPr lang="vi-VN"/>
                  <a:t>u_n=u_1q^n</a:t>
                </a:r>
                <a:r>
                  <a:rPr sz="2100">
                    <a:solidFill>
                      <a:srgbClr val="1E293B"/>
                    </a:solidFill>
                    <a:latin typeface="Calibri"/>
                  </a:rPr>
                  <a:t> (đúng là </a:t>
                </a:r>
                <a:r>
                  <a:rPr lang="vi-VN"/>
                  <a:t>q^{n-1}</a:t>
                </a:r>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Ví dụ 4: quên loại trường hợp </a:t>
                </a:r>
                <a:r>
                  <a:rPr lang="vi-VN"/>
                  <a:t>q=-2</a:t>
                </a:r>
                <a:r>
                  <a:rPr sz="2100">
                    <a:solidFill>
                      <a:srgbClr val="1E293B"/>
                    </a:solidFill>
                    <a:latin typeface="Calibri"/>
                  </a:rPr>
                  <a:t> (số hạng dương).</a:t>
                </a:r>
              </a:p>
              <a:p>
                <a:pPr algn="l" marL="365760" indent="-365760">
                  <a:spcAft>
                    <a:spcPts val="800"/>
                  </a:spcAft>
                  <a:buClr>
                    <a:srgbClr val="1E40AF"/>
                  </a:buClr>
                  <a:buFont typeface="Arial"/>
                  <a:buChar char="•"/>
                </a:pPr>
                <a:r>
                  <a:rPr sz="2100">
                    <a:solidFill>
                      <a:srgbClr val="1E293B"/>
                    </a:solidFill>
                    <a:latin typeface="Calibri"/>
                  </a:rPr>
                  <a:t>Luyện tập 2: tính </a:t>
                </a:r>
                <a:r>
                  <a:rPr lang="vi-VN"/>
                  <a:t>u_5</a:t>
                </a:r>
                <a:r>
                  <a:rPr sz="2100">
                    <a:solidFill>
                      <a:srgbClr val="1E293B"/>
                    </a:solidFill>
                    <a:latin typeface="Calibri"/>
                  </a:rPr>
                  <a:t> thay vì </a:t>
                </a:r>
                <a:r>
                  <a:rPr lang="vi-VN"/>
                  <a:t>u_6</a:t>
                </a:r>
                <a:r>
                  <a:rPr sz="2100">
                    <a:solidFill>
                      <a:srgbClr val="1E293B"/>
                    </a:solidFill>
                    <a:latin typeface="Calibri"/>
                  </a:rPr>
                  <a:t> (ban đầu là </a:t>
                </a:r>
                <a:r>
                  <a:rPr lang="vi-VN"/>
                  <a:t>u_1</a:t>
                </a:r>
                <a:r>
                  <a:rPr sz="2100">
                    <a:solidFill>
                      <a:srgbClr val="1E293B"/>
                    </a:solidFill>
                    <a:latin typeface="Calibri"/>
                  </a:rPr>
                  <a:t>).</a:t>
                </a:r>
              </a:p>
              <a:p>
                <a:pPr algn="l" marL="365760" indent="-365760">
                  <a:spcAft>
                    <a:spcPts val="800"/>
                  </a:spcAft>
                  <a:buClr>
                    <a:srgbClr val="1E40AF"/>
                  </a:buClr>
                  <a:buFont typeface="Arial"/>
                  <a:buChar char="•"/>
                </a:pPr>
                <a:r>
                  <a:rPr sz="2100">
                    <a:solidFill>
                      <a:srgbClr val="1E293B"/>
                    </a:solidFill>
                    <a:latin typeface="Calibri"/>
                  </a:rPr>
                  <a:t>Áp dụng công thức tổng khi </a:t>
                </a:r>
                <a:r>
                  <a:rPr lang="vi-VN"/>
                  <a:t>q=1</a:t>
                </a:r>
                <a:r>
                  <a:rPr sz="2100">
                    <a:solidFill>
                      <a:srgbClr val="1E293B"/>
                    </a:solidFill>
                    <a:latin typeface="Calibri"/>
                  </a:rPr>
                  <a:t>.</a:t>
                </a:r>
              </a:p>
            </p:txBody>
          </p:sp>
        </mc:Fallback>
      </mc:AlternateContent>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384048"/>
            <a:ext cx="109728" cy="658368"/>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106863" y="457200"/>
            <a:ext cx="1536192" cy="457200"/>
          </a:xfrm>
          <a:prstGeom prst="roundRect">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400" b="1">
                <a:solidFill>
                  <a:srgbClr val="FFFFFF"/>
                </a:solidFill>
                <a:latin typeface="Cambria"/>
              </a:rPr>
              <a:t>DÀNH CHO GV</a:t>
            </a:r>
          </a:p>
        </p:txBody>
      </p:sp>
      <p:sp>
        <p:nvSpPr>
          <p:cNvPr id="4" name="TextBox 3"/>
          <p:cNvSpPr txBox="1"/>
          <p:nvPr/>
        </p:nvSpPr>
        <p:spPr>
          <a:xfrm>
            <a:off x="731520" y="274320"/>
            <a:ext cx="9436608" cy="868680"/>
          </a:xfrm>
          <a:prstGeom prst="rect">
            <a:avLst/>
          </a:prstGeom>
          <a:noFill/>
        </p:spPr>
        <p:txBody>
          <a:bodyPr wrap="square" anchor="ctr">
            <a:spAutoFit/>
          </a:bodyPr>
          <a:lstStyle/>
          <a:p>
            <a:r>
              <a:rPr sz="3000" b="1">
                <a:solidFill>
                  <a:srgbClr val="1E40AF"/>
                </a:solidFill>
                <a:latin typeface="Cambria"/>
              </a:rPr>
              <a:t>PHỤ LỤC 2 – PHÂN HOÁ, DỰ PHÒNG</a:t>
            </a:r>
          </a:p>
        </p:txBody>
      </p:sp>
      <p:sp>
        <p:nvSpPr>
          <p:cNvPr id="5" name="Rectangle 4"/>
          <p:cNvSpPr/>
          <p:nvPr/>
        </p:nvSpPr>
        <p:spPr>
          <a:xfrm>
            <a:off x="457200" y="1207008"/>
            <a:ext cx="11274552" cy="220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355080"/>
            <a:ext cx="11274552" cy="365760"/>
          </a:xfrm>
          <a:prstGeom prst="rect">
            <a:avLst/>
          </a:prstGeom>
          <a:noFill/>
        </p:spPr>
        <p:txBody>
          <a:bodyPr wrap="none">
            <a:spAutoFit/>
          </a:bodyPr>
          <a:lstStyle/>
          <a:p>
            <a:pPr algn="r"/>
            <a:r>
              <a:rPr sz="1200">
                <a:solidFill>
                  <a:srgbClr val="64748B"/>
                </a:solidFill>
                <a:latin typeface="Calibri"/>
              </a:rPr>
              <a:t>Bài 7. Cấp số nhân – Toán 11          27</a:t>
            </a:r>
          </a:p>
        </p:txBody>
      </p:sp>
      <p:sp>
        <p:nvSpPr>
          <p:cNvPr id="7" name="TextBox 6"/>
          <p:cNvSpPr txBox="1"/>
          <p:nvPr/>
        </p:nvSpPr>
        <p:spPr>
          <a:xfrm>
            <a:off x="548640" y="1371600"/>
            <a:ext cx="11064240" cy="4846320"/>
          </a:xfrm>
          <a:prstGeom prst="rect">
            <a:avLst/>
          </a:prstGeom>
          <a:noFill/>
        </p:spPr>
        <p:txBody>
          <a:bodyPr wrap="square" anchor="t" lIns="45720" rIns="45720">
            <a:spAutoFit/>
          </a:bodyPr>
          <a:lstStyle/>
          <a:p>
            <a:pPr algn="l" marL="365760" indent="-365760">
              <a:spcAft>
                <a:spcPts val="800"/>
              </a:spcAft>
              <a:buClr>
                <a:srgbClr val="1E40AF"/>
              </a:buClr>
              <a:buFont typeface="Arial"/>
              <a:buChar char="•"/>
            </a:pPr>
            <a:r>
              <a:rPr sz="2000" b="1">
                <a:solidFill>
                  <a:srgbClr val="1E293B"/>
                </a:solidFill>
                <a:latin typeface="Calibri"/>
              </a:rPr>
              <a:t>HS cần hỗ trợ:</a:t>
            </a:r>
            <a:r>
              <a:rPr sz="2000">
                <a:solidFill>
                  <a:srgbClr val="1E293B"/>
                </a:solidFill>
                <a:latin typeface="Calibri"/>
              </a:rPr>
              <a:t> HĐ1, HĐ2, Ví dụ 1, 3, Bài 2.15a.</a:t>
            </a:r>
          </a:p>
          <a:p>
            <a:pPr algn="l" marL="365760" indent="-365760">
              <a:spcAft>
                <a:spcPts val="800"/>
              </a:spcAft>
              <a:buClr>
                <a:srgbClr val="1E40AF"/>
              </a:buClr>
              <a:buFont typeface="Arial"/>
              <a:buChar char="•"/>
            </a:pPr>
            <a:r>
              <a:rPr sz="2000" b="1">
                <a:solidFill>
                  <a:srgbClr val="1E293B"/>
                </a:solidFill>
                <a:latin typeface="Calibri"/>
              </a:rPr>
              <a:t>HS khá, giỏi:</a:t>
            </a:r>
            <a:r>
              <a:rPr sz="2000">
                <a:solidFill>
                  <a:srgbClr val="1E293B"/>
                </a:solidFill>
                <a:latin typeface="Calibri"/>
              </a:rPr>
              <a:t> Vận dụng, Bài 2.17 – 2.21; so sánh cấp số cộng – cấp số nhân trong tài chính.</a:t>
            </a:r>
          </a:p>
          <a:p>
            <a:pPr algn="l" marL="365760" indent="-365760">
              <a:spcAft>
                <a:spcPts val="800"/>
              </a:spcAft>
              <a:buClr>
                <a:srgbClr val="1E40AF"/>
              </a:buClr>
              <a:buFont typeface="Arial"/>
              <a:buChar char="•"/>
            </a:pPr>
            <a:r>
              <a:rPr sz="2000">
                <a:solidFill>
                  <a:srgbClr val="1E293B"/>
                </a:solidFill>
                <a:latin typeface="Calibri"/>
              </a:rPr>
              <a:t>Khối 11 không có HS khuyết tật.</a:t>
            </a:r>
          </a:p>
          <a:p>
            <a:pPr algn="l" marL="365760" indent="-365760">
              <a:spcAft>
                <a:spcPts val="800"/>
              </a:spcAft>
              <a:buClr>
                <a:srgbClr val="1E40AF"/>
              </a:buClr>
              <a:buFont typeface="Arial"/>
              <a:buChar char="•"/>
            </a:pPr>
            <a:r>
              <a:rPr sz="2000" b="1">
                <a:solidFill>
                  <a:srgbClr val="1E293B"/>
                </a:solidFill>
                <a:latin typeface="Calibri"/>
              </a:rPr>
              <a:t>Mất điện/mạng:</a:t>
            </a:r>
            <a:r>
              <a:rPr sz="2000">
                <a:solidFill>
                  <a:srgbClr val="1E293B"/>
                </a:solidFill>
                <a:latin typeface="Calibri"/>
              </a:rPr>
              <a:t> KHBD in; máy tính cầm tay.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