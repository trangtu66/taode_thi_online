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nhanh Bài 2.3, 2.4 (Bài 5). HS dự đoán, GV ghi lại – giải ở Ví dụ 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Đối chiếu với dự đoán của HS ở phần Khởi động.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trangtu66.github.io/Taode_thi_online/cc_bai6_t11.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15600" cy="1371600"/>
          </a:xfrm>
          <a:prstGeom prst="rect">
            <a:avLst/>
          </a:prstGeom>
          <a:noFill/>
        </p:spPr>
        <p:txBody>
          <a:bodyPr wrap="square">
            <a:spAutoFit/>
          </a:bodyPr>
          <a:lstStyle/>
          <a:p>
            <a:r>
              <a:rPr sz="4000" b="1">
                <a:solidFill>
                  <a:srgbClr val="1E40AF"/>
                </a:solidFill>
                <a:latin typeface="Arial"/>
              </a:rPr>
              <a:t>BÀI 6. CẤP SỐ CỘNG</a:t>
            </a:r>
          </a:p>
        </p:txBody>
      </p:sp>
      <p:sp>
        <p:nvSpPr>
          <p:cNvPr id="4" name="TextBox 3"/>
          <p:cNvSpPr txBox="1"/>
          <p:nvPr/>
        </p:nvSpPr>
        <p:spPr>
          <a:xfrm>
            <a:off x="822960" y="2560320"/>
            <a:ext cx="10515600" cy="822960"/>
          </a:xfrm>
          <a:prstGeom prst="rect">
            <a:avLst/>
          </a:prstGeom>
          <a:noFill/>
        </p:spPr>
        <p:txBody>
          <a:bodyPr wrap="square" anchor="t" lIns="45720" rIns="45720">
            <a:spAutoFit/>
          </a:bodyPr>
          <a:lstStyle/>
          <a:p>
            <a:pPr algn="l">
              <a:spcAft>
                <a:spcPts val="800"/>
              </a:spcAft>
            </a:pPr>
            <a:r>
              <a:rPr sz="2800" b="1">
                <a:solidFill>
                  <a:srgbClr val="1E293B"/>
                </a:solidFill>
                <a:latin typeface="Calibri"/>
              </a:rPr>
              <a:t>Chương II. Dãy số. Cấp số cộng và cấp số nhân</a:t>
            </a:r>
          </a:p>
        </p:txBody>
      </p:sp>
      <p:sp>
        <p:nvSpPr>
          <p:cNvPr id="5" name="Rectangle 4"/>
          <p:cNvSpPr/>
          <p:nvPr/>
        </p:nvSpPr>
        <p:spPr>
          <a:xfrm>
            <a:off x="868680" y="3474720"/>
            <a:ext cx="2286000" cy="36576"/>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10515600" cy="20116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Môn Toán – Lớp 11 (Kết nối tri thức với cuộc sống)</a:t>
            </a:r>
          </a:p>
          <a:p>
            <a:pPr algn="l">
              <a:spcAft>
                <a:spcPts val="800"/>
              </a:spcAft>
            </a:pPr>
            <a:r>
              <a:rPr sz="2200">
                <a:solidFill>
                  <a:srgbClr val="1E293B"/>
                </a:solidFill>
                <a:latin typeface="Calibri"/>
              </a:rPr>
              <a:t>Tiết 13, 14 theo PPCT · Năm học 2026 – 2027</a:t>
            </a:r>
          </a:p>
          <a:p>
            <a:pPr algn="l">
              <a:spcAft>
                <a:spcPts val="800"/>
              </a:spcAft>
            </a:pPr>
            <a:r>
              <a:rPr sz="2200">
                <a:solidFill>
                  <a:srgbClr val="1E293B"/>
                </a:solidFill>
                <a:latin typeface="Calibri"/>
              </a:rPr>
              <a:t>GV soạn: TTT – Trường THPT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MỤC TIÊU BÀI HỌC</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a:t>
            </a:r>
          </a:p>
        </p:txBody>
      </p:sp>
      <p:sp>
        <p:nvSpPr>
          <p:cNvPr id="6" name="TextBox 5"/>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Nhận biết một dãy số là cấp số cộng</a:t>
            </a:r>
          </a:p>
          <a:p>
            <a:pPr algn="l" marL="365760" indent="-365760">
              <a:spcAft>
                <a:spcPts val="800"/>
              </a:spcAft>
              <a:buClr>
                <a:srgbClr val="1E40AF"/>
              </a:buClr>
              <a:buFont typeface="Arial"/>
              <a:buChar char="•"/>
            </a:pPr>
            <a:r>
              <a:rPr sz="2400">
                <a:solidFill>
                  <a:srgbClr val="1E293B"/>
                </a:solidFill>
                <a:latin typeface="Calibri"/>
              </a:rPr>
              <a:t>Giải thích công thức số hạng tổng quát</a:t>
            </a:r>
          </a:p>
          <a:p>
            <a:pPr algn="l" marL="365760" indent="-365760">
              <a:spcAft>
                <a:spcPts val="800"/>
              </a:spcAft>
              <a:buClr>
                <a:srgbClr val="1E40AF"/>
              </a:buClr>
              <a:buFont typeface="Arial"/>
              <a:buChar char="•"/>
            </a:pPr>
            <a:r>
              <a:rPr sz="2400">
                <a:solidFill>
                  <a:srgbClr val="1E293B"/>
                </a:solidFill>
                <a:latin typeface="Calibri"/>
              </a:rPr>
              <a:t>Tính tổng n số hạng đầu của cấp số cộng</a:t>
            </a:r>
          </a:p>
          <a:p>
            <a:pPr algn="l" marL="365760" indent="-365760">
              <a:spcAft>
                <a:spcPts val="800"/>
              </a:spcAft>
              <a:buClr>
                <a:srgbClr val="1E40AF"/>
              </a:buClr>
              <a:buFont typeface="Arial"/>
              <a:buChar char="•"/>
            </a:pPr>
            <a:r>
              <a:rPr sz="2400">
                <a:solidFill>
                  <a:srgbClr val="1E293B"/>
                </a:solidFill>
                <a:latin typeface="Calibri"/>
              </a:rPr>
              <a:t>Giải quyết bài toán thực tiễn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600" b="1">
                <a:solidFill>
                  <a:srgbClr val="1E40AF"/>
                </a:solidFill>
                <a:latin typeface="Arial"/>
              </a:rPr>
              <a:t>KHỞI ĐỘNG: NHÀ HÁT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a:t>
            </a:r>
          </a:p>
        </p:txBody>
      </p:sp>
      <p:sp>
        <p:nvSpPr>
          <p:cNvPr id="7" name="TextBox 6"/>
          <p:cNvSpPr txBox="1"/>
          <p:nvPr/>
        </p:nvSpPr>
        <p:spPr>
          <a:xfrm>
            <a:off x="731520" y="1463040"/>
            <a:ext cx="7589520" cy="2398775"/>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nhà hát có 25 hàng ghế với 16 ghế ở hàng thứ nhất, 18 ghế ở hàng thứ hai, 20 ghế ở hàng thứ ba và cứ tiếp tục theo quy luật đó, tức là hàng sau nhiều hơn hàng liền trước nó 2 ghế. Tính tổng số ghế của nhà hát đó.</a:t>
            </a:r>
          </a:p>
          <a:p>
            <a:pPr algn="l">
              <a:spcAft>
                <a:spcPts val="800"/>
              </a:spcAft>
            </a:pPr>
            <a:r>
              <a:rPr sz="2200" b="1">
                <a:solidFill>
                  <a:srgbClr val="1E40AF"/>
                </a:solidFill>
                <a:latin typeface="Calibri"/>
              </a:rPr>
              <a:t>Gợi mở: Có cách nào không phải cộng lần lượt 25 số?</a:t>
            </a:r>
          </a:p>
        </p:txBody>
      </p:sp>
      <p:pic>
        <p:nvPicPr>
          <p:cNvPr id="8" name="Picture 7" descr="img02.png"/>
          <p:cNvPicPr>
            <a:picLocks noChangeAspect="1"/>
          </p:cNvPicPr>
          <p:nvPr/>
        </p:nvPicPr>
        <p:blipFill>
          <a:blip r:embed="rId2"/>
          <a:stretch>
            <a:fillRect/>
          </a:stretch>
        </p:blipFill>
        <p:spPr>
          <a:xfrm>
            <a:off x="8503920" y="2788447"/>
            <a:ext cx="3291840" cy="205834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1. ĐỊNH NGHĨA</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HĐ1: NHẬN BIẾT CẤP SỐ CỘNG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gồm tất cả các số tự nhiên lẻ, xếp theo thứ tự tăng dần.</a:t>
                </a:r>
              </a:p>
              <a:p>
                <a:pPr algn="l" marL="365760" indent="-365760">
                  <a:spcAft>
                    <a:spcPts val="800"/>
                  </a:spcAft>
                  <a:buClr>
                    <a:srgbClr val="1E40AF"/>
                  </a:buClr>
                  <a:buFont typeface="Arial"/>
                  <a:buChar char="•"/>
                </a:pPr>
                <a:r>
                  <a:rPr sz="2400">
                    <a:solidFill>
                      <a:srgbClr val="1E293B"/>
                    </a:solidFill>
                    <a:latin typeface="Calibri"/>
                  </a:rPr>
                  <a:t>a) Viết năm số hạng đầu của dãy số.</a:t>
                </a:r>
              </a:p>
              <a:p>
                <a:pPr algn="l" marL="365760" indent="-365760">
                  <a:spcAft>
                    <a:spcPts val="800"/>
                  </a:spcAft>
                  <a:buClr>
                    <a:srgbClr val="1E40AF"/>
                  </a:buClr>
                  <a:buFont typeface="Arial"/>
                  <a:buChar char="•"/>
                </a:pPr>
                <a:r>
                  <a:rPr sz="2400">
                    <a:solidFill>
                      <a:srgbClr val="1E293B"/>
                    </a:solidFill>
                    <a:latin typeface="Calibri"/>
                  </a:rPr>
                  <a:t>b) Dự đoán công thức biểu diễn số hạng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theo số hạng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oMath>
                </a14:m>
                <a:r>
                  <a:rPr sz="2400">
                    <a:solidFill>
                      <a:srgbClr val="1E293B"/>
                    </a:solidFill>
                    <a:latin typeface="Calibri"/>
                  </a:rPr>
                  <a:t>.</a:t>
                </a:r>
              </a:p>
              <a:p>
                <a:pPr algn="l">
                  <a:spcAft>
                    <a:spcPts val="800"/>
                  </a:spcAft>
                </a:pPr>
                <a:r>
                  <a:rPr sz="2400" b="1">
                    <a:solidFill>
                      <a:srgbClr val="1E40AF"/>
                    </a:solidFill>
                    <a:latin typeface="Calibri"/>
                  </a:rPr>
                  <a:t>Gợi mở: Số lẻ sau hơn số lẻ trước bao nhiêu?</a:t>
                </a:r>
              </a:p>
            </p:txBody>
          </p:sp>
        </mc:Choice>
        <mc:Fallback>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dãy số </a:t>
                </a:r>
                <a:r>
                  <a:rPr lang="vi-VN"/>
                  <a:t>(u_n)</a:t>
                </a:r>
                <a:r>
                  <a:rPr sz="2400">
                    <a:solidFill>
                      <a:srgbClr val="1E293B"/>
                    </a:solidFill>
                    <a:latin typeface="Calibri"/>
                  </a:rPr>
                  <a:t> gồm tất cả các số tự nhiên lẻ, xếp theo thứ tự tăng dần.</a:t>
                </a:r>
              </a:p>
              <a:p>
                <a:pPr algn="l" marL="365760" indent="-365760">
                  <a:spcAft>
                    <a:spcPts val="800"/>
                  </a:spcAft>
                  <a:buClr>
                    <a:srgbClr val="1E40AF"/>
                  </a:buClr>
                  <a:buFont typeface="Arial"/>
                  <a:buChar char="•"/>
                </a:pPr>
                <a:r>
                  <a:rPr sz="2400">
                    <a:solidFill>
                      <a:srgbClr val="1E293B"/>
                    </a:solidFill>
                    <a:latin typeface="Calibri"/>
                  </a:rPr>
                  <a:t>a) Viết năm số hạng đầu của dãy số.</a:t>
                </a:r>
              </a:p>
              <a:p>
                <a:pPr algn="l" marL="365760" indent="-365760">
                  <a:spcAft>
                    <a:spcPts val="800"/>
                  </a:spcAft>
                  <a:buClr>
                    <a:srgbClr val="1E40AF"/>
                  </a:buClr>
                  <a:buFont typeface="Arial"/>
                  <a:buChar char="•"/>
                </a:pPr>
                <a:r>
                  <a:rPr sz="2400">
                    <a:solidFill>
                      <a:srgbClr val="1E293B"/>
                    </a:solidFill>
                    <a:latin typeface="Calibri"/>
                  </a:rPr>
                  <a:t>b) Dự đoán công thức biểu diễn số hạng </a:t>
                </a:r>
                <a:r>
                  <a:rPr lang="vi-VN"/>
                  <a:t>u_n</a:t>
                </a:r>
                <a:r>
                  <a:rPr sz="2400">
                    <a:solidFill>
                      <a:srgbClr val="1E293B"/>
                    </a:solidFill>
                    <a:latin typeface="Calibri"/>
                  </a:rPr>
                  <a:t> theo số hạng </a:t>
                </a:r>
                <a:r>
                  <a:rPr lang="vi-VN"/>
                  <a:t>u_(n−1)</a:t>
                </a:r>
                <a:r>
                  <a:rPr sz="2400">
                    <a:solidFill>
                      <a:srgbClr val="1E293B"/>
                    </a:solidFill>
                    <a:latin typeface="Calibri"/>
                  </a:rPr>
                  <a:t>.</a:t>
                </a:r>
              </a:p>
              <a:p>
                <a:pPr algn="l">
                  <a:spcAft>
                    <a:spcPts val="800"/>
                  </a:spcAft>
                </a:pPr>
                <a:r>
                  <a:rPr sz="2400" b="1">
                    <a:solidFill>
                      <a:srgbClr val="1E40AF"/>
                    </a:solidFill>
                    <a:latin typeface="Calibri"/>
                  </a:rPr>
                  <a:t>Gợi mở: Số lẻ sau hơn số lẻ trước bao nhiêu?</a:t>
                </a: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HĐ1: NHẬN BIẾT CẤP SỐ CỘNG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6</a:t>
            </a:r>
          </a:p>
        </p:txBody>
      </p:sp>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Năm số hạng đầu: 1, 3, 5, 7, 9</a:t>
            </a:r>
          </a:p>
          <a:p>
            <a:pPr algn="l" marL="365760" indent="-365760">
              <a:spcAft>
                <a:spcPts val="800"/>
              </a:spcAft>
              <a:buClr>
                <a:srgbClr val="1E40AF"/>
              </a:buClr>
              <a:buFont typeface="Arial"/>
              <a:buChar char="•"/>
            </a:pPr>
            <a:r>
              <a:rPr sz="2400">
                <a:solidFill>
                  <a:srgbClr val="1E293B"/>
                </a:solidFill>
                <a:latin typeface="Calibri"/>
              </a:rPr>
              <a:t>b) Mỗi số hạng hơn số hạng liền trước 2 đơn vị</a:t>
            </a:r>
          </a:p>
        </p:txBody>
      </p:sp>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+2</m:t>
                    </m:r>
                  </m:oMath>
                </a14:m>
                <a:r>
                  <a:rPr sz="2400" b="1">
                    <a:solidFill>
                      <a:srgbClr val="991B1B"/>
                    </a:solidFill>
                    <a:latin typeface="Calibri"/>
                  </a:rPr>
                  <a:t> </a:t>
                </a:r>
                <a14:m>
                  <m:oMath xmlns:m="http://schemas.openxmlformats.org/officeDocument/2006/math">
                    <m:d>
                      <m:dPr>
                        <m:sepChr m:val="≥"/>
                      </m:dPr>
                      <m:e>
                        <m:r>
                          <a:rPr lang="vi-VN" sz="2400" b="1">
                            <a:solidFill>
                              <a:srgbClr val="991B1B"/>
                            </a:solidFill>
                            <a:latin typeface="Cambria Math" panose="02040503050406030204" pitchFamily="18" charset="0"/>
                          </a:rPr>
                          <m:t>n</m:t>
                        </m:r>
                      </m:e>
                      <m:e>
                        <m:r>
                          <a:rPr lang="vi-VN" sz="2400" b="1">
                            <a:solidFill>
                              <a:srgbClr val="991B1B"/>
                            </a:solidFill>
                            <a:latin typeface="Cambria Math" panose="02040503050406030204" pitchFamily="18" charset="0"/>
                          </a:rPr>
                          <m:t>2</m:t>
                        </m:r>
                      </m:e>
                    </m:d>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u_n=u_{n-1}+2</a:t>
                </a:r>
                <a:r>
                  <a:rPr sz="2400" b="1">
                    <a:solidFill>
                      <a:srgbClr val="991B1B"/>
                    </a:solidFill>
                    <a:latin typeface="Calibri"/>
                  </a:rPr>
                  <a:t> </a:t>
                </a:r>
                <a:r>
                  <a:rPr lang="vi-VN"/>
                  <a:t>(n\ge 2)</a:t>
                </a: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CẤP SỐ CỘNG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7</a:t>
            </a:r>
          </a:p>
        </p:txBody>
      </p:sp>
      <p:sp>
        <p:nvSpPr>
          <p:cNvPr id="7" name="Rounded Rectangle 6"/>
          <p:cNvSpPr/>
          <p:nvPr/>
        </p:nvSpPr>
        <p:spPr>
          <a:xfrm>
            <a:off x="731520" y="1463040"/>
            <a:ext cx="9601200" cy="3017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3017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cộng</a:t>
                </a:r>
                <a:r>
                  <a:rPr sz="2400" b="1">
                    <a:solidFill>
                      <a:srgbClr val="991B1B"/>
                    </a:solidFill>
                    <a:latin typeface="Calibri"/>
                  </a:rPr>
                  <a:t> là một dãy số (hữu hạn hay vô hạn), trong đó kể từ số hạng thứ hai, mỗi số hạng đều bằng số hạng đứng ngay trước nó cộng với một số không đổi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d</m:t>
                    </m:r>
                  </m:oMath>
                </a14:m>
                <a:r>
                  <a:rPr sz="2400" b="1">
                    <a:solidFill>
                      <a:srgbClr val="991B1B"/>
                    </a:solidFill>
                    <a:latin typeface="Calibri"/>
                  </a:rPr>
                  <a: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d</m:t>
                    </m:r>
                  </m:oMath>
                </a14:m>
                <a:r>
                  <a:rPr sz="2400" b="1">
                    <a:solidFill>
                      <a:srgbClr val="991B1B"/>
                    </a:solidFill>
                    <a:latin typeface="Calibri"/>
                  </a:rPr>
                  <a:t> được gọi là </a:t>
                </a:r>
                <a:r>
                  <a:rPr sz="2400" b="1">
                    <a:solidFill>
                      <a:srgbClr val="991B1B"/>
                    </a:solidFill>
                    <a:latin typeface="Calibri"/>
                  </a:rPr>
                  <a:t>công sai</a:t>
                </a:r>
                <a:r>
                  <a:rPr sz="2400" b="1">
                    <a:solidFill>
                      <a:srgbClr val="991B1B"/>
                    </a:solidFill>
                    <a:latin typeface="Calibri"/>
                  </a:rPr>
                  <a:t> của cấp số cộng.</a:t>
                </a:r>
              </a:p>
              <a:p>
                <a:pPr algn="l">
                  <a:spcAft>
                    <a:spcPts val="400"/>
                  </a:spcAft>
                </a:pPr>
                <a:r>
                  <a:rPr sz="2400" b="1">
                    <a:solidFill>
                      <a:srgbClr val="991B1B"/>
                    </a:solidFill>
                    <a:latin typeface="Calibri"/>
                  </a:rPr>
                  <a:t>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với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d</m:t>
                    </m:r>
                  </m:oMath>
                </a14:m>
                <a:r>
                  <a:rPr sz="2400" b="1">
                    <a:solidFill>
                      <a:srgbClr val="991B1B"/>
                    </a:solidFill>
                    <a:latin typeface="Calibri"/>
                  </a:rPr>
                  <a:t> được cho bởi hệ thức truy hồi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+d</m:t>
                    </m:r>
                  </m:oMath>
                </a14:m>
                <a:r>
                  <a:rPr sz="2400" b="1">
                    <a:solidFill>
                      <a:srgbClr val="991B1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n≥2</m:t>
                    </m:r>
                  </m:oMath>
                </a14:m>
                <a:r>
                  <a:rPr sz="2400" b="1">
                    <a:solidFill>
                      <a:srgbClr val="991B1B"/>
                    </a:solidFill>
                    <a:latin typeface="Calibri"/>
                  </a:rPr>
                  <a:t>.</a:t>
                </a:r>
              </a:p>
            </p:txBody>
          </p:sp>
        </mc:Choice>
        <mc:Fallback>
          <p:sp>
            <p:nvSpPr>
              <p:cNvPr id="8" name="TextBox 7"/>
              <p:cNvSpPr txBox="1"/>
              <p:nvPr/>
            </p:nvSpPr>
            <p:spPr>
              <a:xfrm>
                <a:off x="914400" y="1463040"/>
                <a:ext cx="9235440" cy="3017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cộng</a:t>
                </a:r>
                <a:r>
                  <a:rPr sz="2400" b="1">
                    <a:solidFill>
                      <a:srgbClr val="991B1B"/>
                    </a:solidFill>
                    <a:latin typeface="Calibri"/>
                  </a:rPr>
                  <a:t> là một dãy số (hữu hạn hay vô hạn), trong đó kể từ số hạng thứ hai, mỗi số hạng đều bằng số hạng đứng ngay trước nó cộng với một số không đổi </a:t>
                </a:r>
                <a:r>
                  <a:rPr lang="vi-VN"/>
                  <a:t>d</a:t>
                </a:r>
                <a:r>
                  <a:rPr sz="2400" b="1">
                    <a:solidFill>
                      <a:srgbClr val="991B1B"/>
                    </a:solidFill>
                    <a:latin typeface="Calibri"/>
                  </a:rPr>
                  <a:t>. Số </a:t>
                </a:r>
                <a:r>
                  <a:rPr lang="vi-VN"/>
                  <a:t>d</a:t>
                </a:r>
                <a:r>
                  <a:rPr sz="2400" b="1">
                    <a:solidFill>
                      <a:srgbClr val="991B1B"/>
                    </a:solidFill>
                    <a:latin typeface="Calibri"/>
                  </a:rPr>
                  <a:t> được gọi là </a:t>
                </a:r>
                <a:r>
                  <a:rPr sz="2400" b="1">
                    <a:solidFill>
                      <a:srgbClr val="991B1B"/>
                    </a:solidFill>
                    <a:latin typeface="Calibri"/>
                  </a:rPr>
                  <a:t>công sai</a:t>
                </a:r>
                <a:r>
                  <a:rPr sz="2400" b="1">
                    <a:solidFill>
                      <a:srgbClr val="991B1B"/>
                    </a:solidFill>
                    <a:latin typeface="Calibri"/>
                  </a:rPr>
                  <a:t> của cấp số cộng.</a:t>
                </a:r>
              </a:p>
              <a:p>
                <a:pPr algn="l">
                  <a:spcAft>
                    <a:spcPts val="400"/>
                  </a:spcAft>
                </a:pPr>
                <a:r>
                  <a:rPr sz="2400" b="1">
                    <a:solidFill>
                      <a:srgbClr val="991B1B"/>
                    </a:solidFill>
                    <a:latin typeface="Calibri"/>
                  </a:rPr>
                  <a:t>Cấp số cộng </a:t>
                </a:r>
                <a:r>
                  <a:rPr lang="vi-VN"/>
                  <a:t>(u_n)</a:t>
                </a:r>
                <a:r>
                  <a:rPr sz="2400" b="1">
                    <a:solidFill>
                      <a:srgbClr val="991B1B"/>
                    </a:solidFill>
                    <a:latin typeface="Calibri"/>
                  </a:rPr>
                  <a:t> với công sai </a:t>
                </a:r>
                <a:r>
                  <a:rPr lang="vi-VN"/>
                  <a:t>d</a:t>
                </a:r>
                <a:r>
                  <a:rPr sz="2400" b="1">
                    <a:solidFill>
                      <a:srgbClr val="991B1B"/>
                    </a:solidFill>
                    <a:latin typeface="Calibri"/>
                  </a:rPr>
                  <a:t> được cho bởi hệ thức truy hồi </a:t>
                </a:r>
                <a:r>
                  <a:rPr lang="vi-VN"/>
                  <a:t>u_n=u_(n−1)+d</a:t>
                </a:r>
                <a:r>
                  <a:rPr sz="2400" b="1">
                    <a:solidFill>
                      <a:srgbClr val="991B1B"/>
                    </a:solidFill>
                    <a:latin typeface="Calibri"/>
                  </a:rPr>
                  <a:t> với </a:t>
                </a:r>
                <a:r>
                  <a:rPr lang="vi-VN"/>
                  <a:t>n≥2</a:t>
                </a:r>
                <a:r>
                  <a:rPr sz="2400" b="1">
                    <a:solidFill>
                      <a:srgbClr val="991B1B"/>
                    </a:solidFill>
                    <a:latin typeface="Calibri"/>
                  </a:rPr>
                  <a:t>.</a:t>
                </a: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HỎI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Dãy số không đổi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r>
                  <a:rPr sz="2400">
                    <a:solidFill>
                      <a:srgbClr val="1E293B"/>
                    </a:solidFill>
                    <a:latin typeface="Calibri"/>
                  </a:rPr>
                  <a:t> có phải là một cấp số cộng không?</a:t>
                </a:r>
              </a:p>
              <a:p>
                <a:pPr algn="l">
                  <a:spcAft>
                    <a:spcPts val="800"/>
                  </a:spcAft>
                </a:pPr>
                <a:r>
                  <a:rPr sz="2400" b="1">
                    <a:solidFill>
                      <a:srgbClr val="1E40AF"/>
                    </a:solidFill>
                    <a:latin typeface="Calibri"/>
                  </a:rPr>
                  <a:t>Gợi mở: Hiệu hai số hạng liên tiếp bằng bao nhiêu?</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Dãy số không đổi </a:t>
                </a:r>
                <a:r>
                  <a:rPr lang="vi-VN"/>
                  <a:t>a, a, a, …</a:t>
                </a:r>
                <a:r>
                  <a:rPr sz="2400">
                    <a:solidFill>
                      <a:srgbClr val="1E293B"/>
                    </a:solidFill>
                    <a:latin typeface="Calibri"/>
                  </a:rPr>
                  <a:t> có phải là một cấp số cộng không?</a:t>
                </a:r>
              </a:p>
              <a:p>
                <a:pPr algn="l">
                  <a:spcAft>
                    <a:spcPts val="800"/>
                  </a:spcAft>
                </a:pPr>
                <a:r>
                  <a:rPr sz="2400" b="1">
                    <a:solidFill>
                      <a:srgbClr val="1E40AF"/>
                    </a:solidFill>
                    <a:latin typeface="Calibri"/>
                  </a:rPr>
                  <a:t>Gợi mở: Hiệu hai số hạng liên tiếp bằng bao nhiêu?</a:t>
                </a: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HỎI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=a−a=0</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p>
              <a:p>
                <a:pPr algn="l" marL="365760" indent="-365760">
                  <a:spcAft>
                    <a:spcPts val="800"/>
                  </a:spcAft>
                  <a:buClr>
                    <a:srgbClr val="1E40AF"/>
                  </a:buClr>
                  <a:buFont typeface="Arial"/>
                  <a:buChar char="•"/>
                </a:pPr>
                <a:r>
                  <a:rPr sz="2400">
                    <a:solidFill>
                      <a:srgbClr val="1E293B"/>
                    </a:solidFill>
                    <a:latin typeface="Calibri"/>
                  </a:rPr>
                  <a:t>Nên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+0</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u_n-u_{n-1}=a-a=0</a:t>
                </a:r>
                <a:r>
                  <a:rPr sz="2400">
                    <a:solidFill>
                      <a:srgbClr val="1E293B"/>
                    </a:solidFill>
                    <a:latin typeface="Calibri"/>
                  </a:rPr>
                  <a:t> với mọi </a:t>
                </a:r>
                <a:r>
                  <a:rPr lang="vi-VN"/>
                  <a:t>n\ge 2</a:t>
                </a:r>
              </a:p>
              <a:p>
                <a:pPr algn="l" marL="365760" indent="-365760">
                  <a:spcAft>
                    <a:spcPts val="800"/>
                  </a:spcAft>
                  <a:buClr>
                    <a:srgbClr val="1E40AF"/>
                  </a:buClr>
                  <a:buFont typeface="Arial"/>
                  <a:buChar char="•"/>
                </a:pPr>
                <a:r>
                  <a:rPr sz="2400">
                    <a:solidFill>
                      <a:srgbClr val="1E293B"/>
                    </a:solidFill>
                    <a:latin typeface="Calibri"/>
                  </a:rPr>
                  <a:t>Nên </a:t>
                </a:r>
                <a:r>
                  <a:rPr lang="vi-VN"/>
                  <a:t>u_n=u_{n-1}+0</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Có: cấp số cộng với công sai </a:t>
                </a:r>
                <a14:m>
                  <m:oMath xmlns:m="http://schemas.openxmlformats.org/officeDocument/2006/math">
                    <m:r>
                      <a:rPr lang="vi-VN" sz="2400" b="1">
                        <a:solidFill>
                          <a:srgbClr val="991B1B"/>
                        </a:solidFill>
                        <a:latin typeface="Cambria Math" panose="02040503050406030204" pitchFamily="18" charset="0"/>
                      </a:rPr>
                      <m:t>d=0</m:t>
                    </m:r>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Có: cấp số cộng với công sai </a:t>
                </a:r>
                <a:r>
                  <a:rPr lang="vi-VN"/>
                  <a:t>d=0</a:t>
                </a: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có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m:t>
                    </m:r>
                  </m:oMath>
                </a14:m>
                <a:r>
                  <a:rPr sz="2400">
                    <a:solidFill>
                      <a:srgbClr val="1E293B"/>
                    </a:solidFill>
                    <a:latin typeface="Calibri"/>
                  </a:rPr>
                  <a:t> và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d=3</m:t>
                    </m:r>
                  </m:oMath>
                </a14:m>
                <a:r>
                  <a:rPr sz="2400">
                    <a:solidFill>
                      <a:srgbClr val="1E293B"/>
                    </a:solidFill>
                    <a:latin typeface="Calibri"/>
                  </a:rPr>
                  <a:t>. Hãy viết năm số hạng đầu của cấp số cộng này.</a:t>
                </a:r>
              </a:p>
              <a:p>
                <a:pPr algn="l">
                  <a:spcAft>
                    <a:spcPts val="800"/>
                  </a:spcAft>
                </a:pPr>
                <a:r>
                  <a:rPr sz="2400" b="1">
                    <a:solidFill>
                      <a:srgbClr val="1E40AF"/>
                    </a:solidFill>
                    <a:latin typeface="Calibri"/>
                  </a:rPr>
                  <a:t>Gợi mở: Cộng thêm công sai d = 3</a:t>
                </a:r>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cấp số cộng </a:t>
                </a:r>
                <a:r>
                  <a:rPr lang="vi-VN"/>
                  <a:t>(u_n)</a:t>
                </a:r>
                <a:r>
                  <a:rPr sz="2400">
                    <a:solidFill>
                      <a:srgbClr val="1E293B"/>
                    </a:solidFill>
                    <a:latin typeface="Calibri"/>
                  </a:rPr>
                  <a:t> có số hạng đầu </a:t>
                </a:r>
                <a:r>
                  <a:rPr lang="vi-VN"/>
                  <a:t>u_1=2</a:t>
                </a:r>
                <a:r>
                  <a:rPr sz="2400">
                    <a:solidFill>
                      <a:srgbClr val="1E293B"/>
                    </a:solidFill>
                    <a:latin typeface="Calibri"/>
                  </a:rPr>
                  <a:t> và công sai </a:t>
                </a:r>
                <a:r>
                  <a:rPr lang="vi-VN"/>
                  <a:t>d=3</a:t>
                </a:r>
                <a:r>
                  <a:rPr sz="2400">
                    <a:solidFill>
                      <a:srgbClr val="1E293B"/>
                    </a:solidFill>
                    <a:latin typeface="Calibri"/>
                  </a:rPr>
                  <a:t>. Hãy viết năm số hạng đầu của cấp số cộng này.</a:t>
                </a:r>
              </a:p>
              <a:p>
                <a:pPr algn="l">
                  <a:spcAft>
                    <a:spcPts val="800"/>
                  </a:spcAft>
                </a:pPr>
                <a:r>
                  <a:rPr sz="2400" b="1">
                    <a:solidFill>
                      <a:srgbClr val="1E40AF"/>
                    </a:solidFill>
                    <a:latin typeface="Calibri"/>
                  </a:rPr>
                  <a:t>Gợi mở: Cộng thêm công sai d = 3</a:t>
                </a: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+d=2+3=5</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+d=5+3=8</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+d=8+3=11</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+d=11+3=14</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u_1=2</a:t>
                </a:r>
              </a:p>
              <a:p>
                <a:pPr algn="l" marL="365760" indent="-365760">
                  <a:spcAft>
                    <a:spcPts val="800"/>
                  </a:spcAft>
                  <a:buClr>
                    <a:srgbClr val="1E40AF"/>
                  </a:buClr>
                  <a:buFont typeface="Arial"/>
                  <a:buChar char="•"/>
                </a:pPr>
                <a:r>
                  <a:rPr lang="vi-VN"/>
                  <a:t>u_2=u_1+d=2+3=5</a:t>
                </a:r>
                <a:r>
                  <a:rPr sz="2400">
                    <a:solidFill>
                      <a:srgbClr val="1E293B"/>
                    </a:solidFill>
                    <a:latin typeface="Calibri"/>
                  </a:rPr>
                  <a:t>;  </a:t>
                </a:r>
                <a:r>
                  <a:rPr lang="vi-VN"/>
                  <a:t>u_3=u_2+d=5+3=8</a:t>
                </a:r>
              </a:p>
              <a:p>
                <a:pPr algn="l" marL="365760" indent="-365760">
                  <a:spcAft>
                    <a:spcPts val="800"/>
                  </a:spcAft>
                  <a:buClr>
                    <a:srgbClr val="1E40AF"/>
                  </a:buClr>
                  <a:buFont typeface="Arial"/>
                  <a:buChar char="•"/>
                </a:pPr>
                <a:r>
                  <a:rPr lang="vi-VN"/>
                  <a:t>u_4=u_3+d=8+3=11</a:t>
                </a:r>
                <a:r>
                  <a:rPr sz="2400">
                    <a:solidFill>
                      <a:srgbClr val="1E293B"/>
                    </a:solidFill>
                    <a:latin typeface="Calibri"/>
                  </a:rPr>
                  <a:t>;  </a:t>
                </a:r>
                <a:r>
                  <a:rPr lang="vi-VN"/>
                  <a:t>u_5=u_4+d=11+3=14</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2, 5, 8, 11, 14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=5n−1</m:t>
                    </m:r>
                  </m:oMath>
                </a14:m>
                <a:r>
                  <a:rPr sz="2400">
                    <a:solidFill>
                      <a:srgbClr val="1E293B"/>
                    </a:solidFill>
                    <a:latin typeface="Calibri"/>
                  </a:rPr>
                  <a:t>.</a:t>
                </a:r>
              </a:p>
              <a:p>
                <a:pPr algn="l">
                  <a:spcAft>
                    <a:spcPts val="800"/>
                  </a:spcAft>
                </a:pPr>
                <a:r>
                  <a:rPr sz="2400">
                    <a:solidFill>
                      <a:srgbClr val="1E293B"/>
                    </a:solidFill>
                    <a:latin typeface="Calibri"/>
                  </a:rPr>
                  <a:t>Chứng minh rằng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là một cấp số cộng.</a:t>
                </a:r>
              </a:p>
              <a:p>
                <a:pPr algn="l">
                  <a:spcAft>
                    <a:spcPts val="800"/>
                  </a:spcAft>
                </a:pPr>
                <a:r>
                  <a:rPr sz="2400">
                    <a:solidFill>
                      <a:srgbClr val="1E293B"/>
                    </a:solidFill>
                    <a:latin typeface="Calibri"/>
                  </a:rPr>
                  <a:t>Tìm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d</m:t>
                    </m:r>
                  </m:oMath>
                </a14:m>
                <a:r>
                  <a:rPr sz="2400">
                    <a:solidFill>
                      <a:srgbClr val="1E293B"/>
                    </a:solidFill>
                    <a:latin typeface="Calibri"/>
                  </a:rPr>
                  <a:t> của nó.</a:t>
                </a:r>
              </a:p>
              <a:p>
                <a:pPr algn="l">
                  <a:spcAft>
                    <a:spcPts val="800"/>
                  </a:spcAft>
                </a:pPr>
                <a:r>
                  <a:rPr sz="2400" b="1">
                    <a:solidFill>
                      <a:srgbClr val="1E40AF"/>
                    </a:solidFill>
                    <a:latin typeface="Calibri"/>
                  </a:rPr>
                  <a:t>Gợi mở: Chứng minh hiệu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m:t>
                    </m:r>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n−1</m:t>
                        </m:r>
                      </m:sub>
                    </m:sSub>
                  </m:oMath>
                </a14:m>
                <a:r>
                  <a:rPr sz="2400" b="1">
                    <a:solidFill>
                      <a:srgbClr val="1E40AF"/>
                    </a:solidFill>
                    <a:latin typeface="Calibri"/>
                  </a:rPr>
                  <a:t> không đổi</a:t>
                </a:r>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r>
                  <a:rPr lang="vi-VN"/>
                  <a:t>(u_n)</a:t>
                </a:r>
                <a:r>
                  <a:rPr sz="2400">
                    <a:solidFill>
                      <a:srgbClr val="1E293B"/>
                    </a:solidFill>
                    <a:latin typeface="Calibri"/>
                  </a:rPr>
                  <a:t> với </a:t>
                </a:r>
                <a:r>
                  <a:rPr lang="vi-VN"/>
                  <a:t>u_n=5n−1</a:t>
                </a:r>
                <a:r>
                  <a:rPr sz="2400">
                    <a:solidFill>
                      <a:srgbClr val="1E293B"/>
                    </a:solidFill>
                    <a:latin typeface="Calibri"/>
                  </a:rPr>
                  <a:t>.</a:t>
                </a:r>
              </a:p>
              <a:p>
                <a:pPr algn="l">
                  <a:spcAft>
                    <a:spcPts val="800"/>
                  </a:spcAft>
                </a:pPr>
                <a:r>
                  <a:rPr sz="2400">
                    <a:solidFill>
                      <a:srgbClr val="1E293B"/>
                    </a:solidFill>
                    <a:latin typeface="Calibri"/>
                  </a:rPr>
                  <a:t>Chứng minh rằng </a:t>
                </a:r>
                <a:r>
                  <a:rPr lang="vi-VN"/>
                  <a:t>(u_n)</a:t>
                </a:r>
                <a:r>
                  <a:rPr sz="2400">
                    <a:solidFill>
                      <a:srgbClr val="1E293B"/>
                    </a:solidFill>
                    <a:latin typeface="Calibri"/>
                  </a:rPr>
                  <a:t> là một cấp số cộng.</a:t>
                </a:r>
              </a:p>
              <a:p>
                <a:pPr algn="l">
                  <a:spcAft>
                    <a:spcPts val="800"/>
                  </a:spcAft>
                </a:pPr>
                <a:r>
                  <a:rPr sz="2400">
                    <a:solidFill>
                      <a:srgbClr val="1E293B"/>
                    </a:solidFill>
                    <a:latin typeface="Calibri"/>
                  </a:rPr>
                  <a:t>Tìm số hạng đầu </a:t>
                </a:r>
                <a:r>
                  <a:rPr lang="vi-VN"/>
                  <a:t>u_1</a:t>
                </a:r>
                <a:r>
                  <a:rPr sz="2400">
                    <a:solidFill>
                      <a:srgbClr val="1E293B"/>
                    </a:solidFill>
                    <a:latin typeface="Calibri"/>
                  </a:rPr>
                  <a:t> và công sai </a:t>
                </a:r>
                <a:r>
                  <a:rPr lang="vi-VN"/>
                  <a:t>d</a:t>
                </a:r>
                <a:r>
                  <a:rPr sz="2400">
                    <a:solidFill>
                      <a:srgbClr val="1E293B"/>
                    </a:solidFill>
                    <a:latin typeface="Calibri"/>
                  </a:rPr>
                  <a:t> của nó.</a:t>
                </a:r>
              </a:p>
              <a:p>
                <a:pPr algn="l">
                  <a:spcAft>
                    <a:spcPts val="800"/>
                  </a:spcAft>
                </a:pPr>
                <a:r>
                  <a:rPr sz="2400" b="1">
                    <a:solidFill>
                      <a:srgbClr val="1E40AF"/>
                    </a:solidFill>
                    <a:latin typeface="Calibri"/>
                  </a:rPr>
                  <a:t>Gợi mở: Chứng minh hiệu </a:t>
                </a:r>
                <a:r>
                  <a:rPr lang="vi-VN"/>
                  <a:t>u_n-u_{n-1}</a:t>
                </a:r>
                <a:r>
                  <a:rPr sz="2400" b="1">
                    <a:solidFill>
                      <a:srgbClr val="1E40AF"/>
                    </a:solidFill>
                    <a:latin typeface="Calibri"/>
                  </a:rPr>
                  <a:t> không đổi</a:t>
                </a: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=(5n−1)−[5(n−1)−1]</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=5n−1−5n+6=5</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=5·1−1=4</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u_n-u_{n-1}=(5n-1)-[5(n-1)-1]</a:t>
                </a:r>
              </a:p>
              <a:p>
                <a:pPr algn="l" marL="365760" indent="-365760">
                  <a:spcAft>
                    <a:spcPts val="800"/>
                  </a:spcAft>
                  <a:buClr>
                    <a:srgbClr val="1E40AF"/>
                  </a:buClr>
                  <a:buFont typeface="Arial"/>
                  <a:buChar char="•"/>
                </a:pPr>
                <a:r>
                  <a:rPr lang="vi-VN"/>
                  <a:t>=5n-1-5n+6=5</a:t>
                </a:r>
                <a:r>
                  <a:rPr sz="2400">
                    <a:solidFill>
                      <a:srgbClr val="1E293B"/>
                    </a:solidFill>
                    <a:latin typeface="Calibri"/>
                  </a:rPr>
                  <a:t> với mọi </a:t>
                </a:r>
                <a:r>
                  <a:rPr lang="vi-VN"/>
                  <a:t>n\ge 2</a:t>
                </a:r>
              </a:p>
              <a:p>
                <a:pPr algn="l" marL="365760" indent="-365760">
                  <a:spcAft>
                    <a:spcPts val="800"/>
                  </a:spcAft>
                  <a:buClr>
                    <a:srgbClr val="1E40AF"/>
                  </a:buClr>
                  <a:buFont typeface="Arial"/>
                  <a:buChar char="•"/>
                </a:pPr>
                <a:r>
                  <a:rPr lang="vi-VN"/>
                  <a:t>u_1=5\cdot 1-1=4</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cộng: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=4</m:t>
                    </m:r>
                  </m:oMath>
                </a14:m>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d=5</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cộng: </a:t>
                </a:r>
                <a:r>
                  <a:rPr lang="vi-VN"/>
                  <a:t>u_1=4</a:t>
                </a:r>
                <a:r>
                  <a:rPr sz="2400" b="1">
                    <a:solidFill>
                      <a:srgbClr val="991B1B"/>
                    </a:solidFill>
                    <a:latin typeface="Calibri"/>
                  </a:rPr>
                  <a:t>, </a:t>
                </a:r>
                <a:r>
                  <a:rPr lang="vi-VN"/>
                  <a:t>d=5</a:t>
                </a: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=−2n+3</m:t>
                    </m:r>
                  </m:oMath>
                </a14:m>
                <a:r>
                  <a:rPr sz="2400">
                    <a:solidFill>
                      <a:srgbClr val="1E293B"/>
                    </a:solidFill>
                    <a:latin typeface="Calibri"/>
                  </a:rPr>
                  <a:t>.</a:t>
                </a:r>
              </a:p>
              <a:p>
                <a:pPr algn="l">
                  <a:spcAft>
                    <a:spcPts val="800"/>
                  </a:spcAft>
                </a:pPr>
                <a:r>
                  <a:rPr sz="2400">
                    <a:solidFill>
                      <a:srgbClr val="1E293B"/>
                    </a:solidFill>
                    <a:latin typeface="Calibri"/>
                  </a:rPr>
                  <a:t>Chứng minh rằng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là một cấp số cộng.</a:t>
                </a:r>
              </a:p>
              <a:p>
                <a:pPr algn="l">
                  <a:spcAft>
                    <a:spcPts val="800"/>
                  </a:spcAft>
                </a:pPr>
                <a:r>
                  <a:rPr sz="2400">
                    <a:solidFill>
                      <a:srgbClr val="1E293B"/>
                    </a:solidFill>
                    <a:latin typeface="Calibri"/>
                  </a:rPr>
                  <a:t>Xác định số hạng đầu và công sai của cấp số cộng này.</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r>
                  <a:rPr lang="vi-VN"/>
                  <a:t>(u_n)</a:t>
                </a:r>
                <a:r>
                  <a:rPr sz="2400">
                    <a:solidFill>
                      <a:srgbClr val="1E293B"/>
                    </a:solidFill>
                    <a:latin typeface="Calibri"/>
                  </a:rPr>
                  <a:t> với </a:t>
                </a:r>
                <a:r>
                  <a:rPr lang="vi-VN"/>
                  <a:t>u_n=−2n+3</a:t>
                </a:r>
                <a:r>
                  <a:rPr sz="2400">
                    <a:solidFill>
                      <a:srgbClr val="1E293B"/>
                    </a:solidFill>
                    <a:latin typeface="Calibri"/>
                  </a:rPr>
                  <a:t>.</a:t>
                </a:r>
              </a:p>
              <a:p>
                <a:pPr algn="l">
                  <a:spcAft>
                    <a:spcPts val="800"/>
                  </a:spcAft>
                </a:pPr>
                <a:r>
                  <a:rPr sz="2400">
                    <a:solidFill>
                      <a:srgbClr val="1E293B"/>
                    </a:solidFill>
                    <a:latin typeface="Calibri"/>
                  </a:rPr>
                  <a:t>Chứng minh rằng </a:t>
                </a:r>
                <a:r>
                  <a:rPr lang="vi-VN"/>
                  <a:t>(u_n)</a:t>
                </a:r>
                <a:r>
                  <a:rPr sz="2400">
                    <a:solidFill>
                      <a:srgbClr val="1E293B"/>
                    </a:solidFill>
                    <a:latin typeface="Calibri"/>
                  </a:rPr>
                  <a:t> là một cấp số cộng.</a:t>
                </a:r>
              </a:p>
              <a:p>
                <a:pPr algn="l">
                  <a:spcAft>
                    <a:spcPts val="800"/>
                  </a:spcAft>
                </a:pPr>
                <a:r>
                  <a:rPr sz="2400">
                    <a:solidFill>
                      <a:srgbClr val="1E293B"/>
                    </a:solidFill>
                    <a:latin typeface="Calibri"/>
                  </a:rPr>
                  <a:t>Xác định số hạng đầu và công sai của cấp số cộng này.</a:t>
                </a: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=(−2n+3)−[−2(n−1)+3]</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=−2n+3+2n−5=−2</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=−2·1+3=1</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u_n-u_{n-1}=(-2n+3)-[-2(n-1)+3]</a:t>
                </a:r>
              </a:p>
              <a:p>
                <a:pPr algn="l" marL="365760" indent="-365760">
                  <a:spcAft>
                    <a:spcPts val="800"/>
                  </a:spcAft>
                  <a:buClr>
                    <a:srgbClr val="1E40AF"/>
                  </a:buClr>
                  <a:buFont typeface="Arial"/>
                  <a:buChar char="•"/>
                </a:pPr>
                <a:r>
                  <a:rPr lang="vi-VN"/>
                  <a:t>=-2n+3+2n-5=-2</a:t>
                </a:r>
                <a:r>
                  <a:rPr sz="2400">
                    <a:solidFill>
                      <a:srgbClr val="1E293B"/>
                    </a:solidFill>
                    <a:latin typeface="Calibri"/>
                  </a:rPr>
                  <a:t> với mọi </a:t>
                </a:r>
                <a:r>
                  <a:rPr lang="vi-VN"/>
                  <a:t>n\ge 2</a:t>
                </a:r>
              </a:p>
              <a:p>
                <a:pPr algn="l" marL="365760" indent="-365760">
                  <a:spcAft>
                    <a:spcPts val="800"/>
                  </a:spcAft>
                  <a:buClr>
                    <a:srgbClr val="1E40AF"/>
                  </a:buClr>
                  <a:buFont typeface="Arial"/>
                  <a:buChar char="•"/>
                </a:pPr>
                <a:r>
                  <a:rPr lang="vi-VN"/>
                  <a:t>u_1=-2\cdot 1+3=1</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cộng: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=1</m:t>
                    </m:r>
                  </m:oMath>
                </a14:m>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d=−2</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cộng: </a:t>
                </a:r>
                <a:r>
                  <a:rPr lang="vi-VN"/>
                  <a:t>u_1=1</a:t>
                </a:r>
                <a:r>
                  <a:rPr sz="2400" b="1">
                    <a:solidFill>
                      <a:srgbClr val="991B1B"/>
                    </a:solidFill>
                    <a:latin typeface="Calibri"/>
                  </a:rPr>
                  <a:t>, </a:t>
                </a:r>
                <a:r>
                  <a:rPr lang="vi-VN"/>
                  <a:t>d=-2</a:t>
                </a: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2. SỐ HẠNG TỔNG QUÁT</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HĐ2: 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d</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Tính các số hạng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oMath>
                </a14:m>
                <a:r>
                  <a:rPr sz="24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d</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Dự đoán công thức tính số hạng tổng quát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d</m:t>
                    </m:r>
                  </m:oMath>
                </a14:m>
                <a:r>
                  <a:rPr sz="2400">
                    <a:solidFill>
                      <a:srgbClr val="1E293B"/>
                    </a:solidFill>
                    <a:latin typeface="Calibri"/>
                  </a:rPr>
                  <a:t>.</a:t>
                </a:r>
              </a:p>
              <a:p>
                <a:pPr algn="l">
                  <a:spcAft>
                    <a:spcPts val="800"/>
                  </a:spcAft>
                </a:pPr>
                <a:r>
                  <a:rPr sz="2400" b="1">
                    <a:solidFill>
                      <a:srgbClr val="1E40AF"/>
                    </a:solidFill>
                    <a:latin typeface="Calibri"/>
                  </a:rPr>
                  <a:t>Gợi mở: Mỗi bước cộng thêm một lần d</a:t>
                </a:r>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cấp số cộng </a:t>
                </a:r>
                <a:r>
                  <a:rPr lang="vi-VN"/>
                  <a:t>(u_n)</a:t>
                </a:r>
                <a:r>
                  <a:rPr sz="2400">
                    <a:solidFill>
                      <a:srgbClr val="1E293B"/>
                    </a:solidFill>
                    <a:latin typeface="Calibri"/>
                  </a:rPr>
                  <a:t> với số hạng đầu </a:t>
                </a:r>
                <a:r>
                  <a:rPr lang="vi-VN"/>
                  <a:t>u_1</a:t>
                </a:r>
                <a:r>
                  <a:rPr sz="2400">
                    <a:solidFill>
                      <a:srgbClr val="1E293B"/>
                    </a:solidFill>
                    <a:latin typeface="Calibri"/>
                  </a:rPr>
                  <a:t> và công sai </a:t>
                </a:r>
                <a:r>
                  <a:rPr lang="vi-VN"/>
                  <a:t>d</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Tính các số hạng </a:t>
                </a:r>
                <a:r>
                  <a:rPr lang="vi-VN"/>
                  <a:t>u_2</a:t>
                </a:r>
                <a:r>
                  <a:rPr sz="2400">
                    <a:solidFill>
                      <a:srgbClr val="1E293B"/>
                    </a:solidFill>
                    <a:latin typeface="Calibri"/>
                  </a:rPr>
                  <a:t>, </a:t>
                </a:r>
                <a:r>
                  <a:rPr lang="vi-VN"/>
                  <a:t>u_3</a:t>
                </a:r>
                <a:r>
                  <a:rPr sz="2400">
                    <a:solidFill>
                      <a:srgbClr val="1E293B"/>
                    </a:solidFill>
                    <a:latin typeface="Calibri"/>
                  </a:rPr>
                  <a:t>, </a:t>
                </a:r>
                <a:r>
                  <a:rPr lang="vi-VN"/>
                  <a:t>u_4</a:t>
                </a:r>
                <a:r>
                  <a:rPr sz="2400">
                    <a:solidFill>
                      <a:srgbClr val="1E293B"/>
                    </a:solidFill>
                    <a:latin typeface="Calibri"/>
                  </a:rPr>
                  <a:t>, </a:t>
                </a:r>
                <a:r>
                  <a:rPr lang="vi-VN"/>
                  <a:t>u_5</a:t>
                </a:r>
                <a:r>
                  <a:rPr sz="2400">
                    <a:solidFill>
                      <a:srgbClr val="1E293B"/>
                    </a:solidFill>
                    <a:latin typeface="Calibri"/>
                  </a:rPr>
                  <a:t> theo </a:t>
                </a:r>
                <a:r>
                  <a:rPr lang="vi-VN"/>
                  <a:t>u_1</a:t>
                </a:r>
                <a:r>
                  <a:rPr sz="2400">
                    <a:solidFill>
                      <a:srgbClr val="1E293B"/>
                    </a:solidFill>
                    <a:latin typeface="Calibri"/>
                  </a:rPr>
                  <a:t> và </a:t>
                </a:r>
                <a:r>
                  <a:rPr lang="vi-VN"/>
                  <a:t>d</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Dự đoán công thức tính số hạng tổng quát </a:t>
                </a:r>
                <a:r>
                  <a:rPr lang="vi-VN"/>
                  <a:t>u_n</a:t>
                </a:r>
                <a:r>
                  <a:rPr sz="2400">
                    <a:solidFill>
                      <a:srgbClr val="1E293B"/>
                    </a:solidFill>
                    <a:latin typeface="Calibri"/>
                  </a:rPr>
                  <a:t> theo </a:t>
                </a:r>
                <a:r>
                  <a:rPr lang="vi-VN"/>
                  <a:t>u_1</a:t>
                </a:r>
                <a:r>
                  <a:rPr sz="2400">
                    <a:solidFill>
                      <a:srgbClr val="1E293B"/>
                    </a:solidFill>
                    <a:latin typeface="Calibri"/>
                  </a:rPr>
                  <a:t> và </a:t>
                </a:r>
                <a:r>
                  <a:rPr lang="vi-VN"/>
                  <a:t>d</a:t>
                </a:r>
                <a:r>
                  <a:rPr sz="2400">
                    <a:solidFill>
                      <a:srgbClr val="1E293B"/>
                    </a:solidFill>
                    <a:latin typeface="Calibri"/>
                  </a:rPr>
                  <a:t>.</a:t>
                </a:r>
              </a:p>
              <a:p>
                <a:pPr algn="l">
                  <a:spcAft>
                    <a:spcPts val="800"/>
                  </a:spcAft>
                </a:pPr>
                <a:r>
                  <a:rPr sz="2400" b="1">
                    <a:solidFill>
                      <a:srgbClr val="1E40AF"/>
                    </a:solidFill>
                    <a:latin typeface="Calibri"/>
                  </a:rPr>
                  <a:t>Gợi mở: Mỗi bước cộng thêm một lần d</a:t>
                </a: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HĐ2: 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+d</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+d=</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+2d</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+3d</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+4d</m:t>
                    </m:r>
                  </m:oMath>
                </a14:m>
              </a:p>
              <a:p>
                <a:pPr algn="l" marL="365760" indent="-365760">
                  <a:spcAft>
                    <a:spcPts val="800"/>
                  </a:spcAft>
                  <a:buClr>
                    <a:srgbClr val="1E40AF"/>
                  </a:buClr>
                  <a:buFont typeface="Arial"/>
                  <a:buChar char="•"/>
                </a:pPr>
                <a:r>
                  <a:rPr sz="2400">
                    <a:solidFill>
                      <a:srgbClr val="1E293B"/>
                    </a:solidFill>
                    <a:latin typeface="Calibri"/>
                  </a:rPr>
                  <a:t>Số hạng thứ n: cộng </a:t>
                </a:r>
                <a14:m>
                  <m:oMath xmlns:m="http://schemas.openxmlformats.org/officeDocument/2006/math">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r>
                  <a:rPr sz="2400">
                    <a:solidFill>
                      <a:srgbClr val="1E293B"/>
                    </a:solidFill>
                    <a:latin typeface="Calibri"/>
                  </a:rPr>
                  <a:t> lần công sai</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u_2=u_1+d</a:t>
                </a:r>
                <a:r>
                  <a:rPr sz="2400">
                    <a:solidFill>
                      <a:srgbClr val="1E293B"/>
                    </a:solidFill>
                    <a:latin typeface="Calibri"/>
                  </a:rPr>
                  <a:t>;  </a:t>
                </a:r>
                <a:r>
                  <a:rPr lang="vi-VN"/>
                  <a:t>u_3=u_2+d=u_1+2d</a:t>
                </a:r>
              </a:p>
              <a:p>
                <a:pPr algn="l" marL="365760" indent="-365760">
                  <a:spcAft>
                    <a:spcPts val="800"/>
                  </a:spcAft>
                  <a:buClr>
                    <a:srgbClr val="1E40AF"/>
                  </a:buClr>
                  <a:buFont typeface="Arial"/>
                  <a:buChar char="•"/>
                </a:pPr>
                <a:r>
                  <a:rPr lang="vi-VN"/>
                  <a:t>u_4=u_1+3d</a:t>
                </a:r>
                <a:r>
                  <a:rPr sz="2400">
                    <a:solidFill>
                      <a:srgbClr val="1E293B"/>
                    </a:solidFill>
                    <a:latin typeface="Calibri"/>
                  </a:rPr>
                  <a:t>;  </a:t>
                </a:r>
                <a:r>
                  <a:rPr lang="vi-VN"/>
                  <a:t>u_5=u_1+4d</a:t>
                </a:r>
              </a:p>
              <a:p>
                <a:pPr algn="l" marL="365760" indent="-365760">
                  <a:spcAft>
                    <a:spcPts val="800"/>
                  </a:spcAft>
                  <a:buClr>
                    <a:srgbClr val="1E40AF"/>
                  </a:buClr>
                  <a:buFont typeface="Arial"/>
                  <a:buChar char="•"/>
                </a:pPr>
                <a:r>
                  <a:rPr sz="2400">
                    <a:solidFill>
                      <a:srgbClr val="1E293B"/>
                    </a:solidFill>
                    <a:latin typeface="Calibri"/>
                  </a:rPr>
                  <a:t>Số hạng thứ n: cộng </a:t>
                </a:r>
                <a:r>
                  <a:rPr lang="vi-VN"/>
                  <a:t>(n-1)</a:t>
                </a:r>
                <a:r>
                  <a:rPr sz="2400">
                    <a:solidFill>
                      <a:srgbClr val="1E293B"/>
                    </a:solidFill>
                    <a:latin typeface="Calibri"/>
                  </a:rPr>
                  <a:t> lần công sai</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+(n−1)d</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u_n=u_1+(n-1)d</a:t>
                </a: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19</a:t>
            </a:r>
          </a:p>
        </p:txBody>
      </p:sp>
      <p:sp>
        <p:nvSpPr>
          <p:cNvPr id="7" name="Rounded Rectangle 6"/>
          <p:cNvSpPr/>
          <p:nvPr/>
        </p:nvSpPr>
        <p:spPr>
          <a:xfrm>
            <a:off x="731520" y="1463040"/>
            <a:ext cx="9601200" cy="16459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16459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Nếu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có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oMath>
                </a14:m>
                <a:r>
                  <a:rPr sz="2400" b="1">
                    <a:solidFill>
                      <a:srgbClr val="991B1B"/>
                    </a:solidFill>
                    <a:latin typeface="Calibri"/>
                  </a:rPr>
                  <a:t> và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d</m:t>
                    </m:r>
                  </m:oMath>
                </a14:m>
                <a:r>
                  <a:rPr sz="2400" b="1">
                    <a:solidFill>
                      <a:srgbClr val="991B1B"/>
                    </a:solidFill>
                    <a:latin typeface="Calibri"/>
                  </a:rPr>
                  <a:t> thì </a:t>
                </a:r>
                <a:r>
                  <a:rPr sz="2400" b="1">
                    <a:solidFill>
                      <a:srgbClr val="991B1B"/>
                    </a:solidFill>
                    <a:latin typeface="Calibri"/>
                  </a:rPr>
                  <a:t>số hạng tổng quát</a:t>
                </a:r>
                <a:r>
                  <a:rPr sz="24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của nó được xác định theo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+(n−1)d</m:t>
                    </m:r>
                  </m:oMath>
                </a14:m>
                <a:r>
                  <a:rPr sz="2400" b="1">
                    <a:solidFill>
                      <a:srgbClr val="991B1B"/>
                    </a:solidFill>
                    <a:latin typeface="Calibri"/>
                  </a:rPr>
                  <a:t>.</a:t>
                </a:r>
              </a:p>
            </p:txBody>
          </p:sp>
        </mc:Choice>
        <mc:Fallback>
          <p:sp>
            <p:nvSpPr>
              <p:cNvPr id="8" name="TextBox 7"/>
              <p:cNvSpPr txBox="1"/>
              <p:nvPr/>
            </p:nvSpPr>
            <p:spPr>
              <a:xfrm>
                <a:off x="914400" y="1463040"/>
                <a:ext cx="9235440" cy="16459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Nếu cấp số cộng </a:t>
                </a:r>
                <a:r>
                  <a:rPr lang="vi-VN"/>
                  <a:t>(u_n)</a:t>
                </a:r>
                <a:r>
                  <a:rPr sz="2400" b="1">
                    <a:solidFill>
                      <a:srgbClr val="991B1B"/>
                    </a:solidFill>
                    <a:latin typeface="Calibri"/>
                  </a:rPr>
                  <a:t> có số hạng đầu </a:t>
                </a:r>
                <a:r>
                  <a:rPr lang="vi-VN"/>
                  <a:t>u_1</a:t>
                </a:r>
                <a:r>
                  <a:rPr sz="2400" b="1">
                    <a:solidFill>
                      <a:srgbClr val="991B1B"/>
                    </a:solidFill>
                    <a:latin typeface="Calibri"/>
                  </a:rPr>
                  <a:t> và công sai </a:t>
                </a:r>
                <a:r>
                  <a:rPr lang="vi-VN"/>
                  <a:t>d</a:t>
                </a:r>
                <a:r>
                  <a:rPr sz="2400" b="1">
                    <a:solidFill>
                      <a:srgbClr val="991B1B"/>
                    </a:solidFill>
                    <a:latin typeface="Calibri"/>
                  </a:rPr>
                  <a:t> thì </a:t>
                </a:r>
                <a:r>
                  <a:rPr sz="2400" b="1">
                    <a:solidFill>
                      <a:srgbClr val="991B1B"/>
                    </a:solidFill>
                    <a:latin typeface="Calibri"/>
                  </a:rPr>
                  <a:t>số hạng tổng quát</a:t>
                </a:r>
                <a:r>
                  <a:rPr sz="2400" b="1">
                    <a:solidFill>
                      <a:srgbClr val="991B1B"/>
                    </a:solidFill>
                    <a:latin typeface="Calibri"/>
                  </a:rPr>
                  <a:t> </a:t>
                </a:r>
                <a:r>
                  <a:rPr lang="vi-VN"/>
                  <a:t>u_n</a:t>
                </a:r>
                <a:r>
                  <a:rPr sz="2400" b="1">
                    <a:solidFill>
                      <a:srgbClr val="991B1B"/>
                    </a:solidFill>
                    <a:latin typeface="Calibri"/>
                  </a:rPr>
                  <a:t> của nó được xác định theo công thức </a:t>
                </a:r>
                <a:r>
                  <a:rPr lang="vi-VN"/>
                  <a:t>u_n=u_1+(n−1)d</a:t>
                </a:r>
                <a:r>
                  <a:rPr sz="2400" b="1">
                    <a:solidFill>
                      <a:srgbClr val="991B1B"/>
                    </a:solidFill>
                    <a:latin typeface="Calibri"/>
                  </a:rPr>
                  <a:t>.</a:t>
                </a:r>
              </a:p>
            </p:txBody>
          </p:sp>
        </mc:Fallback>
      </mc:AlternateContent>
      <p:pic>
        <p:nvPicPr>
          <p:cNvPr id="9" name="Picture 8" descr="img03.png"/>
          <p:cNvPicPr>
            <a:picLocks noChangeAspect="1"/>
          </p:cNvPicPr>
          <p:nvPr/>
        </p:nvPicPr>
        <p:blipFill>
          <a:blip r:embed="rId2"/>
          <a:stretch>
            <a:fillRect/>
          </a:stretch>
        </p:blipFill>
        <p:spPr>
          <a:xfrm>
            <a:off x="2759754" y="3246120"/>
            <a:ext cx="6642012" cy="30175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Tìm năm số hạng đầu và số hạng thứ 100 của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10,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a:p>
                <a:pPr algn="l">
                  <a:spcAft>
                    <a:spcPts val="800"/>
                  </a:spcAft>
                </a:pPr>
                <a:r>
                  <a:rPr sz="2400" b="1">
                    <a:solidFill>
                      <a:srgbClr val="1E40AF"/>
                    </a:solidFill>
                    <a:latin typeface="Calibri"/>
                  </a:rPr>
                  <a:t>Gợi mở: Tìm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oMath>
                </a14:m>
                <a:r>
                  <a:rPr sz="2400" b="1">
                    <a:solidFill>
                      <a:srgbClr val="1E40AF"/>
                    </a:solidFill>
                    <a:latin typeface="Calibri"/>
                  </a:rPr>
                  <a:t> và </a:t>
                </a:r>
                <a14:m>
                  <m:oMath xmlns:m="http://schemas.openxmlformats.org/officeDocument/2006/math">
                    <m:r>
                      <a:rPr lang="vi-VN" sz="2400" b="1">
                        <a:solidFill>
                          <a:srgbClr val="1E40AF"/>
                        </a:solidFill>
                        <a:latin typeface="Cambria Math" panose="02040503050406030204" pitchFamily="18" charset="0"/>
                      </a:rPr>
                      <m:t>d</m:t>
                    </m:r>
                  </m:oMath>
                </a14:m>
                <a:r>
                  <a:rPr sz="2400" b="1">
                    <a:solidFill>
                      <a:srgbClr val="1E40AF"/>
                    </a:solidFill>
                    <a:latin typeface="Calibri"/>
                  </a:rPr>
                  <a:t> trước</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Tìm năm số hạng đầu và số hạng thứ 100 của cấp số cộng </a:t>
                </a:r>
                <a:r>
                  <a:rPr lang="vi-VN"/>
                  <a:t>(u_n)</a:t>
                </a:r>
                <a:r>
                  <a:rPr sz="2400">
                    <a:solidFill>
                      <a:srgbClr val="1E293B"/>
                    </a:solidFill>
                    <a:latin typeface="Calibri"/>
                  </a:rPr>
                  <a:t>: </a:t>
                </a:r>
                <a:r>
                  <a:rPr lang="vi-VN"/>
                  <a:t>10, 5, …</a:t>
                </a:r>
              </a:p>
              <a:p>
                <a:pPr algn="l">
                  <a:spcAft>
                    <a:spcPts val="800"/>
                  </a:spcAft>
                </a:pPr>
                <a:r>
                  <a:rPr sz="2400" b="1">
                    <a:solidFill>
                      <a:srgbClr val="1E40AF"/>
                    </a:solidFill>
                    <a:latin typeface="Calibri"/>
                  </a:rPr>
                  <a:t>Gợi mở: Tìm </a:t>
                </a:r>
                <a:r>
                  <a:rPr lang="vi-VN"/>
                  <a:t>u_1</a:t>
                </a:r>
                <a:r>
                  <a:rPr sz="2400" b="1">
                    <a:solidFill>
                      <a:srgbClr val="1E40AF"/>
                    </a:solidFill>
                    <a:latin typeface="Calibri"/>
                  </a:rPr>
                  <a:t> và </a:t>
                </a:r>
                <a:r>
                  <a:rPr lang="vi-VN"/>
                  <a:t>d</a:t>
                </a:r>
                <a:r>
                  <a:rPr sz="2400" b="1">
                    <a:solidFill>
                      <a:srgbClr val="1E40AF"/>
                    </a:solidFill>
                    <a:latin typeface="Calibri"/>
                  </a:rPr>
                  <a:t> trước</a:t>
                </a: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d=5−10=−5</m:t>
                    </m:r>
                  </m:oMath>
                </a14:m>
              </a:p>
              <a:p>
                <a:pPr algn="l" marL="365760" indent="-365760">
                  <a:spcAft>
                    <a:spcPts val="800"/>
                  </a:spcAft>
                  <a:buClr>
                    <a:srgbClr val="1E40AF"/>
                  </a:buClr>
                  <a:buFont typeface="Arial"/>
                  <a:buChar char="•"/>
                </a:pPr>
                <a:r>
                  <a:rPr sz="2400">
                    <a:solidFill>
                      <a:srgbClr val="1E293B"/>
                    </a:solidFill>
                    <a:latin typeface="Calibri"/>
                  </a:rPr>
                  <a:t>Năm số hạng đầu: 10, 5, 0, −5, −10</a:t>
                </a:r>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+(100−1)d=10+99·(−5)</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u_1=10</a:t>
                </a:r>
                <a:r>
                  <a:rPr sz="2400">
                    <a:solidFill>
                      <a:srgbClr val="1E293B"/>
                    </a:solidFill>
                    <a:latin typeface="Calibri"/>
                  </a:rPr>
                  <a:t>, </a:t>
                </a:r>
                <a:r>
                  <a:rPr lang="vi-VN"/>
                  <a:t>d=5-10=-5</a:t>
                </a:r>
              </a:p>
              <a:p>
                <a:pPr algn="l" marL="365760" indent="-365760">
                  <a:spcAft>
                    <a:spcPts val="800"/>
                  </a:spcAft>
                  <a:buClr>
                    <a:srgbClr val="1E40AF"/>
                  </a:buClr>
                  <a:buFont typeface="Arial"/>
                  <a:buChar char="•"/>
                </a:pPr>
                <a:r>
                  <a:rPr sz="2400">
                    <a:solidFill>
                      <a:srgbClr val="1E293B"/>
                    </a:solidFill>
                    <a:latin typeface="Calibri"/>
                  </a:rPr>
                  <a:t>Năm số hạng đầu: 10, 5, 0, −5, −10</a:t>
                </a:r>
              </a:p>
              <a:p>
                <a:pPr algn="l" marL="365760" indent="-365760">
                  <a:spcAft>
                    <a:spcPts val="800"/>
                  </a:spcAft>
                  <a:buClr>
                    <a:srgbClr val="1E40AF"/>
                  </a:buClr>
                  <a:buFont typeface="Arial"/>
                  <a:buChar char="•"/>
                </a:pPr>
                <a:r>
                  <a:rPr lang="vi-VN"/>
                  <a:t>u_{100}=u_1+(100-1)d=10+99\cdot(-5)</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=−485</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u_{100}=-485</a:t>
                </a: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Số hạng thứ 10 của một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bằng 48 và số hạng thứ 18 bằng 88. Tìm số hạng thứ 100 của cấp số cộng đó.</a:t>
                </a:r>
              </a:p>
              <a:p>
                <a:pPr algn="l">
                  <a:spcAft>
                    <a:spcPts val="800"/>
                  </a:spcAft>
                </a:pPr>
                <a:r>
                  <a:rPr sz="2400" b="1">
                    <a:solidFill>
                      <a:srgbClr val="1E40AF"/>
                    </a:solidFill>
                    <a:latin typeface="Calibri"/>
                  </a:rPr>
                  <a:t>Gợi mở: Lập hệ hai phương trình theo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oMath>
                </a14:m>
                <a:r>
                  <a:rPr sz="2400" b="1">
                    <a:solidFill>
                      <a:srgbClr val="1E40AF"/>
                    </a:solidFill>
                    <a:latin typeface="Calibri"/>
                  </a:rPr>
                  <a:t> và </a:t>
                </a:r>
                <a14:m>
                  <m:oMath xmlns:m="http://schemas.openxmlformats.org/officeDocument/2006/math">
                    <m:r>
                      <a:rPr lang="vi-VN" sz="2400" b="1">
                        <a:solidFill>
                          <a:srgbClr val="1E40AF"/>
                        </a:solidFill>
                        <a:latin typeface="Cambria Math" panose="02040503050406030204" pitchFamily="18" charset="0"/>
                      </a:rPr>
                      <m:t>d</m:t>
                    </m:r>
                  </m:oMath>
                </a14:m>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Số hạng thứ 10 của một cấp số cộng </a:t>
                </a:r>
                <a:r>
                  <a:rPr lang="vi-VN"/>
                  <a:t>(u_n)</a:t>
                </a:r>
                <a:r>
                  <a:rPr sz="2400">
                    <a:solidFill>
                      <a:srgbClr val="1E293B"/>
                    </a:solidFill>
                    <a:latin typeface="Calibri"/>
                  </a:rPr>
                  <a:t> bằng 48 và số hạng thứ 18 bằng 88. Tìm số hạng thứ 100 của cấp số cộng đó.</a:t>
                </a:r>
              </a:p>
              <a:p>
                <a:pPr algn="l">
                  <a:spcAft>
                    <a:spcPts val="800"/>
                  </a:spcAft>
                </a:pPr>
                <a:r>
                  <a:rPr sz="2400" b="1">
                    <a:solidFill>
                      <a:srgbClr val="1E40AF"/>
                    </a:solidFill>
                    <a:latin typeface="Calibri"/>
                  </a:rPr>
                  <a:t>Gợi mở: Lập hệ hai phương trình theo </a:t>
                </a:r>
                <a:r>
                  <a:rPr lang="vi-VN"/>
                  <a:t>u_1</a:t>
                </a:r>
                <a:r>
                  <a:rPr sz="2400" b="1">
                    <a:solidFill>
                      <a:srgbClr val="1E40AF"/>
                    </a:solidFill>
                    <a:latin typeface="Calibri"/>
                  </a:rPr>
                  <a:t> và </a:t>
                </a:r>
                <a:r>
                  <a:rPr lang="vi-VN"/>
                  <a:t>d</a:t>
                </a: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+9d=48</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18</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+17d=88</m:t>
                    </m:r>
                  </m:oMath>
                </a14:m>
              </a:p>
              <a:p>
                <a:pPr algn="l" marL="365760" indent="-365760">
                  <a:spcAft>
                    <a:spcPts val="800"/>
                  </a:spcAft>
                  <a:buClr>
                    <a:srgbClr val="1E40AF"/>
                  </a:buClr>
                  <a:buFont typeface="Arial"/>
                  <a:buChar char="•"/>
                </a:pPr>
                <a:r>
                  <a:rPr sz="2400">
                    <a:solidFill>
                      <a:srgbClr val="1E293B"/>
                    </a:solidFill>
                    <a:latin typeface="Calibri"/>
                  </a:rPr>
                  <a:t>Trừ vế: </a:t>
                </a:r>
                <a14:m>
                  <m:oMath xmlns:m="http://schemas.openxmlformats.org/officeDocument/2006/math">
                    <m:r>
                      <a:rPr lang="vi-VN" sz="2400" b="0">
                        <a:solidFill>
                          <a:srgbClr val="1E293B"/>
                        </a:solidFill>
                        <a:latin typeface="Cambria Math" panose="02040503050406030204" pitchFamily="18" charset="0"/>
                      </a:rPr>
                      <m:t>8d=40⇒d=5</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=48−45=3</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+99d=3+99·5</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u_{10}=u_1+9d=48</a:t>
                </a:r>
                <a:r>
                  <a:rPr sz="2400">
                    <a:solidFill>
                      <a:srgbClr val="1E293B"/>
                    </a:solidFill>
                    <a:latin typeface="Calibri"/>
                  </a:rPr>
                  <a:t>;  </a:t>
                </a:r>
                <a:r>
                  <a:rPr lang="vi-VN"/>
                  <a:t>u_{18}=u_1+17d=88</a:t>
                </a:r>
              </a:p>
              <a:p>
                <a:pPr algn="l" marL="365760" indent="-365760">
                  <a:spcAft>
                    <a:spcPts val="800"/>
                  </a:spcAft>
                  <a:buClr>
                    <a:srgbClr val="1E40AF"/>
                  </a:buClr>
                  <a:buFont typeface="Arial"/>
                  <a:buChar char="•"/>
                </a:pPr>
                <a:r>
                  <a:rPr sz="2400">
                    <a:solidFill>
                      <a:srgbClr val="1E293B"/>
                    </a:solidFill>
                    <a:latin typeface="Calibri"/>
                  </a:rPr>
                  <a:t>Trừ vế: </a:t>
                </a:r>
                <a:r>
                  <a:rPr lang="vi-VN"/>
                  <a:t>8d=40\Rightarrow d=5</a:t>
                </a:r>
                <a:r>
                  <a:rPr sz="2400">
                    <a:solidFill>
                      <a:srgbClr val="1E293B"/>
                    </a:solidFill>
                    <a:latin typeface="Calibri"/>
                  </a:rPr>
                  <a:t>;  </a:t>
                </a:r>
                <a:r>
                  <a:rPr lang="vi-VN"/>
                  <a:t>u_1=48-45=3</a:t>
                </a:r>
              </a:p>
              <a:p>
                <a:pPr algn="l" marL="365760" indent="-365760">
                  <a:spcAft>
                    <a:spcPts val="800"/>
                  </a:spcAft>
                  <a:buClr>
                    <a:srgbClr val="1E40AF"/>
                  </a:buClr>
                  <a:buFont typeface="Arial"/>
                  <a:buChar char="•"/>
                </a:pPr>
                <a:r>
                  <a:rPr lang="vi-VN"/>
                  <a:t>u_{100}=u_1+99d=3+99\cdot 5</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=498</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u_{100}=498</a:t>
                </a: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=4n−3</m:t>
                    </m:r>
                  </m:oMath>
                </a14:m>
                <a:r>
                  <a:rPr sz="2400">
                    <a:solidFill>
                      <a:srgbClr val="1E293B"/>
                    </a:solidFill>
                    <a:latin typeface="Calibri"/>
                  </a:rPr>
                  <a:t>.</a:t>
                </a:r>
              </a:p>
              <a:p>
                <a:pPr algn="l">
                  <a:spcAft>
                    <a:spcPts val="800"/>
                  </a:spcAft>
                </a:pPr>
                <a:r>
                  <a:rPr sz="2400">
                    <a:solidFill>
                      <a:srgbClr val="1E293B"/>
                    </a:solidFill>
                    <a:latin typeface="Calibri"/>
                  </a:rPr>
                  <a:t>Chứng minh rằng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là một cấp số cộng.</a:t>
                </a:r>
              </a:p>
              <a:p>
                <a:pPr algn="l">
                  <a:spcAft>
                    <a:spcPts val="800"/>
                  </a:spcAft>
                </a:pPr>
                <a:r>
                  <a:rPr sz="2400">
                    <a:solidFill>
                      <a:srgbClr val="1E293B"/>
                    </a:solidFill>
                    <a:latin typeface="Calibri"/>
                  </a:rPr>
                  <a:t>Xác định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d</m:t>
                    </m:r>
                  </m:oMath>
                </a14:m>
                <a:r>
                  <a:rPr sz="2400">
                    <a:solidFill>
                      <a:srgbClr val="1E293B"/>
                    </a:solidFill>
                    <a:latin typeface="Calibri"/>
                  </a:rPr>
                  <a:t> của cấp số cộng này.</a:t>
                </a:r>
              </a:p>
              <a:p>
                <a:pPr algn="l">
                  <a:spcAft>
                    <a:spcPts val="800"/>
                  </a:spcAft>
                </a:pPr>
                <a:r>
                  <a:rPr sz="2400">
                    <a:solidFill>
                      <a:srgbClr val="1E293B"/>
                    </a:solidFill>
                    <a:latin typeface="Calibri"/>
                  </a:rPr>
                  <a:t>Từ đó viết số hạng tổng quát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dưới dạng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+(n−1)d</m:t>
                    </m:r>
                  </m:oMath>
                </a14:m>
                <a:r>
                  <a:rPr sz="2400">
                    <a:solidFill>
                      <a:srgbClr val="1E293B"/>
                    </a:solidFill>
                    <a:latin typeface="Calibri"/>
                  </a:rPr>
                  <a:t>.</a:t>
                </a:r>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r>
                  <a:rPr lang="vi-VN"/>
                  <a:t>(u_n)</a:t>
                </a:r>
                <a:r>
                  <a:rPr sz="2400">
                    <a:solidFill>
                      <a:srgbClr val="1E293B"/>
                    </a:solidFill>
                    <a:latin typeface="Calibri"/>
                  </a:rPr>
                  <a:t> với </a:t>
                </a:r>
                <a:r>
                  <a:rPr lang="vi-VN"/>
                  <a:t>u_n=4n−3</a:t>
                </a:r>
                <a:r>
                  <a:rPr sz="2400">
                    <a:solidFill>
                      <a:srgbClr val="1E293B"/>
                    </a:solidFill>
                    <a:latin typeface="Calibri"/>
                  </a:rPr>
                  <a:t>.</a:t>
                </a:r>
              </a:p>
              <a:p>
                <a:pPr algn="l">
                  <a:spcAft>
                    <a:spcPts val="800"/>
                  </a:spcAft>
                </a:pPr>
                <a:r>
                  <a:rPr sz="2400">
                    <a:solidFill>
                      <a:srgbClr val="1E293B"/>
                    </a:solidFill>
                    <a:latin typeface="Calibri"/>
                  </a:rPr>
                  <a:t>Chứng minh rằng </a:t>
                </a:r>
                <a:r>
                  <a:rPr lang="vi-VN"/>
                  <a:t>(u_n)</a:t>
                </a:r>
                <a:r>
                  <a:rPr sz="2400">
                    <a:solidFill>
                      <a:srgbClr val="1E293B"/>
                    </a:solidFill>
                    <a:latin typeface="Calibri"/>
                  </a:rPr>
                  <a:t> là một cấp số cộng.</a:t>
                </a:r>
              </a:p>
              <a:p>
                <a:pPr algn="l">
                  <a:spcAft>
                    <a:spcPts val="800"/>
                  </a:spcAft>
                </a:pPr>
                <a:r>
                  <a:rPr sz="2400">
                    <a:solidFill>
                      <a:srgbClr val="1E293B"/>
                    </a:solidFill>
                    <a:latin typeface="Calibri"/>
                  </a:rPr>
                  <a:t>Xác định số hạng đầu </a:t>
                </a:r>
                <a:r>
                  <a:rPr lang="vi-VN"/>
                  <a:t>u_1</a:t>
                </a:r>
                <a:r>
                  <a:rPr sz="2400">
                    <a:solidFill>
                      <a:srgbClr val="1E293B"/>
                    </a:solidFill>
                    <a:latin typeface="Calibri"/>
                  </a:rPr>
                  <a:t> và công sai </a:t>
                </a:r>
                <a:r>
                  <a:rPr lang="vi-VN"/>
                  <a:t>d</a:t>
                </a:r>
                <a:r>
                  <a:rPr sz="2400">
                    <a:solidFill>
                      <a:srgbClr val="1E293B"/>
                    </a:solidFill>
                    <a:latin typeface="Calibri"/>
                  </a:rPr>
                  <a:t> của cấp số cộng này.</a:t>
                </a:r>
              </a:p>
              <a:p>
                <a:pPr algn="l">
                  <a:spcAft>
                    <a:spcPts val="800"/>
                  </a:spcAft>
                </a:pPr>
                <a:r>
                  <a:rPr sz="2400">
                    <a:solidFill>
                      <a:srgbClr val="1E293B"/>
                    </a:solidFill>
                    <a:latin typeface="Calibri"/>
                  </a:rPr>
                  <a:t>Từ đó viết số hạng tổng quát </a:t>
                </a:r>
                <a:r>
                  <a:rPr lang="vi-VN"/>
                  <a:t>u_n</a:t>
                </a:r>
                <a:r>
                  <a:rPr sz="2400">
                    <a:solidFill>
                      <a:srgbClr val="1E293B"/>
                    </a:solidFill>
                    <a:latin typeface="Calibri"/>
                  </a:rPr>
                  <a:t> dưới dạng </a:t>
                </a:r>
                <a:r>
                  <a:rPr lang="vi-VN"/>
                  <a:t>u_n=u_1+(n−1)d</a:t>
                </a:r>
                <a:r>
                  <a:rPr sz="2400">
                    <a:solidFill>
                      <a:srgbClr val="1E293B"/>
                    </a:solidFill>
                    <a:latin typeface="Calibri"/>
                  </a:rPr>
                  <a:t>.</a:t>
                </a: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=(4n−3)−[4(n−1)−3]=4</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p>
              <a:p>
                <a:pPr algn="l" marL="365760" indent="-365760">
                  <a:spcAft>
                    <a:spcPts val="800"/>
                  </a:spcAft>
                  <a:buClr>
                    <a:srgbClr val="1E40AF"/>
                  </a:buClr>
                  <a:buFont typeface="Arial"/>
                  <a:buChar char="•"/>
                </a:pPr>
                <a:r>
                  <a:rPr sz="2400">
                    <a:solidFill>
                      <a:srgbClr val="1E293B"/>
                    </a:solidFill>
                    <a:latin typeface="Calibri"/>
                  </a:rPr>
                  <a:t>Nên </a:t>
                </a:r>
                <a14:m>
                  <m:oMath xmlns:m="http://schemas.openxmlformats.org/officeDocument/2006/math">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là cấp số cộng;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=4·1−3=1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d=4</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u_n-u_{n-1}=(4n-3)-[4(n-1)-3]=4</a:t>
                </a:r>
                <a:r>
                  <a:rPr sz="2400">
                    <a:solidFill>
                      <a:srgbClr val="1E293B"/>
                    </a:solidFill>
                    <a:latin typeface="Calibri"/>
                  </a:rPr>
                  <a:t> với mọi </a:t>
                </a:r>
                <a:r>
                  <a:rPr lang="vi-VN"/>
                  <a:t>n\ge 2</a:t>
                </a:r>
              </a:p>
              <a:p>
                <a:pPr algn="l" marL="365760" indent="-365760">
                  <a:spcAft>
                    <a:spcPts val="800"/>
                  </a:spcAft>
                  <a:buClr>
                    <a:srgbClr val="1E40AF"/>
                  </a:buClr>
                  <a:buFont typeface="Arial"/>
                  <a:buChar char="•"/>
                </a:pPr>
                <a:r>
                  <a:rPr sz="2400">
                    <a:solidFill>
                      <a:srgbClr val="1E293B"/>
                    </a:solidFill>
                    <a:latin typeface="Calibri"/>
                  </a:rPr>
                  <a:t>Nên </a:t>
                </a:r>
                <a:r>
                  <a:rPr lang="vi-VN"/>
                  <a:t>(u_n)</a:t>
                </a:r>
                <a:r>
                  <a:rPr sz="2400">
                    <a:solidFill>
                      <a:srgbClr val="1E293B"/>
                    </a:solidFill>
                    <a:latin typeface="Calibri"/>
                  </a:rPr>
                  <a:t> là cấp số cộng; </a:t>
                </a:r>
                <a:r>
                  <a:rPr lang="vi-VN"/>
                  <a:t>u_1=4\cdot 1-3=1</a:t>
                </a:r>
                <a:r>
                  <a:rPr sz="2400">
                    <a:solidFill>
                      <a:srgbClr val="1E293B"/>
                    </a:solidFill>
                    <a:latin typeface="Calibri"/>
                  </a:rPr>
                  <a:t>, </a:t>
                </a:r>
                <a:r>
                  <a:rPr lang="vi-VN"/>
                  <a:t>d=4</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=1+(n−1)·4</m:t>
                    </m:r>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u_n=1+(n-1)\cdot 4</a:t>
                </a: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HỎI KHẮC SÂU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Vì sao các điểm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của một cấp số cộng nằm trên một đường thẳng? (Quan sát biểu đồ số ghế từng hàng.)</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Vì sao các điểm </a:t>
                </a:r>
                <a:r>
                  <a:rPr lang="vi-VN"/>
                  <a:t>(n;u_n)</a:t>
                </a:r>
                <a:r>
                  <a:rPr sz="2400">
                    <a:solidFill>
                      <a:srgbClr val="1E293B"/>
                    </a:solidFill>
                    <a:latin typeface="Calibri"/>
                  </a:rPr>
                  <a:t> của một cấp số cộng nằm trên một đường thẳng? (Quan sát biểu đồ số ghế từng hàng.)</a:t>
                </a:r>
              </a:p>
            </p:txBody>
          </p:sp>
        </mc:Fallback>
      </mc:AlternateContent>
      <p:pic>
        <p:nvPicPr>
          <p:cNvPr id="8" name="Picture 7" descr="img03.png"/>
          <p:cNvPicPr>
            <a:picLocks noChangeAspect="1"/>
          </p:cNvPicPr>
          <p:nvPr/>
        </p:nvPicPr>
        <p:blipFill>
          <a:blip r:embed="rId2"/>
          <a:stretch>
            <a:fillRect/>
          </a:stretch>
        </p:blipFill>
        <p:spPr>
          <a:xfrm>
            <a:off x="1941243" y="2502408"/>
            <a:ext cx="8279033" cy="3761231"/>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HỎI KHẮC SÂU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+(n−1)d=dn+(</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−d)</m:t>
                    </m:r>
                  </m:oMath>
                </a14:m>
              </a:p>
              <a:p>
                <a:pPr algn="l" marL="365760" indent="-365760">
                  <a:spcAft>
                    <a:spcPts val="800"/>
                  </a:spcAft>
                  <a:buClr>
                    <a:srgbClr val="1E40AF"/>
                  </a:buClr>
                  <a:buFont typeface="Arial"/>
                  <a:buChar char="•"/>
                </a:pPr>
                <a:r>
                  <a:rPr sz="2400">
                    <a:solidFill>
                      <a:srgbClr val="1E293B"/>
                    </a:solidFill>
                    <a:latin typeface="Calibri"/>
                  </a:rPr>
                  <a:t>Đây là hàm số bậc nhất của n (khi </a:t>
                </a:r>
                <a14:m>
                  <m:oMath xmlns:m="http://schemas.openxmlformats.org/officeDocument/2006/math">
                    <m:r>
                      <a:rPr lang="vi-VN" sz="2400" b="0">
                        <a:solidFill>
                          <a:srgbClr val="1E293B"/>
                        </a:solidFill>
                        <a:latin typeface="Cambria Math" panose="02040503050406030204" pitchFamily="18" charset="0"/>
                      </a:rPr>
                      <m:t>d≠0</m:t>
                    </m:r>
                  </m:oMath>
                </a14:m>
                <a:r>
                  <a:rPr sz="2400">
                    <a:solidFill>
                      <a:srgbClr val="1E293B"/>
                    </a:solidFill>
                    <a:latin typeface="Calibri"/>
                  </a:rPr>
                  <a:t>)</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u_n=u_1+(n-1)d=dn+(u_1-d)</a:t>
                </a:r>
              </a:p>
              <a:p>
                <a:pPr algn="l" marL="365760" indent="-365760">
                  <a:spcAft>
                    <a:spcPts val="800"/>
                  </a:spcAft>
                  <a:buClr>
                    <a:srgbClr val="1E40AF"/>
                  </a:buClr>
                  <a:buFont typeface="Arial"/>
                  <a:buChar char="•"/>
                </a:pPr>
                <a:r>
                  <a:rPr sz="2400">
                    <a:solidFill>
                      <a:srgbClr val="1E293B"/>
                    </a:solidFill>
                    <a:latin typeface="Calibri"/>
                  </a:rPr>
                  <a:t>Đây là hàm số bậc nhất của n (khi </a:t>
                </a:r>
                <a:r>
                  <a:rPr lang="vi-VN"/>
                  <a:t>d\ne 0</a:t>
                </a:r>
                <a:r>
                  <a:rPr sz="2400">
                    <a:solidFill>
                      <a:srgbClr val="1E293B"/>
                    </a:solidFill>
                    <a:latin typeface="Calibri"/>
                  </a:rPr>
                  <a:t>)</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Các điểm </a:t>
                </a:r>
                <a14:m>
                  <m:oMath xmlns:m="http://schemas.openxmlformats.org/officeDocument/2006/math">
                    <m:d>
                      <m:dPr>
                        <m:sepChr m:val=""/>
                      </m:dPr>
                      <m:e>
                        <m:r>
                          <a:rPr lang="vi-VN" sz="2400" b="1">
                            <a:solidFill>
                              <a:srgbClr val="991B1B"/>
                            </a:solidFill>
                            <a:latin typeface="Cambria Math" panose="02040503050406030204" pitchFamily="18" charset="0"/>
                          </a:rPr>
                          <m:t>n</m:t>
                        </m:r>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nằm trên đường thẳng </a:t>
                </a:r>
                <a14:m>
                  <m:oMath xmlns:m="http://schemas.openxmlformats.org/officeDocument/2006/math">
                    <m:r>
                      <a:rPr lang="vi-VN" sz="2400" b="1">
                        <a:solidFill>
                          <a:srgbClr val="991B1B"/>
                        </a:solidFill>
                        <a:latin typeface="Cambria Math" panose="02040503050406030204" pitchFamily="18" charset="0"/>
                      </a:rPr>
                      <m:t>y=dx+(</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−d)</m:t>
                    </m:r>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Các điểm </a:t>
                </a:r>
                <a:r>
                  <a:rPr lang="vi-VN"/>
                  <a:t>(n;u_n)</a:t>
                </a:r>
                <a:r>
                  <a:rPr sz="2400" b="1">
                    <a:solidFill>
                      <a:srgbClr val="991B1B"/>
                    </a:solidFill>
                    <a:latin typeface="Calibri"/>
                  </a:rPr>
                  <a:t> nằm trên đường thẳng </a:t>
                </a:r>
                <a:r>
                  <a:rPr lang="vi-VN"/>
                  <a:t>y=dx+(u_1-d)</a:t>
                </a: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3. TỔNG n SỐ HẠNG ĐẦU</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(T14)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HĐ3: CÔNG THỨC TỔNG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29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Cho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với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d</m:t>
                    </m:r>
                  </m:oMath>
                </a14:m>
                <a:r>
                  <a:rPr sz="2200">
                    <a:solidFill>
                      <a:srgbClr val="1E293B"/>
                    </a:solidFill>
                    <a:latin typeface="Calibri"/>
                  </a:rPr>
                  <a:t>. Để tính tổng của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m:t>
                    </m:r>
                  </m:oMath>
                </a14:m>
                <a:r>
                  <a:rPr sz="2200">
                    <a:solidFill>
                      <a:srgbClr val="1E293B"/>
                    </a:solidFill>
                    <a:latin typeface="Calibri"/>
                  </a:rPr>
                  <a:t>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hãy lần lượt thực hiện các yêu cầu sau:</a:t>
                </a:r>
              </a:p>
              <a:p>
                <a:pPr algn="l" marL="365760" indent="-365760">
                  <a:spcAft>
                    <a:spcPts val="800"/>
                  </a:spcAft>
                  <a:buClr>
                    <a:srgbClr val="1E40AF"/>
                  </a:buClr>
                  <a:buFont typeface="Arial"/>
                  <a:buChar char="•"/>
                </a:pPr>
                <a:r>
                  <a:rPr sz="2200">
                    <a:solidFill>
                      <a:srgbClr val="1E293B"/>
                    </a:solidFill>
                    <a:latin typeface="Calibri"/>
                  </a:rPr>
                  <a:t>a) Biểu diễn mỗi số hạng trong tổng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theo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d</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Viết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theo thứ tự ngược lại: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sử dụng kết quả ở phần a) để biểu diễn mỗi số hạng trong tổng này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d</m:t>
                    </m:r>
                  </m:oMath>
                </a14:m>
                <a:r>
                  <a:rPr sz="2200">
                    <a:solidFill>
                      <a:srgbClr val="1E293B"/>
                    </a:solidFill>
                    <a:latin typeface="Calibri"/>
                  </a:rPr>
                  <a:t>.</a:t>
                </a:r>
              </a:p>
            </p:txBody>
          </p:sp>
        </mc:Choice>
        <mc:Fallback>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Cho cấp số cộng </a:t>
                </a:r>
                <a:r>
                  <a:rPr lang="vi-VN"/>
                  <a:t>(u_n)</a:t>
                </a:r>
                <a:r>
                  <a:rPr sz="2200">
                    <a:solidFill>
                      <a:srgbClr val="1E293B"/>
                    </a:solidFill>
                    <a:latin typeface="Calibri"/>
                  </a:rPr>
                  <a:t> với số hạng đầu </a:t>
                </a:r>
                <a:r>
                  <a:rPr lang="vi-VN"/>
                  <a:t>u_1</a:t>
                </a:r>
                <a:r>
                  <a:rPr sz="2200">
                    <a:solidFill>
                      <a:srgbClr val="1E293B"/>
                    </a:solidFill>
                    <a:latin typeface="Calibri"/>
                  </a:rPr>
                  <a:t> và công sai </a:t>
                </a:r>
                <a:r>
                  <a:rPr lang="vi-VN"/>
                  <a:t>d</a:t>
                </a:r>
                <a:r>
                  <a:rPr sz="2200">
                    <a:solidFill>
                      <a:srgbClr val="1E293B"/>
                    </a:solidFill>
                    <a:latin typeface="Calibri"/>
                  </a:rPr>
                  <a:t>. Để tính tổng của </a:t>
                </a:r>
                <a:r>
                  <a:rPr lang="vi-VN"/>
                  <a:t>n</a:t>
                </a:r>
                <a:r>
                  <a:rPr sz="2200">
                    <a:solidFill>
                      <a:srgbClr val="1E293B"/>
                    </a:solidFill>
                    <a:latin typeface="Calibri"/>
                  </a:rPr>
                  <a:t> số hạng đầu </a:t>
                </a:r>
                <a:r>
                  <a:rPr lang="vi-VN"/>
                  <a:t>S_n=u_1+u_2+…+u_(n−1)+u_n</a:t>
                </a:r>
                <a:r>
                  <a:rPr sz="2200">
                    <a:solidFill>
                      <a:srgbClr val="1E293B"/>
                    </a:solidFill>
                    <a:latin typeface="Calibri"/>
                  </a:rPr>
                  <a:t>, hãy lần lượt thực hiện các yêu cầu sau:</a:t>
                </a:r>
              </a:p>
              <a:p>
                <a:pPr algn="l" marL="365760" indent="-365760">
                  <a:spcAft>
                    <a:spcPts val="800"/>
                  </a:spcAft>
                  <a:buClr>
                    <a:srgbClr val="1E40AF"/>
                  </a:buClr>
                  <a:buFont typeface="Arial"/>
                  <a:buChar char="•"/>
                </a:pPr>
                <a:r>
                  <a:rPr sz="2200">
                    <a:solidFill>
                      <a:srgbClr val="1E293B"/>
                    </a:solidFill>
                    <a:latin typeface="Calibri"/>
                  </a:rPr>
                  <a:t>a) Biểu diễn mỗi số hạng trong tổng </a:t>
                </a:r>
                <a:r>
                  <a:rPr lang="vi-VN"/>
                  <a:t>S_n</a:t>
                </a:r>
                <a:r>
                  <a:rPr sz="2200">
                    <a:solidFill>
                      <a:srgbClr val="1E293B"/>
                    </a:solidFill>
                    <a:latin typeface="Calibri"/>
                  </a:rPr>
                  <a:t> theo số hạng đầu </a:t>
                </a:r>
                <a:r>
                  <a:rPr lang="vi-VN"/>
                  <a:t>u_1</a:t>
                </a:r>
                <a:r>
                  <a:rPr sz="2200">
                    <a:solidFill>
                      <a:srgbClr val="1E293B"/>
                    </a:solidFill>
                    <a:latin typeface="Calibri"/>
                  </a:rPr>
                  <a:t> và công sai </a:t>
                </a:r>
                <a:r>
                  <a:rPr lang="vi-VN"/>
                  <a:t>d</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Viết </a:t>
                </a:r>
                <a:r>
                  <a:rPr lang="vi-VN"/>
                  <a:t>S_n</a:t>
                </a:r>
                <a:r>
                  <a:rPr sz="2200">
                    <a:solidFill>
                      <a:srgbClr val="1E293B"/>
                    </a:solidFill>
                    <a:latin typeface="Calibri"/>
                  </a:rPr>
                  <a:t> theo thứ tự ngược lại: </a:t>
                </a:r>
                <a:r>
                  <a:rPr lang="vi-VN"/>
                  <a:t>S_n=u_n+u_(n−1)+…+u_2+u_1</a:t>
                </a:r>
                <a:r>
                  <a:rPr sz="2200">
                    <a:solidFill>
                      <a:srgbClr val="1E293B"/>
                    </a:solidFill>
                    <a:latin typeface="Calibri"/>
                  </a:rPr>
                  <a:t> và sử dụng kết quả ở phần a) để biểu diễn mỗi số hạng trong tổng này theo </a:t>
                </a:r>
                <a:r>
                  <a:rPr lang="vi-VN"/>
                  <a:t>u_1</a:t>
                </a:r>
                <a:r>
                  <a:rPr sz="2200">
                    <a:solidFill>
                      <a:srgbClr val="1E293B"/>
                    </a:solidFill>
                    <a:latin typeface="Calibri"/>
                  </a:rPr>
                  <a:t> và </a:t>
                </a:r>
                <a:r>
                  <a:rPr lang="vi-VN"/>
                  <a:t>d</a:t>
                </a:r>
                <a:r>
                  <a:rPr sz="2200">
                    <a:solidFill>
                      <a:srgbClr val="1E293B"/>
                    </a:solidFill>
                    <a:latin typeface="Calibri"/>
                  </a:rPr>
                  <a:t>.</a:t>
                </a: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HĐ3: CÔNG THỨC TỔNG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 Cộng từng vế hai đẳng thức nhận được ở a), b), để tính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d</m:t>
                    </m:r>
                  </m:oMath>
                </a14:m>
                <a:r>
                  <a:rPr sz="2200">
                    <a:solidFill>
                      <a:srgbClr val="1E293B"/>
                    </a:solidFill>
                    <a:latin typeface="Calibri"/>
                  </a:rPr>
                  <a:t>.</a:t>
                </a:r>
              </a:p>
              <a:p>
                <a:pPr algn="l">
                  <a:spcAft>
                    <a:spcPts val="800"/>
                  </a:spcAft>
                </a:pPr>
                <a:r>
                  <a:rPr sz="2200" b="1">
                    <a:solidFill>
                      <a:srgbClr val="1E40AF"/>
                    </a:solidFill>
                    <a:latin typeface="Calibri"/>
                  </a:rPr>
                  <a:t>Gợi mở: Cộng từng cặp số hạng thẳng cột</a:t>
                </a:r>
              </a:p>
            </p:txBody>
          </p:sp>
        </mc:Choice>
        <mc:Fallback>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 Cộng từng vế hai đẳng thức nhận được ở a), b), để tính </a:t>
                </a:r>
                <a:r>
                  <a:rPr lang="vi-VN"/>
                  <a:t>S_n</a:t>
                </a:r>
                <a:r>
                  <a:rPr sz="2200">
                    <a:solidFill>
                      <a:srgbClr val="1E293B"/>
                    </a:solidFill>
                    <a:latin typeface="Calibri"/>
                  </a:rPr>
                  <a:t> theo </a:t>
                </a:r>
                <a:r>
                  <a:rPr lang="vi-VN"/>
                  <a:t>u_1</a:t>
                </a:r>
                <a:r>
                  <a:rPr sz="2200">
                    <a:solidFill>
                      <a:srgbClr val="1E293B"/>
                    </a:solidFill>
                    <a:latin typeface="Calibri"/>
                  </a:rPr>
                  <a:t> và </a:t>
                </a:r>
                <a:r>
                  <a:rPr lang="vi-VN"/>
                  <a:t>d</a:t>
                </a:r>
                <a:r>
                  <a:rPr sz="2200">
                    <a:solidFill>
                      <a:srgbClr val="1E293B"/>
                    </a:solidFill>
                    <a:latin typeface="Calibri"/>
                  </a:rPr>
                  <a:t>.</a:t>
                </a:r>
              </a:p>
              <a:p>
                <a:pPr algn="l">
                  <a:spcAft>
                    <a:spcPts val="800"/>
                  </a:spcAft>
                </a:pPr>
                <a:r>
                  <a:rPr sz="2200" b="1">
                    <a:solidFill>
                      <a:srgbClr val="1E40AF"/>
                    </a:solidFill>
                    <a:latin typeface="Calibri"/>
                  </a:rPr>
                  <a:t>Gợi mở: Cộng từng cặp số hạng thẳng cột</a:t>
                </a: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HĐ3: CÔNG THỨC TỔNG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+d)+…+[</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+(n−1)d]</m:t>
                    </m:r>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+(n−1)d]+[</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+(n−2)d]+…+</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p>
              <a:p>
                <a:pPr algn="l" marL="365760" indent="-365760">
                  <a:spcAft>
                    <a:spcPts val="800"/>
                  </a:spcAft>
                  <a:buClr>
                    <a:srgbClr val="1E40AF"/>
                  </a:buClr>
                  <a:buFont typeface="Arial"/>
                  <a:buChar char="•"/>
                </a:pPr>
                <a:r>
                  <a:rPr sz="2400">
                    <a:solidFill>
                      <a:srgbClr val="1E293B"/>
                    </a:solidFill>
                    <a:latin typeface="Calibri"/>
                  </a:rPr>
                  <a:t>c) Mỗi cặp thẳng cột có tổng </a:t>
                </a:r>
                <a14:m>
                  <m:oMath xmlns:m="http://schemas.openxmlformats.org/officeDocument/2006/math">
                    <m:r>
                      <a:rPr lang="vi-VN" sz="2400" b="0">
                        <a:solidFill>
                          <a:srgbClr val="1E293B"/>
                        </a:solidFill>
                        <a:latin typeface="Cambria Math" panose="02040503050406030204" pitchFamily="18" charset="0"/>
                      </a:rPr>
                      <m:t>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+(n−1)d</m:t>
                    </m:r>
                  </m:oMath>
                </a14:m>
                <a:r>
                  <a:rPr sz="2400">
                    <a:solidFill>
                      <a:srgbClr val="1E293B"/>
                    </a:solidFill>
                    <a:latin typeface="Calibri"/>
                  </a:rPr>
                  <a:t>; có n cặp</a:t>
                </a:r>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2</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=n[2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+(n−1)d]</m:t>
                    </m:r>
                  </m:oMath>
                </a14:m>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S_n=u_1+(u_1+d)+\ldots+[u_1+(n-1)d]</a:t>
                </a:r>
              </a:p>
              <a:p>
                <a:pPr algn="l" marL="365760" indent="-365760">
                  <a:spcAft>
                    <a:spcPts val="800"/>
                  </a:spcAft>
                  <a:buClr>
                    <a:srgbClr val="1E40AF"/>
                  </a:buClr>
                  <a:buFont typeface="Arial"/>
                  <a:buChar char="•"/>
                </a:pPr>
                <a:r>
                  <a:rPr sz="2400">
                    <a:solidFill>
                      <a:srgbClr val="1E293B"/>
                    </a:solidFill>
                    <a:latin typeface="Calibri"/>
                  </a:rPr>
                  <a:t>b) </a:t>
                </a:r>
                <a:r>
                  <a:rPr lang="vi-VN"/>
                  <a:t>S_n=[u_1+(n-1)d]+[u_1+(n-2)d]+\ldots+u_1</a:t>
                </a:r>
              </a:p>
              <a:p>
                <a:pPr algn="l" marL="365760" indent="-365760">
                  <a:spcAft>
                    <a:spcPts val="800"/>
                  </a:spcAft>
                  <a:buClr>
                    <a:srgbClr val="1E40AF"/>
                  </a:buClr>
                  <a:buFont typeface="Arial"/>
                  <a:buChar char="•"/>
                </a:pPr>
                <a:r>
                  <a:rPr sz="2400">
                    <a:solidFill>
                      <a:srgbClr val="1E293B"/>
                    </a:solidFill>
                    <a:latin typeface="Calibri"/>
                  </a:rPr>
                  <a:t>c) Mỗi cặp thẳng cột có tổng </a:t>
                </a:r>
                <a:r>
                  <a:rPr lang="vi-VN"/>
                  <a:t>2u_1+(n-1)d</a:t>
                </a:r>
                <a:r>
                  <a:rPr sz="2400">
                    <a:solidFill>
                      <a:srgbClr val="1E293B"/>
                    </a:solidFill>
                    <a:latin typeface="Calibri"/>
                  </a:rPr>
                  <a:t>; có n cặp</a:t>
                </a:r>
              </a:p>
              <a:p>
                <a:pPr algn="l" marL="365760" indent="-365760">
                  <a:spcAft>
                    <a:spcPts val="800"/>
                  </a:spcAft>
                  <a:buClr>
                    <a:srgbClr val="1E40AF"/>
                  </a:buClr>
                  <a:buFont typeface="Arial"/>
                  <a:buChar char="•"/>
                </a:pPr>
                <a:r>
                  <a:rPr lang="vi-VN"/>
                  <a:t>2S_n=n[2u_1+(n-1)d]</a:t>
                </a:r>
              </a:p>
            </p:txBody>
          </p:sp>
        </mc:Fallback>
      </mc:AlternateContent>
      <p:sp>
        <p:nvSpPr>
          <p:cNvPr id="8" name="Rounded Rectangle 7"/>
          <p:cNvSpPr/>
          <p:nvPr/>
        </p:nvSpPr>
        <p:spPr>
          <a:xfrm>
            <a:off x="731520" y="3624072"/>
            <a:ext cx="9601200" cy="93725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24072"/>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f>
                      <m:fPr>
                        <m:type m:val="bar"/>
                      </m:fPr>
                      <m:num>
                        <m:r>
                          <a:rPr lang="vi-VN" sz="2400" b="1">
                            <a:solidFill>
                              <a:srgbClr val="991B1B"/>
                            </a:solidFill>
                            <a:latin typeface="Cambria Math" panose="02040503050406030204" pitchFamily="18" charset="0"/>
                          </a:rPr>
                          <m:t>n</m:t>
                        </m:r>
                      </m:num>
                      <m:den>
                        <m:r>
                          <a:rPr lang="vi-VN" sz="2400" b="1">
                            <a:solidFill>
                              <a:srgbClr val="991B1B"/>
                            </a:solidFill>
                            <a:latin typeface="Cambria Math" panose="02040503050406030204" pitchFamily="18" charset="0"/>
                          </a:rPr>
                          <m:t>2</m:t>
                        </m:r>
                      </m:den>
                    </m:f>
                    <m:r>
                      <a:rPr lang="vi-VN" sz="2400" b="1">
                        <a:solidFill>
                          <a:srgbClr val="991B1B"/>
                        </a:solidFill>
                        <a:latin typeface="Cambria Math" panose="02040503050406030204" pitchFamily="18" charset="0"/>
                      </a:rPr>
                      <m:t>[2</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+(n−1)d]</m:t>
                    </m:r>
                  </m:oMath>
                </a14:m>
              </a:p>
            </p:txBody>
          </p:sp>
        </mc:Choice>
        <mc:Fallback>
          <p:sp>
            <p:nvSpPr>
              <p:cNvPr id="9" name="TextBox 8"/>
              <p:cNvSpPr txBox="1"/>
              <p:nvPr/>
            </p:nvSpPr>
            <p:spPr>
              <a:xfrm>
                <a:off x="914400" y="3624072"/>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S_n=\frac{n}{2}[2u_1+(n-1)d]</a:t>
                </a: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TỔNG n SỐ HẠNG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32</a:t>
            </a:r>
          </a:p>
        </p:txBody>
      </p:sp>
      <p:sp>
        <p:nvSpPr>
          <p:cNvPr id="7" name="Rounded Rectangle 6"/>
          <p:cNvSpPr/>
          <p:nvPr/>
        </p:nvSpPr>
        <p:spPr>
          <a:xfrm>
            <a:off x="731520" y="1463040"/>
            <a:ext cx="9601200" cy="251460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51460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Cho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với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d</m:t>
                    </m:r>
                  </m:oMath>
                </a14:m>
                <a:r>
                  <a:rPr sz="2400" b="1">
                    <a:solidFill>
                      <a:srgbClr val="991B1B"/>
                    </a:solidFill>
                    <a:latin typeface="Calibri"/>
                  </a:rPr>
                  <a:t>. Đặt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2</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Khi đó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f>
                      <m:fPr>
                        <m:type m:val="bar"/>
                      </m:fPr>
                      <m:num>
                        <m:r>
                          <a:rPr lang="vi-VN" sz="2400" b="1">
                            <a:solidFill>
                              <a:srgbClr val="991B1B"/>
                            </a:solidFill>
                            <a:latin typeface="Cambria Math" panose="02040503050406030204" pitchFamily="18" charset="0"/>
                          </a:rPr>
                          <m:t>n</m:t>
                        </m:r>
                      </m:num>
                      <m:den>
                        <m:r>
                          <a:rPr lang="vi-VN" sz="2400" b="1">
                            <a:solidFill>
                              <a:srgbClr val="991B1B"/>
                            </a:solidFill>
                            <a:latin typeface="Cambria Math" panose="02040503050406030204" pitchFamily="18" charset="0"/>
                          </a:rPr>
                          <m:t>2</m:t>
                        </m:r>
                      </m:den>
                    </m:f>
                    <m:r>
                      <a:rPr lang="vi-VN" sz="2400" b="1">
                        <a:solidFill>
                          <a:srgbClr val="991B1B"/>
                        </a:solidFill>
                        <a:latin typeface="Cambria Math" panose="02040503050406030204" pitchFamily="18" charset="0"/>
                      </a:rPr>
                      <m:t>[2</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+(n−1)d]</m:t>
                    </m:r>
                  </m:oMath>
                </a14:m>
                <a:r>
                  <a:rPr sz="2400" b="1">
                    <a:solidFill>
                      <a:srgbClr val="991B1B"/>
                    </a:solidFill>
                    <a:latin typeface="Calibri"/>
                  </a:rPr>
                  <a:t>.</a:t>
                </a:r>
              </a:p>
              <a:p>
                <a:pPr algn="l">
                  <a:spcAft>
                    <a:spcPts val="400"/>
                  </a:spcAft>
                </a:pPr>
                <a:r>
                  <a:rPr sz="2400" b="1">
                    <a:solidFill>
                      <a:srgbClr val="991B1B"/>
                    </a:solidFill>
                    <a:latin typeface="Calibri"/>
                  </a:rPr>
                  <a:t>Sử dụng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+(n−1)d</m:t>
                    </m:r>
                  </m:oMath>
                </a14:m>
                <a:r>
                  <a:rPr sz="2400" b="1">
                    <a:solidFill>
                      <a:srgbClr val="991B1B"/>
                    </a:solidFill>
                    <a:latin typeface="Calibri"/>
                  </a:rPr>
                  <a:t>, ta có thể viết tổng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dưới dạng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f>
                      <m:fPr>
                        <m:type m:val="bar"/>
                      </m:fPr>
                      <m:num>
                        <m:r>
                          <a:rPr lang="vi-VN" sz="2400" b="1">
                            <a:solidFill>
                              <a:srgbClr val="991B1B"/>
                            </a:solidFill>
                            <a:latin typeface="Cambria Math" panose="02040503050406030204" pitchFamily="18" charset="0"/>
                          </a:rPr>
                          <m:t>n(</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num>
                      <m:den>
                        <m:r>
                          <a:rPr lang="vi-VN" sz="2400" b="1">
                            <a:solidFill>
                              <a:srgbClr val="991B1B"/>
                            </a:solidFill>
                            <a:latin typeface="Cambria Math" panose="02040503050406030204" pitchFamily="18" charset="0"/>
                          </a:rPr>
                          <m:t>2</m:t>
                        </m:r>
                      </m:den>
                    </m:f>
                  </m:oMath>
                </a14:m>
                <a:r>
                  <a:rPr sz="2400" b="1">
                    <a:solidFill>
                      <a:srgbClr val="991B1B"/>
                    </a:solidFill>
                    <a:latin typeface="Calibri"/>
                  </a:rPr>
                  <a:t>.</a:t>
                </a:r>
              </a:p>
            </p:txBody>
          </p:sp>
        </mc:Choice>
        <mc:Fallback>
          <p:sp>
            <p:nvSpPr>
              <p:cNvPr id="8" name="TextBox 7"/>
              <p:cNvSpPr txBox="1"/>
              <p:nvPr/>
            </p:nvSpPr>
            <p:spPr>
              <a:xfrm>
                <a:off x="914400" y="1463040"/>
                <a:ext cx="9235440" cy="251460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Cho cấp số cộng </a:t>
                </a:r>
                <a:r>
                  <a:rPr lang="vi-VN"/>
                  <a:t>(u_n)</a:t>
                </a:r>
                <a:r>
                  <a:rPr sz="2400" b="1">
                    <a:solidFill>
                      <a:srgbClr val="991B1B"/>
                    </a:solidFill>
                    <a:latin typeface="Calibri"/>
                  </a:rPr>
                  <a:t> với công sai </a:t>
                </a:r>
                <a:r>
                  <a:rPr lang="vi-VN"/>
                  <a:t>d</a:t>
                </a:r>
                <a:r>
                  <a:rPr sz="2400" b="1">
                    <a:solidFill>
                      <a:srgbClr val="991B1B"/>
                    </a:solidFill>
                    <a:latin typeface="Calibri"/>
                  </a:rPr>
                  <a:t>. Đặt </a:t>
                </a:r>
                <a:r>
                  <a:rPr lang="vi-VN"/>
                  <a:t>S_n=u_1+u_2+…+u_n</a:t>
                </a:r>
                <a:r>
                  <a:rPr sz="2400" b="1">
                    <a:solidFill>
                      <a:srgbClr val="991B1B"/>
                    </a:solidFill>
                    <a:latin typeface="Calibri"/>
                  </a:rPr>
                  <a:t>. Khi đó </a:t>
                </a:r>
                <a:r>
                  <a:rPr lang="vi-VN"/>
                  <a:t>S_n=n/2[2u_1+(n−1)d]</a:t>
                </a:r>
                <a:r>
                  <a:rPr sz="2400" b="1">
                    <a:solidFill>
                      <a:srgbClr val="991B1B"/>
                    </a:solidFill>
                    <a:latin typeface="Calibri"/>
                  </a:rPr>
                  <a:t>.</a:t>
                </a:r>
              </a:p>
              <a:p>
                <a:pPr algn="l">
                  <a:spcAft>
                    <a:spcPts val="400"/>
                  </a:spcAft>
                </a:pPr>
                <a:r>
                  <a:rPr sz="2400" b="1">
                    <a:solidFill>
                      <a:srgbClr val="991B1B"/>
                    </a:solidFill>
                    <a:latin typeface="Calibri"/>
                  </a:rPr>
                  <a:t>Sử dụng công thức </a:t>
                </a:r>
                <a:r>
                  <a:rPr lang="vi-VN"/>
                  <a:t>u_n=u_1+(n−1)d</a:t>
                </a:r>
                <a:r>
                  <a:rPr sz="2400" b="1">
                    <a:solidFill>
                      <a:srgbClr val="991B1B"/>
                    </a:solidFill>
                    <a:latin typeface="Calibri"/>
                  </a:rPr>
                  <a:t>, ta có thể viết tổng </a:t>
                </a:r>
                <a:r>
                  <a:rPr lang="vi-VN"/>
                  <a:t>S_n</a:t>
                </a:r>
                <a:r>
                  <a:rPr sz="2400" b="1">
                    <a:solidFill>
                      <a:srgbClr val="991B1B"/>
                    </a:solidFill>
                    <a:latin typeface="Calibri"/>
                  </a:rPr>
                  <a:t> dưới dạng </a:t>
                </a:r>
                <a:r>
                  <a:rPr lang="vi-VN"/>
                  <a:t>S_n=(n(u_1+u_n))/2</a:t>
                </a:r>
                <a:r>
                  <a:rPr sz="2400" b="1">
                    <a:solidFill>
                      <a:srgbClr val="991B1B"/>
                    </a:solidFill>
                    <a:latin typeface="Calibri"/>
                  </a:rPr>
                  <a:t>.</a:t>
                </a: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5: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33</a:t>
            </a:r>
          </a:p>
        </p:txBody>
      </p:sp>
      <p:sp>
        <p:nvSpPr>
          <p:cNvPr id="7" name="TextBox 6"/>
          <p:cNvSpPr txBox="1"/>
          <p:nvPr/>
        </p:nvSpPr>
        <p:spPr>
          <a:xfrm>
            <a:off x="731520" y="1463040"/>
            <a:ext cx="6400800" cy="2200655"/>
          </a:xfrm>
          <a:prstGeom prst="rect">
            <a:avLst/>
          </a:prstGeom>
          <a:noFill/>
        </p:spPr>
        <p:txBody>
          <a:bodyPr wrap="square" anchor="t" lIns="45720" rIns="45720">
            <a:spAutoFit/>
          </a:bodyPr>
          <a:lstStyle/>
          <a:p>
            <a:pPr algn="l">
              <a:spcAft>
                <a:spcPts val="800"/>
              </a:spcAft>
            </a:pPr>
            <a:r>
              <a:rPr sz="2000">
                <a:solidFill>
                  <a:srgbClr val="1E293B"/>
                </a:solidFill>
                <a:latin typeface="Calibri"/>
              </a:rPr>
              <a:t>Một nhà hát có 25 hàng ghế với 16 ghế ở hàng thứ nhất, 18 ghế ở hàng thứ hai, 20 ghế ở hàng thứ ba và cứ tiếp tục theo quy luật đó, tức là hàng sau nhiều hơn hàng liền trước nó 2 ghế. Tính tổng số ghế của nhà hát đó.</a:t>
            </a:r>
          </a:p>
          <a:p>
            <a:pPr algn="l">
              <a:spcAft>
                <a:spcPts val="800"/>
              </a:spcAft>
            </a:pPr>
            <a:r>
              <a:rPr sz="2000" b="1">
                <a:solidFill>
                  <a:srgbClr val="1E40AF"/>
                </a:solidFill>
                <a:latin typeface="Calibri"/>
              </a:rPr>
              <a:t>Gợi mở: Số ghế các hàng lập thành dãy số gì?</a:t>
            </a:r>
          </a:p>
        </p:txBody>
      </p:sp>
      <p:pic>
        <p:nvPicPr>
          <p:cNvPr id="8" name="Picture 7" descr="img02.png"/>
          <p:cNvPicPr>
            <a:picLocks noChangeAspect="1"/>
          </p:cNvPicPr>
          <p:nvPr/>
        </p:nvPicPr>
        <p:blipFill>
          <a:blip r:embed="rId2"/>
          <a:stretch>
            <a:fillRect/>
          </a:stretch>
        </p:blipFill>
        <p:spPr>
          <a:xfrm>
            <a:off x="7406640" y="2445389"/>
            <a:ext cx="4389120" cy="2744461"/>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5: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Số ghế các hàng: cấp số cộng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=16</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d=2</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n=25</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25</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25</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+(25−1)d]=</m:t>
                    </m:r>
                    <m:f>
                      <m:fPr>
                        <m:type m:val="bar"/>
                      </m:fPr>
                      <m:num>
                        <m:r>
                          <a:rPr lang="vi-VN" sz="2400" b="0">
                            <a:solidFill>
                              <a:srgbClr val="1E293B"/>
                            </a:solidFill>
                            <a:latin typeface="Cambria Math" panose="02040503050406030204" pitchFamily="18" charset="0"/>
                          </a:rPr>
                          <m:t>25</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[2·16+24·2]</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25</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·80=1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m:t>
                    </m:r>
                  </m:oMath>
                </a14:m>
              </a:p>
            </p:txBody>
          </p:sp>
        </mc:Choice>
        <mc:Fallback>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Số ghế các hàng: cấp số cộng </a:t>
                </a:r>
                <a:r>
                  <a:rPr lang="vi-VN"/>
                  <a:t>u_1=16</a:t>
                </a:r>
                <a:r>
                  <a:rPr sz="2400">
                    <a:solidFill>
                      <a:srgbClr val="1E293B"/>
                    </a:solidFill>
                    <a:latin typeface="Calibri"/>
                  </a:rPr>
                  <a:t>, </a:t>
                </a:r>
                <a:r>
                  <a:rPr lang="vi-VN"/>
                  <a:t>d=2</a:t>
                </a:r>
                <a:r>
                  <a:rPr sz="2400">
                    <a:solidFill>
                      <a:srgbClr val="1E293B"/>
                    </a:solidFill>
                    <a:latin typeface="Calibri"/>
                  </a:rPr>
                  <a:t>, </a:t>
                </a:r>
                <a:r>
                  <a:rPr lang="vi-VN"/>
                  <a:t>n=25</a:t>
                </a:r>
              </a:p>
              <a:p>
                <a:pPr algn="l" marL="365760" indent="-365760">
                  <a:spcAft>
                    <a:spcPts val="800"/>
                  </a:spcAft>
                  <a:buClr>
                    <a:srgbClr val="1E40AF"/>
                  </a:buClr>
                  <a:buFont typeface="Arial"/>
                  <a:buChar char="•"/>
                </a:pPr>
                <a:r>
                  <a:rPr lang="vi-VN"/>
                  <a:t>S_{25}=\frac{25}{2}[2u_1+(25-1)d]=\frac{25}{2}[2\cdot 16+24\cdot 2]</a:t>
                </a:r>
              </a:p>
              <a:p>
                <a:pPr algn="l" marL="365760" indent="-365760">
                  <a:spcAft>
                    <a:spcPts val="800"/>
                  </a:spcAft>
                  <a:buClr>
                    <a:srgbClr val="1E40AF"/>
                  </a:buClr>
                  <a:buFont typeface="Arial"/>
                  <a:buChar char="•"/>
                </a:pPr>
                <a:r>
                  <a:rPr lang="vi-VN"/>
                  <a:t>=\frac{25}{2}\cdot 80=1\,000</a:t>
                </a:r>
              </a:p>
            </p:txBody>
          </p:sp>
        </mc:Fallback>
      </mc:AlternateContent>
      <p:sp>
        <p:nvSpPr>
          <p:cNvPr id="8" name="Rounded Rectangle 7"/>
          <p:cNvSpPr/>
          <p:nvPr/>
        </p:nvSpPr>
        <p:spPr>
          <a:xfrm>
            <a:off x="731520" y="365302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Nhà hát có 1 000 ghế</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Cần lấy tổng của bao nhiêu số hạng đầu của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8,</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r>
                  <a:rPr sz="2400">
                    <a:solidFill>
                      <a:srgbClr val="1E293B"/>
                    </a:solidFill>
                    <a:latin typeface="Calibri"/>
                  </a:rPr>
                  <a:t> để được kết quả bằng 345?</a:t>
                </a:r>
              </a:p>
              <a:p>
                <a:pPr algn="l">
                  <a:spcAft>
                    <a:spcPts val="800"/>
                  </a:spcAft>
                </a:pPr>
                <a:r>
                  <a:rPr sz="2400" b="1">
                    <a:solidFill>
                      <a:srgbClr val="1E40AF"/>
                    </a:solidFill>
                    <a:latin typeface="Calibri"/>
                  </a:rPr>
                  <a:t>Gợi mở: Đặt </a:t>
                </a:r>
                <a14:m>
                  <m:oMath xmlns:m="http://schemas.openxmlformats.org/officeDocument/2006/math">
                    <m:sSub>
                      <m:e>
                        <m:r>
                          <a:rPr lang="vi-VN" sz="2400" b="1">
                            <a:solidFill>
                              <a:srgbClr val="1E40AF"/>
                            </a:solidFill>
                            <a:latin typeface="Cambria Math" panose="02040503050406030204" pitchFamily="18" charset="0"/>
                          </a:rPr>
                          <m:t>S</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=345</m:t>
                    </m:r>
                  </m:oMath>
                </a14:m>
                <a:r>
                  <a:rPr sz="2400" b="1">
                    <a:solidFill>
                      <a:srgbClr val="1E40AF"/>
                    </a:solidFill>
                    <a:latin typeface="Calibri"/>
                  </a:rPr>
                  <a:t>, giải phương trình theo n</a:t>
                </a:r>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Cần lấy tổng của bao nhiêu số hạng đầu của cấp số cộng </a:t>
                </a:r>
                <a:r>
                  <a:rPr lang="vi-VN"/>
                  <a:t>2, 5, 8, …</a:t>
                </a:r>
                <a:r>
                  <a:rPr sz="2400">
                    <a:solidFill>
                      <a:srgbClr val="1E293B"/>
                    </a:solidFill>
                    <a:latin typeface="Calibri"/>
                  </a:rPr>
                  <a:t> để được kết quả bằng 345?</a:t>
                </a:r>
              </a:p>
              <a:p>
                <a:pPr algn="l">
                  <a:spcAft>
                    <a:spcPts val="800"/>
                  </a:spcAft>
                </a:pPr>
                <a:r>
                  <a:rPr sz="2400" b="1">
                    <a:solidFill>
                      <a:srgbClr val="1E40AF"/>
                    </a:solidFill>
                    <a:latin typeface="Calibri"/>
                  </a:rPr>
                  <a:t>Gợi mở: Đặt </a:t>
                </a:r>
                <a:r>
                  <a:rPr lang="vi-VN"/>
                  <a:t>S_n=345</a:t>
                </a:r>
                <a:r>
                  <a:rPr sz="2400" b="1">
                    <a:solidFill>
                      <a:srgbClr val="1E40AF"/>
                    </a:solidFill>
                    <a:latin typeface="Calibri"/>
                  </a:rPr>
                  <a:t>, giải phương trình theo n</a:t>
                </a: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74574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=2</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d=3</m:t>
                    </m:r>
                  </m:oMath>
                </a14:m>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345=</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n</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[2·2+(n−1)·3]=</m:t>
                    </m:r>
                    <m:f>
                      <m:fPr>
                        <m:type m:val="bar"/>
                      </m:fPr>
                      <m:num>
                        <m:r>
                          <a:rPr lang="vi-VN" sz="2200" b="0">
                            <a:solidFill>
                              <a:srgbClr val="1E293B"/>
                            </a:solidFill>
                            <a:latin typeface="Cambria Math" panose="02040503050406030204" pitchFamily="18" charset="0"/>
                          </a:rPr>
                          <m:t>n</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(3n+1)</m:t>
                    </m:r>
                  </m:oMath>
                </a14:m>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n</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+n−690=0</m:t>
                    </m:r>
                  </m:oMath>
                </a14:m>
              </a:p>
            </p:txBody>
          </p:sp>
        </mc:Choice>
        <mc:Fallback>
          <p:sp>
            <p:nvSpPr>
              <p:cNvPr id="7" name="TextBox 6"/>
              <p:cNvSpPr txBox="1"/>
              <p:nvPr/>
            </p:nvSpPr>
            <p:spPr>
              <a:xfrm>
                <a:off x="731520" y="1463040"/>
                <a:ext cx="10789920" cy="174574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u_1=2</a:t>
                </a:r>
                <a:r>
                  <a:rPr sz="2200">
                    <a:solidFill>
                      <a:srgbClr val="1E293B"/>
                    </a:solidFill>
                    <a:latin typeface="Calibri"/>
                  </a:rPr>
                  <a:t>, </a:t>
                </a:r>
                <a:r>
                  <a:rPr lang="vi-VN"/>
                  <a:t>d=3</a:t>
                </a:r>
              </a:p>
              <a:p>
                <a:pPr algn="l" marL="365760" indent="-365760">
                  <a:spcAft>
                    <a:spcPts val="800"/>
                  </a:spcAft>
                  <a:buClr>
                    <a:srgbClr val="1E40AF"/>
                  </a:buClr>
                  <a:buFont typeface="Arial"/>
                  <a:buChar char="•"/>
                </a:pPr>
                <a:r>
                  <a:rPr lang="vi-VN"/>
                  <a:t>345=S_n=\frac{n}{2}[2\cdot 2+(n-1)\cdot 3]=\frac{n}{2}(3n+1)</a:t>
                </a:r>
              </a:p>
              <a:p>
                <a:pPr algn="l" marL="365760" indent="-365760">
                  <a:spcAft>
                    <a:spcPts val="800"/>
                  </a:spcAft>
                  <a:buClr>
                    <a:srgbClr val="1E40AF"/>
                  </a:buClr>
                  <a:buFont typeface="Arial"/>
                  <a:buChar char="•"/>
                </a:pPr>
                <a:r>
                  <a:rPr lang="vi-VN"/>
                  <a:t>\Leftrightarrow 3n^2+n-690=0</a:t>
                </a: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6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⇔n=15</m:t>
                    </m:r>
                  </m:oMath>
                </a14:m>
                <a:r>
                  <a:rPr sz="2200">
                    <a:solidFill>
                      <a:srgbClr val="1E293B"/>
                    </a:solidFill>
                    <a:latin typeface="Calibri"/>
                  </a:rPr>
                  <a:t> hoặc </a:t>
                </a:r>
                <a14:m>
                  <m:oMath xmlns:m="http://schemas.openxmlformats.org/officeDocument/2006/math">
                    <m:r>
                      <a:rPr lang="vi-VN" sz="2200" b="0">
                        <a:solidFill>
                          <a:srgbClr val="1E293B"/>
                        </a:solidFill>
                        <a:latin typeface="Cambria Math" panose="02040503050406030204" pitchFamily="18" charset="0"/>
                      </a:rPr>
                      <m:t>n=−</m:t>
                    </m:r>
                    <m:f>
                      <m:fPr>
                        <m:type m:val="bar"/>
                      </m:fPr>
                      <m:num>
                        <m:r>
                          <a:rPr lang="vi-VN" sz="2200" b="0">
                            <a:solidFill>
                              <a:srgbClr val="1E293B"/>
                            </a:solidFill>
                            <a:latin typeface="Cambria Math" panose="02040503050406030204" pitchFamily="18" charset="0"/>
                          </a:rPr>
                          <m:t>230</m:t>
                        </m:r>
                      </m:num>
                      <m:den>
                        <m:r>
                          <a:rPr lang="vi-VN" sz="2200" b="0">
                            <a:solidFill>
                              <a:srgbClr val="1E293B"/>
                            </a:solidFill>
                            <a:latin typeface="Cambria Math" panose="02040503050406030204" pitchFamily="18" charset="0"/>
                          </a:rPr>
                          <m:t>15</m:t>
                        </m:r>
                      </m:den>
                    </m:f>
                  </m:oMath>
                </a14:m>
                <a:r>
                  <a:rPr sz="2200">
                    <a:solidFill>
                      <a:srgbClr val="1E293B"/>
                    </a:solidFill>
                    <a:latin typeface="Calibri"/>
                  </a:rPr>
                  <a:t> (loại)</a:t>
                </a:r>
              </a:p>
            </p:txBody>
          </p:sp>
        </mc:Choice>
        <mc:Fallback>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\Leftrightarrow n=15</a:t>
                </a:r>
                <a:r>
                  <a:rPr sz="2200">
                    <a:solidFill>
                      <a:srgbClr val="1E293B"/>
                    </a:solidFill>
                    <a:latin typeface="Calibri"/>
                  </a:rPr>
                  <a:t> hoặc </a:t>
                </a:r>
                <a:r>
                  <a:rPr lang="vi-VN"/>
                  <a:t>n=-\frac{230}{15}</a:t>
                </a:r>
                <a:r>
                  <a:rPr sz="2200">
                    <a:solidFill>
                      <a:srgbClr val="1E293B"/>
                    </a:solidFill>
                    <a:latin typeface="Calibri"/>
                  </a:rPr>
                  <a:t> (loại)</a:t>
                </a:r>
              </a:p>
            </p:txBody>
          </p:sp>
        </mc:Fallback>
      </mc:AlternateContent>
      <p:sp>
        <p:nvSpPr>
          <p:cNvPr id="8" name="Rounded Rectangle 7"/>
          <p:cNvSpPr/>
          <p:nvPr/>
        </p:nvSpPr>
        <p:spPr>
          <a:xfrm>
            <a:off x="731520" y="2236597"/>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36597"/>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Lấy tổng 15 số hạng đầu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MÁY TÍNH</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GÓC CÔNG NGHỆ: PHÍM Σ</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38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Ví dụ: tổng 35 số hạng đầu của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=3n+1</m:t>
                    </m:r>
                  </m:oMath>
                </a14:m>
              </a:p>
              <a:p>
                <a:pPr algn="l" marL="365760" indent="-365760">
                  <a:spcAft>
                    <a:spcPts val="800"/>
                  </a:spcAft>
                  <a:buClr>
                    <a:srgbClr val="1E40AF"/>
                  </a:buClr>
                  <a:buFont typeface="Arial"/>
                  <a:buChar char="•"/>
                </a:pPr>
                <a:r>
                  <a:rPr sz="2400">
                    <a:solidFill>
                      <a:srgbClr val="1E293B"/>
                    </a:solidFill>
                    <a:latin typeface="Calibri"/>
                  </a:rPr>
                  <a:t>Bấm SHIFT → x (phím Σ)</a:t>
                </a:r>
              </a:p>
              <a:p>
                <a:pPr algn="l" marL="365760" indent="-365760">
                  <a:spcAft>
                    <a:spcPts val="800"/>
                  </a:spcAft>
                  <a:buClr>
                    <a:srgbClr val="1E40AF"/>
                  </a:buClr>
                  <a:buFont typeface="Arial"/>
                  <a:buChar char="•"/>
                </a:pPr>
                <a:r>
                  <a:rPr sz="2400">
                    <a:solidFill>
                      <a:srgbClr val="1E293B"/>
                    </a:solidFill>
                    <a:latin typeface="Calibri"/>
                  </a:rPr>
                  <a:t>Nhập 3x + 1; cận dưới 1, cận trên 35</a:t>
                </a:r>
              </a:p>
              <a:p>
                <a:pPr algn="l" marL="365760" indent="-365760">
                  <a:spcAft>
                    <a:spcPts val="800"/>
                  </a:spcAft>
                  <a:buClr>
                    <a:srgbClr val="1E40AF"/>
                  </a:buClr>
                  <a:buFont typeface="Arial"/>
                  <a:buChar char="•"/>
                </a:pPr>
                <a:r>
                  <a:rPr sz="2400">
                    <a:solidFill>
                      <a:srgbClr val="1E293B"/>
                    </a:solidFill>
                    <a:latin typeface="Calibri"/>
                  </a:rPr>
                  <a:t>Nhấn = được kết quả</a:t>
                </a:r>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Ví dụ: tổng 35 số hạng đầu của </a:t>
                </a:r>
                <a:r>
                  <a:rPr lang="vi-VN"/>
                  <a:t>u_n=3n+1</a:t>
                </a:r>
              </a:p>
              <a:p>
                <a:pPr algn="l" marL="365760" indent="-365760">
                  <a:spcAft>
                    <a:spcPts val="800"/>
                  </a:spcAft>
                  <a:buClr>
                    <a:srgbClr val="1E40AF"/>
                  </a:buClr>
                  <a:buFont typeface="Arial"/>
                  <a:buChar char="•"/>
                </a:pPr>
                <a:r>
                  <a:rPr sz="2400">
                    <a:solidFill>
                      <a:srgbClr val="1E293B"/>
                    </a:solidFill>
                    <a:latin typeface="Calibri"/>
                  </a:rPr>
                  <a:t>Bấm SHIFT → x (phím Σ)</a:t>
                </a:r>
              </a:p>
              <a:p>
                <a:pPr algn="l" marL="365760" indent="-365760">
                  <a:spcAft>
                    <a:spcPts val="800"/>
                  </a:spcAft>
                  <a:buClr>
                    <a:srgbClr val="1E40AF"/>
                  </a:buClr>
                  <a:buFont typeface="Arial"/>
                  <a:buChar char="•"/>
                </a:pPr>
                <a:r>
                  <a:rPr sz="2400">
                    <a:solidFill>
                      <a:srgbClr val="1E293B"/>
                    </a:solidFill>
                    <a:latin typeface="Calibri"/>
                  </a:rPr>
                  <a:t>Nhập 3x + 1; cận dưới 1, cận trên 35</a:t>
                </a:r>
              </a:p>
              <a:p>
                <a:pPr algn="l" marL="365760" indent="-365760">
                  <a:spcAft>
                    <a:spcPts val="800"/>
                  </a:spcAft>
                  <a:buClr>
                    <a:srgbClr val="1E40AF"/>
                  </a:buClr>
                  <a:buFont typeface="Arial"/>
                  <a:buChar char="•"/>
                </a:pPr>
                <a:r>
                  <a:rPr sz="2400">
                    <a:solidFill>
                      <a:srgbClr val="1E293B"/>
                    </a:solidFill>
                    <a:latin typeface="Calibri"/>
                  </a:rPr>
                  <a:t>Nhấn = được kết quả</a:t>
                </a:r>
              </a:p>
            </p:txBody>
          </p:sp>
        </mc:Fallback>
      </mc:AlternateContent>
      <p:sp>
        <p:nvSpPr>
          <p:cNvPr id="8" name="Rounded Rectangle 7"/>
          <p:cNvSpPr/>
          <p:nvPr/>
        </p:nvSpPr>
        <p:spPr>
          <a:xfrm>
            <a:off x="731520" y="362407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nary>
                      <m:naryPr>
                        <m:chr m:val="∑"/>
                        <m:limLoc m:val="subSup"/>
                        <m:grow m:val="1"/>
                        <m:subHide m:val="off"/>
                        <m:supHide m:val="off"/>
                      </m:naryPr>
                      <m:sub>
                        <m:r>
                          <a:rPr lang="vi-VN" sz="2400" b="1">
                            <a:solidFill>
                              <a:srgbClr val="991B1B"/>
                            </a:solidFill>
                            <a:latin typeface="Cambria Math" panose="02040503050406030204" pitchFamily="18" charset="0"/>
                          </a:rPr>
                          <m:t>k=1</m:t>
                        </m:r>
                      </m:sub>
                      <m:sup>
                        <m:r>
                          <a:rPr lang="vi-VN" sz="2400" b="1">
                            <a:solidFill>
                              <a:srgbClr val="991B1B"/>
                            </a:solidFill>
                            <a:latin typeface="Cambria Math" panose="02040503050406030204" pitchFamily="18" charset="0"/>
                          </a:rPr>
                          <m:t>35</m:t>
                        </m:r>
                      </m:sup>
                      <m:e>
                        <m:r>
                          <a:rPr lang="vi-VN" sz="2400" b="1">
                            <a:solidFill>
                              <a:srgbClr val="991B1B"/>
                            </a:solidFill>
                            <a:latin typeface="Cambria Math" panose="02040503050406030204" pitchFamily="18" charset="0"/>
                          </a:rPr>
                          <m:t>(3k+1)=1925</m:t>
                        </m:r>
                      </m:e>
                    </m:nary>
                  </m:oMath>
                </a14:m>
              </a:p>
            </p:txBody>
          </p:sp>
        </mc:Choice>
        <mc:Fallback>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\sum_{k=1}^{35}(3k+1)=1925</a:t>
                </a: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LUYỆN TẬP</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Phiếu học tập số 2 – Bài tập 2.8 – 2.14 (SGK tr.51)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Xác định công sai, số hạng thứ 5, số hạng tổng quát và số hạng thứ 100 của mỗi cấp số cộng sau:</a:t>
                </a:r>
              </a:p>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9,</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19,</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a:p>
                <a:pPr algn="l">
                  <a:spcAft>
                    <a:spcPts val="800"/>
                  </a:spcAft>
                </a:pPr>
                <a:r>
                  <a:rPr sz="2400" b="1">
                    <a:solidFill>
                      <a:srgbClr val="1E40AF"/>
                    </a:solidFill>
                    <a:latin typeface="Calibri"/>
                  </a:rPr>
                  <a:t>Gợi mở: Tìm </a:t>
                </a:r>
                <a14:m>
                  <m:oMath xmlns:m="http://schemas.openxmlformats.org/officeDocument/2006/math">
                    <m:r>
                      <a:rPr lang="vi-VN" sz="2400" b="1">
                        <a:solidFill>
                          <a:srgbClr val="1E40AF"/>
                        </a:solidFill>
                        <a:latin typeface="Cambria Math" panose="02040503050406030204" pitchFamily="18" charset="0"/>
                      </a:rPr>
                      <m:t>d=</m:t>
                    </m:r>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2</m:t>
                        </m:r>
                      </m:sub>
                    </m:sSub>
                    <m:r>
                      <a:rPr lang="vi-VN" sz="2400" b="1">
                        <a:solidFill>
                          <a:srgbClr val="1E40AF"/>
                        </a:solidFill>
                        <a:latin typeface="Cambria Math" panose="02040503050406030204" pitchFamily="18" charset="0"/>
                      </a:rPr>
                      <m:t>−</m:t>
                    </m:r>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oMath>
                </a14:m>
                <a:r>
                  <a:rPr sz="2400" b="1">
                    <a:solidFill>
                      <a:srgbClr val="1E40AF"/>
                    </a:solidFill>
                    <a:latin typeface="Calibri"/>
                  </a:rPr>
                  <a:t> trước</a:t>
                </a:r>
              </a:p>
            </p:txBody>
          </p:sp>
        </mc:Choice>
        <mc:Fallback>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Xác định công sai, số hạng thứ 5, số hạng tổng quát và số hạng thứ 100 của mỗi cấp số cộng sau:</a:t>
                </a:r>
              </a:p>
              <a:p>
                <a:pPr algn="l" marL="365760" indent="-365760">
                  <a:spcAft>
                    <a:spcPts val="800"/>
                  </a:spcAft>
                  <a:buClr>
                    <a:srgbClr val="1E40AF"/>
                  </a:buClr>
                  <a:buFont typeface="Arial"/>
                  <a:buChar char="•"/>
                </a:pPr>
                <a:r>
                  <a:rPr sz="2400">
                    <a:solidFill>
                      <a:srgbClr val="1E293B"/>
                    </a:solidFill>
                    <a:latin typeface="Calibri"/>
                  </a:rPr>
                  <a:t>a) </a:t>
                </a:r>
                <a:r>
                  <a:rPr lang="vi-VN"/>
                  <a:t>4, 9, 14, 19, …</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r>
                  <a:rPr lang="vi-VN"/>
                  <a:t>1, −1, −3, −5, …</a:t>
                </a:r>
              </a:p>
              <a:p>
                <a:pPr algn="l">
                  <a:spcAft>
                    <a:spcPts val="800"/>
                  </a:spcAft>
                </a:pPr>
                <a:r>
                  <a:rPr sz="2400" b="1">
                    <a:solidFill>
                      <a:srgbClr val="1E40AF"/>
                    </a:solidFill>
                    <a:latin typeface="Calibri"/>
                  </a:rPr>
                  <a:t>Gợi mở: Tìm </a:t>
                </a:r>
                <a:r>
                  <a:rPr lang="vi-VN"/>
                  <a:t>d=u_2-u_1</a:t>
                </a:r>
                <a:r>
                  <a:rPr sz="2400" b="1">
                    <a:solidFill>
                      <a:srgbClr val="1E40AF"/>
                    </a:solidFill>
                    <a:latin typeface="Calibri"/>
                  </a:rPr>
                  <a:t> trước</a:t>
                </a: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d=9−4=5</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=4+4·5=24</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=4+(n−1)·5=5n−1</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=499</m:t>
                    </m:r>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r>
                      <a:rPr lang="vi-VN" sz="2400" b="0">
                        <a:solidFill>
                          <a:srgbClr val="1E293B"/>
                        </a:solidFill>
                        <a:latin typeface="Cambria Math" panose="02040503050406030204" pitchFamily="18" charset="0"/>
                      </a:rPr>
                      <m:t>d=−1−1=−2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=1+4·(−2)=−7</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=1−2(n−1)=3−2n</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=−197</m:t>
                    </m:r>
                  </m:oMath>
                </a14:m>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d=9-4=5</a:t>
                </a:r>
                <a:r>
                  <a:rPr sz="2400">
                    <a:solidFill>
                      <a:srgbClr val="1E293B"/>
                    </a:solidFill>
                    <a:latin typeface="Calibri"/>
                  </a:rPr>
                  <a:t>;  </a:t>
                </a:r>
                <a:r>
                  <a:rPr lang="vi-VN"/>
                  <a:t>u_5=4+4\cdot 5=24</a:t>
                </a:r>
              </a:p>
              <a:p>
                <a:pPr algn="l" marL="365760" indent="-365760">
                  <a:spcAft>
                    <a:spcPts val="800"/>
                  </a:spcAft>
                  <a:buClr>
                    <a:srgbClr val="1E40AF"/>
                  </a:buClr>
                  <a:buFont typeface="Arial"/>
                  <a:buChar char="•"/>
                </a:pPr>
                <a:r>
                  <a:rPr lang="vi-VN"/>
                  <a:t>u_n=4+(n-1)\cdot 5=5n-1</a:t>
                </a:r>
                <a:r>
                  <a:rPr sz="2400">
                    <a:solidFill>
                      <a:srgbClr val="1E293B"/>
                    </a:solidFill>
                    <a:latin typeface="Calibri"/>
                  </a:rPr>
                  <a:t>;  </a:t>
                </a:r>
                <a:r>
                  <a:rPr lang="vi-VN"/>
                  <a:t>u_{100}=499</a:t>
                </a:r>
              </a:p>
              <a:p>
                <a:pPr algn="l" marL="365760" indent="-365760">
                  <a:spcAft>
                    <a:spcPts val="800"/>
                  </a:spcAft>
                  <a:buClr>
                    <a:srgbClr val="1E40AF"/>
                  </a:buClr>
                  <a:buFont typeface="Arial"/>
                  <a:buChar char="•"/>
                </a:pPr>
                <a:r>
                  <a:rPr sz="2400">
                    <a:solidFill>
                      <a:srgbClr val="1E293B"/>
                    </a:solidFill>
                    <a:latin typeface="Calibri"/>
                  </a:rPr>
                  <a:t>b) </a:t>
                </a:r>
                <a:r>
                  <a:rPr lang="vi-VN"/>
                  <a:t>d=-1-1=-2</a:t>
                </a:r>
                <a:r>
                  <a:rPr sz="2400">
                    <a:solidFill>
                      <a:srgbClr val="1E293B"/>
                    </a:solidFill>
                    <a:latin typeface="Calibri"/>
                  </a:rPr>
                  <a:t>;  </a:t>
                </a:r>
                <a:r>
                  <a:rPr lang="vi-VN"/>
                  <a:t>u_5=1+4\cdot(-2)=-7</a:t>
                </a:r>
              </a:p>
              <a:p>
                <a:pPr algn="l" marL="365760" indent="-365760">
                  <a:spcAft>
                    <a:spcPts val="800"/>
                  </a:spcAft>
                  <a:buClr>
                    <a:srgbClr val="1E40AF"/>
                  </a:buClr>
                  <a:buFont typeface="Arial"/>
                  <a:buChar char="•"/>
                </a:pPr>
                <a:r>
                  <a:rPr lang="vi-VN"/>
                  <a:t>u_n=1-2(n-1)=3-2n</a:t>
                </a:r>
                <a:r>
                  <a:rPr sz="2400">
                    <a:solidFill>
                      <a:srgbClr val="1E293B"/>
                    </a:solidFill>
                    <a:latin typeface="Calibri"/>
                  </a:rPr>
                  <a:t>;  </a:t>
                </a:r>
                <a:r>
                  <a:rPr lang="vi-VN"/>
                  <a:t>u_{100}=-197</a:t>
                </a:r>
              </a:p>
            </p:txBody>
          </p:sp>
        </mc:Fallback>
      </mc:AlternateContent>
      <p:sp>
        <p:nvSpPr>
          <p:cNvPr id="8" name="Rounded Rectangle 7"/>
          <p:cNvSpPr/>
          <p:nvPr/>
        </p:nvSpPr>
        <p:spPr>
          <a:xfrm>
            <a:off x="731520" y="362407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=499</m:t>
                    </m:r>
                  </m:oMath>
                </a14:m>
                <a:r>
                  <a:rPr sz="2400" b="1">
                    <a:solidFill>
                      <a:srgbClr val="991B1B"/>
                    </a:solidFill>
                    <a:latin typeface="Calibri"/>
                  </a:rPr>
                  <a:t>;   b)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=−197</m:t>
                    </m:r>
                  </m:oMath>
                </a14:m>
              </a:p>
            </p:txBody>
          </p:sp>
        </mc:Choice>
        <mc:Fallback>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a:t>
                </a:r>
                <a:r>
                  <a:rPr lang="vi-VN"/>
                  <a:t>u_{100}=499</a:t>
                </a:r>
                <a:r>
                  <a:rPr sz="2400" b="1">
                    <a:solidFill>
                      <a:srgbClr val="991B1B"/>
                    </a:solidFill>
                    <a:latin typeface="Calibri"/>
                  </a:rPr>
                  <a:t>;   b) </a:t>
                </a:r>
                <a:r>
                  <a:rPr lang="vi-VN"/>
                  <a:t>u_{100}=-197</a:t>
                </a: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61823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Viết năm số hạng đầu của mỗi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sau và xét xem nó có phải là cấp số cộng không. Nếu dãy số đó là cấp số cộng, hãy tìm công sai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d</m:t>
                    </m:r>
                  </m:oMath>
                </a14:m>
                <a:r>
                  <a:rPr sz="2200">
                    <a:solidFill>
                      <a:srgbClr val="1E293B"/>
                    </a:solidFill>
                    <a:latin typeface="Calibri"/>
                  </a:rPr>
                  <a:t> và viết số hạng tổng quát của nó dưới dạng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+(n−1)d</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=3+5n</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=6n−4</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=2</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+n</m:t>
                    </m:r>
                  </m:oMath>
                </a14:m>
                <a:r>
                  <a:rPr sz="2200">
                    <a:solidFill>
                      <a:srgbClr val="1E293B"/>
                    </a:solidFill>
                    <a:latin typeface="Calibri"/>
                  </a:rPr>
                  <a:t>;</a:t>
                </a:r>
              </a:p>
            </p:txBody>
          </p:sp>
        </mc:Choice>
        <mc:Fallback>
          <p:sp>
            <p:nvSpPr>
              <p:cNvPr id="7" name="TextBox 6"/>
              <p:cNvSpPr txBox="1"/>
              <p:nvPr/>
            </p:nvSpPr>
            <p:spPr>
              <a:xfrm>
                <a:off x="731520" y="1463040"/>
                <a:ext cx="10789920" cy="261823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Viết năm số hạng đầu của mỗi dãy số </a:t>
                </a:r>
                <a:r>
                  <a:rPr lang="vi-VN"/>
                  <a:t>(u_n)</a:t>
                </a:r>
                <a:r>
                  <a:rPr sz="2200">
                    <a:solidFill>
                      <a:srgbClr val="1E293B"/>
                    </a:solidFill>
                    <a:latin typeface="Calibri"/>
                  </a:rPr>
                  <a:t> sau và xét xem nó có phải là cấp số cộng không. Nếu dãy số đó là cấp số cộng, hãy tìm công sai </a:t>
                </a:r>
                <a:r>
                  <a:rPr lang="vi-VN"/>
                  <a:t>d</a:t>
                </a:r>
                <a:r>
                  <a:rPr sz="2200">
                    <a:solidFill>
                      <a:srgbClr val="1E293B"/>
                    </a:solidFill>
                    <a:latin typeface="Calibri"/>
                  </a:rPr>
                  <a:t> và viết số hạng tổng quát của nó dưới dạng </a:t>
                </a:r>
                <a:r>
                  <a:rPr lang="vi-VN"/>
                  <a:t>u_n=u_1+(n−1)d</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a:t>
                </a:r>
                <a:r>
                  <a:rPr lang="vi-VN"/>
                  <a:t>u_n=3+5n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r>
                  <a:rPr lang="vi-VN"/>
                  <a:t>u_n=6n−4</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r>
                  <a:rPr lang="vi-VN"/>
                  <a:t>u_1=2</a:t>
                </a:r>
                <a:r>
                  <a:rPr sz="2200">
                    <a:solidFill>
                      <a:srgbClr val="1E293B"/>
                    </a:solidFill>
                    <a:latin typeface="Calibri"/>
                  </a:rPr>
                  <a:t>, </a:t>
                </a:r>
                <a:r>
                  <a:rPr lang="vi-VN"/>
                  <a:t>u_n=u_(n−1)+n</a:t>
                </a:r>
                <a:r>
                  <a:rPr sz="2200">
                    <a:solidFill>
                      <a:srgbClr val="1E293B"/>
                    </a:solidFill>
                    <a:latin typeface="Calibri"/>
                  </a:rPr>
                  <a:t>;</a:t>
                </a: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2.9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=2</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+3</m:t>
                    </m:r>
                  </m:oMath>
                </a14:m>
                <a:r>
                  <a:rPr sz="2200">
                    <a:solidFill>
                      <a:srgbClr val="1E293B"/>
                    </a:solidFill>
                    <a:latin typeface="Calibri"/>
                  </a:rPr>
                  <a:t>.</a:t>
                </a:r>
              </a:p>
              <a:p>
                <a:pPr algn="l">
                  <a:spcAft>
                    <a:spcPts val="800"/>
                  </a:spcAft>
                </a:pPr>
                <a:r>
                  <a:rPr sz="2200" b="1">
                    <a:solidFill>
                      <a:srgbClr val="1E40AF"/>
                    </a:solidFill>
                    <a:latin typeface="Calibri"/>
                  </a:rPr>
                  <a:t>Gợi mở: Viết năm số hạng rồi xét hiệu hai số hạng liên tiếp</a:t>
                </a:r>
              </a:p>
            </p:txBody>
          </p:sp>
        </mc:Choice>
        <mc:Fallback>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a:t>
                </a:r>
                <a:r>
                  <a:rPr lang="vi-VN"/>
                  <a:t>u_1=2</a:t>
                </a:r>
                <a:r>
                  <a:rPr sz="2200">
                    <a:solidFill>
                      <a:srgbClr val="1E293B"/>
                    </a:solidFill>
                    <a:latin typeface="Calibri"/>
                  </a:rPr>
                  <a:t>, </a:t>
                </a:r>
                <a:r>
                  <a:rPr lang="vi-VN"/>
                  <a:t>u_n=u_(n−1)+3</a:t>
                </a:r>
                <a:r>
                  <a:rPr sz="2200">
                    <a:solidFill>
                      <a:srgbClr val="1E293B"/>
                    </a:solidFill>
                    <a:latin typeface="Calibri"/>
                  </a:rPr>
                  <a:t>.</a:t>
                </a:r>
              </a:p>
              <a:p>
                <a:pPr algn="l">
                  <a:spcAft>
                    <a:spcPts val="800"/>
                  </a:spcAft>
                </a:pPr>
                <a:r>
                  <a:rPr sz="2200" b="1">
                    <a:solidFill>
                      <a:srgbClr val="1E40AF"/>
                    </a:solidFill>
                    <a:latin typeface="Calibri"/>
                  </a:rPr>
                  <a:t>Gợi mở: Viết năm số hạng rồi xét hiệu hai số hạng liên tiếp</a:t>
                </a: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8, 13, 18, 23, 28: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=5</m:t>
                    </m:r>
                  </m:oMath>
                </a14:m>
                <a:r>
                  <a:rPr sz="2400">
                    <a:solidFill>
                      <a:srgbClr val="1E293B"/>
                    </a:solidFill>
                    <a:latin typeface="Calibri"/>
                  </a:rPr>
                  <a:t> ⇒ cấp số cộng,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=8+(n−1)·5</m:t>
                    </m:r>
                  </m:oMath>
                </a14:m>
              </a:p>
              <a:p>
                <a:pPr algn="l" marL="365760" indent="-365760">
                  <a:spcAft>
                    <a:spcPts val="800"/>
                  </a:spcAft>
                  <a:buClr>
                    <a:srgbClr val="1E40AF"/>
                  </a:buClr>
                  <a:buFont typeface="Arial"/>
                  <a:buChar char="•"/>
                </a:pPr>
                <a:r>
                  <a:rPr sz="2400">
                    <a:solidFill>
                      <a:srgbClr val="1E293B"/>
                    </a:solidFill>
                    <a:latin typeface="Calibri"/>
                  </a:rPr>
                  <a:t>b) 2, 8, 14, 20, 26: </a:t>
                </a:r>
                <a14:m>
                  <m:oMath xmlns:m="http://schemas.openxmlformats.org/officeDocument/2006/math">
                    <m:r>
                      <a:rPr lang="vi-VN" sz="2400" b="0">
                        <a:solidFill>
                          <a:srgbClr val="1E293B"/>
                        </a:solidFill>
                        <a:latin typeface="Cambria Math" panose="02040503050406030204" pitchFamily="18" charset="0"/>
                      </a:rPr>
                      <m:t>d=6</m:t>
                    </m:r>
                  </m:oMath>
                </a14:m>
                <a:r>
                  <a:rPr sz="2400">
                    <a:solidFill>
                      <a:srgbClr val="1E293B"/>
                    </a:solidFill>
                    <a:latin typeface="Calibri"/>
                  </a:rPr>
                  <a:t> ⇒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=2+(n−1)·6</m:t>
                    </m:r>
                  </m:oMath>
                </a14:m>
              </a:p>
              <a:p>
                <a:pPr algn="l" marL="365760" indent="-365760">
                  <a:spcAft>
                    <a:spcPts val="800"/>
                  </a:spcAft>
                  <a:buClr>
                    <a:srgbClr val="1E40AF"/>
                  </a:buClr>
                  <a:buFont typeface="Arial"/>
                  <a:buChar char="•"/>
                </a:pPr>
                <a:r>
                  <a:rPr sz="2400">
                    <a:solidFill>
                      <a:srgbClr val="1E293B"/>
                    </a:solidFill>
                    <a:latin typeface="Calibri"/>
                  </a:rPr>
                  <a:t>c) 2, 4, 7, 11, 16: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=n</m:t>
                    </m:r>
                  </m:oMath>
                </a14:m>
                <a:r>
                  <a:rPr sz="2400">
                    <a:solidFill>
                      <a:srgbClr val="1E293B"/>
                    </a:solidFill>
                    <a:latin typeface="Calibri"/>
                  </a:rPr>
                  <a:t> thay đổi ⇒ không là cấp số cộng</a:t>
                </a:r>
              </a:p>
              <a:p>
                <a:pPr algn="l" marL="365760" indent="-365760">
                  <a:spcAft>
                    <a:spcPts val="800"/>
                  </a:spcAft>
                  <a:buClr>
                    <a:srgbClr val="1E40AF"/>
                  </a:buClr>
                  <a:buFont typeface="Arial"/>
                  <a:buChar char="•"/>
                </a:pPr>
                <a:r>
                  <a:rPr sz="2400">
                    <a:solidFill>
                      <a:srgbClr val="1E293B"/>
                    </a:solidFill>
                    <a:latin typeface="Calibri"/>
                  </a:rPr>
                  <a:t>d) 2, 5, 8, 11, 14: </a:t>
                </a:r>
                <a14:m>
                  <m:oMath xmlns:m="http://schemas.openxmlformats.org/officeDocument/2006/math">
                    <m:r>
                      <a:rPr lang="vi-VN" sz="2400" b="0">
                        <a:solidFill>
                          <a:srgbClr val="1E293B"/>
                        </a:solidFill>
                        <a:latin typeface="Cambria Math" panose="02040503050406030204" pitchFamily="18" charset="0"/>
                      </a:rPr>
                      <m:t>d=3</m:t>
                    </m:r>
                  </m:oMath>
                </a14:m>
                <a:r>
                  <a:rPr sz="2400">
                    <a:solidFill>
                      <a:srgbClr val="1E293B"/>
                    </a:solidFill>
                    <a:latin typeface="Calibri"/>
                  </a:rPr>
                  <a:t> ⇒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=2+(n−1)·3</m:t>
                    </m:r>
                  </m:oMath>
                </a14:m>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8, 13, 18, 23, 28: </a:t>
                </a:r>
                <a:r>
                  <a:rPr lang="vi-VN"/>
                  <a:t>u_n-u_{n-1}=5</a:t>
                </a:r>
                <a:r>
                  <a:rPr sz="2400">
                    <a:solidFill>
                      <a:srgbClr val="1E293B"/>
                    </a:solidFill>
                    <a:latin typeface="Calibri"/>
                  </a:rPr>
                  <a:t> ⇒ cấp số cộng, </a:t>
                </a:r>
                <a:r>
                  <a:rPr lang="vi-VN"/>
                  <a:t>u_n=8+(n-1)\cdot 5</a:t>
                </a:r>
              </a:p>
              <a:p>
                <a:pPr algn="l" marL="365760" indent="-365760">
                  <a:spcAft>
                    <a:spcPts val="800"/>
                  </a:spcAft>
                  <a:buClr>
                    <a:srgbClr val="1E40AF"/>
                  </a:buClr>
                  <a:buFont typeface="Arial"/>
                  <a:buChar char="•"/>
                </a:pPr>
                <a:r>
                  <a:rPr sz="2400">
                    <a:solidFill>
                      <a:srgbClr val="1E293B"/>
                    </a:solidFill>
                    <a:latin typeface="Calibri"/>
                  </a:rPr>
                  <a:t>b) 2, 8, 14, 20, 26: </a:t>
                </a:r>
                <a:r>
                  <a:rPr lang="vi-VN"/>
                  <a:t>d=6</a:t>
                </a:r>
                <a:r>
                  <a:rPr sz="2400">
                    <a:solidFill>
                      <a:srgbClr val="1E293B"/>
                    </a:solidFill>
                    <a:latin typeface="Calibri"/>
                  </a:rPr>
                  <a:t> ⇒ </a:t>
                </a:r>
                <a:r>
                  <a:rPr lang="vi-VN"/>
                  <a:t>u_n=2+(n-1)\cdot 6</a:t>
                </a:r>
              </a:p>
              <a:p>
                <a:pPr algn="l" marL="365760" indent="-365760">
                  <a:spcAft>
                    <a:spcPts val="800"/>
                  </a:spcAft>
                  <a:buClr>
                    <a:srgbClr val="1E40AF"/>
                  </a:buClr>
                  <a:buFont typeface="Arial"/>
                  <a:buChar char="•"/>
                </a:pPr>
                <a:r>
                  <a:rPr sz="2400">
                    <a:solidFill>
                      <a:srgbClr val="1E293B"/>
                    </a:solidFill>
                    <a:latin typeface="Calibri"/>
                  </a:rPr>
                  <a:t>c) 2, 4, 7, 11, 16: </a:t>
                </a:r>
                <a:r>
                  <a:rPr lang="vi-VN"/>
                  <a:t>u_n-u_{n-1}=n</a:t>
                </a:r>
                <a:r>
                  <a:rPr sz="2400">
                    <a:solidFill>
                      <a:srgbClr val="1E293B"/>
                    </a:solidFill>
                    <a:latin typeface="Calibri"/>
                  </a:rPr>
                  <a:t> thay đổi ⇒ không là cấp số cộng</a:t>
                </a:r>
              </a:p>
              <a:p>
                <a:pPr algn="l" marL="365760" indent="-365760">
                  <a:spcAft>
                    <a:spcPts val="800"/>
                  </a:spcAft>
                  <a:buClr>
                    <a:srgbClr val="1E40AF"/>
                  </a:buClr>
                  <a:buFont typeface="Arial"/>
                  <a:buChar char="•"/>
                </a:pPr>
                <a:r>
                  <a:rPr sz="2400">
                    <a:solidFill>
                      <a:srgbClr val="1E293B"/>
                    </a:solidFill>
                    <a:latin typeface="Calibri"/>
                  </a:rPr>
                  <a:t>d) 2, 5, 8, 11, 14: </a:t>
                </a:r>
                <a:r>
                  <a:rPr lang="vi-VN"/>
                  <a:t>d=3</a:t>
                </a:r>
                <a:r>
                  <a:rPr sz="2400">
                    <a:solidFill>
                      <a:srgbClr val="1E293B"/>
                    </a:solidFill>
                    <a:latin typeface="Calibri"/>
                  </a:rPr>
                  <a:t> ⇒ </a:t>
                </a:r>
                <a:r>
                  <a:rPr lang="vi-VN"/>
                  <a:t>u_n=2+(n-1)\cdot 3</a:t>
                </a:r>
              </a:p>
            </p:txBody>
          </p:sp>
        </mc:Fallback>
      </mc:AlternateContent>
      <p:sp>
        <p:nvSpPr>
          <p:cNvPr id="8" name="Rounded Rectangle 7"/>
          <p:cNvSpPr/>
          <p:nvPr/>
        </p:nvSpPr>
        <p:spPr>
          <a:xfrm>
            <a:off x="731520" y="362407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b), d) là cấp số cộng; c) không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cộng có số hạng thứ 5 bằng 18 và số hạng thứ 12 bằng 32. Tìm số hạng thứ 50 của cấp số cộng này.</a:t>
                </a:r>
              </a:p>
              <a:p>
                <a:pPr algn="l">
                  <a:spcAft>
                    <a:spcPts val="800"/>
                  </a:spcAft>
                </a:pPr>
                <a:r>
                  <a:rPr sz="2400" b="1">
                    <a:solidFill>
                      <a:srgbClr val="1E40AF"/>
                    </a:solidFill>
                    <a:latin typeface="Calibri"/>
                  </a:rPr>
                  <a:t>Gợi mở: Lập hệ theo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oMath>
                </a14:m>
                <a:r>
                  <a:rPr sz="2400" b="1">
                    <a:solidFill>
                      <a:srgbClr val="1E40AF"/>
                    </a:solidFill>
                    <a:latin typeface="Calibri"/>
                  </a:rPr>
                  <a:t> và </a:t>
                </a:r>
                <a14:m>
                  <m:oMath xmlns:m="http://schemas.openxmlformats.org/officeDocument/2006/math">
                    <m:r>
                      <a:rPr lang="vi-VN" sz="2400" b="1">
                        <a:solidFill>
                          <a:srgbClr val="1E40AF"/>
                        </a:solidFill>
                        <a:latin typeface="Cambria Math" panose="02040503050406030204" pitchFamily="18" charset="0"/>
                      </a:rPr>
                      <m:t>d</m:t>
                    </m:r>
                  </m:oMath>
                </a14:m>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cộng có số hạng thứ 5 bằng 18 và số hạng thứ 12 bằng 32. Tìm số hạng thứ 50 của cấp số cộng này.</a:t>
                </a:r>
              </a:p>
              <a:p>
                <a:pPr algn="l">
                  <a:spcAft>
                    <a:spcPts val="800"/>
                  </a:spcAft>
                </a:pPr>
                <a:r>
                  <a:rPr sz="2400" b="1">
                    <a:solidFill>
                      <a:srgbClr val="1E40AF"/>
                    </a:solidFill>
                    <a:latin typeface="Calibri"/>
                  </a:rPr>
                  <a:t>Gợi mở: Lập hệ theo </a:t>
                </a:r>
                <a:r>
                  <a:rPr lang="vi-VN"/>
                  <a:t>u_1</a:t>
                </a:r>
                <a:r>
                  <a:rPr sz="2400" b="1">
                    <a:solidFill>
                      <a:srgbClr val="1E40AF"/>
                    </a:solidFill>
                    <a:latin typeface="Calibri"/>
                  </a:rPr>
                  <a:t> và </a:t>
                </a:r>
                <a:r>
                  <a:rPr lang="vi-VN"/>
                  <a:t>d</a:t>
                </a: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+4d=18</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+11d=32</m:t>
                    </m:r>
                  </m:oMath>
                </a14:m>
              </a:p>
              <a:p>
                <a:pPr algn="l" marL="365760" indent="-365760">
                  <a:spcAft>
                    <a:spcPts val="800"/>
                  </a:spcAft>
                  <a:buClr>
                    <a:srgbClr val="1E40AF"/>
                  </a:buClr>
                  <a:buFont typeface="Arial"/>
                  <a:buChar char="•"/>
                </a:pPr>
                <a:r>
                  <a:rPr sz="2400">
                    <a:solidFill>
                      <a:srgbClr val="1E293B"/>
                    </a:solidFill>
                    <a:latin typeface="Calibri"/>
                  </a:rPr>
                  <a:t>Trừ vế: </a:t>
                </a:r>
                <a14:m>
                  <m:oMath xmlns:m="http://schemas.openxmlformats.org/officeDocument/2006/math">
                    <m:r>
                      <a:rPr lang="vi-VN" sz="2400" b="0">
                        <a:solidFill>
                          <a:srgbClr val="1E293B"/>
                        </a:solidFill>
                        <a:latin typeface="Cambria Math" panose="02040503050406030204" pitchFamily="18" charset="0"/>
                      </a:rPr>
                      <m:t>7d=14⇒d=2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=18−8=10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+49d=10+49·2</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u_5=u_1+4d=18</a:t>
                </a:r>
                <a:r>
                  <a:rPr sz="2400">
                    <a:solidFill>
                      <a:srgbClr val="1E293B"/>
                    </a:solidFill>
                    <a:latin typeface="Calibri"/>
                  </a:rPr>
                  <a:t>;  </a:t>
                </a:r>
                <a:r>
                  <a:rPr lang="vi-VN"/>
                  <a:t>u_{12}=u_1+11d=32</a:t>
                </a:r>
              </a:p>
              <a:p>
                <a:pPr algn="l" marL="365760" indent="-365760">
                  <a:spcAft>
                    <a:spcPts val="800"/>
                  </a:spcAft>
                  <a:buClr>
                    <a:srgbClr val="1E40AF"/>
                  </a:buClr>
                  <a:buFont typeface="Arial"/>
                  <a:buChar char="•"/>
                </a:pPr>
                <a:r>
                  <a:rPr sz="2400">
                    <a:solidFill>
                      <a:srgbClr val="1E293B"/>
                    </a:solidFill>
                    <a:latin typeface="Calibri"/>
                  </a:rPr>
                  <a:t>Trừ vế: </a:t>
                </a:r>
                <a:r>
                  <a:rPr lang="vi-VN"/>
                  <a:t>7d=14\Rightarrow d=2</a:t>
                </a:r>
                <a:r>
                  <a:rPr sz="2400">
                    <a:solidFill>
                      <a:srgbClr val="1E293B"/>
                    </a:solidFill>
                    <a:latin typeface="Calibri"/>
                  </a:rPr>
                  <a:t>;  </a:t>
                </a:r>
                <a:r>
                  <a:rPr lang="vi-VN"/>
                  <a:t>u_1=18-8=10</a:t>
                </a:r>
              </a:p>
              <a:p>
                <a:pPr algn="l" marL="365760" indent="-365760">
                  <a:spcAft>
                    <a:spcPts val="800"/>
                  </a:spcAft>
                  <a:buClr>
                    <a:srgbClr val="1E40AF"/>
                  </a:buClr>
                  <a:buFont typeface="Arial"/>
                  <a:buChar char="•"/>
                </a:pPr>
                <a:r>
                  <a:rPr lang="vi-VN"/>
                  <a:t>u_{50}=u_1+49d=10+49\cdot 2</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50</m:t>
                        </m:r>
                      </m:sub>
                    </m:sSub>
                    <m:r>
                      <a:rPr lang="vi-VN" sz="2400" b="1">
                        <a:solidFill>
                          <a:srgbClr val="991B1B"/>
                        </a:solidFill>
                        <a:latin typeface="Cambria Math" panose="02040503050406030204" pitchFamily="18" charset="0"/>
                      </a:rPr>
                      <m:t>=108</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u_{50}=108</a:t>
                </a: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0441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cộng có số hạng đầu bằng 5 và công sai bằng 2. Hỏi phải lấy tổng của bao nhiêu số hạng đầu của cấp số cộng này để có tổng bằng 2 700?</a:t>
                </a:r>
              </a:p>
              <a:p>
                <a:pPr algn="l">
                  <a:spcAft>
                    <a:spcPts val="800"/>
                  </a:spcAft>
                </a:pPr>
                <a:r>
                  <a:rPr sz="2400" b="1">
                    <a:solidFill>
                      <a:srgbClr val="1E40AF"/>
                    </a:solidFill>
                    <a:latin typeface="Calibri"/>
                  </a:rPr>
                  <a:t>Gợi mở: Đặt </a:t>
                </a:r>
                <a14:m>
                  <m:oMath xmlns:m="http://schemas.openxmlformats.org/officeDocument/2006/math">
                    <m:sSub>
                      <m:e>
                        <m:r>
                          <a:rPr lang="vi-VN" sz="2400" b="1">
                            <a:solidFill>
                              <a:srgbClr val="1E40AF"/>
                            </a:solidFill>
                            <a:latin typeface="Cambria Math" panose="02040503050406030204" pitchFamily="18" charset="0"/>
                          </a:rPr>
                          <m:t>S</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=2</m:t>
                    </m:r>
                    <m:r>
                      <m:rPr>
                        <m:sty m:val="p"/>
                      </m:rPr>
                      <a:rPr lang="vi-VN" sz="2400" b="1">
                        <a:solidFill>
                          <a:srgbClr val="1E40AF"/>
                        </a:solidFill>
                        <a:latin typeface="Cambria Math" panose="02040503050406030204" pitchFamily="18" charset="0"/>
                      </a:rPr>
                      <m:t> </m:t>
                    </m:r>
                    <m:r>
                      <a:rPr lang="vi-VN" sz="2400" b="1">
                        <a:solidFill>
                          <a:srgbClr val="1E40AF"/>
                        </a:solidFill>
                        <a:latin typeface="Cambria Math" panose="02040503050406030204" pitchFamily="18" charset="0"/>
                      </a:rPr>
                      <m:t>700</m:t>
                    </m:r>
                  </m:oMath>
                </a14:m>
              </a:p>
            </p:txBody>
          </p:sp>
        </mc:Choice>
        <mc:Fallback>
          <p:sp>
            <p:nvSpPr>
              <p:cNvPr id="7" name="TextBox 6"/>
              <p:cNvSpPr txBox="1"/>
              <p:nvPr/>
            </p:nvSpPr>
            <p:spPr>
              <a:xfrm>
                <a:off x="731520" y="1463040"/>
                <a:ext cx="10789920" cy="180441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cộng có số hạng đầu bằng 5 và công sai bằng 2. Hỏi phải lấy tổng của bao nhiêu số hạng đầu của cấp số cộng này để có tổng bằng 2 700?</a:t>
                </a:r>
              </a:p>
              <a:p>
                <a:pPr algn="l">
                  <a:spcAft>
                    <a:spcPts val="800"/>
                  </a:spcAft>
                </a:pPr>
                <a:r>
                  <a:rPr sz="2400" b="1">
                    <a:solidFill>
                      <a:srgbClr val="1E40AF"/>
                    </a:solidFill>
                    <a:latin typeface="Calibri"/>
                  </a:rPr>
                  <a:t>Gợi mở: Đặt </a:t>
                </a:r>
                <a:r>
                  <a:rPr lang="vi-VN"/>
                  <a:t>S_n=2\,700</a:t>
                </a: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n</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[2·5+2(n−1)]=n(n+4)</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n(n+4)=2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700⇔</m:t>
                    </m:r>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+4n−2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700=0</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⇔n=50</m:t>
                    </m:r>
                  </m:oMath>
                </a14:m>
                <a:r>
                  <a:rPr sz="2400">
                    <a:solidFill>
                      <a:srgbClr val="1E293B"/>
                    </a:solidFill>
                    <a:latin typeface="Calibri"/>
                  </a:rPr>
                  <a:t> hoặc </a:t>
                </a:r>
                <a14:m>
                  <m:oMath xmlns:m="http://schemas.openxmlformats.org/officeDocument/2006/math">
                    <m:r>
                      <a:rPr lang="vi-VN" sz="2400" b="0">
                        <a:solidFill>
                          <a:srgbClr val="1E293B"/>
                        </a:solidFill>
                        <a:latin typeface="Cambria Math" panose="02040503050406030204" pitchFamily="18" charset="0"/>
                      </a:rPr>
                      <m:t>n=−54</m:t>
                    </m:r>
                  </m:oMath>
                </a14:m>
                <a:r>
                  <a:rPr sz="2400">
                    <a:solidFill>
                      <a:srgbClr val="1E293B"/>
                    </a:solidFill>
                    <a:latin typeface="Calibri"/>
                  </a:rPr>
                  <a:t> (loại)</a:t>
                </a:r>
              </a:p>
            </p:txBody>
          </p:sp>
        </mc:Choice>
        <mc:Fallback>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u_1=5</a:t>
                </a:r>
                <a:r>
                  <a:rPr sz="2400">
                    <a:solidFill>
                      <a:srgbClr val="1E293B"/>
                    </a:solidFill>
                    <a:latin typeface="Calibri"/>
                  </a:rPr>
                  <a:t>, </a:t>
                </a:r>
                <a:r>
                  <a:rPr lang="vi-VN"/>
                  <a:t>d=2</a:t>
                </a:r>
                <a:r>
                  <a:rPr sz="2400">
                    <a:solidFill>
                      <a:srgbClr val="1E293B"/>
                    </a:solidFill>
                    <a:latin typeface="Calibri"/>
                  </a:rPr>
                  <a:t>: </a:t>
                </a:r>
                <a:r>
                  <a:rPr lang="vi-VN"/>
                  <a:t>S_n=\frac{n}{2}[2\cdot 5+2(n-1)]=n(n+4)</a:t>
                </a:r>
              </a:p>
              <a:p>
                <a:pPr algn="l" marL="365760" indent="-365760">
                  <a:spcAft>
                    <a:spcPts val="800"/>
                  </a:spcAft>
                  <a:buClr>
                    <a:srgbClr val="1E40AF"/>
                  </a:buClr>
                  <a:buFont typeface="Arial"/>
                  <a:buChar char="•"/>
                </a:pPr>
                <a:r>
                  <a:rPr lang="vi-VN"/>
                  <a:t>n(n+4)=2\,700\Leftrightarrow n^2+4n-2\,700=0</a:t>
                </a:r>
              </a:p>
              <a:p>
                <a:pPr algn="l" marL="365760" indent="-365760">
                  <a:spcAft>
                    <a:spcPts val="800"/>
                  </a:spcAft>
                  <a:buClr>
                    <a:srgbClr val="1E40AF"/>
                  </a:buClr>
                  <a:buFont typeface="Arial"/>
                  <a:buChar char="•"/>
                </a:pPr>
                <a:r>
                  <a:rPr lang="vi-VN"/>
                  <a:t>\Leftrightarrow n=50</a:t>
                </a:r>
                <a:r>
                  <a:rPr sz="2400">
                    <a:solidFill>
                      <a:srgbClr val="1E293B"/>
                    </a:solidFill>
                    <a:latin typeface="Calibri"/>
                  </a:rPr>
                  <a:t> hoặc </a:t>
                </a:r>
                <a:r>
                  <a:rPr lang="vi-VN"/>
                  <a:t>n=-54</a:t>
                </a:r>
                <a:r>
                  <a:rPr sz="2400">
                    <a:solidFill>
                      <a:srgbClr val="1E293B"/>
                    </a:solidFill>
                    <a:latin typeface="Calibri"/>
                  </a:rPr>
                  <a:t> (loại)</a:t>
                </a:r>
              </a:p>
            </p:txBody>
          </p:sp>
        </mc:Fallback>
      </mc:AlternateContent>
      <p:sp>
        <p:nvSpPr>
          <p:cNvPr id="8" name="Rounded Rectangle 7"/>
          <p:cNvSpPr/>
          <p:nvPr/>
        </p:nvSpPr>
        <p:spPr>
          <a:xfrm>
            <a:off x="731520" y="329641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9641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Lấy tổng 50 số hạng đầu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49</a:t>
            </a:r>
          </a:p>
        </p:txBody>
      </p:sp>
      <p:sp>
        <p:nvSpPr>
          <p:cNvPr id="7" name="TextBox 6"/>
          <p:cNvSpPr txBox="1"/>
          <p:nvPr/>
        </p:nvSpPr>
        <p:spPr>
          <a:xfrm>
            <a:off x="731520" y="1463040"/>
            <a:ext cx="10789920" cy="1804416"/>
          </a:xfrm>
          <a:prstGeom prst="rect">
            <a:avLst/>
          </a:prstGeom>
          <a:noFill/>
        </p:spPr>
        <p:txBody>
          <a:bodyPr wrap="square" anchor="t" lIns="45720" rIns="45720">
            <a:spAutoFit/>
          </a:bodyPr>
          <a:lstStyle/>
          <a:p>
            <a:pPr algn="l">
              <a:spcAft>
                <a:spcPts val="800"/>
              </a:spcAft>
            </a:pPr>
            <a:r>
              <a:rPr sz="2400">
                <a:solidFill>
                  <a:srgbClr val="1E293B"/>
                </a:solidFill>
                <a:latin typeface="Calibri"/>
              </a:rPr>
              <a:t>Giá của một chiếc xe ô tô lúc mới mua là 680 triệu đồng. Cứ sau mỗi năm sử dụng, giá trị của chiếc xe ô tô giảm 55 triệu đồng. Tính giá trị còn lại của chiếc xe ô tô sau 5 năm sử dụng.</a:t>
            </a:r>
          </a:p>
          <a:p>
            <a:pPr algn="l">
              <a:spcAft>
                <a:spcPts val="800"/>
              </a:spcAft>
            </a:pPr>
            <a:r>
              <a:rPr sz="2400" b="1">
                <a:solidFill>
                  <a:srgbClr val="1E40AF"/>
                </a:solidFill>
                <a:latin typeface="Calibri"/>
              </a:rPr>
              <a:t>Gợi mở: Giá trị các năm giảm đều 55 triệu</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Giá trị sau mỗi năm: cấp số cộng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=680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d=−55</m:t>
                    </m:r>
                  </m:oMath>
                </a14:m>
              </a:p>
              <a:p>
                <a:pPr algn="l" marL="365760" indent="-365760">
                  <a:spcAft>
                    <a:spcPts val="800"/>
                  </a:spcAft>
                  <a:buClr>
                    <a:srgbClr val="1E40AF"/>
                  </a:buClr>
                  <a:buFont typeface="Arial"/>
                  <a:buChar char="•"/>
                </a:pPr>
                <a:r>
                  <a:rPr sz="2400">
                    <a:solidFill>
                      <a:srgbClr val="1E293B"/>
                    </a:solidFill>
                    <a:latin typeface="Calibri"/>
                  </a:rPr>
                  <a:t>Sau 1, 2, 3, 4, 5 năm: 625; 570; 515; 460; 405</a:t>
                </a:r>
              </a:p>
              <a:p>
                <a:pPr algn="l" marL="365760" indent="-365760">
                  <a:spcAft>
                    <a:spcPts val="800"/>
                  </a:spcAft>
                  <a:buClr>
                    <a:srgbClr val="1E40AF"/>
                  </a:buClr>
                  <a:buFont typeface="Arial"/>
                  <a:buChar char="•"/>
                </a:pPr>
                <a:r>
                  <a:rPr sz="2400">
                    <a:solidFill>
                      <a:srgbClr val="1E293B"/>
                    </a:solidFill>
                    <a:latin typeface="Calibri"/>
                  </a:rPr>
                  <a:t>Sau 5 năm: </a:t>
                </a:r>
                <a14:m>
                  <m:oMath xmlns:m="http://schemas.openxmlformats.org/officeDocument/2006/math">
                    <m:r>
                      <a:rPr lang="vi-VN" sz="2400" b="0">
                        <a:solidFill>
                          <a:srgbClr val="1E293B"/>
                        </a:solidFill>
                        <a:latin typeface="Cambria Math" panose="02040503050406030204" pitchFamily="18" charset="0"/>
                      </a:rPr>
                      <m:t>680−5·55=405</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Giá trị sau mỗi năm: cấp số cộng </a:t>
                </a:r>
                <a:r>
                  <a:rPr lang="vi-VN"/>
                  <a:t>u_1=680</a:t>
                </a:r>
                <a:r>
                  <a:rPr sz="2400">
                    <a:solidFill>
                      <a:srgbClr val="1E293B"/>
                    </a:solidFill>
                    <a:latin typeface="Calibri"/>
                  </a:rPr>
                  <a:t>, </a:t>
                </a:r>
                <a:r>
                  <a:rPr lang="vi-VN"/>
                  <a:t>d=-55</a:t>
                </a:r>
              </a:p>
              <a:p>
                <a:pPr algn="l" marL="365760" indent="-365760">
                  <a:spcAft>
                    <a:spcPts val="800"/>
                  </a:spcAft>
                  <a:buClr>
                    <a:srgbClr val="1E40AF"/>
                  </a:buClr>
                  <a:buFont typeface="Arial"/>
                  <a:buChar char="•"/>
                </a:pPr>
                <a:r>
                  <a:rPr sz="2400">
                    <a:solidFill>
                      <a:srgbClr val="1E293B"/>
                    </a:solidFill>
                    <a:latin typeface="Calibri"/>
                  </a:rPr>
                  <a:t>Sau 1, 2, 3, 4, 5 năm: 625; 570; 515; 460; 405</a:t>
                </a:r>
              </a:p>
              <a:p>
                <a:pPr algn="l" marL="365760" indent="-365760">
                  <a:spcAft>
                    <a:spcPts val="800"/>
                  </a:spcAft>
                  <a:buClr>
                    <a:srgbClr val="1E40AF"/>
                  </a:buClr>
                  <a:buFont typeface="Arial"/>
                  <a:buChar char="•"/>
                </a:pPr>
                <a:r>
                  <a:rPr sz="2400">
                    <a:solidFill>
                      <a:srgbClr val="1E293B"/>
                    </a:solidFill>
                    <a:latin typeface="Calibri"/>
                  </a:rPr>
                  <a:t>Sau 5 năm: </a:t>
                </a:r>
                <a:r>
                  <a:rPr lang="vi-VN"/>
                  <a:t>680-5\cdot 55=405</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Còn 405 triệu đồng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9689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kiến trúc sư thiết kế một hội trường với 15 ghế ngồi ở hàng thứ nhất, 18 ghế ngồi ở hàng thứ hai, 21 ghế ngồi ở hàng thứ ba, và cứ như vậy (số ghế ở hàng sau nhiều hơn 3 ghế so với số ghế ở hàng liền trước nó). Nếu muốn hội trường đó có sức chứa ít nhất 870 ghế ngồi thì kiến trúc sư đó phải thiết kế tối thiểu bao nhiêu hàng ghế?</a:t>
                </a:r>
              </a:p>
              <a:p>
                <a:pPr algn="l">
                  <a:spcAft>
                    <a:spcPts val="800"/>
                  </a:spcAft>
                </a:pPr>
                <a:r>
                  <a:rPr sz="2400" b="1">
                    <a:solidFill>
                      <a:srgbClr val="1E40AF"/>
                    </a:solidFill>
                    <a:latin typeface="Calibri"/>
                  </a:rPr>
                  <a:t>Gợi mở: Tìm n nhỏ nhất để </a:t>
                </a:r>
                <a14:m>
                  <m:oMath xmlns:m="http://schemas.openxmlformats.org/officeDocument/2006/math">
                    <m:sSub>
                      <m:e>
                        <m:r>
                          <a:rPr lang="vi-VN" sz="2400" b="1">
                            <a:solidFill>
                              <a:srgbClr val="1E40AF"/>
                            </a:solidFill>
                            <a:latin typeface="Cambria Math" panose="02040503050406030204" pitchFamily="18" charset="0"/>
                          </a:rPr>
                          <m:t>S</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≥870</m:t>
                    </m:r>
                  </m:oMath>
                </a14:m>
              </a:p>
            </p:txBody>
          </p:sp>
        </mc:Choice>
        <mc:Fallback>
          <p:sp>
            <p:nvSpPr>
              <p:cNvPr id="7" name="TextBox 6"/>
              <p:cNvSpPr txBox="1"/>
              <p:nvPr/>
            </p:nvSpPr>
            <p:spPr>
              <a:xfrm>
                <a:off x="731520" y="1463040"/>
                <a:ext cx="10789920" cy="259689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kiến trúc sư thiết kế một hội trường với 15 ghế ngồi ở hàng thứ nhất, 18 ghế ngồi ở hàng thứ hai, 21 ghế ngồi ở hàng thứ ba, và cứ như vậy (số ghế ở hàng sau nhiều hơn 3 ghế so với số ghế ở hàng liền trước nó). Nếu muốn hội trường đó có sức chứa ít nhất 870 ghế ngồi thì kiến trúc sư đó phải thiết kế tối thiểu bao nhiêu hàng ghế?</a:t>
                </a:r>
              </a:p>
              <a:p>
                <a:pPr algn="l">
                  <a:spcAft>
                    <a:spcPts val="800"/>
                  </a:spcAft>
                </a:pPr>
                <a:r>
                  <a:rPr sz="2400" b="1">
                    <a:solidFill>
                      <a:srgbClr val="1E40AF"/>
                    </a:solidFill>
                    <a:latin typeface="Calibri"/>
                  </a:rPr>
                  <a:t>Gợi mở: Tìm n nhỏ nhất để </a:t>
                </a:r>
                <a:r>
                  <a:rPr lang="vi-VN"/>
                  <a:t>S_n\ge 870</a:t>
                </a: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Số ghế các hàng: cấp số cộng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=15</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d=3</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n</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[30+3(n−1)]=</m:t>
                    </m:r>
                    <m:f>
                      <m:fPr>
                        <m:type m:val="bar"/>
                      </m:fPr>
                      <m:num>
                        <m:r>
                          <a:rPr lang="vi-VN" sz="2400" b="0">
                            <a:solidFill>
                              <a:srgbClr val="1E293B"/>
                            </a:solidFill>
                            <a:latin typeface="Cambria Math" panose="02040503050406030204" pitchFamily="18" charset="0"/>
                          </a:rPr>
                          <m:t>n(3n+27)</m:t>
                        </m:r>
                      </m:num>
                      <m:den>
                        <m:r>
                          <a:rPr lang="vi-VN" sz="2400" b="0">
                            <a:solidFill>
                              <a:srgbClr val="1E293B"/>
                            </a:solidFill>
                            <a:latin typeface="Cambria Math" panose="02040503050406030204" pitchFamily="18" charset="0"/>
                          </a:rPr>
                          <m:t>2</m:t>
                        </m:r>
                      </m:den>
                    </m:f>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≥870⇔</m:t>
                    </m:r>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+9n−580≥0</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⇔n≥20</m:t>
                    </m:r>
                  </m:oMath>
                </a14:m>
                <a:r>
                  <a:rPr sz="2400">
                    <a:solidFill>
                      <a:srgbClr val="1E293B"/>
                    </a:solidFill>
                    <a:latin typeface="Calibri"/>
                  </a:rPr>
                  <a:t> (vì </a:t>
                </a:r>
                <a14:m>
                  <m:oMath xmlns:m="http://schemas.openxmlformats.org/officeDocument/2006/math">
                    <m:r>
                      <a:rPr lang="vi-VN" sz="2400" b="0">
                        <a:solidFill>
                          <a:srgbClr val="1E293B"/>
                        </a:solidFill>
                        <a:latin typeface="Cambria Math" panose="02040503050406030204" pitchFamily="18" charset="0"/>
                      </a:rPr>
                      <m:t>n&gt;0</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19</m:t>
                        </m:r>
                      </m:sub>
                    </m:sSub>
                    <m:r>
                      <a:rPr lang="vi-VN" sz="2400" b="0">
                        <a:solidFill>
                          <a:srgbClr val="1E293B"/>
                        </a:solidFill>
                        <a:latin typeface="Cambria Math" panose="02040503050406030204" pitchFamily="18" charset="0"/>
                      </a:rPr>
                      <m:t>=798&lt;870</m:t>
                    </m:r>
                  </m:oMath>
                </a14:m>
              </a:p>
            </p:txBody>
          </p:sp>
        </mc:Choice>
        <mc:Fallback>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Số ghế các hàng: cấp số cộng </a:t>
                </a:r>
                <a:r>
                  <a:rPr lang="vi-VN"/>
                  <a:t>u_1=15</a:t>
                </a:r>
                <a:r>
                  <a:rPr sz="2400">
                    <a:solidFill>
                      <a:srgbClr val="1E293B"/>
                    </a:solidFill>
                    <a:latin typeface="Calibri"/>
                  </a:rPr>
                  <a:t>, </a:t>
                </a:r>
                <a:r>
                  <a:rPr lang="vi-VN"/>
                  <a:t>d=3</a:t>
                </a:r>
              </a:p>
              <a:p>
                <a:pPr algn="l" marL="365760" indent="-365760">
                  <a:spcAft>
                    <a:spcPts val="800"/>
                  </a:spcAft>
                  <a:buClr>
                    <a:srgbClr val="1E40AF"/>
                  </a:buClr>
                  <a:buFont typeface="Arial"/>
                  <a:buChar char="•"/>
                </a:pPr>
                <a:r>
                  <a:rPr lang="vi-VN"/>
                  <a:t>S_n=\frac{n}{2}[30+3(n-1)]=\frac{n(3n+27)}{2}</a:t>
                </a:r>
              </a:p>
              <a:p>
                <a:pPr algn="l" marL="365760" indent="-365760">
                  <a:spcAft>
                    <a:spcPts val="800"/>
                  </a:spcAft>
                  <a:buClr>
                    <a:srgbClr val="1E40AF"/>
                  </a:buClr>
                  <a:buFont typeface="Arial"/>
                  <a:buChar char="•"/>
                </a:pPr>
                <a:r>
                  <a:rPr lang="vi-VN"/>
                  <a:t>S_n\ge 870\Leftrightarrow n^2+9n-580\ge 0</a:t>
                </a:r>
              </a:p>
              <a:p>
                <a:pPr algn="l" marL="365760" indent="-365760">
                  <a:spcAft>
                    <a:spcPts val="800"/>
                  </a:spcAft>
                  <a:buClr>
                    <a:srgbClr val="1E40AF"/>
                  </a:buClr>
                  <a:buFont typeface="Arial"/>
                  <a:buChar char="•"/>
                </a:pPr>
                <a:r>
                  <a:rPr lang="vi-VN"/>
                  <a:t>\Leftrightarrow n\ge 20</a:t>
                </a:r>
                <a:r>
                  <a:rPr sz="2400">
                    <a:solidFill>
                      <a:srgbClr val="1E293B"/>
                    </a:solidFill>
                    <a:latin typeface="Calibri"/>
                  </a:rPr>
                  <a:t> (vì </a:t>
                </a:r>
                <a:r>
                  <a:rPr lang="vi-VN"/>
                  <a:t>n&gt;0</a:t>
                </a:r>
                <a:r>
                  <a:rPr sz="2400">
                    <a:solidFill>
                      <a:srgbClr val="1E293B"/>
                    </a:solidFill>
                    <a:latin typeface="Calibri"/>
                  </a:rPr>
                  <a:t>); </a:t>
                </a:r>
                <a:r>
                  <a:rPr lang="vi-VN"/>
                  <a:t>S_{19}=798&lt;870</a:t>
                </a:r>
              </a:p>
            </p:txBody>
          </p:sp>
        </mc:Fallback>
      </mc:AlternateContent>
      <p:sp>
        <p:nvSpPr>
          <p:cNvPr id="8" name="Rounded Rectangle 7"/>
          <p:cNvSpPr/>
          <p:nvPr/>
        </p:nvSpPr>
        <p:spPr>
          <a:xfrm>
            <a:off x="731520" y="398068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98068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Tối thiểu 20 hàng ghế (</a:t>
                </a:r>
                <a14:m>
                  <m:oMath xmlns:m="http://schemas.openxmlformats.org/officeDocument/2006/math">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20</m:t>
                        </m:r>
                      </m:sub>
                    </m:sSub>
                    <m:r>
                      <a:rPr lang="vi-VN" sz="2400" b="1">
                        <a:solidFill>
                          <a:srgbClr val="991B1B"/>
                        </a:solidFill>
                        <a:latin typeface="Cambria Math" panose="02040503050406030204" pitchFamily="18" charset="0"/>
                      </a:rPr>
                      <m:t>=870</m:t>
                    </m:r>
                  </m:oMath>
                </a14:m>
                <a:r>
                  <a:rPr sz="2400" b="1">
                    <a:solidFill>
                      <a:srgbClr val="991B1B"/>
                    </a:solidFill>
                    <a:latin typeface="Calibri"/>
                  </a:rPr>
                  <a:t>)</a:t>
                </a:r>
              </a:p>
            </p:txBody>
          </p:sp>
        </mc:Choice>
        <mc:Fallback>
          <p:sp>
            <p:nvSpPr>
              <p:cNvPr id="9" name="TextBox 8"/>
              <p:cNvSpPr txBox="1"/>
              <p:nvPr/>
            </p:nvSpPr>
            <p:spPr>
              <a:xfrm>
                <a:off x="914400" y="398068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Tối thiểu 20 hàng ghế (</a:t>
                </a:r>
                <a:r>
                  <a:rPr lang="vi-VN"/>
                  <a:t>S_{20}=870</a:t>
                </a:r>
                <a:r>
                  <a:rPr sz="2400" b="1">
                    <a:solidFill>
                      <a:srgbClr val="991B1B"/>
                    </a:solidFill>
                    <a:latin typeface="Calibri"/>
                  </a:rPr>
                  <a:t>)</a:t>
                </a: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53</a:t>
            </a:r>
          </a:p>
        </p:txBody>
      </p:sp>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a:spcAft>
                <a:spcPts val="800"/>
              </a:spcAft>
            </a:pPr>
            <a:r>
              <a:rPr sz="2400">
                <a:solidFill>
                  <a:srgbClr val="1E293B"/>
                </a:solidFill>
                <a:latin typeface="Calibri"/>
              </a:rPr>
              <a:t>Vào năm 2020, dân số của một thành phố là khoảng 1,2 triệu người.</a:t>
            </a:r>
          </a:p>
          <a:p>
            <a:pPr algn="l">
              <a:spcAft>
                <a:spcPts val="800"/>
              </a:spcAft>
            </a:pPr>
            <a:r>
              <a:rPr sz="2400">
                <a:solidFill>
                  <a:srgbClr val="1E293B"/>
                </a:solidFill>
                <a:latin typeface="Calibri"/>
              </a:rPr>
              <a:t>Giả sử mỗi năm, dân số của thành phố này tăng thêm khoảng 30 nghìn người.</a:t>
            </a:r>
          </a:p>
          <a:p>
            <a:pPr algn="l">
              <a:spcAft>
                <a:spcPts val="800"/>
              </a:spcAft>
            </a:pPr>
            <a:r>
              <a:rPr sz="2400">
                <a:solidFill>
                  <a:srgbClr val="1E293B"/>
                </a:solidFill>
                <a:latin typeface="Calibri"/>
              </a:rPr>
              <a:t>Hãy ước tính dân số của thành phố này vào năm 2030.</a:t>
            </a:r>
          </a:p>
          <a:p>
            <a:pPr algn="l">
              <a:spcAft>
                <a:spcPts val="800"/>
              </a:spcAft>
            </a:pPr>
            <a:r>
              <a:rPr sz="2400" b="1">
                <a:solidFill>
                  <a:srgbClr val="1E40AF"/>
                </a:solidFill>
                <a:latin typeface="Calibri"/>
              </a:rPr>
              <a:t>Gợi mở: Năm 2030 là số hạng thứ mấy?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Dân số các năm: cấp số cộng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oMath>
                </a14:m>
                <a:r>
                  <a:rPr sz="2400">
                    <a:solidFill>
                      <a:srgbClr val="1E293B"/>
                    </a:solidFill>
                    <a:latin typeface="Calibri"/>
                  </a:rPr>
                  <a:t> (năm 2020), </a:t>
                </a:r>
                <a14:m>
                  <m:oMath xmlns:m="http://schemas.openxmlformats.org/officeDocument/2006/math">
                    <m:r>
                      <a:rPr lang="vi-VN" sz="2400" b="0">
                        <a:solidFill>
                          <a:srgbClr val="1E293B"/>
                        </a:solidFill>
                        <a:latin typeface="Cambria Math" panose="02040503050406030204" pitchFamily="18" charset="0"/>
                      </a:rPr>
                      <m:t>d=0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03</m:t>
                    </m:r>
                  </m:oMath>
                </a14:m>
              </a:p>
              <a:p>
                <a:pPr algn="l" marL="365760" indent="-365760">
                  <a:spcAft>
                    <a:spcPts val="800"/>
                  </a:spcAft>
                  <a:buClr>
                    <a:srgbClr val="1E40AF"/>
                  </a:buClr>
                  <a:buFont typeface="Arial"/>
                  <a:buChar char="•"/>
                </a:pPr>
                <a:r>
                  <a:rPr sz="2400">
                    <a:solidFill>
                      <a:srgbClr val="1E293B"/>
                    </a:solidFill>
                    <a:latin typeface="Calibri"/>
                  </a:rPr>
                  <a:t>Năm 2030 ứng với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11</m:t>
                        </m:r>
                      </m:sub>
                    </m:sSub>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11</m:t>
                        </m:r>
                      </m:sub>
                    </m:sSub>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2+10·0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03</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Dân số các năm: cấp số cộng </a:t>
                </a:r>
                <a:r>
                  <a:rPr lang="vi-VN"/>
                  <a:t>u_1=1{,}2</a:t>
                </a:r>
                <a:r>
                  <a:rPr sz="2400">
                    <a:solidFill>
                      <a:srgbClr val="1E293B"/>
                    </a:solidFill>
                    <a:latin typeface="Calibri"/>
                  </a:rPr>
                  <a:t> (năm 2020), </a:t>
                </a:r>
                <a:r>
                  <a:rPr lang="vi-VN"/>
                  <a:t>d=0{,}03</a:t>
                </a:r>
              </a:p>
              <a:p>
                <a:pPr algn="l" marL="365760" indent="-365760">
                  <a:spcAft>
                    <a:spcPts val="800"/>
                  </a:spcAft>
                  <a:buClr>
                    <a:srgbClr val="1E40AF"/>
                  </a:buClr>
                  <a:buFont typeface="Arial"/>
                  <a:buChar char="•"/>
                </a:pPr>
                <a:r>
                  <a:rPr sz="2400">
                    <a:solidFill>
                      <a:srgbClr val="1E293B"/>
                    </a:solidFill>
                    <a:latin typeface="Calibri"/>
                  </a:rPr>
                  <a:t>Năm 2030 ứng với </a:t>
                </a:r>
                <a:r>
                  <a:rPr lang="vi-VN"/>
                  <a:t>u_{11}</a:t>
                </a:r>
              </a:p>
              <a:p>
                <a:pPr algn="l" marL="365760" indent="-365760">
                  <a:spcAft>
                    <a:spcPts val="800"/>
                  </a:spcAft>
                  <a:buClr>
                    <a:srgbClr val="1E40AF"/>
                  </a:buClr>
                  <a:buFont typeface="Arial"/>
                  <a:buChar char="•"/>
                </a:pPr>
                <a:r>
                  <a:rPr lang="vi-VN"/>
                  <a:t>u_{11}=1{,}2+10\cdot 0{,}03</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Khoảng 1,5 triệu người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KIỂM CHỨNG AI: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Tìm số hạng thứ 20 của cấp số cộng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1E40AF"/>
                        </a:solidFill>
                        <a:latin typeface="Cambria Math" panose="02040503050406030204" pitchFamily="18" charset="0"/>
                      </a:rPr>
                      <m:t>2,</m:t>
                    </m:r>
                    <m:r>
                      <m:rPr>
                        <m:sty m:val="p"/>
                      </m:rPr>
                      <a:rPr lang="vi-VN" sz="2400" b="1">
                        <a:solidFill>
                          <a:srgbClr val="1E40AF"/>
                        </a:solidFill>
                        <a:latin typeface="Cambria Math" panose="02040503050406030204" pitchFamily="18" charset="0"/>
                      </a:rPr>
                      <m:t> </m:t>
                    </m:r>
                    <m:r>
                      <a:rPr lang="vi-VN" sz="2400" b="1">
                        <a:solidFill>
                          <a:srgbClr val="1E40AF"/>
                        </a:solidFill>
                        <a:latin typeface="Cambria Math" panose="02040503050406030204" pitchFamily="18" charset="0"/>
                      </a:rPr>
                      <m:t>5,</m:t>
                    </m:r>
                    <m:r>
                      <m:rPr>
                        <m:sty m:val="p"/>
                      </m:rPr>
                      <a:rPr lang="vi-VN" sz="2400" b="1">
                        <a:solidFill>
                          <a:srgbClr val="1E40AF"/>
                        </a:solidFill>
                        <a:latin typeface="Cambria Math" panose="02040503050406030204" pitchFamily="18" charset="0"/>
                      </a:rPr>
                      <m:t> </m:t>
                    </m:r>
                    <m:r>
                      <a:rPr lang="vi-VN" sz="2400" b="1">
                        <a:solidFill>
                          <a:srgbClr val="1E40AF"/>
                        </a:solidFill>
                        <a:latin typeface="Cambria Math" panose="02040503050406030204" pitchFamily="18" charset="0"/>
                      </a:rPr>
                      <m:t>8,</m:t>
                    </m:r>
                    <m:r>
                      <m:rPr>
                        <m:sty m:val="p"/>
                      </m:rPr>
                      <a:rPr lang="vi-VN" sz="2400" b="1">
                        <a:solidFill>
                          <a:srgbClr val="1E40AF"/>
                        </a:solidFill>
                        <a:latin typeface="Cambria Math" panose="02040503050406030204" pitchFamily="18" charset="0"/>
                      </a:rPr>
                      <m:t> </m:t>
                    </m:r>
                    <m:r>
                      <a:rPr lang="vi-VN" sz="2400" b="1">
                        <a:solidFill>
                          <a:srgbClr val="1E40AF"/>
                        </a:solidFill>
                        <a:latin typeface="Cambria Math" panose="02040503050406030204" pitchFamily="18" charset="0"/>
                      </a:rPr>
                      <m:t>…</m:t>
                    </m:r>
                  </m:oMath>
                </a14:m>
              </a:p>
              <a:p>
                <a:pPr algn="l">
                  <a:spcAft>
                    <a:spcPts val="800"/>
                  </a:spcAft>
                </a:pPr>
                <a:r>
                  <a:rPr sz="2400">
                    <a:solidFill>
                      <a:srgbClr val="1E293B"/>
                    </a:solidFill>
                    <a:latin typeface="Calibri"/>
                  </a:rPr>
                  <a:t>"Ta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d=3</m:t>
                    </m:r>
                  </m:oMath>
                </a14:m>
                <a:r>
                  <a:rPr sz="2400">
                    <a:solidFill>
                      <a:srgbClr val="1E293B"/>
                    </a:solidFill>
                    <a:latin typeface="Calibri"/>
                  </a:rPr>
                  <a:t>. Vậy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+20d=2+20·3=62</m:t>
                    </m:r>
                  </m:oMath>
                </a14:m>
                <a:r>
                  <a:rPr sz="2400">
                    <a:solidFill>
                      <a:srgbClr val="1E293B"/>
                    </a:solidFill>
                    <a:latin typeface="Calibri"/>
                  </a:rPr>
                  <a:t>."</a:t>
                </a:r>
              </a:p>
              <a:p>
                <a:pPr algn="l">
                  <a:spcAft>
                    <a:spcPts val="800"/>
                  </a:spcAft>
                </a:pPr>
                <a:r>
                  <a:rPr sz="2400" b="1">
                    <a:solidFill>
                      <a:srgbClr val="1E40AF"/>
                    </a:solidFill>
                    <a:latin typeface="Calibri"/>
                  </a:rPr>
                  <a:t>Gợi mở: Kiểm tra lại công thức số hạng tổng quát</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Tìm số hạng thứ 20 của cấp số cộng </a:t>
                </a:r>
                <a:r>
                  <a:rPr lang="vi-VN"/>
                  <a:t>2, 5, 8, …</a:t>
                </a:r>
              </a:p>
              <a:p>
                <a:pPr algn="l">
                  <a:spcAft>
                    <a:spcPts val="800"/>
                  </a:spcAft>
                </a:pPr>
                <a:r>
                  <a:rPr sz="2400">
                    <a:solidFill>
                      <a:srgbClr val="1E293B"/>
                    </a:solidFill>
                    <a:latin typeface="Calibri"/>
                  </a:rPr>
                  <a:t>"Ta có </a:t>
                </a:r>
                <a:r>
                  <a:rPr lang="vi-VN"/>
                  <a:t>u_1=2</a:t>
                </a:r>
                <a:r>
                  <a:rPr sz="2400">
                    <a:solidFill>
                      <a:srgbClr val="1E293B"/>
                    </a:solidFill>
                    <a:latin typeface="Calibri"/>
                  </a:rPr>
                  <a:t>, </a:t>
                </a:r>
                <a:r>
                  <a:rPr lang="vi-VN"/>
                  <a:t>d=3</a:t>
                </a:r>
                <a:r>
                  <a:rPr sz="2400">
                    <a:solidFill>
                      <a:srgbClr val="1E293B"/>
                    </a:solidFill>
                    <a:latin typeface="Calibri"/>
                  </a:rPr>
                  <a:t>. Vậy </a:t>
                </a:r>
                <a:r>
                  <a:rPr lang="vi-VN"/>
                  <a:t>u_20=u_1+20d=2+20·3=62</a:t>
                </a:r>
                <a:r>
                  <a:rPr sz="2400">
                    <a:solidFill>
                      <a:srgbClr val="1E293B"/>
                    </a:solidFill>
                    <a:latin typeface="Calibri"/>
                  </a:rPr>
                  <a:t>."</a:t>
                </a:r>
              </a:p>
              <a:p>
                <a:pPr algn="l">
                  <a:spcAft>
                    <a:spcPts val="800"/>
                  </a:spcAft>
                </a:pPr>
                <a:r>
                  <a:rPr sz="2400" b="1">
                    <a:solidFill>
                      <a:srgbClr val="1E40AF"/>
                    </a:solidFill>
                    <a:latin typeface="Calibri"/>
                  </a:rPr>
                  <a:t>Gợi mở: Kiểm tra lại công thức số hạng tổng quát</a:t>
                </a: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KIỂM CHỨNG AI: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AI dùng sai công thức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+nd</m:t>
                    </m:r>
                  </m:oMath>
                </a14:m>
              </a:p>
              <a:p>
                <a:pPr algn="l" marL="365760" indent="-365760">
                  <a:spcAft>
                    <a:spcPts val="800"/>
                  </a:spcAft>
                  <a:buClr>
                    <a:srgbClr val="1E40AF"/>
                  </a:buClr>
                  <a:buFont typeface="Arial"/>
                  <a:buChar char="•"/>
                </a:pPr>
                <a:r>
                  <a:rPr sz="2400">
                    <a:solidFill>
                      <a:srgbClr val="1E293B"/>
                    </a:solidFill>
                    <a:latin typeface="Calibri"/>
                  </a:rPr>
                  <a:t>Đúng: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+19d=2+19·3=59</m:t>
                    </m:r>
                  </m:oMath>
                </a14:m>
              </a:p>
              <a:p>
                <a:pPr algn="l" marL="365760" indent="-365760">
                  <a:spcAft>
                    <a:spcPts val="800"/>
                  </a:spcAft>
                  <a:buClr>
                    <a:srgbClr val="1E40AF"/>
                  </a:buClr>
                  <a:buFont typeface="Arial"/>
                  <a:buChar char="•"/>
                </a:pPr>
                <a:r>
                  <a:rPr sz="2400">
                    <a:solidFill>
                      <a:srgbClr val="1E293B"/>
                    </a:solidFill>
                    <a:latin typeface="Calibri"/>
                  </a:rPr>
                  <a:t>Kiểm chứng: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+d</m:t>
                    </m:r>
                  </m:oMath>
                </a14:m>
                <a:r>
                  <a:rPr sz="2400">
                    <a:solidFill>
                      <a:srgbClr val="1E293B"/>
                    </a:solidFill>
                    <a:latin typeface="Calibri"/>
                  </a:rPr>
                  <a:t> (không phải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+2d</m:t>
                    </m:r>
                  </m:oMath>
                </a14:m>
                <a:r>
                  <a:rPr sz="2400">
                    <a:solidFill>
                      <a:srgbClr val="1E293B"/>
                    </a:solidFill>
                    <a:latin typeface="Calibri"/>
                  </a:rPr>
                  <a:t>)</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AI dùng sai công thức </a:t>
                </a:r>
                <a:r>
                  <a:rPr lang="vi-VN"/>
                  <a:t>u_1+nd</a:t>
                </a:r>
              </a:p>
              <a:p>
                <a:pPr algn="l" marL="365760" indent="-365760">
                  <a:spcAft>
                    <a:spcPts val="800"/>
                  </a:spcAft>
                  <a:buClr>
                    <a:srgbClr val="1E40AF"/>
                  </a:buClr>
                  <a:buFont typeface="Arial"/>
                  <a:buChar char="•"/>
                </a:pPr>
                <a:r>
                  <a:rPr sz="2400">
                    <a:solidFill>
                      <a:srgbClr val="1E293B"/>
                    </a:solidFill>
                    <a:latin typeface="Calibri"/>
                  </a:rPr>
                  <a:t>Đúng: </a:t>
                </a:r>
                <a:r>
                  <a:rPr lang="vi-VN"/>
                  <a:t>u_{20}=u_1+19d=2+19\cdot 3=59</a:t>
                </a:r>
              </a:p>
              <a:p>
                <a:pPr algn="l" marL="365760" indent="-365760">
                  <a:spcAft>
                    <a:spcPts val="800"/>
                  </a:spcAft>
                  <a:buClr>
                    <a:srgbClr val="1E40AF"/>
                  </a:buClr>
                  <a:buFont typeface="Arial"/>
                  <a:buChar char="•"/>
                </a:pPr>
                <a:r>
                  <a:rPr sz="2400">
                    <a:solidFill>
                      <a:srgbClr val="1E293B"/>
                    </a:solidFill>
                    <a:latin typeface="Calibri"/>
                  </a:rPr>
                  <a:t>Kiểm chứng: </a:t>
                </a:r>
                <a:r>
                  <a:rPr lang="vi-VN"/>
                  <a:t>u_2=u_1+d</a:t>
                </a:r>
                <a:r>
                  <a:rPr sz="2400">
                    <a:solidFill>
                      <a:srgbClr val="1E293B"/>
                    </a:solidFill>
                    <a:latin typeface="Calibri"/>
                  </a:rPr>
                  <a:t> (không phải </a:t>
                </a:r>
                <a:r>
                  <a:rPr lang="vi-VN"/>
                  <a:t>u_1+2d</a:t>
                </a:r>
                <a:r>
                  <a:rPr sz="2400">
                    <a:solidFill>
                      <a:srgbClr val="1E293B"/>
                    </a:solidFill>
                    <a:latin typeface="Calibri"/>
                  </a:rPr>
                  <a:t>)</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20</m:t>
                        </m:r>
                      </m:sub>
                    </m:sSub>
                    <m:r>
                      <a:rPr lang="vi-VN" sz="2400" b="1">
                        <a:solidFill>
                          <a:srgbClr val="991B1B"/>
                        </a:solidFill>
                        <a:latin typeface="Cambria Math" panose="02040503050406030204" pitchFamily="18" charset="0"/>
                      </a:rPr>
                      <m:t>=59</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u_{20}=59</a:t>
                </a: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KIỂM CHỨNG AI: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Tính tổng 10 số hạng đầu của cấp số cộng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r>
                      <a:rPr lang="vi-VN" sz="2400" b="1">
                        <a:solidFill>
                          <a:srgbClr val="1E40AF"/>
                        </a:solidFill>
                        <a:latin typeface="Cambria Math" panose="02040503050406030204" pitchFamily="18" charset="0"/>
                      </a:rPr>
                      <m:t>=3</m:t>
                    </m:r>
                  </m:oMath>
                </a14:m>
                <a:r>
                  <a:rPr sz="2400" b="1">
                    <a:solidFill>
                      <a:srgbClr val="1E40AF"/>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1E40AF"/>
                        </a:solidFill>
                        <a:latin typeface="Cambria Math" panose="02040503050406030204" pitchFamily="18" charset="0"/>
                      </a:rPr>
                      <m:t>d=4</m:t>
                    </m:r>
                  </m:oMath>
                </a14:m>
                <a:r>
                  <a:rPr sz="2400" b="1">
                    <a:solidFill>
                      <a:srgbClr val="1E40AF"/>
                    </a:solidFill>
                    <a:latin typeface="Calibri"/>
                  </a:rPr>
                  <a:t>.</a:t>
                </a:r>
              </a:p>
              <a:p>
                <a:pPr algn="l">
                  <a:spcAft>
                    <a:spcPts val="800"/>
                  </a:spcAft>
                </a:pPr>
                <a:r>
                  <a:rPr sz="2400">
                    <a:solidFill>
                      <a:srgbClr val="1E293B"/>
                    </a:solidFill>
                    <a:latin typeface="Calibri"/>
                  </a:rPr>
                  <a:t>"Áp dụng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=10[2·3+(10−1)·4]=10·42=420</m:t>
                    </m:r>
                  </m:oMath>
                </a14:m>
                <a:r>
                  <a:rPr sz="2400">
                    <a:solidFill>
                      <a:srgbClr val="1E293B"/>
                    </a:solidFill>
                    <a:latin typeface="Calibri"/>
                  </a:rPr>
                  <a:t>."</a:t>
                </a:r>
              </a:p>
              <a:p>
                <a:pPr algn="l">
                  <a:spcAft>
                    <a:spcPts val="800"/>
                  </a:spcAft>
                </a:pPr>
                <a:r>
                  <a:rPr sz="2400" b="1">
                    <a:solidFill>
                      <a:srgbClr val="1E40AF"/>
                    </a:solidFill>
                    <a:latin typeface="Calibri"/>
                  </a:rPr>
                  <a:t>Gợi mở: Công thức tổng còn thiếu gì?</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Tính tổng 10 số hạng đầu của cấp số cộng có </a:t>
                </a:r>
                <a:r>
                  <a:rPr lang="vi-VN"/>
                  <a:t>u_1=3</a:t>
                </a:r>
                <a:r>
                  <a:rPr sz="2400" b="1">
                    <a:solidFill>
                      <a:srgbClr val="1E40AF"/>
                    </a:solidFill>
                    <a:latin typeface="Calibri"/>
                  </a:rPr>
                  <a:t>, </a:t>
                </a:r>
                <a:r>
                  <a:rPr lang="vi-VN"/>
                  <a:t>d=4</a:t>
                </a:r>
                <a:r>
                  <a:rPr sz="2400" b="1">
                    <a:solidFill>
                      <a:srgbClr val="1E40AF"/>
                    </a:solidFill>
                    <a:latin typeface="Calibri"/>
                  </a:rPr>
                  <a:t>.</a:t>
                </a:r>
              </a:p>
              <a:p>
                <a:pPr algn="l">
                  <a:spcAft>
                    <a:spcPts val="800"/>
                  </a:spcAft>
                </a:pPr>
                <a:r>
                  <a:rPr sz="2400">
                    <a:solidFill>
                      <a:srgbClr val="1E293B"/>
                    </a:solidFill>
                    <a:latin typeface="Calibri"/>
                  </a:rPr>
                  <a:t>"Áp dụng công thức: </a:t>
                </a:r>
                <a:r>
                  <a:rPr lang="vi-VN"/>
                  <a:t>S_10=10[2·3+(10−1)·4]=10·42=420</a:t>
                </a:r>
                <a:r>
                  <a:rPr sz="2400">
                    <a:solidFill>
                      <a:srgbClr val="1E293B"/>
                    </a:solidFill>
                    <a:latin typeface="Calibri"/>
                  </a:rPr>
                  <a:t>."</a:t>
                </a:r>
              </a:p>
              <a:p>
                <a:pPr algn="l">
                  <a:spcAft>
                    <a:spcPts val="800"/>
                  </a:spcAft>
                </a:pPr>
                <a:r>
                  <a:rPr sz="2400" b="1">
                    <a:solidFill>
                      <a:srgbClr val="1E40AF"/>
                    </a:solidFill>
                    <a:latin typeface="Calibri"/>
                  </a:rPr>
                  <a:t>Gợi mở: Công thức tổng còn thiếu gì?</a:t>
                </a: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KIỂM CHỨNG AI: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58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AI quên hệ số </a:t>
                </a:r>
                <a14:m>
                  <m:oMath xmlns:m="http://schemas.openxmlformats.org/officeDocument/2006/math">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trong công thức tổng</a:t>
                </a:r>
              </a:p>
              <a:p>
                <a:pPr algn="l" marL="365760" indent="-365760">
                  <a:spcAft>
                    <a:spcPts val="800"/>
                  </a:spcAft>
                  <a:buClr>
                    <a:srgbClr val="1E40AF"/>
                  </a:buClr>
                  <a:buFont typeface="Arial"/>
                  <a:buChar char="•"/>
                </a:pPr>
                <a:r>
                  <a:rPr sz="2400">
                    <a:solidFill>
                      <a:srgbClr val="1E293B"/>
                    </a:solidFill>
                    <a:latin typeface="Calibri"/>
                  </a:rPr>
                  <a:t>Đúng: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10</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[2·3+9·4]=5·42=210</m:t>
                    </m:r>
                  </m:oMath>
                </a14:m>
              </a:p>
              <a:p>
                <a:pPr algn="l" marL="365760" indent="-365760">
                  <a:spcAft>
                    <a:spcPts val="800"/>
                  </a:spcAft>
                  <a:buClr>
                    <a:srgbClr val="1E40AF"/>
                  </a:buClr>
                  <a:buFont typeface="Arial"/>
                  <a:buChar char="•"/>
                </a:pPr>
                <a:r>
                  <a:rPr sz="2400">
                    <a:solidFill>
                      <a:srgbClr val="1E293B"/>
                    </a:solidFill>
                    <a:latin typeface="Calibri"/>
                  </a:rPr>
                  <a:t>Kiểm chứng: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=39</m:t>
                    </m:r>
                  </m:oMath>
                </a14:m>
                <a:r>
                  <a:rPr sz="2400">
                    <a:solidFill>
                      <a:srgbClr val="1E293B"/>
                    </a:solidFill>
                    <a:latin typeface="Calibri"/>
                  </a:rPr>
                  <a:t>, </a:t>
                </a:r>
                <a14:m>
                  <m:oMath xmlns:m="http://schemas.openxmlformats.org/officeDocument/2006/math">
                    <m:f>
                      <m:fPr>
                        <m:type m:val="bar"/>
                      </m:fPr>
                      <m:num>
                        <m:r>
                          <a:rPr lang="vi-VN" sz="2400" b="0">
                            <a:solidFill>
                              <a:srgbClr val="1E293B"/>
                            </a:solidFill>
                            <a:latin typeface="Cambria Math" panose="02040503050406030204" pitchFamily="18" charset="0"/>
                          </a:rPr>
                          <m:t>10(3+39)</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=210</m:t>
                    </m:r>
                  </m:oMath>
                </a14:m>
              </a:p>
            </p:txBody>
          </p:sp>
        </mc:Choice>
        <mc:Fallback>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AI quên hệ số </a:t>
                </a:r>
                <a:r>
                  <a:rPr lang="vi-VN"/>
                  <a:t>\frac{1}{2}</a:t>
                </a:r>
                <a:r>
                  <a:rPr sz="2400">
                    <a:solidFill>
                      <a:srgbClr val="1E293B"/>
                    </a:solidFill>
                    <a:latin typeface="Calibri"/>
                  </a:rPr>
                  <a:t> trong công thức tổng</a:t>
                </a:r>
              </a:p>
              <a:p>
                <a:pPr algn="l" marL="365760" indent="-365760">
                  <a:spcAft>
                    <a:spcPts val="800"/>
                  </a:spcAft>
                  <a:buClr>
                    <a:srgbClr val="1E40AF"/>
                  </a:buClr>
                  <a:buFont typeface="Arial"/>
                  <a:buChar char="•"/>
                </a:pPr>
                <a:r>
                  <a:rPr sz="2400">
                    <a:solidFill>
                      <a:srgbClr val="1E293B"/>
                    </a:solidFill>
                    <a:latin typeface="Calibri"/>
                  </a:rPr>
                  <a:t>Đúng: </a:t>
                </a:r>
                <a:r>
                  <a:rPr lang="vi-VN"/>
                  <a:t>S_{10}=\frac{10}{2}[2\cdot 3+9\cdot 4]=5\cdot 42=210</a:t>
                </a:r>
              </a:p>
              <a:p>
                <a:pPr algn="l" marL="365760" indent="-365760">
                  <a:spcAft>
                    <a:spcPts val="800"/>
                  </a:spcAft>
                  <a:buClr>
                    <a:srgbClr val="1E40AF"/>
                  </a:buClr>
                  <a:buFont typeface="Arial"/>
                  <a:buChar char="•"/>
                </a:pPr>
                <a:r>
                  <a:rPr sz="2400">
                    <a:solidFill>
                      <a:srgbClr val="1E293B"/>
                    </a:solidFill>
                    <a:latin typeface="Calibri"/>
                  </a:rPr>
                  <a:t>Kiểm chứng: </a:t>
                </a:r>
                <a:r>
                  <a:rPr lang="vi-VN"/>
                  <a:t>u_{10}=39</a:t>
                </a:r>
                <a:r>
                  <a:rPr sz="2400">
                    <a:solidFill>
                      <a:srgbClr val="1E293B"/>
                    </a:solidFill>
                    <a:latin typeface="Calibri"/>
                  </a:rPr>
                  <a:t>, </a:t>
                </a:r>
                <a:r>
                  <a:rPr lang="vi-VN"/>
                  <a:t>\frac{10(3+39)}{2}=210</a:t>
                </a:r>
              </a:p>
            </p:txBody>
          </p:sp>
        </mc:Fallback>
      </mc:AlternateContent>
      <p:sp>
        <p:nvSpPr>
          <p:cNvPr id="8" name="Rounded Rectangle 7"/>
          <p:cNvSpPr/>
          <p:nvPr/>
        </p:nvSpPr>
        <p:spPr>
          <a:xfrm>
            <a:off x="731520" y="365302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10</m:t>
                        </m:r>
                      </m:sub>
                    </m:sSub>
                    <m:r>
                      <a:rPr lang="vi-VN" sz="2400" b="1">
                        <a:solidFill>
                          <a:srgbClr val="991B1B"/>
                        </a:solidFill>
                        <a:latin typeface="Cambria Math" panose="02040503050406030204" pitchFamily="18" charset="0"/>
                      </a:rPr>
                      <m:t>=210</m:t>
                    </m:r>
                  </m:oMath>
                </a14:m>
              </a:p>
            </p:txBody>
          </p:sp>
        </mc:Choice>
        <mc:Fallback>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S_{10}=210</a:t>
                </a: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VẬN DỤNG</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(T14)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LƯƠNG ANH NAM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60</a:t>
            </a:r>
          </a:p>
        </p:txBody>
      </p:sp>
      <p:sp>
        <p:nvSpPr>
          <p:cNvPr id="7" name="TextBox 6"/>
          <p:cNvSpPr txBox="1"/>
          <p:nvPr/>
        </p:nvSpPr>
        <p:spPr>
          <a:xfrm>
            <a:off x="731520" y="1463040"/>
            <a:ext cx="10789920" cy="2816352"/>
          </a:xfrm>
          <a:prstGeom prst="rect">
            <a:avLst/>
          </a:prstGeom>
          <a:noFill/>
        </p:spPr>
        <p:txBody>
          <a:bodyPr wrap="square" anchor="t" lIns="45720" rIns="45720">
            <a:spAutoFit/>
          </a:bodyPr>
          <a:lstStyle/>
          <a:p>
            <a:pPr algn="l">
              <a:spcAft>
                <a:spcPts val="800"/>
              </a:spcAft>
            </a:pPr>
            <a:r>
              <a:rPr sz="2400">
                <a:solidFill>
                  <a:srgbClr val="1E293B"/>
                </a:solidFill>
                <a:latin typeface="Calibri"/>
              </a:rPr>
              <a:t>Anh Nam được nhận vào làm việc ở một công ty về công nghệ với mức lương khởi điểm là 100 triệu đồng một năm.</a:t>
            </a:r>
          </a:p>
          <a:p>
            <a:pPr algn="l">
              <a:spcAft>
                <a:spcPts val="800"/>
              </a:spcAft>
            </a:pPr>
            <a:r>
              <a:rPr sz="2400">
                <a:solidFill>
                  <a:srgbClr val="1E293B"/>
                </a:solidFill>
                <a:latin typeface="Calibri"/>
              </a:rPr>
              <a:t>Công ty sẽ tăng thêm lương cho anh Nam mỗi năm là 20 triệu đồng.</a:t>
            </a:r>
          </a:p>
          <a:p>
            <a:pPr algn="l">
              <a:spcAft>
                <a:spcPts val="800"/>
              </a:spcAft>
            </a:pPr>
            <a:r>
              <a:rPr sz="2400">
                <a:solidFill>
                  <a:srgbClr val="1E293B"/>
                </a:solidFill>
                <a:latin typeface="Calibri"/>
              </a:rPr>
              <a:t>Tính tổng số tiền lương mà anh Nam nhận được sau 10 năm làm việc cho công ty đó.</a:t>
            </a:r>
          </a:p>
          <a:p>
            <a:pPr algn="l">
              <a:spcAft>
                <a:spcPts val="800"/>
              </a:spcAft>
            </a:pPr>
            <a:r>
              <a:rPr sz="2400" b="1">
                <a:solidFill>
                  <a:srgbClr val="1E40AF"/>
                </a:solidFill>
                <a:latin typeface="Calibri"/>
              </a:rPr>
              <a:t>Gợi mở: Lương các năm lập thành dãy số gì?</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LƯƠNG ANH NAM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61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Lương các năm: cấp số cộng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=100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d=20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n=10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10</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[2·100+9·20]=5·380</m:t>
                    </m:r>
                  </m:oMath>
                </a14:m>
              </a:p>
              <a:p>
                <a:pPr algn="l" marL="365760" indent="-365760">
                  <a:spcAft>
                    <a:spcPts val="800"/>
                  </a:spcAft>
                  <a:buClr>
                    <a:srgbClr val="1E40AF"/>
                  </a:buClr>
                  <a:buFont typeface="Arial"/>
                  <a:buChar char="•"/>
                </a:pPr>
                <a:r>
                  <a:rPr sz="2400">
                    <a:solidFill>
                      <a:srgbClr val="1E293B"/>
                    </a:solidFill>
                    <a:latin typeface="Calibri"/>
                  </a:rPr>
                  <a:t>(Năm thứ 10: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=280</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10(100+280)</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a:t>
                </a:r>
              </a:p>
            </p:txBody>
          </p:sp>
        </mc:Choice>
        <mc:Fallback>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Lương các năm: cấp số cộng </a:t>
                </a:r>
                <a:r>
                  <a:rPr lang="vi-VN"/>
                  <a:t>u_1=100</a:t>
                </a:r>
                <a:r>
                  <a:rPr sz="2400">
                    <a:solidFill>
                      <a:srgbClr val="1E293B"/>
                    </a:solidFill>
                    <a:latin typeface="Calibri"/>
                  </a:rPr>
                  <a:t>, </a:t>
                </a:r>
                <a:r>
                  <a:rPr lang="vi-VN"/>
                  <a:t>d=20</a:t>
                </a:r>
                <a:r>
                  <a:rPr sz="2400">
                    <a:solidFill>
                      <a:srgbClr val="1E293B"/>
                    </a:solidFill>
                    <a:latin typeface="Calibri"/>
                  </a:rPr>
                  <a:t>, </a:t>
                </a:r>
                <a:r>
                  <a:rPr lang="vi-VN"/>
                  <a:t>n=10</a:t>
                </a:r>
              </a:p>
              <a:p>
                <a:pPr algn="l" marL="365760" indent="-365760">
                  <a:spcAft>
                    <a:spcPts val="800"/>
                  </a:spcAft>
                  <a:buClr>
                    <a:srgbClr val="1E40AF"/>
                  </a:buClr>
                  <a:buFont typeface="Arial"/>
                  <a:buChar char="•"/>
                </a:pPr>
                <a:r>
                  <a:rPr lang="vi-VN"/>
                  <a:t>S_{10}=\frac{10}{2}[2\cdot 100+9\cdot 20]=5\cdot 380</a:t>
                </a:r>
              </a:p>
              <a:p>
                <a:pPr algn="l" marL="365760" indent="-365760">
                  <a:spcAft>
                    <a:spcPts val="800"/>
                  </a:spcAft>
                  <a:buClr>
                    <a:srgbClr val="1E40AF"/>
                  </a:buClr>
                  <a:buFont typeface="Arial"/>
                  <a:buChar char="•"/>
                </a:pPr>
                <a:r>
                  <a:rPr sz="2400">
                    <a:solidFill>
                      <a:srgbClr val="1E293B"/>
                    </a:solidFill>
                    <a:latin typeface="Calibri"/>
                  </a:rPr>
                  <a:t>(Năm thứ 10: </a:t>
                </a:r>
                <a:r>
                  <a:rPr lang="vi-VN"/>
                  <a:t>u_{10}=280</a:t>
                </a:r>
                <a:r>
                  <a:rPr sz="2400">
                    <a:solidFill>
                      <a:srgbClr val="1E293B"/>
                    </a:solidFill>
                    <a:latin typeface="Calibri"/>
                  </a:rPr>
                  <a:t>; </a:t>
                </a:r>
                <a:r>
                  <a:rPr lang="vi-VN"/>
                  <a:t>S_{10}=\frac{10(100+280)}{2}</a:t>
                </a:r>
                <a:r>
                  <a:rPr sz="2400">
                    <a:solidFill>
                      <a:srgbClr val="1E293B"/>
                    </a:solidFill>
                    <a:latin typeface="Calibri"/>
                  </a:rPr>
                  <a:t>)</a:t>
                </a:r>
              </a:p>
            </p:txBody>
          </p:sp>
        </mc:Fallback>
      </mc:AlternateContent>
      <p:sp>
        <p:nvSpPr>
          <p:cNvPr id="8" name="Rounded Rectangle 7"/>
          <p:cNvSpPr/>
          <p:nvPr/>
        </p:nvSpPr>
        <p:spPr>
          <a:xfrm>
            <a:off x="731520" y="3474719"/>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74719"/>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Tổng lương 10 năm: 1 900 triệu đồng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VỀ NHÀ</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NHIỆM VỤ NHÓM: HEO ĐẤT NĂM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62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298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Tuần đầu bỏ heo a nghìn đồng</a:t>
                </a:r>
              </a:p>
              <a:p>
                <a:pPr algn="l" marL="365760" indent="-365760">
                  <a:spcAft>
                    <a:spcPts val="800"/>
                  </a:spcAft>
                  <a:buClr>
                    <a:srgbClr val="1E40AF"/>
                  </a:buClr>
                  <a:buFont typeface="Arial"/>
                  <a:buChar char="•"/>
                </a:pPr>
                <a:r>
                  <a:rPr sz="2400">
                    <a:solidFill>
                      <a:srgbClr val="1E293B"/>
                    </a:solidFill>
                    <a:latin typeface="Calibri"/>
                  </a:rPr>
                  <a:t>Mỗi tuần sau bỏ thêm d nghìn đồng</a:t>
                </a:r>
              </a:p>
              <a:p>
                <a:pPr algn="l" marL="365760" indent="-365760">
                  <a:spcAft>
                    <a:spcPts val="800"/>
                  </a:spcAft>
                  <a:buClr>
                    <a:srgbClr val="1E40AF"/>
                  </a:buClr>
                  <a:buFont typeface="Arial"/>
                  <a:buChar char="•"/>
                </a:pPr>
                <a:r>
                  <a:rPr sz="2400">
                    <a:solidFill>
                      <a:srgbClr val="1E293B"/>
                    </a:solidFill>
                    <a:latin typeface="Calibri"/>
                  </a:rPr>
                  <a:t>Tính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35</m:t>
                        </m:r>
                      </m:sub>
                    </m:sSub>
                  </m:oMath>
                </a14:m>
                <a:r>
                  <a:rPr sz="2400">
                    <a:solidFill>
                      <a:srgbClr val="1E293B"/>
                    </a:solidFill>
                    <a:latin typeface="Calibri"/>
                  </a:rPr>
                  <a:t> và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35</m:t>
                        </m:r>
                      </m:sub>
                    </m:sSub>
                  </m:oMath>
                </a14:m>
                <a:r>
                  <a:rPr sz="2400">
                    <a:solidFill>
                      <a:srgbClr val="1E293B"/>
                    </a:solidFill>
                    <a:latin typeface="Calibri"/>
                  </a:rPr>
                  <a:t> bằng công thức</a:t>
                </a:r>
              </a:p>
              <a:p>
                <a:pPr algn="l" marL="365760" indent="-365760">
                  <a:spcAft>
                    <a:spcPts val="800"/>
                  </a:spcAft>
                  <a:buClr>
                    <a:srgbClr val="1E40AF"/>
                  </a:buClr>
                  <a:buFont typeface="Arial"/>
                  <a:buChar char="•"/>
                </a:pPr>
                <a:r>
                  <a:rPr sz="2400">
                    <a:solidFill>
                      <a:srgbClr val="1E293B"/>
                    </a:solidFill>
                    <a:latin typeface="Calibri"/>
                  </a:rPr>
                  <a:t>Kiểm chứng bằng bảng tính, so sánh kế hoạch</a:t>
                </a:r>
              </a:p>
              <a:p>
                <a:pPr algn="l" marL="365760" indent="-365760">
                  <a:spcAft>
                    <a:spcPts val="800"/>
                  </a:spcAft>
                  <a:buClr>
                    <a:srgbClr val="1E40AF"/>
                  </a:buClr>
                  <a:buFont typeface="Arial"/>
                  <a:buChar char="•"/>
                </a:pPr>
                <a:r>
                  <a:rPr sz="2400">
                    <a:solidFill>
                      <a:srgbClr val="1E293B"/>
                    </a:solidFill>
                    <a:latin typeface="Calibri"/>
                  </a:rPr>
                  <a:t>Nộp 3–5 slide kèm Nhật ký sử dụng AI</a:t>
                </a:r>
              </a:p>
            </p:txBody>
          </p:sp>
        </mc:Choice>
        <mc:Fallback>
          <p:sp>
            <p:nvSpPr>
              <p:cNvPr id="7" name="TextBox 6"/>
              <p:cNvSpPr txBox="1"/>
              <p:nvPr/>
            </p:nvSpPr>
            <p:spPr>
              <a:xfrm>
                <a:off x="731520" y="1463040"/>
                <a:ext cx="10789920" cy="25298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Tuần đầu bỏ heo a nghìn đồng</a:t>
                </a:r>
              </a:p>
              <a:p>
                <a:pPr algn="l" marL="365760" indent="-365760">
                  <a:spcAft>
                    <a:spcPts val="800"/>
                  </a:spcAft>
                  <a:buClr>
                    <a:srgbClr val="1E40AF"/>
                  </a:buClr>
                  <a:buFont typeface="Arial"/>
                  <a:buChar char="•"/>
                </a:pPr>
                <a:r>
                  <a:rPr sz="2400">
                    <a:solidFill>
                      <a:srgbClr val="1E293B"/>
                    </a:solidFill>
                    <a:latin typeface="Calibri"/>
                  </a:rPr>
                  <a:t>Mỗi tuần sau bỏ thêm d nghìn đồng</a:t>
                </a:r>
              </a:p>
              <a:p>
                <a:pPr algn="l" marL="365760" indent="-365760">
                  <a:spcAft>
                    <a:spcPts val="800"/>
                  </a:spcAft>
                  <a:buClr>
                    <a:srgbClr val="1E40AF"/>
                  </a:buClr>
                  <a:buFont typeface="Arial"/>
                  <a:buChar char="•"/>
                </a:pPr>
                <a:r>
                  <a:rPr sz="2400">
                    <a:solidFill>
                      <a:srgbClr val="1E293B"/>
                    </a:solidFill>
                    <a:latin typeface="Calibri"/>
                  </a:rPr>
                  <a:t>Tính </a:t>
                </a:r>
                <a:r>
                  <a:rPr lang="vi-VN"/>
                  <a:t>u_{35}</a:t>
                </a:r>
                <a:r>
                  <a:rPr sz="2400">
                    <a:solidFill>
                      <a:srgbClr val="1E293B"/>
                    </a:solidFill>
                    <a:latin typeface="Calibri"/>
                  </a:rPr>
                  <a:t> và </a:t>
                </a:r>
                <a:r>
                  <a:rPr lang="vi-VN"/>
                  <a:t>S_{35}</a:t>
                </a:r>
                <a:r>
                  <a:rPr sz="2400">
                    <a:solidFill>
                      <a:srgbClr val="1E293B"/>
                    </a:solidFill>
                    <a:latin typeface="Calibri"/>
                  </a:rPr>
                  <a:t> bằng công thức</a:t>
                </a:r>
              </a:p>
              <a:p>
                <a:pPr algn="l" marL="365760" indent="-365760">
                  <a:spcAft>
                    <a:spcPts val="800"/>
                  </a:spcAft>
                  <a:buClr>
                    <a:srgbClr val="1E40AF"/>
                  </a:buClr>
                  <a:buFont typeface="Arial"/>
                  <a:buChar char="•"/>
                </a:pPr>
                <a:r>
                  <a:rPr sz="2400">
                    <a:solidFill>
                      <a:srgbClr val="1E293B"/>
                    </a:solidFill>
                    <a:latin typeface="Calibri"/>
                  </a:rPr>
                  <a:t>Kiểm chứng bằng bảng tính, so sánh kế hoạch</a:t>
                </a:r>
              </a:p>
              <a:p>
                <a:pPr algn="l" marL="365760" indent="-365760">
                  <a:spcAft>
                    <a:spcPts val="800"/>
                  </a:spcAft>
                  <a:buClr>
                    <a:srgbClr val="1E40AF"/>
                  </a:buClr>
                  <a:buFont typeface="Arial"/>
                  <a:buChar char="•"/>
                </a:pPr>
                <a:r>
                  <a:rPr sz="2400">
                    <a:solidFill>
                      <a:srgbClr val="1E293B"/>
                    </a:solidFill>
                    <a:latin typeface="Calibri"/>
                  </a:rPr>
                  <a:t>Nộp 3–5 slide kèm Nhật ký sử dụng AI</a:t>
                </a:r>
              </a:p>
            </p:txBody>
          </p:sp>
        </mc:Fallback>
      </mc:AlternateContent>
      <p:sp>
        <p:nvSpPr>
          <p:cNvPr id="8" name="Rounded Rectangle 7"/>
          <p:cNvSpPr/>
          <p:nvPr/>
        </p:nvSpPr>
        <p:spPr>
          <a:xfrm>
            <a:off x="731520" y="4130040"/>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4130040"/>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Ví dụ </a:t>
                </a:r>
                <a14:m>
                  <m:oMath xmlns:m="http://schemas.openxmlformats.org/officeDocument/2006/math">
                    <m:r>
                      <a:rPr lang="vi-VN" sz="2400" b="1">
                        <a:solidFill>
                          <a:srgbClr val="991B1B"/>
                        </a:solidFill>
                        <a:latin typeface="Cambria Math" panose="02040503050406030204" pitchFamily="18" charset="0"/>
                      </a:rPr>
                      <m:t>a=10</m:t>
                    </m:r>
                  </m:oMath>
                </a14:m>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d=2</m:t>
                    </m:r>
                  </m:oMath>
                </a14:m>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35</m:t>
                        </m:r>
                      </m:sub>
                    </m:sSub>
                    <m:r>
                      <a:rPr lang="vi-VN" sz="2400" b="1">
                        <a:solidFill>
                          <a:srgbClr val="991B1B"/>
                        </a:solidFill>
                        <a:latin typeface="Cambria Math" panose="02040503050406030204" pitchFamily="18" charset="0"/>
                      </a:rPr>
                      <m:t>=78</m:t>
                    </m:r>
                  </m:oMath>
                </a14:m>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35</m:t>
                        </m:r>
                      </m:sub>
                    </m:sSub>
                    <m:r>
                      <a:rPr lang="vi-VN" sz="2400" b="1">
                        <a:solidFill>
                          <a:srgbClr val="991B1B"/>
                        </a:solidFill>
                        <a:latin typeface="Cambria Math" panose="02040503050406030204" pitchFamily="18" charset="0"/>
                      </a:rPr>
                      <m:t>=1</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540</m:t>
                    </m:r>
                  </m:oMath>
                </a14:m>
                <a:r>
                  <a:rPr sz="2400" b="1">
                    <a:solidFill>
                      <a:srgbClr val="991B1B"/>
                    </a:solidFill>
                    <a:latin typeface="Calibri"/>
                  </a:rPr>
                  <a:t> nghìn đồng</a:t>
                </a:r>
              </a:p>
            </p:txBody>
          </p:sp>
        </mc:Choice>
        <mc:Fallback>
          <p:sp>
            <p:nvSpPr>
              <p:cNvPr id="9" name="TextBox 8"/>
              <p:cNvSpPr txBox="1"/>
              <p:nvPr/>
            </p:nvSpPr>
            <p:spPr>
              <a:xfrm>
                <a:off x="914400" y="4130040"/>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Ví dụ </a:t>
                </a:r>
                <a:r>
                  <a:rPr lang="vi-VN"/>
                  <a:t>a=10</a:t>
                </a:r>
                <a:r>
                  <a:rPr sz="2400" b="1">
                    <a:solidFill>
                      <a:srgbClr val="991B1B"/>
                    </a:solidFill>
                    <a:latin typeface="Calibri"/>
                  </a:rPr>
                  <a:t>, </a:t>
                </a:r>
                <a:r>
                  <a:rPr lang="vi-VN"/>
                  <a:t>d=2</a:t>
                </a:r>
                <a:r>
                  <a:rPr sz="2400" b="1">
                    <a:solidFill>
                      <a:srgbClr val="991B1B"/>
                    </a:solidFill>
                    <a:latin typeface="Calibri"/>
                  </a:rPr>
                  <a:t>: </a:t>
                </a:r>
                <a:r>
                  <a:rPr lang="vi-VN"/>
                  <a:t>u_{35}=78</a:t>
                </a:r>
                <a:r>
                  <a:rPr sz="2400" b="1">
                    <a:solidFill>
                      <a:srgbClr val="991B1B"/>
                    </a:solidFill>
                    <a:latin typeface="Calibri"/>
                  </a:rPr>
                  <a:t>, </a:t>
                </a:r>
                <a:r>
                  <a:rPr lang="vi-VN"/>
                  <a:t>S_{35}=1\,540</a:t>
                </a:r>
                <a:r>
                  <a:rPr sz="2400" b="1">
                    <a:solidFill>
                      <a:srgbClr val="991B1B"/>
                    </a:solidFill>
                    <a:latin typeface="Calibri"/>
                  </a:rPr>
                  <a:t> nghìn đồng</a:t>
                </a: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SƠ ĐỒ TƯ DUY BÀI 6</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63</a:t>
            </a:r>
          </a:p>
        </p:txBody>
      </p:sp>
      <p:cxnSp>
        <p:nvCxnSpPr>
          <p:cNvPr id="6" name="Connector 5"/>
          <p:cNvCxnSpPr/>
          <p:nvPr/>
        </p:nvCxnSpPr>
        <p:spPr>
          <a:xfrm flipH="1" flipV="1">
            <a:off x="4338888" y="2670962"/>
            <a:ext cx="1688379" cy="1283818"/>
          </a:xfrm>
          <a:prstGeom prst="line">
            <a:avLst/>
          </a:prstGeom>
          <a:ln w="44450">
            <a:solidFill>
              <a:srgbClr val="54823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2421369" y="2144161"/>
            <a:ext cx="1917519" cy="526801"/>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191272" y="1867849"/>
            <a:ext cx="1230097" cy="552622"/>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uₙ₊₁ − uₙ =</a:t>
            </a:r>
          </a:p>
          <a:p>
            <a:pPr algn="ctr"/>
            <a:r>
              <a:rPr sz="1300" b="0">
                <a:solidFill>
                  <a:srgbClr val="000000"/>
                </a:solidFill>
                <a:latin typeface="Calibri"/>
              </a:rPr>
              <a:t>d (hằng số)</a:t>
            </a:r>
          </a:p>
        </p:txBody>
      </p:sp>
      <p:cxnSp>
        <p:nvCxnSpPr>
          <p:cNvPr id="9" name="Connector 8"/>
          <p:cNvCxnSpPr/>
          <p:nvPr/>
        </p:nvCxnSpPr>
        <p:spPr>
          <a:xfrm flipH="1">
            <a:off x="3022333" y="2670962"/>
            <a:ext cx="1316555" cy="0"/>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90308" y="2495362"/>
            <a:ext cx="2432025" cy="351200"/>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Công sai d: dương/âm/zero</a:t>
            </a:r>
          </a:p>
        </p:txBody>
      </p:sp>
      <p:cxnSp>
        <p:nvCxnSpPr>
          <p:cNvPr id="11" name="Connector 10"/>
          <p:cNvCxnSpPr/>
          <p:nvPr/>
        </p:nvCxnSpPr>
        <p:spPr>
          <a:xfrm flipH="1">
            <a:off x="2593073" y="2670962"/>
            <a:ext cx="1745815" cy="526801"/>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019568" y="2921452"/>
            <a:ext cx="1573505" cy="552622"/>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u₁, u₂, u₃... →</a:t>
            </a:r>
          </a:p>
          <a:p>
            <a:pPr algn="ctr"/>
            <a:r>
              <a:rPr sz="1300" b="0">
                <a:solidFill>
                  <a:srgbClr val="000000"/>
                </a:solidFill>
                <a:latin typeface="Calibri"/>
              </a:rPr>
              <a:t>d = u₂−u₁</a:t>
            </a:r>
          </a:p>
        </p:txBody>
      </p:sp>
      <p:sp>
        <p:nvSpPr>
          <p:cNvPr id="13" name="Oval 12"/>
          <p:cNvSpPr/>
          <p:nvPr/>
        </p:nvSpPr>
        <p:spPr>
          <a:xfrm>
            <a:off x="3225238" y="2427575"/>
            <a:ext cx="2227301" cy="486773"/>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Định nghĩa CSC</a:t>
            </a:r>
          </a:p>
        </p:txBody>
      </p:sp>
      <p:cxnSp>
        <p:nvCxnSpPr>
          <p:cNvPr id="14" name="Connector 13"/>
          <p:cNvCxnSpPr/>
          <p:nvPr/>
        </p:nvCxnSpPr>
        <p:spPr>
          <a:xfrm flipV="1">
            <a:off x="6027267" y="2670962"/>
            <a:ext cx="1688379" cy="1283818"/>
          </a:xfrm>
          <a:prstGeom prst="line">
            <a:avLst/>
          </a:prstGeom>
          <a:ln w="44450">
            <a:solidFill>
              <a:srgbClr val="BF8F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715646" y="2043450"/>
            <a:ext cx="2003371" cy="627512"/>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719017" y="1767138"/>
            <a:ext cx="1058393"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uₙ = u₁ +</a:t>
            </a:r>
          </a:p>
          <a:p>
            <a:pPr algn="ctr"/>
            <a:r>
              <a:rPr sz="1300" b="0">
                <a:solidFill>
                  <a:srgbClr val="000000"/>
                </a:solidFill>
                <a:latin typeface="Calibri"/>
              </a:rPr>
              <a:t>(n−1)d</a:t>
            </a:r>
          </a:p>
        </p:txBody>
      </p:sp>
      <p:cxnSp>
        <p:nvCxnSpPr>
          <p:cNvPr id="17" name="Connector 16"/>
          <p:cNvCxnSpPr/>
          <p:nvPr/>
        </p:nvCxnSpPr>
        <p:spPr>
          <a:xfrm>
            <a:off x="7715646" y="2670962"/>
            <a:ext cx="2003371" cy="0"/>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719017" y="2394651"/>
            <a:ext cx="1058393"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uₙ = uₘ +</a:t>
            </a:r>
          </a:p>
          <a:p>
            <a:pPr algn="ctr"/>
            <a:r>
              <a:rPr sz="1300" b="0">
                <a:solidFill>
                  <a:srgbClr val="000000"/>
                </a:solidFill>
                <a:latin typeface="Calibri"/>
              </a:rPr>
              <a:t>(n−m)d</a:t>
            </a:r>
          </a:p>
        </p:txBody>
      </p:sp>
      <p:cxnSp>
        <p:nvCxnSpPr>
          <p:cNvPr id="19" name="Connector 18"/>
          <p:cNvCxnSpPr/>
          <p:nvPr/>
        </p:nvCxnSpPr>
        <p:spPr>
          <a:xfrm>
            <a:off x="7715646" y="2670962"/>
            <a:ext cx="1574111" cy="627512"/>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289757" y="3022163"/>
            <a:ext cx="1916913"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Trung bình cộng: uₙ</a:t>
            </a:r>
          </a:p>
          <a:p>
            <a:pPr algn="ctr"/>
            <a:r>
              <a:rPr sz="1300" b="0">
                <a:solidFill>
                  <a:srgbClr val="000000"/>
                </a:solidFill>
                <a:latin typeface="Calibri"/>
              </a:rPr>
              <a:t>= (uₙ₋₁+uₙ₊₁)/2</a:t>
            </a:r>
          </a:p>
        </p:txBody>
      </p:sp>
      <p:sp>
        <p:nvSpPr>
          <p:cNvPr id="21" name="Oval 20"/>
          <p:cNvSpPr/>
          <p:nvPr/>
        </p:nvSpPr>
        <p:spPr>
          <a:xfrm>
            <a:off x="6810021" y="2259078"/>
            <a:ext cx="1811249" cy="823767"/>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Số hạng thứ</a:t>
            </a:r>
          </a:p>
          <a:p>
            <a:pPr algn="ctr"/>
            <a:r>
              <a:rPr sz="1500" b="1">
                <a:solidFill>
                  <a:srgbClr val="000000"/>
                </a:solidFill>
                <a:latin typeface="Calibri"/>
              </a:rPr>
              <a:t>n</a:t>
            </a:r>
          </a:p>
        </p:txBody>
      </p:sp>
      <p:cxnSp>
        <p:nvCxnSpPr>
          <p:cNvPr id="22" name="Connector 21"/>
          <p:cNvCxnSpPr/>
          <p:nvPr/>
        </p:nvCxnSpPr>
        <p:spPr>
          <a:xfrm flipH="1">
            <a:off x="4338888" y="3954780"/>
            <a:ext cx="1688379" cy="1283817"/>
          </a:xfrm>
          <a:prstGeom prst="line">
            <a:avLst/>
          </a:prstGeom>
          <a:ln w="44450">
            <a:solidFill>
              <a:srgbClr val="2F559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2593073" y="4924841"/>
            <a:ext cx="1745815" cy="313756"/>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019568" y="4749241"/>
            <a:ext cx="1573505" cy="351200"/>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Sₙ = n(u₁+uₙ)/2</a:t>
            </a:r>
          </a:p>
        </p:txBody>
      </p:sp>
      <p:cxnSp>
        <p:nvCxnSpPr>
          <p:cNvPr id="25" name="Connector 24"/>
          <p:cNvCxnSpPr/>
          <p:nvPr/>
        </p:nvCxnSpPr>
        <p:spPr>
          <a:xfrm flipH="1">
            <a:off x="2378443" y="5238597"/>
            <a:ext cx="1960445" cy="213045"/>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234198" y="5175331"/>
            <a:ext cx="1144245" cy="552622"/>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Sₙ = nu₁ +</a:t>
            </a:r>
          </a:p>
          <a:p>
            <a:pPr algn="ctr"/>
            <a:r>
              <a:rPr sz="1300" b="0">
                <a:solidFill>
                  <a:srgbClr val="000000"/>
                </a:solidFill>
                <a:latin typeface="Calibri"/>
              </a:rPr>
              <a:t>n(n−1)d/2</a:t>
            </a:r>
          </a:p>
        </p:txBody>
      </p:sp>
      <p:sp>
        <p:nvSpPr>
          <p:cNvPr id="27" name="Oval 26"/>
          <p:cNvSpPr/>
          <p:nvPr/>
        </p:nvSpPr>
        <p:spPr>
          <a:xfrm>
            <a:off x="3571948" y="4826713"/>
            <a:ext cx="1533881" cy="823767"/>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Tổng n số</a:t>
            </a:r>
          </a:p>
          <a:p>
            <a:pPr algn="ctr"/>
            <a:r>
              <a:rPr sz="1500" b="1">
                <a:solidFill>
                  <a:srgbClr val="000000"/>
                </a:solidFill>
                <a:latin typeface="Calibri"/>
              </a:rPr>
              <a:t>hạng đầu</a:t>
            </a:r>
          </a:p>
        </p:txBody>
      </p:sp>
      <p:cxnSp>
        <p:nvCxnSpPr>
          <p:cNvPr id="28" name="Connector 27"/>
          <p:cNvCxnSpPr/>
          <p:nvPr/>
        </p:nvCxnSpPr>
        <p:spPr>
          <a:xfrm>
            <a:off x="6027267" y="3954780"/>
            <a:ext cx="1688379" cy="1283817"/>
          </a:xfrm>
          <a:prstGeom prst="line">
            <a:avLst/>
          </a:prstGeom>
          <a:ln w="444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715646" y="4924841"/>
            <a:ext cx="1745815" cy="313756"/>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461461" y="4648530"/>
            <a:ext cx="1573505"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Tổng dãy số tự</a:t>
            </a:r>
          </a:p>
          <a:p>
            <a:pPr algn="ctr"/>
            <a:r>
              <a:rPr sz="1300" b="0">
                <a:solidFill>
                  <a:srgbClr val="000000"/>
                </a:solidFill>
                <a:latin typeface="Calibri"/>
              </a:rPr>
              <a:t>nhiên 1+2+...+n</a:t>
            </a:r>
          </a:p>
        </p:txBody>
      </p:sp>
      <p:cxnSp>
        <p:nvCxnSpPr>
          <p:cNvPr id="31" name="Connector 30"/>
          <p:cNvCxnSpPr/>
          <p:nvPr/>
        </p:nvCxnSpPr>
        <p:spPr>
          <a:xfrm>
            <a:off x="7715646" y="5238597"/>
            <a:ext cx="1659963" cy="313756"/>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375609" y="5276042"/>
            <a:ext cx="1745209"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Bài toán ghế khán</a:t>
            </a:r>
          </a:p>
          <a:p>
            <a:pPr algn="ctr"/>
            <a:r>
              <a:rPr sz="1300" b="0">
                <a:solidFill>
                  <a:srgbClr val="000000"/>
                </a:solidFill>
                <a:latin typeface="Calibri"/>
              </a:rPr>
              <a:t>đài, ống cống...</a:t>
            </a:r>
          </a:p>
        </p:txBody>
      </p:sp>
      <p:sp>
        <p:nvSpPr>
          <p:cNvPr id="33" name="Oval 32"/>
          <p:cNvSpPr/>
          <p:nvPr/>
        </p:nvSpPr>
        <p:spPr>
          <a:xfrm>
            <a:off x="6671337" y="4826713"/>
            <a:ext cx="2088617" cy="823767"/>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Ứng dụng thực</a:t>
            </a:r>
          </a:p>
          <a:p>
            <a:pPr algn="ctr"/>
            <a:r>
              <a:rPr sz="1500" b="1">
                <a:solidFill>
                  <a:srgbClr val="000000"/>
                </a:solidFill>
                <a:latin typeface="Calibri"/>
              </a:rPr>
              <a:t>tiễn</a:t>
            </a:r>
          </a:p>
        </p:txBody>
      </p:sp>
      <p:sp>
        <p:nvSpPr>
          <p:cNvPr id="34" name="Oval 33"/>
          <p:cNvSpPr/>
          <p:nvPr/>
        </p:nvSpPr>
        <p:spPr>
          <a:xfrm>
            <a:off x="5019941" y="3682342"/>
            <a:ext cx="2014652" cy="544875"/>
          </a:xfrm>
          <a:prstGeom prst="ellipse">
            <a:avLst/>
          </a:prstGeom>
          <a:solidFill>
            <a:srgbClr val="002060"/>
          </a:solidFill>
          <a:ln w="25400">
            <a:solidFill>
              <a:srgbClr val="000B1E"/>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700" b="1">
                <a:solidFill>
                  <a:srgbClr val="FFFFFF"/>
                </a:solidFill>
                <a:latin typeface="Calibri"/>
              </a:rPr>
              <a:t>CẤP SỐ CỘNG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BÀI TẬP CỦA BẠN</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6. Cấp số cộng          64</a:t>
            </a:r>
          </a:p>
        </p:txBody>
      </p:sp>
      <p:sp>
        <p:nvSpPr>
          <p:cNvPr id="6" name="Rectangle 5"/>
          <p:cNvSpPr/>
          <p:nvPr/>
        </p:nvSpPr>
        <p:spPr>
          <a:xfrm>
            <a:off x="731520" y="1463040"/>
            <a:ext cx="4572000" cy="4572000"/>
          </a:xfrm>
          <a:prstGeom prst="rect">
            <a:avLst/>
          </a:prstGeom>
          <a:solidFill>
            <a:srgbClr val="F8FAFC"/>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CungCo_Bai6_Toan11.png"/>
          <p:cNvPicPr>
            <a:picLocks noChangeAspect="1"/>
          </p:cNvPicPr>
          <p:nvPr/>
        </p:nvPicPr>
        <p:blipFill>
          <a:blip r:embed="rId2"/>
          <a:stretch>
            <a:fillRect/>
          </a:stretch>
        </p:blipFill>
        <p:spPr>
          <a:xfrm>
            <a:off x="960120" y="1691640"/>
            <a:ext cx="4114800" cy="4114800"/>
          </a:xfrm>
          <a:prstGeom prst="rect">
            <a:avLst/>
          </a:prstGeom>
        </p:spPr>
      </p:pic>
      <p:sp>
        <p:nvSpPr>
          <p:cNvPr id="8" name="TextBox 7"/>
          <p:cNvSpPr txBox="1"/>
          <p:nvPr/>
        </p:nvSpPr>
        <p:spPr>
          <a:xfrm>
            <a:off x="5760720" y="1554480"/>
            <a:ext cx="6035040" cy="31089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600">
                <a:solidFill>
                  <a:srgbClr val="1E293B"/>
                </a:solidFill>
                <a:latin typeface="Calibri"/>
              </a:rPr>
              <a:t>Quét mã QR bằng điện thoại</a:t>
            </a:r>
          </a:p>
          <a:p>
            <a:pPr algn="l" marL="365760" indent="-365760">
              <a:spcAft>
                <a:spcPts val="800"/>
              </a:spcAft>
              <a:buClr>
                <a:srgbClr val="1E40AF"/>
              </a:buClr>
              <a:buFont typeface="Arial"/>
              <a:buChar char="•"/>
            </a:pPr>
            <a:r>
              <a:rPr sz="2600">
                <a:solidFill>
                  <a:srgbClr val="1E293B"/>
                </a:solidFill>
                <a:latin typeface="Calibri"/>
              </a:rPr>
              <a:t>Nhập họ tên và lớp</a:t>
            </a:r>
          </a:p>
          <a:p>
            <a:pPr algn="l" marL="365760" indent="-365760">
              <a:spcAft>
                <a:spcPts val="800"/>
              </a:spcAft>
              <a:buClr>
                <a:srgbClr val="1E40AF"/>
              </a:buClr>
              <a:buFont typeface="Arial"/>
              <a:buChar char="•"/>
            </a:pPr>
            <a:r>
              <a:rPr sz="2600">
                <a:solidFill>
                  <a:srgbClr val="1E293B"/>
                </a:solidFill>
                <a:latin typeface="Calibri"/>
              </a:rPr>
              <a:t>7 câu – làm trong 7 phút</a:t>
            </a:r>
          </a:p>
          <a:p>
            <a:pPr algn="l" marL="365760" indent="-365760">
              <a:spcAft>
                <a:spcPts val="800"/>
              </a:spcAft>
              <a:buClr>
                <a:srgbClr val="1E40AF"/>
              </a:buClr>
              <a:buFont typeface="Arial"/>
              <a:buChar char="•"/>
            </a:pPr>
            <a:r>
              <a:rPr sz="2600">
                <a:solidFill>
                  <a:srgbClr val="1E293B"/>
                </a:solidFill>
                <a:latin typeface="Calibri"/>
              </a:rPr>
              <a:t>Nộp bài, xem lời giải</a:t>
            </a:r>
          </a:p>
        </p:txBody>
      </p:sp>
      <p:sp>
        <p:nvSpPr>
          <p:cNvPr id="9" name="TextBox 8"/>
          <p:cNvSpPr txBox="1"/>
          <p:nvPr/>
        </p:nvSpPr>
        <p:spPr>
          <a:xfrm>
            <a:off x="5760720" y="4754880"/>
            <a:ext cx="6035040" cy="1188720"/>
          </a:xfrm>
          <a:prstGeom prst="rect">
            <a:avLst/>
          </a:prstGeom>
          <a:noFill/>
        </p:spPr>
        <p:txBody>
          <a:bodyPr wrap="square" anchor="t" lIns="45720" rIns="45720">
            <a:spAutoFit/>
          </a:bodyPr>
          <a:lstStyle/>
          <a:p>
            <a:pPr algn="l">
              <a:spcAft>
                <a:spcPts val="800"/>
              </a:spcAft>
            </a:pPr>
            <a:r>
              <a:rPr sz="1800" b="1">
                <a:solidFill>
                  <a:srgbClr val="1E40AF"/>
                </a:solidFill>
                <a:latin typeface="Calibri"/>
                <a:hlinkClick r:id="rId3"/>
              </a:rPr>
              <a:t>trangtu66.github.io/Taode_thi_online/cc_bai6_t11.html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TTT</dc:creator>
  <cp:keywords/>
  <dc:description>generated using python-pptx</dc:description>
  <cp:lastModifiedBy>TTT</cp:lastModifiedBy>
  <cp:revision>1</cp:revision>
  <dcterms:created xsi:type="dcterms:W3CDTF">2013-01-27T09:14:16Z</dcterms:created>
  <dcterms:modified xsi:type="dcterms:W3CDTF">2013-01-27T09:15:58Z</dcterms:modified>
  <cp:category/>
</cp:coreProperties>
</file>