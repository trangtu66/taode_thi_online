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 mở trang online (cần Internet).</a:t>
            </a:r>
          </a:p>
          <a:p>
            <a:r>
              <a:t>Khối 11 năm học 2026 – 2027 không có HS khuyết tật; vẫn ghi đủ chữ trên slide để HS tự đọc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Chương I – 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để HS nắm lộ trình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1 (45'): HĐ1 hệ thống kiến thức, cấu trúc đề 8' – Phần I (12 câu, 1,5 phút/câu) 25' – Phần II Câu 13, 14: 12'.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video mở đầu (ảnh thật, lồng tiếng, phụ đề – không nói đáp án), HS quét QR xem lại. 3'. HS viết giấy nhớ, chia sẻ nhóm. Các nhóm trình chiếu sơ đồ tư duy số đã hoàn thiện ở các tiết bài tập cuối chương.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Click 1–4 (đối chiếu KHBD).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Mỗi nhóm nhắc một chương trước khi GV hiện khung.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25'. Khoảng 1,5 phút/câu; HS giơ thẻ. Câu 2, 5, 12 dễ nhầm: mời HS chọn sai, chọn đúng nêu lí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 cá nhân + đối chiếu cặp. sin 2α = 2·(3/5)·(−4/5) = −24/25; cos 2α = 1 − 2sin²α = 7/25.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π/6 + 5π/6 = 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2 (45'): Phần II Câu 15, 16: 14' – Phần III tiếp sức 24' – Củng cố online, giao việc 7'.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Đầu Tiết 2 (T23), 4'. S15 = 15(20 + 48)/2 = 510.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Mo = 20 + 3/(3 + 7)·10 = 23; Q1 = 10 + (10 − 5)/12·10 ≈ 14,17.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24'. 4 nhóm; mỗi thành viên giải một câu rồi chuyền phiếu; ghi đáp số dạng số, làm tròn đúng yêu cầu. Nhóm nhanh và đúng nhất được cộng điểm.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đáp số sau khi các nhóm nộp phiếu; nhóm chấm chéo.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đáp số sau khi các nhóm nộp phiếu; nhóm chấm chéo.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đáp số sau khi các nhóm nộp phiếu; nhóm chấm chéo.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đáp số sau khi các nhóm nộp phiếu; nhóm chấm chéo.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đáp số sau khi các nhóm nộp phiếu; nhóm chấm chéo.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đáp số sau khi các nhóm nộp phiếu; nhóm chấm chéo.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quét QR làm bài củng cố online ở nhà.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rangtu66.github.io/Taode_thi_online/mon/toan/video/lop11/VIDEO_MoDau_TOAN11_OnTapGiuaKi1.mp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hyperlink" Target="https://trangtu66.github.io/Taode_thi_online/cc_ontapgk1_t11.htm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CD34D"/>
                </a:solidFill>
                <a:latin typeface="Cambria"/>
              </a:rPr>
              <a:t>CHƯƠNG I – III. LƯỢNG GIÁC; DÃY SỐ, CẤP SỐ; SỐ ĐẶC TRƯNG ĐO XU THẾ TRUNG TÂM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ÔN TẬP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ÔN TẬP GIỮA KÌ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2 tiết: T22 – T23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180746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3896"/>
            <a:ext cx="10735056" cy="1734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Yêu cầu cần đạt</a:t>
            </a:r>
            <a:r>
              <a:rPr sz="2200">
                <a:solidFill>
                  <a:srgbClr val="1E293B"/>
                </a:solidFill>
                <a:latin typeface="Calibri"/>
              </a:rPr>
              <a:t> (SGK Chương I – III)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Hệ thống kiến thức Bài 1 – Bài 9 (Chương I, II, III).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Luyện tập theo cấu trúc đề kiểm tra mới: nhiều lựa chọn, đúng – sai, trả lời ngắn.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53384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luận; mô hình hoá; giải quyết vấn đề; sử dụng công cụ (máy tính cầm tay).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 (tự làm bài), trách nhiệm.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LỘ TRÌNH 2 TIẾT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4592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Hệ thống kiến thức, cấu trúc đề; Phần I (Câu 1 – 12); Phần II (Câu 13, 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Giơ thẻ A, B, C,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0604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Phần II (Câu 15, 16); Phần III trả lời ngắn (Câu 17 – 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0604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Tiếp sức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1 (T22)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Hệ thống kiến thức. Luyện tập Phần I, Phần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Hệ thống kiến thức Chương I – III; nắm cấu trúc đề.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Luyện tập câu nhiều lựa chọn, đúng – sai.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ÔN TẬP GIỮA KÌ 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58368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Sắp đến kì kiểm tra giữa học kì I. Hôm nay chúng ta cùng ôn lại ba chương: hàm số lượng giác và phương trình lượng giác; dãy số, cấp số cộng và cấp số nhân; các số đặc trưng đo xu thế trung tâm của mẫu số liệu ghép nhóm. </a:t>
            </a:r>
            <a:r>
              <a:rPr sz="2200" b="1">
                <a:solidFill>
                  <a:srgbClr val="1E293B"/>
                </a:solidFill>
                <a:latin typeface="Calibri"/>
              </a:rPr>
              <a:t>Em tự tin nhất với chương nào? Phần nào em còn thấy khó?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(Video mở đầu – Ôn tập giữa kì I)</a:t>
            </a:r>
          </a:p>
        </p:txBody>
      </p:sp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349240"/>
            <a:ext cx="393192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VIDEO MỞ ĐẦU</a:t>
            </a:r>
          </a:p>
        </p:txBody>
      </p:sp>
      <p:pic>
        <p:nvPicPr>
          <p:cNvPr id="9" name="Picture 8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74920"/>
            <a:ext cx="1188720" cy="1188720"/>
          </a:xfrm>
          <a:prstGeom prst="rect">
            <a:avLst/>
          </a:prstGeom>
        </p:spPr>
      </p:pic>
      <p:pic>
        <p:nvPicPr>
          <p:cNvPr id="10" name="Picture 9" descr="lop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828800"/>
            <a:ext cx="438912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5504688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Ảnh: Wikimedia Commons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ĐÚNG HAY SAI?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Cả lớp giơ thẻ Đ/S; nêu phản ví dụ cho khẳng định sai.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18288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(π+α)=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18288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\sin(\pi+\alpha)=\sin\alpha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\alpha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961120" y="1828800"/>
            <a:ext cx="2651759" cy="6858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961120" y="1883664"/>
            <a:ext cx="265175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SAI</a:t>
            </a:r>
            <a:r>
              <a:rPr sz="1700">
                <a:solidFill>
                  <a:srgbClr val="FFFFFF"/>
                </a:solidFill>
                <a:latin typeface="Calibri"/>
              </a:rPr>
              <a:t> (= −sin α)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27432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hàm số chẵn.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27432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Hàm số </a:t>
                </a:r>
                <a:r>
                  <a:rPr lang="vi-VN"/>
                  <a:t>y=\cos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hàm số chẵn.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961120" y="2743200"/>
            <a:ext cx="2651759" cy="6858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961120" y="2798064"/>
            <a:ext cx="265175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8640" y="36576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Cấp số nhân có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thì mọi số hạng bằng nhau.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36576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Cấp số nhân có </a:t>
                </a:r>
                <a:r>
                  <a:rPr lang="vi-VN"/>
                  <a:t>q=1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thì mọi số hạng bằng nhau.</a:t>
                </a:r>
              </a:p>
            </p:txBody>
          </p:sp>
        </mc:Fallback>
      </mc:AlternateContent>
      <p:sp>
        <p:nvSpPr>
          <p:cNvPr id="15" name="s3_nen"/>
          <p:cNvSpPr/>
          <p:nvPr/>
        </p:nvSpPr>
        <p:spPr>
          <a:xfrm>
            <a:off x="8961120" y="3657600"/>
            <a:ext cx="2651759" cy="6858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961120" y="3712463"/>
            <a:ext cx="265175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ĐÚNG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82296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4.</a:t>
            </a:r>
            <a:r>
              <a:rPr sz="2100">
                <a:solidFill>
                  <a:srgbClr val="1E293B"/>
                </a:solidFill>
                <a:latin typeface="Calibri"/>
              </a:rPr>
              <a:t> Mốt luôn bằng giá trị đại diện của nhóm chứa mốt.</a:t>
            </a:r>
          </a:p>
        </p:txBody>
      </p:sp>
      <p:sp>
        <p:nvSpPr>
          <p:cNvPr id="18" name="s4_nen"/>
          <p:cNvSpPr/>
          <p:nvPr/>
        </p:nvSpPr>
        <p:spPr>
          <a:xfrm>
            <a:off x="8961120" y="4572000"/>
            <a:ext cx="2651759" cy="6858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961120" y="4626864"/>
            <a:ext cx="265175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SAI</a:t>
            </a:r>
            <a:r>
              <a:rPr sz="1700">
                <a:solidFill>
                  <a:srgbClr val="FFFFFF"/>
                </a:solidFill>
                <a:latin typeface="Calibri"/>
              </a:rPr>
              <a:t> (dùng công thức)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HỆ THỐNG KIẾN THỨC CHƯƠNG I – III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362456"/>
                <a:ext cx="10735056" cy="10607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Chương I.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=π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l=Rα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giá trị lượng giác, dấu, góc liên quan; công thức cộng, nhân đôi, biến đổi;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(chu kì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(chu kì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); nghiệm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362456"/>
                <a:ext cx="10735056" cy="10607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Chương I.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180^\circ=\pi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l=R\alpha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giá trị lượng giác, dấu, góc liên quan; công thức cộng, nhân đôi, biến đổi; </a:t>
                </a:r>
                <a:r>
                  <a:rPr lang="vi-VN"/>
                  <a:t>y=\sin x,\cos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(chu kì </a:t>
                </a:r>
                <a:r>
                  <a:rPr lang="vi-VN"/>
                  <a:t>2\pi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), </a:t>
                </a:r>
                <a:r>
                  <a:rPr lang="vi-VN"/>
                  <a:t>y=\tan x,\cot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(chu kì </a:t>
                </a:r>
                <a:r>
                  <a:rPr lang="vi-VN"/>
                  <a:t>\pi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); nghiệm </a:t>
                </a:r>
                <a:r>
                  <a:rPr lang="vi-VN"/>
                  <a:t>\sin x=\sin\alpha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\cos x=\cos\alpha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\tan x=\tan\alpha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\cot x=\cot\alpha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548640" y="2551176"/>
            <a:ext cx="11064240" cy="110490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1_chu"/>
              <p:cNvSpPr txBox="1"/>
              <p:nvPr/>
            </p:nvSpPr>
            <p:spPr>
              <a:xfrm>
                <a:off x="713232" y="2587752"/>
                <a:ext cx="10735056" cy="10317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Chương II.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Dãy tăng, giảm, bị chặn; cấp số cộng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+(n−1)d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n(</m:t>
                        </m:r>
                        <m:sSub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cấp số nhân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p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1−q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13232" y="2587752"/>
                <a:ext cx="10735056" cy="10317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Chương II.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Dãy tăng, giảm, bị chặn; cấp số cộng </a:t>
                </a:r>
                <a:r>
                  <a:rPr lang="vi-VN"/>
                  <a:t>u_n=u_1+(n-1)d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S_n=\frac{n(u_1+u_n)}{2}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cấp số nhân </a:t>
                </a:r>
                <a:r>
                  <a:rPr lang="vi-VN"/>
                  <a:t>u_n=u_1q^{n-1}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S_n=\frac{u_1(1-q^n)}{1-q}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2_nen"/>
          <p:cNvSpPr/>
          <p:nvPr/>
        </p:nvSpPr>
        <p:spPr>
          <a:xfrm>
            <a:off x="548640" y="3747516"/>
            <a:ext cx="11064240" cy="554735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2_chu"/>
              <p:cNvSpPr txBox="1"/>
              <p:nvPr/>
            </p:nvSpPr>
            <p:spPr>
              <a:xfrm>
                <a:off x="713232" y="3784092"/>
                <a:ext cx="107350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Chương III.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Mẫu số liệu ghép nhóm; </a:t>
                </a:r>
                <a14:m>
                  <m:oMath xmlns:m="http://schemas.openxmlformats.org/officeDocument/2006/math">
                    <m:acc>
                      <m:accPr>
                        <m:chr m:val="―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3784092"/>
                <a:ext cx="107350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Chương III.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Mẫu số liệu ghép nhóm; </a:t>
                </a:r>
                <a:r>
                  <a:rPr lang="vi-VN"/>
                  <a:t>\overline{x}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M_e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Q_1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Q_3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M_o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3_nen"/>
          <p:cNvSpPr/>
          <p:nvPr/>
        </p:nvSpPr>
        <p:spPr>
          <a:xfrm>
            <a:off x="548640" y="4393692"/>
            <a:ext cx="11064240" cy="844295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3_chu"/>
          <p:cNvSpPr txBox="1"/>
          <p:nvPr/>
        </p:nvSpPr>
        <p:spPr>
          <a:xfrm>
            <a:off x="713232" y="4430268"/>
            <a:ext cx="10735056" cy="77114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Cấu trúc đề (90 phút).</a:t>
            </a:r>
            <a:r>
              <a:rPr sz="1900">
                <a:solidFill>
                  <a:srgbClr val="1E293B"/>
                </a:solidFill>
                <a:latin typeface="Calibri"/>
              </a:rPr>
              <a:t> Phần I: 12 câu nhiều lựa chọn (0,25 điểm/câu); Phần II: 4 câu đúng – sai (Chương I: 2, II: 1, III: 1); Phần III: 6 câu trả lời ngắn (0,5 điểm/câu).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PHẦN I – TRẮC NGHIỆM NHIỀU PHƯƠNG ÁN LỰA CHỌN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10332720" cy="996695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414016"/>
            <a:ext cx="10003536" cy="92354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📋 </a:t>
            </a:r>
            <a:r>
              <a:rPr sz="2400" b="1">
                <a:solidFill>
                  <a:srgbClr val="1E293B"/>
                </a:solidFill>
                <a:latin typeface="Calibri"/>
              </a:rPr>
              <a:t>12 câu – mỗi câu 0,25 điểm.</a:t>
            </a:r>
            <a:r>
              <a:rPr sz="2400">
                <a:solidFill>
                  <a:srgbClr val="1E293B"/>
                </a:solidFill>
                <a:latin typeface="Calibri"/>
              </a:rPr>
              <a:t> Giơ thẻ A, B, C, D sau khoảng 1,5 phút; dùng máy tính cầm tay kiểm tra khi cần.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1 (BÀI 1 – 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Góc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đổi sang rađian bằng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Góc </a:t>
                </a:r>
                <a:r>
                  <a:rPr lang="vi-VN"/>
                  <a:t>135^\circ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đổi sang rađian bằng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\frac{2\pi}{3}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\frac{3\pi}{4}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\frac{5\pi}{6}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\frac{3\pi}{2}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90220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135·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135\cdot\frac{\pi}{180}=\frac{3\pi}{4}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2 (BÀI 1 – 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Với mọi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(π−α)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Với mọi </a:t>
                </a:r>
                <a:r>
                  <a:rPr lang="vi-VN"/>
                  <a:t>\alpha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\sin(\pi-\alpha)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\cos\alpha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-\sin\alpha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\sin\alpha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-\cos\alpha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1_chu"/>
          <p:cNvSpPr txBox="1"/>
          <p:nvPr/>
        </p:nvSpPr>
        <p:spPr>
          <a:xfrm>
            <a:off x="713232" y="4654296"/>
            <a:ext cx="10735056" cy="5273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Đáp án C.</a:t>
            </a:r>
            <a:r>
              <a:rPr sz="2200">
                <a:solidFill>
                  <a:srgbClr val="1E293B"/>
                </a:solidFill>
                <a:latin typeface="Calibri"/>
              </a:rPr>
              <a:t> Góc bù nhau.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3 (BÀI 2 – 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Công thức nào đúng với mọi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Công thức nào đúng với mọi </a:t>
                </a:r>
                <a:r>
                  <a:rPr lang="vi-VN"/>
                  <a:t>a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 2a=\cos^2 a-\sin^2 a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 2a=2\sin a\cos a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2a=1+2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 2a=1+2\sin^2 a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 2a=\cos^2 a+\sin^2 a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1_chu"/>
          <p:cNvSpPr txBox="1"/>
          <p:nvPr/>
        </p:nvSpPr>
        <p:spPr>
          <a:xfrm>
            <a:off x="713232" y="4654296"/>
            <a:ext cx="10735056" cy="5273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Đáp án A.</a:t>
            </a:r>
            <a:r>
              <a:rPr sz="2200">
                <a:solidFill>
                  <a:srgbClr val="1E293B"/>
                </a:solidFill>
                <a:latin typeface="Calibri"/>
              </a:rPr>
              <a:t> Công thức nhân đôi.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4 (BÀI 3 – 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tuần hoàn với chu kì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y=\sin x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tuần hoàn với chu kì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4π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4\pi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\pi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\frac{\pi}{2}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2\pi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Chu kì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Chu kì </a:t>
                </a:r>
                <a:r>
                  <a:rPr lang="vi-VN"/>
                  <a:t>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5 (BÀI 3 – 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Tập xác định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Tập xác định của hàm số </a:t>
                </a:r>
                <a:r>
                  <a:rPr lang="vi-VN"/>
                  <a:t>y=\tan x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ℝ⧵{kπ}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\mathbb{R}\setminus\{k\pi\}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</m:t>
                    </m:r>
                    <m:d>
                      <m:dPr>
                        <m:begChr m:val="{"/>
                        <m:sepChr m:val="+"/>
                        <m:endChr m:val="}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\mathbb{R}\setminus\left\{\frac{\pi}{2}+k\pi\right\}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\mathbb{R}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ℝ⧵{k2π}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\mathbb{R}\setminus\{k2\pi\}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 x\ne 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6 (BÀI 4 – 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Nghiệm của phương trình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Nghiệm của phương trình </a:t>
                </a:r>
                <a:r>
                  <a:rPr lang="vi-VN"/>
                  <a:t>\cos x=\frac{1}{2}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x=\frac{\pi}{3}+k\pi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x=\pm\frac{\pi}{6}+k2\pi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x=\pm\frac{\pi}{3}+k2\pi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x=\pm\frac{2\pi}{3}+k2\pi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90220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\cos\frac{\pi}{3}=\frac{1}{2}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7 (BÀI 4 – 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Nghiệm của phương trình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Nghiệm của phương trình </a:t>
                </a:r>
                <a:r>
                  <a:rPr lang="vi-VN"/>
                  <a:t>\tan x=1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x=\frac{\pi}{2}+k\pi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x=\frac{\pi}{4}+k2\pi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x=-\frac{\pi}{4}+k\pi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x=\frac{\pi}{4}+k\pi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Chu kì của tang là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Chu kì của tang là </a:t>
                </a:r>
                <a:r>
                  <a:rPr lang="vi-VN"/>
                  <a:t>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8 (BÀI 5 – 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dãy số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=2n+1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Số hạng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dãy số </a:t>
                </a:r>
                <a:r>
                  <a:rPr lang="vi-VN"/>
                  <a:t>u_n=2n+1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Số hạng </a:t>
                </a:r>
                <a:r>
                  <a:rPr lang="vi-VN"/>
                  <a:t>u_5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11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10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9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12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u_5=11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9 (BÀI 6 – 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Cấp số cộng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d=−2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Số hạng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Cấp số cộng có </a:t>
                </a:r>
                <a:r>
                  <a:rPr lang="vi-VN"/>
                  <a:t>u_1=3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d=-2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Số hạng </a:t>
                </a:r>
                <a:r>
                  <a:rPr lang="vi-VN"/>
                  <a:t>u_{10}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−17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-17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−15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-15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21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−13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-13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3+9·(−2)=−15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3+9\cdot(-2)=-15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10 (BÀI 7 – 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Cấp số nhân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q=3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Tổng 4 số hạng đầu bằng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Cấp số nhân có </a:t>
                </a:r>
                <a:r>
                  <a:rPr lang="vi-VN"/>
                  <a:t>u_1=2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q=3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Tổng 4 số hạng đầu bằng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162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54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80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26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2(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=80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\frac{2(3^4-1)}{2}=80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11 (BÀI 8 – 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đại diện của nhóm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[10;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15)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đại diện của nhóm </a:t>
                </a:r>
                <a:r>
                  <a:rPr lang="vi-VN"/>
                  <a:t>[10;\ 15)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5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10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15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12{,}5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10+15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\frac{10+15}{2}=12{,}5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12 (BÀI 9 – 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Mẫu số liệu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: 4;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[10;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: 10;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[20;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: 6 có số trung bình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Mẫu số liệu </a:t>
                </a:r>
                <a:r>
                  <a:rPr lang="vi-VN"/>
                  <a:t>[0;\ 10)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: 4; </a:t>
                </a:r>
                <a:r>
                  <a:rPr lang="vi-VN"/>
                  <a:t>[10;\ 20)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: 10; </a:t>
                </a:r>
                <a:r>
                  <a:rPr lang="vi-VN"/>
                  <a:t>[20;\ 30)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: 6 có số trung bình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16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15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20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17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4·5+10·15+6·25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\frac{4\cdot 5+10\cdot 15+6\cdot 25}{20}=16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PHẦN II – CÂU 13 (CHƯƠNG 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68679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&lt;α&lt;π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68679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</a:t>
                </a:r>
                <a:r>
                  <a:rPr lang="vi-VN"/>
                  <a:t>\sin\alpha=\frac{3}{5}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\frac{\pi}{2}&lt;\alpha&lt;\pi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233172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233172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\cos\alpha=-\frac{4}{5}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412480" y="2304288"/>
            <a:ext cx="3200400" cy="7886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340864"/>
            <a:ext cx="2871216" cy="71551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330327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330327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\tan\alpha=-\frac{3}{4}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412480" y="3275838"/>
            <a:ext cx="3200400" cy="7886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3312414"/>
            <a:ext cx="2871216" cy="71551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8640" y="427482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427482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\sin 2\alpha=\frac{24}{25}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5" name="s3_nen"/>
          <p:cNvSpPr/>
          <p:nvPr/>
        </p:nvSpPr>
        <p:spPr>
          <a:xfrm>
            <a:off x="8412480" y="4247388"/>
            <a:ext cx="3200400" cy="7886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4283964"/>
            <a:ext cx="2871216" cy="71551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(−24/25)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48640" y="524637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48640" y="524637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</a:t>
                </a:r>
                <a:r>
                  <a:rPr lang="vi-VN"/>
                  <a:t>\cos 2\alpha=\frac{7}{25}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8" name="s4_nen"/>
          <p:cNvSpPr/>
          <p:nvPr/>
        </p:nvSpPr>
        <p:spPr>
          <a:xfrm>
            <a:off x="8412480" y="5218938"/>
            <a:ext cx="3200400" cy="7886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5255514"/>
            <a:ext cx="2871216" cy="71551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PHẦN II – CÂU 14 (CHƯƠNG 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phương trình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x−1=0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phương trình </a:t>
                </a:r>
                <a:r>
                  <a:rPr lang="vi-VN"/>
                  <a:t>2\sin x-1=0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2002536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Tương đương với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2002536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Tương đương với </a:t>
                </a:r>
                <a:r>
                  <a:rPr lang="vi-VN"/>
                  <a:t>\sin x=\frac{1}{2}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412480" y="1975104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011680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299008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Nghiệm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299008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Nghiệm </a:t>
                </a:r>
                <a:r>
                  <a:rPr lang="vi-VN"/>
                  <a:t>x=\frac{\pi}{6}+k2\pi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x=\frac{5\pi}{6}+k2\pi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412480" y="2962656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2999232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8640" y="3977639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có 3 nghiệm.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3977639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Trên </a:t>
                </a:r>
                <a:r>
                  <a:rPr lang="vi-VN"/>
                  <a:t>[0;\ 2\pi]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có 3 nghiệm.</a:t>
                </a:r>
              </a:p>
            </p:txBody>
          </p:sp>
        </mc:Fallback>
      </mc:AlternateContent>
      <p:sp>
        <p:nvSpPr>
          <p:cNvPr id="15" name="s3_nen"/>
          <p:cNvSpPr/>
          <p:nvPr/>
        </p:nvSpPr>
        <p:spPr>
          <a:xfrm>
            <a:off x="8412480" y="3950207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3986783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(2 nghiệm)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48640" y="4965192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Tổng các nghiệm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bằng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48640" y="4965192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Tổng các nghiệm trên </a:t>
                </a:r>
                <a:r>
                  <a:rPr lang="vi-VN"/>
                  <a:t>[0;\ 2\pi]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bằng </a:t>
                </a:r>
                <a:r>
                  <a:rPr lang="vi-VN"/>
                  <a:t>\pi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8" name="s4_nen"/>
          <p:cNvSpPr/>
          <p:nvPr/>
        </p:nvSpPr>
        <p:spPr>
          <a:xfrm>
            <a:off x="8412480" y="4937759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4974336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2 (T23)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Luyện tập Phần II, Phần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Hoàn thành Phần II (Câu 15, 16).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Luyện câu trả lời ngắn theo hình thức tiếp sức.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PHẦN II – CÂU 15 (CHƯƠNG II – THỰC TIỄN)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90525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Hội trường có 15 hàng ghế; hàng đầu 20 ghế, mỗi hàng sau nhiều hơn hàng trước 2 ghế. Xét tính đúng, sai: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68296"/>
            <a:ext cx="7680960" cy="9166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a) Hàng thứ 5 có 28 ghế.</a:t>
            </a:r>
          </a:p>
        </p:txBody>
      </p:sp>
      <p:sp>
        <p:nvSpPr>
          <p:cNvPr id="9" name="s1_nen"/>
          <p:cNvSpPr/>
          <p:nvPr/>
        </p:nvSpPr>
        <p:spPr>
          <a:xfrm>
            <a:off x="8412480" y="2340864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377440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0702"/>
            <a:ext cx="7680960" cy="9166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b) Hàng cuối có 48 ghế.</a:t>
            </a:r>
          </a:p>
        </p:txBody>
      </p:sp>
      <p:sp>
        <p:nvSpPr>
          <p:cNvPr id="12" name="s2_nen"/>
          <p:cNvSpPr/>
          <p:nvPr/>
        </p:nvSpPr>
        <p:spPr>
          <a:xfrm>
            <a:off x="8412480" y="3303270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3339846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3108"/>
            <a:ext cx="7680960" cy="9166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c) Hội trường có 500 ghế.</a:t>
            </a:r>
          </a:p>
        </p:txBody>
      </p:sp>
      <p:sp>
        <p:nvSpPr>
          <p:cNvPr id="15" name="s3_nen"/>
          <p:cNvSpPr/>
          <p:nvPr/>
        </p:nvSpPr>
        <p:spPr>
          <a:xfrm>
            <a:off x="8412480" y="4265676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4302252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(510)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5514"/>
            <a:ext cx="7680960" cy="9166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d) Hàng có 40 ghế là hàng thứ 11.</a:t>
            </a:r>
          </a:p>
        </p:txBody>
      </p:sp>
      <p:sp>
        <p:nvSpPr>
          <p:cNvPr id="18" name="s4_nen"/>
          <p:cNvSpPr/>
          <p:nvPr/>
        </p:nvSpPr>
        <p:spPr>
          <a:xfrm>
            <a:off x="8412480" y="5228081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5264657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PHẦN II – CÂU 16 (CHƯƠNG III)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052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Thời gian (phút) đi học của 40 HS: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5;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12;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15;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[30;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8.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052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Thời gian (phút) đi học của 40 HS: </a:t>
                </a:r>
                <a:r>
                  <a:rPr lang="vi-VN"/>
                  <a:t>[0;\ 10)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5; </a:t>
                </a:r>
                <a:r>
                  <a:rPr lang="vi-VN"/>
                  <a:t>[10;\ 20)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12; </a:t>
                </a:r>
                <a:r>
                  <a:rPr lang="vi-VN"/>
                  <a:t>[20;\ 30)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15; </a:t>
                </a:r>
                <a:r>
                  <a:rPr lang="vi-VN"/>
                  <a:t>[30;\ 40)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8. Xét tính đúng, sai: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48640" y="2368296"/>
            <a:ext cx="7680960" cy="9166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a) Thời gian trung bình là 21,5 phút.</a:t>
            </a:r>
          </a:p>
        </p:txBody>
      </p:sp>
      <p:sp>
        <p:nvSpPr>
          <p:cNvPr id="9" name="s1_nen"/>
          <p:cNvSpPr/>
          <p:nvPr/>
        </p:nvSpPr>
        <p:spPr>
          <a:xfrm>
            <a:off x="8412480" y="2340864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377440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3330702"/>
                <a:ext cx="7680960" cy="91668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Nhóm chứa trung vị là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[20;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3330702"/>
                <a:ext cx="7680960" cy="91668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Nhóm chứa trung vị là </a:t>
                </a:r>
                <a:r>
                  <a:rPr lang="vi-VN"/>
                  <a:t>[20;\ 30)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412480" y="3303270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3339846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3108"/>
            <a:ext cx="7680960" cy="9166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c) Mốt bằng 25.</a:t>
            </a:r>
          </a:p>
        </p:txBody>
      </p:sp>
      <p:sp>
        <p:nvSpPr>
          <p:cNvPr id="15" name="s3_nen"/>
          <p:cNvSpPr/>
          <p:nvPr/>
        </p:nvSpPr>
        <p:spPr>
          <a:xfrm>
            <a:off x="8412480" y="4265676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4302252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(≈ 23)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48640" y="5255514"/>
                <a:ext cx="7680960" cy="91668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≈14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48640" y="5255514"/>
                <a:ext cx="7680960" cy="91668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</a:t>
                </a:r>
                <a:r>
                  <a:rPr lang="vi-VN"/>
                  <a:t>Q_1\approx 14{,}17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8" name="s4_nen"/>
          <p:cNvSpPr/>
          <p:nvPr/>
        </p:nvSpPr>
        <p:spPr>
          <a:xfrm>
            <a:off x="8412480" y="5228081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5264657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PHẦN III – TRÒ CHƠI TIẾP SỨC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3227832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315467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🏃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 Tiếp sức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nhóm một phiếu Phần III (Câu 17 – 22).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thành viên giải một câu rồi chuyền phiếu cho bạn kế tiếp.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Chỉ ghi số (không ghi đơn vị); chú ý dấu âm, làm tròn đúng yêu cầu.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Nhóm hoàn thành đúng, nhanh nhất được cộng điểm.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PHẦN III – CÂU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giá trị lớn nhất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y=3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x+1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giá trị lớn nhất của hàm số </a:t>
                </a:r>
                <a:r>
                  <a:rPr lang="vi-VN"/>
                  <a:t>y=3\sin x+1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x≤1⇒y≤4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 x\le 1\Rightarrow y\le 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PHẦN III – CÂU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Phương trình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2x=0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có bao nhiêu nghiệm thuộc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Phương trình </a:t>
                </a:r>
                <a:r>
                  <a:rPr lang="vi-VN"/>
                  <a:t>\sin 2x=0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có bao nhiêu nghiệm thuộc đoạn </a:t>
                </a:r>
                <a:r>
                  <a:rPr lang="vi-VN"/>
                  <a:t>[0;\ \pi]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960119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8869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8869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x=\frac{k\pi}{2}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0;\ \frac{\pi}{2};\ 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PHẦN III – CÂU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Cấp số cộng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=19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Cấp số cộng có </a:t>
                </a:r>
                <a:r>
                  <a:rPr lang="vi-VN"/>
                  <a:t>u_3=7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u_7=19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</a:t>
                </a:r>
                <a:r>
                  <a:rPr lang="vi-VN"/>
                  <a:t>u_{10}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28.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=28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28.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d=3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u_1=1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u_{10}=28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PHẦN III – CÂU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Cấp số nhân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=48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Cấp số nhân có </a:t>
                </a:r>
                <a:r>
                  <a:rPr lang="vi-VN"/>
                  <a:t>u_2=6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u_5=48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</a:t>
                </a:r>
                <a:r>
                  <a:rPr lang="vi-VN"/>
                  <a:t>u_1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q^3=8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q=2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u_1=3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PHẦN III – CÂU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Tính tổng 10 số hạng đầu của cấp số nhân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q=2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Tính tổng 10 số hạng đầu của cấp số nhân có </a:t>
                </a:r>
                <a:r>
                  <a:rPr lang="vi-VN"/>
                  <a:t>u_1=1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q=2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1023.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−1=1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023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1023.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2^{10}-1=1\ 023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PHẦN III – CÂU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Mẫu số liệu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[40;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50)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: 3;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[50;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: 8;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[60;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70)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: 6;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[70;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80)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: 3. Tìm mốt (làm tròn đến hàng phần mười).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Mẫu số liệu </a:t>
                </a:r>
                <a:r>
                  <a:rPr lang="vi-VN"/>
                  <a:t>[40;\ 50)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: 3; </a:t>
                </a:r>
                <a:r>
                  <a:rPr lang="vi-VN"/>
                  <a:t>[50;\ 60)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: 8; </a:t>
                </a:r>
                <a:r>
                  <a:rPr lang="vi-VN"/>
                  <a:t>[60;\ 70)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: 6; </a:t>
                </a:r>
                <a:r>
                  <a:rPr lang="vi-VN"/>
                  <a:t>[70;\ 80)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: 3. Tìm mốt (làm tròn đến hàng phần mười).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79552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57,1.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=50+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8−3</m:t>
                        </m:r>
                      </m:num>
                      <m:den>
                        <m:d>
                          <m:dPr>
                            <m:sepChr m:val=""/>
                          </m:d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·10≈57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57,1.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M_o=50+\frac{8-3}{(8-3)+(8-6)}\cdot 10\approx 57{,}1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https://trangtu66.github.io/Taode_thi_online/cc_ontapgk1_t11.html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Làm đề luyện tập kiểm tra giữa kì I trên Taode_thi_online: https://trangtu66.github.io/Taode_thi_online/dk_gk1_t11.html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Làm lại các bài củng cố Bài 1 – Bài 9; ôn sơ đồ tư duy ba chương.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Tiết sau: </a:t>
            </a:r>
            <a:r>
              <a:rPr sz="2200" b="1">
                <a:solidFill>
                  <a:srgbClr val="1E293B"/>
                </a:solidFill>
                <a:latin typeface="Calibri"/>
              </a:rPr>
              <a:t>Kiểm tra giữa kì I</a:t>
            </a:r>
            <a:r>
              <a:rPr sz="2200">
                <a:solidFill>
                  <a:srgbClr val="1E293B"/>
                </a:solidFill>
                <a:latin typeface="Calibri"/>
              </a:rPr>
              <a:t> (T24 – T25).</a:t>
            </a:r>
          </a:p>
        </p:txBody>
      </p:sp>
      <p:pic>
        <p:nvPicPr>
          <p:cNvPr id="8" name="Picture 7" descr="QR_CungCo_OnTapGK1_Toan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ÔN TẬP GIỮA KÌ 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34</a:t>
            </a:r>
          </a:p>
        </p:txBody>
      </p:sp>
      <p:pic>
        <p:nvPicPr>
          <p:cNvPr id="7" name="Picture 6" descr="SoDoTuDuy_TOAN11_OnTapGiuaKi1_T22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Nhầm góc bù, góc hơn kém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quên xét dấu theo góc phần tư (Câu 2, 13).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Đếm nghiệm trên đoạn: không cho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nguyên chạy đủ (Câu 14, 18).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Nhầm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(n−1)d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nd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(Câu 9, 19, 20).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Không lập tần số tích luỹ trước khi xác định nhóm chứa trung vị, tứ phân vị (Câu 16).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Nhầm góc bù, góc hơn kém </a:t>
                </a:r>
                <a:r>
                  <a:rPr lang="vi-VN"/>
                  <a:t>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quên xét dấu theo góc phần tư (Câu 2, 13).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Đếm nghiệm trên đoạn: không cho </a:t>
                </a:r>
                <a:r>
                  <a:rPr lang="vi-VN"/>
                  <a:t>k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nguyên chạy đủ (Câu 14, 18).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Nhầm </a:t>
                </a:r>
                <a:r>
                  <a:rPr lang="vi-VN"/>
                  <a:t>(n-1)d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nd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q^{n-1}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q^n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(Câu 9, 19, 20).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Không lập tần số tích luỹ trước khi xác định nhóm chứa trung vị, tứ phân vị (Câu 16).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Ôn tập giữa kì I – Toán 11         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cần hỗ trợ:</a:t>
            </a:r>
            <a:r>
              <a:rPr sz="2000">
                <a:solidFill>
                  <a:srgbClr val="1E293B"/>
                </a:solidFill>
                <a:latin typeface="Calibri"/>
              </a:rPr>
              <a:t> Phần I câu Biết, Câu 13a, b; bảng công thức in sẵn.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khá, giỏi:</a:t>
            </a:r>
            <a:r>
              <a:rPr sz="2000">
                <a:solidFill>
                  <a:srgbClr val="1E293B"/>
                </a:solidFill>
                <a:latin typeface="Calibri"/>
              </a:rPr>
              <a:t> Phần II đầy đủ, Phần III Câu 18, 20, 22.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Khối 11 không có HS khuyết tật.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Mất điện/mạng:</a:t>
            </a:r>
            <a:r>
              <a:rPr sz="2000">
                <a:solidFill>
                  <a:srgbClr val="1E293B"/>
                </a:solidFill>
                <a:latin typeface="Calibri"/>
              </a:rPr>
              <a:t> phiếu luyện tập in; thẻ A/B/C/D và Đ/S.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