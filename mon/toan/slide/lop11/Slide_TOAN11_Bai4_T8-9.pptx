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hyperlink" Target="https://trangtu66.github.io/Taode_thi_online/cc_bai4_t11.html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28600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1371600"/>
            <a:ext cx="105156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000" b="1">
                <a:solidFill>
                  <a:srgbClr val="1E40AF"/>
                </a:solidFill>
                <a:latin typeface="Arial"/>
              </a:rPr>
              <a:t>BÀI 4. PHƯƠNG TRÌNH LƯỢNG GIÁC CƠ BẢN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3200400"/>
            <a:ext cx="1051560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2800" b="1">
                <a:solidFill>
                  <a:srgbClr val="1E293B"/>
                </a:solidFill>
                <a:latin typeface="Calibri"/>
              </a:rPr>
              <a:t>Chương I. Hàm số lượng giác và phương trình lượng giác</a:t>
            </a:r>
          </a:p>
        </p:txBody>
      </p:sp>
      <p:sp>
        <p:nvSpPr>
          <p:cNvPr id="5" name="Rectangle 4"/>
          <p:cNvSpPr/>
          <p:nvPr/>
        </p:nvSpPr>
        <p:spPr>
          <a:xfrm>
            <a:off x="868680" y="4251960"/>
            <a:ext cx="2286000" cy="30000"/>
          </a:xfrm>
          <a:prstGeom prst="rect">
            <a:avLst/>
          </a:prstGeom>
          <a:solidFill>
            <a:srgbClr val="991B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4526280"/>
            <a:ext cx="10515600" cy="2011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2200">
                <a:solidFill>
                  <a:srgbClr val="1E293B"/>
                </a:solidFill>
                <a:latin typeface="Calibri"/>
              </a:rPr>
              <a:t>Môn Toán – Lớp 11 (Kết nối tri thức với cuộc sống)</a:t>
            </a:r>
          </a:p>
          <a:p>
            <a:pPr algn="l">
              <a:spcAft>
                <a:spcPts val="1000"/>
              </a:spcAft>
            </a:pPr>
            <a:r>
              <a:rPr sz="2200">
                <a:solidFill>
                  <a:srgbClr val="1E293B"/>
                </a:solidFill>
                <a:latin typeface="Calibri"/>
              </a:rPr>
              <a:t>Tiết 8 – 9 theo PPCT (T8, T9) · Năm học 2026 – 2027</a:t>
            </a:r>
          </a:p>
          <a:p>
            <a:pPr algn="l">
              <a:spcAft>
                <a:spcPts val="1000"/>
              </a:spcAft>
            </a:pPr>
            <a:r>
              <a:rPr sz="2200">
                <a:solidFill>
                  <a:srgbClr val="1E293B"/>
                </a:solidFill>
                <a:latin typeface="Calibri"/>
              </a:rPr>
              <a:t>GV soạn: TTT – Trường THPT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972800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MỤC TIÊU BÀI HỌC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Toán 11 · Bài 4. Phương trình lượng giác cơ bản          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508760"/>
            <a:ext cx="10789920" cy="3685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600">
                <a:solidFill>
                  <a:srgbClr val="1E293B"/>
                </a:solidFill>
                <a:latin typeface="Calibri"/>
              </a:rPr>
              <a:t>Hiểu phương trình tương đương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600">
                <a:solidFill>
                  <a:srgbClr val="1E293B"/>
                </a:solidFill>
                <a:latin typeface="Calibri"/>
              </a:rPr>
              <a:t>Công thức nghiệm sin x = m, cos x = m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600">
                <a:solidFill>
                  <a:srgbClr val="1E293B"/>
                </a:solidFill>
                <a:latin typeface="Calibri"/>
              </a:rPr>
              <a:t>Công thức nghiệm tan x = m, cot x = m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600">
                <a:solidFill>
                  <a:srgbClr val="1E293B"/>
                </a:solidFill>
                <a:latin typeface="Calibri"/>
              </a:rPr>
              <a:t>Tìm góc bằng máy tính cầm tay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600">
                <a:solidFill>
                  <a:srgbClr val="1E293B"/>
                </a:solidFill>
                <a:latin typeface="Calibri"/>
              </a:rPr>
              <a:t>Giải phương trình đưa về cơ bản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600">
                <a:solidFill>
                  <a:srgbClr val="1E293B"/>
                </a:solidFill>
                <a:latin typeface="Calibri"/>
              </a:rPr>
              <a:t>Giải bài toán thực tiễn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972800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KHỞI ĐỘNG: BẮN PHÁO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Toán 11 · Bài 4. Phương trình lượng giác cơ bản         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508760"/>
            <a:ext cx="640080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2400" b="1">
                <a:solidFill>
                  <a:srgbClr val="1E40AF"/>
                </a:solidFill>
                <a:latin typeface="Calibri"/>
              </a:rPr>
              <a:t>Pháo bắn với vận tốc v</a:t>
            </a:r>
            <a:r>
              <a:rPr sz="2400" b="1" baseline="-25000">
                <a:solidFill>
                  <a:srgbClr val="1E40AF"/>
                </a:solidFill>
                <a:latin typeface="Calibri"/>
              </a:rPr>
              <a:t>0</a:t>
            </a:r>
            <a:r>
              <a:rPr sz="2400" b="1">
                <a:solidFill>
                  <a:srgbClr val="1E40AF"/>
                </a:solidFill>
                <a:latin typeface="Calibri"/>
              </a:rPr>
              <a:t> không đổi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2212848"/>
            <a:ext cx="6400800" cy="685800"/>
          </a:xfrm>
          <a:prstGeom prst="roundRect">
            <a:avLst>
              <a:gd name="adj" fmla="val 8000"/>
            </a:avLst>
          </a:prstGeom>
          <a:solidFill>
            <a:srgbClr val="FEF2F2"/>
          </a:solidFill>
          <a:ln w="19050">
            <a:solidFill>
              <a:srgbClr val="991B1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2212848"/>
            <a:ext cx="603504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400" b="1">
                <a:solidFill>
                  <a:srgbClr val="991B1B"/>
                </a:solidFill>
                <a:latin typeface="Calibri"/>
              </a:rPr>
              <a:t>Góc nào để đạn bay xa nhất?</a:t>
            </a:r>
          </a:p>
        </p:txBody>
      </p:sp>
      <p:pic>
        <p:nvPicPr>
          <p:cNvPr id="9" name="Picture 8" descr="rId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06640" y="2403348"/>
            <a:ext cx="4389120" cy="2828544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972800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1. PHƯƠNG TRÌNH TƯƠNG ĐƯƠNG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Toán 11 · Bài 4. Phương trình lượng giác cơ bản          4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" name="TextBox 5"/>
              <p:cNvSpPr txBox="1"/>
              <p:nvPr/>
            </p:nvSpPr>
            <p:spPr>
              <a:xfrm>
                <a:off x="731520" y="1508760"/>
                <a:ext cx="10789920" cy="1975104"/>
              </a:xfrm>
              <a:prstGeom prst="rect">
                <a:avLst/>
              </a:prstGeom>
              <a:noFill/>
            </p:spPr>
            <p:txBody>
              <a:bodyPr wrap="square" anchor="t">
                <a:spAutoFit/>
              </a:bodyPr>
              <a:lstStyle/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400">
                    <a:solidFill>
                      <a:srgbClr val="1E293B"/>
                    </a:solidFill>
                    <a:latin typeface="Calibri"/>
                  </a:rPr>
                  <a:t>2x + 6 = 0 và (x + 3)² = 0: tương đương</a:t>
                </a:r>
              </a:p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14:m>
                  <m:oMath xmlns:m="http://schemas.openxmlformats.org/officeDocument/2006/math">
                    <m:f>
                      <m:fPr>
                        <m:type m:val="bar"/>
                      </m:fPr>
                      <m:num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x−1</m:t>
                        </m:r>
                      </m:num>
                      <m:den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x+1</m:t>
                        </m:r>
                      </m:den>
                    </m:f>
                    <m: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r>
                  <a:rPr sz="2400">
                    <a:solidFill>
                      <a:srgbClr val="1E293B"/>
                    </a:solidFill>
                    <a:latin typeface="Calibri"/>
                  </a:rPr>
                  <a:t> và </a:t>
                </a:r>
                <a14:m>
                  <m:oMath xmlns:m="http://schemas.openxmlformats.org/officeDocument/2006/math">
                    <m:sSup>
                      <m:e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x</m:t>
                        </m:r>
                      </m:e>
                      <m:sup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−1=0</m:t>
                    </m:r>
                  </m:oMath>
                </a14:m>
                <a:r>
                  <a:rPr sz="2400">
                    <a:solidFill>
                      <a:srgbClr val="1E293B"/>
                    </a:solidFill>
                    <a:latin typeface="Calibri"/>
                  </a:rPr>
                  <a:t>: không</a:t>
                </a:r>
              </a:p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400">
                    <a:solidFill>
                      <a:srgbClr val="1E293B"/>
                    </a:solidFill>
                    <a:latin typeface="Calibri"/>
                  </a:rPr>
                  <a:t>Hai phương trình vô nghiệm: tương đương</a:t>
                </a:r>
              </a:p>
            </p:txBody>
          </p:sp>
        </mc:Choice>
        <mc:Fallback>
          <p:sp>
            <p:nvSpPr>
              <p:cNvPr id="6" name="TextBox 5"/>
              <p:cNvSpPr txBox="1"/>
              <p:nvPr/>
            </p:nvSpPr>
            <p:spPr>
              <a:xfrm>
                <a:off x="731520" y="1508760"/>
                <a:ext cx="10789920" cy="1975104"/>
              </a:xfrm>
              <a:prstGeom prst="rect">
                <a:avLst/>
              </a:prstGeom>
              <a:noFill/>
            </p:spPr>
            <p:txBody>
              <a:bodyPr wrap="square" anchor="t">
                <a:spAutoFit/>
              </a:bodyPr>
              <a:lstStyle/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400">
                    <a:solidFill>
                      <a:srgbClr val="1E293B"/>
                    </a:solidFill>
                    <a:latin typeface="Calibri"/>
                  </a:rPr>
                  <a:t>2x + 6 = 0 và (x + 3)² = 0: tương đương</a:t>
                </a:r>
              </a:p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lang="vi-VN"/>
                  <a:t>\frac{x−1}{x+1}=0</a:t>
                </a:r>
                <a:r>
                  <a:rPr sz="2400">
                    <a:solidFill>
                      <a:srgbClr val="1E293B"/>
                    </a:solidFill>
                    <a:latin typeface="Calibri"/>
                  </a:rPr>
                  <a:t> và </a:t>
                </a:r>
                <a:r>
                  <a:rPr lang="vi-VN"/>
                  <a:t>x^2−1=0</a:t>
                </a:r>
                <a:r>
                  <a:rPr sz="2400">
                    <a:solidFill>
                      <a:srgbClr val="1E293B"/>
                    </a:solidFill>
                    <a:latin typeface="Calibri"/>
                  </a:rPr>
                  <a:t>: không</a:t>
                </a:r>
              </a:p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400">
                    <a:solidFill>
                      <a:srgbClr val="1E293B"/>
                    </a:solidFill>
                    <a:latin typeface="Calibri"/>
                  </a:rPr>
                  <a:t>Hai phương trình vô nghiệm: tương đương</a:t>
                </a:r>
              </a:p>
            </p:txBody>
          </p:sp>
        </mc:Fallback>
      </mc:AlternateContent>
      <p:sp>
        <p:nvSpPr>
          <p:cNvPr id="7" name="Rounded Rectangle 6"/>
          <p:cNvSpPr/>
          <p:nvPr/>
        </p:nvSpPr>
        <p:spPr>
          <a:xfrm>
            <a:off x="731520" y="3621024"/>
            <a:ext cx="8686800" cy="685800"/>
          </a:xfrm>
          <a:prstGeom prst="roundRect">
            <a:avLst>
              <a:gd name="adj" fmla="val 8000"/>
            </a:avLst>
          </a:prstGeom>
          <a:solidFill>
            <a:srgbClr val="FEF2F2"/>
          </a:solidFill>
          <a:ln w="19050">
            <a:solidFill>
              <a:srgbClr val="991B1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3621024"/>
            <a:ext cx="832104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400" b="1">
                <a:solidFill>
                  <a:srgbClr val="991B1B"/>
                </a:solidFill>
                <a:latin typeface="Calibri"/>
              </a:rPr>
              <a:t>Tương đương: cùng tập nghiệm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972800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2. PHƯƠNG TRÌNH sin x = 1/2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Toán 11 · Bài 4. Phương trình lượng giác cơ bản          5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" name="TextBox 5"/>
              <p:cNvSpPr txBox="1"/>
              <p:nvPr/>
            </p:nvSpPr>
            <p:spPr>
              <a:xfrm>
                <a:off x="731520" y="1508760"/>
                <a:ext cx="6400800" cy="1408176"/>
              </a:xfrm>
              <a:prstGeom prst="rect">
                <a:avLst/>
              </a:prstGeom>
              <a:noFill/>
            </p:spPr>
            <p:txBody>
              <a:bodyPr wrap="square" anchor="t">
                <a:spAutoFit/>
              </a:bodyPr>
              <a:lstStyle/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400">
                    <a:solidFill>
                      <a:srgbClr val="1E293B"/>
                    </a:solidFill>
                    <a:latin typeface="Calibri"/>
                  </a:rPr>
                  <a:t>Trong [0; 2π): x = π/6;  x = 5π/6</a:t>
                </a:r>
              </a:p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14:m>
                  <m:oMath xmlns:m="http://schemas.openxmlformats.org/officeDocument/2006/math">
                    <m: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x=</m:t>
                    </m:r>
                    <m:f>
                      <m:fPr>
                        <m:type m:val="bar"/>
                      </m:fPr>
                      <m:num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den>
                    </m:f>
                    <m: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+k2π</m:t>
                    </m:r>
                  </m:oMath>
                </a14:m>
                <a:r>
                  <a:rPr sz="2400">
                    <a:solidFill>
                      <a:srgbClr val="1E293B"/>
                    </a:solidFill>
                    <a:latin typeface="Calibri"/>
                  </a:rPr>
                  <a:t> hoặc </a:t>
                </a:r>
                <a14:m>
                  <m:oMath xmlns:m="http://schemas.openxmlformats.org/officeDocument/2006/math">
                    <m: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x=</m:t>
                    </m:r>
                    <m:f>
                      <m:fPr>
                        <m:type m:val="bar"/>
                      </m:fPr>
                      <m:num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5π</m:t>
                        </m:r>
                      </m:num>
                      <m:den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den>
                    </m:f>
                    <m: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+k2π</m:t>
                    </m:r>
                  </m:oMath>
                </a14:m>
              </a:p>
            </p:txBody>
          </p:sp>
        </mc:Choice>
        <mc:Fallback>
          <p:sp>
            <p:nvSpPr>
              <p:cNvPr id="6" name="TextBox 5"/>
              <p:cNvSpPr txBox="1"/>
              <p:nvPr/>
            </p:nvSpPr>
            <p:spPr>
              <a:xfrm>
                <a:off x="731520" y="1508760"/>
                <a:ext cx="6400800" cy="1408176"/>
              </a:xfrm>
              <a:prstGeom prst="rect">
                <a:avLst/>
              </a:prstGeom>
              <a:noFill/>
            </p:spPr>
            <p:txBody>
              <a:bodyPr wrap="square" anchor="t">
                <a:spAutoFit/>
              </a:bodyPr>
              <a:lstStyle/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400">
                    <a:solidFill>
                      <a:srgbClr val="1E293B"/>
                    </a:solidFill>
                    <a:latin typeface="Calibri"/>
                  </a:rPr>
                  <a:t>Trong [0; 2π): x = π/6;  x = 5π/6</a:t>
                </a:r>
              </a:p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lang="vi-VN"/>
                  <a:t>x=\frac{\pi}{6}+k2\pi</a:t>
                </a:r>
                <a:r>
                  <a:rPr sz="2400">
                    <a:solidFill>
                      <a:srgbClr val="1E293B"/>
                    </a:solidFill>
                    <a:latin typeface="Calibri"/>
                  </a:rPr>
                  <a:t> hoặc </a:t>
                </a:r>
                <a:r>
                  <a:rPr lang="vi-VN"/>
                  <a:t>x=\frac{5\pi}{6}+k2\pi</a:t>
                </a:r>
              </a:p>
            </p:txBody>
          </p:sp>
        </mc:Fallback>
      </mc:AlternateContent>
      <p:sp>
        <p:nvSpPr>
          <p:cNvPr id="7" name="Rounded Rectangle 6"/>
          <p:cNvSpPr/>
          <p:nvPr/>
        </p:nvSpPr>
        <p:spPr>
          <a:xfrm>
            <a:off x="731520" y="3054096"/>
            <a:ext cx="6400800" cy="685800"/>
          </a:xfrm>
          <a:prstGeom prst="roundRect">
            <a:avLst>
              <a:gd name="adj" fmla="val 8000"/>
            </a:avLst>
          </a:prstGeom>
          <a:solidFill>
            <a:srgbClr val="FEF2F2"/>
          </a:solidFill>
          <a:ln w="19050">
            <a:solidFill>
              <a:srgbClr val="991B1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3054096"/>
            <a:ext cx="603504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400" b="1">
                <a:solidFill>
                  <a:srgbClr val="991B1B"/>
                </a:solidFill>
                <a:latin typeface="Calibri"/>
              </a:rPr>
              <a:t>Nghiệm: giao của y = 1/2 và y = sin x</a:t>
            </a:r>
          </a:p>
        </p:txBody>
      </p:sp>
      <p:pic>
        <p:nvPicPr>
          <p:cNvPr id="9" name="Picture 8" descr="rId1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06640" y="1715865"/>
            <a:ext cx="4389120" cy="420351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972800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CÔNG THỨC NGHIỆM sin x = m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Toán 11 · Bài 4. Phương trình lượng giác cơ bản          6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" name="TextBox 5"/>
              <p:cNvSpPr txBox="1"/>
              <p:nvPr/>
            </p:nvSpPr>
            <p:spPr>
              <a:xfrm>
                <a:off x="731520" y="1508760"/>
                <a:ext cx="10789920" cy="2249424"/>
              </a:xfrm>
              <a:prstGeom prst="rect">
                <a:avLst/>
              </a:prstGeom>
              <a:noFill/>
            </p:spPr>
            <p:txBody>
              <a:bodyPr wrap="square" anchor="t">
                <a:spAutoFit/>
              </a:bodyPr>
              <a:lstStyle/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400">
                    <a:solidFill>
                      <a:srgbClr val="1E293B"/>
                    </a:solidFill>
                    <a:latin typeface="Calibri"/>
                  </a:rPr>
                  <a:t>sin x = 0 ⇔ x = kπ</a:t>
                </a:r>
              </a:p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m:rPr>
                        <m:sty m:val="p"/>
                      </m:rP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x=1⇔x=</m:t>
                    </m:r>
                    <m:f>
                      <m:fPr>
                        <m:type m:val="bar"/>
                      </m:fPr>
                      <m:num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+k2π</m:t>
                    </m:r>
                  </m:oMath>
                </a14:m>
              </a:p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m:rPr>
                        <m:sty m:val="p"/>
                      </m:rP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x=−1⇔x=−</m:t>
                    </m:r>
                    <m:f>
                      <m:fPr>
                        <m:type m:val="bar"/>
                      </m:fPr>
                      <m:num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+k2π</m:t>
                    </m:r>
                  </m:oMath>
                </a14:m>
              </a:p>
            </p:txBody>
          </p:sp>
        </mc:Choice>
        <mc:Fallback>
          <p:sp>
            <p:nvSpPr>
              <p:cNvPr id="6" name="TextBox 5"/>
              <p:cNvSpPr txBox="1"/>
              <p:nvPr/>
            </p:nvSpPr>
            <p:spPr>
              <a:xfrm>
                <a:off x="731520" y="1508760"/>
                <a:ext cx="10789920" cy="2249424"/>
              </a:xfrm>
              <a:prstGeom prst="rect">
                <a:avLst/>
              </a:prstGeom>
              <a:noFill/>
            </p:spPr>
            <p:txBody>
              <a:bodyPr wrap="square" anchor="t">
                <a:spAutoFit/>
              </a:bodyPr>
              <a:lstStyle/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400">
                    <a:solidFill>
                      <a:srgbClr val="1E293B"/>
                    </a:solidFill>
                    <a:latin typeface="Calibri"/>
                  </a:rPr>
                  <a:t>sin x = 0 ⇔ x = kπ</a:t>
                </a:r>
              </a:p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lang="vi-VN"/>
                  <a:t>\sin\ x=1\Leftrightarrow x=\frac{\pi}{2}+k2\pi</a:t>
                </a:r>
              </a:p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lang="vi-VN"/>
                  <a:t>\sin\ x=−1\Leftrightarrow x=−\frac{\pi}{2}+k2\pi</a:t>
                </a:r>
              </a:p>
            </p:txBody>
          </p:sp>
        </mc:Fallback>
      </mc:AlternateContent>
      <p:sp>
        <p:nvSpPr>
          <p:cNvPr id="7" name="Rounded Rectangle 6"/>
          <p:cNvSpPr/>
          <p:nvPr/>
        </p:nvSpPr>
        <p:spPr>
          <a:xfrm>
            <a:off x="731520" y="3895344"/>
            <a:ext cx="8686800" cy="1066799"/>
          </a:xfrm>
          <a:prstGeom prst="roundRect">
            <a:avLst>
              <a:gd name="adj" fmla="val 8000"/>
            </a:avLst>
          </a:prstGeom>
          <a:solidFill>
            <a:srgbClr val="FEF2F2"/>
          </a:solidFill>
          <a:ln w="19050">
            <a:solidFill>
              <a:srgbClr val="991B1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8" name="TextBox 7"/>
              <p:cNvSpPr txBox="1"/>
              <p:nvPr/>
            </p:nvSpPr>
            <p:spPr>
              <a:xfrm>
                <a:off x="914400" y="3895344"/>
                <a:ext cx="8321040" cy="1066799"/>
              </a:xfrm>
              <a:prstGeom prst="rect">
                <a:avLst/>
              </a:prstGeom>
              <a:noFill/>
            </p:spPr>
            <p:txBody>
              <a:bodyPr wrap="square" anchor="ctr">
                <a:spAutoFit/>
              </a:bodyPr>
              <a:lstStyle/>
              <a:p>
                <a:pPr algn="l">
                  <a:spcAft>
                    <a:spcPts val="400"/>
                  </a:spcAft>
                </a:pPr>
                <a:r>
                  <a:rPr sz="2200" b="1">
                    <a:solidFill>
                      <a:srgbClr val="991B1B"/>
                    </a:solidFill>
                    <a:latin typeface="Calibri"/>
                  </a:rPr>
                  <a:t>|m| &gt; 1: vô nghiệm</a:t>
                </a:r>
              </a:p>
              <a:p>
                <a:pPr algn="l">
                  <a:spcAft>
                    <a:spcPts val="400"/>
                  </a:spcAft>
                </a:pPr>
                <a:r>
                  <a:rPr sz="2200" b="1">
                    <a:solidFill>
                      <a:srgbClr val="991B1B"/>
                    </a:solidFill>
                    <a:latin typeface="Calibri"/>
                  </a:rPr>
                  <a:t> 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vi-VN" sz="2200" b="1">
                        <a:solidFill>
                          <a:srgbClr val="991B1B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m:rPr>
                        <m:sty m:val="p"/>
                      </m:rPr>
                      <a:rPr lang="vi-VN" sz="2200" b="1">
                        <a:solidFill>
                          <a:srgbClr val="991B1B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vi-VN" sz="2200" b="1">
                        <a:solidFill>
                          <a:srgbClr val="991B1B"/>
                        </a:solidFill>
                        <a:latin typeface="Cambria Math" panose="02040503050406030204" pitchFamily="18" charset="0"/>
                      </a:rPr>
                      <m:t>x=</m:t>
                    </m:r>
                    <m:r>
                      <m:rPr>
                        <m:sty m:val="p"/>
                      </m:rPr>
                      <a:rPr lang="vi-VN" sz="2200" b="1">
                        <a:solidFill>
                          <a:srgbClr val="991B1B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m:rPr>
                        <m:sty m:val="p"/>
                      </m:rPr>
                      <a:rPr lang="vi-VN" sz="2200" b="1">
                        <a:solidFill>
                          <a:srgbClr val="991B1B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vi-VN" sz="2200" b="1">
                        <a:solidFill>
                          <a:srgbClr val="991B1B"/>
                        </a:solidFill>
                        <a:latin typeface="Cambria Math" panose="02040503050406030204" pitchFamily="18" charset="0"/>
                      </a:rPr>
                      <m:t>α⇔x=α+k2π</m:t>
                    </m:r>
                  </m:oMath>
                </a14:m>
                <a:r>
                  <a:rPr sz="2200" b="1">
                    <a:solidFill>
                      <a:srgbClr val="991B1B"/>
                    </a:solidFill>
                    <a:latin typeface="Calibri"/>
                  </a:rPr>
                  <a:t> hoặc </a:t>
                </a:r>
                <a14:m>
                  <m:oMath xmlns:m="http://schemas.openxmlformats.org/officeDocument/2006/math">
                    <m:r>
                      <a:rPr lang="vi-VN" sz="2200" b="1">
                        <a:solidFill>
                          <a:srgbClr val="991B1B"/>
                        </a:solidFill>
                        <a:latin typeface="Cambria Math" panose="02040503050406030204" pitchFamily="18" charset="0"/>
                      </a:rPr>
                      <m:t>x=π−α+k2π</m:t>
                    </m:r>
                  </m:oMath>
                </a14:m>
              </a:p>
            </p:txBody>
          </p:sp>
        </mc:Choice>
        <mc:Fallback>
          <p:sp>
            <p:nvSpPr>
              <p:cNvPr id="8" name="TextBox 7"/>
              <p:cNvSpPr txBox="1"/>
              <p:nvPr/>
            </p:nvSpPr>
            <p:spPr>
              <a:xfrm>
                <a:off x="914400" y="3895344"/>
                <a:ext cx="8321040" cy="1066799"/>
              </a:xfrm>
              <a:prstGeom prst="rect">
                <a:avLst/>
              </a:prstGeom>
              <a:noFill/>
            </p:spPr>
            <p:txBody>
              <a:bodyPr wrap="square" anchor="ctr">
                <a:spAutoFit/>
              </a:bodyPr>
              <a:lstStyle/>
              <a:p>
                <a:pPr algn="l">
                  <a:spcAft>
                    <a:spcPts val="400"/>
                  </a:spcAft>
                </a:pPr>
                <a:r>
                  <a:rPr sz="2200" b="1">
                    <a:solidFill>
                      <a:srgbClr val="991B1B"/>
                    </a:solidFill>
                    <a:latin typeface="Calibri"/>
                  </a:rPr>
                  <a:t>|m| &gt; 1: vô nghiệm</a:t>
                </a:r>
              </a:p>
              <a:p>
                <a:pPr algn="l">
                  <a:spcAft>
                    <a:spcPts val="400"/>
                  </a:spcAft>
                </a:pPr>
                <a:r>
                  <a:rPr sz="2200" b="1">
                    <a:solidFill>
                      <a:srgbClr val="991B1B"/>
                    </a:solidFill>
                    <a:latin typeface="Calibri"/>
                  </a:rPr>
                  <a:t> </a:t>
                </a:r>
                <a:r>
                  <a:rPr lang="vi-VN"/>
                  <a:t>\sin\ x=\sin\ \alpha\Leftrightarrow x=\alpha+k2\pi</a:t>
                </a:r>
                <a:r>
                  <a:rPr sz="2200" b="1">
                    <a:solidFill>
                      <a:srgbClr val="991B1B"/>
                    </a:solidFill>
                    <a:latin typeface="Calibri"/>
                  </a:rPr>
                  <a:t> hoặc </a:t>
                </a:r>
                <a:r>
                  <a:rPr lang="vi-VN"/>
                  <a:t>x=\pi−\alpha+k2\pi</a:t>
                </a:r>
              </a:p>
            </p:txBody>
          </p:sp>
        </mc:Fallback>
      </mc:AlternateContent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972800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VÍ DỤ 2 – VÍ DỤ 3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Toán 11 · Bài 4. Phương trình lượng giác cơ bản          7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" name="TextBox 5"/>
              <p:cNvSpPr txBox="1"/>
              <p:nvPr/>
            </p:nvSpPr>
            <p:spPr>
              <a:xfrm>
                <a:off x="731520" y="1508760"/>
                <a:ext cx="10789920" cy="1975104"/>
              </a:xfrm>
              <a:prstGeom prst="rect">
                <a:avLst/>
              </a:prstGeom>
              <a:noFill/>
            </p:spPr>
            <p:txBody>
              <a:bodyPr wrap="square" anchor="t">
                <a:spAutoFit/>
              </a:bodyPr>
              <a:lstStyle/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m:rPr>
                        <m:sty m:val="p"/>
                      </m:rP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x=−</m:t>
                    </m:r>
                    <m:f>
                      <m:fPr>
                        <m:type m:val="bar"/>
                      </m:fPr>
                      <m:num>
                        <m:rad>
                          <m:radPr>
                            <m:degHide m:val="on"/>
                          </m:radPr>
                          <m:deg/>
                          <m:e>
                            <m:r>
                              <a:rPr lang="vi-VN" sz="2400" b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</m:rad>
                      </m:num>
                      <m:den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⇔x=−</m:t>
                    </m:r>
                    <m:f>
                      <m:fPr>
                        <m:type m:val="bar"/>
                      </m:fPr>
                      <m:num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+k2π</m:t>
                    </m:r>
                  </m:oMath>
                </a14:m>
                <a:r>
                  <a:rPr sz="2400">
                    <a:solidFill>
                      <a:srgbClr val="1E293B"/>
                    </a:solidFill>
                    <a:latin typeface="Calibri"/>
                  </a:rPr>
                  <a:t> hoặc </a:t>
                </a:r>
                <a14:m>
                  <m:oMath xmlns:m="http://schemas.openxmlformats.org/officeDocument/2006/math">
                    <m: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x=</m:t>
                    </m:r>
                    <m:f>
                      <m:fPr>
                        <m:type m:val="bar"/>
                      </m:fPr>
                      <m:num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4π</m:t>
                        </m:r>
                      </m:num>
                      <m:den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+k2π</m:t>
                    </m:r>
                  </m:oMath>
                </a14:m>
              </a:p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400">
                    <a:solidFill>
                      <a:srgbClr val="1E293B"/>
                    </a:solidFill>
                    <a:latin typeface="Calibri"/>
                  </a:rPr>
                  <a:t>sin 2x = sin(60° − 3x)</a:t>
                </a:r>
              </a:p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400">
                    <a:solidFill>
                      <a:srgbClr val="1E293B"/>
                    </a:solidFill>
                    <a:latin typeface="Calibri"/>
                  </a:rPr>
                  <a:t>⇔ x = 12° + k72° hoặc x = −120° + k360°</a:t>
                </a:r>
              </a:p>
            </p:txBody>
          </p:sp>
        </mc:Choice>
        <mc:Fallback>
          <p:sp>
            <p:nvSpPr>
              <p:cNvPr id="6" name="TextBox 5"/>
              <p:cNvSpPr txBox="1"/>
              <p:nvPr/>
            </p:nvSpPr>
            <p:spPr>
              <a:xfrm>
                <a:off x="731520" y="1508760"/>
                <a:ext cx="10789920" cy="1975104"/>
              </a:xfrm>
              <a:prstGeom prst="rect">
                <a:avLst/>
              </a:prstGeom>
              <a:noFill/>
            </p:spPr>
            <p:txBody>
              <a:bodyPr wrap="square" anchor="t">
                <a:spAutoFit/>
              </a:bodyPr>
              <a:lstStyle/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lang="vi-VN"/>
                  <a:t>\sin\ x=−\frac{\sqrt{3}}{2}\Leftrightarrow x=−\frac{\pi}{3}+k2\pi</a:t>
                </a:r>
                <a:r>
                  <a:rPr sz="2400">
                    <a:solidFill>
                      <a:srgbClr val="1E293B"/>
                    </a:solidFill>
                    <a:latin typeface="Calibri"/>
                  </a:rPr>
                  <a:t> hoặc </a:t>
                </a:r>
                <a:r>
                  <a:rPr lang="vi-VN"/>
                  <a:t>x=\frac{4\pi}{3}+k2\pi</a:t>
                </a:r>
              </a:p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400">
                    <a:solidFill>
                      <a:srgbClr val="1E293B"/>
                    </a:solidFill>
                    <a:latin typeface="Calibri"/>
                  </a:rPr>
                  <a:t>sin 2x = sin(60° − 3x)</a:t>
                </a:r>
              </a:p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400">
                    <a:solidFill>
                      <a:srgbClr val="1E293B"/>
                    </a:solidFill>
                    <a:latin typeface="Calibri"/>
                  </a:rPr>
                  <a:t>⇔ x = 12° + k72° hoặc x = −120° + k360°</a:t>
                </a:r>
              </a:p>
            </p:txBody>
          </p:sp>
        </mc:Fallback>
      </mc:AlternateContent>
      <p:sp>
        <p:nvSpPr>
          <p:cNvPr id="7" name="Rounded Rectangle 6"/>
          <p:cNvSpPr/>
          <p:nvPr/>
        </p:nvSpPr>
        <p:spPr>
          <a:xfrm>
            <a:off x="731520" y="3621024"/>
            <a:ext cx="8686800" cy="685800"/>
          </a:xfrm>
          <a:prstGeom prst="roundRect">
            <a:avLst>
              <a:gd name="adj" fmla="val 8000"/>
            </a:avLst>
          </a:prstGeom>
          <a:solidFill>
            <a:srgbClr val="FEF2F2"/>
          </a:solidFill>
          <a:ln w="19050">
            <a:solidFill>
              <a:srgbClr val="991B1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3621024"/>
            <a:ext cx="832104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400" b="1">
                <a:solidFill>
                  <a:srgbClr val="991B1B"/>
                </a:solidFill>
                <a:latin typeface="Calibri"/>
              </a:rPr>
              <a:t>Đơn vị độ: dùng 180° − α và k360°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972800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GIẢI BÀI TOÁN MỞ ĐẦU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Toán 11 · Bài 4. Phương trình lượng giác cơ bản          8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" name="TextBox 5"/>
              <p:cNvSpPr txBox="1"/>
              <p:nvPr/>
            </p:nvSpPr>
            <p:spPr>
              <a:xfrm>
                <a:off x="731520" y="1508760"/>
                <a:ext cx="6400800" cy="1408176"/>
              </a:xfrm>
              <a:prstGeom prst="rect">
                <a:avLst/>
              </a:prstGeom>
              <a:noFill/>
            </p:spPr>
            <p:txBody>
              <a:bodyPr wrap="square" anchor="t">
                <a:spAutoFit/>
              </a:bodyPr>
              <a:lstStyle/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400">
                    <a:solidFill>
                      <a:srgbClr val="1E293B"/>
                    </a:solidFill>
                    <a:latin typeface="Calibri"/>
                  </a:rPr>
                  <a:t>Tầm xa: </a:t>
                </a:r>
                <a14:m>
                  <m:oMath xmlns:m="http://schemas.openxmlformats.org/officeDocument/2006/math">
                    <m: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x=</m:t>
                    </m:r>
                    <m:f>
                      <m:fPr>
                        <m:type m:val="bar"/>
                      </m:fPr>
                      <m:num>
                        <m:sSubSup>
                          <m:e>
                            <m:r>
                              <a:rPr lang="vi-VN" sz="2400" b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v</m:t>
                            </m:r>
                          </m:e>
                          <m:sub>
                            <m:r>
                              <a:rPr lang="vi-VN" sz="2400" b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  <m:sup>
                            <m:r>
                              <a:rPr lang="vi-VN" sz="2400" b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bSup>
                        <m:r>
                          <m:rPr>
                            <m:sty m:val="p"/>
                          </m:rP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  <m:r>
                          <m:rPr>
                            <m:sty m:val="p"/>
                          </m:rP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2α</m:t>
                        </m:r>
                      </m:num>
                      <m:den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g</m:t>
                        </m:r>
                      </m:den>
                    </m:f>
                    <m: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≤</m:t>
                    </m:r>
                    <m:f>
                      <m:fPr>
                        <m:type m:val="bar"/>
                      </m:fPr>
                      <m:num>
                        <m:sSubSup>
                          <m:e>
                            <m:r>
                              <a:rPr lang="vi-VN" sz="2400" b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v</m:t>
                            </m:r>
                          </m:e>
                          <m:sub>
                            <m:r>
                              <a:rPr lang="vi-VN" sz="2400" b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  <m:sup>
                            <m:r>
                              <a:rPr lang="vi-VN" sz="2400" b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bSup>
                      </m:num>
                      <m:den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g</m:t>
                        </m:r>
                      </m:den>
                    </m:f>
                  </m:oMath>
                </a14:m>
              </a:p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400">
                    <a:solidFill>
                      <a:srgbClr val="1E293B"/>
                    </a:solidFill>
                    <a:latin typeface="Calibri"/>
                  </a:rPr>
                  <a:t>Lớn nhất khi sin 2α = 1</a:t>
                </a:r>
              </a:p>
            </p:txBody>
          </p:sp>
        </mc:Choice>
        <mc:Fallback>
          <p:sp>
            <p:nvSpPr>
              <p:cNvPr id="6" name="TextBox 5"/>
              <p:cNvSpPr txBox="1"/>
              <p:nvPr/>
            </p:nvSpPr>
            <p:spPr>
              <a:xfrm>
                <a:off x="731520" y="1508760"/>
                <a:ext cx="6400800" cy="1408176"/>
              </a:xfrm>
              <a:prstGeom prst="rect">
                <a:avLst/>
              </a:prstGeom>
              <a:noFill/>
            </p:spPr>
            <p:txBody>
              <a:bodyPr wrap="square" anchor="t">
                <a:spAutoFit/>
              </a:bodyPr>
              <a:lstStyle/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400">
                    <a:solidFill>
                      <a:srgbClr val="1E293B"/>
                    </a:solidFill>
                    <a:latin typeface="Calibri"/>
                  </a:rPr>
                  <a:t>Tầm xa: </a:t>
                </a:r>
                <a:r>
                  <a:rPr lang="vi-VN"/>
                  <a:t>x=\frac{v_0^2\sin\ 2\alpha}{g}\le\frac{v_0^2}{g}</a:t>
                </a:r>
              </a:p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400">
                    <a:solidFill>
                      <a:srgbClr val="1E293B"/>
                    </a:solidFill>
                    <a:latin typeface="Calibri"/>
                  </a:rPr>
                  <a:t>Lớn nhất khi sin 2α = 1</a:t>
                </a:r>
              </a:p>
            </p:txBody>
          </p:sp>
        </mc:Fallback>
      </mc:AlternateContent>
      <p:sp>
        <p:nvSpPr>
          <p:cNvPr id="7" name="Rounded Rectangle 6"/>
          <p:cNvSpPr/>
          <p:nvPr/>
        </p:nvSpPr>
        <p:spPr>
          <a:xfrm>
            <a:off x="731520" y="3054096"/>
            <a:ext cx="6400800" cy="685800"/>
          </a:xfrm>
          <a:prstGeom prst="roundRect">
            <a:avLst>
              <a:gd name="adj" fmla="val 8000"/>
            </a:avLst>
          </a:prstGeom>
          <a:solidFill>
            <a:srgbClr val="FEF2F2"/>
          </a:solidFill>
          <a:ln w="19050">
            <a:solidFill>
              <a:srgbClr val="991B1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3054096"/>
            <a:ext cx="603504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400" b="1">
                <a:solidFill>
                  <a:srgbClr val="991B1B"/>
                </a:solidFill>
                <a:latin typeface="Calibri"/>
              </a:rPr>
              <a:t>α = π/4, tức góc bắn 45°</a:t>
            </a:r>
          </a:p>
        </p:txBody>
      </p:sp>
      <p:pic>
        <p:nvPicPr>
          <p:cNvPr id="9" name="Picture 8" descr="rId1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06640" y="2500273"/>
            <a:ext cx="4389120" cy="2634694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972800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3. PHƯƠNG TRÌNH cos x = m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Toán 11 · Bài 4. Phương trình lượng giác cơ bản          9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" name="TextBox 5"/>
              <p:cNvSpPr txBox="1"/>
              <p:nvPr/>
            </p:nvSpPr>
            <p:spPr>
              <a:xfrm>
                <a:off x="731520" y="1508760"/>
                <a:ext cx="6400800" cy="1975104"/>
              </a:xfrm>
              <a:prstGeom prst="rect">
                <a:avLst/>
              </a:prstGeom>
              <a:noFill/>
            </p:spPr>
            <p:txBody>
              <a:bodyPr wrap="square" anchor="t">
                <a:spAutoFit/>
              </a:bodyPr>
              <a:lstStyle/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m:rPr>
                        <m:sty m:val="p"/>
                      </m:rP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x=0⇔x=</m:t>
                    </m:r>
                    <m:f>
                      <m:fPr>
                        <m:type m:val="bar"/>
                      </m:fPr>
                      <m:num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+kπ</m:t>
                    </m:r>
                  </m:oMath>
                </a14:m>
              </a:p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400">
                    <a:solidFill>
                      <a:srgbClr val="1E293B"/>
                    </a:solidFill>
                    <a:latin typeface="Calibri"/>
                  </a:rPr>
                  <a:t>cos x = 1 ⇔ x = k2π</a:t>
                </a:r>
              </a:p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400">
                    <a:solidFill>
                      <a:srgbClr val="1E293B"/>
                    </a:solidFill>
                    <a:latin typeface="Calibri"/>
                  </a:rPr>
                  <a:t>cos x = −1 ⇔ x = π + k2π</a:t>
                </a:r>
              </a:p>
            </p:txBody>
          </p:sp>
        </mc:Choice>
        <mc:Fallback>
          <p:sp>
            <p:nvSpPr>
              <p:cNvPr id="6" name="TextBox 5"/>
              <p:cNvSpPr txBox="1"/>
              <p:nvPr/>
            </p:nvSpPr>
            <p:spPr>
              <a:xfrm>
                <a:off x="731520" y="1508760"/>
                <a:ext cx="6400800" cy="1975104"/>
              </a:xfrm>
              <a:prstGeom prst="rect">
                <a:avLst/>
              </a:prstGeom>
              <a:noFill/>
            </p:spPr>
            <p:txBody>
              <a:bodyPr wrap="square" anchor="t">
                <a:spAutoFit/>
              </a:bodyPr>
              <a:lstStyle/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lang="vi-VN"/>
                  <a:t>\cos\ x=0\Leftrightarrow x=\frac{\pi}{2}+k\pi</a:t>
                </a:r>
              </a:p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400">
                    <a:solidFill>
                      <a:srgbClr val="1E293B"/>
                    </a:solidFill>
                    <a:latin typeface="Calibri"/>
                  </a:rPr>
                  <a:t>cos x = 1 ⇔ x = k2π</a:t>
                </a:r>
              </a:p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400">
                    <a:solidFill>
                      <a:srgbClr val="1E293B"/>
                    </a:solidFill>
                    <a:latin typeface="Calibri"/>
                  </a:rPr>
                  <a:t>cos x = −1 ⇔ x = π + k2π</a:t>
                </a:r>
              </a:p>
            </p:txBody>
          </p:sp>
        </mc:Fallback>
      </mc:AlternateContent>
      <p:sp>
        <p:nvSpPr>
          <p:cNvPr id="7" name="Rounded Rectangle 6"/>
          <p:cNvSpPr/>
          <p:nvPr/>
        </p:nvSpPr>
        <p:spPr>
          <a:xfrm>
            <a:off x="731520" y="3621024"/>
            <a:ext cx="6400800" cy="1143000"/>
          </a:xfrm>
          <a:prstGeom prst="roundRect">
            <a:avLst>
              <a:gd name="adj" fmla="val 8000"/>
            </a:avLst>
          </a:prstGeom>
          <a:solidFill>
            <a:srgbClr val="FEF2F2"/>
          </a:solidFill>
          <a:ln w="19050">
            <a:solidFill>
              <a:srgbClr val="991B1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8" name="TextBox 7"/>
              <p:cNvSpPr txBox="1"/>
              <p:nvPr/>
            </p:nvSpPr>
            <p:spPr>
              <a:xfrm>
                <a:off x="914400" y="3621024"/>
                <a:ext cx="6035040" cy="1143000"/>
              </a:xfrm>
              <a:prstGeom prst="rect">
                <a:avLst/>
              </a:prstGeom>
              <a:noFill/>
            </p:spPr>
            <p:txBody>
              <a:bodyPr wrap="square" anchor="ctr">
                <a:spAutoFit/>
              </a:bodyPr>
              <a:lstStyle/>
              <a:p>
                <a:pPr algn="l">
                  <a:spcAft>
                    <a:spcPts val="400"/>
                  </a:spcAft>
                </a:pPr>
                <a:r>
                  <a:rPr sz="2400" b="1">
                    <a:solidFill>
                      <a:srgbClr val="991B1B"/>
                    </a:solidFill>
                    <a:latin typeface="Calibri"/>
                  </a:rPr>
                  <a:t>|m| &gt; 1: vô nghiệm</a:t>
                </a:r>
              </a:p>
              <a:p>
                <a:pPr algn="l">
                  <a:spcAft>
                    <a:spcPts val="400"/>
                  </a:spcAft>
                </a:pPr>
                <a:r>
                  <a:rPr sz="2400" b="1">
                    <a:solidFill>
                      <a:srgbClr val="991B1B"/>
                    </a:solidFill>
                    <a:latin typeface="Calibri"/>
                  </a:rPr>
                  <a:t> 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vi-VN" sz="2400" b="1">
                        <a:solidFill>
                          <a:srgbClr val="991B1B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m:rPr>
                        <m:sty m:val="p"/>
                      </m:rPr>
                      <a:rPr lang="vi-VN" sz="2400" b="1">
                        <a:solidFill>
                          <a:srgbClr val="991B1B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vi-VN" sz="2400" b="1">
                        <a:solidFill>
                          <a:srgbClr val="991B1B"/>
                        </a:solidFill>
                        <a:latin typeface="Cambria Math" panose="02040503050406030204" pitchFamily="18" charset="0"/>
                      </a:rPr>
                      <m:t>x=</m:t>
                    </m:r>
                    <m:r>
                      <m:rPr>
                        <m:sty m:val="p"/>
                      </m:rPr>
                      <a:rPr lang="vi-VN" sz="2400" b="1">
                        <a:solidFill>
                          <a:srgbClr val="991B1B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m:rPr>
                        <m:sty m:val="p"/>
                      </m:rPr>
                      <a:rPr lang="vi-VN" sz="2400" b="1">
                        <a:solidFill>
                          <a:srgbClr val="991B1B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vi-VN" sz="2400" b="1">
                        <a:solidFill>
                          <a:srgbClr val="991B1B"/>
                        </a:solidFill>
                        <a:latin typeface="Cambria Math" panose="02040503050406030204" pitchFamily="18" charset="0"/>
                      </a:rPr>
                      <m:t>α⇔x=±α+k2π</m:t>
                    </m:r>
                  </m:oMath>
                </a14:m>
              </a:p>
            </p:txBody>
          </p:sp>
        </mc:Choice>
        <mc:Fallback>
          <p:sp>
            <p:nvSpPr>
              <p:cNvPr id="8" name="TextBox 7"/>
              <p:cNvSpPr txBox="1"/>
              <p:nvPr/>
            </p:nvSpPr>
            <p:spPr>
              <a:xfrm>
                <a:off x="914400" y="3621024"/>
                <a:ext cx="6035040" cy="1143000"/>
              </a:xfrm>
              <a:prstGeom prst="rect">
                <a:avLst/>
              </a:prstGeom>
              <a:noFill/>
            </p:spPr>
            <p:txBody>
              <a:bodyPr wrap="square" anchor="ctr">
                <a:spAutoFit/>
              </a:bodyPr>
              <a:lstStyle/>
              <a:p>
                <a:pPr algn="l">
                  <a:spcAft>
                    <a:spcPts val="400"/>
                  </a:spcAft>
                </a:pPr>
                <a:r>
                  <a:rPr sz="2400" b="1">
                    <a:solidFill>
                      <a:srgbClr val="991B1B"/>
                    </a:solidFill>
                    <a:latin typeface="Calibri"/>
                  </a:rPr>
                  <a:t>|m| &gt; 1: vô nghiệm</a:t>
                </a:r>
              </a:p>
              <a:p>
                <a:pPr algn="l">
                  <a:spcAft>
                    <a:spcPts val="400"/>
                  </a:spcAft>
                </a:pPr>
                <a:r>
                  <a:rPr sz="2400" b="1">
                    <a:solidFill>
                      <a:srgbClr val="991B1B"/>
                    </a:solidFill>
                    <a:latin typeface="Calibri"/>
                  </a:rPr>
                  <a:t> </a:t>
                </a:r>
                <a:r>
                  <a:rPr lang="vi-VN"/>
                  <a:t>\cos\ x=\cos\ \alpha\Leftrightarrow x=\pm\alpha+k2\pi</a:t>
                </a:r>
              </a:p>
            </p:txBody>
          </p:sp>
        </mc:Fallback>
      </mc:AlternateContent>
      <p:pic>
        <p:nvPicPr>
          <p:cNvPr id="9" name="Picture 8" descr="rId1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06640" y="1560358"/>
            <a:ext cx="4389120" cy="4514523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972800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VÍ DỤ 5 – VÍ DỤ 6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Toán 11 · Bài 4. Phương trình lượng giác cơ bản          10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" name="TextBox 5"/>
              <p:cNvSpPr txBox="1"/>
              <p:nvPr/>
            </p:nvSpPr>
            <p:spPr>
              <a:xfrm>
                <a:off x="731520" y="1508760"/>
                <a:ext cx="10789920" cy="1975104"/>
              </a:xfrm>
              <a:prstGeom prst="rect">
                <a:avLst/>
              </a:prstGeom>
              <a:noFill/>
            </p:spPr>
            <p:txBody>
              <a:bodyPr wrap="square" anchor="t">
                <a:spAutoFit/>
              </a:bodyPr>
              <a:lstStyle/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m:rPr>
                        <m:sty m:val="p"/>
                      </m:rP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x=−</m:t>
                    </m:r>
                    <m:f>
                      <m:fPr>
                        <m:type m:val="bar"/>
                      </m:fPr>
                      <m:num>
                        <m:rad>
                          <m:radPr>
                            <m:degHide m:val="on"/>
                          </m:radPr>
                          <m:deg/>
                          <m:e>
                            <m:r>
                              <a:rPr lang="vi-VN" sz="2400" b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</m:rad>
                      </m:num>
                      <m:den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⇔x=±</m:t>
                    </m:r>
                    <m:f>
                      <m:fPr>
                        <m:type m:val="bar"/>
                      </m:fPr>
                      <m:num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5π</m:t>
                        </m:r>
                      </m:num>
                      <m:den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den>
                    </m:f>
                    <m: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+k2π</m:t>
                    </m:r>
                  </m:oMath>
                </a14:m>
              </a:p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400">
                    <a:solidFill>
                      <a:srgbClr val="1E293B"/>
                    </a:solidFill>
                    <a:latin typeface="Calibri"/>
                  </a:rPr>
                  <a:t>cos 2x = cos(45° − x)</a:t>
                </a:r>
              </a:p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400">
                    <a:solidFill>
                      <a:srgbClr val="1E293B"/>
                    </a:solidFill>
                    <a:latin typeface="Calibri"/>
                  </a:rPr>
                  <a:t>⇔ x = 15° + k120° hoặc x = −45° + k360°</a:t>
                </a:r>
              </a:p>
            </p:txBody>
          </p:sp>
        </mc:Choice>
        <mc:Fallback>
          <p:sp>
            <p:nvSpPr>
              <p:cNvPr id="6" name="TextBox 5"/>
              <p:cNvSpPr txBox="1"/>
              <p:nvPr/>
            </p:nvSpPr>
            <p:spPr>
              <a:xfrm>
                <a:off x="731520" y="1508760"/>
                <a:ext cx="10789920" cy="1975104"/>
              </a:xfrm>
              <a:prstGeom prst="rect">
                <a:avLst/>
              </a:prstGeom>
              <a:noFill/>
            </p:spPr>
            <p:txBody>
              <a:bodyPr wrap="square" anchor="t">
                <a:spAutoFit/>
              </a:bodyPr>
              <a:lstStyle/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lang="vi-VN"/>
                  <a:t>\cos\ x=−\frac{\sqrt{3}}{2}\Leftrightarrow x=\pm\frac{5\pi}{6}+k2\pi</a:t>
                </a:r>
              </a:p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400">
                    <a:solidFill>
                      <a:srgbClr val="1E293B"/>
                    </a:solidFill>
                    <a:latin typeface="Calibri"/>
                  </a:rPr>
                  <a:t>cos 2x = cos(45° − x)</a:t>
                </a:r>
              </a:p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400">
                    <a:solidFill>
                      <a:srgbClr val="1E293B"/>
                    </a:solidFill>
                    <a:latin typeface="Calibri"/>
                  </a:rPr>
                  <a:t>⇔ x = 15° + k120° hoặc x = −45° + k360°</a:t>
                </a:r>
              </a:p>
            </p:txBody>
          </p:sp>
        </mc:Fallback>
      </mc:AlternateContent>
      <p:sp>
        <p:nvSpPr>
          <p:cNvPr id="7" name="Rounded Rectangle 6"/>
          <p:cNvSpPr/>
          <p:nvPr/>
        </p:nvSpPr>
        <p:spPr>
          <a:xfrm>
            <a:off x="731520" y="3621024"/>
            <a:ext cx="8686800" cy="685800"/>
          </a:xfrm>
          <a:prstGeom prst="roundRect">
            <a:avLst>
              <a:gd name="adj" fmla="val 8000"/>
            </a:avLst>
          </a:prstGeom>
          <a:solidFill>
            <a:srgbClr val="FEF2F2"/>
          </a:solidFill>
          <a:ln w="19050">
            <a:solidFill>
              <a:srgbClr val="991B1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3621024"/>
            <a:ext cx="832104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400" b="1">
                <a:solidFill>
                  <a:srgbClr val="991B1B"/>
                </a:solidFill>
                <a:latin typeface="Calibri"/>
              </a:rPr>
              <a:t>α ∈ [0; π] khi dùng cos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972800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4. PHƯƠNG TRÌNH tan x = m, cot x = m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Toán 11 · Bài 4. Phương trình lượng giác cơ bản          11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" name="TextBox 5"/>
              <p:cNvSpPr txBox="1"/>
              <p:nvPr/>
            </p:nvSpPr>
            <p:spPr>
              <a:xfrm>
                <a:off x="731520" y="1508760"/>
                <a:ext cx="10789920" cy="2249424"/>
              </a:xfrm>
              <a:prstGeom prst="rect">
                <a:avLst/>
              </a:prstGeom>
              <a:noFill/>
            </p:spPr>
            <p:txBody>
              <a:bodyPr wrap="square" anchor="t">
                <a:spAutoFit/>
              </a:bodyPr>
              <a:lstStyle/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400">
                    <a:solidFill>
                      <a:srgbClr val="1E293B"/>
                    </a:solidFill>
                    <a:latin typeface="Calibri"/>
                  </a:rPr>
                  <a:t>Luôn có nghiệm với mọi m</a:t>
                </a:r>
              </a:p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tan</m:t>
                    </m:r>
                    <m:r>
                      <m:rPr>
                        <m:sty m:val="p"/>
                      </m:rP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x=−</m:t>
                    </m:r>
                    <m:rad>
                      <m:radPr>
                        <m:degHide m:val="on"/>
                      </m:radPr>
                      <m:deg/>
                      <m:e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rad>
                    <m: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⇔x=−</m:t>
                    </m:r>
                    <m:f>
                      <m:fPr>
                        <m:type m:val="bar"/>
                      </m:fPr>
                      <m:num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+kπ</m:t>
                    </m:r>
                  </m:oMath>
                </a14:m>
              </a:p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cot</m:t>
                    </m:r>
                    <m:r>
                      <m:rPr>
                        <m:sty m:val="p"/>
                      </m:rP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x=−</m:t>
                    </m:r>
                    <m:rad>
                      <m:radPr>
                        <m:degHide m:val="on"/>
                      </m:radPr>
                      <m:deg/>
                      <m:e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rad>
                    <m: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⇔x=−</m:t>
                    </m:r>
                    <m:f>
                      <m:fPr>
                        <m:type m:val="bar"/>
                      </m:fPr>
                      <m:num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den>
                    </m:f>
                    <m: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+kπ</m:t>
                    </m:r>
                  </m:oMath>
                </a14:m>
              </a:p>
            </p:txBody>
          </p:sp>
        </mc:Choice>
        <mc:Fallback>
          <p:sp>
            <p:nvSpPr>
              <p:cNvPr id="6" name="TextBox 5"/>
              <p:cNvSpPr txBox="1"/>
              <p:nvPr/>
            </p:nvSpPr>
            <p:spPr>
              <a:xfrm>
                <a:off x="731520" y="1508760"/>
                <a:ext cx="10789920" cy="2249424"/>
              </a:xfrm>
              <a:prstGeom prst="rect">
                <a:avLst/>
              </a:prstGeom>
              <a:noFill/>
            </p:spPr>
            <p:txBody>
              <a:bodyPr wrap="square" anchor="t">
                <a:spAutoFit/>
              </a:bodyPr>
              <a:lstStyle/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400">
                    <a:solidFill>
                      <a:srgbClr val="1E293B"/>
                    </a:solidFill>
                    <a:latin typeface="Calibri"/>
                  </a:rPr>
                  <a:t>Luôn có nghiệm với mọi m</a:t>
                </a:r>
              </a:p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lang="vi-VN"/>
                  <a:t>\tan\ x=−\sqrt{3}\Leftrightarrow x=−\frac{\pi}{3}+k\pi</a:t>
                </a:r>
              </a:p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lang="vi-VN"/>
                  <a:t>\cot\ x=−\sqrt{3}\Leftrightarrow x=−\frac{\pi}{6}+k\pi</a:t>
                </a:r>
              </a:p>
            </p:txBody>
          </p:sp>
        </mc:Fallback>
      </mc:AlternateContent>
      <p:sp>
        <p:nvSpPr>
          <p:cNvPr id="7" name="Rounded Rectangle 6"/>
          <p:cNvSpPr/>
          <p:nvPr/>
        </p:nvSpPr>
        <p:spPr>
          <a:xfrm>
            <a:off x="731520" y="3895344"/>
            <a:ext cx="8686800" cy="1143000"/>
          </a:xfrm>
          <a:prstGeom prst="roundRect">
            <a:avLst>
              <a:gd name="adj" fmla="val 8000"/>
            </a:avLst>
          </a:prstGeom>
          <a:solidFill>
            <a:srgbClr val="FEF2F2"/>
          </a:solidFill>
          <a:ln w="19050">
            <a:solidFill>
              <a:srgbClr val="991B1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8" name="TextBox 7"/>
              <p:cNvSpPr txBox="1"/>
              <p:nvPr/>
            </p:nvSpPr>
            <p:spPr>
              <a:xfrm>
                <a:off x="914400" y="3895344"/>
                <a:ext cx="8321040" cy="1143000"/>
              </a:xfrm>
              <a:prstGeom prst="rect">
                <a:avLst/>
              </a:prstGeom>
              <a:noFill/>
            </p:spPr>
            <p:txBody>
              <a:bodyPr wrap="square" anchor="ctr">
                <a:spAutoFit/>
              </a:bodyPr>
              <a:lstStyle/>
              <a:p>
                <a:pPr algn="l">
                  <a:spcAft>
                    <a:spcPts val="400"/>
                  </a:spcAft>
                </a:pPr>
                <a:r>
                  <a:rPr sz="2400" b="1">
                    <a:solidFill>
                      <a:srgbClr val="991B1B"/>
                    </a:solidFill>
                    <a:latin typeface="Calibri"/>
                  </a:rPr>
                  <a:t> 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vi-VN" sz="2400" b="1">
                        <a:solidFill>
                          <a:srgbClr val="991B1B"/>
                        </a:solidFill>
                        <a:latin typeface="Cambria Math" panose="02040503050406030204" pitchFamily="18" charset="0"/>
                      </a:rPr>
                      <m:t>tan</m:t>
                    </m:r>
                    <m:r>
                      <m:rPr>
                        <m:sty m:val="p"/>
                      </m:rPr>
                      <a:rPr lang="vi-VN" sz="2400" b="1">
                        <a:solidFill>
                          <a:srgbClr val="991B1B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vi-VN" sz="2400" b="1">
                        <a:solidFill>
                          <a:srgbClr val="991B1B"/>
                        </a:solidFill>
                        <a:latin typeface="Cambria Math" panose="02040503050406030204" pitchFamily="18" charset="0"/>
                      </a:rPr>
                      <m:t>x=</m:t>
                    </m:r>
                    <m:r>
                      <m:rPr>
                        <m:sty m:val="p"/>
                      </m:rPr>
                      <a:rPr lang="vi-VN" sz="2400" b="1">
                        <a:solidFill>
                          <a:srgbClr val="991B1B"/>
                        </a:solidFill>
                        <a:latin typeface="Cambria Math" panose="02040503050406030204" pitchFamily="18" charset="0"/>
                      </a:rPr>
                      <m:t>tan</m:t>
                    </m:r>
                    <m:r>
                      <m:rPr>
                        <m:sty m:val="p"/>
                      </m:rPr>
                      <a:rPr lang="vi-VN" sz="2400" b="1">
                        <a:solidFill>
                          <a:srgbClr val="991B1B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vi-VN" sz="2400" b="1">
                        <a:solidFill>
                          <a:srgbClr val="991B1B"/>
                        </a:solidFill>
                        <a:latin typeface="Cambria Math" panose="02040503050406030204" pitchFamily="18" charset="0"/>
                      </a:rPr>
                      <m:t>α⇔x=α+kπ</m:t>
                    </m:r>
                  </m:oMath>
                </a14:m>
              </a:p>
              <a:p>
                <a:pPr algn="l">
                  <a:spcAft>
                    <a:spcPts val="400"/>
                  </a:spcAft>
                </a:pPr>
                <a:r>
                  <a:rPr sz="2400" b="1">
                    <a:solidFill>
                      <a:srgbClr val="991B1B"/>
                    </a:solidFill>
                    <a:latin typeface="Calibri"/>
                  </a:rPr>
                  <a:t> 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vi-VN" sz="2400" b="1">
                        <a:solidFill>
                          <a:srgbClr val="991B1B"/>
                        </a:solidFill>
                        <a:latin typeface="Cambria Math" panose="02040503050406030204" pitchFamily="18" charset="0"/>
                      </a:rPr>
                      <m:t>cot</m:t>
                    </m:r>
                    <m:r>
                      <m:rPr>
                        <m:sty m:val="p"/>
                      </m:rPr>
                      <a:rPr lang="vi-VN" sz="2400" b="1">
                        <a:solidFill>
                          <a:srgbClr val="991B1B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vi-VN" sz="2400" b="1">
                        <a:solidFill>
                          <a:srgbClr val="991B1B"/>
                        </a:solidFill>
                        <a:latin typeface="Cambria Math" panose="02040503050406030204" pitchFamily="18" charset="0"/>
                      </a:rPr>
                      <m:t>x=</m:t>
                    </m:r>
                    <m:r>
                      <m:rPr>
                        <m:sty m:val="p"/>
                      </m:rPr>
                      <a:rPr lang="vi-VN" sz="2400" b="1">
                        <a:solidFill>
                          <a:srgbClr val="991B1B"/>
                        </a:solidFill>
                        <a:latin typeface="Cambria Math" panose="02040503050406030204" pitchFamily="18" charset="0"/>
                      </a:rPr>
                      <m:t>cot</m:t>
                    </m:r>
                    <m:r>
                      <m:rPr>
                        <m:sty m:val="p"/>
                      </m:rPr>
                      <a:rPr lang="vi-VN" sz="2400" b="1">
                        <a:solidFill>
                          <a:srgbClr val="991B1B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vi-VN" sz="2400" b="1">
                        <a:solidFill>
                          <a:srgbClr val="991B1B"/>
                        </a:solidFill>
                        <a:latin typeface="Cambria Math" panose="02040503050406030204" pitchFamily="18" charset="0"/>
                      </a:rPr>
                      <m:t>α⇔x=α+kπ</m:t>
                    </m:r>
                  </m:oMath>
                </a14:m>
              </a:p>
            </p:txBody>
          </p:sp>
        </mc:Choice>
        <mc:Fallback>
          <p:sp>
            <p:nvSpPr>
              <p:cNvPr id="8" name="TextBox 7"/>
              <p:cNvSpPr txBox="1"/>
              <p:nvPr/>
            </p:nvSpPr>
            <p:spPr>
              <a:xfrm>
                <a:off x="914400" y="3895344"/>
                <a:ext cx="8321040" cy="1143000"/>
              </a:xfrm>
              <a:prstGeom prst="rect">
                <a:avLst/>
              </a:prstGeom>
              <a:noFill/>
            </p:spPr>
            <p:txBody>
              <a:bodyPr wrap="square" anchor="ctr">
                <a:spAutoFit/>
              </a:bodyPr>
              <a:lstStyle/>
              <a:p>
                <a:pPr algn="l">
                  <a:spcAft>
                    <a:spcPts val="400"/>
                  </a:spcAft>
                </a:pPr>
                <a:r>
                  <a:rPr sz="2400" b="1">
                    <a:solidFill>
                      <a:srgbClr val="991B1B"/>
                    </a:solidFill>
                    <a:latin typeface="Calibri"/>
                  </a:rPr>
                  <a:t> </a:t>
                </a:r>
                <a:r>
                  <a:rPr lang="vi-VN"/>
                  <a:t>\tan\ x=\tan\ \alpha\Leftrightarrow x=\alpha+k\pi</a:t>
                </a:r>
              </a:p>
              <a:p>
                <a:pPr algn="l">
                  <a:spcAft>
                    <a:spcPts val="400"/>
                  </a:spcAft>
                </a:pPr>
                <a:r>
                  <a:rPr sz="2400" b="1">
                    <a:solidFill>
                      <a:srgbClr val="991B1B"/>
                    </a:solidFill>
                    <a:latin typeface="Calibri"/>
                  </a:rPr>
                  <a:t> </a:t>
                </a:r>
                <a:r>
                  <a:rPr lang="vi-VN"/>
                  <a:t>\cot\ x=\cot\ \alpha\Leftrightarrow x=\alpha+k\pi</a:t>
                </a:r>
              </a:p>
            </p:txBody>
          </p:sp>
        </mc:Fallback>
      </mc:AlternateContent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972800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5. DÙNG MÁY TÍNH CẦM TAY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Toán 11 · Bài 4. Phương trình lượng giác cơ bản          12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508760"/>
            <a:ext cx="10789920" cy="11338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SHIFT MODE 3: độ;  SHIFT MODE 4: rađian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Dùng phím sin⁻¹, cos⁻¹, tan⁻¹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2779776"/>
            <a:ext cx="8686800" cy="685800"/>
          </a:xfrm>
          <a:prstGeom prst="roundRect">
            <a:avLst>
              <a:gd name="adj" fmla="val 8000"/>
            </a:avLst>
          </a:prstGeom>
          <a:solidFill>
            <a:srgbClr val="FEF2F2"/>
          </a:solidFill>
          <a:ln w="19050">
            <a:solidFill>
              <a:srgbClr val="991B1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2779776"/>
            <a:ext cx="832104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400" b="1">
                <a:solidFill>
                  <a:srgbClr val="991B1B"/>
                </a:solidFill>
                <a:latin typeface="Calibri"/>
              </a:rPr>
              <a:t>sin α = 0,58 ⇒ α ≈ 35°27′ ≈ 0,6187 rad</a:t>
            </a:r>
          </a:p>
        </p:txBody>
      </p:sp>
      <p:pic>
        <p:nvPicPr>
          <p:cNvPr id="9" name="Picture 8" descr="rId1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3603704"/>
            <a:ext cx="10698480" cy="2613248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972800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TRẠM KIỂM CHỨNG AI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Toán 11 · Bài 4. Phương trình lượng giác cơ bản          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508760"/>
            <a:ext cx="10789920" cy="17007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2400" b="1">
                <a:solidFill>
                  <a:srgbClr val="1E40AF"/>
                </a:solidFill>
                <a:latin typeface="Calibri"/>
              </a:rPr>
              <a:t>Tìm lỗi trong lời giải AI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AI: sin x = 1/2 ⇔ x = π/6 + kπ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AI: cos x = −1/2, chọn α = −π/3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3346704"/>
            <a:ext cx="8686800" cy="1417320"/>
          </a:xfrm>
          <a:prstGeom prst="roundRect">
            <a:avLst>
              <a:gd name="adj" fmla="val 8000"/>
            </a:avLst>
          </a:prstGeom>
          <a:solidFill>
            <a:srgbClr val="FEF2F2"/>
          </a:solidFill>
          <a:ln w="19050">
            <a:solidFill>
              <a:srgbClr val="991B1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8" name="TextBox 7"/>
              <p:cNvSpPr txBox="1"/>
              <p:nvPr/>
            </p:nvSpPr>
            <p:spPr>
              <a:xfrm>
                <a:off x="914400" y="3346704"/>
                <a:ext cx="8321040" cy="1417320"/>
              </a:xfrm>
              <a:prstGeom prst="rect">
                <a:avLst/>
              </a:prstGeom>
              <a:noFill/>
            </p:spPr>
            <p:txBody>
              <a:bodyPr wrap="square" anchor="ctr">
                <a:spAutoFit/>
              </a:bodyPr>
              <a:lstStyle/>
              <a:p>
                <a:pPr algn="l">
                  <a:spcAft>
                    <a:spcPts val="400"/>
                  </a:spcAft>
                </a:pPr>
                <a:r>
                  <a:rPr sz="2400" b="1">
                    <a:solidFill>
                      <a:srgbClr val="991B1B"/>
                    </a:solidFill>
                    <a:latin typeface="Calibri"/>
                  </a:rPr>
                  <a:t>Đúng: </a:t>
                </a:r>
                <a14:m>
                  <m:oMath xmlns:m="http://schemas.openxmlformats.org/officeDocument/2006/math">
                    <m:r>
                      <a:rPr lang="vi-VN" sz="2400" b="1">
                        <a:solidFill>
                          <a:srgbClr val="991B1B"/>
                        </a:solidFill>
                        <a:latin typeface="Cambria Math" panose="02040503050406030204" pitchFamily="18" charset="0"/>
                      </a:rPr>
                      <m:t>x=</m:t>
                    </m:r>
                    <m:f>
                      <m:fPr>
                        <m:type m:val="bar"/>
                      </m:fPr>
                      <m:num>
                        <m:r>
                          <a:rPr lang="vi-VN" sz="2400" b="1">
                            <a:solidFill>
                              <a:srgbClr val="991B1B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vi-VN" sz="2400" b="1">
                            <a:solidFill>
                              <a:srgbClr val="991B1B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den>
                    </m:f>
                    <m:r>
                      <a:rPr lang="vi-VN" sz="2400" b="1">
                        <a:solidFill>
                          <a:srgbClr val="991B1B"/>
                        </a:solidFill>
                        <a:latin typeface="Cambria Math" panose="02040503050406030204" pitchFamily="18" charset="0"/>
                      </a:rPr>
                      <m:t>+k2π</m:t>
                    </m:r>
                  </m:oMath>
                </a14:m>
                <a:r>
                  <a:rPr sz="2400" b="1">
                    <a:solidFill>
                      <a:srgbClr val="991B1B"/>
                    </a:solidFill>
                    <a:latin typeface="Calibri"/>
                  </a:rPr>
                  <a:t> hoặc </a:t>
                </a:r>
                <a14:m>
                  <m:oMath xmlns:m="http://schemas.openxmlformats.org/officeDocument/2006/math">
                    <m:r>
                      <a:rPr lang="vi-VN" sz="2400" b="1">
                        <a:solidFill>
                          <a:srgbClr val="991B1B"/>
                        </a:solidFill>
                        <a:latin typeface="Cambria Math" panose="02040503050406030204" pitchFamily="18" charset="0"/>
                      </a:rPr>
                      <m:t>x=</m:t>
                    </m:r>
                    <m:f>
                      <m:fPr>
                        <m:type m:val="bar"/>
                      </m:fPr>
                      <m:num>
                        <m:r>
                          <a:rPr lang="vi-VN" sz="2400" b="1">
                            <a:solidFill>
                              <a:srgbClr val="991B1B"/>
                            </a:solidFill>
                            <a:latin typeface="Cambria Math" panose="02040503050406030204" pitchFamily="18" charset="0"/>
                          </a:rPr>
                          <m:t>5π</m:t>
                        </m:r>
                      </m:num>
                      <m:den>
                        <m:r>
                          <a:rPr lang="vi-VN" sz="2400" b="1">
                            <a:solidFill>
                              <a:srgbClr val="991B1B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den>
                    </m:f>
                    <m:r>
                      <a:rPr lang="vi-VN" sz="2400" b="1">
                        <a:solidFill>
                          <a:srgbClr val="991B1B"/>
                        </a:solidFill>
                        <a:latin typeface="Cambria Math" panose="02040503050406030204" pitchFamily="18" charset="0"/>
                      </a:rPr>
                      <m:t>+k2π</m:t>
                    </m:r>
                  </m:oMath>
                </a14:m>
              </a:p>
              <a:p>
                <a:pPr algn="l">
                  <a:spcAft>
                    <a:spcPts val="400"/>
                  </a:spcAft>
                </a:pPr>
                <a:r>
                  <a:rPr sz="2400" b="1">
                    <a:solidFill>
                      <a:srgbClr val="991B1B"/>
                    </a:solidFill>
                    <a:latin typeface="Calibri"/>
                  </a:rPr>
                  <a:t>cos x = −1/2 ⇔ x = ±2π/3 + k2π</a:t>
                </a:r>
              </a:p>
            </p:txBody>
          </p:sp>
        </mc:Choice>
        <mc:Fallback>
          <p:sp>
            <p:nvSpPr>
              <p:cNvPr id="8" name="TextBox 7"/>
              <p:cNvSpPr txBox="1"/>
              <p:nvPr/>
            </p:nvSpPr>
            <p:spPr>
              <a:xfrm>
                <a:off x="914400" y="3346704"/>
                <a:ext cx="8321040" cy="1417320"/>
              </a:xfrm>
              <a:prstGeom prst="rect">
                <a:avLst/>
              </a:prstGeom>
              <a:noFill/>
            </p:spPr>
            <p:txBody>
              <a:bodyPr wrap="square" anchor="ctr">
                <a:spAutoFit/>
              </a:bodyPr>
              <a:lstStyle/>
              <a:p>
                <a:pPr algn="l">
                  <a:spcAft>
                    <a:spcPts val="400"/>
                  </a:spcAft>
                </a:pPr>
                <a:r>
                  <a:rPr sz="2400" b="1">
                    <a:solidFill>
                      <a:srgbClr val="991B1B"/>
                    </a:solidFill>
                    <a:latin typeface="Calibri"/>
                  </a:rPr>
                  <a:t>Đúng: </a:t>
                </a:r>
                <a:r>
                  <a:rPr lang="vi-VN"/>
                  <a:t>x=\frac{\pi}{6}+k2\pi</a:t>
                </a:r>
                <a:r>
                  <a:rPr sz="2400" b="1">
                    <a:solidFill>
                      <a:srgbClr val="991B1B"/>
                    </a:solidFill>
                    <a:latin typeface="Calibri"/>
                  </a:rPr>
                  <a:t> hoặc </a:t>
                </a:r>
                <a:r>
                  <a:rPr lang="vi-VN"/>
                  <a:t>x=\frac{5\pi}{6}+k2\pi</a:t>
                </a:r>
              </a:p>
              <a:p>
                <a:pPr algn="l">
                  <a:spcAft>
                    <a:spcPts val="400"/>
                  </a:spcAft>
                </a:pPr>
                <a:r>
                  <a:rPr sz="2400" b="1">
                    <a:solidFill>
                      <a:srgbClr val="991B1B"/>
                    </a:solidFill>
                    <a:latin typeface="Calibri"/>
                  </a:rPr>
                  <a:t>cos x = −1/2 ⇔ x = ±2π/3 + k2π</a:t>
                </a:r>
              </a:p>
            </p:txBody>
          </p:sp>
        </mc:Fallback>
      </mc:AlternateContent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972800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VẬN DỤNG: PHA MẶT TRĂNG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Toán 11 · Bài 4. Phương trình lượng giác cơ bản          14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" name="TextBox 5"/>
              <p:cNvSpPr txBox="1"/>
              <p:nvPr/>
            </p:nvSpPr>
            <p:spPr>
              <a:xfrm>
                <a:off x="731520" y="1508760"/>
                <a:ext cx="6400800" cy="2542032"/>
              </a:xfrm>
              <a:prstGeom prst="rect">
                <a:avLst/>
              </a:prstGeom>
              <a:noFill/>
            </p:spPr>
            <p:txBody>
              <a:bodyPr wrap="square" anchor="t">
                <a:spAutoFit/>
              </a:bodyPr>
              <a:lstStyle/>
              <a:p>
                <a:pPr algn="l">
                  <a:spcAft>
                    <a:spcPts val="1000"/>
                  </a:spcAft>
                </a:pPr>
                <a:r>
                  <a:rPr sz="2400" b="1">
                    <a:solidFill>
                      <a:srgbClr val="1E40AF"/>
                    </a:solidFill>
                    <a:latin typeface="Calibri"/>
                  </a:rPr>
                  <a:t> </a:t>
                </a:r>
                <a14:m>
                  <m:oMath xmlns:m="http://schemas.openxmlformats.org/officeDocument/2006/math">
                    <m:r>
                      <a:rPr lang="vi-VN" sz="2400" b="1">
                        <a:solidFill>
                          <a:srgbClr val="1E40AF"/>
                        </a:solidFill>
                        <a:latin typeface="Cambria Math" panose="02040503050406030204" pitchFamily="18" charset="0"/>
                      </a:rPr>
                      <m:t>F=</m:t>
                    </m:r>
                    <m:f>
                      <m:fPr>
                        <m:type m:val="bar"/>
                      </m:fPr>
                      <m:num>
                        <m:r>
                          <a:rPr lang="vi-VN" sz="2400" b="1">
                            <a:solidFill>
                              <a:srgbClr val="1E40A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vi-VN" sz="2400" b="1">
                            <a:solidFill>
                              <a:srgbClr val="1E40A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a:rPr lang="vi-VN" sz="2400" b="1">
                        <a:solidFill>
                          <a:srgbClr val="1E40AF"/>
                        </a:solidFill>
                        <a:latin typeface="Cambria Math" panose="02040503050406030204" pitchFamily="18" charset="0"/>
                      </a:rPr>
                      <m:t>(1−</m:t>
                    </m:r>
                    <m:r>
                      <m:rPr>
                        <m:sty m:val="p"/>
                      </m:rPr>
                      <a:rPr lang="vi-VN" sz="2400" b="1">
                        <a:solidFill>
                          <a:srgbClr val="1E40AF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m:rPr>
                        <m:sty m:val="p"/>
                      </m:rPr>
                      <a:rPr lang="vi-VN" sz="2400" b="1">
                        <a:solidFill>
                          <a:srgbClr val="1E40AF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vi-VN" sz="2400" b="1">
                        <a:solidFill>
                          <a:srgbClr val="1E40AF"/>
                        </a:solidFill>
                        <a:latin typeface="Cambria Math" panose="02040503050406030204" pitchFamily="18" charset="0"/>
                      </a:rPr>
                      <m:t>α)</m:t>
                    </m:r>
                  </m:oMath>
                </a14:m>
              </a:p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400">
                    <a:solidFill>
                      <a:srgbClr val="1E293B"/>
                    </a:solidFill>
                    <a:latin typeface="Calibri"/>
                  </a:rPr>
                  <a:t>F = 0: α = 0° hoặc 360° (trăng mới)</a:t>
                </a:r>
              </a:p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400">
                    <a:solidFill>
                      <a:srgbClr val="1E293B"/>
                    </a:solidFill>
                    <a:latin typeface="Calibri"/>
                  </a:rPr>
                  <a:t>F = 0,5: α = 90° hoặc 270°</a:t>
                </a:r>
              </a:p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400">
                    <a:solidFill>
                      <a:srgbClr val="1E293B"/>
                    </a:solidFill>
                    <a:latin typeface="Calibri"/>
                  </a:rPr>
                  <a:t>F = 1: α = 180° (trăng tròn)</a:t>
                </a:r>
              </a:p>
            </p:txBody>
          </p:sp>
        </mc:Choice>
        <mc:Fallback>
          <p:sp>
            <p:nvSpPr>
              <p:cNvPr id="6" name="TextBox 5"/>
              <p:cNvSpPr txBox="1"/>
              <p:nvPr/>
            </p:nvSpPr>
            <p:spPr>
              <a:xfrm>
                <a:off x="731520" y="1508760"/>
                <a:ext cx="6400800" cy="2542032"/>
              </a:xfrm>
              <a:prstGeom prst="rect">
                <a:avLst/>
              </a:prstGeom>
              <a:noFill/>
            </p:spPr>
            <p:txBody>
              <a:bodyPr wrap="square" anchor="t">
                <a:spAutoFit/>
              </a:bodyPr>
              <a:lstStyle/>
              <a:p>
                <a:pPr algn="l">
                  <a:spcAft>
                    <a:spcPts val="1000"/>
                  </a:spcAft>
                </a:pPr>
                <a:r>
                  <a:rPr sz="2400" b="1">
                    <a:solidFill>
                      <a:srgbClr val="1E40AF"/>
                    </a:solidFill>
                    <a:latin typeface="Calibri"/>
                  </a:rPr>
                  <a:t> </a:t>
                </a:r>
                <a:r>
                  <a:rPr lang="vi-VN"/>
                  <a:t>F=\frac{1}{2}(1−\cos\ \alpha)</a:t>
                </a:r>
              </a:p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400">
                    <a:solidFill>
                      <a:srgbClr val="1E293B"/>
                    </a:solidFill>
                    <a:latin typeface="Calibri"/>
                  </a:rPr>
                  <a:t>F = 0: α = 0° hoặc 360° (trăng mới)</a:t>
                </a:r>
              </a:p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400">
                    <a:solidFill>
                      <a:srgbClr val="1E293B"/>
                    </a:solidFill>
                    <a:latin typeface="Calibri"/>
                  </a:rPr>
                  <a:t>F = 0,5: α = 90° hoặc 270°</a:t>
                </a:r>
              </a:p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400">
                    <a:solidFill>
                      <a:srgbClr val="1E293B"/>
                    </a:solidFill>
                    <a:latin typeface="Calibri"/>
                  </a:rPr>
                  <a:t>F = 1: α = 180° (trăng tròn)</a:t>
                </a:r>
              </a:p>
            </p:txBody>
          </p:sp>
        </mc:Fallback>
      </mc:AlternateContent>
      <p:pic>
        <p:nvPicPr>
          <p:cNvPr id="7" name="Picture 6" descr="rId2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06640" y="3056794"/>
            <a:ext cx="4389120" cy="1521651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972800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NHIỆM VỤ NHÓM: TIA NƯỚC TƯỚI CÂY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Toán 11 · Bài 4. Phương trình lượng giác cơ bản          15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" name="TextBox 5"/>
              <p:cNvSpPr txBox="1"/>
              <p:nvPr/>
            </p:nvSpPr>
            <p:spPr>
              <a:xfrm>
                <a:off x="731520" y="1508760"/>
                <a:ext cx="10789920" cy="3369564"/>
              </a:xfrm>
              <a:prstGeom prst="rect">
                <a:avLst/>
              </a:prstGeom>
              <a:noFill/>
            </p:spPr>
            <p:txBody>
              <a:bodyPr wrap="square" anchor="t">
                <a:spAutoFit/>
              </a:bodyPr>
              <a:lstStyle/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200">
                    <a:solidFill>
                      <a:srgbClr val="1E293B"/>
                    </a:solidFill>
                    <a:latin typeface="Calibri"/>
                  </a:rPr>
                  <a:t>Đặt vòi nghiêng 45°, đo tầm xa</a:t>
                </a:r>
              </a:p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200">
                    <a:solidFill>
                      <a:srgbClr val="1E293B"/>
                    </a:solidFill>
                    <a:latin typeface="Calibri"/>
                  </a:rPr>
                  <a:t>Ước lượng </a:t>
                </a:r>
                <a14:m>
                  <m:oMath xmlns:m="http://schemas.openxmlformats.org/officeDocument/2006/math">
                    <m:f>
                      <m:fPr>
                        <m:type m:val="bar"/>
                      </m:fPr>
                      <m:num>
                        <m:sSubSup>
                          <m:e>
                            <m:r>
                              <a:rPr lang="vi-VN" sz="2200" b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v</m:t>
                            </m:r>
                          </m:e>
                          <m:sub>
                            <m:r>
                              <a:rPr lang="vi-VN" sz="2200" b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  <m:sup>
                            <m:r>
                              <a:rPr lang="vi-VN" sz="2200" b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bSup>
                      </m:num>
                      <m:den>
                        <m:r>
                          <a:rPr lang="vi-VN" sz="22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g</m:t>
                        </m:r>
                      </m:den>
                    </m:f>
                  </m:oMath>
                </a14:m>
                <a:r>
                  <a:rPr sz="2200">
                    <a:solidFill>
                      <a:srgbClr val="1E293B"/>
                    </a:solidFill>
                    <a:latin typeface="Calibri"/>
                  </a:rPr>
                  <a:t> từ </a:t>
                </a:r>
                <a14:m>
                  <m:oMath xmlns:m="http://schemas.openxmlformats.org/officeDocument/2006/math">
                    <m:r>
                      <a:rPr lang="vi-VN" sz="22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L=</m:t>
                    </m:r>
                    <m:f>
                      <m:fPr>
                        <m:type m:val="bar"/>
                      </m:fPr>
                      <m:num>
                        <m:sSubSup>
                          <m:e>
                            <m:r>
                              <a:rPr lang="vi-VN" sz="2200" b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v</m:t>
                            </m:r>
                          </m:e>
                          <m:sub>
                            <m:r>
                              <a:rPr lang="vi-VN" sz="2200" b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  <m:sup>
                            <m:r>
                              <a:rPr lang="vi-VN" sz="2200" b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bSup>
                        <m:r>
                          <m:rPr>
                            <m:sty m:val="p"/>
                          </m:rPr>
                          <a:rPr lang="vi-VN" sz="22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  <m:r>
                          <m:rPr>
                            <m:sty m:val="p"/>
                          </m:rPr>
                          <a:rPr lang="vi-VN" sz="22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vi-VN" sz="22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2α</m:t>
                        </m:r>
                      </m:num>
                      <m:den>
                        <m:r>
                          <a:rPr lang="vi-VN" sz="22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g</m:t>
                        </m:r>
                      </m:den>
                    </m:f>
                  </m:oMath>
                </a14:m>
              </a:p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200">
                    <a:solidFill>
                      <a:srgbClr val="1E293B"/>
                    </a:solidFill>
                    <a:latin typeface="Calibri"/>
                  </a:rPr>
                  <a:t>Tìm góc để nước chạm gốc cây</a:t>
                </a:r>
              </a:p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200">
                    <a:solidFill>
                      <a:srgbClr val="1E293B"/>
                    </a:solidFill>
                    <a:latin typeface="Calibri"/>
                  </a:rPr>
                  <a:t>Thử lại, giải thích sai số</a:t>
                </a:r>
              </a:p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200">
                    <a:solidFill>
                      <a:srgbClr val="1E293B"/>
                    </a:solidFill>
                    <a:latin typeface="Calibri"/>
                  </a:rPr>
                  <a:t>Quay video, nộp kèm Nhật ký AI</a:t>
                </a:r>
              </a:p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200">
                    <a:solidFill>
                      <a:srgbClr val="1E293B"/>
                    </a:solidFill>
                    <a:latin typeface="Calibri"/>
                  </a:rPr>
                  <a:t>Tiết kiệm nước khi làm thí nghiệm</a:t>
                </a:r>
              </a:p>
            </p:txBody>
          </p:sp>
        </mc:Choice>
        <mc:Fallback>
          <p:sp>
            <p:nvSpPr>
              <p:cNvPr id="6" name="TextBox 5"/>
              <p:cNvSpPr txBox="1"/>
              <p:nvPr/>
            </p:nvSpPr>
            <p:spPr>
              <a:xfrm>
                <a:off x="731520" y="1508760"/>
                <a:ext cx="10789920" cy="3369564"/>
              </a:xfrm>
              <a:prstGeom prst="rect">
                <a:avLst/>
              </a:prstGeom>
              <a:noFill/>
            </p:spPr>
            <p:txBody>
              <a:bodyPr wrap="square" anchor="t">
                <a:spAutoFit/>
              </a:bodyPr>
              <a:lstStyle/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200">
                    <a:solidFill>
                      <a:srgbClr val="1E293B"/>
                    </a:solidFill>
                    <a:latin typeface="Calibri"/>
                  </a:rPr>
                  <a:t>Đặt vòi nghiêng 45°, đo tầm xa</a:t>
                </a:r>
              </a:p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200">
                    <a:solidFill>
                      <a:srgbClr val="1E293B"/>
                    </a:solidFill>
                    <a:latin typeface="Calibri"/>
                  </a:rPr>
                  <a:t>Ước lượng </a:t>
                </a:r>
                <a:r>
                  <a:rPr lang="vi-VN"/>
                  <a:t>\frac{v_0^2}{g}</a:t>
                </a:r>
                <a:r>
                  <a:rPr sz="2200">
                    <a:solidFill>
                      <a:srgbClr val="1E293B"/>
                    </a:solidFill>
                    <a:latin typeface="Calibri"/>
                  </a:rPr>
                  <a:t> từ </a:t>
                </a:r>
                <a:r>
                  <a:rPr lang="vi-VN"/>
                  <a:t>L=\frac{v_0^2\sin\ 2\alpha}{g}</a:t>
                </a:r>
              </a:p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200">
                    <a:solidFill>
                      <a:srgbClr val="1E293B"/>
                    </a:solidFill>
                    <a:latin typeface="Calibri"/>
                  </a:rPr>
                  <a:t>Tìm góc để nước chạm gốc cây</a:t>
                </a:r>
              </a:p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200">
                    <a:solidFill>
                      <a:srgbClr val="1E293B"/>
                    </a:solidFill>
                    <a:latin typeface="Calibri"/>
                  </a:rPr>
                  <a:t>Thử lại, giải thích sai số</a:t>
                </a:r>
              </a:p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200">
                    <a:solidFill>
                      <a:srgbClr val="1E293B"/>
                    </a:solidFill>
                    <a:latin typeface="Calibri"/>
                  </a:rPr>
                  <a:t>Quay video, nộp kèm Nhật ký AI</a:t>
                </a:r>
              </a:p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200">
                    <a:solidFill>
                      <a:srgbClr val="1E293B"/>
                    </a:solidFill>
                    <a:latin typeface="Calibri"/>
                  </a:rPr>
                  <a:t>Tiết kiệm nước khi làm thí nghiệm</a:t>
                </a:r>
              </a:p>
            </p:txBody>
          </p:sp>
        </mc:Fallback>
      </mc:AlternateContent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TextBox 2"/>
          <p:cNvSpPr txBox="1"/>
          <p:nvPr/>
        </p:nvSpPr>
        <p:spPr>
          <a:xfrm>
            <a:off x="731520" y="274320"/>
            <a:ext cx="10972800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SƠ ĐỒ TƯ DUY BÀI HỌC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Toán 11 · Bài 4. Phương trình lượng giác cơ bản          16</a:t>
            </a:r>
          </a:p>
        </p:txBody>
      </p:sp>
      <p:cxnSp>
        <p:nvCxnSpPr>
          <p:cNvPr id="6" name="Connector 5"/>
          <p:cNvCxnSpPr/>
          <p:nvPr/>
        </p:nvCxnSpPr>
        <p:spPr>
          <a:xfrm flipH="1" flipV="1">
            <a:off x="4338888" y="2670962"/>
            <a:ext cx="1688379" cy="1283818"/>
          </a:xfrm>
          <a:prstGeom prst="line">
            <a:avLst/>
          </a:prstGeom>
          <a:ln w="44450">
            <a:solidFill>
              <a:srgbClr val="54823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 flipH="1" flipV="1">
            <a:off x="2893555" y="2357206"/>
            <a:ext cx="1445333" cy="313756"/>
          </a:xfrm>
          <a:prstGeom prst="line">
            <a:avLst/>
          </a:prstGeom>
          <a:ln w="15875">
            <a:solidFill>
              <a:srgbClr val="54823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ounded Rectangle 7"/>
          <p:cNvSpPr/>
          <p:nvPr/>
        </p:nvSpPr>
        <p:spPr>
          <a:xfrm>
            <a:off x="719086" y="1980184"/>
            <a:ext cx="2174469" cy="754044"/>
          </a:xfrm>
          <a:prstGeom prst="roundRect">
            <a:avLst>
              <a:gd name="adj" fmla="val 50000"/>
            </a:avLst>
          </a:prstGeom>
          <a:solidFill>
            <a:srgbClr val="EDF5E8"/>
          </a:solidFill>
          <a:ln w="15875">
            <a:solidFill>
              <a:srgbClr val="54823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64000" rIns="64000" tIns="25400" bIns="25400"/>
          <a:lstStyle/>
          <a:p>
            <a:pPr algn="ctr"/>
            <a:r>
              <a:rPr sz="1300" b="0">
                <a:solidFill>
                  <a:srgbClr val="000000"/>
                </a:solidFill>
                <a:latin typeface="Calibri"/>
              </a:rPr>
              <a:t>|a| ≤ 1: x</a:t>
            </a:r>
          </a:p>
          <a:p>
            <a:pPr algn="ctr"/>
            <a:r>
              <a:rPr sz="1300" b="0">
                <a:solidFill>
                  <a:srgbClr val="000000"/>
                </a:solidFill>
                <a:latin typeface="Calibri"/>
              </a:rPr>
              <a:t>= arcsin(a)+2kπ hoặc x</a:t>
            </a:r>
          </a:p>
          <a:p>
            <a:pPr algn="ctr"/>
            <a:r>
              <a:rPr sz="1300" b="0">
                <a:solidFill>
                  <a:srgbClr val="000000"/>
                </a:solidFill>
                <a:latin typeface="Calibri"/>
              </a:rPr>
              <a:t>= π−arcsin(a)+2kπ</a:t>
            </a:r>
          </a:p>
        </p:txBody>
      </p:sp>
      <p:cxnSp>
        <p:nvCxnSpPr>
          <p:cNvPr id="9" name="Connector 8"/>
          <p:cNvCxnSpPr/>
          <p:nvPr/>
        </p:nvCxnSpPr>
        <p:spPr>
          <a:xfrm flipH="1">
            <a:off x="2421369" y="2670962"/>
            <a:ext cx="1917519" cy="414467"/>
          </a:xfrm>
          <a:prstGeom prst="line">
            <a:avLst/>
          </a:prstGeom>
          <a:ln w="15875">
            <a:solidFill>
              <a:srgbClr val="54823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1191272" y="2809118"/>
            <a:ext cx="1230097" cy="552622"/>
          </a:xfrm>
          <a:prstGeom prst="roundRect">
            <a:avLst>
              <a:gd name="adj" fmla="val 50000"/>
            </a:avLst>
          </a:prstGeom>
          <a:solidFill>
            <a:srgbClr val="EDF5E8"/>
          </a:solidFill>
          <a:ln w="15875">
            <a:solidFill>
              <a:srgbClr val="54823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64000" rIns="64000" tIns="25400" bIns="25400"/>
          <a:lstStyle/>
          <a:p>
            <a:pPr algn="ctr"/>
            <a:r>
              <a:rPr sz="1300" b="0">
                <a:solidFill>
                  <a:srgbClr val="000000"/>
                </a:solidFill>
                <a:latin typeface="Calibri"/>
              </a:rPr>
              <a:t>|a| &gt; 1: vô</a:t>
            </a:r>
          </a:p>
          <a:p>
            <a:pPr algn="ctr"/>
            <a:r>
              <a:rPr sz="1300" b="0">
                <a:solidFill>
                  <a:srgbClr val="000000"/>
                </a:solidFill>
                <a:latin typeface="Calibri"/>
              </a:rPr>
              <a:t>nghiệm</a:t>
            </a:r>
          </a:p>
        </p:txBody>
      </p:sp>
      <p:sp>
        <p:nvSpPr>
          <p:cNvPr id="11" name="Oval 10"/>
          <p:cNvSpPr/>
          <p:nvPr/>
        </p:nvSpPr>
        <p:spPr>
          <a:xfrm>
            <a:off x="3641290" y="2427575"/>
            <a:ext cx="1395197" cy="486773"/>
          </a:xfrm>
          <a:prstGeom prst="ellipse">
            <a:avLst/>
          </a:prstGeom>
          <a:solidFill>
            <a:srgbClr val="E2EFDA"/>
          </a:solidFill>
          <a:ln w="31750">
            <a:solidFill>
              <a:srgbClr val="37562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64000" rIns="64000" tIns="25400" bIns="25400"/>
          <a:lstStyle/>
          <a:p>
            <a:pPr algn="ctr"/>
            <a:r>
              <a:rPr sz="1500" b="1">
                <a:solidFill>
                  <a:srgbClr val="000000"/>
                </a:solidFill>
                <a:latin typeface="Calibri"/>
              </a:rPr>
              <a:t>sinx = a</a:t>
            </a:r>
          </a:p>
        </p:txBody>
      </p:sp>
      <p:cxnSp>
        <p:nvCxnSpPr>
          <p:cNvPr id="12" name="Connector 11"/>
          <p:cNvCxnSpPr/>
          <p:nvPr/>
        </p:nvCxnSpPr>
        <p:spPr>
          <a:xfrm flipV="1">
            <a:off x="6027267" y="2670962"/>
            <a:ext cx="1688379" cy="1283818"/>
          </a:xfrm>
          <a:prstGeom prst="line">
            <a:avLst/>
          </a:prstGeom>
          <a:ln w="44450">
            <a:solidFill>
              <a:srgbClr val="BF8F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 flipV="1">
            <a:off x="7715646" y="2457917"/>
            <a:ext cx="1702889" cy="213045"/>
          </a:xfrm>
          <a:prstGeom prst="line">
            <a:avLst/>
          </a:prstGeom>
          <a:ln w="15875">
            <a:solidFill>
              <a:srgbClr val="BF8F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9418535" y="2181606"/>
            <a:ext cx="1659357" cy="552622"/>
          </a:xfrm>
          <a:prstGeom prst="roundRect">
            <a:avLst>
              <a:gd name="adj" fmla="val 50000"/>
            </a:avLst>
          </a:prstGeom>
          <a:solidFill>
            <a:srgbClr val="FFF8E1"/>
          </a:solidFill>
          <a:ln w="15875">
            <a:solidFill>
              <a:srgbClr val="BF8F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64000" rIns="64000" tIns="25400" bIns="25400"/>
          <a:lstStyle/>
          <a:p>
            <a:pPr algn="ctr"/>
            <a:r>
              <a:rPr sz="1300" b="0">
                <a:solidFill>
                  <a:srgbClr val="000000"/>
                </a:solidFill>
                <a:latin typeface="Calibri"/>
              </a:rPr>
              <a:t>|a| ≤ 1: x</a:t>
            </a:r>
          </a:p>
          <a:p>
            <a:pPr algn="ctr"/>
            <a:r>
              <a:rPr sz="1300" b="0">
                <a:solidFill>
                  <a:srgbClr val="000000"/>
                </a:solidFill>
                <a:latin typeface="Calibri"/>
              </a:rPr>
              <a:t>= ±arccos(a)+2kπ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7715646" y="2670962"/>
            <a:ext cx="1402407" cy="313756"/>
          </a:xfrm>
          <a:prstGeom prst="line">
            <a:avLst/>
          </a:prstGeom>
          <a:ln w="15875">
            <a:solidFill>
              <a:srgbClr val="BF8F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9118053" y="2809118"/>
            <a:ext cx="2260321" cy="351200"/>
          </a:xfrm>
          <a:prstGeom prst="roundRect">
            <a:avLst>
              <a:gd name="adj" fmla="val 50000"/>
            </a:avLst>
          </a:prstGeom>
          <a:solidFill>
            <a:srgbClr val="FFF8E1"/>
          </a:solidFill>
          <a:ln w="15875">
            <a:solidFill>
              <a:srgbClr val="BF8F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64000" rIns="64000" tIns="25400" bIns="25400"/>
          <a:lstStyle/>
          <a:p>
            <a:pPr algn="ctr"/>
            <a:r>
              <a:rPr sz="1300" b="0">
                <a:solidFill>
                  <a:srgbClr val="000000"/>
                </a:solidFill>
                <a:latin typeface="Calibri"/>
              </a:rPr>
              <a:t>arccos(a) và −arccos(a)</a:t>
            </a:r>
          </a:p>
        </p:txBody>
      </p:sp>
      <p:sp>
        <p:nvSpPr>
          <p:cNvPr id="17" name="Oval 16"/>
          <p:cNvSpPr/>
          <p:nvPr/>
        </p:nvSpPr>
        <p:spPr>
          <a:xfrm>
            <a:off x="7018047" y="2427575"/>
            <a:ext cx="1395197" cy="486773"/>
          </a:xfrm>
          <a:prstGeom prst="ellipse">
            <a:avLst/>
          </a:prstGeom>
          <a:solidFill>
            <a:srgbClr val="FFF2CC"/>
          </a:solidFill>
          <a:ln w="31750">
            <a:solidFill>
              <a:srgbClr val="BF8F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64000" rIns="64000" tIns="25400" bIns="25400"/>
          <a:lstStyle/>
          <a:p>
            <a:pPr algn="ctr"/>
            <a:r>
              <a:rPr sz="1500" b="1">
                <a:solidFill>
                  <a:srgbClr val="000000"/>
                </a:solidFill>
                <a:latin typeface="Calibri"/>
              </a:rPr>
              <a:t>cosx = a</a:t>
            </a:r>
          </a:p>
        </p:txBody>
      </p:sp>
      <p:cxnSp>
        <p:nvCxnSpPr>
          <p:cNvPr id="18" name="Connector 17"/>
          <p:cNvCxnSpPr/>
          <p:nvPr/>
        </p:nvCxnSpPr>
        <p:spPr>
          <a:xfrm flipH="1">
            <a:off x="4338888" y="3954780"/>
            <a:ext cx="1688379" cy="1283817"/>
          </a:xfrm>
          <a:prstGeom prst="line">
            <a:avLst/>
          </a:prstGeom>
          <a:ln w="44450">
            <a:solidFill>
              <a:srgbClr val="2F559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 flipH="1" flipV="1">
            <a:off x="2979407" y="5025552"/>
            <a:ext cx="1359481" cy="213045"/>
          </a:xfrm>
          <a:prstGeom prst="line">
            <a:avLst/>
          </a:prstGeom>
          <a:ln w="15875">
            <a:solidFill>
              <a:srgbClr val="2F559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633234" y="4849952"/>
            <a:ext cx="2346173" cy="351200"/>
          </a:xfrm>
          <a:prstGeom prst="roundRect">
            <a:avLst>
              <a:gd name="adj" fmla="val 50000"/>
            </a:avLst>
          </a:prstGeom>
          <a:solidFill>
            <a:srgbClr val="E3EEF9"/>
          </a:solidFill>
          <a:ln w="15875">
            <a:solidFill>
              <a:srgbClr val="2F559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64000" rIns="64000" tIns="25400" bIns="25400"/>
          <a:lstStyle/>
          <a:p>
            <a:pPr algn="ctr"/>
            <a:r>
              <a:rPr sz="1300" b="0">
                <a:solidFill>
                  <a:srgbClr val="000000"/>
                </a:solidFill>
                <a:latin typeface="Calibri"/>
              </a:rPr>
              <a:t>tanx=a: x = arctan(a)+kπ</a:t>
            </a:r>
          </a:p>
        </p:txBody>
      </p:sp>
      <p:cxnSp>
        <p:nvCxnSpPr>
          <p:cNvPr id="21" name="Connector 20"/>
          <p:cNvCxnSpPr/>
          <p:nvPr/>
        </p:nvCxnSpPr>
        <p:spPr>
          <a:xfrm flipH="1">
            <a:off x="2979407" y="5238597"/>
            <a:ext cx="1359481" cy="213045"/>
          </a:xfrm>
          <a:prstGeom prst="line">
            <a:avLst/>
          </a:prstGeom>
          <a:ln w="15875">
            <a:solidFill>
              <a:srgbClr val="2F559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ounded Rectangle 21"/>
          <p:cNvSpPr/>
          <p:nvPr/>
        </p:nvSpPr>
        <p:spPr>
          <a:xfrm>
            <a:off x="633234" y="5276042"/>
            <a:ext cx="2346173" cy="351200"/>
          </a:xfrm>
          <a:prstGeom prst="roundRect">
            <a:avLst>
              <a:gd name="adj" fmla="val 50000"/>
            </a:avLst>
          </a:prstGeom>
          <a:solidFill>
            <a:srgbClr val="E3EEF9"/>
          </a:solidFill>
          <a:ln w="15875">
            <a:solidFill>
              <a:srgbClr val="2F559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64000" rIns="64000" tIns="25400" bIns="25400"/>
          <a:lstStyle/>
          <a:p>
            <a:pPr algn="ctr"/>
            <a:r>
              <a:rPr sz="1300" b="0">
                <a:solidFill>
                  <a:srgbClr val="000000"/>
                </a:solidFill>
                <a:latin typeface="Calibri"/>
              </a:rPr>
              <a:t>cotx=a: x = arccot(a)+kπ</a:t>
            </a:r>
          </a:p>
        </p:txBody>
      </p:sp>
      <p:sp>
        <p:nvSpPr>
          <p:cNvPr id="23" name="Oval 22"/>
          <p:cNvSpPr/>
          <p:nvPr/>
        </p:nvSpPr>
        <p:spPr>
          <a:xfrm>
            <a:off x="3641290" y="4826713"/>
            <a:ext cx="1395197" cy="823767"/>
          </a:xfrm>
          <a:prstGeom prst="ellipse">
            <a:avLst/>
          </a:prstGeom>
          <a:solidFill>
            <a:srgbClr val="E2EFDA"/>
          </a:solidFill>
          <a:ln w="31750">
            <a:solidFill>
              <a:srgbClr val="37562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64000" rIns="64000" tIns="25400" bIns="25400"/>
          <a:lstStyle/>
          <a:p>
            <a:pPr algn="ctr"/>
            <a:r>
              <a:rPr sz="1500" b="1">
                <a:solidFill>
                  <a:srgbClr val="000000"/>
                </a:solidFill>
                <a:latin typeface="Calibri"/>
              </a:rPr>
              <a:t>tanx = a</a:t>
            </a:r>
          </a:p>
          <a:p>
            <a:pPr algn="ctr"/>
            <a:r>
              <a:rPr sz="1500" b="1">
                <a:solidFill>
                  <a:srgbClr val="000000"/>
                </a:solidFill>
                <a:latin typeface="Calibri"/>
              </a:rPr>
              <a:t>cotx = a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6027267" y="3954780"/>
            <a:ext cx="1688379" cy="1283817"/>
          </a:xfrm>
          <a:prstGeom prst="line">
            <a:avLst/>
          </a:prstGeom>
          <a:ln w="44450">
            <a:solidFill>
              <a:srgbClr val="7030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 flipV="1">
            <a:off x="7715646" y="5025552"/>
            <a:ext cx="1831667" cy="213045"/>
          </a:xfrm>
          <a:prstGeom prst="line">
            <a:avLst/>
          </a:prstGeom>
          <a:ln w="15875">
            <a:solidFill>
              <a:srgbClr val="7030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Rounded Rectangle 25"/>
          <p:cNvSpPr/>
          <p:nvPr/>
        </p:nvSpPr>
        <p:spPr>
          <a:xfrm>
            <a:off x="9547313" y="4749241"/>
            <a:ext cx="1401801" cy="552622"/>
          </a:xfrm>
          <a:prstGeom prst="roundRect">
            <a:avLst>
              <a:gd name="adj" fmla="val 50000"/>
            </a:avLst>
          </a:prstGeom>
          <a:solidFill>
            <a:srgbClr val="F3E8F7"/>
          </a:solidFill>
          <a:ln w="15875">
            <a:solidFill>
              <a:srgbClr val="7030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64000" rIns="64000" tIns="25400" bIns="25400"/>
          <a:lstStyle/>
          <a:p>
            <a:pPr algn="ctr"/>
            <a:r>
              <a:rPr sz="1300" b="0">
                <a:solidFill>
                  <a:srgbClr val="000000"/>
                </a:solidFill>
                <a:latin typeface="Calibri"/>
              </a:rPr>
              <a:t>Đặt t = u(x)</a:t>
            </a:r>
          </a:p>
          <a:p>
            <a:pPr algn="ctr"/>
            <a:r>
              <a:rPr sz="1300" b="0">
                <a:solidFill>
                  <a:srgbClr val="000000"/>
                </a:solidFill>
                <a:latin typeface="Calibri"/>
              </a:rPr>
              <a:t>→ PTLG cơ bản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7715646" y="5238597"/>
            <a:ext cx="1617037" cy="313756"/>
          </a:xfrm>
          <a:prstGeom prst="line">
            <a:avLst/>
          </a:prstGeom>
          <a:ln w="15875">
            <a:solidFill>
              <a:srgbClr val="7030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Rounded Rectangle 27"/>
          <p:cNvSpPr/>
          <p:nvPr/>
        </p:nvSpPr>
        <p:spPr>
          <a:xfrm>
            <a:off x="9332683" y="5376753"/>
            <a:ext cx="1831061" cy="351200"/>
          </a:xfrm>
          <a:prstGeom prst="roundRect">
            <a:avLst>
              <a:gd name="adj" fmla="val 50000"/>
            </a:avLst>
          </a:prstGeom>
          <a:solidFill>
            <a:srgbClr val="F3E8F7"/>
          </a:solidFill>
          <a:ln w="15875">
            <a:solidFill>
              <a:srgbClr val="7030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64000" rIns="64000" tIns="25400" bIns="25400"/>
          <a:lstStyle/>
          <a:p>
            <a:pPr algn="ctr"/>
            <a:r>
              <a:rPr sz="1300" b="0">
                <a:solidFill>
                  <a:srgbClr val="000000"/>
                </a:solidFill>
                <a:latin typeface="Calibri"/>
              </a:rPr>
              <a:t>Điều kiện xác định</a:t>
            </a:r>
          </a:p>
        </p:txBody>
      </p:sp>
      <p:sp>
        <p:nvSpPr>
          <p:cNvPr id="29" name="Oval 28"/>
          <p:cNvSpPr/>
          <p:nvPr/>
        </p:nvSpPr>
        <p:spPr>
          <a:xfrm>
            <a:off x="6810021" y="4826713"/>
            <a:ext cx="1811249" cy="823767"/>
          </a:xfrm>
          <a:prstGeom prst="ellipse">
            <a:avLst/>
          </a:prstGeom>
          <a:solidFill>
            <a:srgbClr val="FFF2CC"/>
          </a:solidFill>
          <a:ln w="31750">
            <a:solidFill>
              <a:srgbClr val="BF8F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64000" rIns="64000" tIns="25400" bIns="25400"/>
          <a:lstStyle/>
          <a:p>
            <a:pPr algn="ctr"/>
            <a:r>
              <a:rPr sz="1500" b="1">
                <a:solidFill>
                  <a:srgbClr val="000000"/>
                </a:solidFill>
                <a:latin typeface="Calibri"/>
              </a:rPr>
              <a:t>PT đưa về</a:t>
            </a:r>
          </a:p>
          <a:p>
            <a:pPr algn="ctr"/>
            <a:r>
              <a:rPr sz="1500" b="1">
                <a:solidFill>
                  <a:srgbClr val="000000"/>
                </a:solidFill>
                <a:latin typeface="Calibri"/>
              </a:rPr>
              <a:t>dạng cơ bản</a:t>
            </a:r>
          </a:p>
        </p:txBody>
      </p:sp>
      <p:sp>
        <p:nvSpPr>
          <p:cNvPr id="30" name="Oval 29"/>
          <p:cNvSpPr/>
          <p:nvPr/>
        </p:nvSpPr>
        <p:spPr>
          <a:xfrm>
            <a:off x="5019941" y="3682342"/>
            <a:ext cx="2014652" cy="544875"/>
          </a:xfrm>
          <a:prstGeom prst="ellipse">
            <a:avLst/>
          </a:prstGeom>
          <a:solidFill>
            <a:srgbClr val="002060"/>
          </a:solidFill>
          <a:ln w="25400">
            <a:solidFill>
              <a:srgbClr val="000B1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64000" rIns="64000" tIns="25400" bIns="25400"/>
          <a:lstStyle/>
          <a:p>
            <a:pPr algn="ctr"/>
            <a:r>
              <a:rPr sz="1700" b="1">
                <a:solidFill>
                  <a:srgbClr val="FFFFFF"/>
                </a:solidFill>
                <a:latin typeface="Calibri"/>
              </a:rPr>
              <a:t>PTLG CƠ BẢN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972800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BÀI TẬP CỦA BẠN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Toán 11 · Bài 4. Phương trình lượng giác cơ bản          17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463040"/>
            <a:ext cx="4572000" cy="4572000"/>
          </a:xfrm>
          <a:prstGeom prst="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QR_CungCo_Bai4_Toan1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0120" y="1691640"/>
            <a:ext cx="4114800" cy="41148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760720" y="1554480"/>
            <a:ext cx="6035040" cy="3108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600">
                <a:solidFill>
                  <a:srgbClr val="1E293B"/>
                </a:solidFill>
                <a:latin typeface="Calibri"/>
              </a:rPr>
              <a:t>Quét mã QR bằng điện thoại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600">
                <a:solidFill>
                  <a:srgbClr val="1E293B"/>
                </a:solidFill>
                <a:latin typeface="Calibri"/>
              </a:rPr>
              <a:t>Nhập họ tên và lớp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600">
                <a:solidFill>
                  <a:srgbClr val="1E293B"/>
                </a:solidFill>
                <a:latin typeface="Calibri"/>
              </a:rPr>
              <a:t>7 câu – làm trong 7 phút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600">
                <a:solidFill>
                  <a:srgbClr val="1E293B"/>
                </a:solidFill>
                <a:latin typeface="Calibri"/>
              </a:rPr>
              <a:t>Nộp bài, xem lời giải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760720" y="4754880"/>
            <a:ext cx="603504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1800" b="1">
                <a:solidFill>
                  <a:srgbClr val="1E40AF"/>
                </a:solidFill>
                <a:latin typeface="Calibri"/>
                <a:hlinkClick r:id="rId3"/>
              </a:rPr>
              <a:t>trangtu66.github.io/Taode_thi_online/cc_bai4_t11.html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TTT</dc:creator>
  <cp:keywords/>
  <dc:description>generated using python-pptx</dc:description>
  <cp:lastModifiedBy>TTT</cp:lastModifiedBy>
  <cp:revision>1</cp:revision>
  <dcterms:created xsi:type="dcterms:W3CDTF">2013-01-27T09:14:16Z</dcterms:created>
  <dcterms:modified xsi:type="dcterms:W3CDTF">2013-01-27T09:15:58Z</dcterms:modified>
  <cp:category/>
</cp:coreProperties>
</file>