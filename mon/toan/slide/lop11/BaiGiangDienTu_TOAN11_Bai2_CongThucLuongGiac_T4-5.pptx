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Bìa. Đáp án, lời giải hiện theo click. Nút GeoGebra mở trang online (cần Internet).</a:t>
            </a:r>
          </a:p>
          <a:p>
            <a:r>
              <a:t>Khối 11 năm học 2026 – 2027 không có HS khuyết tật; vẫn ghi đủ chữ trên slide để HS tự đọc lại.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Yêu cầu cần đạt lấy từ khung 'Kiến thức, kĩ năng' SGK tr.17.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Chiếu để HS nắm lộ trình bài học.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Tiết 1 (45'): Khởi động 4' – HĐ1, khung 8' – Ví dụ 1, 2: 7' – LT1: 5' – Vận dụng 1, GeoGebra 5' – HĐ2, khung, Ví dụ 3: 8' – LT2: 5' – Tổng kết 3'.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Chiếu video mở đầu (ảnh thật, lồng tiếng, phụ đề – không nói đáp án), HS quét QR xem lại. 4'. HS dự đoán: k = 10? (sai – cộng biên độ). Giải ở Vận dụng 1 cùng tiết.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HĐ1 – 5'. Click 1–3. Chốt khung công thức cộng (click 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3'. HS chép khung. Mẹo: 'cos thì cos cos sin sin, dấu ngược'; 'sin thì sin cos cos sin, dấu giữ'.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GV trình bày. Click 1–3.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LT1: HS làm 4', click 1, 2. Vận dụng 1: giải tình huống mở đầu (click 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2'. HS kéo thử trước khi xem lời giải.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HĐ2: lấy b = a (click 1). Chốt khung nhân đôi và công thức hạ bậc (click 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Ví dụ 3: click 1, 2 – xét dấu sin a. LT2: HS làm 3', click 3 (dùng công thức hạ bậc).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4'. Click 1–4. Đáp án đã kiểm tra bằng sympy.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Tiết 2 (45'): HĐ3, khung 5' – Ví dụ 4, LT3: 7' – HĐ4, khung 5' – Ví dụ 5, LT4: 7' – Vận dụng 2: 6' – Rung chuông vàng 10' – Củng cố 5'.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HĐ3: cộng, trừ vế theo vế các công thức cộng (click 1). Chốt khung (click 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Ví dụ 4: click 1, 2. LT3: HS làm 3', click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HĐ4: đặt u = a − b, v = a + b (click 1). Chốt khung (click 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Ví dụ 5: click 1. LT4: HS làm 3', click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6'. HS làm cặp. Click 1, 2 (đối chiếu KHBD). Phím 4: f1 = 770 Hz, f2 = 1 209 Hz.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Đáp số để HS tự đối chiếu (đã kiểm tra bằng sympy).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Đáp số (đã kiểm tra bằng sympy).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Mỗi HS một bảng con. Mỗi câu 30 giây (Đ/S, trả lời ngắn, thực tế: 60 giây). Sai rời sàn thi; có thể 'cứu trợ' 1 lần. Cấu trúc 5 câu theo đề thi từ 2025: nhiều lựa chọn, Đúng/Sai, trả lời ngắn, thực tế. Đáp án đã kiểm tra bằng Python.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giây. Click 1: đáp án. A: sai dấu; C: thiếu hệ số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giây. Click 1: đáp án.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giây. Click 1–4. Đ – S – Đ – 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giây. Click 1. Sai lầm: dùng nhầm công thức cos(a + b).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giây. Click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3'. HS quét QR làm bài củng cố online ở nhà. Đáp án chỉ mở khi GV cho phép.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Củng cố cuối bài.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ẩn – chỉ GV xem khi chuẩn bị.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ẩn – chỉ GV xem khi chuẩn bị.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trangtu66.github.io/Taode_thi_online/mon/toan/video/lop11/VIDEO_MoDau_TOAN11_Bai2_CongThucLuongGiac.mp4" TargetMode="External"/><Relationship Id="rId4" Type="http://schemas.openxmlformats.org/officeDocument/2006/relationships/image" Target="../media/image1.png"/><Relationship Id="rId5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trangtu66.github.io/Taode_thi_online/GGB_T11_Bai2_1_SongAm.html" TargetMode="External"/><Relationship Id="rId4" Type="http://schemas.openxmlformats.org/officeDocument/2006/relationships/image" Target="../media/image3.png"/><Relationship Id="rId5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.png"/><Relationship Id="rId4" Type="http://schemas.openxmlformats.org/officeDocument/2006/relationships/hyperlink" Target="https://trangtu66.github.io/Taode_thi_online/cc_bai2_t11.html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72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" cy="2926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10332720" cy="3291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FCD34D"/>
                </a:solidFill>
                <a:latin typeface="Cambria"/>
              </a:rPr>
              <a:t>CHƯƠNG I. HÀM SỐ LƯỢNG GIÁC VÀ PHƯƠNG TRÌNH LƯỢNG GIÁC</a:t>
            </a:r>
          </a:p>
          <a:p>
            <a:pPr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BÀI 2</a:t>
            </a:r>
          </a:p>
          <a:p>
            <a:pPr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mbria"/>
              </a:rPr>
              <a:t>CÔNG THỨC LƯỢNG GIÁC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343400"/>
            <a:ext cx="1033272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2 tiết: T4 – T5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C7D2FE"/>
                </a:solidFill>
              </a:rPr>
              <a:t>GV Trương Tử Trang – THPT Vĩnh Thạnh     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MỤC TIÊU BÀI HỌC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2. Công thức lượng giác – Toán 11         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1064240" cy="2142744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453896"/>
            <a:ext cx="10735056" cy="2069591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Yêu cầu cần đạt</a:t>
            </a:r>
            <a:r>
              <a:rPr sz="2200">
                <a:solidFill>
                  <a:srgbClr val="1E293B"/>
                </a:solidFill>
                <a:latin typeface="Calibri"/>
              </a:rPr>
              <a:t> (SGK tr.17)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Mô tả các phép biến đổi lượng giác cơ bản: công thức cộng; công thức góc nhân đôi; công thức biến đổi tích thành tổng và tổng thành tích.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Giải quyết một số vấn đề thực tiễn gắn với giá trị lượng giác của góc lượng giác và các phép biến đổi lượng giác.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88664"/>
            <a:ext cx="11064240" cy="2743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 b="1">
                <a:solidFill>
                  <a:srgbClr val="1E293B"/>
                </a:solidFill>
                <a:latin typeface="Calibri"/>
              </a:rPr>
              <a:t>Năng lực toán học:</a:t>
            </a:r>
            <a:r>
              <a:rPr sz="2200">
                <a:solidFill>
                  <a:srgbClr val="1E293B"/>
                </a:solidFill>
                <a:latin typeface="Calibri"/>
              </a:rPr>
              <a:t> tư duy và lập luận (chứng minh đẳng thức); mô hình hoá (sóng âm, âm thanh bàn phím, dao động); giải quyết vấn đề; sử dụng công cụ (GeoGebra).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 b="1">
                <a:solidFill>
                  <a:srgbClr val="1E293B"/>
                </a:solidFill>
                <a:latin typeface="Calibri"/>
              </a:rPr>
              <a:t>Phẩm chất:</a:t>
            </a:r>
            <a:r>
              <a:rPr sz="2200">
                <a:solidFill>
                  <a:srgbClr val="1E293B"/>
                </a:solidFill>
                <a:latin typeface="Calibri"/>
              </a:rPr>
              <a:t> chăm chỉ, trung thực, trách nhiệm.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LỘ TRÌNH 2 TIẾT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2. Công thức lượng giác – Toán 11         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1188720" cy="73152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27632"/>
            <a:ext cx="118872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T4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645920"/>
            <a:ext cx="60350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1. Công thức cộng; Vận dụng 1. 2. Công thức nhân đôi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1645920"/>
            <a:ext cx="3749039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🎮 Ai nhanh hơn · GeoGebra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514600"/>
            <a:ext cx="1188720" cy="73152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587752"/>
            <a:ext cx="118872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T5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606040"/>
            <a:ext cx="60350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3. Tích thành tổng. 4. Tổng thành tích; Vận dụng 2; bài tập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606040"/>
            <a:ext cx="3749039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🎮 Rung chuông vàng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72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" cy="2926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10332720" cy="3291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FCD34D"/>
                </a:solidFill>
                <a:latin typeface="Cambria"/>
              </a:rPr>
              <a:t>TIẾT 1 (T4)</a:t>
            </a:r>
          </a:p>
          <a:p>
            <a:pPr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mbria"/>
              </a:rPr>
              <a:t>Công thức cộng. Công thức nhân đôi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343400"/>
            <a:ext cx="1033272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Mục tiêu tiết học: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• Xây dựng và vận dụng công thức cộng.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• Xây dựng và vận dụng công thức nhân đôi, hạ bậc.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C7D2FE"/>
                </a:solidFill>
              </a:rPr>
              <a:t>GV Trương Tử Trang – THPT Vĩnh Thạnh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44607" y="457200"/>
            <a:ext cx="1298448" cy="457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KHỞI ĐỘNG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67435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KHỞI ĐỘNG – ÂM KẾT HỢP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2. Công thức lượng giác – Toán 11         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417320"/>
                <a:ext cx="6583680" cy="38404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Một thiết bị trễ kĩ thuật số nhận được nốt thuần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(t)=5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và phát lại nốt thuần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(t)=5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thì âm kết hợp là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f(t)=</m:t>
                    </m:r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(t)+</m:t>
                    </m:r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(t)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 </a:t>
                </a: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Chứng tỏ rằng âm kết hợp viết được dưới dạng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f(t)=k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(t+φ)</m:t>
                    </m:r>
                  </m:oMath>
                </a14:m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, tức là một sóng âm hình sin. Hãy xác định biên độ âm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 và pha ban đầu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sepChr m:val="≤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64748B"/>
                    </a:solidFill>
                    <a:latin typeface="Calibri"/>
                  </a:rPr>
                  <a:t>(SGK Toán 11 tập một, tr.17)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417320"/>
                <a:ext cx="6583680" cy="38404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Một thiết bị trễ kĩ thuật số nhận được nốt thuần </a:t>
                </a:r>
                <a:r>
                  <a:rPr lang="vi-VN"/>
                  <a:t>f_1(t)=5\sin t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và phát lại nốt thuần </a:t>
                </a:r>
                <a:r>
                  <a:rPr lang="vi-VN"/>
                  <a:t>f_2(t)=5\cos t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thì âm kết hợp là </a:t>
                </a:r>
                <a:r>
                  <a:rPr lang="vi-VN"/>
                  <a:t>f(t)=f_1(t)+f_2(t)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 </a:t>
                </a: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Chứng tỏ rằng âm kết hợp viết được dưới dạng </a:t>
                </a:r>
                <a:r>
                  <a:rPr lang="vi-VN"/>
                  <a:t>f(t)=k\sin(t+\varphi)</a:t>
                </a: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, tức là một sóng âm hình sin. Hãy xác định biên độ âm </a:t>
                </a:r>
                <a:r>
                  <a:rPr lang="vi-VN"/>
                  <a:t>k</a:t>
                </a: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 và pha ban đầu </a:t>
                </a:r>
                <a:r>
                  <a:rPr lang="vi-VN"/>
                  <a:t>\varphi</a:t>
                </a: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(-\pi\le\varphi\le\pi)</a:t>
                </a: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64748B"/>
                    </a:solidFill>
                    <a:latin typeface="Calibri"/>
                  </a:rPr>
                  <a:t>(SGK Toán 11 tập một, tr.17)</a:t>
                </a:r>
              </a:p>
            </p:txBody>
          </p:sp>
        </mc:Fallback>
      </mc:AlternateContent>
      <p:sp>
        <p:nvSpPr>
          <p:cNvPr id="8" name="Rounded Rectangle 7">
            <a:hlinkClick r:id="rId3"/>
          </p:cNvPr>
          <p:cNvSpPr/>
          <p:nvPr/>
        </p:nvSpPr>
        <p:spPr>
          <a:xfrm>
            <a:off x="548640" y="5349240"/>
            <a:ext cx="3931920" cy="64008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▶  VIDEO MỞ ĐẦU</a:t>
            </a:r>
          </a:p>
        </p:txBody>
      </p:sp>
      <p:pic>
        <p:nvPicPr>
          <p:cNvPr id="9" name="Picture 8" descr="qr_vide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5074920"/>
            <a:ext cx="1188720" cy="1188720"/>
          </a:xfrm>
          <a:prstGeom prst="rect">
            <a:avLst/>
          </a:prstGeom>
        </p:spPr>
      </p:pic>
      <p:pic>
        <p:nvPicPr>
          <p:cNvPr id="10" name="Picture 9" descr="amthanh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2011680"/>
            <a:ext cx="438912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37015" y="457200"/>
            <a:ext cx="2606040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HÌNH THÀNH KIẾN THỨC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366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1. CÔNG THỨC CỘNG – HĐ1 (SGK TR.17)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2. Công thức lượng giác – Toán 11         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124587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HĐ1.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a) Cho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a=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b=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, chứng tỏ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(a−b)=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b+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 b) Viết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a+b=a−(−b)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, tính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(a+b)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 c) Viết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(a−b)=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["/>
                        <m:sepChr m:val="+"/>
                        <m:endChr m:val="]"/>
                      </m:dPr>
                      <m:e>
                        <m:d>
                          <m:dPr>
                            <m:sepChr m:val=""/>
                          </m:dPr>
                          <m:e>
                            <m:f>
                              <m:fPr>
                                <m:type m:val="bar"/>
                              </m:fPr>
                              <m:num>
                                <m:r>
                                  <a:rPr lang="vi-VN" sz="21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vi-VN" sz="21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</m:d>
                      </m:e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d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, tính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(a−b)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124587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HĐ1.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a) Cho </a:t>
                </a:r>
                <a:r>
                  <a:rPr lang="vi-VN"/>
                  <a:t>a=\frac{\pi}{3}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b=\frac{\pi}{6}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, chứng tỏ </a:t>
                </a:r>
                <a:r>
                  <a:rPr lang="vi-VN"/>
                  <a:t>\cos(a-b)=\cos a\cos b+\sin a\sin b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 b) Viết </a:t>
                </a:r>
                <a:r>
                  <a:rPr lang="vi-VN"/>
                  <a:t>a+b=a-(-b)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, tính </a:t>
                </a:r>
                <a:r>
                  <a:rPr lang="vi-VN"/>
                  <a:t>\cos(a+b)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 c) Viết </a:t>
                </a:r>
                <a:r>
                  <a:rPr lang="vi-VN"/>
                  <a:t>\sin(a-b)=\cos\left[\left(\frac{\pi}{2}-a\right)+b\right]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, tính </a:t>
                </a:r>
                <a:r>
                  <a:rPr lang="vi-VN"/>
                  <a:t>\sin(a-b)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2727198"/>
            <a:ext cx="11064240" cy="101727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763774"/>
                <a:ext cx="10735056" cy="94411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·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·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763774"/>
                <a:ext cx="10735056" cy="94411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\cos\frac{\pi}{6}=\frac{\sqrt{3}}{2}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\frac{1}{2}\cdot\frac{\sqrt{3}}{2}+\frac{\sqrt{3}}{2}\cdot\frac{1}{2}=\frac{\sqrt{3}}{2}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0" name="s2_nen"/>
          <p:cNvSpPr/>
          <p:nvPr/>
        </p:nvSpPr>
        <p:spPr>
          <a:xfrm>
            <a:off x="548640" y="3854196"/>
            <a:ext cx="11064240" cy="58521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s2_chu"/>
              <p:cNvSpPr txBox="1"/>
              <p:nvPr/>
            </p:nvSpPr>
            <p:spPr>
              <a:xfrm>
                <a:off x="713232" y="3890772"/>
                <a:ext cx="10735056" cy="51206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(a+b)=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(−b)+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(−b)=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b−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713232" y="3890772"/>
                <a:ext cx="10735056" cy="51206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\cos(a+b)=\cos a\cos(-b)+\sin a\sin(-b)=\cos a\cos b-\sin a\sin b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2" name="s3_nen"/>
          <p:cNvSpPr/>
          <p:nvPr/>
        </p:nvSpPr>
        <p:spPr>
          <a:xfrm>
            <a:off x="548640" y="4549140"/>
            <a:ext cx="11064240" cy="873251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s3_chu"/>
              <p:cNvSpPr txBox="1"/>
              <p:nvPr/>
            </p:nvSpPr>
            <p:spPr>
              <a:xfrm>
                <a:off x="713232" y="4585716"/>
                <a:ext cx="10735056" cy="800099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(a−b)=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sepChr m:val=""/>
                      </m:dPr>
                      <m:e>
                        <m:f>
                          <m:fPr>
                            <m:type m:val="bar"/>
                          </m:fPr>
                          <m:num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d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b−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sepChr m:val=""/>
                      </m:dPr>
                      <m:e>
                        <m:f>
                          <m:fPr>
                            <m:type m:val="bar"/>
                          </m:fPr>
                          <m:num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d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b=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b−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4585716"/>
                <a:ext cx="10735056" cy="800099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c) </a:t>
                </a:r>
                <a:r>
                  <a:rPr lang="vi-VN"/>
                  <a:t>\sin(a-b)=\cos\left(\frac{\pi}{2}-a\right)\cos b-\sin\left(\frac{\pi}{2}-a\right)\sin b=\sin a\cos b-\cos a\sin b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37015" y="457200"/>
            <a:ext cx="2606040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HÌNH THÀNH KIẾN THỨC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366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CÔNG THỨC CỘNG (SGK TR.17)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2. Công thức lượng giác – Toán 11         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1463040"/>
            <a:ext cx="9235440" cy="3396996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1627632" y="1499616"/>
                <a:ext cx="8906256" cy="332384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5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5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(a−b)=</m:t>
                    </m:r>
                    <m:r>
                      <m:rPr>
                        <m:sty m:val="p"/>
                      </m:rPr>
                      <a:rPr lang="vi-VN" sz="25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5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5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5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5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5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b+</m:t>
                    </m:r>
                    <m:r>
                      <m:rPr>
                        <m:sty m:val="p"/>
                      </m:rPr>
                      <a:rPr lang="vi-VN" sz="25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5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5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5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5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5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5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5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(a+b)=</m:t>
                    </m:r>
                    <m:r>
                      <m:rPr>
                        <m:sty m:val="p"/>
                      </m:rPr>
                      <a:rPr lang="vi-VN" sz="25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5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5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5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5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5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b−</m:t>
                    </m:r>
                    <m:r>
                      <m:rPr>
                        <m:sty m:val="p"/>
                      </m:rPr>
                      <a:rPr lang="vi-VN" sz="25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5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5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5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5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5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5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5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(a−b)=</m:t>
                    </m:r>
                    <m:r>
                      <m:rPr>
                        <m:sty m:val="p"/>
                      </m:rPr>
                      <a:rPr lang="vi-VN" sz="25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5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5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5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5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5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b−</m:t>
                    </m:r>
                    <m:r>
                      <m:rPr>
                        <m:sty m:val="p"/>
                      </m:rPr>
                      <a:rPr lang="vi-VN" sz="25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5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5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5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5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5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5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5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(a+b)=</m:t>
                    </m:r>
                    <m:r>
                      <m:rPr>
                        <m:sty m:val="p"/>
                      </m:rPr>
                      <a:rPr lang="vi-VN" sz="25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5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5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5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5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5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b+</m:t>
                    </m:r>
                    <m:r>
                      <m:rPr>
                        <m:sty m:val="p"/>
                      </m:rPr>
                      <a:rPr lang="vi-VN" sz="25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5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5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5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5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5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5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vi-VN" sz="25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(a−b)=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a:rPr lang="vi-VN" sz="25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vi-VN" sz="25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5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a−</m:t>
                        </m:r>
                        <m:r>
                          <m:rPr>
                            <m:sty m:val="p"/>
                          </m:rPr>
                          <a:rPr lang="vi-VN" sz="25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vi-VN" sz="25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5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num>
                      <m:den>
                        <m:r>
                          <a:rPr lang="vi-VN" sz="25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m:rPr>
                            <m:sty m:val="p"/>
                          </m:rPr>
                          <a:rPr lang="vi-VN" sz="25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vi-VN" sz="25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5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vi-VN" sz="25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vi-VN" sz="25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5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den>
                    </m:f>
                  </m:oMath>
                </a14:m>
                <a:r>
                  <a:rPr sz="2500">
                    <a:solidFill>
                      <a:srgbClr val="1E293B"/>
                    </a:solidFill>
                    <a:latin typeface="Calibri"/>
                  </a:rPr>
                  <a:t>;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5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vi-VN" sz="25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(a+b)=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a:rPr lang="vi-VN" sz="25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vi-VN" sz="25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5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a+</m:t>
                        </m:r>
                        <m:r>
                          <m:rPr>
                            <m:sty m:val="p"/>
                          </m:rPr>
                          <a:rPr lang="vi-VN" sz="25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vi-VN" sz="25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5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num>
                      <m:den>
                        <m:r>
                          <a:rPr lang="vi-VN" sz="25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m:rPr>
                            <m:sty m:val="p"/>
                          </m:rPr>
                          <a:rPr lang="vi-VN" sz="25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vi-VN" sz="25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5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vi-VN" sz="25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vi-VN" sz="25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5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den>
                    </m:f>
                  </m:oMath>
                </a14:m>
              </a:p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64748B"/>
                    </a:solidFill>
                    <a:latin typeface="Calibri"/>
                  </a:rPr>
                  <a:t>(giả thiết các biểu thức đều có nghĩa).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1627632" y="1499616"/>
                <a:ext cx="8906256" cy="332384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\cos(a-b)=\cos a\cos b+\sin a\sin b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\cos(a+b)=\cos a\cos b-\sin a\sin b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\sin(a-b)=\sin a\cos b-\cos a\sin b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\sin(a+b)=\sin a\cos b+\cos a\sin b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\tan(a-b)=\frac{\tan a-\tan b}{1+\tan a\tan b}</a:t>
                </a:r>
                <a:r>
                  <a:rPr sz="2500">
                    <a:solidFill>
                      <a:srgbClr val="1E293B"/>
                    </a:solidFill>
                    <a:latin typeface="Calibri"/>
                  </a:rPr>
                  <a:t>;  </a:t>
                </a:r>
                <a:r>
                  <a:rPr lang="vi-VN"/>
                  <a:t>\tan(a+b)=\frac{\tan a+\tan b}{1-\tan a\tan b}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64748B"/>
                    </a:solidFill>
                    <a:latin typeface="Calibri"/>
                  </a:rPr>
                  <a:t>(giả thiết các biểu thức đều có nghĩa).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37015" y="457200"/>
            <a:ext cx="2606040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HÌNH THÀNH KIẾN THỨC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366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VÍ DỤ 1 – VÍ DỤ 2 (SGK TR.17 – 18)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2. Công thức lượng giác – Toán 11          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659891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Ví dụ 1.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Không dùng máy tính, hãy tính: 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659891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Ví dụ 1.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Không dùng máy tính, hãy tính: a) </a:t>
                </a:r>
                <a:r>
                  <a:rPr lang="vi-VN"/>
                  <a:t>\cos 75^\circ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b) </a:t>
                </a:r>
                <a:r>
                  <a:rPr lang="vi-VN"/>
                  <a:t>\tan\frac{\pi}{12}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2141220"/>
            <a:ext cx="11064240" cy="1053084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177796"/>
                <a:ext cx="10735056" cy="979932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·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·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177796"/>
                <a:ext cx="10735056" cy="979932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\cos 75^\circ=\cos(45^\circ+30^\circ)=\frac{\sqrt{2}}{2}\cdot\frac{\sqrt{3}}{2}-\frac{\sqrt{2}}{2}\cdot\frac{1}{2}=\frac{\sqrt{6}-\sqrt{2}}{4}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0" name="s2_nen"/>
          <p:cNvSpPr/>
          <p:nvPr/>
        </p:nvSpPr>
        <p:spPr>
          <a:xfrm>
            <a:off x="548640" y="3304032"/>
            <a:ext cx="11064240" cy="1053084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s2_chu"/>
              <p:cNvSpPr txBox="1"/>
              <p:nvPr/>
            </p:nvSpPr>
            <p:spPr>
              <a:xfrm>
                <a:off x="713232" y="3340608"/>
                <a:ext cx="10735056" cy="979932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sepChr m:val=""/>
                      </m:dPr>
                      <m:e>
                        <m:f>
                          <m:fPr>
                            <m:type m:val="bar"/>
                          </m:fPr>
                          <m:num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d>
                              <m:dPr>
                                <m:sepChr m:val=""/>
                              </m:dPr>
                              <m:e>
                                <m:rad>
                                  <m:radPr>
                                    <m:degHide m:val="on"/>
                                  </m:radPr>
                                  <m:deg/>
                                  <m:e>
                                    <m:r>
                                      <a:rPr lang="vi-VN" sz="2200" b="0">
                                        <a:solidFill>
                                          <a:srgbClr val="1E293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3−1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=2−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713232" y="3340608"/>
                <a:ext cx="10735056" cy="979932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\tan\frac{\pi}{12}=\tan\left(\frac{\pi}{3}-\frac{\pi}{4}\right)=\frac{\sqrt{3}-1}{1+\sqrt{3}}=\frac{(\sqrt{3}-1)^2}{3-1}=2-\sqrt{3}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s3_chu"/>
              <p:cNvSpPr txBox="1"/>
              <p:nvPr/>
            </p:nvSpPr>
            <p:spPr>
              <a:xfrm>
                <a:off x="548640" y="4466844"/>
                <a:ext cx="11064240" cy="659891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Ví dụ 2.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Chứng minh rằng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x+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sepChr m:val="+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e>
                        <m:f>
                          <m:fPr>
                            <m:type m:val="bar"/>
                          </m:fPr>
                          <m:num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2" name="TextBox 11"/>
              <p:cNvSpPr txBox="1"/>
              <p:nvPr/>
            </p:nvSpPr>
            <p:spPr>
              <a:xfrm>
                <a:off x="548640" y="4466844"/>
                <a:ext cx="11064240" cy="659891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Ví dụ 2.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Chứng minh rằng </a:t>
                </a:r>
                <a:r>
                  <a:rPr lang="vi-VN"/>
                  <a:t>\sin x+\cos x=\sqrt{2}\sin\left(x+\frac{\pi}{4}\right)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3" name="s4_nen"/>
          <p:cNvSpPr/>
          <p:nvPr/>
        </p:nvSpPr>
        <p:spPr>
          <a:xfrm>
            <a:off x="548640" y="5236464"/>
            <a:ext cx="11064240" cy="1053084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s4_chu"/>
              <p:cNvSpPr txBox="1"/>
              <p:nvPr/>
            </p:nvSpPr>
            <p:spPr>
              <a:xfrm>
                <a:off x="713232" y="5273040"/>
                <a:ext cx="10735056" cy="979932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sepChr m:val="+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e>
                        <m:f>
                          <m:fPr>
                            <m:type m:val="bar"/>
                          </m:fPr>
                          <m:num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d>
                      <m:dPr>
                        <m:sepChr m:val=""/>
                      </m:dPr>
                      <m:e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·</m:t>
                        </m:r>
                        <m:f>
                          <m:fPr>
                            <m:type m:val="bar"/>
                          </m:fPr>
                          <m:num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·</m:t>
                        </m:r>
                        <m:f>
                          <m:fPr>
                            <m:type m:val="bar"/>
                          </m:fPr>
                          <m:num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x+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4" name="TextBox 13"/>
              <p:cNvSpPr txBox="1"/>
              <p:nvPr/>
            </p:nvSpPr>
            <p:spPr>
              <a:xfrm>
                <a:off x="713232" y="5273040"/>
                <a:ext cx="10735056" cy="979932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\sqrt{2}\sin\left(x+\frac{\pi}{4}\right)=\sqrt{2}\left(\sin x\cdot\frac{\sqrt{2}}{2}+\cos x\cdot\frac{\sqrt{2}}{2}\right)=\sin x+\cos x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44607" y="457200"/>
            <a:ext cx="1298448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LUYỆN TẬP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67435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LUYỆN TẬP 1 – VẬN DỤNG 1 (SGK TR.18)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2. Công thức lượng giác – Toán 11          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124587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Luyện tập 1.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Chứng minh rằng: 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x−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sepChr m:val=""/>
                      </m:d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; 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sepChr m:val=""/>
                      </m:dPr>
                      <m:e>
                        <m:f>
                          <m:fPr>
                            <m:type m:val="bar"/>
                          </m:fPr>
                          <m:num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≠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≠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3π</m:t>
                            </m:r>
                          </m:num>
                          <m:den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</m:d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124587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Luyện tập 1.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Chứng minh rằng: a) </a:t>
                </a:r>
                <a:r>
                  <a:rPr lang="vi-VN"/>
                  <a:t>\sin x-\cos x=\sqrt{2}\sin\left(x-\frac{\pi}{4}\right)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; b) </a:t>
                </a:r>
                <a:r>
                  <a:rPr lang="vi-VN"/>
                  <a:t>\tan\left(\frac{\pi}{4}-x\right)=\frac{1-\tan x}{1+\tan x}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\left(x\ne\frac{\pi}{2}+k\pi,\ x\ne\frac{3\pi}{4}+k\pi,\ k\in\mathbb{Z}\right)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2727198"/>
            <a:ext cx="11064240" cy="101727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763774"/>
                <a:ext cx="10735056" cy="94411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sepChr m:val=""/>
                      </m:d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d>
                      <m:dPr>
                        <m:sepChr m:val="·"/>
                      </m:dPr>
                      <m:e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e>
                        <m:f>
                          <m:fPr>
                            <m:type m:val="bar"/>
                          </m:fPr>
                          <m:num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a:rPr lang="vi-VN" sz="21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e>
                        <m:f>
                          <m:fPr>
                            <m:type m:val="bar"/>
                          </m:fPr>
                          <m:num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a:rPr lang="vi-VN" sz="21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x−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763774"/>
                <a:ext cx="10735056" cy="94411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\sqrt{2}\sin\left(x-\frac{\pi}{4}\right)=\sqrt{2}\left(\sin x\cdot\frac{\sqrt{2}}{2}-\cos x\cdot\frac{\sqrt{2}}{2}\right)=\sin x-\cos x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0" name="s2_nen"/>
          <p:cNvSpPr/>
          <p:nvPr/>
        </p:nvSpPr>
        <p:spPr>
          <a:xfrm>
            <a:off x="548640" y="3854196"/>
            <a:ext cx="11064240" cy="101727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s2_chu"/>
              <p:cNvSpPr txBox="1"/>
              <p:nvPr/>
            </p:nvSpPr>
            <p:spPr>
              <a:xfrm>
                <a:off x="713232" y="3890772"/>
                <a:ext cx="10735056" cy="94411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sepChr m:val=""/>
                      </m:dPr>
                      <m:e>
                        <m:f>
                          <m:fPr>
                            <m:type m:val="bar"/>
                          </m:fPr>
                          <m:num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713232" y="3890772"/>
                <a:ext cx="10735056" cy="94411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\tan\left(\frac{\pi}{4}-x\right)=\frac{\tan\frac{\pi}{4}-\tan x}{1+\tan\frac{\pi}{4}\tan x}=\frac{1-\tan x}{1+\tan x}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2" name="s3_chu"/>
          <p:cNvSpPr txBox="1"/>
          <p:nvPr/>
        </p:nvSpPr>
        <p:spPr>
          <a:xfrm>
            <a:off x="548640" y="4981194"/>
            <a:ext cx="11064240" cy="49377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100" b="1">
                <a:solidFill>
                  <a:srgbClr val="1E293B"/>
                </a:solidFill>
                <a:latin typeface="Calibri"/>
              </a:rPr>
              <a:t>Vận dụng 1.</a:t>
            </a:r>
            <a:r>
              <a:rPr sz="2100">
                <a:solidFill>
                  <a:srgbClr val="1E293B"/>
                </a:solidFill>
                <a:latin typeface="Calibri"/>
              </a:rPr>
              <a:t> Giải bài toán trong tình huống mở đầu.</a:t>
            </a:r>
          </a:p>
        </p:txBody>
      </p:sp>
      <p:sp>
        <p:nvSpPr>
          <p:cNvPr id="13" name="s4_nen"/>
          <p:cNvSpPr/>
          <p:nvPr/>
        </p:nvSpPr>
        <p:spPr>
          <a:xfrm>
            <a:off x="548640" y="5584698"/>
            <a:ext cx="11064240" cy="1193292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s4_chu"/>
              <p:cNvSpPr txBox="1"/>
              <p:nvPr/>
            </p:nvSpPr>
            <p:spPr>
              <a:xfrm>
                <a:off x="713232" y="5621274"/>
                <a:ext cx="10735056" cy="112014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f(t)=5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t+5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t=5(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t+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t)=5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sepChr m:val="+"/>
                      </m:d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e>
                        <m:f>
                          <m:fPr>
                            <m:type m:val="bar"/>
                          </m:fPr>
                          <m:num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: biên độ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k=5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≈7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07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, pha ban đầu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φ=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(không phải 10).</a:t>
                </a:r>
              </a:p>
            </p:txBody>
          </p:sp>
        </mc:Choice>
        <mc:Fallback>
          <p:sp>
            <p:nvSpPr>
              <p:cNvPr id="14" name="TextBox 13"/>
              <p:cNvSpPr txBox="1"/>
              <p:nvPr/>
            </p:nvSpPr>
            <p:spPr>
              <a:xfrm>
                <a:off x="713232" y="5621274"/>
                <a:ext cx="10735056" cy="112014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f(t)=5\sin t+5\cos t=5(\sin t+\cos t)=5\sqrt{2}\sin\left(t+\frac{\pi}{4}\right)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: biên độ </a:t>
                </a:r>
                <a:r>
                  <a:rPr lang="vi-VN"/>
                  <a:t>k=5\sqrt{2}\approx 7{,}07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, pha ban đầu </a:t>
                </a:r>
                <a:r>
                  <a:rPr lang="vi-VN"/>
                  <a:t>\varphi=\frac{\pi}{4}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(không phải 10).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GEOGEBRA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GEOGEBRA – SÓNG ÂM KẾT HỢP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2. Công thức lượng giác – Toán 11          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417320"/>
                <a:ext cx="6035040" cy="356616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Đồ thị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f(t)=5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t+5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(cam, nét dày).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Kéo thanh trượt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của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y=k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(t+φ)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(xanh).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Hai đồ thị trùng nhau khi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k≈7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07=5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φ≈0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79=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417320"/>
                <a:ext cx="6035040" cy="356616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Đồ thị </a:t>
                </a:r>
                <a:r>
                  <a:rPr lang="vi-VN"/>
                  <a:t>f(t)=5\sin t+5\cos t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(cam, nét dày).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Kéo thanh trượt </a:t>
                </a:r>
                <a:r>
                  <a:rPr lang="vi-VN"/>
                  <a:t>k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\varphi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của </a:t>
                </a:r>
                <a:r>
                  <a:rPr lang="vi-VN"/>
                  <a:t>y=k\sin(t+\varphi)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(xanh).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Hai đồ thị trùng nhau khi </a:t>
                </a:r>
                <a:r>
                  <a:rPr lang="vi-VN"/>
                  <a:t>k\approx 7{,}07=5\sqrt{2}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\varphi\approx 0{,}79=\frac{\pi}{4}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Rounded Rectangle 7">
            <a:hlinkClick r:id="rId3"/>
          </p:cNvPr>
          <p:cNvSpPr/>
          <p:nvPr/>
        </p:nvSpPr>
        <p:spPr>
          <a:xfrm>
            <a:off x="548640" y="5074920"/>
            <a:ext cx="3840480" cy="68580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▶  MỞ GEOGEBRA</a:t>
            </a:r>
          </a:p>
        </p:txBody>
      </p:sp>
      <p:pic>
        <p:nvPicPr>
          <p:cNvPr id="9" name="Picture 8" descr="qr_ggb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572000"/>
            <a:ext cx="1325880" cy="1325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806440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64748B"/>
                </a:solidFill>
                <a:latin typeface="Calibri"/>
              </a:rPr>
              <a:t>Quét QR mở trên điện thoại. Kéo điểm để thay đổi hình.</a:t>
            </a:r>
          </a:p>
        </p:txBody>
      </p:sp>
      <p:pic>
        <p:nvPicPr>
          <p:cNvPr id="11" name="Picture 10" descr="amthanh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2087880"/>
            <a:ext cx="4846320" cy="3230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37015" y="457200"/>
            <a:ext cx="2606040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HÌNH THÀNH KIẾN THỨC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366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2. CÔNG THỨC NHÂN ĐÔI – HĐ2 (SGK TR.18 – 19)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2. Công thức lượng giác – Toán 11          11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84429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HĐ2.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Lấy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b=a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trong các công thức cộng, hãy tìm công thức tính: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2a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2a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2a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84429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HĐ2.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Lấy </a:t>
                </a:r>
                <a:r>
                  <a:rPr lang="vi-VN"/>
                  <a:t>b=a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trong các công thức cộng, hãy tìm công thức tính: </a:t>
                </a:r>
                <a:r>
                  <a:rPr lang="vi-VN"/>
                  <a:t>\sin 2a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\cos 2a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\tan 2a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2325623"/>
            <a:ext cx="11064240" cy="751331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362199"/>
                <a:ext cx="10735056" cy="678179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2a=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(a+a)=2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2a=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a−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2a=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362199"/>
                <a:ext cx="10735056" cy="678179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\sin 2a=\sin(a+a)=2\sin a\cos a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\cos 2a=\cos^2 a-\sin^2 a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\tan 2a=\frac{2\tan a}{1-\tan^2 a}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0" name="s2_nen"/>
          <p:cNvSpPr/>
          <p:nvPr/>
        </p:nvSpPr>
        <p:spPr>
          <a:xfrm>
            <a:off x="548640" y="3186683"/>
            <a:ext cx="11064240" cy="162306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s2_chu"/>
              <p:cNvSpPr txBox="1"/>
              <p:nvPr/>
            </p:nvSpPr>
            <p:spPr>
              <a:xfrm>
                <a:off x="713232" y="3223259"/>
                <a:ext cx="10735056" cy="154990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2a=2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2a=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a−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a=2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a−1=1−2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2a=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713232" y="3223259"/>
                <a:ext cx="10735056" cy="154990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\sin 2a=2\sin a\cos a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\cos 2a=\cos^2 a-\sin^2 a=2\cos^2 a-1=1-2\sin^2 a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\tan 2a=\frac{2\tan a}{1-\tan^2 a}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2" name="s3_nen"/>
          <p:cNvSpPr/>
          <p:nvPr/>
        </p:nvSpPr>
        <p:spPr>
          <a:xfrm>
            <a:off x="548640" y="4919472"/>
            <a:ext cx="11064240" cy="902207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s3_chu"/>
              <p:cNvSpPr txBox="1"/>
              <p:nvPr/>
            </p:nvSpPr>
            <p:spPr>
              <a:xfrm>
                <a:off x="713232" y="4956048"/>
                <a:ext cx="10735056" cy="82905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Công thức hạ bậc: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2a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2a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4956048"/>
                <a:ext cx="10735056" cy="82905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Công thức hạ bậc: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\cos^2 a=\frac{1+\cos 2a}{2}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 </a:t>
                </a:r>
                <a:r>
                  <a:rPr lang="vi-VN"/>
                  <a:t>\sin^2 a=\frac{1-\cos 2a}{2}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37015" y="457200"/>
            <a:ext cx="2606040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HÌNH THÀNH KIẾN THỨC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366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VÍ DỤ 3 – LUYỆN TẬP 2 (SGK TR.18 – 19)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2. Công thức lượng giác – Toán 11          12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463040"/>
                <a:ext cx="11064240" cy="839723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 b="1">
                    <a:solidFill>
                      <a:srgbClr val="1E293B"/>
                    </a:solidFill>
                    <a:latin typeface="Calibri"/>
                  </a:rPr>
                  <a:t>Ví dụ 3.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 Cho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sepChr m:val="&lt;"/>
                      </m:dPr>
                      <m:e>
                        <m:f>
                          <m:fPr>
                            <m:type m:val="bar"/>
                          </m:fPr>
                          <m:num>
                            <m:r>
                              <a:rPr lang="vi-VN" sz="23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3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  <m:e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e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. Tính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2a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463040"/>
                <a:ext cx="11064240" cy="839723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 b="1">
                    <a:solidFill>
                      <a:srgbClr val="1E293B"/>
                    </a:solidFill>
                    <a:latin typeface="Calibri"/>
                  </a:rPr>
                  <a:t>Ví dụ 3.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 Cho </a:t>
                </a:r>
                <a:r>
                  <a:rPr lang="vi-VN"/>
                  <a:t>\cos a=-\frac{1}{3}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\left(\frac{\pi}{2}&lt;a&lt;\pi\right)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. Tính </a:t>
                </a:r>
                <a:r>
                  <a:rPr lang="vi-VN"/>
                  <a:t>\sin 2a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2439923"/>
            <a:ext cx="11064240" cy="1088898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476499"/>
                <a:ext cx="10735056" cy="101574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&lt;a&lt;π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 nên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a&gt;0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a=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3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vi-VN" sz="23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rad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3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476499"/>
                <a:ext cx="10735056" cy="101574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\frac{\pi}{2}&lt;a&lt;\pi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 nên </a:t>
                </a:r>
                <a:r>
                  <a:rPr lang="vi-VN"/>
                  <a:t>\sin a&gt;0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\sin a=\sqrt{1-\frac{1}{9}}=\frac{2\sqrt{2}}{3}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0" name="s2_nen"/>
          <p:cNvSpPr/>
          <p:nvPr/>
        </p:nvSpPr>
        <p:spPr>
          <a:xfrm>
            <a:off x="548640" y="3665982"/>
            <a:ext cx="11064240" cy="1088898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s2_chu"/>
              <p:cNvSpPr txBox="1"/>
              <p:nvPr/>
            </p:nvSpPr>
            <p:spPr>
              <a:xfrm>
                <a:off x="713232" y="3702558"/>
                <a:ext cx="10735056" cy="101574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2a=2·</m:t>
                    </m:r>
                    <m:f>
                      <m:fPr>
                        <m:type m:val="bar"/>
                      </m:fPr>
                      <m:num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3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·</m:t>
                    </m:r>
                    <m:d>
                      <m:dPr>
                        <m:sepChr m:val=""/>
                      </m:dPr>
                      <m:e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3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vi-VN" sz="23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3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713232" y="3702558"/>
                <a:ext cx="10735056" cy="101574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\sin 2a=2\cdot\frac{2\sqrt{2}}{3}\cdot\left(-\frac{1}{3}\right)=-\frac{4\sqrt{2}}{9}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s3_chu"/>
              <p:cNvSpPr txBox="1"/>
              <p:nvPr/>
            </p:nvSpPr>
            <p:spPr>
              <a:xfrm>
                <a:off x="548640" y="4892040"/>
                <a:ext cx="11064240" cy="68199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 b="1">
                    <a:solidFill>
                      <a:srgbClr val="1E293B"/>
                    </a:solidFill>
                    <a:latin typeface="Calibri"/>
                  </a:rPr>
                  <a:t>Luyện tập 2.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 Không dùng máy tính, tính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</m:fPr>
                      <m:num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2" name="TextBox 11"/>
              <p:cNvSpPr txBox="1"/>
              <p:nvPr/>
            </p:nvSpPr>
            <p:spPr>
              <a:xfrm>
                <a:off x="548640" y="4892040"/>
                <a:ext cx="11064240" cy="68199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 b="1">
                    <a:solidFill>
                      <a:srgbClr val="1E293B"/>
                    </a:solidFill>
                    <a:latin typeface="Calibri"/>
                  </a:rPr>
                  <a:t>Luyện tập 2.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 Không dùng máy tính, tính </a:t>
                </a:r>
                <a:r>
                  <a:rPr lang="vi-VN"/>
                  <a:t>\cos\frac{\pi}{8}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3" name="s4_nen"/>
          <p:cNvSpPr/>
          <p:nvPr/>
        </p:nvSpPr>
        <p:spPr>
          <a:xfrm>
            <a:off x="548640" y="5711190"/>
            <a:ext cx="11064240" cy="1088898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s4_chu"/>
              <p:cNvSpPr txBox="1"/>
              <p:nvPr/>
            </p:nvSpPr>
            <p:spPr>
              <a:xfrm>
                <a:off x="713232" y="5747766"/>
                <a:ext cx="10735056" cy="101574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</m:fPr>
                      <m:num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m:rPr>
                            <m:sty m:val="p"/>
                          </m:rP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3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3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num>
                      <m:den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2+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3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; vì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</m:fPr>
                      <m:num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 nên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</m:fPr>
                      <m:num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3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2+</m:t>
                            </m:r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a:rPr lang="vi-VN" sz="23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rad>
                      </m:num>
                      <m:den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4" name="TextBox 13"/>
              <p:cNvSpPr txBox="1"/>
              <p:nvPr/>
            </p:nvSpPr>
            <p:spPr>
              <a:xfrm>
                <a:off x="713232" y="5747766"/>
                <a:ext cx="10735056" cy="101574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\cos^2\frac{\pi}{8}=\frac{1+\cos\frac{\pi}{4}}{2}=\frac{2+\sqrt{2}}{4}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; vì </a:t>
                </a:r>
                <a:r>
                  <a:rPr lang="vi-VN"/>
                  <a:t>\cos\frac{\pi}{8}&gt;0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 nên </a:t>
                </a:r>
                <a:r>
                  <a:rPr lang="vi-VN"/>
                  <a:t>\cos\frac{\pi}{8}=\frac{\sqrt{2+\sqrt{2}}}{2}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TRÒ CHƠI: AI NHANH HƠN?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2. Công thức lượng giác – Toán 11     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64748B"/>
                </a:solidFill>
                <a:latin typeface="Calibri"/>
              </a:rPr>
              <a:t>📋 Từng cặp ghi đáp án lên bảng con. Mỗi câu 30 giây.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758952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Tính nhanh (không dùng máy tính):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548640" y="2468879"/>
                <a:ext cx="4389120" cy="85725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1.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548640" y="2468879"/>
                <a:ext cx="4389120" cy="85725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1.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2\sin 15^\circ\cos 15^\circ</a:t>
                </a:r>
              </a:p>
            </p:txBody>
          </p:sp>
        </mc:Fallback>
      </mc:AlternateContent>
      <p:sp>
        <p:nvSpPr>
          <p:cNvPr id="10" name="s1_nen"/>
          <p:cNvSpPr/>
          <p:nvPr/>
        </p:nvSpPr>
        <p:spPr>
          <a:xfrm>
            <a:off x="5029200" y="2423160"/>
            <a:ext cx="2926080" cy="81153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s1_chu"/>
              <p:cNvSpPr txBox="1"/>
              <p:nvPr/>
            </p:nvSpPr>
            <p:spPr>
              <a:xfrm>
                <a:off x="5193792" y="2459736"/>
                <a:ext cx="2596896" cy="73837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5193792" y="2459736"/>
                <a:ext cx="2596896" cy="73837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\frac{1}{2}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548640" y="3417570"/>
                <a:ext cx="4389120" cy="85725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2.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</a:p>
            </p:txBody>
          </p:sp>
        </mc:Choice>
        <mc:Fallback>
          <p:sp>
            <p:nvSpPr>
              <p:cNvPr id="12" name="TextBox 11"/>
              <p:cNvSpPr txBox="1"/>
              <p:nvPr/>
            </p:nvSpPr>
            <p:spPr>
              <a:xfrm>
                <a:off x="548640" y="3417570"/>
                <a:ext cx="4389120" cy="85725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2.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\cos^2 15^\circ-\sin^2 15^\circ</a:t>
                </a:r>
              </a:p>
            </p:txBody>
          </p:sp>
        </mc:Fallback>
      </mc:AlternateContent>
      <p:sp>
        <p:nvSpPr>
          <p:cNvPr id="13" name="s2_nen"/>
          <p:cNvSpPr/>
          <p:nvPr/>
        </p:nvSpPr>
        <p:spPr>
          <a:xfrm>
            <a:off x="5029200" y="3371850"/>
            <a:ext cx="2926080" cy="81153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s2_chu"/>
              <p:cNvSpPr txBox="1"/>
              <p:nvPr/>
            </p:nvSpPr>
            <p:spPr>
              <a:xfrm>
                <a:off x="5193792" y="3408426"/>
                <a:ext cx="2596896" cy="73837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14" name="TextBox 13"/>
              <p:cNvSpPr txBox="1"/>
              <p:nvPr/>
            </p:nvSpPr>
            <p:spPr>
              <a:xfrm>
                <a:off x="5193792" y="3408426"/>
                <a:ext cx="2596896" cy="73837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\frac{\sqrt{3}}{2}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548640" y="4366259"/>
                <a:ext cx="4389120" cy="85725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3.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548640" y="4366259"/>
                <a:ext cx="4389120" cy="85725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3.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\sin 75^\circ</a:t>
                </a:r>
              </a:p>
            </p:txBody>
          </p:sp>
        </mc:Fallback>
      </mc:AlternateContent>
      <p:sp>
        <p:nvSpPr>
          <p:cNvPr id="16" name="s3_nen"/>
          <p:cNvSpPr/>
          <p:nvPr/>
        </p:nvSpPr>
        <p:spPr>
          <a:xfrm>
            <a:off x="5029200" y="4320540"/>
            <a:ext cx="2926080" cy="81153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s3_chu"/>
              <p:cNvSpPr txBox="1"/>
              <p:nvPr/>
            </p:nvSpPr>
            <p:spPr>
              <a:xfrm>
                <a:off x="5193792" y="4357116"/>
                <a:ext cx="2596896" cy="73837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5193792" y="4357116"/>
                <a:ext cx="2596896" cy="73837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\frac{\sqrt{6}+\sqrt{2}}{4}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548640" y="5314950"/>
                <a:ext cx="4389120" cy="85725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4.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1−2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</a:p>
            </p:txBody>
          </p:sp>
        </mc:Choice>
        <mc:Fallback>
          <p:sp>
            <p:nvSpPr>
              <p:cNvPr id="18" name="TextBox 17"/>
              <p:cNvSpPr txBox="1"/>
              <p:nvPr/>
            </p:nvSpPr>
            <p:spPr>
              <a:xfrm>
                <a:off x="548640" y="5314950"/>
                <a:ext cx="4389120" cy="85725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4.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1-2\sin^2 22{,}5^\circ</a:t>
                </a:r>
              </a:p>
            </p:txBody>
          </p:sp>
        </mc:Fallback>
      </mc:AlternateContent>
      <p:sp>
        <p:nvSpPr>
          <p:cNvPr id="19" name="s4_nen"/>
          <p:cNvSpPr/>
          <p:nvPr/>
        </p:nvSpPr>
        <p:spPr>
          <a:xfrm>
            <a:off x="5029200" y="5269230"/>
            <a:ext cx="2926080" cy="81153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s4_chu"/>
              <p:cNvSpPr txBox="1"/>
              <p:nvPr/>
            </p:nvSpPr>
            <p:spPr>
              <a:xfrm>
                <a:off x="5193792" y="5305806"/>
                <a:ext cx="2596896" cy="73837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20" name="TextBox 19"/>
              <p:cNvSpPr txBox="1"/>
              <p:nvPr/>
            </p:nvSpPr>
            <p:spPr>
              <a:xfrm>
                <a:off x="5193792" y="5305806"/>
                <a:ext cx="2596896" cy="73837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\frac{\sqrt{2}}{2}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TỔNG KẾT TIẾT 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2. Công thức lượng giác – Toán 11         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11064240" cy="1036320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713232" y="1499616"/>
                <a:ext cx="10735056" cy="963167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Công thức cộng cho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của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a±b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Nhân đôi: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2a=2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2a=2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a−1=1−2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hạ bậc.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713232" y="1499616"/>
                <a:ext cx="10735056" cy="963167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Công thức cộng cho </a:t>
                </a:r>
                <a:r>
                  <a:rPr lang="vi-VN"/>
                  <a:t>\sin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\cos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\tan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của </a:t>
                </a:r>
                <a:r>
                  <a:rPr lang="vi-VN"/>
                  <a:t>a\pm b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Nhân đôi: </a:t>
                </a:r>
                <a:r>
                  <a:rPr lang="vi-VN"/>
                  <a:t>\sin 2a=2\sin a\cos a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\cos 2a=2\cos^2 a-1=1-2\sin^2 a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hạ bậc.</a:t>
                </a:r>
              </a:p>
            </p:txBody>
          </p:sp>
        </mc:Fallback>
      </mc:AlternateContent>
      <p:sp>
        <p:nvSpPr>
          <p:cNvPr id="9" name="Rounded Rectangle 8"/>
          <p:cNvSpPr/>
          <p:nvPr/>
        </p:nvSpPr>
        <p:spPr>
          <a:xfrm>
            <a:off x="548640" y="2727960"/>
            <a:ext cx="11064240" cy="1472184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764536"/>
            <a:ext cx="10735056" cy="1399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Nhiệm vụ về nhà: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Làm Bài tập 1.7, 1.8, 1.9 (SGK tr.21).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Đọc trước mục 3, 4 (SGK tr.19 – 20).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72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" cy="2926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10332720" cy="3291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FCD34D"/>
                </a:solidFill>
                <a:latin typeface="Cambria"/>
              </a:rPr>
              <a:t>TIẾT 2 (T5)</a:t>
            </a:r>
          </a:p>
          <a:p>
            <a:pPr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mbria"/>
              </a:rPr>
              <a:t>Biến đổi tích thành tổng, tổng thành tích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343400"/>
            <a:ext cx="1033272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Mục tiêu tiết học: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• Xây dựng, vận dụng công thức biến đổi tích thành tổng, tổng thành tích.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• Mô hình hoá âm thanh bàn phím điện thoại.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C7D2FE"/>
                </a:solidFill>
              </a:rPr>
              <a:t>GV Trương Tử Trang – THPT Vĩnh Thạnh       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37015" y="457200"/>
            <a:ext cx="2606040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HÌNH THÀNH KIẾN THỨC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366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3. CÔNG THỨC BIẾN ĐỔI TÍCH THÀNH TỔNG – HĐ3 (SGK TR.19)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2. Công thức lượng giác – Toán 11          16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463040"/>
                <a:ext cx="11064240" cy="87477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 b="1">
                    <a:solidFill>
                      <a:srgbClr val="1E293B"/>
                    </a:solidFill>
                    <a:latin typeface="Calibri"/>
                  </a:rPr>
                  <a:t>HĐ3.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 a) Từ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(a+b)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(a−b)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, hãy tìm: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. b) Từ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(a+b)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(a−b)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, hãy tìm: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463040"/>
                <a:ext cx="11064240" cy="87477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 b="1">
                    <a:solidFill>
                      <a:srgbClr val="1E293B"/>
                    </a:solidFill>
                    <a:latin typeface="Calibri"/>
                  </a:rPr>
                  <a:t>HĐ3.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 a) Từ </a:t>
                </a:r>
                <a:r>
                  <a:rPr lang="vi-VN"/>
                  <a:t>\cos(a+b)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\cos(a-b)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, hãy tìm: </a:t>
                </a:r>
                <a:r>
                  <a:rPr lang="vi-VN"/>
                  <a:t>\cos a\cos b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\sin a\sin b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. b) Từ </a:t>
                </a:r>
                <a:r>
                  <a:rPr lang="vi-VN"/>
                  <a:t>\sin(a+b)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\sin(a-b)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, hãy tìm: </a:t>
                </a:r>
                <a:r>
                  <a:rPr lang="vi-VN"/>
                  <a:t>\sin a\cos b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2474976"/>
            <a:ext cx="11064240" cy="61569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1_chu"/>
          <p:cNvSpPr txBox="1"/>
          <p:nvPr/>
        </p:nvSpPr>
        <p:spPr>
          <a:xfrm>
            <a:off x="713232" y="2511552"/>
            <a:ext cx="10735056" cy="542543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300">
                <a:solidFill>
                  <a:srgbClr val="1E293B"/>
                </a:solidFill>
                <a:latin typeface="Calibri"/>
              </a:rPr>
              <a:t>Cộng (trừ) vế theo vế hai công thức cộng tương ứng rồi chia cho 2.</a:t>
            </a:r>
          </a:p>
        </p:txBody>
      </p:sp>
      <p:sp>
        <p:nvSpPr>
          <p:cNvPr id="10" name="s2_nen"/>
          <p:cNvSpPr/>
          <p:nvPr/>
        </p:nvSpPr>
        <p:spPr>
          <a:xfrm>
            <a:off x="548640" y="3227832"/>
            <a:ext cx="11064240" cy="1991105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s2_chu"/>
              <p:cNvSpPr txBox="1"/>
              <p:nvPr/>
            </p:nvSpPr>
            <p:spPr>
              <a:xfrm>
                <a:off x="713232" y="3264408"/>
                <a:ext cx="10735056" cy="191795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b=</m:t>
                    </m:r>
                    <m:f>
                      <m:fPr>
                        <m:type m:val="bar"/>
                      </m:fPr>
                      <m:num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(a−b)+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(a+b)]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b=</m:t>
                    </m:r>
                    <m:f>
                      <m:fPr>
                        <m:type m:val="bar"/>
                      </m:fPr>
                      <m:num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(a−b)−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(a+b)]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b=</m:t>
                    </m:r>
                    <m:f>
                      <m:fPr>
                        <m:type m:val="bar"/>
                      </m:fPr>
                      <m:num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(a−b)+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(a+b)]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713232" y="3264408"/>
                <a:ext cx="10735056" cy="191795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\cos a\cos b=\frac{1}{2}[\cos(a-b)+\cos(a+b)]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\sin a\sin b=\frac{1}{2}[\cos(a-b)-\cos(a+b)]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\sin a\cos b=\frac{1}{2}[\sin(a-b)+\sin(a+b)]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37015" y="457200"/>
            <a:ext cx="2606040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HÌNH THÀNH KIẾN THỨC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366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VÍ DỤ 4 – LUYỆN TẬP 3 (SGK TR.19)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2. Công thức lượng giác – Toán 11          17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781811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Ví dụ 4.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Tính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A=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5π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7π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B=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781811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Ví dụ 4.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Tính </a:t>
                </a:r>
                <a:r>
                  <a:rPr lang="vi-VN"/>
                  <a:t>A=\cos\frac{5\pi}{12}\cos\frac{7\pi}{12}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B=\cos 75^\circ\sin 15^\circ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2226563"/>
            <a:ext cx="11064240" cy="101727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263139"/>
                <a:ext cx="10735056" cy="94411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A=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+"/>
                        <m:endChr m:val="]"/>
                      </m:dPr>
                      <m:e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d>
                          <m:dPr>
                            <m:sepChr m:val=""/>
                          </m:dPr>
                          <m:e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</m:fPr>
                              <m:num>
                                <m:r>
                                  <a:rPr lang="vi-VN" sz="21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vi-VN" sz="21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</m:e>
                      <m:e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sepChr m:val=""/>
                      </m:dPr>
                      <m:e>
                        <m:f>
                          <m:fPr>
                            <m:type m:val="bar"/>
                          </m:fPr>
                          <m:num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a:rPr lang="vi-VN" sz="21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263139"/>
                <a:ext cx="10735056" cy="94411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A=\frac{1}{2}\left[\cos\left(-\frac{\pi}{6}\right)+\cos\pi\right]=\frac{1}{2}\left(\frac{\sqrt{3}}{2}-1\right)=\frac{\sqrt{3}-2}{4}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0" name="s2_nen"/>
          <p:cNvSpPr/>
          <p:nvPr/>
        </p:nvSpPr>
        <p:spPr>
          <a:xfrm>
            <a:off x="548640" y="3316985"/>
            <a:ext cx="11064240" cy="101727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s2_chu"/>
              <p:cNvSpPr txBox="1"/>
              <p:nvPr/>
            </p:nvSpPr>
            <p:spPr>
              <a:xfrm>
                <a:off x="713232" y="3353561"/>
                <a:ext cx="10735056" cy="94411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B=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(−</m:t>
                    </m:r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)+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]=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sepChr m:val="+"/>
                      </m:d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a:rPr lang="vi-VN" sz="21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2−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713232" y="3353561"/>
                <a:ext cx="10735056" cy="94411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B=\sin 15^\circ\cos 75^\circ=\frac{1}{2}[\sin(-60^\circ)+\sin 90^\circ]=\frac{1}{2}\left(-\frac{\sqrt{3}}{2}+1\right)=\frac{2-\sqrt{3}}{4}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s3_chu"/>
              <p:cNvSpPr txBox="1"/>
              <p:nvPr/>
            </p:nvSpPr>
            <p:spPr>
              <a:xfrm>
                <a:off x="548640" y="4407407"/>
                <a:ext cx="11064240" cy="781811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Luyện tập 3.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Không dùng máy tính, tính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A=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B=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5π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7π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2" name="TextBox 11"/>
              <p:cNvSpPr txBox="1"/>
              <p:nvPr/>
            </p:nvSpPr>
            <p:spPr>
              <a:xfrm>
                <a:off x="548640" y="4407407"/>
                <a:ext cx="11064240" cy="781811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Luyện tập 3.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Không dùng máy tính, tính </a:t>
                </a:r>
                <a:r>
                  <a:rPr lang="vi-VN"/>
                  <a:t>A=\cos 75^\circ\cos 15^\circ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B=\sin\frac{5\pi}{12}\cos\frac{7\pi}{12}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3" name="s4_nen"/>
          <p:cNvSpPr/>
          <p:nvPr/>
        </p:nvSpPr>
        <p:spPr>
          <a:xfrm>
            <a:off x="548640" y="5262371"/>
            <a:ext cx="11064240" cy="101727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s4_chu"/>
              <p:cNvSpPr txBox="1"/>
              <p:nvPr/>
            </p:nvSpPr>
            <p:spPr>
              <a:xfrm>
                <a:off x="713232" y="5298947"/>
                <a:ext cx="10735056" cy="94411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A=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]=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B=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+"/>
                        <m:endChr m:val="]"/>
                      </m:dPr>
                      <m:e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d>
                          <m:dPr>
                            <m:sepChr m:val=""/>
                          </m:dPr>
                          <m:e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</m:fPr>
                              <m:num>
                                <m:r>
                                  <a:rPr lang="vi-VN" sz="21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vi-VN" sz="21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</m:e>
                      <m:e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4" name="TextBox 13"/>
              <p:cNvSpPr txBox="1"/>
              <p:nvPr/>
            </p:nvSpPr>
            <p:spPr>
              <a:xfrm>
                <a:off x="713232" y="5298947"/>
                <a:ext cx="10735056" cy="94411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A=\frac{1}{2}[\cos 60^\circ+\cos 90^\circ]=\frac{1}{4}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B=\frac{1}{2}\left[\sin\left(-\frac{\pi}{6}\right)+\sin\pi\right]=-\frac{1}{4}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37015" y="457200"/>
            <a:ext cx="2606040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HÌNH THÀNH KIẾN THỨC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366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4. CÔNG THỨC BIẾN ĐỔI TỔNG THÀNH TÍCH – HĐ4 (SGK TR.20)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2. Công thức lượng giác – Toán 11          18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25880"/>
                <a:ext cx="11064240" cy="78333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HĐ4.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Trong các công thức biến đổi tích thành tổng ở Mục 3, đặt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u=a−b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v=a+b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và viết các công thức nhận được.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25880"/>
                <a:ext cx="11064240" cy="78333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HĐ4.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Trong các công thức biến đổi tích thành tổng ở Mục 3, đặt </a:t>
                </a:r>
                <a:r>
                  <a:rPr lang="vi-VN"/>
                  <a:t>u=a-b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v=a+b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và viết các công thức nhận được.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2164079"/>
            <a:ext cx="11064240" cy="84429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200655"/>
                <a:ext cx="10735056" cy="77114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u+v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v−u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thay vào các công thức tích thành tổng.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200655"/>
                <a:ext cx="10735056" cy="77114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a=\frac{u+v}{2}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b=\frac{v-u}{2}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thay vào các công thức tích thành tổng.</a:t>
                </a:r>
              </a:p>
            </p:txBody>
          </p:sp>
        </mc:Fallback>
      </mc:AlternateContent>
      <p:sp>
        <p:nvSpPr>
          <p:cNvPr id="10" name="s2_nen"/>
          <p:cNvSpPr/>
          <p:nvPr/>
        </p:nvSpPr>
        <p:spPr>
          <a:xfrm>
            <a:off x="548640" y="3063239"/>
            <a:ext cx="11064240" cy="2883408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s2_chu"/>
              <p:cNvSpPr txBox="1"/>
              <p:nvPr/>
            </p:nvSpPr>
            <p:spPr>
              <a:xfrm>
                <a:off x="713232" y="3099815"/>
                <a:ext cx="10735056" cy="281025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u+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v=2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u+v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u−v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u−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v=−2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u+v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u−v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u+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v=2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u+v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u−v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u−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v=2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u+v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u−v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713232" y="3099815"/>
                <a:ext cx="10735056" cy="281025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\cos u+\cos v=2\cos\frac{u+v}{2}\cos\frac{u-v}{2}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\cos u-\cos v=-2\sin\frac{u+v}{2}\sin\frac{u-v}{2}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\sin u+\sin v=2\sin\frac{u+v}{2}\cos\frac{u-v}{2}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\sin u-\sin v=2\cos\frac{u+v}{2}\sin\frac{u-v}{2}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37015" y="457200"/>
            <a:ext cx="2606040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HÌNH THÀNH KIẾN THỨC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366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VÍ DỤ 5 – LUYỆN TẬP 4 (SGK TR.20)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2. Công thức lượng giác – Toán 11          19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554480"/>
                <a:ext cx="11064240" cy="99745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 b="1">
                    <a:solidFill>
                      <a:srgbClr val="1E293B"/>
                    </a:solidFill>
                    <a:latin typeface="Calibri"/>
                  </a:rPr>
                  <a:t>Ví dụ 5.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 Không dùng máy tính, tính </a:t>
                </a:r>
                <a14:m>
                  <m:oMath xmlns:m="http://schemas.openxmlformats.org/officeDocument/2006/math"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A=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</m:fPr>
                      <m:num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</m:fPr>
                      <m:num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4π</m:t>
                        </m:r>
                      </m:num>
                      <m:den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</m:fPr>
                      <m:num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7π</m:t>
                        </m:r>
                      </m:num>
                      <m:den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554480"/>
                <a:ext cx="11064240" cy="99745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 b="1">
                    <a:solidFill>
                      <a:srgbClr val="1E293B"/>
                    </a:solidFill>
                    <a:latin typeface="Calibri"/>
                  </a:rPr>
                  <a:t>Ví dụ 5.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 Không dùng máy tính, tính </a:t>
                </a:r>
                <a:r>
                  <a:rPr lang="vi-VN"/>
                  <a:t>A=\sin\frac{\pi}{9}-\sin\frac{4\pi}{9}+\sin\frac{7\pi}{9}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2734818"/>
            <a:ext cx="11064240" cy="1088898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771394"/>
                <a:ext cx="10735056" cy="101574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A=</m:t>
                    </m:r>
                    <m:d>
                      <m:dPr>
                        <m:sepChr m:val="+"/>
                      </m:dPr>
                      <m:e>
                        <m:r>
                          <m:rPr>
                            <m:sty m:val="p"/>
                          </m:rP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3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3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  <m:e>
                        <m:r>
                          <m:rPr>
                            <m:sty m:val="p"/>
                          </m:rP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3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7π</m:t>
                            </m:r>
                          </m:num>
                          <m:den>
                            <m:r>
                              <a:rPr lang="vi-VN" sz="23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d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</m:fPr>
                      <m:num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4π</m:t>
                        </m:r>
                      </m:num>
                      <m:den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</m:fPr>
                      <m:num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4π</m:t>
                        </m:r>
                      </m:num>
                      <m:den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</m:fPr>
                      <m:num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</m:fPr>
                      <m:num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4π</m:t>
                        </m:r>
                      </m:num>
                      <m:den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</m:fPr>
                      <m:num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4π</m:t>
                        </m:r>
                      </m:num>
                      <m:den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</m:fPr>
                      <m:num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4π</m:t>
                        </m:r>
                      </m:num>
                      <m:den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771394"/>
                <a:ext cx="10735056" cy="101574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A=\left(\sin\frac{\pi}{9}+\sin\frac{7\pi}{9}\right)-\sin\frac{4\pi}{9}=2\sin\frac{4\pi}{9}\cos\frac{\pi}{3}-\sin\frac{4\pi}{9}=\sin\frac{4\pi}{9}-\sin\frac{4\pi}{9}=0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s2_chu"/>
              <p:cNvSpPr txBox="1"/>
              <p:nvPr/>
            </p:nvSpPr>
            <p:spPr>
              <a:xfrm>
                <a:off x="548640" y="4006596"/>
                <a:ext cx="11064240" cy="99745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 b="1">
                    <a:solidFill>
                      <a:srgbClr val="1E293B"/>
                    </a:solidFill>
                    <a:latin typeface="Calibri"/>
                  </a:rPr>
                  <a:t>Luyện tập 4.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 Không dùng máy tính, tính </a:t>
                </a:r>
                <a14:m>
                  <m:oMath xmlns:m="http://schemas.openxmlformats.org/officeDocument/2006/math"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B=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</m:fPr>
                      <m:num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</m:fPr>
                      <m:num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5π</m:t>
                        </m:r>
                      </m:num>
                      <m:den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</m:fPr>
                      <m:num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11π</m:t>
                        </m:r>
                      </m:num>
                      <m:den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0" name="TextBox 9"/>
              <p:cNvSpPr txBox="1"/>
              <p:nvPr/>
            </p:nvSpPr>
            <p:spPr>
              <a:xfrm>
                <a:off x="548640" y="4006596"/>
                <a:ext cx="11064240" cy="99745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 b="1">
                    <a:solidFill>
                      <a:srgbClr val="1E293B"/>
                    </a:solidFill>
                    <a:latin typeface="Calibri"/>
                  </a:rPr>
                  <a:t>Luyện tập 4.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 Không dùng máy tính, tính </a:t>
                </a:r>
                <a:r>
                  <a:rPr lang="vi-VN"/>
                  <a:t>B=\cos\frac{\pi}{9}+\cos\frac{5\pi}{9}+\cos\frac{11\pi}{9}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1" name="s3_nen"/>
          <p:cNvSpPr/>
          <p:nvPr/>
        </p:nvSpPr>
        <p:spPr>
          <a:xfrm>
            <a:off x="548640" y="5186934"/>
            <a:ext cx="11064240" cy="1088898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s3_chu"/>
              <p:cNvSpPr txBox="1"/>
              <p:nvPr/>
            </p:nvSpPr>
            <p:spPr>
              <a:xfrm>
                <a:off x="713232" y="5223510"/>
                <a:ext cx="10735056" cy="101574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</m:fPr>
                      <m:num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</m:fPr>
                      <m:num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11π</m:t>
                        </m:r>
                      </m:num>
                      <m:den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</m:fPr>
                      <m:num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2π</m:t>
                        </m:r>
                      </m:num>
                      <m:den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sepChr m:val=""/>
                      </m:dPr>
                      <m:e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3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5π</m:t>
                            </m:r>
                          </m:num>
                          <m:den>
                            <m:r>
                              <a:rPr lang="vi-VN" sz="23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d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</m:fPr>
                      <m:num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5π</m:t>
                        </m:r>
                      </m:num>
                      <m:den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. Vậy </a:t>
                </a:r>
                <a14:m>
                  <m:oMath xmlns:m="http://schemas.openxmlformats.org/officeDocument/2006/math"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B=−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</m:fPr>
                      <m:num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5π</m:t>
                        </m:r>
                      </m:num>
                      <m:den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</m:fPr>
                      <m:num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5π</m:t>
                        </m:r>
                      </m:num>
                      <m:den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2" name="TextBox 11"/>
              <p:cNvSpPr txBox="1"/>
              <p:nvPr/>
            </p:nvSpPr>
            <p:spPr>
              <a:xfrm>
                <a:off x="713232" y="5223510"/>
                <a:ext cx="10735056" cy="101574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\cos\frac{\pi}{9}+\cos\frac{11\pi}{9}=2\cos\frac{2\pi}{3}\cos\left(-\frac{5\pi}{9}\right)=-\cos\frac{5\pi}{9}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. Vậy </a:t>
                </a:r>
                <a:r>
                  <a:rPr lang="vi-VN"/>
                  <a:t>B=-\cos\frac{5\pi}{9}+\cos\frac{5\pi}{9}=0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VẬN DỤNG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VẬN DỤNG 2 – ÂM THANH BÀN PHÍM ĐIỆN THOẠI (SGK TR.20)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2. Công thức lượng giác – Toán 11          20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7315200" cy="177393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Vận dụng 2.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Nhấn một phím tạo ra sóng âm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(2π</m:t>
                    </m:r>
                    <m:sSub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t)+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(2π</m:t>
                    </m:r>
                    <m:sSub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t)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(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: tần số thấp, cao – Hình 1.13;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: giây). a) Tìm hàm số mô hình hoá âm thanh khi nhấn phím 4. b) Biến đổi về dạng tích của một hàm số sin và một hàm số côsin.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7315200" cy="177393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Vận dụng 2.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Nhấn một phím tạo ra sóng âm </a:t>
                </a:r>
                <a:r>
                  <a:rPr lang="vi-VN"/>
                  <a:t>y=\sin(2\pi f_1t)+\sin(2\pi f_2t)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(</a:t>
                </a:r>
                <a:r>
                  <a:rPr lang="vi-VN"/>
                  <a:t>f_1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f_2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: tần số thấp, cao – Hình 1.13; </a:t>
                </a:r>
                <a:r>
                  <a:rPr lang="vi-VN"/>
                  <a:t>t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: giây). a) Tìm hàm số mô hình hoá âm thanh khi nhấn phím 4. b) Biến đổi về dạng tích của một hàm số sin và một hàm số côsin.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3236976"/>
            <a:ext cx="7315200" cy="58521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3273552"/>
                <a:ext cx="6986016" cy="51206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(1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540πt)+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(2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418πt)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3273552"/>
                <a:ext cx="6986016" cy="51206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y=\sin(1\ 540\pi t)+\sin(2\ 418\pi t)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0" name="s2_nen"/>
          <p:cNvSpPr/>
          <p:nvPr/>
        </p:nvSpPr>
        <p:spPr>
          <a:xfrm>
            <a:off x="548640" y="3913631"/>
            <a:ext cx="7315200" cy="1193292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s2_chu"/>
              <p:cNvSpPr txBox="1"/>
              <p:nvPr/>
            </p:nvSpPr>
            <p:spPr>
              <a:xfrm>
                <a:off x="713232" y="3950207"/>
                <a:ext cx="6986016" cy="112014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y=2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540πt+2</m:t>
                        </m:r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418πt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540πt−2</m:t>
                        </m:r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418πt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(1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979πt)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(439πt)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713232" y="3950207"/>
                <a:ext cx="6986016" cy="112014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y=2\sin\frac{1\ 540\pi t+2\ 418\pi t}{2}\cos\frac{1\ 540\pi t-2\ 418\pi t}{2}=2\sin(1\ 979\pi t)\cos(439\pi t)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pic>
        <p:nvPicPr>
          <p:cNvPr id="12" name="Picture 11" descr="b2_h1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918987"/>
            <a:ext cx="3474720" cy="23799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44607" y="457200"/>
            <a:ext cx="1298448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LUYỆN TẬP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67435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BÀI TẬP VỀ NHÀ 1.7 – 1.9 (SGK TR.21)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2. Công thức lượng giác – Toán 11          21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44805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800" b="1">
                    <a:solidFill>
                      <a:srgbClr val="1E293B"/>
                    </a:solidFill>
                    <a:latin typeface="Calibri"/>
                  </a:rPr>
                  <a:t>1.7.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Dùng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, tính các giá trị lượng giác của góc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44805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800" b="1">
                    <a:solidFill>
                      <a:srgbClr val="1E293B"/>
                    </a:solidFill>
                    <a:latin typeface="Calibri"/>
                  </a:rPr>
                  <a:t>1.7.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Dùng </a:t>
                </a:r>
                <a:r>
                  <a:rPr lang="vi-VN"/>
                  <a:t>15^\circ=45^\circ-30^\circ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, tính các giá trị lượng giác của góc </a:t>
                </a:r>
                <a:r>
                  <a:rPr lang="vi-VN"/>
                  <a:t>15^\circ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1883664"/>
            <a:ext cx="11064240" cy="786383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1920240"/>
                <a:ext cx="10735056" cy="713231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8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=2−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=2+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1920240"/>
                <a:ext cx="10735056" cy="713231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8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\sin 15^\circ=\frac{\sqrt{6}-\sqrt{2}}{4}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\cos 15^\circ=\frac{\sqrt{6}+\sqrt{2}}{4}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\tan 15^\circ=2-\sqrt{3}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\cot 15^\circ=2+\sqrt{3}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s2_chu"/>
              <p:cNvSpPr txBox="1"/>
              <p:nvPr/>
            </p:nvSpPr>
            <p:spPr>
              <a:xfrm>
                <a:off x="548640" y="2734056"/>
                <a:ext cx="11064240" cy="81838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800" b="1">
                    <a:solidFill>
                      <a:srgbClr val="1E293B"/>
                    </a:solidFill>
                    <a:latin typeface="Calibri"/>
                  </a:rPr>
                  <a:t>1.8.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sepChr m:val="+"/>
                      </m:dPr>
                      <m:e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e>
                        <m:f>
                          <m:fPr>
                            <m:type m:val="bar"/>
                          </m:fPr>
                          <m:num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, biết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a=</m:t>
                    </m:r>
                    <m:f>
                      <m:fPr>
                        <m:type m:val="bar"/>
                      </m:fPr>
                      <m:num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&lt;a&lt;π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; 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sepChr m:val=""/>
                      </m:dPr>
                      <m:e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, biết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π&lt;a&lt;</m:t>
                    </m:r>
                    <m:f>
                      <m:fPr>
                        <m:type m:val="bar"/>
                      </m:fPr>
                      <m:num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3π</m:t>
                        </m:r>
                      </m:num>
                      <m:den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0" name="TextBox 9"/>
              <p:cNvSpPr txBox="1"/>
              <p:nvPr/>
            </p:nvSpPr>
            <p:spPr>
              <a:xfrm>
                <a:off x="548640" y="2734056"/>
                <a:ext cx="11064240" cy="81838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800" b="1">
                    <a:solidFill>
                      <a:srgbClr val="1E293B"/>
                    </a:solidFill>
                    <a:latin typeface="Calibri"/>
                  </a:rPr>
                  <a:t>1.8.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a) </a:t>
                </a:r>
                <a:r>
                  <a:rPr lang="vi-VN"/>
                  <a:t>\cos\left(a+\frac{\pi}{6}\right)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, biết </a:t>
                </a:r>
                <a:r>
                  <a:rPr lang="vi-VN"/>
                  <a:t>\sin a=\frac{1}{\sqrt{3}}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\frac{\pi}{2}&lt;a&lt;\pi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; b) </a:t>
                </a:r>
                <a:r>
                  <a:rPr lang="vi-VN"/>
                  <a:t>\tan\left(a-\frac{\pi}{4}\right)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, biết </a:t>
                </a:r>
                <a:r>
                  <a:rPr lang="vi-VN"/>
                  <a:t>\cos a=-\frac{1}{3}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\pi&lt;a&lt;\frac{3\pi}{2}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1" name="s3_nen"/>
          <p:cNvSpPr/>
          <p:nvPr/>
        </p:nvSpPr>
        <p:spPr>
          <a:xfrm>
            <a:off x="548640" y="3616452"/>
            <a:ext cx="11064240" cy="909828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s3_chu"/>
              <p:cNvSpPr txBox="1"/>
              <p:nvPr/>
            </p:nvSpPr>
            <p:spPr>
              <a:xfrm>
                <a:off x="713232" y="3653028"/>
                <a:ext cx="10735056" cy="83667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8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a=−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sepChr m:val="+"/>
                      </m:dPr>
                      <m:e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e>
                        <m:f>
                          <m:fPr>
                            <m:type m:val="bar"/>
                          </m:fPr>
                          <m:num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−3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. 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a=2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sepChr m:val=""/>
                      </m:dPr>
                      <m:e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9−4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2" name="TextBox 11"/>
              <p:cNvSpPr txBox="1"/>
              <p:nvPr/>
            </p:nvSpPr>
            <p:spPr>
              <a:xfrm>
                <a:off x="713232" y="3653028"/>
                <a:ext cx="10735056" cy="83667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8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\cos a=-\frac{\sqrt{6}}{3}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\cos\left(a+\frac{\pi}{6}\right)=\frac{-3\sqrt{2}-\sqrt{3}}{6}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. b) </a:t>
                </a:r>
                <a:r>
                  <a:rPr lang="vi-VN"/>
                  <a:t>\tan a=2\sqrt{2}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\tan\left(a-\frac{\pi}{4}\right)=\frac{9-4\sqrt{2}}{7}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s4_chu"/>
              <p:cNvSpPr txBox="1"/>
              <p:nvPr/>
            </p:nvSpPr>
            <p:spPr>
              <a:xfrm>
                <a:off x="548640" y="4590288"/>
                <a:ext cx="11064240" cy="81838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800" b="1">
                    <a:solidFill>
                      <a:srgbClr val="1E293B"/>
                    </a:solidFill>
                    <a:latin typeface="Calibri"/>
                  </a:rPr>
                  <a:t>1.9.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Tính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2a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2a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2a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: 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a=</m:t>
                    </m:r>
                    <m:f>
                      <m:fPr>
                        <m:type m:val="bar"/>
                      </m:fPr>
                      <m:num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&lt;a&lt;π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; 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a+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a=</m:t>
                    </m:r>
                    <m:f>
                      <m:fPr>
                        <m:type m:val="bar"/>
                      </m:fPr>
                      <m:num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&lt;a&lt;</m:t>
                    </m:r>
                    <m:f>
                      <m:fPr>
                        <m:type m:val="bar"/>
                      </m:fPr>
                      <m:num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3π</m:t>
                        </m:r>
                      </m:num>
                      <m:den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548640" y="4590288"/>
                <a:ext cx="11064240" cy="81838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800" b="1">
                    <a:solidFill>
                      <a:srgbClr val="1E293B"/>
                    </a:solidFill>
                    <a:latin typeface="Calibri"/>
                  </a:rPr>
                  <a:t>1.9.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Tính </a:t>
                </a:r>
                <a:r>
                  <a:rPr lang="vi-VN"/>
                  <a:t>\sin 2a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\cos 2a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\tan 2a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: a) </a:t>
                </a:r>
                <a:r>
                  <a:rPr lang="vi-VN"/>
                  <a:t>\sin a=\frac{1}{3}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\frac{\pi}{2}&lt;a&lt;\pi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; b) </a:t>
                </a:r>
                <a:r>
                  <a:rPr lang="vi-VN"/>
                  <a:t>\sin a+\cos a=\frac{1}{2}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\frac{\pi}{2}&lt;a&lt;\frac{3\pi}{4}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4" name="s5_nen"/>
          <p:cNvSpPr/>
          <p:nvPr/>
        </p:nvSpPr>
        <p:spPr>
          <a:xfrm>
            <a:off x="548640" y="5472684"/>
            <a:ext cx="11064240" cy="909828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s5_chu"/>
              <p:cNvSpPr txBox="1"/>
              <p:nvPr/>
            </p:nvSpPr>
            <p:spPr>
              <a:xfrm>
                <a:off x="713232" y="5509260"/>
                <a:ext cx="10735056" cy="83667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8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2a=−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2a=</m:t>
                    </m:r>
                    <m:f>
                      <m:fPr>
                        <m:type m:val="bar"/>
                      </m:fPr>
                      <m:num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2a=−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. 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2a=−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2a=−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num>
                      <m:den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2a=</m:t>
                    </m:r>
                    <m:f>
                      <m:fPr>
                        <m:type m:val="bar"/>
                      </m:fPr>
                      <m:num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num>
                      <m:den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713232" y="5509260"/>
                <a:ext cx="10735056" cy="83667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8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\sin 2a=-\frac{4\sqrt{2}}{9}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\cos 2a=\frac{7}{9}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\tan 2a=-\frac{4\sqrt{2}}{7}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. b) </a:t>
                </a:r>
                <a:r>
                  <a:rPr lang="vi-VN"/>
                  <a:t>\sin 2a=-\frac{3}{4}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\cos 2a=-\frac{\sqrt{7}}{4}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\tan 2a=\frac{3\sqrt{7}}{7}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44607" y="457200"/>
            <a:ext cx="1298448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LUYỆN TẬP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67435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BÀI TẬP VỀ NHÀ 1.10 – 1.13 (SGK TR.21)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2. Công thức lượng giác – Toán 11          22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109270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800" b="1">
                    <a:solidFill>
                      <a:srgbClr val="1E293B"/>
                    </a:solidFill>
                    <a:latin typeface="Calibri"/>
                  </a:rPr>
                  <a:t>1.10.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a) </a:t>
                </a:r>
                <a14:m>
                  <m:oMath xmlns:m="http://schemas.openxmlformats.org/officeDocument/2006/math"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A=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den>
                        </m:f>
                      </m:num>
                      <m:den>
                        <m:r>
                          <m:rPr>
                            <m:sty m:val="p"/>
                          </m:rP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2π</m:t>
                            </m:r>
                          </m:num>
                          <m:den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2π</m:t>
                            </m:r>
                          </m:num>
                          <m:den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den>
                    </m:f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; b) </a:t>
                </a:r>
                <a14:m>
                  <m:oMath xmlns:m="http://schemas.openxmlformats.org/officeDocument/2006/math"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B=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</m:fPr>
                      <m:num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</m:fPr>
                      <m:num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</m:fPr>
                      <m:num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</m:fPr>
                      <m:num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. </a:t>
                </a:r>
                <a:r>
                  <a:rPr sz="1800" b="1">
                    <a:solidFill>
                      <a:srgbClr val="1E293B"/>
                    </a:solidFill>
                    <a:latin typeface="Calibri"/>
                  </a:rPr>
                  <a:t>1.11.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Chứng minh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(a+b)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(a−b)=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a−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b=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b−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109270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800" b="1">
                    <a:solidFill>
                      <a:srgbClr val="1E293B"/>
                    </a:solidFill>
                    <a:latin typeface="Calibri"/>
                  </a:rPr>
                  <a:t>1.10.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a) </a:t>
                </a:r>
                <a:r>
                  <a:rPr lang="vi-VN"/>
                  <a:t>A=\frac{\sin\frac{\pi}{15}\cos\frac{\pi}{10}+\sin\frac{\pi}{10}\cos\frac{\pi}{15}}{\cos\frac{2\pi}{15}\cos\frac{\pi}{5}-\sin\frac{2\pi}{15}\sin\frac{\pi}{5}}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; b) </a:t>
                </a:r>
                <a:r>
                  <a:rPr lang="vi-VN"/>
                  <a:t>B=\sin\frac{\pi}{32}\cos\frac{\pi}{32}\cos\frac{\pi}{16}\cos\frac{\pi}{8}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. </a:t>
                </a:r>
                <a:r>
                  <a:rPr sz="1800" b="1">
                    <a:solidFill>
                      <a:srgbClr val="1E293B"/>
                    </a:solidFill>
                    <a:latin typeface="Calibri"/>
                  </a:rPr>
                  <a:t>1.11.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Chứng minh </a:t>
                </a:r>
                <a:r>
                  <a:rPr lang="vi-VN"/>
                  <a:t>\sin(a+b)\sin(a-b)=\sin^2 a-\sin^2 b=\cos^2 b-\cos^2 a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2528316"/>
            <a:ext cx="11064240" cy="909828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564892"/>
                <a:ext cx="10735056" cy="83667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800">
                    <a:solidFill>
                      <a:srgbClr val="1E293B"/>
                    </a:solidFill>
                    <a:latin typeface="Calibri"/>
                  </a:rPr>
                  <a:t>1.10. a) </a:t>
                </a:r>
                <a14:m>
                  <m:oMath xmlns:m="http://schemas.openxmlformats.org/officeDocument/2006/math"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A=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num>
                      <m:den>
                        <m:r>
                          <m:rPr>
                            <m:sty m:val="p"/>
                          </m:rP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den>
                    </m:f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; b) </a:t>
                </a:r>
                <a14:m>
                  <m:oMath xmlns:m="http://schemas.openxmlformats.org/officeDocument/2006/math"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B=</m:t>
                    </m:r>
                    <m:f>
                      <m:fPr>
                        <m:type m:val="bar"/>
                      </m:fPr>
                      <m:num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</m:fPr>
                      <m:num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. 1.11. Dùng công thức tích thành tổng và hạ bậc.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564892"/>
                <a:ext cx="10735056" cy="83667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800">
                    <a:solidFill>
                      <a:srgbClr val="1E293B"/>
                    </a:solidFill>
                    <a:latin typeface="Calibri"/>
                  </a:rPr>
                  <a:t>1.10. a) </a:t>
                </a:r>
                <a:r>
                  <a:rPr lang="vi-VN"/>
                  <a:t>A=\frac{\sin\frac{\pi}{6}}{\cos\frac{\pi}{3}}=1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; b) </a:t>
                </a:r>
                <a:r>
                  <a:rPr lang="vi-VN"/>
                  <a:t>B=\frac{1}{8}\sin\frac{\pi}{4}=\frac{\sqrt{2}}{16}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. 1.11. Dùng công thức tích thành tổng và hạ bậc.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s2_chu"/>
              <p:cNvSpPr txBox="1"/>
              <p:nvPr/>
            </p:nvSpPr>
            <p:spPr>
              <a:xfrm>
                <a:off x="548640" y="3502152"/>
                <a:ext cx="11064240" cy="109270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800" b="1">
                    <a:solidFill>
                      <a:srgbClr val="1E293B"/>
                    </a:solidFill>
                    <a:latin typeface="Calibri"/>
                  </a:rPr>
                  <a:t>1.12.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Tam giác </a:t>
                </a:r>
                <a14:m>
                  <m:oMath xmlns:m="http://schemas.openxmlformats.org/officeDocument/2006/math"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ABC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</m:acc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a=12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 cm; chứng minh </a:t>
                </a:r>
                <a14:m>
                  <m:oMath xmlns:m="http://schemas.openxmlformats.org/officeDocument/2006/math"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p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m:rPr>
                            <m:sty m:val="p"/>
                          </m:rP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num>
                      <m:den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den>
                    </m:f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 và tính </a:t>
                </a:r>
                <a14:m>
                  <m:oMath xmlns:m="http://schemas.openxmlformats.org/officeDocument/2006/math"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. </a:t>
                </a:r>
                <a:r>
                  <a:rPr sz="1800" b="1">
                    <a:solidFill>
                      <a:srgbClr val="1E293B"/>
                    </a:solidFill>
                    <a:latin typeface="Calibri"/>
                  </a:rPr>
                  <a:t>1.13.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sepChr m:val="+"/>
                      </m:dPr>
                      <m:e>
                        <m:f>
                          <m:fPr>
                            <m:type m:val="bar"/>
                          </m:fPr>
                          <m:num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e>
                        <m:f>
                          <m:fPr>
                            <m:type m:val="bar"/>
                          </m:fPr>
                          <m:num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sepChr m:val=""/>
                      </m:dPr>
                      <m:e>
                        <m:f>
                          <m:fPr>
                            <m:type m:val="bar"/>
                          </m:fPr>
                          <m:num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: tìm biên độ, pha ban đầu của </a:t>
                </a:r>
                <a14:m>
                  <m:oMath xmlns:m="http://schemas.openxmlformats.org/officeDocument/2006/math"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sSub>
                      <m:e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0" name="TextBox 9"/>
              <p:cNvSpPr txBox="1"/>
              <p:nvPr/>
            </p:nvSpPr>
            <p:spPr>
              <a:xfrm>
                <a:off x="548640" y="3502152"/>
                <a:ext cx="11064240" cy="109270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800" b="1">
                    <a:solidFill>
                      <a:srgbClr val="1E293B"/>
                    </a:solidFill>
                    <a:latin typeface="Calibri"/>
                  </a:rPr>
                  <a:t>1.12.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Tam giác </a:t>
                </a:r>
                <a:r>
                  <a:rPr lang="vi-VN"/>
                  <a:t>ABC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\widehat{B}=75^\circ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\widehat{C}=45^\circ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a=12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cm; chứng minh </a:t>
                </a:r>
                <a:r>
                  <a:rPr lang="vi-VN"/>
                  <a:t>S=\frac{a^2\sin B\sin C}{2\sin A}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và tính </a:t>
                </a:r>
                <a:r>
                  <a:rPr lang="vi-VN"/>
                  <a:t>S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. </a:t>
                </a:r>
                <a:r>
                  <a:rPr sz="1800" b="1">
                    <a:solidFill>
                      <a:srgbClr val="1E293B"/>
                    </a:solidFill>
                    <a:latin typeface="Calibri"/>
                  </a:rPr>
                  <a:t>1.13.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x_1=2\cos\left(\frac{\pi}{3}t+\frac{\pi}{6}\right)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x_2=2\cos\left(\frac{\pi}{3}t-\frac{\pi}{3}\right)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: tìm biên độ, pha ban đầu của </a:t>
                </a:r>
                <a:r>
                  <a:rPr lang="vi-VN"/>
                  <a:t>x=x_1+x_2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1" name="s3_nen"/>
          <p:cNvSpPr/>
          <p:nvPr/>
        </p:nvSpPr>
        <p:spPr>
          <a:xfrm>
            <a:off x="548640" y="4658868"/>
            <a:ext cx="11064240" cy="1184148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s3_chu"/>
              <p:cNvSpPr txBox="1"/>
              <p:nvPr/>
            </p:nvSpPr>
            <p:spPr>
              <a:xfrm>
                <a:off x="713232" y="4695444"/>
                <a:ext cx="10735056" cy="11109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800">
                    <a:solidFill>
                      <a:srgbClr val="1E293B"/>
                    </a:solidFill>
                    <a:latin typeface="Calibri"/>
                  </a:rPr>
                  <a:t>1.12. </a:t>
                </a:r>
                <a14:m>
                  <m:oMath xmlns:m="http://schemas.openxmlformats.org/officeDocument/2006/math"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S=</m:t>
                    </m:r>
                    <m:f>
                      <m:fPr>
                        <m:type m:val="bar"/>
                      </m:fPr>
                      <m:num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144</m:t>
                        </m:r>
                        <m:r>
                          <m:rPr>
                            <m:sty m:val="p"/>
                          </m:rP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e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75</m:t>
                            </m:r>
                          </m:e>
                          <m:sup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e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45</m:t>
                            </m:r>
                          </m:e>
                          <m:sup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e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60</m:t>
                            </m:r>
                          </m:e>
                          <m:sup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=12(3+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)≈56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78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 cm². 1.13. </a:t>
                </a:r>
                <a14:m>
                  <m:oMath xmlns:m="http://schemas.openxmlformats.org/officeDocument/2006/math"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x=2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sepChr m:val=""/>
                      </m:dPr>
                      <m:e>
                        <m:f>
                          <m:fPr>
                            <m:type m:val="bar"/>
                          </m:fPr>
                          <m:num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e>
                    </m:d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: biên độ </a:t>
                </a:r>
                <a14:m>
                  <m:oMath xmlns:m="http://schemas.openxmlformats.org/officeDocument/2006/math"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 cm, pha ban đầu </a:t>
                </a:r>
                <a14:m>
                  <m:oMath xmlns:m="http://schemas.openxmlformats.org/officeDocument/2006/math"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2" name="TextBox 11"/>
              <p:cNvSpPr txBox="1"/>
              <p:nvPr/>
            </p:nvSpPr>
            <p:spPr>
              <a:xfrm>
                <a:off x="713232" y="4695444"/>
                <a:ext cx="10735056" cy="11109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800">
                    <a:solidFill>
                      <a:srgbClr val="1E293B"/>
                    </a:solidFill>
                    <a:latin typeface="Calibri"/>
                  </a:rPr>
                  <a:t>1.12. </a:t>
                </a:r>
                <a:r>
                  <a:rPr lang="vi-VN"/>
                  <a:t>S=\frac{144\sin 75^\circ\sin 45^\circ}{2\sin 60^\circ}=12(3+\sqrt{3})\approx 56{,}78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cm². 1.13. </a:t>
                </a:r>
                <a:r>
                  <a:rPr lang="vi-VN"/>
                  <a:t>x=2\sqrt{2}\cos\left(\frac{\pi}{3}t-\frac{\pi}{12}\right)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: biên độ </a:t>
                </a:r>
                <a:r>
                  <a:rPr lang="vi-VN"/>
                  <a:t>2\sqrt{2}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cm, pha ban đầu </a:t>
                </a:r>
                <a:r>
                  <a:rPr lang="vi-VN"/>
                  <a:t>-\frac{\pi}{12}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TRÒ CHƠI: RUNG CHUÔNG VÀNG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2. Công thức lượng giác – Toán 11         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554480"/>
            <a:ext cx="9418320" cy="2962656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36192" y="1591056"/>
            <a:ext cx="9089136" cy="2889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3000">
                <a:solidFill>
                  <a:srgbClr val="1E293B"/>
                </a:solidFill>
                <a:latin typeface="Calibri"/>
              </a:rPr>
              <a:t>🔔 </a:t>
            </a:r>
            <a:r>
              <a:rPr sz="3000" b="1">
                <a:solidFill>
                  <a:srgbClr val="1E293B"/>
                </a:solidFill>
                <a:latin typeface="Calibri"/>
              </a:rPr>
              <a:t>Luật chơi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Mỗi bạn một bảng con – viết đáp án khi hết giờ.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Câu nhiều lựa chọn: ghi A, B, C hoặc D (30 giây).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Câu Đúng/Sai: ghi Đ hoặc S cho từng ý (60 giây).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Câu trả lời ngắn, thực tế: ghi một số (60 giây).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Sai: rời sàn thi. Bạn trụ lại cuối cùng </a:t>
            </a:r>
            <a:r>
              <a:rPr sz="2400" b="1">
                <a:solidFill>
                  <a:srgbClr val="1E293B"/>
                </a:solidFill>
                <a:latin typeface="Calibri"/>
              </a:rPr>
              <a:t>rung chuông vàng</a:t>
            </a:r>
            <a:r>
              <a:rPr sz="2400">
                <a:solidFill>
                  <a:srgbClr val="1E293B"/>
                </a:solidFill>
                <a:latin typeface="Calibri"/>
              </a:rPr>
              <a:t>!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CÂU 1 (BIẾT)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2. Công thức lượng giác – Toán 11         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56997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>
                <a:solidFill>
                  <a:srgbClr val="1E293B"/>
                </a:solidFill>
                <a:latin typeface="Calibri"/>
              </a:rPr>
              <a:t>Khẳng định nào sau đây đúng?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(a+b)=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b+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\cos(a+b)=\cos a\cos b+\sin a\sin b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617220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(a−b)=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b−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\sin(a-b)=\sin a\cos b-\cos a\sin b</a:t>
                </a:r>
              </a:p>
            </p:txBody>
          </p:sp>
        </mc:Fallback>
      </mc:AlternateContent>
      <p:sp>
        <p:nvSpPr>
          <p:cNvPr id="12" name="Rounded Rectangle 11"/>
          <p:cNvSpPr/>
          <p:nvPr/>
        </p:nvSpPr>
        <p:spPr>
          <a:xfrm>
            <a:off x="54864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2a=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\sin 2a=\sin a\cos a</a:t>
                </a:r>
              </a:p>
            </p:txBody>
          </p:sp>
        </mc:Fallback>
      </mc:AlternateContent>
      <p:sp>
        <p:nvSpPr>
          <p:cNvPr id="14" name="Rounded Rectangle 13"/>
          <p:cNvSpPr/>
          <p:nvPr/>
        </p:nvSpPr>
        <p:spPr>
          <a:xfrm>
            <a:off x="617220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2a=1−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\cos 2a=1-\cos^2 a</a:t>
                </a:r>
              </a:p>
            </p:txBody>
          </p:sp>
        </mc:Fallback>
      </mc:AlternateContent>
      <p:sp>
        <p:nvSpPr>
          <p:cNvPr id="16" name="s1_nen"/>
          <p:cNvSpPr/>
          <p:nvPr/>
        </p:nvSpPr>
        <p:spPr>
          <a:xfrm>
            <a:off x="548640" y="4617720"/>
            <a:ext cx="11064240" cy="60045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1_chu"/>
          <p:cNvSpPr txBox="1"/>
          <p:nvPr/>
        </p:nvSpPr>
        <p:spPr>
          <a:xfrm>
            <a:off x="713232" y="4654296"/>
            <a:ext cx="10735056" cy="5273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Đáp án B.</a:t>
            </a:r>
            <a:r>
              <a:rPr sz="2200">
                <a:solidFill>
                  <a:srgbClr val="1E293B"/>
                </a:solidFill>
                <a:latin typeface="Calibri"/>
              </a:rPr>
              <a:t> Công thức cộng.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CÂU 2 (HIỂU)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2. Công thức lượng giác – Toán 11          25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Giá trị của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105</m:t>
                        </m:r>
                      </m:e>
                      <m:sup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 là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Giá trị của </a:t>
                </a:r>
                <a:r>
                  <a:rPr lang="vi-VN"/>
                  <a:t>\cos 105^\circ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 là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54864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\frac{\sqrt{6}+\sqrt{2}}{4}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617220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\frac{\sqrt{2}-\sqrt{6}}{4}</a:t>
                </a:r>
              </a:p>
            </p:txBody>
          </p:sp>
        </mc:Fallback>
      </mc:AlternateContent>
      <p:sp>
        <p:nvSpPr>
          <p:cNvPr id="12" name="Rounded Rectangle 11"/>
          <p:cNvSpPr/>
          <p:nvPr/>
        </p:nvSpPr>
        <p:spPr>
          <a:xfrm>
            <a:off x="54864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\frac{\sqrt{6}-\sqrt{2}}{4}</a:t>
                </a:r>
              </a:p>
            </p:txBody>
          </p:sp>
        </mc:Fallback>
      </mc:AlternateContent>
      <p:sp>
        <p:nvSpPr>
          <p:cNvPr id="14" name="Rounded Rectangle 13"/>
          <p:cNvSpPr/>
          <p:nvPr/>
        </p:nvSpPr>
        <p:spPr>
          <a:xfrm>
            <a:off x="617220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-\frac{\sqrt{6}+\sqrt{2}}{4}</a:t>
                </a:r>
              </a:p>
            </p:txBody>
          </p:sp>
        </mc:Fallback>
      </mc:AlternateContent>
      <p:sp>
        <p:nvSpPr>
          <p:cNvPr id="16" name="s1_nen"/>
          <p:cNvSpPr/>
          <p:nvPr/>
        </p:nvSpPr>
        <p:spPr>
          <a:xfrm>
            <a:off x="548640" y="4617720"/>
            <a:ext cx="11064240" cy="1053084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s1_chu"/>
              <p:cNvSpPr txBox="1"/>
              <p:nvPr/>
            </p:nvSpPr>
            <p:spPr>
              <a:xfrm>
                <a:off x="713232" y="4654296"/>
                <a:ext cx="10735056" cy="979932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B.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·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·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713232" y="4654296"/>
                <a:ext cx="10735056" cy="979932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B.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\cos(60^\circ+45^\circ)=\frac{1}{2}\cdot\frac{\sqrt{2}}{2}-\frac{\sqrt{3}}{2}\cdot\frac{\sqrt{2}}{2}=\frac{\sqrt{2}-\sqrt{6}}{4}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CÂU 3 (ĐÚNG/SAI)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2. Công thức lượng giác – Toán 11          26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868679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Cho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0&lt;a&lt;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 Xét tính đúng, sai: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868679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Cho </a:t>
                </a:r>
                <a:r>
                  <a:rPr lang="vi-VN"/>
                  <a:t>\sin a=\frac{3}{5}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0&lt;a&lt;\frac{\pi}{2}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 Xét tính đúng, sai: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548640" y="2331720"/>
                <a:ext cx="7680960" cy="92583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a=</m:t>
                    </m:r>
                    <m:f>
                      <m:fPr>
                        <m:type m:val="bar"/>
                      </m:fPr>
                      <m:num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548640" y="2331720"/>
                <a:ext cx="7680960" cy="92583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\cos a=\frac{4}{5}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9" name="s1_nen"/>
          <p:cNvSpPr/>
          <p:nvPr/>
        </p:nvSpPr>
        <p:spPr>
          <a:xfrm>
            <a:off x="8412480" y="2304288"/>
            <a:ext cx="3200400" cy="78867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1_chu"/>
          <p:cNvSpPr txBox="1"/>
          <p:nvPr/>
        </p:nvSpPr>
        <p:spPr>
          <a:xfrm>
            <a:off x="8577072" y="2340864"/>
            <a:ext cx="2871216" cy="71551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E293B"/>
                </a:solidFill>
                <a:latin typeface="Calibri"/>
              </a:rPr>
              <a:t>ĐÚNG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548640" y="3303270"/>
                <a:ext cx="7680960" cy="92583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2a=</m:t>
                    </m:r>
                    <m:f>
                      <m:fPr>
                        <m:type m:val="bar"/>
                      </m:fPr>
                      <m:num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548640" y="3303270"/>
                <a:ext cx="7680960" cy="92583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\sin 2a=\frac{12}{25}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2" name="s2_nen"/>
          <p:cNvSpPr/>
          <p:nvPr/>
        </p:nvSpPr>
        <p:spPr>
          <a:xfrm>
            <a:off x="8412480" y="3275838"/>
            <a:ext cx="3200400" cy="78867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2_chu"/>
          <p:cNvSpPr txBox="1"/>
          <p:nvPr/>
        </p:nvSpPr>
        <p:spPr>
          <a:xfrm>
            <a:off x="8577072" y="3312414"/>
            <a:ext cx="2871216" cy="71551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E293B"/>
                </a:solidFill>
                <a:latin typeface="Calibri"/>
              </a:rPr>
              <a:t>SAI</a:t>
            </a:r>
            <a:r>
              <a:rPr sz="2100">
                <a:solidFill>
                  <a:srgbClr val="1E293B"/>
                </a:solidFill>
                <a:latin typeface="Calibri"/>
              </a:rPr>
              <a:t> (24/25)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548640" y="4274820"/>
                <a:ext cx="7680960" cy="92583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2a=</m:t>
                    </m:r>
                    <m:f>
                      <m:fPr>
                        <m:type m:val="bar"/>
                      </m:fPr>
                      <m:num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4" name="TextBox 13"/>
              <p:cNvSpPr txBox="1"/>
              <p:nvPr/>
            </p:nvSpPr>
            <p:spPr>
              <a:xfrm>
                <a:off x="548640" y="4274820"/>
                <a:ext cx="7680960" cy="92583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c) </a:t>
                </a:r>
                <a:r>
                  <a:rPr lang="vi-VN"/>
                  <a:t>\cos 2a=\frac{7}{25}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5" name="s3_nen"/>
          <p:cNvSpPr/>
          <p:nvPr/>
        </p:nvSpPr>
        <p:spPr>
          <a:xfrm>
            <a:off x="8412480" y="4247388"/>
            <a:ext cx="3200400" cy="78867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3_chu"/>
          <p:cNvSpPr txBox="1"/>
          <p:nvPr/>
        </p:nvSpPr>
        <p:spPr>
          <a:xfrm>
            <a:off x="8577072" y="4283964"/>
            <a:ext cx="2871216" cy="71551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E293B"/>
                </a:solidFill>
                <a:latin typeface="Calibri"/>
              </a:rPr>
              <a:t>ĐÚNG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548640" y="5246370"/>
                <a:ext cx="7680960" cy="92583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2a=</m:t>
                    </m:r>
                    <m:f>
                      <m:fPr>
                        <m:type m:val="bar"/>
                      </m:fPr>
                      <m:num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num>
                      <m:den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548640" y="5246370"/>
                <a:ext cx="7680960" cy="92583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d) </a:t>
                </a:r>
                <a:r>
                  <a:rPr lang="vi-VN"/>
                  <a:t>\tan 2a=\frac{24}{7}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8" name="s4_nen"/>
          <p:cNvSpPr/>
          <p:nvPr/>
        </p:nvSpPr>
        <p:spPr>
          <a:xfrm>
            <a:off x="8412480" y="5218938"/>
            <a:ext cx="3200400" cy="78867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4_chu"/>
          <p:cNvSpPr txBox="1"/>
          <p:nvPr/>
        </p:nvSpPr>
        <p:spPr>
          <a:xfrm>
            <a:off x="8577072" y="5255514"/>
            <a:ext cx="2871216" cy="71551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E293B"/>
                </a:solidFill>
                <a:latin typeface="Calibri"/>
              </a:rPr>
              <a:t>ĐÚNG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CÂU 4 (TRẢ LỜI NGẮN)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2. Công thức lượng giác – Toán 11          27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46304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Tính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 (viết dạng số thập phân).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46304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Tính </a:t>
                </a:r>
                <a:r>
                  <a:rPr lang="vi-VN"/>
                  <a:t>\cos 75^\circ\cos 15^\circ+\sin 75^\circ\sin 15^\circ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 (viết dạng số thập phân).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3931920"/>
            <a:ext cx="11064240" cy="63093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3968496"/>
                <a:ext cx="10735056" cy="55778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Đáp số: 0,5.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=0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3968496"/>
                <a:ext cx="10735056" cy="55778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Đáp số: 0,5.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=\cos(75^\circ-15^\circ)=\cos 60^\circ=0{,}5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CÂU 5 (THỰC TẾ)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2. Công thức lượng giác – Toán 11          28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463040"/>
                <a:ext cx="11064240" cy="96621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Hai nốt thuần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 phát cùng lúc tạo âm kết hợp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f(t)=3</m:t>
                    </m:r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t+4</m:t>
                    </m:r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t=k</m:t>
                    </m:r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(t+φ)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. Biên độ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 bằng bao nhiêu?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463040"/>
                <a:ext cx="11064240" cy="96621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Hai nốt thuần </a:t>
                </a:r>
                <a:r>
                  <a:rPr lang="vi-VN"/>
                  <a:t>3\sin t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4\cos t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 phát cùng lúc tạo âm kết hợp </a:t>
                </a:r>
                <a:r>
                  <a:rPr lang="vi-VN"/>
                  <a:t>f(t)=3\sin t+4\cos t=k\sin(t+\varphi)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. Biên độ </a:t>
                </a:r>
                <a:r>
                  <a:rPr lang="vi-VN"/>
                  <a:t>k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 bằng bao nhiêu?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3931920"/>
            <a:ext cx="11064240" cy="960119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3968496"/>
                <a:ext cx="10735056" cy="886967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Đáp số: 5.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k=</m:t>
                    </m:r>
                    <m:rad>
                      <m:radPr>
                        <m:degHide m:val="on"/>
                      </m:radPr>
                      <m:deg/>
                      <m:e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(vì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t+4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t=5</m:t>
                    </m:r>
                    <m:d>
                      <m:dPr>
                        <m:sepChr m:val="+"/>
                      </m:dPr>
                      <m:e>
                        <m:f>
                          <m:fPr>
                            <m:type m:val="bar"/>
                          </m:fPr>
                          <m:nu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e>
                        <m:f>
                          <m:fPr>
                            <m:type m:val="bar"/>
                          </m:fPr>
                          <m:nu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).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3968496"/>
                <a:ext cx="10735056" cy="886967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Đáp số: 5.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k=\sqrt{3^2+4^2}=5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(vì </a:t>
                </a:r>
                <a:r>
                  <a:rPr lang="vi-VN"/>
                  <a:t>3\sin t+4\cos t=5\left(\frac{3}{5}\sin t+\frac{4}{5}\cos t\right)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).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CỦNG CỐ TRỰC TUYẾN – NHIỆM VỤ VỀ NHÀ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2. Công thức lượng giác – Toán 11         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75895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Bài củng cố trực tuyến</a:t>
            </a:r>
            <a:r>
              <a:rPr sz="2200">
                <a:solidFill>
                  <a:srgbClr val="1E293B"/>
                </a:solidFill>
                <a:latin typeface="Calibri"/>
              </a:rPr>
              <a:t> – quét mã QR hoặc mở đường link: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64748B"/>
                </a:solidFill>
                <a:latin typeface="Calibri"/>
              </a:rPr>
              <a:t>https://trangtu66.github.io/Taode_thi_online/cc_bai2_t11.html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Nhiệm vụ về nhà: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Hoàn thành Bài tập 1.7 – 1.13.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Đọc trước </a:t>
            </a:r>
            <a:r>
              <a:rPr sz="2200" b="1">
                <a:solidFill>
                  <a:srgbClr val="1E293B"/>
                </a:solidFill>
                <a:latin typeface="Calibri"/>
              </a:rPr>
              <a:t>Bài 3. Hàm số lượng giác</a:t>
            </a:r>
            <a:r>
              <a:rPr sz="2200">
                <a:solidFill>
                  <a:srgbClr val="1E293B"/>
                </a:solidFill>
                <a:latin typeface="Calibri"/>
              </a:rPr>
              <a:t> (SGK tr.22).</a:t>
            </a:r>
          </a:p>
        </p:txBody>
      </p:sp>
      <p:pic>
        <p:nvPicPr>
          <p:cNvPr id="8" name="Picture 7" descr="QR_CungCo_Bai2_Toan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554480"/>
            <a:ext cx="3291840" cy="3291840"/>
          </a:xfrm>
          <a:prstGeom prst="rect">
            <a:avLst/>
          </a:prstGeom>
        </p:spPr>
      </p:pic>
      <p:sp>
        <p:nvSpPr>
          <p:cNvPr id="9" name="Rounded Rectangle 8">
            <a:hlinkClick r:id="rId4"/>
          </p:cNvPr>
          <p:cNvSpPr/>
          <p:nvPr/>
        </p:nvSpPr>
        <p:spPr>
          <a:xfrm>
            <a:off x="8412480" y="5029200"/>
            <a:ext cx="3291840" cy="59436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▶  MỞ BÀI CỦNG CỐ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SƠ ĐỒ TƯ DUY – BÀI 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2. Công thức lượng giác – Toán 11          30</a:t>
            </a:r>
          </a:p>
        </p:txBody>
      </p:sp>
      <p:pic>
        <p:nvPicPr>
          <p:cNvPr id="7" name="Picture 6" descr="SoDoTuDuy_TOAN11_Bai2_CongThucLuongGiac_T4-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5397" y="1371600"/>
            <a:ext cx="8630725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106863" y="457200"/>
            <a:ext cx="1536192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DÀNH CHO GV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3660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PHỤ LỤC 1 – SAI LẦM THƯỜNG GẶP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2. Công thức lượng giác – Toán 11          31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484632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Viết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(a+b)=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a+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hoặc sai dấu trong công thức cộng của cos.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Quên xét dấu khi khai căn (Ví dụ 3, Luyện tập 2).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Sai hệ số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khi biến đổi tích thành tổng; nhầm dấu ở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u−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Cộng biên độ các sóng (tình huống mở đầu ra 10).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484632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Viết </a:t>
                </a:r>
                <a:r>
                  <a:rPr lang="vi-VN"/>
                  <a:t>\cos(a+b)=\cos a+\cos b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hoặc sai dấu trong công thức cộng của cos.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Quên xét dấu khi khai căn (Ví dụ 3, Luyện tập 2).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Sai hệ số </a:t>
                </a:r>
                <a:r>
                  <a:rPr lang="vi-VN"/>
                  <a:t>\frac{1}{2}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khi biến đổi tích thành tổng; nhầm dấu ở </a:t>
                </a:r>
                <a:r>
                  <a:rPr lang="vi-VN"/>
                  <a:t>\cos u-\cos v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Cộng biên độ các sóng (tình huống mở đầu ra 10).</a:t>
                </a: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106863" y="457200"/>
            <a:ext cx="1536192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DÀNH CHO GV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3660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PHỤ LỤC 2 – PHÂN HOÁ, DỰ PHÒNG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2. Công thức lượng giác – Toán 11          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 b="1">
                <a:solidFill>
                  <a:srgbClr val="1E293B"/>
                </a:solidFill>
                <a:latin typeface="Calibri"/>
              </a:rPr>
              <a:t>HS cần hỗ trợ:</a:t>
            </a:r>
            <a:r>
              <a:rPr sz="2000">
                <a:solidFill>
                  <a:srgbClr val="1E293B"/>
                </a:solidFill>
                <a:latin typeface="Calibri"/>
              </a:rPr>
              <a:t> bảng công thức in sẵn; Ví dụ 1, Luyện tập 3, Bài 1.7.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 b="1">
                <a:solidFill>
                  <a:srgbClr val="1E293B"/>
                </a:solidFill>
                <a:latin typeface="Calibri"/>
              </a:rPr>
              <a:t>HS khá, giỏi:</a:t>
            </a:r>
            <a:r>
              <a:rPr sz="2000">
                <a:solidFill>
                  <a:srgbClr val="1E293B"/>
                </a:solidFill>
                <a:latin typeface="Calibri"/>
              </a:rPr>
              <a:t> Luyện tập 4, Bài 1.9b, 1.10b, 1.12, 1.13.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Khối 11 không có HS khuyết tật; HS yếu được hỗ trợ theo cặp.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 b="1">
                <a:solidFill>
                  <a:srgbClr val="1E293B"/>
                </a:solidFill>
                <a:latin typeface="Calibri"/>
              </a:rPr>
              <a:t>Mất điện/mạng:</a:t>
            </a:r>
            <a:r>
              <a:rPr sz="2000">
                <a:solidFill>
                  <a:srgbClr val="1E293B"/>
                </a:solidFill>
                <a:latin typeface="Calibri"/>
              </a:rPr>
              <a:t> KHBD in; bỏ trang GeoGebra, vẽ phác hai đồ thị trên bảng.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