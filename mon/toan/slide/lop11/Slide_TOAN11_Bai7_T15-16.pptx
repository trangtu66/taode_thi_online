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nhanh Bài 2.10, 2.13 (Bài 6). HS dự đoán, GV ghi lại – giải ở Ví dụ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dự đoán ở Khởi động: nếu nghĩ là cấp số cộng tăng 12 triệu/năm thì chỉ được 2 940 triệu.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trangtu66.github.io/Taode_thi_online/cc_bai7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7. CẤP SỐ NHÂN</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15, 16 theo PPCT · Năm học 2026 – 2027</a:t>
            </a:r>
          </a:p>
          <a:p>
            <a:pPr algn="l">
              <a:spcAft>
                <a:spcPts val="800"/>
              </a:spcAft>
            </a:pPr>
            <a:r>
              <a:rPr sz="2200">
                <a:solidFill>
                  <a:srgbClr val="1E293B"/>
                </a:solidFill>
                <a:latin typeface="Calibri"/>
              </a:rPr>
              <a:t>GV soạn: TTT –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một dãy số là cấp số nhân</a:t>
            </a:r>
          </a:p>
          <a:p>
            <a:pPr algn="l" marL="365760" indent="-365760">
              <a:spcAft>
                <a:spcPts val="800"/>
              </a:spcAft>
              <a:buClr>
                <a:srgbClr val="1E40AF"/>
              </a:buClr>
              <a:buFont typeface="Arial"/>
              <a:buChar char="•"/>
            </a:pPr>
            <a:r>
              <a:rPr sz="2400">
                <a:solidFill>
                  <a:srgbClr val="1E293B"/>
                </a:solidFill>
                <a:latin typeface="Calibri"/>
              </a:rPr>
              <a:t>Giải thích công thức số hạng tổng quát</a:t>
            </a:r>
          </a:p>
          <a:p>
            <a:pPr algn="l" marL="365760" indent="-365760">
              <a:spcAft>
                <a:spcPts val="800"/>
              </a:spcAft>
              <a:buClr>
                <a:srgbClr val="1E40AF"/>
              </a:buClr>
              <a:buFont typeface="Arial"/>
              <a:buChar char="•"/>
            </a:pPr>
            <a:r>
              <a:rPr sz="2400">
                <a:solidFill>
                  <a:srgbClr val="1E293B"/>
                </a:solidFill>
                <a:latin typeface="Calibri"/>
              </a:rPr>
              <a:t>Tính tổng n số hạng đầu của cấp số nhân</a:t>
            </a:r>
          </a:p>
          <a:p>
            <a:pPr algn="l" marL="365760" indent="-365760">
              <a:spcAft>
                <a:spcPts val="800"/>
              </a:spcAft>
              <a:buClr>
                <a:srgbClr val="1E40AF"/>
              </a:buClr>
              <a:buFont typeface="Arial"/>
              <a:buChar char="•"/>
            </a:pPr>
            <a:r>
              <a:rPr sz="2400">
                <a:solidFill>
                  <a:srgbClr val="1E293B"/>
                </a:solidFill>
                <a:latin typeface="Calibri"/>
              </a:rPr>
              <a:t>Giải bài toán tăng trưởng thực tiễn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LƯƠNG CHUYÊN GIA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a:t>
            </a:r>
          </a:p>
        </p:txBody>
      </p:sp>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năm thứ hai, thứ ba là bao nhiêu? Có lập thành cấp số cộng không?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a:t>
                </a:r>
              </a:p>
              <a:p>
                <a:pPr algn="l">
                  <a:spcAft>
                    <a:spcPts val="800"/>
                  </a:spcAft>
                </a:pPr>
                <a:r>
                  <a:rPr sz="2400" b="1">
                    <a:solidFill>
                      <a:srgbClr val="1E40AF"/>
                    </a:solidFill>
                    <a:latin typeface="Calibri"/>
                  </a:rPr>
                  <a:t>Gợi mở: Xét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với </a:t>
                </a:r>
                <a:r>
                  <a:rPr lang="vi-VN"/>
                  <a:t>u_n=3·2^n</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r>
                  <a:rPr lang="vi-VN"/>
                  <a:t>u_n</a:t>
                </a:r>
                <a:r>
                  <a:rPr sz="2400">
                    <a:solidFill>
                      <a:srgbClr val="1E293B"/>
                    </a:solidFill>
                    <a:latin typeface="Calibri"/>
                  </a:rPr>
                  <a:t> và </a:t>
                </a:r>
                <a:r>
                  <a:rPr lang="vi-VN"/>
                  <a:t>u_(n−1)</a:t>
                </a:r>
                <a:r>
                  <a:rPr sz="2400">
                    <a:solidFill>
                      <a:srgbClr val="1E293B"/>
                    </a:solidFill>
                    <a:latin typeface="Calibri"/>
                  </a:rPr>
                  <a:t>.</a:t>
                </a:r>
              </a:p>
              <a:p>
                <a:pPr algn="l">
                  <a:spcAft>
                    <a:spcPts val="800"/>
                  </a:spcAft>
                </a:pPr>
                <a:r>
                  <a:rPr sz="2400" b="1">
                    <a:solidFill>
                      <a:srgbClr val="1E40AF"/>
                    </a:solidFill>
                    <a:latin typeface="Calibri"/>
                  </a:rPr>
                  <a:t>Gợi mở: Xét tỉ số </a:t>
                </a:r>
                <a:r>
                  <a:rPr lang="vi-VN"/>
                  <a:t>\frac{u_n}{u_{n-1}}</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=3·2=6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=96</m:t>
                    </m:r>
                  </m:oMath>
                </a14:m>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u_1=3\cdot 2=6</a:t>
                </a:r>
                <a:r>
                  <a:rPr sz="2400">
                    <a:solidFill>
                      <a:srgbClr val="1E293B"/>
                    </a:solidFill>
                    <a:latin typeface="Calibri"/>
                  </a:rPr>
                  <a:t>, </a:t>
                </a:r>
                <a:r>
                  <a:rPr lang="vi-VN"/>
                  <a:t>u_2=12</a:t>
                </a:r>
                <a:r>
                  <a:rPr sz="2400">
                    <a:solidFill>
                      <a:srgbClr val="1E293B"/>
                    </a:solidFill>
                    <a:latin typeface="Calibri"/>
                  </a:rPr>
                  <a:t>, </a:t>
                </a:r>
                <a:r>
                  <a:rPr lang="vi-VN"/>
                  <a:t>u_3=24</a:t>
                </a:r>
                <a:r>
                  <a:rPr sz="2400">
                    <a:solidFill>
                      <a:srgbClr val="1E293B"/>
                    </a:solidFill>
                    <a:latin typeface="Calibri"/>
                  </a:rPr>
                  <a:t>, </a:t>
                </a:r>
                <a:r>
                  <a:rPr lang="vi-VN"/>
                  <a:t>u_4=48</a:t>
                </a:r>
                <a:r>
                  <a:rPr sz="2400">
                    <a:solidFill>
                      <a:srgbClr val="1E293B"/>
                    </a:solidFill>
                    <a:latin typeface="Calibri"/>
                  </a:rPr>
                  <a:t>, </a:t>
                </a:r>
                <a:r>
                  <a:rPr lang="vi-VN"/>
                  <a:t>u_5=96</a:t>
                </a:r>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u_n=2u_{n-1}</a:t>
                </a:r>
                <a:r>
                  <a:rPr sz="2400" b="1">
                    <a:solidFill>
                      <a:srgbClr val="991B1B"/>
                    </a:solidFill>
                    <a:latin typeface="Calibri"/>
                  </a:rPr>
                  <a:t> </a:t>
                </a:r>
                <a:r>
                  <a:rPr lang="vi-VN"/>
                  <a:t>(n\ge 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7</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·q</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r>
                  <a:rPr lang="vi-VN"/>
                  <a:t>q</a:t>
                </a:r>
                <a:r>
                  <a:rPr sz="2400" b="1">
                    <a:solidFill>
                      <a:srgbClr val="991B1B"/>
                    </a:solidFill>
                    <a:latin typeface="Calibri"/>
                  </a:rPr>
                  <a:t>. Số </a:t>
                </a:r>
                <a:r>
                  <a:rPr lang="vi-VN"/>
                  <a:t>q</a:t>
                </a:r>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r>
                  <a:rPr lang="vi-VN"/>
                  <a:t>(u_n)</a:t>
                </a:r>
                <a:r>
                  <a:rPr sz="2400" b="1">
                    <a:solidFill>
                      <a:srgbClr val="991B1B"/>
                    </a:solidFill>
                    <a:latin typeface="Calibri"/>
                  </a:rPr>
                  <a:t> với công bội </a:t>
                </a:r>
                <a:r>
                  <a:rPr lang="vi-VN"/>
                  <a:t>q</a:t>
                </a:r>
                <a:r>
                  <a:rPr sz="2400" b="1">
                    <a:solidFill>
                      <a:srgbClr val="991B1B"/>
                    </a:solidFill>
                    <a:latin typeface="Calibri"/>
                  </a:rPr>
                  <a:t> được cho bởi hệ thức truy hồi </a:t>
                </a:r>
                <a:r>
                  <a:rPr lang="vi-VN"/>
                  <a:t>u_n=u_(n−1)·q</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r>
                  <a:rPr lang="vi-VN"/>
                  <a:t>a, a, a, …</a:t>
                </a:r>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=a=a·1=</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·1</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p:txBody>
          </p:sp>
        </mc:Choice>
        <mc:Fallback>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u_n=a=a\cdot 1=u_{n-1}\cdot 1</a:t>
                </a:r>
                <a:r>
                  <a:rPr sz="2400">
                    <a:solidFill>
                      <a:srgbClr val="1E293B"/>
                    </a:solidFill>
                    <a:latin typeface="Calibri"/>
                  </a:rPr>
                  <a:t> với mọi </a:t>
                </a:r>
                <a:r>
                  <a:rPr lang="vi-VN"/>
                  <a:t>n\ge 2</a:t>
                </a:r>
              </a:p>
            </p:txBody>
          </p:sp>
        </mc:Fallback>
      </mc:AlternateContent>
      <p:sp>
        <p:nvSpPr>
          <p:cNvPr id="8" name="Rounded Rectangle 7"/>
          <p:cNvSpPr/>
          <p:nvPr/>
        </p:nvSpPr>
        <p:spPr>
          <a:xfrm>
            <a:off x="731520" y="21061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14:m>
                  <m:oMath xmlns:m="http://schemas.openxmlformats.org/officeDocument/2006/math">
                    <m:r>
                      <a:rPr lang="vi-VN" sz="2400" b="1">
                        <a:solidFill>
                          <a:srgbClr val="991B1B"/>
                        </a:solidFill>
                        <a:latin typeface="Cambria Math" panose="02040503050406030204" pitchFamily="18" charset="0"/>
                      </a:rPr>
                      <m:t>q=1</m:t>
                    </m:r>
                  </m:oMath>
                </a14:m>
              </a:p>
            </p:txBody>
          </p:sp>
        </mc:Choice>
        <mc:Fallback>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r>
                  <a:rPr lang="vi-VN"/>
                  <a:t>q=1</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14:m>
                  <m:oMath xmlns:m="http://schemas.openxmlformats.org/officeDocument/2006/math">
                    <m:r>
                      <a:rPr lang="vi-VN" sz="2400" b="1">
                        <a:solidFill>
                          <a:srgbClr val="1E40AF"/>
                        </a:solidFill>
                        <a:latin typeface="Cambria Math" panose="02040503050406030204" pitchFamily="18" charset="0"/>
                      </a:rPr>
                      <m:t>q=−2</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r>
                  <a:rPr lang="vi-VN"/>
                  <a:t>u_1=5</a:t>
                </a:r>
                <a:r>
                  <a:rPr sz="2400">
                    <a:solidFill>
                      <a:srgbClr val="1E293B"/>
                    </a:solidFill>
                    <a:latin typeface="Calibri"/>
                  </a:rPr>
                  <a:t> và công bội </a:t>
                </a:r>
                <a:r>
                  <a:rPr lang="vi-VN"/>
                  <a:t>q=−2</a:t>
                </a:r>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r>
                  <a:rPr lang="vi-VN"/>
                  <a:t>q=-2</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·q=5·(−2)=−10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·q=(−10)·(−2)=20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=20·(−2)=−40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=(−40)·(−2)=80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a:t>
                </a:r>
                <a:r>
                  <a:rPr sz="2400">
                    <a:solidFill>
                      <a:srgbClr val="1E293B"/>
                    </a:solidFill>
                    <a:latin typeface="Calibri"/>
                  </a:rPr>
                  <a:t>;  </a:t>
                </a:r>
                <a:r>
                  <a:rPr lang="vi-VN"/>
                  <a:t>u_2=u_1\cdot q=5\cdot(-2)=-10</a:t>
                </a:r>
              </a:p>
              <a:p>
                <a:pPr algn="l" marL="365760" indent="-365760">
                  <a:spcAft>
                    <a:spcPts val="800"/>
                  </a:spcAft>
                  <a:buClr>
                    <a:srgbClr val="1E40AF"/>
                  </a:buClr>
                  <a:buFont typeface="Arial"/>
                  <a:buChar char="•"/>
                </a:pPr>
                <a:r>
                  <a:rPr lang="vi-VN"/>
                  <a:t>u_3=u_2\cdot q=(-10)\cdot(-2)=20</a:t>
                </a:r>
              </a:p>
              <a:p>
                <a:pPr algn="l" marL="365760" indent="-365760">
                  <a:spcAft>
                    <a:spcPts val="800"/>
                  </a:spcAft>
                  <a:buClr>
                    <a:srgbClr val="1E40AF"/>
                  </a:buClr>
                  <a:buFont typeface="Arial"/>
                  <a:buChar char="•"/>
                </a:pPr>
                <a:r>
                  <a:rPr lang="vi-VN"/>
                  <a:t>u_4=20\cdot(-2)=-40</a:t>
                </a:r>
                <a:r>
                  <a:rPr sz="2400">
                    <a:solidFill>
                      <a:srgbClr val="1E293B"/>
                    </a:solidFill>
                    <a:latin typeface="Calibri"/>
                  </a:rPr>
                  <a:t>;  </a:t>
                </a:r>
                <a:r>
                  <a:rPr lang="vi-VN"/>
                  <a:t>u_5=(-40)\cdot(-2)=80</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5, −10, 20, −40,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n−1</m:t>
                            </m:r>
                          </m:sup>
                        </m:sSup>
                      </m:den>
                    </m:f>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r>
                  <a:rPr sz="2400" b="1">
                    <a:solidFill>
                      <a:srgbClr val="1E40AF"/>
                    </a:solidFill>
                    <a:latin typeface="Calibri"/>
                  </a:rPr>
                  <a:t> không đổi</a:t>
                </a:r>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u_n=1/(3^(n−1))</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r>
                  <a:rPr lang="vi-VN"/>
                  <a:t>\frac{u_n}{u_{n-1}}</a:t>
                </a:r>
                <a:r>
                  <a:rPr sz="2400" b="1">
                    <a:solidFill>
                      <a:srgbClr val="1E40AF"/>
                    </a:solidFill>
                    <a:latin typeface="Calibri"/>
                  </a:rPr>
                  <a:t> không đổi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14:m>
                  <m:oMath xmlns:m="http://schemas.openxmlformats.org/officeDocument/2006/math">
                    <m:r>
                      <a:rPr lang="vi-VN" sz="2200" b="0">
                        <a:solidFill>
                          <a:srgbClr val="1E293B"/>
                        </a:solidFill>
                        <a:latin typeface="Cambria Math" panose="02040503050406030204" pitchFamily="18" charset="0"/>
                      </a:rPr>
                      <m:t>n≥2</m:t>
                    </m:r>
                  </m:oMath>
                </a14:m>
                <a:r>
                  <a:rPr sz="2200">
                    <a:solidFill>
                      <a:srgbClr val="1E293B"/>
                    </a:solidFill>
                    <a:latin typeface="Calibri"/>
                  </a:rPr>
                  <a:t>: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n−1</m:t>
                            </m:r>
                          </m:sup>
                        </m:sSup>
                      </m:den>
                    </m:f>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n−2</m:t>
                            </m:r>
                          </m:sup>
                        </m:sSup>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oMath>
                </a14:m>
              </a:p>
              <a:p>
                <a:pPr algn="l" marL="365760" indent="-365760">
                  <a:spcAft>
                    <a:spcPts val="800"/>
                  </a:spcAft>
                  <a:buClr>
                    <a:srgbClr val="1E40AF"/>
                  </a:buClr>
                  <a:buFont typeface="Arial"/>
                  <a:buChar char="•"/>
                </a:pPr>
                <a:r>
                  <a:rPr sz="2200">
                    <a:solidFill>
                      <a:srgbClr val="1E293B"/>
                    </a:solidFill>
                    <a:latin typeface="Calibri"/>
                  </a:rPr>
                  <a:t>Tức là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p>
            </p:txBody>
          </p:sp>
        </mc:Choice>
        <mc:Fallback>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r>
                  <a:rPr lang="vi-VN"/>
                  <a:t>n\ge 2</a:t>
                </a:r>
                <a:r>
                  <a:rPr sz="2200">
                    <a:solidFill>
                      <a:srgbClr val="1E293B"/>
                    </a:solidFill>
                    <a:latin typeface="Calibri"/>
                  </a:rPr>
                  <a:t>: </a:t>
                </a:r>
                <a:r>
                  <a:rPr lang="vi-VN"/>
                  <a:t>\frac{u_n}{u_{n-1}}=\frac{1}{3^{n-1}}\cdot\frac{3^{n-2}}{1}=\frac{1}{3}</a:t>
                </a:r>
              </a:p>
              <a:p>
                <a:pPr algn="l" marL="365760" indent="-365760">
                  <a:spcAft>
                    <a:spcPts val="800"/>
                  </a:spcAft>
                  <a:buClr>
                    <a:srgbClr val="1E40AF"/>
                  </a:buClr>
                  <a:buFont typeface="Arial"/>
                  <a:buChar char="•"/>
                </a:pPr>
                <a:r>
                  <a:rPr sz="2200">
                    <a:solidFill>
                      <a:srgbClr val="1E293B"/>
                    </a:solidFill>
                    <a:latin typeface="Calibri"/>
                  </a:rPr>
                  <a:t>Tức là </a:t>
                </a:r>
                <a:r>
                  <a:rPr lang="vi-VN"/>
                  <a:t>u_n=\frac{1}{3}\cdot u_{n-1}</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0</m:t>
                            </m:r>
                          </m:sup>
                        </m:sSup>
                      </m:den>
                    </m:f>
                    <m:r>
                      <a:rPr lang="vi-VN" sz="2200" b="0">
                        <a:solidFill>
                          <a:srgbClr val="1E293B"/>
                        </a:solidFill>
                        <a:latin typeface="Cambria Math" panose="02040503050406030204" pitchFamily="18" charset="0"/>
                      </a:rPr>
                      <m:t>=1</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u_1=\frac{1}{3^0}=1</a:t>
                </a:r>
              </a:p>
            </p:txBody>
          </p:sp>
        </mc:Fallback>
      </mc:AlternateContent>
      <p:sp>
        <p:nvSpPr>
          <p:cNvPr id="8" name="Rounded Rectangle 7"/>
          <p:cNvSpPr/>
          <p:nvPr/>
        </p:nvSpPr>
        <p:spPr>
          <a:xfrm>
            <a:off x="731520" y="2236597"/>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=1</m:t>
                    </m:r>
                  </m:oMath>
                </a14:m>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q=</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3</m:t>
                        </m:r>
                      </m:den>
                    </m:f>
                  </m:oMath>
                </a14:m>
              </a:p>
            </p:txBody>
          </p:sp>
        </mc:Choice>
        <mc:Fallback>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r>
                  <a:rPr lang="vi-VN"/>
                  <a:t>u_1=1</a:t>
                </a:r>
                <a:r>
                  <a:rPr sz="2200" b="1">
                    <a:solidFill>
                      <a:srgbClr val="991B1B"/>
                    </a:solidFill>
                    <a:latin typeface="Calibri"/>
                  </a:rPr>
                  <a:t>, </a:t>
                </a:r>
                <a:r>
                  <a:rPr lang="vi-VN"/>
                  <a:t>q=\frac{1}{3}</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u_n=2·5^n</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n−1</m:t>
                            </m:r>
                          </m:sup>
                        </m:sSup>
                      </m:den>
                    </m:f>
                    <m:r>
                      <a:rPr lang="vi-VN" sz="2400" b="0">
                        <a:solidFill>
                          <a:srgbClr val="1E293B"/>
                        </a:solidFill>
                        <a:latin typeface="Cambria Math" panose="02040503050406030204" pitchFamily="18" charset="0"/>
                      </a:rPr>
                      <m:t>=5</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=2·5=10</m:t>
                    </m:r>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\frac{u_n}{u_{n-1}}=\frac{2\cdot 5^n}{2\cdot 5^{n-1}}=5</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u_1=2\cdot 5=10</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=10</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q=5</m:t>
                    </m:r>
                  </m:oMath>
                </a14:m>
              </a:p>
            </p:txBody>
          </p:sp>
        </mc:Choice>
        <mc:Fallback>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r>
                  <a:rPr lang="vi-VN"/>
                  <a:t>u_1=10</a:t>
                </a:r>
                <a:r>
                  <a:rPr sz="2400" b="1">
                    <a:solidFill>
                      <a:srgbClr val="991B1B"/>
                    </a:solidFill>
                    <a:latin typeface="Calibri"/>
                  </a:rPr>
                  <a:t>, </a:t>
                </a:r>
                <a:r>
                  <a:rPr lang="vi-VN"/>
                  <a:t>q=5</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SỐ HẠNG TỔNG QUÁT</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r>
                  <a:rPr lang="vi-VN"/>
                  <a:t>(u_n)</a:t>
                </a:r>
                <a:r>
                  <a:rPr sz="2400">
                    <a:solidFill>
                      <a:srgbClr val="1E293B"/>
                    </a:solidFill>
                    <a:latin typeface="Calibri"/>
                  </a:rPr>
                  <a:t> với số hạng đầu </a:t>
                </a:r>
                <a:r>
                  <a:rPr lang="vi-VN"/>
                  <a:t>u_1</a:t>
                </a:r>
                <a:r>
                  <a:rPr sz="2400">
                    <a:solidFill>
                      <a:srgbClr val="1E293B"/>
                    </a:solidFill>
                    <a:latin typeface="Calibri"/>
                  </a:rPr>
                  <a:t> và công bội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r>
                  <a:rPr lang="vi-VN"/>
                  <a:t>u_2</a:t>
                </a:r>
                <a:r>
                  <a:rPr sz="2400">
                    <a:solidFill>
                      <a:srgbClr val="1E293B"/>
                    </a:solidFill>
                    <a:latin typeface="Calibri"/>
                  </a:rPr>
                  <a:t>, </a:t>
                </a:r>
                <a:r>
                  <a:rPr lang="vi-VN"/>
                  <a:t>u_3</a:t>
                </a:r>
                <a:r>
                  <a:rPr sz="2400">
                    <a:solidFill>
                      <a:srgbClr val="1E293B"/>
                    </a:solidFill>
                    <a:latin typeface="Calibri"/>
                  </a:rPr>
                  <a:t>, </a:t>
                </a:r>
                <a:r>
                  <a:rPr lang="vi-VN"/>
                  <a:t>u_4</a:t>
                </a:r>
                <a:r>
                  <a:rPr sz="2400">
                    <a:solidFill>
                      <a:srgbClr val="1E293B"/>
                    </a:solidFill>
                    <a:latin typeface="Calibri"/>
                  </a:rPr>
                  <a:t>, </a:t>
                </a:r>
                <a:r>
                  <a:rPr lang="vi-VN"/>
                  <a:t>u_5</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r>
                  <a:rPr lang="vi-VN"/>
                  <a:t>n</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m:t>
                        </m:r>
                      </m:sup>
                    </m:sSup>
                  </m:oMath>
                </a14:m>
              </a:p>
              <a:p>
                <a:pPr algn="l" marL="365760" indent="-365760">
                  <a:spcAft>
                    <a:spcPts val="800"/>
                  </a:spcAft>
                  <a:buClr>
                    <a:srgbClr val="1E40AF"/>
                  </a:buClr>
                  <a:buFont typeface="Arial"/>
                  <a:buChar char="•"/>
                </a:pPr>
                <a:r>
                  <a:rPr sz="2400">
                    <a:solidFill>
                      <a:srgbClr val="1E293B"/>
                    </a:solidFill>
                    <a:latin typeface="Calibri"/>
                  </a:rPr>
                  <a:t>Số hạng thứ n: nhân </a:t>
                </a:r>
                <a14:m>
                  <m:oMath xmlns:m="http://schemas.openxmlformats.org/officeDocument/2006/math">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lần công bội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u_2=u_1q</a:t>
                </a:r>
                <a:r>
                  <a:rPr sz="2400">
                    <a:solidFill>
                      <a:srgbClr val="1E293B"/>
                    </a:solidFill>
                    <a:latin typeface="Calibri"/>
                  </a:rPr>
                  <a:t>;  </a:t>
                </a:r>
                <a:r>
                  <a:rPr lang="vi-VN"/>
                  <a:t>u_3=u_2q=u_1q^2</a:t>
                </a:r>
              </a:p>
              <a:p>
                <a:pPr algn="l" marL="365760" indent="-365760">
                  <a:spcAft>
                    <a:spcPts val="800"/>
                  </a:spcAft>
                  <a:buClr>
                    <a:srgbClr val="1E40AF"/>
                  </a:buClr>
                  <a:buFont typeface="Arial"/>
                  <a:buChar char="•"/>
                </a:pPr>
                <a:r>
                  <a:rPr lang="vi-VN"/>
                  <a:t>u_4=u_1q^3</a:t>
                </a:r>
                <a:r>
                  <a:rPr sz="2400">
                    <a:solidFill>
                      <a:srgbClr val="1E293B"/>
                    </a:solidFill>
                    <a:latin typeface="Calibri"/>
                  </a:rPr>
                  <a:t>;  </a:t>
                </a:r>
                <a:r>
                  <a:rPr lang="vi-VN"/>
                  <a:t>u_5=u_1q^4</a:t>
                </a:r>
              </a:p>
              <a:p>
                <a:pPr algn="l" marL="365760" indent="-365760">
                  <a:spcAft>
                    <a:spcPts val="800"/>
                  </a:spcAft>
                  <a:buClr>
                    <a:srgbClr val="1E40AF"/>
                  </a:buClr>
                  <a:buFont typeface="Arial"/>
                  <a:buChar char="•"/>
                </a:pPr>
                <a:r>
                  <a:rPr sz="2400">
                    <a:solidFill>
                      <a:srgbClr val="1E293B"/>
                    </a:solidFill>
                    <a:latin typeface="Calibri"/>
                  </a:rPr>
                  <a:t>Số hạng thứ n: nhân </a:t>
                </a:r>
                <a:r>
                  <a:rPr lang="vi-VN"/>
                  <a:t>(n-1)</a:t>
                </a:r>
                <a:r>
                  <a:rPr sz="2400">
                    <a:solidFill>
                      <a:srgbClr val="1E293B"/>
                    </a:solidFill>
                    <a:latin typeface="Calibri"/>
                  </a:rPr>
                  <a:t> lần công bội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u_n=u_1\cdot q^{n-1}</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20</a:t>
            </a:r>
          </a:p>
        </p:txBody>
      </p:sp>
      <p:sp>
        <p:nvSpPr>
          <p:cNvPr id="7" name="Rounded Rectangle 6"/>
          <p:cNvSpPr/>
          <p:nvPr/>
        </p:nvSpPr>
        <p:spPr>
          <a:xfrm>
            <a:off x="731520" y="1463040"/>
            <a:ext cx="9601200" cy="1645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của nó được xác định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r>
                  <a:rPr lang="vi-VN"/>
                  <a:t>u_1</a:t>
                </a:r>
                <a:r>
                  <a:rPr sz="2400" b="1">
                    <a:solidFill>
                      <a:srgbClr val="991B1B"/>
                    </a:solidFill>
                    <a:latin typeface="Calibri"/>
                  </a:rPr>
                  <a:t> và công bội </a:t>
                </a:r>
                <a:r>
                  <a:rPr lang="vi-VN"/>
                  <a:t>q</a:t>
                </a:r>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r>
                  <a:rPr lang="vi-VN"/>
                  <a:t>u_n</a:t>
                </a:r>
                <a:r>
                  <a:rPr sz="2400" b="1">
                    <a:solidFill>
                      <a:srgbClr val="991B1B"/>
                    </a:solidFill>
                    <a:latin typeface="Calibri"/>
                  </a:rPr>
                  <a:t> của nó được xác định bởi công thức </a:t>
                </a:r>
                <a:r>
                  <a:rPr lang="vi-VN"/>
                  <a:t>u_n=u_1·q^(n−1)</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q=</m:t>
                    </m:r>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r>
                  <a:rPr lang="vi-VN"/>
                  <a:t>8, −4, …</a:t>
                </a:r>
              </a:p>
              <a:p>
                <a:pPr algn="l">
                  <a:spcAft>
                    <a:spcPts val="800"/>
                  </a:spcAft>
                </a:pPr>
                <a:r>
                  <a:rPr sz="2400" b="1">
                    <a:solidFill>
                      <a:srgbClr val="1E40AF"/>
                    </a:solidFill>
                    <a:latin typeface="Calibri"/>
                  </a:rPr>
                  <a:t>Gợi mở: Tìm </a:t>
                </a:r>
                <a:r>
                  <a:rPr lang="vi-VN"/>
                  <a:t>u_1</a:t>
                </a:r>
                <a:r>
                  <a:rPr sz="2400" b="1">
                    <a:solidFill>
                      <a:srgbClr val="1E40AF"/>
                    </a:solidFill>
                    <a:latin typeface="Calibri"/>
                  </a:rPr>
                  <a:t> và </a:t>
                </a:r>
                <a:r>
                  <a:rPr lang="vi-VN"/>
                  <a:t>q=\frac{u_2}{u_1}</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=8</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8</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r>
                  <a:rPr sz="2400">
                    <a:solidFill>
                      <a:srgbClr val="1E293B"/>
                    </a:solidFill>
                    <a:latin typeface="Calibri"/>
                  </a:rPr>
                  <a:t>Năm số hạng đầu: 8, −4, 2, −1,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99</m:t>
                        </m:r>
                      </m:sup>
                    </m:sSup>
                    <m:r>
                      <a:rPr lang="vi-VN" sz="2400" b="0">
                        <a:solidFill>
                          <a:srgbClr val="1E293B"/>
                        </a:solidFill>
                        <a:latin typeface="Cambria Math" panose="02040503050406030204" pitchFamily="18" charset="0"/>
                      </a:rPr>
                      <m:t>=8·</m:t>
                    </m:r>
                    <m:sSup>
                      <m:e>
                        <m:d>
                          <m:dPr>
                            <m:sepChr m:val=""/>
                          </m:dPr>
                          <m:e>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e>
                        </m:d>
                      </m:e>
                      <m:sup>
                        <m:r>
                          <a:rPr lang="vi-VN" sz="2400" b="0">
                            <a:solidFill>
                              <a:srgbClr val="1E293B"/>
                            </a:solidFill>
                            <a:latin typeface="Cambria Math" panose="02040503050406030204" pitchFamily="18" charset="0"/>
                          </a:rPr>
                          <m:t>99</m:t>
                        </m:r>
                      </m:sup>
                    </m:sSup>
                  </m:oMath>
                </a14:m>
              </a:p>
            </p:txBody>
          </p:sp>
        </mc:Choice>
        <mc:Fallback>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u_1=8</a:t>
                </a:r>
                <a:r>
                  <a:rPr sz="2400">
                    <a:solidFill>
                      <a:srgbClr val="1E293B"/>
                    </a:solidFill>
                    <a:latin typeface="Calibri"/>
                  </a:rPr>
                  <a:t>, </a:t>
                </a:r>
                <a:r>
                  <a:rPr lang="vi-VN"/>
                  <a:t>q=\frac{-4}{8}=-\frac{1}{2}</a:t>
                </a:r>
              </a:p>
              <a:p>
                <a:pPr algn="l" marL="365760" indent="-365760">
                  <a:spcAft>
                    <a:spcPts val="800"/>
                  </a:spcAft>
                  <a:buClr>
                    <a:srgbClr val="1E40AF"/>
                  </a:buClr>
                  <a:buFont typeface="Arial"/>
                  <a:buChar char="•"/>
                </a:pPr>
                <a:r>
                  <a:rPr sz="2400">
                    <a:solidFill>
                      <a:srgbClr val="1E293B"/>
                    </a:solidFill>
                    <a:latin typeface="Calibri"/>
                  </a:rPr>
                  <a:t>Năm số hạng đầu: 8, −4, 2, −1, </a:t>
                </a:r>
                <a:r>
                  <a:rPr lang="vi-VN"/>
                  <a:t>\frac{1}{2}</a:t>
                </a:r>
              </a:p>
              <a:p>
                <a:pPr algn="l" marL="365760" indent="-365760">
                  <a:spcAft>
                    <a:spcPts val="800"/>
                  </a:spcAft>
                  <a:buClr>
                    <a:srgbClr val="1E40AF"/>
                  </a:buClr>
                  <a:buFont typeface="Arial"/>
                  <a:buChar char="•"/>
                </a:pPr>
                <a:r>
                  <a:rPr lang="vi-VN"/>
                  <a:t>u_{100}=u_1\cdot q^{99}=8\cdot\paren{-\frac{1}{2}}^{99}</a:t>
                </a:r>
              </a:p>
            </p:txBody>
          </p:sp>
        </mc:Fallback>
      </mc:AlternateContent>
      <p:sp>
        <p:nvSpPr>
          <p:cNvPr id="8" name="Rounded Rectangle 7"/>
          <p:cNvSpPr/>
          <p:nvPr/>
        </p:nvSpPr>
        <p:spPr>
          <a:xfrm>
            <a:off x="731520" y="3831336"/>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1</m:t>
                        </m:r>
                      </m:num>
                      <m:den>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96</m:t>
                            </m:r>
                          </m:sup>
                        </m:sSup>
                      </m:den>
                    </m:f>
                  </m:oMath>
                </a14:m>
              </a:p>
            </p:txBody>
          </p:sp>
        </mc:Choice>
        <mc:Fallback>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u_{100}=-\frac{1}{2^{96}}</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23</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một cấp số nhân gồm các số hạng dương.</a:t>
            </a:r>
          </a:p>
          <a:p>
            <a:pPr algn="l">
              <a:spcAft>
                <a:spcPts val="800"/>
              </a:spcAft>
            </a:pPr>
            <a:r>
              <a:rPr sz="2400">
                <a:solidFill>
                  <a:srgbClr val="1E293B"/>
                </a:solidFill>
                <a:latin typeface="Calibri"/>
              </a:rPr>
              <a:t>Biết số hạng thứ 10 bằng 1 536 và số hạng thứ 12 bằng 6 144. Tìm số hạng thứ 20 của cấp số nhân đó.</a:t>
            </a:r>
          </a:p>
          <a:p>
            <a:pPr algn="l">
              <a:spcAft>
                <a:spcPts val="800"/>
              </a:spcAft>
            </a:pPr>
            <a:r>
              <a:rPr sz="2400" b="1">
                <a:solidFill>
                  <a:srgbClr val="1E40AF"/>
                </a:solidFill>
                <a:latin typeface="Calibri"/>
              </a:rPr>
              <a:t>Gợi mở: Chia hai đẳng thức vế theo vế</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536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11</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144</m:t>
                    </m:r>
                  </m:oMath>
                </a14:m>
              </a:p>
              <a:p>
                <a:pPr algn="l" marL="365760" indent="-365760">
                  <a:spcAft>
                    <a:spcPts val="800"/>
                  </a:spcAft>
                  <a:buClr>
                    <a:srgbClr val="1E40AF"/>
                  </a:buClr>
                  <a:buFont typeface="Arial"/>
                  <a:buChar char="•"/>
                </a:pPr>
                <a:r>
                  <a:rPr sz="2400">
                    <a:solidFill>
                      <a:srgbClr val="1E293B"/>
                    </a:solidFill>
                    <a:latin typeface="Calibri"/>
                  </a:rPr>
                  <a:t>Chia vế theo vế: </a:t>
                </a:r>
                <a14:m>
                  <m:oMath xmlns:m="http://schemas.openxmlformats.org/officeDocument/2006/math">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=4⇒q=2</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q=−2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=−3&lt;0</m:t>
                    </m:r>
                  </m:oMath>
                </a14:m>
                <a:r>
                  <a:rPr sz="2400">
                    <a:solidFill>
                      <a:srgbClr val="1E293B"/>
                    </a:solidFill>
                    <a:latin typeface="Calibri"/>
                  </a:rPr>
                  <a:t> (loại); </a:t>
                </a: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19</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19</m:t>
                        </m:r>
                      </m:sup>
                    </m:sSup>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u_{10}=u_1q^9=1\,536</a:t>
                </a:r>
                <a:r>
                  <a:rPr sz="2400">
                    <a:solidFill>
                      <a:srgbClr val="1E293B"/>
                    </a:solidFill>
                    <a:latin typeface="Calibri"/>
                  </a:rPr>
                  <a:t>;  </a:t>
                </a:r>
                <a:r>
                  <a:rPr lang="vi-VN"/>
                  <a:t>u_{12}=u_1q^{11}=6\,144</a:t>
                </a:r>
              </a:p>
              <a:p>
                <a:pPr algn="l" marL="365760" indent="-365760">
                  <a:spcAft>
                    <a:spcPts val="800"/>
                  </a:spcAft>
                  <a:buClr>
                    <a:srgbClr val="1E40AF"/>
                  </a:buClr>
                  <a:buFont typeface="Arial"/>
                  <a:buChar char="•"/>
                </a:pPr>
                <a:r>
                  <a:rPr sz="2400">
                    <a:solidFill>
                      <a:srgbClr val="1E293B"/>
                    </a:solidFill>
                    <a:latin typeface="Calibri"/>
                  </a:rPr>
                  <a:t>Chia vế theo vế: </a:t>
                </a:r>
                <a:r>
                  <a:rPr lang="vi-VN"/>
                  <a:t>q^2=4\Rightarrow q=2</a:t>
                </a:r>
                <a:r>
                  <a:rPr sz="2400">
                    <a:solidFill>
                      <a:srgbClr val="1E293B"/>
                    </a:solidFill>
                    <a:latin typeface="Calibri"/>
                  </a:rPr>
                  <a:t> hoặc </a:t>
                </a:r>
                <a:r>
                  <a:rPr lang="vi-VN"/>
                  <a:t>q=-2</a:t>
                </a:r>
              </a:p>
              <a:p>
                <a:pPr algn="l" marL="365760" indent="-365760">
                  <a:spcAft>
                    <a:spcPts val="800"/>
                  </a:spcAft>
                  <a:buClr>
                    <a:srgbClr val="1E40AF"/>
                  </a:buClr>
                  <a:buFont typeface="Arial"/>
                  <a:buChar char="•"/>
                </a:pPr>
                <a:r>
                  <a:rPr lang="vi-VN"/>
                  <a:t>q=-2\Rightarrow u_1=-3&lt;0</a:t>
                </a:r>
                <a:r>
                  <a:rPr sz="2400">
                    <a:solidFill>
                      <a:srgbClr val="1E293B"/>
                    </a:solidFill>
                    <a:latin typeface="Calibri"/>
                  </a:rPr>
                  <a:t> (loại); </a:t>
                </a:r>
                <a:r>
                  <a:rPr lang="vi-VN"/>
                  <a:t>q=2\Rightarrow u_1=3</a:t>
                </a:r>
              </a:p>
              <a:p>
                <a:pPr algn="l" marL="365760" indent="-365760">
                  <a:spcAft>
                    <a:spcPts val="800"/>
                  </a:spcAft>
                  <a:buClr>
                    <a:srgbClr val="1E40AF"/>
                  </a:buClr>
                  <a:buFont typeface="Arial"/>
                  <a:buChar char="•"/>
                </a:pPr>
                <a:r>
                  <a:rPr lang="vi-VN"/>
                  <a:t>u_{20}=u_1q^{19}=3\cdot 2^{19}</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572</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864</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u_{20}=1\,572\,864</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25</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Trong một lọ nuôi cấy vi khuẩn, ban đầu có 5 000 con vi khuẩn và số lượng vi khuẩn tăng lên thêm 8% mỗi giờ.</a:t>
            </a:r>
          </a:p>
          <a:p>
            <a:pPr algn="l">
              <a:spcAft>
                <a:spcPts val="800"/>
              </a:spcAft>
            </a:pPr>
            <a:r>
              <a:rPr sz="2400">
                <a:solidFill>
                  <a:srgbClr val="1E293B"/>
                </a:solidFill>
                <a:latin typeface="Calibri"/>
              </a:rPr>
              <a:t>Hỏi sau 5 giờ thì số lượng vi khuẩn là bao nhiêu?</a:t>
            </a:r>
          </a:p>
          <a:p>
            <a:pPr algn="l">
              <a:spcAft>
                <a:spcPts val="800"/>
              </a:spcAft>
            </a:pPr>
            <a:r>
              <a:rPr sz="2400" b="1">
                <a:solidFill>
                  <a:srgbClr val="1E40AF"/>
                </a:solidFill>
                <a:latin typeface="Calibri"/>
              </a:rPr>
              <a:t>Gợi mở: Ban đầu ứng với số hạng nào? Sau 5 giờ là số hạng thứ mấy?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(ban đầu), </a:t>
                </a:r>
                <a14:m>
                  <m:oMath xmlns:m="http://schemas.openxmlformats.org/officeDocument/2006/math">
                    <m:r>
                      <a:rPr lang="vi-VN" sz="2400" b="0">
                        <a:solidFill>
                          <a:srgbClr val="1E293B"/>
                        </a:solidFill>
                        <a:latin typeface="Cambria Math" panose="02040503050406030204" pitchFamily="18" charset="0"/>
                      </a:rPr>
                      <m:t>q=1+8%=1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p>
              <a:p>
                <a:pPr algn="l" marL="365760" indent="-365760">
                  <a:spcAft>
                    <a:spcPts val="800"/>
                  </a:spcAft>
                  <a:buClr>
                    <a:srgbClr val="1E40AF"/>
                  </a:buClr>
                  <a:buFont typeface="Arial"/>
                  <a:buChar char="•"/>
                </a:pPr>
                <a:r>
                  <a:rPr sz="2400">
                    <a:solidFill>
                      <a:srgbClr val="1E293B"/>
                    </a:solidFill>
                    <a:latin typeface="Calibri"/>
                  </a:rPr>
                  <a:t>Sau 1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 sau 5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r>
                  <a:rPr lang="vi-VN"/>
                  <a:t>u_1=5\,000</a:t>
                </a:r>
                <a:r>
                  <a:rPr sz="2400">
                    <a:solidFill>
                      <a:srgbClr val="1E293B"/>
                    </a:solidFill>
                    <a:latin typeface="Calibri"/>
                  </a:rPr>
                  <a:t> (ban đầu), </a:t>
                </a:r>
                <a:r>
                  <a:rPr lang="vi-VN"/>
                  <a:t>q=1+8\%=1{,}08</a:t>
                </a:r>
              </a:p>
              <a:p>
                <a:pPr algn="l" marL="365760" indent="-365760">
                  <a:spcAft>
                    <a:spcPts val="800"/>
                  </a:spcAft>
                  <a:buClr>
                    <a:srgbClr val="1E40AF"/>
                  </a:buClr>
                  <a:buFont typeface="Arial"/>
                  <a:buChar char="•"/>
                </a:pPr>
                <a:r>
                  <a:rPr sz="2400">
                    <a:solidFill>
                      <a:srgbClr val="1E293B"/>
                    </a:solidFill>
                    <a:latin typeface="Calibri"/>
                  </a:rPr>
                  <a:t>Sau 1 giờ: </a:t>
                </a:r>
                <a:r>
                  <a:rPr lang="vi-VN"/>
                  <a:t>u_2</a:t>
                </a:r>
                <a:r>
                  <a:rPr sz="2400">
                    <a:solidFill>
                      <a:srgbClr val="1E293B"/>
                    </a:solidFill>
                    <a:latin typeface="Calibri"/>
                  </a:rPr>
                  <a:t>; …; sau 5 giờ: </a:t>
                </a:r>
                <a:r>
                  <a:rPr lang="vi-VN"/>
                  <a:t>u_6</a:t>
                </a:r>
              </a:p>
              <a:p>
                <a:pPr algn="l" marL="365760" indent="-365760">
                  <a:spcAft>
                    <a:spcPts val="800"/>
                  </a:spcAft>
                  <a:buClr>
                    <a:srgbClr val="1E40AF"/>
                  </a:buClr>
                  <a:buFont typeface="Arial"/>
                  <a:buChar char="•"/>
                </a:pPr>
                <a:r>
                  <a:rPr lang="vi-VN"/>
                  <a:t>u_6=5\,000\cdot 1{,}08^5\approx 7\,347</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7 347 con vi khuẩn</a:t>
            </a:r>
          </a:p>
        </p:txBody>
      </p:sp>
      <p:pic>
        <p:nvPicPr>
          <p:cNvPr id="10" name="Picture 9" descr="img02.png"/>
          <p:cNvPicPr>
            <a:picLocks noChangeAspect="1"/>
          </p:cNvPicPr>
          <p:nvPr/>
        </p:nvPicPr>
        <p:blipFill>
          <a:blip r:embed="rId2"/>
          <a:stretch>
            <a:fillRect/>
          </a:stretch>
        </p:blipFill>
        <p:spPr>
          <a:xfrm>
            <a:off x="3776177" y="3986784"/>
            <a:ext cx="4609165" cy="227685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TỔNG n SỐ HẠNG ĐẦU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q≠1</m:t>
                    </m:r>
                  </m:oMath>
                </a14:m>
                <a:r>
                  <a:rPr sz="2200">
                    <a:solidFill>
                      <a:srgbClr val="1E293B"/>
                    </a:solidFill>
                    <a:latin typeface="Calibri"/>
                  </a:rPr>
                  <a:t>. Để tính tổng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tích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p:txBody>
          </p:sp>
        </mc:Choice>
        <mc:Fallback>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r>
                  <a:rPr lang="vi-VN"/>
                  <a:t>(u_n)</a:t>
                </a:r>
                <a:r>
                  <a:rPr sz="2200">
                    <a:solidFill>
                      <a:srgbClr val="1E293B"/>
                    </a:solidFill>
                    <a:latin typeface="Calibri"/>
                  </a:rPr>
                  <a:t> với số hạng đầu </a:t>
                </a:r>
                <a:r>
                  <a:rPr lang="vi-VN"/>
                  <a:t>u_1</a:t>
                </a:r>
                <a:r>
                  <a:rPr sz="2200">
                    <a:solidFill>
                      <a:srgbClr val="1E293B"/>
                    </a:solidFill>
                    <a:latin typeface="Calibri"/>
                  </a:rPr>
                  <a:t> và công bội </a:t>
                </a:r>
                <a:r>
                  <a:rPr lang="vi-VN"/>
                  <a:t>q≠1</a:t>
                </a:r>
                <a:r>
                  <a:rPr sz="2200">
                    <a:solidFill>
                      <a:srgbClr val="1E293B"/>
                    </a:solidFill>
                    <a:latin typeface="Calibri"/>
                  </a:rPr>
                  <a:t>. Để tính tổng của </a:t>
                </a:r>
                <a:r>
                  <a:rPr lang="vi-VN"/>
                  <a:t>n</a:t>
                </a:r>
                <a:r>
                  <a:rPr sz="2200">
                    <a:solidFill>
                      <a:srgbClr val="1E293B"/>
                    </a:solidFill>
                    <a:latin typeface="Calibri"/>
                  </a:rPr>
                  <a:t> số hạng đầu </a:t>
                </a:r>
                <a:r>
                  <a:rPr lang="vi-VN"/>
                  <a:t>S_n=u_1+u_2+…+u_(n−1)+u_n</a:t>
                </a:r>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r>
                  <a:rPr lang="vi-VN"/>
                  <a:t>u_1</a:t>
                </a:r>
                <a:r>
                  <a:rPr sz="2200">
                    <a:solidFill>
                      <a:srgbClr val="1E293B"/>
                    </a:solidFill>
                    <a:latin typeface="Calibri"/>
                  </a:rPr>
                  <a:t> và </a:t>
                </a:r>
                <a:r>
                  <a:rPr lang="vi-VN"/>
                  <a:t>q</a:t>
                </a:r>
                <a:r>
                  <a:rPr sz="2200">
                    <a:solidFill>
                      <a:srgbClr val="1E293B"/>
                    </a:solidFill>
                    <a:latin typeface="Calibri"/>
                  </a:rPr>
                  <a:t> để được biểu thức tính tổng </a:t>
                </a:r>
                <a:r>
                  <a:rPr lang="vi-VN"/>
                  <a:t>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r>
                  <a:rPr lang="vi-VN"/>
                  <a:t>q</a:t>
                </a:r>
                <a:r>
                  <a:rPr sz="2200">
                    <a:solidFill>
                      <a:srgbClr val="1E293B"/>
                    </a:solidFill>
                    <a:latin typeface="Calibri"/>
                  </a:rPr>
                  <a:t> để được biểu thức tính tích </a:t>
                </a:r>
                <a:r>
                  <a:rPr lang="vi-VN"/>
                  <a:t>q·S_n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Từ đó suy ra công thức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a:t>
                </a:r>
                <a14:m>
                  <m:oMath xmlns:m="http://schemas.openxmlformats.org/officeDocument/2006/math">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và </a:t>
                </a:r>
                <a14:m>
                  <m:oMath xmlns:m="http://schemas.openxmlformats.org/officeDocument/2006/math">
                    <m:r>
                      <a:rPr lang="vi-VN" sz="2200" b="1">
                        <a:solidFill>
                          <a:srgbClr val="1E40AF"/>
                        </a:solidFill>
                        <a:latin typeface="Cambria Math" panose="02040503050406030204" pitchFamily="18" charset="0"/>
                      </a:rPr>
                      <m:t>q</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lệch nhau một cột rồi trừ</a:t>
                </a:r>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r>
                  <a:rPr lang="vi-VN"/>
                  <a:t>(1−q)S_n</a:t>
                </a:r>
                <a:r>
                  <a:rPr sz="2200">
                    <a:solidFill>
                      <a:srgbClr val="1E293B"/>
                    </a:solidFill>
                    <a:latin typeface="Calibri"/>
                  </a:rPr>
                  <a:t> theo </a:t>
                </a:r>
                <a:r>
                  <a:rPr lang="vi-VN"/>
                  <a:t>u_1</a:t>
                </a:r>
                <a:r>
                  <a:rPr sz="2200">
                    <a:solidFill>
                      <a:srgbClr val="1E293B"/>
                    </a:solidFill>
                    <a:latin typeface="Calibri"/>
                  </a:rPr>
                  <a:t> và </a:t>
                </a:r>
                <a:r>
                  <a:rPr lang="vi-VN"/>
                  <a:t>q</a:t>
                </a:r>
                <a:r>
                  <a:rPr sz="2200">
                    <a:solidFill>
                      <a:srgbClr val="1E293B"/>
                    </a:solidFill>
                    <a:latin typeface="Calibri"/>
                  </a:rPr>
                  <a:t>. Từ đó suy ra công thức tính </a:t>
                </a:r>
                <a:r>
                  <a:rPr lang="vi-VN"/>
                  <a:t>S_n</a:t>
                </a:r>
                <a:r>
                  <a:rPr sz="2200">
                    <a:solidFill>
                      <a:srgbClr val="1E293B"/>
                    </a:solidFill>
                    <a:latin typeface="Calibri"/>
                  </a:rPr>
                  <a:t>.</a:t>
                </a:r>
              </a:p>
              <a:p>
                <a:pPr algn="l">
                  <a:spcAft>
                    <a:spcPts val="800"/>
                  </a:spcAft>
                </a:pPr>
                <a:r>
                  <a:rPr sz="2200" b="1">
                    <a:solidFill>
                      <a:srgbClr val="1E40AF"/>
                    </a:solidFill>
                    <a:latin typeface="Calibri"/>
                  </a:rPr>
                  <a:t>Gợi mở: Viết </a:t>
                </a:r>
                <a:r>
                  <a:rPr lang="vi-VN"/>
                  <a:t>S_n</a:t>
                </a:r>
                <a:r>
                  <a:rPr sz="2200" b="1">
                    <a:solidFill>
                      <a:srgbClr val="1E40AF"/>
                    </a:solidFill>
                    <a:latin typeface="Calibri"/>
                  </a:rPr>
                  <a:t> và </a:t>
                </a:r>
                <a:r>
                  <a:rPr lang="vi-VN"/>
                  <a:t>qS_n</a:t>
                </a:r>
                <a:r>
                  <a:rPr sz="2200" b="1">
                    <a:solidFill>
                      <a:srgbClr val="1E40AF"/>
                    </a:solidFill>
                    <a:latin typeface="Calibri"/>
                  </a:rPr>
                  <a:t> lệch nhau một cột rồi trừ</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a:p>
                <a:pPr algn="l" marL="365760" indent="-365760">
                  <a:spcAft>
                    <a:spcPts val="800"/>
                  </a:spcAft>
                  <a:buClr>
                    <a:srgbClr val="1E40AF"/>
                  </a:buClr>
                  <a:buFont typeface="Arial"/>
                  <a:buChar char="•"/>
                </a:pPr>
                <a:r>
                  <a:rPr sz="2400">
                    <a:solidFill>
                      <a:srgbClr val="1E293B"/>
                    </a:solidFill>
                    <a:latin typeface="Calibri"/>
                  </a:rPr>
                  <a:t>c) Trừ vế: </a:t>
                </a:r>
                <a14:m>
                  <m:oMath xmlns:m="http://schemas.openxmlformats.org/officeDocument/2006/math">
                    <m:r>
                      <a:rPr lang="vi-VN" sz="2400" b="0">
                        <a:solidFill>
                          <a:srgbClr val="1E293B"/>
                        </a:solidFill>
                        <a:latin typeface="Cambria Math" panose="02040503050406030204" pitchFamily="18" charset="0"/>
                      </a:rPr>
                      <m:t>(1−q)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S_n=u_1+u_1q+\ldots+u_1q^{n-1}</a:t>
                </a:r>
              </a:p>
              <a:p>
                <a:pPr algn="l" marL="365760" indent="-365760">
                  <a:spcAft>
                    <a:spcPts val="800"/>
                  </a:spcAft>
                  <a:buClr>
                    <a:srgbClr val="1E40AF"/>
                  </a:buClr>
                  <a:buFont typeface="Arial"/>
                  <a:buChar char="•"/>
                </a:pPr>
                <a:r>
                  <a:rPr sz="2400">
                    <a:solidFill>
                      <a:srgbClr val="1E293B"/>
                    </a:solidFill>
                    <a:latin typeface="Calibri"/>
                  </a:rPr>
                  <a:t>b) </a:t>
                </a:r>
                <a:r>
                  <a:rPr lang="vi-VN"/>
                  <a:t>qS_n=u_1q+u_1q^2+\ldots+u_1q^n</a:t>
                </a:r>
              </a:p>
              <a:p>
                <a:pPr algn="l" marL="365760" indent="-365760">
                  <a:spcAft>
                    <a:spcPts val="800"/>
                  </a:spcAft>
                  <a:buClr>
                    <a:srgbClr val="1E40AF"/>
                  </a:buClr>
                  <a:buFont typeface="Arial"/>
                  <a:buChar char="•"/>
                </a:pPr>
                <a:r>
                  <a:rPr sz="2400">
                    <a:solidFill>
                      <a:srgbClr val="1E293B"/>
                    </a:solidFill>
                    <a:latin typeface="Calibri"/>
                  </a:rPr>
                  <a:t>c) Trừ vế: </a:t>
                </a:r>
                <a:r>
                  <a:rPr lang="vi-VN"/>
                  <a:t>(1-q)S_n=u_1-u_1q^n</a:t>
                </a:r>
              </a:p>
            </p:txBody>
          </p:sp>
        </mc:Fallback>
      </mc:AlternateContent>
      <p:sp>
        <p:nvSpPr>
          <p:cNvPr id="8" name="Rounded Rectangle 7"/>
          <p:cNvSpPr/>
          <p:nvPr/>
        </p:nvSpPr>
        <p:spPr>
          <a:xfrm>
            <a:off x="731520" y="3118104"/>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q</m:t>
                        </m:r>
                      </m:e>
                      <m:e>
                        <m:r>
                          <a:rPr lang="vi-VN" sz="2400" b="1">
                            <a:solidFill>
                              <a:srgbClr val="991B1B"/>
                            </a:solidFill>
                            <a:latin typeface="Cambria Math" panose="02040503050406030204" pitchFamily="18" charset="0"/>
                          </a:rPr>
                          <m:t>1</m:t>
                        </m:r>
                      </m:e>
                    </m:d>
                  </m:oMath>
                </a14:m>
              </a:p>
            </p:txBody>
          </p:sp>
        </mc:Choice>
        <mc:Fallback>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S_n=\frac{u_1(1-q^n)}{1-q}</a:t>
                </a:r>
                <a:r>
                  <a:rPr sz="2400" b="1">
                    <a:solidFill>
                      <a:srgbClr val="991B1B"/>
                    </a:solidFill>
                    <a:latin typeface="Calibri"/>
                  </a:rPr>
                  <a:t> </a:t>
                </a:r>
                <a:r>
                  <a:rPr lang="vi-VN"/>
                  <a:t>(q\ne 1)</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TỔNG n SỐ HẠNG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31</a:t>
            </a:r>
          </a:p>
        </p:txBody>
      </p:sp>
      <p:sp>
        <p:nvSpPr>
          <p:cNvPr id="7" name="Rounded Rectangle 6"/>
          <p:cNvSpPr/>
          <p:nvPr/>
        </p:nvSpPr>
        <p:spPr>
          <a:xfrm>
            <a:off x="731520" y="1463040"/>
            <a:ext cx="9601200" cy="139446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q≠1</m:t>
                    </m:r>
                  </m:oMath>
                </a14:m>
                <a:r>
                  <a:rPr sz="2400" b="1">
                    <a:solidFill>
                      <a:srgbClr val="991B1B"/>
                    </a:solidFill>
                    <a:latin typeface="Calibri"/>
                  </a:rPr>
                  <a:t>. Đặt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a:t>
                </a:r>
              </a:p>
            </p:txBody>
          </p:sp>
        </mc:Choice>
        <mc:Fallback>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r>
                  <a:rPr lang="vi-VN"/>
                  <a:t>(u_n)</a:t>
                </a:r>
                <a:r>
                  <a:rPr sz="2400" b="1">
                    <a:solidFill>
                      <a:srgbClr val="991B1B"/>
                    </a:solidFill>
                    <a:latin typeface="Calibri"/>
                  </a:rPr>
                  <a:t> với công bội </a:t>
                </a:r>
                <a:r>
                  <a:rPr lang="vi-VN"/>
                  <a:t>q≠1</a:t>
                </a:r>
                <a:r>
                  <a:rPr sz="2400" b="1">
                    <a:solidFill>
                      <a:srgbClr val="991B1B"/>
                    </a:solidFill>
                    <a:latin typeface="Calibri"/>
                  </a:rPr>
                  <a:t>. Đặt </a:t>
                </a:r>
                <a:r>
                  <a:rPr lang="vi-VN"/>
                  <a:t>S_n=u_1+u_2+…+u_n</a:t>
                </a:r>
                <a:r>
                  <a:rPr sz="2400" b="1">
                    <a:solidFill>
                      <a:srgbClr val="991B1B"/>
                    </a:solidFill>
                    <a:latin typeface="Calibri"/>
                  </a:rPr>
                  <a:t>. Khi đó </a:t>
                </a:r>
                <a:r>
                  <a:rPr lang="vi-VN"/>
                  <a:t>S_n=(u_1(1−q^n))/(1−q)</a:t>
                </a:r>
                <a:r>
                  <a:rPr sz="2400" b="1">
                    <a:solidFill>
                      <a:srgbClr val="991B1B"/>
                    </a:solidFill>
                    <a:latin typeface="Calibri"/>
                  </a:rPr>
                  <a:t>.</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oMath>
                </a14:m>
                <a:r>
                  <a:rPr sz="2400">
                    <a:solidFill>
                      <a:srgbClr val="1E293B"/>
                    </a:solidFill>
                    <a:latin typeface="Calibri"/>
                  </a:rPr>
                  <a:t> thì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nó bằng bao nhiêu?</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r>
                  <a:rPr lang="vi-VN"/>
                  <a:t>q=1</a:t>
                </a:r>
                <a:r>
                  <a:rPr sz="2400">
                    <a:solidFill>
                      <a:srgbClr val="1E293B"/>
                    </a:solidFill>
                    <a:latin typeface="Calibri"/>
                  </a:rPr>
                  <a:t> thì tổng </a:t>
                </a:r>
                <a:r>
                  <a:rPr lang="vi-VN"/>
                  <a:t>n</a:t>
                </a:r>
                <a:r>
                  <a:rPr sz="2400">
                    <a:solidFill>
                      <a:srgbClr val="1E293B"/>
                    </a:solidFill>
                    <a:latin typeface="Calibri"/>
                  </a:rPr>
                  <a:t> số hạng đầu </a:t>
                </a:r>
                <a:r>
                  <a:rPr lang="vi-VN"/>
                  <a:t>S_n</a:t>
                </a:r>
                <a:r>
                  <a:rPr sz="2400">
                    <a:solidFill>
                      <a:srgbClr val="1E293B"/>
                    </a:solidFill>
                    <a:latin typeface="Calibri"/>
                  </a:rPr>
                  <a:t> của nó bằng bao nhiêu?</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q=1</m:t>
                    </m:r>
                  </m:oMath>
                </a14:m>
                <a:r>
                  <a:rPr sz="2400">
                    <a:solidFill>
                      <a:srgbClr val="1E293B"/>
                    </a:solidFill>
                    <a:latin typeface="Calibri"/>
                  </a:rPr>
                  <a:t>: mọi số hạng bằng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(n số hạng)</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q=1</a:t>
                </a:r>
                <a:r>
                  <a:rPr sz="2400">
                    <a:solidFill>
                      <a:srgbClr val="1E293B"/>
                    </a:solidFill>
                    <a:latin typeface="Calibri"/>
                  </a:rPr>
                  <a:t>: mọi số hạng bằng </a:t>
                </a:r>
                <a:r>
                  <a:rPr lang="vi-VN"/>
                  <a:t>u_1</a:t>
                </a:r>
              </a:p>
              <a:p>
                <a:pPr algn="l" marL="365760" indent="-365760">
                  <a:spcAft>
                    <a:spcPts val="800"/>
                  </a:spcAft>
                  <a:buClr>
                    <a:srgbClr val="1E40AF"/>
                  </a:buClr>
                  <a:buFont typeface="Arial"/>
                  <a:buChar char="•"/>
                </a:pPr>
                <a:r>
                  <a:rPr lang="vi-VN"/>
                  <a:t>S_n=u_1+u_1+\ldots+u_1</a:t>
                </a:r>
                <a:r>
                  <a:rPr sz="2400">
                    <a:solidFill>
                      <a:srgbClr val="1E293B"/>
                    </a:solidFill>
                    <a:latin typeface="Calibri"/>
                  </a:rPr>
                  <a:t> (n số hạng)</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=n·</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S_n=n\cdot u_1</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34</a:t>
            </a:r>
          </a:p>
        </p:txBody>
      </p:sp>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các năm lập thành dãy số gì? Công bội bằng bao nhiêu?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=240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1−q</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240[1−(1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den>
                    </m:f>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019</m:t>
                    </m:r>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r>
                  <a:rPr lang="vi-VN"/>
                  <a:t>u_1=240</a:t>
                </a:r>
                <a:r>
                  <a:rPr sz="2400">
                    <a:solidFill>
                      <a:srgbClr val="1E293B"/>
                    </a:solidFill>
                    <a:latin typeface="Calibri"/>
                  </a:rPr>
                  <a:t>, </a:t>
                </a:r>
                <a:r>
                  <a:rPr lang="vi-VN"/>
                  <a:t>q=1{,}05</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S_{10}=\frac{u_1(1-q^{10})}{1-q}=\frac{240[1-(1{,}05)^{10}]}{1-1{,}05}\approx 3\,019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lương 10 năm ≈ 3 019 triệu đồng (≈ 3,019 tỉ đồng)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14:m>
                  <m:oMath xmlns:m="http://schemas.openxmlformats.org/officeDocument/2006/math">
                    <m:sSup>
                      <m:e>
                        <m:r>
                          <a:rPr lang="vi-VN" sz="2400" b="1">
                            <a:solidFill>
                              <a:srgbClr val="1E40AF"/>
                            </a:solidFill>
                            <a:latin typeface="Cambria Math" panose="02040503050406030204" pitchFamily="18" charset="0"/>
                          </a:rPr>
                          <m:t>3</m:t>
                        </m:r>
                      </m:e>
                      <m:sup>
                        <m:r>
                          <a:rPr lang="vi-VN" sz="2400" b="1">
                            <a:solidFill>
                              <a:srgbClr val="1E40AF"/>
                            </a:solidFill>
                            <a:latin typeface="Cambria Math" panose="02040503050406030204" pitchFamily="18" charset="0"/>
                          </a:rPr>
                          <m:t>n</m:t>
                        </m:r>
                      </m:sup>
                    </m:sSup>
                  </m:oMath>
                </a14:m>
                <a:r>
                  <a:rPr sz="2400" b="1">
                    <a:solidFill>
                      <a:srgbClr val="1E40AF"/>
                    </a:solidFill>
                    <a:latin typeface="Calibri"/>
                  </a:rPr>
                  <a:t> bằng một số đã biết</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r>
                  <a:rPr lang="vi-VN"/>
                  <a:t>2, 6, 18, …</a:t>
                </a:r>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r>
                  <a:rPr lang="vi-VN"/>
                  <a:t>3^n</a:t>
                </a:r>
                <a:r>
                  <a:rPr sz="2400" b="1">
                    <a:solidFill>
                      <a:srgbClr val="1E40AF"/>
                    </a:solidFill>
                    <a:latin typeface="Calibri"/>
                  </a:rPr>
                  <a:t> bằng một số đã biết</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728=</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2(1−</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1−3</m:t>
                        </m:r>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=729=</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6</m:t>
                        </m:r>
                      </m:sup>
                    </m:sSup>
                    <m:r>
                      <a:rPr lang="vi-VN" sz="2400" b="0">
                        <a:solidFill>
                          <a:srgbClr val="1E293B"/>
                        </a:solidFill>
                        <a:latin typeface="Cambria Math" panose="02040503050406030204" pitchFamily="18" charset="0"/>
                      </a:rPr>
                      <m:t>⇔n=6</m:t>
                    </m:r>
                  </m:oMath>
                </a14:m>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r>
                  <a:rPr sz="2400">
                    <a:solidFill>
                      <a:srgbClr val="1E293B"/>
                    </a:solidFill>
                    <a:latin typeface="Calibri"/>
                  </a:rPr>
                  <a:t>, </a:t>
                </a:r>
                <a:r>
                  <a:rPr lang="vi-VN"/>
                  <a:t>q=3</a:t>
                </a:r>
              </a:p>
              <a:p>
                <a:pPr algn="l" marL="365760" indent="-365760">
                  <a:spcAft>
                    <a:spcPts val="800"/>
                  </a:spcAft>
                  <a:buClr>
                    <a:srgbClr val="1E40AF"/>
                  </a:buClr>
                  <a:buFont typeface="Arial"/>
                  <a:buChar char="•"/>
                </a:pPr>
                <a:r>
                  <a:rPr lang="vi-VN"/>
                  <a:t>728=S_n=\frac{2(1-3^n)}{1-3}=3^n-1</a:t>
                </a:r>
              </a:p>
              <a:p>
                <a:pPr algn="l" marL="365760" indent="-365760">
                  <a:spcAft>
                    <a:spcPts val="800"/>
                  </a:spcAft>
                  <a:buClr>
                    <a:srgbClr val="1E40AF"/>
                  </a:buClr>
                  <a:buFont typeface="Arial"/>
                  <a:buChar char="•"/>
                </a:pPr>
                <a:r>
                  <a:rPr lang="vi-VN"/>
                  <a:t>\Leftrightarrow 3^n=729=3^6\Leftrightarrow n=6</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6 số hạng đầu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2.15 – 2.21 (SGK tr.55)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8</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p>
              <a:p>
                <a:pPr algn="l">
                  <a:spcAft>
                    <a:spcPts val="800"/>
                  </a:spcAft>
                </a:pPr>
                <a:r>
                  <a:rPr sz="2200" b="1">
                    <a:solidFill>
                      <a:srgbClr val="1E40AF"/>
                    </a:solidFill>
                    <a:latin typeface="Calibri"/>
                  </a:rPr>
                  <a:t>Gợi mở: Công bội </a:t>
                </a:r>
                <a14:m>
                  <m:oMath xmlns:m="http://schemas.openxmlformats.org/officeDocument/2006/math">
                    <m:r>
                      <a:rPr lang="vi-VN" sz="2200" b="1">
                        <a:solidFill>
                          <a:srgbClr val="1E40AF"/>
                        </a:solidFill>
                        <a:latin typeface="Cambria Math" panose="02040503050406030204" pitchFamily="18" charset="0"/>
                      </a:rPr>
                      <m:t>q=</m:t>
                    </m:r>
                    <m:f>
                      <m:fPr>
                        <m:type m:val="bar"/>
                      </m:fPr>
                      <m:num>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2</m:t>
                            </m:r>
                          </m:sub>
                        </m:sSub>
                      </m:num>
                      <m:den>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r>
                  <a:rPr lang="vi-VN"/>
                  <a:t>1, 4, 16, …</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2, −1/2, 1/8, …</a:t>
                </a:r>
              </a:p>
              <a:p>
                <a:pPr algn="l">
                  <a:spcAft>
                    <a:spcPts val="800"/>
                  </a:spcAft>
                </a:pPr>
                <a:r>
                  <a:rPr sz="2200" b="1">
                    <a:solidFill>
                      <a:srgbClr val="1E40AF"/>
                    </a:solidFill>
                    <a:latin typeface="Calibri"/>
                  </a:rPr>
                  <a:t>Gợi mở: Công bội </a:t>
                </a:r>
                <a:r>
                  <a:rPr lang="vi-VN"/>
                  <a:t>q=\frac{u_2}{u_1}</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=4</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=1·</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=256</m:t>
                    </m:r>
                  </m:oMath>
                </a14:m>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99</m:t>
                        </m:r>
                      </m:sup>
                    </m:sSup>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128</m:t>
                        </m:r>
                      </m:den>
                    </m:f>
                  </m:oMath>
                </a14:m>
              </a:p>
            </p:txBody>
          </p:sp>
        </mc:Choice>
        <mc:Fallback>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q=\frac{4}{1}=4</a:t>
                </a:r>
                <a:r>
                  <a:rPr sz="2200">
                    <a:solidFill>
                      <a:srgbClr val="1E293B"/>
                    </a:solidFill>
                    <a:latin typeface="Calibri"/>
                  </a:rPr>
                  <a:t>;  </a:t>
                </a:r>
                <a:r>
                  <a:rPr lang="vi-VN"/>
                  <a:t>u_5=1\cdot 4^4=256</a:t>
                </a:r>
              </a:p>
              <a:p>
                <a:pPr algn="l" marL="365760" indent="-365760">
                  <a:spcAft>
                    <a:spcPts val="800"/>
                  </a:spcAft>
                  <a:buClr>
                    <a:srgbClr val="1E40AF"/>
                  </a:buClr>
                  <a:buFont typeface="Arial"/>
                  <a:buChar char="•"/>
                </a:pPr>
                <a:r>
                  <a:rPr lang="vi-VN"/>
                  <a:t>u_n=4^{n-1}</a:t>
                </a:r>
                <a:r>
                  <a:rPr sz="2200">
                    <a:solidFill>
                      <a:srgbClr val="1E293B"/>
                    </a:solidFill>
                    <a:latin typeface="Calibri"/>
                  </a:rPr>
                  <a:t>;  </a:t>
                </a:r>
                <a:r>
                  <a:rPr lang="vi-VN"/>
                  <a:t>u_{100}=4^{99}</a:t>
                </a:r>
              </a:p>
              <a:p>
                <a:pPr algn="l" marL="365760" indent="-365760">
                  <a:spcAft>
                    <a:spcPts val="800"/>
                  </a:spcAft>
                  <a:buClr>
                    <a:srgbClr val="1E40AF"/>
                  </a:buClr>
                  <a:buFont typeface="Arial"/>
                  <a:buChar char="•"/>
                </a:pPr>
                <a:r>
                  <a:rPr sz="2200">
                    <a:solidFill>
                      <a:srgbClr val="1E293B"/>
                    </a:solidFill>
                    <a:latin typeface="Calibri"/>
                  </a:rPr>
                  <a:t>b) </a:t>
                </a:r>
                <a:r>
                  <a:rPr lang="vi-VN"/>
                  <a:t>q=\frac{-1/2}{2}=-\frac{1}{4}</a:t>
                </a:r>
                <a:r>
                  <a:rPr sz="2200">
                    <a:solidFill>
                      <a:srgbClr val="1E293B"/>
                    </a:solidFill>
                    <a:latin typeface="Calibri"/>
                  </a:rPr>
                  <a:t>;  </a:t>
                </a:r>
                <a:r>
                  <a:rPr lang="vi-VN"/>
                  <a:t>u_5=2\cdot\paren{-\frac{1}{4}}^4=\frac{1}{128}</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99</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197</m:t>
                            </m:r>
                          </m:sup>
                        </m:sSup>
                      </m:den>
                    </m:f>
                  </m:oMath>
                </a14:m>
              </a:p>
            </p:txBody>
          </p:sp>
        </mc:Choice>
        <mc:Fallback>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u_n=2\cdot\paren{-\frac{1}{4}}^{n-1}</a:t>
                </a:r>
                <a:r>
                  <a:rPr sz="2200">
                    <a:solidFill>
                      <a:srgbClr val="1E293B"/>
                    </a:solidFill>
                    <a:latin typeface="Calibri"/>
                  </a:rPr>
                  <a:t>;  </a:t>
                </a:r>
                <a:r>
                  <a:rPr lang="vi-VN"/>
                  <a:t>u_{100}=2\cdot\paren{-\frac{1}{4}}^{99}=-\frac{1}{2^{197}}</a:t>
                </a:r>
              </a:p>
            </p:txBody>
          </p:sp>
        </mc:Fallback>
      </mc:AlternateContent>
      <p:sp>
        <p:nvSpPr>
          <p:cNvPr id="8" name="Rounded Rectangle 7"/>
          <p:cNvSpPr/>
          <p:nvPr/>
        </p:nvSpPr>
        <p:spPr>
          <a:xfrm>
            <a:off x="731520" y="2563495"/>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sSup>
                      <m:e>
                        <m:r>
                          <a:rPr lang="vi-VN" sz="2200" b="1">
                            <a:solidFill>
                              <a:srgbClr val="991B1B"/>
                            </a:solidFill>
                            <a:latin typeface="Cambria Math" panose="02040503050406030204" pitchFamily="18" charset="0"/>
                          </a:rPr>
                          <m:t>4</m:t>
                        </m:r>
                      </m:e>
                      <m:sup>
                        <m:r>
                          <a:rPr lang="vi-VN" sz="2200" b="1">
                            <a:solidFill>
                              <a:srgbClr val="991B1B"/>
                            </a:solidFill>
                            <a:latin typeface="Cambria Math" panose="02040503050406030204" pitchFamily="18" charset="0"/>
                          </a:rPr>
                          <m:t>99</m:t>
                        </m:r>
                      </m:sup>
                    </m:sSup>
                  </m:oMath>
                </a14:m>
                <a:r>
                  <a:rPr sz="2200" b="1">
                    <a:solidFill>
                      <a:srgbClr val="991B1B"/>
                    </a:solidFill>
                    <a:latin typeface="Calibri"/>
                  </a:rPr>
                  <a:t>;   b)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f>
                      <m:fPr>
                        <m:type m:val="bar"/>
                      </m:fPr>
                      <m:num>
                        <m:r>
                          <a:rPr lang="vi-VN" sz="2200" b="1">
                            <a:solidFill>
                              <a:srgbClr val="991B1B"/>
                            </a:solidFill>
                            <a:latin typeface="Cambria Math" panose="02040503050406030204" pitchFamily="18" charset="0"/>
                          </a:rPr>
                          <m:t>1</m:t>
                        </m:r>
                      </m:num>
                      <m:den>
                        <m:sSup>
                          <m:e>
                            <m:r>
                              <a:rPr lang="vi-VN" sz="2200" b="1">
                                <a:solidFill>
                                  <a:srgbClr val="991B1B"/>
                                </a:solidFill>
                                <a:latin typeface="Cambria Math" panose="02040503050406030204" pitchFamily="18" charset="0"/>
                              </a:rPr>
                              <m:t>2</m:t>
                            </m:r>
                          </m:e>
                          <m:sup>
                            <m:r>
                              <a:rPr lang="vi-VN" sz="2200" b="1">
                                <a:solidFill>
                                  <a:srgbClr val="991B1B"/>
                                </a:solidFill>
                                <a:latin typeface="Cambria Math" panose="02040503050406030204" pitchFamily="18" charset="0"/>
                              </a:rPr>
                              <m:t>197</m:t>
                            </m:r>
                          </m:sup>
                        </m:sSup>
                      </m:den>
                    </m:f>
                  </m:oMath>
                </a14:m>
              </a:p>
            </p:txBody>
          </p:sp>
        </mc:Choice>
        <mc:Fallback>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r>
                  <a:rPr lang="vi-VN"/>
                  <a:t>u_{100}=4^{99}</a:t>
                </a:r>
                <a:r>
                  <a:rPr sz="2200" b="1">
                    <a:solidFill>
                      <a:srgbClr val="991B1B"/>
                    </a:solidFill>
                    <a:latin typeface="Calibri"/>
                  </a:rPr>
                  <a:t>;   b) </a:t>
                </a:r>
                <a:r>
                  <a:rPr lang="vi-VN"/>
                  <a:t>u_{100}=-\frac{1}{2^{197}}</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và xem nó có phải là cấp số nhân không. Nếu nó là cấp số nhân, hãy tìm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và viết công thức số hạng tổng quát của nó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p:txBody>
          </p:sp>
        </mc:Choice>
        <mc:Fallback>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r>
                  <a:rPr lang="vi-VN"/>
                  <a:t>(u_n)</a:t>
                </a:r>
                <a:r>
                  <a:rPr sz="2200">
                    <a:solidFill>
                      <a:srgbClr val="1E293B"/>
                    </a:solidFill>
                    <a:latin typeface="Calibri"/>
                  </a:rPr>
                  <a:t> sau và xem nó có phải là cấp số nhân không. Nếu nó là cấp số nhân, hãy tìm công bội </a:t>
                </a:r>
                <a:r>
                  <a:rPr lang="vi-VN"/>
                  <a:t>q</a:t>
                </a:r>
                <a:r>
                  <a:rPr sz="2200">
                    <a:solidFill>
                      <a:srgbClr val="1E293B"/>
                    </a:solidFill>
                    <a:latin typeface="Calibri"/>
                  </a:rPr>
                  <a:t> và viết công thức số hạng tổng quát của nó dưới dạng </a:t>
                </a:r>
                <a:r>
                  <a:rPr lang="vi-VN"/>
                  <a:t>u_n=u_1·q^(n−1)</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u_1=1</a:t>
                </a:r>
                <a:r>
                  <a:rPr sz="2200">
                    <a:solidFill>
                      <a:srgbClr val="1E293B"/>
                    </a:solidFill>
                    <a:latin typeface="Calibri"/>
                  </a:rPr>
                  <a:t>, </a:t>
                </a:r>
                <a:r>
                  <a:rPr lang="vi-VN"/>
                  <a:t>u_n=nu_(n−1)</a:t>
                </a:r>
                <a:r>
                  <a:rPr sz="22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r>
                  <a:rPr lang="vi-VN"/>
                  <a:t>u_1=1</a:t>
                </a:r>
                <a:r>
                  <a:rPr sz="2200">
                    <a:solidFill>
                      <a:srgbClr val="1E293B"/>
                    </a:solidFill>
                    <a:latin typeface="Calibri"/>
                  </a:rPr>
                  <a:t>, </a:t>
                </a:r>
                <a:r>
                  <a:rPr lang="vi-VN"/>
                  <a:t>u_n=5u_(n−1)</a:t>
                </a:r>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den>
                    </m:f>
                    <m:r>
                      <a:rPr lang="vi-VN" sz="2200" b="0">
                        <a:solidFill>
                          <a:srgbClr val="1E293B"/>
                        </a:solidFill>
                        <a:latin typeface="Cambria Math" panose="02040503050406030204" pitchFamily="18" charset="0"/>
                      </a:rPr>
                      <m:t>=2≠</m:t>
                    </m:r>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3</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Choice>
        <mc:Fallback>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r>
                  <a:rPr lang="vi-VN"/>
                  <a:t>\frac{u_2}{u_1}=2\ne\frac{u_3}{u_2}=\frac{3}{2}</a:t>
                </a:r>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r>
                  <a:rPr lang="vi-VN"/>
                  <a:t>q=5</a:t>
                </a:r>
                <a:r>
                  <a:rPr sz="2200">
                    <a:solidFill>
                      <a:srgbClr val="1E293B"/>
                    </a:solidFill>
                    <a:latin typeface="Calibri"/>
                  </a:rPr>
                  <a:t> ⇒ </a:t>
                </a:r>
                <a:r>
                  <a:rPr lang="vi-VN"/>
                  <a:t>u_n=5\cdot 5^{n-1}</a:t>
                </a:r>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r>
                  <a:rPr lang="vi-VN"/>
                  <a:t>q=5</a:t>
                </a:r>
                <a:r>
                  <a:rPr sz="2200">
                    <a:solidFill>
                      <a:srgbClr val="1E293B"/>
                    </a:solidFill>
                    <a:latin typeface="Calibri"/>
                  </a:rPr>
                  <a:t> ⇒ </a:t>
                </a:r>
                <a:r>
                  <a:rPr lang="vi-VN"/>
                  <a:t>u_n=5^{n-1}</a:t>
                </a:r>
              </a:p>
            </p:txBody>
          </p:sp>
        </mc:Fallback>
      </mc:AlternateContent>
      <p:sp>
        <p:nvSpPr>
          <p:cNvPr id="8" name="Rounded Rectangle 7"/>
          <p:cNvSpPr/>
          <p:nvPr/>
        </p:nvSpPr>
        <p:spPr>
          <a:xfrm>
            <a:off x="731520" y="2073148"/>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3148"/>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d) là cấp số nhân; a), c) không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6</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3</m:t>
                            </m:r>
                          </m:sub>
                        </m:sSub>
                      </m:den>
                    </m:f>
                  </m:oMath>
                </a14:m>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r>
                  <a:rPr lang="vi-VN"/>
                  <a:t>\frac{u_6}{u_3}</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=96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m:t>
                    </m:r>
                  </m:oMath>
                </a14:m>
              </a:p>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=8⇒q=2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12</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49</m:t>
                        </m:r>
                      </m:sup>
                    </m:sSup>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u_6=u_1q^5=96</a:t>
                </a:r>
                <a:r>
                  <a:rPr sz="2400">
                    <a:solidFill>
                      <a:srgbClr val="1E293B"/>
                    </a:solidFill>
                    <a:latin typeface="Calibri"/>
                  </a:rPr>
                  <a:t>;  </a:t>
                </a:r>
                <a:r>
                  <a:rPr lang="vi-VN"/>
                  <a:t>u_3=u_1q^2=12</a:t>
                </a:r>
              </a:p>
              <a:p>
                <a:pPr algn="l" marL="365760" indent="-365760">
                  <a:spcAft>
                    <a:spcPts val="800"/>
                  </a:spcAft>
                  <a:buClr>
                    <a:srgbClr val="1E40AF"/>
                  </a:buClr>
                  <a:buFont typeface="Arial"/>
                  <a:buChar char="•"/>
                </a:pPr>
                <a:r>
                  <a:rPr lang="vi-VN"/>
                  <a:t>\frac{u_6}{u_3}=q^3=8\Rightarrow q=2</a:t>
                </a:r>
                <a:r>
                  <a:rPr sz="2400">
                    <a:solidFill>
                      <a:srgbClr val="1E293B"/>
                    </a:solidFill>
                    <a:latin typeface="Calibri"/>
                  </a:rPr>
                  <a:t>;  </a:t>
                </a:r>
                <a:r>
                  <a:rPr lang="vi-VN"/>
                  <a:t>u_1=\frac{12}{4}=3</a:t>
                </a:r>
              </a:p>
              <a:p>
                <a:pPr algn="l" marL="365760" indent="-365760">
                  <a:spcAft>
                    <a:spcPts val="800"/>
                  </a:spcAft>
                  <a:buClr>
                    <a:srgbClr val="1E40AF"/>
                  </a:buClr>
                  <a:buFont typeface="Arial"/>
                  <a:buChar char="•"/>
                </a:pPr>
                <a:r>
                  <a:rPr lang="vi-VN"/>
                  <a:t>u_{50}=u_1q^{49}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50</m:t>
                        </m:r>
                      </m:sub>
                    </m:sSub>
                    <m:r>
                      <a:rPr lang="vi-VN" sz="2400" b="1">
                        <a:solidFill>
                          <a:srgbClr val="991B1B"/>
                        </a:solidFill>
                        <a:latin typeface="Cambria Math" panose="02040503050406030204" pitchFamily="18" charset="0"/>
                      </a:rPr>
                      <m:t>=3·</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49</m:t>
                        </m:r>
                      </m:sup>
                    </m:sSup>
                  </m:oMath>
                </a14:m>
              </a:p>
            </p:txBody>
          </p:sp>
        </mc:Choice>
        <mc:Fallback>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u_{50}=3\cdot 2^{49}</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=5</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115</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r>
                  <a:rPr lang="vi-VN"/>
                  <a:t>S_n=5\,115</a:t>
                </a: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115⇔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S_n=\frac{5(1-2^n)}{1-2}=5(2^n-1)</a:t>
                </a:r>
              </a:p>
              <a:p>
                <a:pPr algn="l" marL="365760" indent="-365760">
                  <a:spcAft>
                    <a:spcPts val="800"/>
                  </a:spcAft>
                  <a:buClr>
                    <a:srgbClr val="1E40AF"/>
                  </a:buClr>
                  <a:buFont typeface="Arial"/>
                  <a:buChar char="•"/>
                </a:pPr>
                <a:r>
                  <a:rPr lang="vi-VN"/>
                  <a:t>5(2^n-1)=5\,115\Leftrightarrow 2^n=1\,024=2^{10}</a:t>
                </a:r>
              </a:p>
            </p:txBody>
          </p:sp>
        </mc:Fallback>
      </mc:AlternateContent>
      <p:sp>
        <p:nvSpPr>
          <p:cNvPr id="8" name="Rounded Rectangle 7"/>
          <p:cNvSpPr/>
          <p:nvPr/>
        </p:nvSpPr>
        <p:spPr>
          <a:xfrm>
            <a:off x="731520" y="279044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10 số hạng đầu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50</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xây dựng mua một chiếc máy ủi với giá 3 tỉ đồng.</a:t>
            </a:r>
          </a:p>
          <a:p>
            <a:pPr algn="l">
              <a:spcAft>
                <a:spcPts val="800"/>
              </a:spcAft>
            </a:pPr>
            <a:r>
              <a:rPr sz="2400">
                <a:solidFill>
                  <a:srgbClr val="1E293B"/>
                </a:solidFill>
                <a:latin typeface="Calibri"/>
              </a:rPr>
              <a:t>Cứ sau mỗi năm sử dụng, giá trị của chiếc máy ủi này lại giảm 20% so với giá trị của nó trong năm liền trước đó.</a:t>
            </a:r>
          </a:p>
          <a:p>
            <a:pPr algn="l">
              <a:spcAft>
                <a:spcPts val="800"/>
              </a:spcAft>
            </a:pPr>
            <a:r>
              <a:rPr sz="2400">
                <a:solidFill>
                  <a:srgbClr val="1E293B"/>
                </a:solidFill>
                <a:latin typeface="Calibri"/>
              </a:rPr>
              <a:t>Tìm giá trị còn lại của chiếc máy ủi đó sau 5 năm sử dụng.</a:t>
            </a:r>
          </a:p>
          <a:p>
            <a:pPr algn="l">
              <a:spcAft>
                <a:spcPts val="800"/>
              </a:spcAft>
            </a:pPr>
            <a:r>
              <a:rPr sz="2400" b="1">
                <a:solidFill>
                  <a:srgbClr val="1E40AF"/>
                </a:solidFill>
                <a:latin typeface="Calibri"/>
              </a:rPr>
              <a:t>Gợi mở: Giảm 20% thì công bội bằng bao nhiêu?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14:m>
                  <m:oMath xmlns:m="http://schemas.openxmlformats.org/officeDocument/2006/math">
                    <m:r>
                      <a:rPr lang="vi-VN" sz="2400" b="0">
                        <a:solidFill>
                          <a:srgbClr val="1E293B"/>
                        </a:solidFill>
                        <a:latin typeface="Cambria Math" panose="02040503050406030204" pitchFamily="18" charset="0"/>
                      </a:rPr>
                      <m:t>q=1−20%=0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14:m>
                  <m:oMath xmlns:m="http://schemas.openxmlformats.org/officeDocument/2006/math">
                    <m:r>
                      <a:rPr lang="vi-VN" sz="2400" b="0">
                        <a:solidFill>
                          <a:srgbClr val="1E293B"/>
                        </a:solidFill>
                        <a:latin typeface="Cambria Math" panose="02040503050406030204" pitchFamily="18" charset="0"/>
                      </a:rPr>
                      <m:t>3·0</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98304</m:t>
                    </m:r>
                  </m:oMath>
                </a14:m>
                <a:r>
                  <a:rPr sz="2400">
                    <a:solidFill>
                      <a:srgbClr val="1E293B"/>
                    </a:solidFill>
                    <a:latin typeface="Calibri"/>
                  </a:rPr>
                  <a:t> (tỉ đồng)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r>
                  <a:rPr lang="vi-VN"/>
                  <a:t>q=1-20\%=0{,}8</a:t>
                </a:r>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r>
                  <a:rPr lang="vi-VN"/>
                  <a:t>3\cdot 0{,}8^5=0{,}98304</a:t>
                </a:r>
                <a:r>
                  <a:rPr sz="2400">
                    <a:solidFill>
                      <a:srgbClr val="1E293B"/>
                    </a:solidFill>
                    <a:latin typeface="Calibri"/>
                  </a:rPr>
                  <a:t> (tỉ đồng)</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Còn khoảng 983 triệu đồng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14:m>
                  <m:oMath xmlns:m="http://schemas.openxmlformats.org/officeDocument/2006/math">
                    <m:r>
                      <a:rPr lang="vi-VN" sz="2400" b="1">
                        <a:solidFill>
                          <a:srgbClr val="1E40AF"/>
                        </a:solidFill>
                        <a:latin typeface="Cambria Math" panose="02040503050406030204" pitchFamily="18" charset="0"/>
                      </a:rPr>
                      <m:t>q=1</m:t>
                    </m:r>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0091</m:t>
                    </m:r>
                  </m:oMath>
                </a14:m>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r>
                  <a:rPr lang="vi-VN"/>
                  <a:t>q=1{,}0091</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=97</m:t>
                    </m:r>
                  </m:oMath>
                </a14:m>
                <a:r>
                  <a:rPr sz="2400">
                    <a:solidFill>
                      <a:srgbClr val="1E293B"/>
                    </a:solidFill>
                    <a:latin typeface="Calibri"/>
                  </a:rPr>
                  <a:t> (năm 2020),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0091</m:t>
                    </m:r>
                  </m:oMath>
                </a14:m>
              </a:p>
              <a:p>
                <a:pPr algn="l" marL="365760" indent="-365760">
                  <a:spcAft>
                    <a:spcPts val="800"/>
                  </a:spcAft>
                  <a:buClr>
                    <a:srgbClr val="1E40AF"/>
                  </a:buClr>
                  <a:buFont typeface="Arial"/>
                  <a:buChar char="•"/>
                </a:pPr>
                <a:r>
                  <a:rPr sz="2400">
                    <a:solidFill>
                      <a:srgbClr val="1E293B"/>
                    </a:solidFill>
                    <a:latin typeface="Calibri"/>
                  </a:rPr>
                  <a:t>Năm 2030 ứng với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r>
                      <a:rPr lang="vi-VN" sz="2400" b="0">
                        <a:solidFill>
                          <a:srgbClr val="1E293B"/>
                        </a:solidFill>
                        <a:latin typeface="Cambria Math" panose="02040503050406030204" pitchFamily="18" charset="0"/>
                      </a:rPr>
                      <m:t>=97·1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0091</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r>
                  <a:rPr lang="vi-VN"/>
                  <a:t>u_1=97</a:t>
                </a:r>
                <a:r>
                  <a:rPr sz="2400">
                    <a:solidFill>
                      <a:srgbClr val="1E293B"/>
                    </a:solidFill>
                    <a:latin typeface="Calibri"/>
                  </a:rPr>
                  <a:t> (năm 2020), </a:t>
                </a:r>
                <a:r>
                  <a:rPr lang="vi-VN"/>
                  <a:t>q=1{,}0091</a:t>
                </a:r>
              </a:p>
              <a:p>
                <a:pPr algn="l" marL="365760" indent="-365760">
                  <a:spcAft>
                    <a:spcPts val="800"/>
                  </a:spcAft>
                  <a:buClr>
                    <a:srgbClr val="1E40AF"/>
                  </a:buClr>
                  <a:buFont typeface="Arial"/>
                  <a:buChar char="•"/>
                </a:pPr>
                <a:r>
                  <a:rPr sz="2400">
                    <a:solidFill>
                      <a:srgbClr val="1E293B"/>
                    </a:solidFill>
                    <a:latin typeface="Calibri"/>
                  </a:rPr>
                  <a:t>Năm 2030 ứng với </a:t>
                </a:r>
                <a:r>
                  <a:rPr lang="vi-VN"/>
                  <a:t>u_{11}=97\cdot 1{,}0091^{10}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106,2 triệu người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54</a:t>
            </a:r>
          </a:p>
        </p:txBody>
      </p:sp>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loại thuốc được dùng mỗi ngày một lần.</a:t>
            </a:r>
          </a:p>
          <a:p>
            <a:pPr algn="l">
              <a:spcAft>
                <a:spcPts val="800"/>
              </a:spcAft>
            </a:pPr>
            <a:r>
              <a:rPr sz="2200">
                <a:solidFill>
                  <a:srgbClr val="1E293B"/>
                </a:solidFill>
                <a:latin typeface="Calibri"/>
              </a:rPr>
              <a:t>Lúc đầu nồng độ thuốc trong máu của bệnh nhân tăng nhanh, nhưng mỗi liều kế tiếp có tác dụng ít hơn liều trước đó.</a:t>
            </a:r>
          </a:p>
          <a:p>
            <a:pPr algn="l">
              <a:spcAft>
                <a:spcPts val="800"/>
              </a:spcAft>
            </a:pPr>
            <a:r>
              <a:rPr sz="2200">
                <a:solidFill>
                  <a:srgbClr val="1E293B"/>
                </a:solidFill>
                <a:latin typeface="Calibri"/>
              </a:rPr>
              <a:t>Lượng thuốc trong máu ở ngày thứ nhất là 50 mg, và mỗi ngày sau đó giảm chỉ còn một nửa so với ngày kề trước đó.</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55</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Tính tổng lượng thuốc (tính bằng mg) trong máu của bệnh nhân sau khi dùng thuốc 10 ngày liên tiếp.</a:t>
            </a:r>
          </a:p>
          <a:p>
            <a:pPr algn="l">
              <a:spcAft>
                <a:spcPts val="800"/>
              </a:spcAft>
            </a:pPr>
            <a:r>
              <a:rPr sz="2200" b="1">
                <a:solidFill>
                  <a:srgbClr val="1E40AF"/>
                </a:solidFill>
                <a:latin typeface="Calibri"/>
              </a:rPr>
              <a:t>Gợi mở: Lượng thuốc các ngày lập thành cấp số nhân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den>
                            </m:f>
                          </m:e>
                        </m:d>
                      </m:num>
                      <m:den>
                        <m:r>
                          <a:rPr lang="vi-VN" sz="2400" b="0">
                            <a:solidFill>
                              <a:srgbClr val="1E293B"/>
                            </a:solidFill>
                            <a:latin typeface="Cambria Math" panose="02040503050406030204" pitchFamily="18" charset="0"/>
                          </a:rPr>
                          <m:t>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den>
                    </m:f>
                    <m:r>
                      <a:rPr lang="vi-VN" sz="2400" b="0">
                        <a:solidFill>
                          <a:srgbClr val="1E293B"/>
                        </a:solidFill>
                        <a:latin typeface="Cambria Math" panose="02040503050406030204" pitchFamily="18" charset="0"/>
                      </a:rPr>
                      <m:t>=100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den>
                        </m:f>
                      </m:e>
                    </m:d>
                  </m:oMath>
                </a14:m>
              </a:p>
            </p:txBody>
          </p:sp>
        </mc:Choice>
        <mc:Fallback>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u_1=50</a:t>
                </a:r>
                <a:r>
                  <a:rPr sz="2400">
                    <a:solidFill>
                      <a:srgbClr val="1E293B"/>
                    </a:solidFill>
                    <a:latin typeface="Calibri"/>
                  </a:rPr>
                  <a:t>, </a:t>
                </a:r>
                <a:r>
                  <a:rPr lang="vi-VN"/>
                  <a:t>q=\frac{1}{2}</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S_{10}=\frac{50\paren{1-\frac{1}{2^{10}}}}{1-\frac{1}{2}}=100\paren{1-\frac{1}{1\,024}}</a:t>
                </a:r>
              </a:p>
            </p:txBody>
          </p:sp>
        </mc:Fallback>
      </mc:AlternateContent>
      <p:sp>
        <p:nvSpPr>
          <p:cNvPr id="8" name="Rounded Rectangle 7"/>
          <p:cNvSpPr/>
          <p:nvPr/>
        </p:nvSpPr>
        <p:spPr>
          <a:xfrm>
            <a:off x="731520" y="33253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99,9 mg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r>
                  <a:rPr sz="2400">
                    <a:solidFill>
                      <a:srgbClr val="1E293B"/>
                    </a:solidFill>
                    <a:latin typeface="Calibri"/>
                  </a:rPr>
                  <a:t>. Sau 5 giờ số vi khuẩn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802</m:t>
                    </m:r>
                  </m:oMath>
                </a14:m>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r>
                  <a:rPr lang="vi-VN"/>
                  <a:t>u_1=5 000</a:t>
                </a:r>
                <a:r>
                  <a:rPr sz="2400">
                    <a:solidFill>
                      <a:srgbClr val="1E293B"/>
                    </a:solidFill>
                    <a:latin typeface="Calibri"/>
                  </a:rPr>
                  <a:t>, </a:t>
                </a:r>
                <a:r>
                  <a:rPr lang="vi-VN"/>
                  <a:t>q=1,08</a:t>
                </a:r>
                <a:r>
                  <a:rPr sz="2400">
                    <a:solidFill>
                      <a:srgbClr val="1E293B"/>
                    </a:solidFill>
                    <a:latin typeface="Calibri"/>
                  </a:rPr>
                  <a:t>. Sau 5 giờ số vi khuẩn là </a:t>
                </a:r>
                <a:r>
                  <a:rPr lang="vi-VN"/>
                  <a:t>u_5=5 000·1,08^4≈6 802</a:t>
                </a:r>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là thời điểm ban đầu (0 giờ) nên sau 5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r>
                  <a:rPr sz="2400">
                    <a:solidFill>
                      <a:srgbClr val="1E293B"/>
                    </a:solidFill>
                    <a:latin typeface="Calibri"/>
                  </a:rPr>
                  <a:t> con. Kiểm chứng: sau 1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400=</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r>
                  <a:rPr lang="vi-VN"/>
                  <a:t>u_1</a:t>
                </a:r>
                <a:r>
                  <a:rPr sz="2400">
                    <a:solidFill>
                      <a:srgbClr val="1E293B"/>
                    </a:solidFill>
                    <a:latin typeface="Calibri"/>
                  </a:rPr>
                  <a:t> là thời điểm ban đầu (0 giờ) nên sau 5 giờ là </a:t>
                </a:r>
                <a:r>
                  <a:rPr lang="vi-VN"/>
                  <a:t>u_6=5 000·1,08^5≈7 347</a:t>
                </a:r>
                <a:r>
                  <a:rPr sz="2400">
                    <a:solidFill>
                      <a:srgbClr val="1E293B"/>
                    </a:solidFill>
                    <a:latin typeface="Calibri"/>
                  </a:rPr>
                  <a:t> con. Kiểm chứng: sau 1 giờ là </a:t>
                </a:r>
                <a:r>
                  <a:rPr lang="vi-VN"/>
                  <a:t>5 400=u_2</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6</m:t>
                        </m:r>
                      </m:sub>
                    </m:sSub>
                    <m:r>
                      <a:rPr lang="vi-VN" sz="2400" b="1">
                        <a:solidFill>
                          <a:srgbClr val="991B1B"/>
                        </a:solidFill>
                        <a:latin typeface="Cambria Math" panose="02040503050406030204" pitchFamily="18" charset="0"/>
                      </a:rPr>
                      <m:t>≈7</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347</m:t>
                    </m:r>
                  </m:oMath>
                </a14:m>
                <a:r>
                  <a:rPr sz="2400" b="1">
                    <a:solidFill>
                      <a:srgbClr val="991B1B"/>
                    </a:solidFill>
                    <a:latin typeface="Calibri"/>
                  </a:rPr>
                  <a:t> con</a:t>
                </a:r>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r>
                  <a:rPr lang="vi-VN"/>
                  <a:t>u_6\approx 7\,347</a:t>
                </a:r>
                <a:r>
                  <a:rPr sz="2400" b="1">
                    <a:solidFill>
                      <a:srgbClr val="991B1B"/>
                    </a:solidFill>
                    <a:latin typeface="Calibri"/>
                  </a:rPr>
                  <a:t> con</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S=1+2+4+…+</m:t>
                    </m:r>
                    <m:sSup>
                      <m:e>
                        <m:r>
                          <a:rPr lang="vi-VN" sz="2400" b="1">
                            <a:solidFill>
                              <a:srgbClr val="1E40AF"/>
                            </a:solidFill>
                            <a:latin typeface="Cambria Math" panose="02040503050406030204" pitchFamily="18" charset="0"/>
                          </a:rPr>
                          <m:t>2</m:t>
                        </m:r>
                      </m:e>
                      <m:sup>
                        <m:r>
                          <a:rPr lang="vi-VN" sz="2400" b="1">
                            <a:solidFill>
                              <a:srgbClr val="1E40AF"/>
                            </a:solidFill>
                            <a:latin typeface="Cambria Math" panose="02040503050406030204" pitchFamily="18" charset="0"/>
                          </a:rPr>
                          <m:t>9</m:t>
                        </m:r>
                      </m:sup>
                    </m:sSup>
                  </m:oMath>
                </a14:m>
                <a:r>
                  <a:rPr sz="2400" b="1">
                    <a:solidFill>
                      <a:srgbClr val="1E40AF"/>
                    </a:solidFill>
                    <a:latin typeface="Calibri"/>
                  </a:rPr>
                  <a:t>.</a:t>
                </a:r>
              </a:p>
              <a:p>
                <a:pPr algn="l">
                  <a:spcAft>
                    <a:spcPts val="800"/>
                  </a:spcAft>
                </a:pPr>
                <a:r>
                  <a:rPr sz="2400">
                    <a:solidFill>
                      <a:srgbClr val="1E293B"/>
                    </a:solidFill>
                    <a:latin typeface="Calibri"/>
                  </a:rPr>
                  <a:t>"Đây là tổng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số hạng cuối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n=9</m:t>
                    </m:r>
                  </m:oMath>
                </a14:m>
                <a:r>
                  <a:rPr sz="2400">
                    <a:solidFill>
                      <a:srgbClr val="1E293B"/>
                    </a:solidFill>
                    <a:latin typeface="Calibri"/>
                  </a:rPr>
                  <a:t>. Vậy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f>
                      <m:fPr>
                        <m:type m:val="bar"/>
                      </m:fPr>
                      <m:num>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=511</m:t>
                    </m:r>
                  </m:oMath>
                </a14:m>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Choice>
        <mc:Fallback>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r>
                  <a:rPr lang="vi-VN"/>
                  <a:t>S=1+2+4+…+2^9</a:t>
                </a:r>
                <a:r>
                  <a:rPr sz="2400" b="1">
                    <a:solidFill>
                      <a:srgbClr val="1E40AF"/>
                    </a:solidFill>
                    <a:latin typeface="Calibri"/>
                  </a:rPr>
                  <a:t>.</a:t>
                </a:r>
              </a:p>
              <a:p>
                <a:pPr algn="l">
                  <a:spcAft>
                    <a:spcPts val="800"/>
                  </a:spcAft>
                </a:pPr>
                <a:r>
                  <a:rPr sz="2400">
                    <a:solidFill>
                      <a:srgbClr val="1E293B"/>
                    </a:solidFill>
                    <a:latin typeface="Calibri"/>
                  </a:rPr>
                  <a:t>"Đây là tổng cấp số nhân </a:t>
                </a:r>
                <a:r>
                  <a:rPr lang="vi-VN"/>
                  <a:t>u_1=1</a:t>
                </a:r>
                <a:r>
                  <a:rPr sz="2400">
                    <a:solidFill>
                      <a:srgbClr val="1E293B"/>
                    </a:solidFill>
                    <a:latin typeface="Calibri"/>
                  </a:rPr>
                  <a:t>, </a:t>
                </a:r>
                <a:r>
                  <a:rPr lang="vi-VN"/>
                  <a:t>q=2</a:t>
                </a:r>
                <a:r>
                  <a:rPr sz="2400">
                    <a:solidFill>
                      <a:srgbClr val="1E293B"/>
                    </a:solidFill>
                    <a:latin typeface="Calibri"/>
                  </a:rPr>
                  <a:t>, số hạng cuối </a:t>
                </a:r>
                <a:r>
                  <a:rPr lang="vi-VN"/>
                  <a:t>2^9</a:t>
                </a:r>
                <a:r>
                  <a:rPr sz="2400">
                    <a:solidFill>
                      <a:srgbClr val="1E293B"/>
                    </a:solidFill>
                    <a:latin typeface="Calibri"/>
                  </a:rPr>
                  <a:t> nên </a:t>
                </a:r>
                <a:r>
                  <a:rPr lang="vi-VN"/>
                  <a:t>n=9</a:t>
                </a:r>
                <a:r>
                  <a:rPr sz="2400">
                    <a:solidFill>
                      <a:srgbClr val="1E293B"/>
                    </a:solidFill>
                    <a:latin typeface="Calibri"/>
                  </a:rPr>
                  <a:t>. Vậy </a:t>
                </a:r>
                <a:r>
                  <a:rPr lang="vi-VN"/>
                  <a:t>S=(1−2^9)/(1−2)=511</a:t>
                </a:r>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0</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n=10</m:t>
                    </m:r>
                  </m:oMath>
                </a14:m>
                <a:r>
                  <a:rPr sz="2400">
                    <a:solidFill>
                      <a:srgbClr val="1E293B"/>
                    </a:solidFill>
                    <a:latin typeface="Calibri"/>
                  </a:rPr>
                  <a:t>. Đúng: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023</m:t>
                    </m:r>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r>
                  <a:rPr lang="vi-VN"/>
                  <a:t>2^0, 2^1, …, 2^9</a:t>
                </a:r>
                <a:r>
                  <a:rPr sz="2400">
                    <a:solidFill>
                      <a:srgbClr val="1E293B"/>
                    </a:solidFill>
                    <a:latin typeface="Calibri"/>
                  </a:rPr>
                  <a:t> nên </a:t>
                </a:r>
                <a:r>
                  <a:rPr lang="vi-VN"/>
                  <a:t>n=10</a:t>
                </a:r>
                <a:r>
                  <a:rPr sz="2400">
                    <a:solidFill>
                      <a:srgbClr val="1E293B"/>
                    </a:solidFill>
                    <a:latin typeface="Calibri"/>
                  </a:rPr>
                  <a:t>. Đúng: </a:t>
                </a:r>
                <a:r>
                  <a:rPr lang="vi-VN"/>
                  <a:t>S=2^10−1=1 023</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S=</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10</m:t>
                        </m:r>
                      </m:sup>
                    </m:sSup>
                    <m:r>
                      <a:rPr lang="vi-VN" sz="2400" b="1">
                        <a:solidFill>
                          <a:srgbClr val="991B1B"/>
                        </a:solidFill>
                        <a:latin typeface="Cambria Math" panose="02040503050406030204" pitchFamily="18" charset="0"/>
                      </a:rPr>
                      <m:t>−1=1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023</m:t>
                    </m:r>
                  </m:oMath>
                </a14:m>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S=2^{10}-1=1\,023</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62</a:t>
            </a:r>
          </a:p>
        </p:txBody>
      </p:sp>
      <p:sp>
        <p:nvSpPr>
          <p:cNvPr id="7" name="TextBox 6"/>
          <p:cNvSpPr txBox="1"/>
          <p:nvPr/>
        </p:nvSpPr>
        <p:spPr>
          <a:xfrm>
            <a:off x="731520" y="1463040"/>
            <a:ext cx="10789920" cy="1925828"/>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máy tuyển thêm công nhân vào làm việc trong thời hạn ba năm và đưa ra hai phương án lựa chọn về lương như sau: – Phương án 1: Lương tháng khởi điểm là 5 triệu đồng và sau mỗi quý, lương tháng sẽ tăng thêm 500 nghìn đồng. – Phương án 2: Lương tháng khởi điểm là 5 triệu đồng và sau mỗi quý, lương tháng sẽ tăng thêm 5%.</a:t>
            </a:r>
            <a:r>
              <a:rPr sz="2200">
                <a:solidFill>
                  <a:srgbClr val="1E293B"/>
                </a:solidFill>
                <a:latin typeface="Calibri"/>
              </a:rPr>
              <a:t>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63</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Với phương án nào thì tổng lương nhận được sau ba năm làm việc của người công nhân sẽ lớn hơn?</a:t>
            </a:r>
            <a:r>
              <a:rPr sz="2200">
                <a:solidFill>
                  <a:srgbClr val="1E293B"/>
                </a:solidFill>
                <a:latin typeface="Calibri"/>
              </a:rPr>
              <a:t> </a:t>
            </a:r>
          </a:p>
          <a:p>
            <a:pPr algn="l">
              <a:spcAft>
                <a:spcPts val="800"/>
              </a:spcAft>
            </a:pPr>
            <a:r>
              <a:rPr sz="2200" b="1">
                <a:solidFill>
                  <a:srgbClr val="1E40AF"/>
                </a:solidFill>
                <a:latin typeface="Calibri"/>
              </a:rPr>
              <a:t>Gợi mở: 3 năm có bao nhiêu quý? Mỗi quý có 3 tháng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12</m:t>
                        </m:r>
                      </m:sub>
                    </m:sSub>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[10+11·0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5]=279</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r>
                  <a:rPr lang="vi-VN"/>
                  <a:t>u_1=5</a:t>
                </a:r>
                <a:r>
                  <a:rPr sz="2200">
                    <a:solidFill>
                      <a:srgbClr val="1E293B"/>
                    </a:solidFill>
                    <a:latin typeface="Calibri"/>
                  </a:rPr>
                  <a:t>, </a:t>
                </a:r>
                <a:r>
                  <a:rPr lang="vi-VN"/>
                  <a:t>d=0{,}5</a:t>
                </a:r>
              </a:p>
              <a:p>
                <a:pPr algn="l" marL="365760" indent="-365760">
                  <a:spcAft>
                    <a:spcPts val="800"/>
                  </a:spcAft>
                  <a:buClr>
                    <a:srgbClr val="1E40AF"/>
                  </a:buClr>
                  <a:buFont typeface="Arial"/>
                  <a:buChar char="•"/>
                </a:pPr>
                <a:r>
                  <a:rPr sz="2200">
                    <a:solidFill>
                      <a:srgbClr val="1E293B"/>
                    </a:solidFill>
                    <a:latin typeface="Calibri"/>
                  </a:rPr>
                  <a:t>Tổng: </a:t>
                </a:r>
                <a:r>
                  <a:rPr lang="vi-VN"/>
                  <a:t>3\cdot S_{12}=3\cdot\frac{12}{2}[10+11\cdot 0{,}5]=279</a:t>
                </a:r>
                <a:r>
                  <a:rPr sz="2200">
                    <a:solidFill>
                      <a:srgbClr val="1E293B"/>
                    </a:solidFill>
                    <a:latin typeface="Calibri"/>
                  </a:rPr>
                  <a:t> (triệu đồng)</a:t>
                </a: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5(1−1</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05</m:t>
                            </m:r>
                          </m:e>
                          <m:sup>
                            <m:r>
                              <a:rPr lang="vi-VN" sz="2200" b="0">
                                <a:solidFill>
                                  <a:srgbClr val="1E293B"/>
                                </a:solidFill>
                                <a:latin typeface="Cambria Math" panose="02040503050406030204" pitchFamily="18" charset="0"/>
                              </a:rPr>
                              <m:t>12</m:t>
                            </m:r>
                          </m:sup>
                        </m:sSup>
                        <m:r>
                          <a:rPr lang="vi-VN" sz="2200" b="0">
                            <a:solidFill>
                              <a:srgbClr val="1E293B"/>
                            </a:solidFill>
                            <a:latin typeface="Cambria Math" panose="02040503050406030204" pitchFamily="18" charset="0"/>
                          </a:rPr>
                          <m:t>)</m:t>
                        </m:r>
                      </m:num>
                      <m:den>
                        <m:r>
                          <a:rPr lang="vi-VN" sz="2200" b="0">
                            <a:solidFill>
                              <a:srgbClr val="1E293B"/>
                            </a:solidFill>
                            <a:latin typeface="Cambria Math" panose="02040503050406030204" pitchFamily="18" charset="0"/>
                          </a:rPr>
                          <m:t>1−1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den>
                    </m:f>
                    <m:r>
                      <a:rPr lang="vi-VN" sz="2200" b="0">
                        <a:solidFill>
                          <a:srgbClr val="1E293B"/>
                        </a:solidFill>
                        <a:latin typeface="Cambria Math" panose="02040503050406030204" pitchFamily="18" charset="0"/>
                      </a:rPr>
                      <m:t>≈238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76</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r>
                  <a:rPr lang="vi-VN"/>
                  <a:t>v_1=5</a:t>
                </a:r>
                <a:r>
                  <a:rPr sz="2200">
                    <a:solidFill>
                      <a:srgbClr val="1E293B"/>
                    </a:solidFill>
                    <a:latin typeface="Calibri"/>
                  </a:rPr>
                  <a:t>, </a:t>
                </a:r>
                <a:r>
                  <a:rPr lang="vi-VN"/>
                  <a:t>q=1{,}05</a:t>
                </a:r>
              </a:p>
              <a:p>
                <a:pPr algn="l" marL="365760" indent="-365760">
                  <a:spcAft>
                    <a:spcPts val="800"/>
                  </a:spcAft>
                  <a:buClr>
                    <a:srgbClr val="1E40AF"/>
                  </a:buClr>
                  <a:buFont typeface="Arial"/>
                  <a:buChar char="•"/>
                </a:pPr>
                <a:r>
                  <a:rPr sz="2200">
                    <a:solidFill>
                      <a:srgbClr val="1E293B"/>
                    </a:solidFill>
                    <a:latin typeface="Calibri"/>
                  </a:rPr>
                  <a:t>Tổng: </a:t>
                </a:r>
                <a:r>
                  <a:rPr lang="vi-VN"/>
                  <a:t>3\cdot\frac{5(1-1{,}05^{12})}{1-1{,}05}\approx 238{,}76</a:t>
                </a:r>
                <a:r>
                  <a:rPr sz="2200">
                    <a:solidFill>
                      <a:srgbClr val="1E293B"/>
                    </a:solidFill>
                    <a:latin typeface="Calibri"/>
                  </a:rPr>
                  <a:t> (triệu đồng)</a:t>
                </a:r>
              </a:p>
            </p:txBody>
          </p:sp>
        </mc:Fallback>
      </mc:AlternateContent>
      <p:sp>
        <p:nvSpPr>
          <p:cNvPr id="8" name="Rounded Rectangle 7"/>
          <p:cNvSpPr/>
          <p:nvPr/>
        </p:nvSpPr>
        <p:spPr>
          <a:xfrm>
            <a:off x="731520" y="2709545"/>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0954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Phương án 1 cho tổng lương lớn hơn</a:t>
            </a:r>
          </a:p>
        </p:txBody>
      </p:sp>
      <p:pic>
        <p:nvPicPr>
          <p:cNvPr id="10" name="Picture 9" descr="img03.png"/>
          <p:cNvPicPr>
            <a:picLocks noChangeAspect="1"/>
          </p:cNvPicPr>
          <p:nvPr/>
        </p:nvPicPr>
        <p:blipFill>
          <a:blip r:embed="rId2"/>
          <a:stretch>
            <a:fillRect/>
          </a:stretch>
        </p:blipFill>
        <p:spPr>
          <a:xfrm>
            <a:off x="3017306" y="3540125"/>
            <a:ext cx="6126908" cy="2723515"/>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GỬI TIỀN BÁN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66</a:t>
            </a:r>
          </a:p>
        </p:txBody>
      </p:sp>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100 triệu đồng tiền bán cà phê, gửi 5 năm</a:t>
            </a:r>
          </a:p>
          <a:p>
            <a:pPr algn="l" marL="365760" indent="-365760">
              <a:spcAft>
                <a:spcPts val="800"/>
              </a:spcAft>
              <a:buClr>
                <a:srgbClr val="1E40AF"/>
              </a:buClr>
              <a:buFont typeface="Arial"/>
              <a:buChar char="•"/>
            </a:pPr>
            <a:r>
              <a:rPr sz="2400">
                <a:solidFill>
                  <a:srgbClr val="1E293B"/>
                </a:solidFill>
                <a:latin typeface="Calibri"/>
              </a:rPr>
              <a:t>Tra lãi suất 12 tháng của 2 ngân hàng (ghi nguồn)</a:t>
            </a:r>
          </a:p>
          <a:p>
            <a:pPr algn="l" marL="365760" indent="-365760">
              <a:spcAft>
                <a:spcPts val="800"/>
              </a:spcAft>
              <a:buClr>
                <a:srgbClr val="1E40AF"/>
              </a:buClr>
              <a:buFont typeface="Arial"/>
              <a:buChar char="•"/>
            </a:pPr>
            <a:r>
              <a:rPr sz="2400">
                <a:solidFill>
                  <a:srgbClr val="1E293B"/>
                </a:solidFill>
                <a:latin typeface="Calibri"/>
              </a:rPr>
              <a:t>So sánh lãi kép và rút lãi hằng năm</a:t>
            </a:r>
          </a:p>
          <a:p>
            <a:pPr algn="l" marL="365760" indent="-365760">
              <a:spcAft>
                <a:spcPts val="800"/>
              </a:spcAft>
              <a:buClr>
                <a:srgbClr val="1E40AF"/>
              </a:buClr>
              <a:buFont typeface="Arial"/>
              <a:buChar char="•"/>
            </a:pPr>
            <a:r>
              <a:rPr sz="2400">
                <a:solidFill>
                  <a:srgbClr val="1E293B"/>
                </a:solidFill>
                <a:latin typeface="Calibri"/>
              </a:rPr>
              <a:t>Chỉ ra dãy nào là cấp số cộng, cấp số nhân</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7</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67</a:t>
            </a:r>
          </a:p>
        </p:txBody>
      </p:sp>
      <p:cxnSp>
        <p:nvCxnSpPr>
          <p:cNvPr id="6" name="Connector 5"/>
          <p:cNvCxnSpPr/>
          <p:nvPr/>
        </p:nvCxnSpPr>
        <p:spPr>
          <a:xfrm flipH="1" flipV="1">
            <a:off x="4338888" y="2670962"/>
            <a:ext cx="16883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2678925" y="2144161"/>
            <a:ext cx="1659963" cy="52680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33716" y="1867849"/>
            <a:ext cx="1745209"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uₙ₊₁/uₙ = q (hằng</a:t>
            </a:r>
          </a:p>
          <a:p>
            <a:pPr algn="ctr"/>
            <a:r>
              <a:rPr sz="1300" b="0">
                <a:solidFill>
                  <a:srgbClr val="000000"/>
                </a:solidFill>
                <a:latin typeface="Calibri"/>
              </a:rPr>
              <a:t>số, q≠0)</a:t>
            </a:r>
          </a:p>
        </p:txBody>
      </p:sp>
      <p:cxnSp>
        <p:nvCxnSpPr>
          <p:cNvPr id="9" name="Connector 8"/>
          <p:cNvCxnSpPr/>
          <p:nvPr/>
        </p:nvCxnSpPr>
        <p:spPr>
          <a:xfrm flipH="1">
            <a:off x="2378443" y="2670962"/>
            <a:ext cx="1960445" cy="0"/>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34198" y="2495362"/>
            <a:ext cx="1144245"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Công bội q</a:t>
            </a:r>
          </a:p>
        </p:txBody>
      </p:sp>
      <p:cxnSp>
        <p:nvCxnSpPr>
          <p:cNvPr id="11" name="Connector 10"/>
          <p:cNvCxnSpPr/>
          <p:nvPr/>
        </p:nvCxnSpPr>
        <p:spPr>
          <a:xfrm flipH="1">
            <a:off x="2593073" y="2670962"/>
            <a:ext cx="1745815" cy="52680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019568" y="2921452"/>
            <a:ext cx="1573505"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u₁, u₂, u₃... →</a:t>
            </a:r>
          </a:p>
          <a:p>
            <a:pPr algn="ctr"/>
            <a:r>
              <a:rPr sz="1300" b="0">
                <a:solidFill>
                  <a:srgbClr val="000000"/>
                </a:solidFill>
                <a:latin typeface="Calibri"/>
              </a:rPr>
              <a:t>q = u₂/u₁</a:t>
            </a:r>
          </a:p>
        </p:txBody>
      </p:sp>
      <p:sp>
        <p:nvSpPr>
          <p:cNvPr id="13" name="Oval 12"/>
          <p:cNvSpPr/>
          <p:nvPr/>
        </p:nvSpPr>
        <p:spPr>
          <a:xfrm>
            <a:off x="3225238" y="2427575"/>
            <a:ext cx="2227301" cy="486773"/>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Định nghĩa CSN</a:t>
            </a:r>
          </a:p>
        </p:txBody>
      </p:sp>
      <p:cxnSp>
        <p:nvCxnSpPr>
          <p:cNvPr id="14" name="Connector 13"/>
          <p:cNvCxnSpPr/>
          <p:nvPr/>
        </p:nvCxnSpPr>
        <p:spPr>
          <a:xfrm flipV="1">
            <a:off x="6027267" y="2670962"/>
            <a:ext cx="1688379"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15646" y="2357206"/>
            <a:ext cx="2003371" cy="313756"/>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719017" y="2080894"/>
            <a:ext cx="1058393"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 = u₁ ·</a:t>
            </a:r>
          </a:p>
          <a:p>
            <a:pPr algn="ctr"/>
            <a:r>
              <a:rPr sz="1300" b="0">
                <a:solidFill>
                  <a:srgbClr val="000000"/>
                </a:solidFill>
                <a:latin typeface="Calibri"/>
              </a:rPr>
              <a:t>q^(n−1)</a:t>
            </a:r>
          </a:p>
        </p:txBody>
      </p:sp>
      <p:cxnSp>
        <p:nvCxnSpPr>
          <p:cNvPr id="17" name="Connector 16"/>
          <p:cNvCxnSpPr/>
          <p:nvPr/>
        </p:nvCxnSpPr>
        <p:spPr>
          <a:xfrm>
            <a:off x="7715646" y="2670962"/>
            <a:ext cx="1531185" cy="313756"/>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246831" y="2708407"/>
            <a:ext cx="2002765"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Trung bình nhân: uₙ²</a:t>
            </a:r>
          </a:p>
          <a:p>
            <a:pPr algn="ctr"/>
            <a:r>
              <a:rPr sz="1300" b="0">
                <a:solidFill>
                  <a:srgbClr val="000000"/>
                </a:solidFill>
                <a:latin typeface="Calibri"/>
              </a:rPr>
              <a:t>= uₙ₋₁·uₙ₊₁</a:t>
            </a:r>
          </a:p>
        </p:txBody>
      </p:sp>
      <p:sp>
        <p:nvSpPr>
          <p:cNvPr id="19" name="Oval 18"/>
          <p:cNvSpPr/>
          <p:nvPr/>
        </p:nvSpPr>
        <p:spPr>
          <a:xfrm>
            <a:off x="6810021" y="2259078"/>
            <a:ext cx="1811249"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Số hạng thứ</a:t>
            </a:r>
          </a:p>
          <a:p>
            <a:pPr algn="ctr"/>
            <a:r>
              <a:rPr sz="1500" b="1">
                <a:solidFill>
                  <a:srgbClr val="000000"/>
                </a:solidFill>
                <a:latin typeface="Calibri"/>
              </a:rPr>
              <a:t>n</a:t>
            </a:r>
          </a:p>
        </p:txBody>
      </p:sp>
      <p:cxnSp>
        <p:nvCxnSpPr>
          <p:cNvPr id="20" name="Connector 19"/>
          <p:cNvCxnSpPr/>
          <p:nvPr/>
        </p:nvCxnSpPr>
        <p:spPr>
          <a:xfrm flipH="1">
            <a:off x="4338888" y="3954780"/>
            <a:ext cx="16883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979407" y="4812507"/>
            <a:ext cx="1359481" cy="42609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3234" y="4636907"/>
            <a:ext cx="2346173"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q≠1: Sₙ = u₁(1−qⁿ)/(1−q)</a:t>
            </a:r>
          </a:p>
        </p:txBody>
      </p:sp>
      <p:cxnSp>
        <p:nvCxnSpPr>
          <p:cNvPr id="23" name="Connector 22"/>
          <p:cNvCxnSpPr/>
          <p:nvPr/>
        </p:nvCxnSpPr>
        <p:spPr>
          <a:xfrm flipH="1">
            <a:off x="2550147" y="5238597"/>
            <a:ext cx="1788741" cy="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62494" y="5062997"/>
            <a:ext cx="1487653"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q=1: Sₙ = n·u₁</a:t>
            </a:r>
          </a:p>
        </p:txBody>
      </p:sp>
      <p:cxnSp>
        <p:nvCxnSpPr>
          <p:cNvPr id="25" name="Connector 24"/>
          <p:cNvCxnSpPr/>
          <p:nvPr/>
        </p:nvCxnSpPr>
        <p:spPr>
          <a:xfrm flipH="1">
            <a:off x="2807703" y="5238597"/>
            <a:ext cx="1531185" cy="42609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04938" y="5489087"/>
            <a:ext cx="2002765"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|q|&lt;1: S∞ = u₁/(1−q)</a:t>
            </a:r>
          </a:p>
        </p:txBody>
      </p:sp>
      <p:sp>
        <p:nvSpPr>
          <p:cNvPr id="27" name="Oval 26"/>
          <p:cNvSpPr/>
          <p:nvPr/>
        </p:nvSpPr>
        <p:spPr>
          <a:xfrm>
            <a:off x="3571948" y="4826713"/>
            <a:ext cx="1533881"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Tổng n số</a:t>
            </a:r>
          </a:p>
          <a:p>
            <a:pPr algn="ctr"/>
            <a:r>
              <a:rPr sz="1500" b="1">
                <a:solidFill>
                  <a:srgbClr val="000000"/>
                </a:solidFill>
                <a:latin typeface="Calibri"/>
              </a:rPr>
              <a:t>hạng đầu</a:t>
            </a:r>
          </a:p>
        </p:txBody>
      </p:sp>
      <p:cxnSp>
        <p:nvCxnSpPr>
          <p:cNvPr id="28" name="Connector 27"/>
          <p:cNvCxnSpPr/>
          <p:nvPr/>
        </p:nvCxnSpPr>
        <p:spPr>
          <a:xfrm>
            <a:off x="6027267" y="3954780"/>
            <a:ext cx="1688379"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15646" y="4611085"/>
            <a:ext cx="1831667" cy="627512"/>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47313" y="4334774"/>
            <a:ext cx="1401801"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Lãi kép: Aₙ =</a:t>
            </a:r>
          </a:p>
          <a:p>
            <a:pPr algn="ctr"/>
            <a:r>
              <a:rPr sz="1300" b="0">
                <a:solidFill>
                  <a:srgbClr val="000000"/>
                </a:solidFill>
                <a:latin typeface="Calibri"/>
              </a:rPr>
              <a:t>A₀(1+r)ⁿ</a:t>
            </a:r>
          </a:p>
        </p:txBody>
      </p:sp>
      <p:cxnSp>
        <p:nvCxnSpPr>
          <p:cNvPr id="31" name="Connector 30"/>
          <p:cNvCxnSpPr/>
          <p:nvPr/>
        </p:nvCxnSpPr>
        <p:spPr>
          <a:xfrm>
            <a:off x="7715646" y="5238597"/>
            <a:ext cx="1574111" cy="0"/>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289757" y="4962286"/>
            <a:ext cx="1916913"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Tăng trưởng dân số,</a:t>
            </a:r>
          </a:p>
          <a:p>
            <a:pPr algn="ctr"/>
            <a:r>
              <a:rPr sz="1300" b="0">
                <a:solidFill>
                  <a:srgbClr val="000000"/>
                </a:solidFill>
                <a:latin typeface="Calibri"/>
              </a:rPr>
              <a:t>vi khuẩn</a:t>
            </a:r>
          </a:p>
        </p:txBody>
      </p:sp>
      <p:cxnSp>
        <p:nvCxnSpPr>
          <p:cNvPr id="33" name="Connector 32"/>
          <p:cNvCxnSpPr/>
          <p:nvPr/>
        </p:nvCxnSpPr>
        <p:spPr>
          <a:xfrm>
            <a:off x="7715646" y="5238597"/>
            <a:ext cx="1659963" cy="627512"/>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375609" y="5589798"/>
            <a:ext cx="1745209"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Bài toán trả góp,</a:t>
            </a:r>
          </a:p>
          <a:p>
            <a:pPr algn="ctr"/>
            <a:r>
              <a:rPr sz="1300" b="0">
                <a:solidFill>
                  <a:srgbClr val="000000"/>
                </a:solidFill>
                <a:latin typeface="Calibri"/>
              </a:rPr>
              <a:t>tích lũy</a:t>
            </a:r>
          </a:p>
        </p:txBody>
      </p:sp>
      <p:sp>
        <p:nvSpPr>
          <p:cNvPr id="35" name="Oval 34"/>
          <p:cNvSpPr/>
          <p:nvPr/>
        </p:nvSpPr>
        <p:spPr>
          <a:xfrm>
            <a:off x="6671337" y="4826713"/>
            <a:ext cx="2088617"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Ứng dụng thực</a:t>
            </a:r>
          </a:p>
          <a:p>
            <a:pPr algn="ctr"/>
            <a:r>
              <a:rPr sz="1500" b="1">
                <a:solidFill>
                  <a:srgbClr val="000000"/>
                </a:solidFill>
                <a:latin typeface="Calibri"/>
              </a:rPr>
              <a:t>tiễn</a:t>
            </a:r>
          </a:p>
        </p:txBody>
      </p:sp>
      <p:sp>
        <p:nvSpPr>
          <p:cNvPr id="36" name="Oval 35"/>
          <p:cNvSpPr/>
          <p:nvPr/>
        </p:nvSpPr>
        <p:spPr>
          <a:xfrm>
            <a:off x="5019941" y="3682342"/>
            <a:ext cx="2014652" cy="544875"/>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CẤP SỐ NHÂN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7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trangtu66.github.io/Taode_thi_online/cc_bai7_t11.html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