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Bìa. Đáp án, lời giải hiện theo click. Nút GeoGebra mở trang online (cần Internet).</a:t>
            </a:r>
          </a:p>
          <a:p>
            <a:r>
              <a:t>Khối 11 năm học 2026 – 2027 không có HS khuyết tật; vẫn ghi đủ chữ trên slide để HS tự đọc lại.</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Yêu cầu cần đạt lấy từ khung 'Kiến thức, kĩ năng' SGK tr.58.</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Chiếu video mở đầu (ảnh thật, lồng tiếng, phụ đề – không nói đáp án), HS quét QR xem lại. 4'. HS đề xuất: chia khoảng điểm, đếm số thí sinh mỗi khoảng.</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HĐ1: click 1. Chốt khung, Nhận xét (click 2).</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Ví dụ 1: click 1. LT1: click 2 (đối chiếu KHBD).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HĐ2: click 1. Chốt khung các bước (click 2).</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Ví dụ 2: click 1. LT2: HS đếm theo cặp, click 2 (đã kiểm tra bằng Python).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6'. Nhóm đôi đếm tần số (click 1), phân bổ 500 áo theo tỉ lệ (click 2). Đã kiểm tra bằng Python.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Click hiện đáp án (đối chiếu KHBD; 3.2, 3.3 có nhiều cách ghép nhóm đúng).</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Mỗi HS một bảng con. Mỗi câu 30 giây (Đ/S, trả lời ngắn, thực tế: 60 giây). Sai rời sàn thi; có thể 'cứu trợ' 1 lần. Cấu trúc 3 câu theo đề thi từ 2025: nhiều lựa chọn, Đúng/Sai, trả lời ngắn, thực tế. Đáp án đã kiểm tra bằng Python.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30 giây. Click 1: đáp án. </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60 giây. Click 1–4. Đ – Đ – S – 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60 giây. Click 1.</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 HS quét QR làm bài củng cố online ở nhà. Đáp án chỉ mở khi GV cho phép.</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Củng cố cuối bài.</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ẩn – chỉ GV xem khi chuẩn bị.</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ẩn – chỉ GV xem khi chuẩn bị.</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hyperlink" Target="https://trangtu66.github.io/Taode_thi_online/mon/toan/video/lop11/VIDEO_MoDau_TOAN11_Bai8_MauSoLieuGhepNhom.mp4" TargetMode="External"/><Relationship Id="rId4" Type="http://schemas.openxmlformats.org/officeDocument/2006/relationships/image" Target="../media/image1.png"/><Relationship Id="rId5" Type="http://schemas.openxmlformats.org/officeDocument/2006/relationships/image" Target="../media/image2.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 Id="rId3" Type="http://schemas.openxmlformats.org/officeDocument/2006/relationships/image" Target="../media/image3.png"/><Relationship Id="rId4" Type="http://schemas.openxmlformats.org/officeDocument/2006/relationships/hyperlink" Target="https://trangtu66.github.io/Taode_thi_online/cc_bai8_t11.html"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 Id="rId3" Type="http://schemas.openxmlformats.org/officeDocument/2006/relationships/image" Target="../media/image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E3A8A"/>
        </a:solidFill>
        <a:effectLst/>
      </p:bgPr>
    </p:bg>
    <p:spTree>
      <p:nvGrpSpPr>
        <p:cNvPr id="1" name=""/>
        <p:cNvGrpSpPr/>
        <p:nvPr/>
      </p:nvGrpSpPr>
      <p:grpSpPr/>
      <p:sp>
        <p:nvSpPr>
          <p:cNvPr id="2" name="Rectangle 1"/>
          <p:cNvSpPr/>
          <p:nvPr/>
        </p:nvSpPr>
        <p:spPr>
          <a:xfrm>
            <a:off x="0" y="6309360"/>
            <a:ext cx="12191695" cy="548640"/>
          </a:xfrm>
          <a:prstGeom prst="rect">
            <a:avLst/>
          </a:prstGeom>
          <a:solidFill>
            <a:srgbClr val="1725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1097280"/>
            <a:ext cx="137160" cy="29260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97280" y="914400"/>
            <a:ext cx="10332720" cy="3291840"/>
          </a:xfrm>
          <a:prstGeom prst="rect">
            <a:avLst/>
          </a:prstGeom>
          <a:noFill/>
        </p:spPr>
        <p:txBody>
          <a:bodyPr wrap="square" anchor="ctr">
            <a:spAutoFit/>
          </a:bodyPr>
          <a:lstStyle/>
          <a:p>
            <a:pPr>
              <a:spcAft>
                <a:spcPts val="600"/>
              </a:spcAft>
            </a:pPr>
            <a:r>
              <a:rPr sz="1800" b="1">
                <a:solidFill>
                  <a:srgbClr val="FCD34D"/>
                </a:solidFill>
                <a:latin typeface="Cambria"/>
              </a:rPr>
              <a:t>CHƯƠNG III. CÁC SỐ ĐẶC TRƯNG ĐO XU THẾ TRUNG TÂM CỦA MẪU SỐ LIỆU GHÉP NHÓM</a:t>
            </a:r>
          </a:p>
          <a:p>
            <a:pPr>
              <a:spcAft>
                <a:spcPts val="600"/>
              </a:spcAft>
            </a:pPr>
            <a:r>
              <a:rPr sz="3000" b="1">
                <a:solidFill>
                  <a:srgbClr val="FFFFFF"/>
                </a:solidFill>
                <a:latin typeface="Cambria"/>
              </a:rPr>
              <a:t>BÀI 8</a:t>
            </a:r>
          </a:p>
          <a:p>
            <a:pPr>
              <a:spcAft>
                <a:spcPts val="600"/>
              </a:spcAft>
            </a:pPr>
            <a:r>
              <a:rPr sz="4000" b="1">
                <a:solidFill>
                  <a:srgbClr val="FFFFFF"/>
                </a:solidFill>
                <a:latin typeface="Cambria"/>
              </a:rPr>
              <a:t>MẪU SỐ LIỆU GHÉP NHÓM</a:t>
            </a:r>
          </a:p>
        </p:txBody>
      </p:sp>
      <p:sp>
        <p:nvSpPr>
          <p:cNvPr id="5" name="TextBox 4"/>
          <p:cNvSpPr txBox="1"/>
          <p:nvPr/>
        </p:nvSpPr>
        <p:spPr>
          <a:xfrm>
            <a:off x="1097280" y="4343400"/>
            <a:ext cx="10332720" cy="1828800"/>
          </a:xfrm>
          <a:prstGeom prst="rect">
            <a:avLst/>
          </a:prstGeom>
          <a:noFill/>
        </p:spPr>
        <p:txBody>
          <a:bodyPr wrap="square" anchor="t" lIns="45720" rIns="45720">
            <a:spAutoFit/>
          </a:bodyPr>
          <a:lstStyle/>
          <a:p>
            <a:pPr algn="l">
              <a:spcAft>
                <a:spcPts val="800"/>
              </a:spcAft>
            </a:pPr>
            <a:r>
              <a:rPr sz="2200">
                <a:solidFill>
                  <a:srgbClr val="E0E7FF"/>
                </a:solidFill>
                <a:latin typeface="Calibri"/>
              </a:rPr>
              <a:t>1 tiết: T18</a:t>
            </a:r>
          </a:p>
        </p:txBody>
      </p:sp>
      <p:sp>
        <p:nvSpPr>
          <p:cNvPr id="6" name="TextBox 5"/>
          <p:cNvSpPr txBox="1"/>
          <p:nvPr/>
        </p:nvSpPr>
        <p:spPr>
          <a:xfrm>
            <a:off x="731520" y="6382512"/>
            <a:ext cx="10698480" cy="365760"/>
          </a:xfrm>
          <a:prstGeom prst="rect">
            <a:avLst/>
          </a:prstGeom>
          <a:noFill/>
        </p:spPr>
        <p:txBody>
          <a:bodyPr wrap="none">
            <a:spAutoFit/>
          </a:bodyPr>
          <a:lstStyle/>
          <a:p>
            <a:pPr algn="r"/>
            <a:r>
              <a:rPr sz="1200">
                <a:solidFill>
                  <a:srgbClr val="C7D2FE"/>
                </a:solidFill>
              </a:rPr>
              <a:t>GV Trương Tử Trang – THPT Vĩnh Thạnh          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475569"/>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TỔNG KẾT</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000" b="1">
                <a:solidFill>
                  <a:srgbClr val="1E40AF"/>
                </a:solidFill>
                <a:latin typeface="Cambria"/>
              </a:rPr>
              <a:t>MỤC TIÊU BÀI HỌC</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8. Mẫu số liệu ghép nhóm – Toán 11          2</a:t>
            </a:r>
          </a:p>
        </p:txBody>
      </p:sp>
      <p:sp>
        <p:nvSpPr>
          <p:cNvPr id="7" name="Rounded Rectangle 6"/>
          <p:cNvSpPr/>
          <p:nvPr/>
        </p:nvSpPr>
        <p:spPr>
          <a:xfrm>
            <a:off x="548640" y="1417320"/>
            <a:ext cx="11064240" cy="1472184"/>
          </a:xfrm>
          <a:prstGeom prst="roundRect">
            <a:avLst>
              <a:gd name="adj" fmla="val 6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13232" y="1453896"/>
            <a:ext cx="10735056" cy="1399032"/>
          </a:xfrm>
          <a:prstGeom prst="rect">
            <a:avLst/>
          </a:prstGeom>
          <a:noFill/>
        </p:spPr>
        <p:txBody>
          <a:bodyPr wrap="square" anchor="ctr" lIns="45720" rIns="45720">
            <a:spAutoFit/>
          </a:bodyPr>
          <a:lstStyle/>
          <a:p>
            <a:pPr algn="l">
              <a:spcAft>
                <a:spcPts val="800"/>
              </a:spcAft>
            </a:pPr>
            <a:r>
              <a:rPr sz="2200" b="1">
                <a:solidFill>
                  <a:srgbClr val="1E293B"/>
                </a:solidFill>
                <a:latin typeface="Calibri"/>
              </a:rPr>
              <a:t>Yêu cầu cần đạt</a:t>
            </a:r>
            <a:r>
              <a:rPr sz="2200">
                <a:solidFill>
                  <a:srgbClr val="1E293B"/>
                </a:solidFill>
                <a:latin typeface="Calibri"/>
              </a:rPr>
              <a:t> (SGK tr.58)</a:t>
            </a:r>
          </a:p>
          <a:p>
            <a:pPr algn="l" marL="365760" indent="-365760">
              <a:spcAft>
                <a:spcPts val="800"/>
              </a:spcAft>
              <a:buClr>
                <a:srgbClr val="1E40AF"/>
              </a:buClr>
              <a:buFont typeface="Arial"/>
              <a:buChar char="•"/>
            </a:pPr>
            <a:r>
              <a:rPr sz="2200">
                <a:solidFill>
                  <a:srgbClr val="1E293B"/>
                </a:solidFill>
                <a:latin typeface="Calibri"/>
              </a:rPr>
              <a:t>Đọc và giải thích mẫu số liệu ghép nhóm.</a:t>
            </a:r>
          </a:p>
          <a:p>
            <a:pPr algn="l" marL="365760" indent="-365760">
              <a:spcAft>
                <a:spcPts val="800"/>
              </a:spcAft>
              <a:buClr>
                <a:srgbClr val="1E40AF"/>
              </a:buClr>
              <a:buFont typeface="Arial"/>
              <a:buChar char="•"/>
            </a:pPr>
            <a:r>
              <a:rPr sz="2200">
                <a:solidFill>
                  <a:srgbClr val="1E293B"/>
                </a:solidFill>
                <a:latin typeface="Calibri"/>
              </a:rPr>
              <a:t>Ghép nhóm mẫu số liệu.</a:t>
            </a:r>
          </a:p>
        </p:txBody>
      </p:sp>
      <p:sp>
        <p:nvSpPr>
          <p:cNvPr id="9" name="TextBox 8"/>
          <p:cNvSpPr txBox="1"/>
          <p:nvPr/>
        </p:nvSpPr>
        <p:spPr>
          <a:xfrm>
            <a:off x="548640" y="3118104"/>
            <a:ext cx="11064240" cy="2743200"/>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200" b="1">
                <a:solidFill>
                  <a:srgbClr val="1E293B"/>
                </a:solidFill>
                <a:latin typeface="Calibri"/>
              </a:rPr>
              <a:t>Năng lực toán học:</a:t>
            </a:r>
            <a:r>
              <a:rPr sz="2200">
                <a:solidFill>
                  <a:srgbClr val="1E293B"/>
                </a:solidFill>
                <a:latin typeface="Calibri"/>
              </a:rPr>
              <a:t> tư duy và lập luận; mô hình hoá (điểm thi, BMI, cỡ áo đồng phục); giải quyết vấn đề; sử dụng công cụ (bảng tính).</a:t>
            </a:r>
          </a:p>
          <a:p>
            <a:pPr algn="l" marL="365760" indent="-365760">
              <a:spcAft>
                <a:spcPts val="800"/>
              </a:spcAft>
              <a:buClr>
                <a:srgbClr val="1E40AF"/>
              </a:buClr>
              <a:buFont typeface="Arial"/>
              <a:buChar char="•"/>
            </a:pPr>
            <a:r>
              <a:rPr sz="2200" b="1">
                <a:solidFill>
                  <a:srgbClr val="1E293B"/>
                </a:solidFill>
                <a:latin typeface="Calibri"/>
              </a:rPr>
              <a:t>Phẩm chất:</a:t>
            </a:r>
            <a:r>
              <a:rPr sz="2200">
                <a:solidFill>
                  <a:srgbClr val="1E293B"/>
                </a:solidFill>
                <a:latin typeface="Calibri"/>
              </a:rPr>
              <a:t> chăm chỉ, trung thực, trách nhiệm.</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344607" y="457200"/>
            <a:ext cx="1298448" cy="457200"/>
          </a:xfrm>
          <a:prstGeom prst="round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KHỞI ĐỘNG</a:t>
            </a:r>
          </a:p>
        </p:txBody>
      </p:sp>
      <p:sp>
        <p:nvSpPr>
          <p:cNvPr id="4" name="TextBox 3"/>
          <p:cNvSpPr txBox="1"/>
          <p:nvPr/>
        </p:nvSpPr>
        <p:spPr>
          <a:xfrm>
            <a:off x="731520" y="274320"/>
            <a:ext cx="9674352" cy="868680"/>
          </a:xfrm>
          <a:prstGeom prst="rect">
            <a:avLst/>
          </a:prstGeom>
          <a:noFill/>
        </p:spPr>
        <p:txBody>
          <a:bodyPr wrap="square" anchor="ctr">
            <a:spAutoFit/>
          </a:bodyPr>
          <a:lstStyle/>
          <a:p>
            <a:r>
              <a:rPr sz="3000" b="1">
                <a:solidFill>
                  <a:srgbClr val="1E40AF"/>
                </a:solidFill>
                <a:latin typeface="Cambria"/>
              </a:rPr>
              <a:t>KHỞI ĐỘNG – ĐIỂM THI TỐT NGHIỆP</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8. Mẫu số liệu ghép nhóm – Toán 11          3</a:t>
            </a:r>
          </a:p>
        </p:txBody>
      </p:sp>
      <p:sp>
        <p:nvSpPr>
          <p:cNvPr id="7" name="TextBox 6"/>
          <p:cNvSpPr txBox="1"/>
          <p:nvPr/>
        </p:nvSpPr>
        <p:spPr>
          <a:xfrm>
            <a:off x="548640" y="1417320"/>
            <a:ext cx="6583680" cy="3840480"/>
          </a:xfrm>
          <a:prstGeom prst="rect">
            <a:avLst/>
          </a:prstGeom>
          <a:noFill/>
        </p:spPr>
        <p:txBody>
          <a:bodyPr wrap="square" anchor="t" lIns="45720" rIns="45720">
            <a:spAutoFit/>
          </a:bodyPr>
          <a:lstStyle/>
          <a:p>
            <a:pPr algn="l">
              <a:spcAft>
                <a:spcPts val="800"/>
              </a:spcAft>
            </a:pPr>
            <a:r>
              <a:rPr sz="2200">
                <a:solidFill>
                  <a:srgbClr val="1E293B"/>
                </a:solidFill>
                <a:latin typeface="Calibri"/>
              </a:rPr>
              <a:t>Kì thi tốt nghiệp THPT năm 2021 đợt 1 có 344 752 thí sinh dự thi cả ba môn Toán, Vật lí, Hoá học (theo vietnamnet.vn). Các trường tuyển sinh theo tổ hợp A00 quan tâm đến tổng điểm ba môn. </a:t>
            </a:r>
            <a:r>
              <a:rPr sz="2200" b="1">
                <a:solidFill>
                  <a:srgbClr val="1E293B"/>
                </a:solidFill>
                <a:latin typeface="Calibri"/>
              </a:rPr>
              <a:t>Biểu diễn dãy số liệu về tổng điểm ba môn của các thí sinh thế nào để các trường thấy được bức tranh tổng thể về kết quả thi?</a:t>
            </a:r>
          </a:p>
          <a:p>
            <a:pPr algn="l">
              <a:spcAft>
                <a:spcPts val="800"/>
              </a:spcAft>
            </a:pPr>
            <a:r>
              <a:rPr sz="2000">
                <a:solidFill>
                  <a:srgbClr val="64748B"/>
                </a:solidFill>
                <a:latin typeface="Calibri"/>
              </a:rPr>
              <a:t>(SGK Toán 11 tập một, tr.58)</a:t>
            </a:r>
          </a:p>
        </p:txBody>
      </p:sp>
      <p:sp>
        <p:nvSpPr>
          <p:cNvPr id="8" name="Rounded Rectangle 7">
            <a:hlinkClick r:id="rId3"/>
          </p:cNvPr>
          <p:cNvSpPr/>
          <p:nvPr/>
        </p:nvSpPr>
        <p:spPr>
          <a:xfrm>
            <a:off x="548640" y="5349240"/>
            <a:ext cx="3931920" cy="640080"/>
          </a:xfrm>
          <a:prstGeom prst="round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000" b="1">
                <a:solidFill>
                  <a:srgbClr val="FFFFFF"/>
                </a:solidFill>
                <a:latin typeface="Calibri"/>
              </a:rPr>
              <a:t>▶  VIDEO MỞ ĐẦU</a:t>
            </a:r>
          </a:p>
        </p:txBody>
      </p:sp>
      <p:pic>
        <p:nvPicPr>
          <p:cNvPr id="9" name="Picture 8" descr="qr_video.png"/>
          <p:cNvPicPr>
            <a:picLocks noChangeAspect="1"/>
          </p:cNvPicPr>
          <p:nvPr/>
        </p:nvPicPr>
        <p:blipFill>
          <a:blip r:embed="rId4"/>
          <a:stretch>
            <a:fillRect/>
          </a:stretch>
        </p:blipFill>
        <p:spPr>
          <a:xfrm>
            <a:off x="4663440" y="5074920"/>
            <a:ext cx="1188720" cy="1188720"/>
          </a:xfrm>
          <a:prstGeom prst="rect">
            <a:avLst/>
          </a:prstGeom>
        </p:spPr>
      </p:pic>
      <p:pic>
        <p:nvPicPr>
          <p:cNvPr id="10" name="Picture 9" descr="lop2.jpg"/>
          <p:cNvPicPr>
            <a:picLocks noChangeAspect="1"/>
          </p:cNvPicPr>
          <p:nvPr/>
        </p:nvPicPr>
        <p:blipFill>
          <a:blip r:embed="rId5"/>
          <a:stretch>
            <a:fillRect/>
          </a:stretch>
        </p:blipFill>
        <p:spPr>
          <a:xfrm>
            <a:off x="7315200" y="1828800"/>
            <a:ext cx="4389120" cy="329184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037015" y="457200"/>
            <a:ext cx="2606040"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HÌNH THÀNH KIẾN THỨC</a:t>
            </a:r>
          </a:p>
        </p:txBody>
      </p:sp>
      <p:sp>
        <p:nvSpPr>
          <p:cNvPr id="4" name="TextBox 3"/>
          <p:cNvSpPr txBox="1"/>
          <p:nvPr/>
        </p:nvSpPr>
        <p:spPr>
          <a:xfrm>
            <a:off x="731520" y="274320"/>
            <a:ext cx="8366760" cy="868680"/>
          </a:xfrm>
          <a:prstGeom prst="rect">
            <a:avLst/>
          </a:prstGeom>
          <a:noFill/>
        </p:spPr>
        <p:txBody>
          <a:bodyPr wrap="square" anchor="ctr">
            <a:spAutoFit/>
          </a:bodyPr>
          <a:lstStyle/>
          <a:p>
            <a:r>
              <a:rPr sz="3000" b="1">
                <a:solidFill>
                  <a:srgbClr val="1E40AF"/>
                </a:solidFill>
                <a:latin typeface="Cambria"/>
              </a:rPr>
              <a:t>1. GIỚI THIỆU MẪU SỐ LIỆU GHÉP NHÓM – HĐ1 (SGK TR.59)</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8. Mẫu số liệu ghép nhóm – Toán 11          4</a:t>
            </a:r>
          </a:p>
        </p:txBody>
      </p:sp>
      <p:sp>
        <p:nvSpPr>
          <p:cNvPr id="7" name="TextBox 6"/>
          <p:cNvSpPr txBox="1"/>
          <p:nvPr/>
        </p:nvSpPr>
        <p:spPr>
          <a:xfrm>
            <a:off x="548640" y="1325880"/>
            <a:ext cx="11064240" cy="783335"/>
          </a:xfrm>
          <a:prstGeom prst="rect">
            <a:avLst/>
          </a:prstGeom>
          <a:noFill/>
        </p:spPr>
        <p:txBody>
          <a:bodyPr wrap="square" anchor="t" lIns="45720" rIns="45720">
            <a:spAutoFit/>
          </a:bodyPr>
          <a:lstStyle/>
          <a:p>
            <a:pPr algn="l">
              <a:spcAft>
                <a:spcPts val="800"/>
              </a:spcAft>
            </a:pPr>
            <a:r>
              <a:rPr sz="2000" b="1">
                <a:solidFill>
                  <a:srgbClr val="1E293B"/>
                </a:solidFill>
                <a:latin typeface="Calibri"/>
              </a:rPr>
              <a:t>HĐ1.</a:t>
            </a:r>
            <a:r>
              <a:rPr sz="2000">
                <a:solidFill>
                  <a:srgbClr val="1E293B"/>
                </a:solidFill>
                <a:latin typeface="Calibri"/>
              </a:rPr>
              <a:t> a) Mẫu số liệu tổng điểm (T) có bao nhiêu giá trị? b) Bảng tần số của (T) có dễ hình dung bức tranh tổng thể không? c) Đọc và giải thích bảng thống kê sau.</a:t>
            </a:r>
          </a:p>
        </p:txBody>
      </p:sp>
      <p:sp>
        <p:nvSpPr>
          <p:cNvPr id="8" name="Rounded Rectangle 7"/>
          <p:cNvSpPr/>
          <p:nvPr/>
        </p:nvSpPr>
        <p:spPr>
          <a:xfrm>
            <a:off x="822960" y="2148840"/>
            <a:ext cx="1456508" cy="457200"/>
          </a:xfrm>
          <a:prstGeom prst="roundRect">
            <a:avLst>
              <a:gd name="adj" fmla="val 6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87552" y="2185416"/>
            <a:ext cx="1127324" cy="384048"/>
          </a:xfrm>
          <a:prstGeom prst="rect">
            <a:avLst/>
          </a:prstGeom>
          <a:noFill/>
        </p:spPr>
        <p:txBody>
          <a:bodyPr wrap="square" anchor="ctr" lIns="45720" rIns="45720">
            <a:spAutoFit/>
          </a:bodyPr>
          <a:lstStyle/>
          <a:p>
            <a:pPr algn="ctr">
              <a:spcAft>
                <a:spcPts val="800"/>
              </a:spcAft>
            </a:pPr>
            <a:r>
              <a:rPr sz="1800">
                <a:solidFill>
                  <a:srgbClr val="1E293B"/>
                </a:solidFill>
                <a:latin typeface="Calibri"/>
              </a:rPr>
              <a:t>Tổng điểm</a:t>
            </a:r>
          </a:p>
        </p:txBody>
      </p:sp>
      <p:sp>
        <p:nvSpPr>
          <p:cNvPr id="10" name="Rounded Rectangle 9"/>
          <p:cNvSpPr/>
          <p:nvPr/>
        </p:nvSpPr>
        <p:spPr>
          <a:xfrm>
            <a:off x="2325188" y="2148840"/>
            <a:ext cx="1456508" cy="457200"/>
          </a:xfrm>
          <a:prstGeom prst="roundRect">
            <a:avLst>
              <a:gd name="adj" fmla="val 6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489780" y="2185416"/>
            <a:ext cx="1127324" cy="384048"/>
          </a:xfrm>
          <a:prstGeom prst="rect">
            <a:avLst/>
          </a:prstGeom>
          <a:noFill/>
        </p:spPr>
        <p:txBody>
          <a:bodyPr wrap="square" anchor="ctr" lIns="45720" rIns="45720">
            <a:spAutoFit/>
          </a:bodyPr>
          <a:lstStyle/>
          <a:p>
            <a:pPr algn="ctr">
              <a:spcAft>
                <a:spcPts val="800"/>
              </a:spcAft>
            </a:pPr>
            <a:r>
              <a:rPr sz="1800">
                <a:solidFill>
                  <a:srgbClr val="1E293B"/>
                </a:solidFill>
                <a:latin typeface="Calibri"/>
              </a:rPr>
              <a:t>&lt; 6</a:t>
            </a:r>
          </a:p>
        </p:txBody>
      </p:sp>
      <p:sp>
        <p:nvSpPr>
          <p:cNvPr id="12" name="Rounded Rectangle 11"/>
          <p:cNvSpPr/>
          <p:nvPr/>
        </p:nvSpPr>
        <p:spPr>
          <a:xfrm>
            <a:off x="3827417" y="2148840"/>
            <a:ext cx="1456508" cy="457200"/>
          </a:xfrm>
          <a:prstGeom prst="roundRect">
            <a:avLst>
              <a:gd name="adj" fmla="val 6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992009" y="2185416"/>
            <a:ext cx="1127324" cy="384048"/>
          </a:xfrm>
          <a:prstGeom prst="rect">
            <a:avLst/>
          </a:prstGeom>
          <a:noFill/>
        </p:spPr>
        <p:txBody>
          <a:bodyPr wrap="square" anchor="ctr" lIns="45720" rIns="45720">
            <a:spAutoFit/>
          </a:bodyPr>
          <a:lstStyle/>
          <a:p>
            <a:pPr algn="ctr">
              <a:spcAft>
                <a:spcPts val="800"/>
              </a:spcAft>
            </a:pPr>
            <a:r>
              <a:rPr sz="1800">
                <a:solidFill>
                  <a:srgbClr val="1E293B"/>
                </a:solidFill>
                <a:latin typeface="Calibri"/>
              </a:rPr>
              <a:t>[6; 7)</a:t>
            </a:r>
          </a:p>
        </p:txBody>
      </p:sp>
      <p:sp>
        <p:nvSpPr>
          <p:cNvPr id="14" name="Rounded Rectangle 13"/>
          <p:cNvSpPr/>
          <p:nvPr/>
        </p:nvSpPr>
        <p:spPr>
          <a:xfrm>
            <a:off x="5329645" y="2148840"/>
            <a:ext cx="1456508" cy="457200"/>
          </a:xfrm>
          <a:prstGeom prst="roundRect">
            <a:avLst>
              <a:gd name="adj" fmla="val 6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494237" y="2185416"/>
            <a:ext cx="1127324" cy="384048"/>
          </a:xfrm>
          <a:prstGeom prst="rect">
            <a:avLst/>
          </a:prstGeom>
          <a:noFill/>
        </p:spPr>
        <p:txBody>
          <a:bodyPr wrap="square" anchor="ctr" lIns="45720" rIns="45720">
            <a:spAutoFit/>
          </a:bodyPr>
          <a:lstStyle/>
          <a:p>
            <a:pPr algn="ctr">
              <a:spcAft>
                <a:spcPts val="800"/>
              </a:spcAft>
            </a:pPr>
            <a:r>
              <a:rPr sz="1800">
                <a:solidFill>
                  <a:srgbClr val="1E293B"/>
                </a:solidFill>
                <a:latin typeface="Calibri"/>
              </a:rPr>
              <a:t>[7; 8)</a:t>
            </a:r>
          </a:p>
        </p:txBody>
      </p:sp>
      <p:sp>
        <p:nvSpPr>
          <p:cNvPr id="16" name="Rounded Rectangle 15"/>
          <p:cNvSpPr/>
          <p:nvPr/>
        </p:nvSpPr>
        <p:spPr>
          <a:xfrm>
            <a:off x="6831874" y="2148840"/>
            <a:ext cx="1456508" cy="457200"/>
          </a:xfrm>
          <a:prstGeom prst="roundRect">
            <a:avLst>
              <a:gd name="adj" fmla="val 6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996466" y="2185416"/>
            <a:ext cx="1127324" cy="384048"/>
          </a:xfrm>
          <a:prstGeom prst="rect">
            <a:avLst/>
          </a:prstGeom>
          <a:noFill/>
        </p:spPr>
        <p:txBody>
          <a:bodyPr wrap="square" anchor="ctr" lIns="45720" rIns="45720">
            <a:spAutoFit/>
          </a:bodyPr>
          <a:lstStyle/>
          <a:p>
            <a:pPr algn="ctr">
              <a:spcAft>
                <a:spcPts val="800"/>
              </a:spcAft>
            </a:pPr>
            <a:r>
              <a:rPr sz="1800">
                <a:solidFill>
                  <a:srgbClr val="1E293B"/>
                </a:solidFill>
                <a:latin typeface="Calibri"/>
              </a:rPr>
              <a:t>…</a:t>
            </a:r>
          </a:p>
        </p:txBody>
      </p:sp>
      <p:sp>
        <p:nvSpPr>
          <p:cNvPr id="18" name="Rounded Rectangle 17"/>
          <p:cNvSpPr/>
          <p:nvPr/>
        </p:nvSpPr>
        <p:spPr>
          <a:xfrm>
            <a:off x="8334102" y="2148840"/>
            <a:ext cx="1456508" cy="457200"/>
          </a:xfrm>
          <a:prstGeom prst="roundRect">
            <a:avLst>
              <a:gd name="adj" fmla="val 6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498694" y="2185416"/>
            <a:ext cx="1127324" cy="384048"/>
          </a:xfrm>
          <a:prstGeom prst="rect">
            <a:avLst/>
          </a:prstGeom>
          <a:noFill/>
        </p:spPr>
        <p:txBody>
          <a:bodyPr wrap="square" anchor="ctr" lIns="45720" rIns="45720">
            <a:spAutoFit/>
          </a:bodyPr>
          <a:lstStyle/>
          <a:p>
            <a:pPr algn="ctr">
              <a:spcAft>
                <a:spcPts val="800"/>
              </a:spcAft>
            </a:pPr>
            <a:r>
              <a:rPr sz="1800">
                <a:solidFill>
                  <a:srgbClr val="1E293B"/>
                </a:solidFill>
                <a:latin typeface="Calibri"/>
              </a:rPr>
              <a:t>[28; 29)</a:t>
            </a:r>
          </a:p>
        </p:txBody>
      </p:sp>
      <p:sp>
        <p:nvSpPr>
          <p:cNvPr id="20" name="Rounded Rectangle 19"/>
          <p:cNvSpPr/>
          <p:nvPr/>
        </p:nvSpPr>
        <p:spPr>
          <a:xfrm>
            <a:off x="9836331" y="2148840"/>
            <a:ext cx="1456508" cy="457200"/>
          </a:xfrm>
          <a:prstGeom prst="roundRect">
            <a:avLst>
              <a:gd name="adj" fmla="val 6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000923" y="2185416"/>
            <a:ext cx="1127324" cy="384048"/>
          </a:xfrm>
          <a:prstGeom prst="rect">
            <a:avLst/>
          </a:prstGeom>
          <a:noFill/>
        </p:spPr>
        <p:txBody>
          <a:bodyPr wrap="square" anchor="ctr" lIns="45720" rIns="45720">
            <a:spAutoFit/>
          </a:bodyPr>
          <a:lstStyle/>
          <a:p>
            <a:pPr algn="ctr">
              <a:spcAft>
                <a:spcPts val="800"/>
              </a:spcAft>
            </a:pPr>
            <a:r>
              <a:rPr sz="1800">
                <a:solidFill>
                  <a:srgbClr val="1E293B"/>
                </a:solidFill>
                <a:latin typeface="Calibri"/>
              </a:rPr>
              <a:t>[29; 30]</a:t>
            </a:r>
          </a:p>
        </p:txBody>
      </p:sp>
      <p:sp>
        <p:nvSpPr>
          <p:cNvPr id="22" name="Rounded Rectangle 21"/>
          <p:cNvSpPr/>
          <p:nvPr/>
        </p:nvSpPr>
        <p:spPr>
          <a:xfrm>
            <a:off x="822960" y="2651760"/>
            <a:ext cx="1456508" cy="457200"/>
          </a:xfrm>
          <a:prstGeom prst="roundRect">
            <a:avLst>
              <a:gd name="adj" fmla="val 6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87552" y="2688336"/>
            <a:ext cx="1127324" cy="384048"/>
          </a:xfrm>
          <a:prstGeom prst="rect">
            <a:avLst/>
          </a:prstGeom>
          <a:noFill/>
        </p:spPr>
        <p:txBody>
          <a:bodyPr wrap="square" anchor="ctr" lIns="45720" rIns="45720">
            <a:spAutoFit/>
          </a:bodyPr>
          <a:lstStyle/>
          <a:p>
            <a:pPr algn="ctr">
              <a:spcAft>
                <a:spcPts val="800"/>
              </a:spcAft>
            </a:pPr>
            <a:r>
              <a:rPr sz="1800">
                <a:solidFill>
                  <a:srgbClr val="1E293B"/>
                </a:solidFill>
                <a:latin typeface="Calibri"/>
              </a:rPr>
              <a:t>Số thí sinh</a:t>
            </a:r>
          </a:p>
        </p:txBody>
      </p:sp>
      <p:sp>
        <p:nvSpPr>
          <p:cNvPr id="24" name="Rounded Rectangle 23"/>
          <p:cNvSpPr/>
          <p:nvPr/>
        </p:nvSpPr>
        <p:spPr>
          <a:xfrm>
            <a:off x="2325188" y="2651760"/>
            <a:ext cx="1456508" cy="457200"/>
          </a:xfrm>
          <a:prstGeom prst="roundRect">
            <a:avLst>
              <a:gd name="adj" fmla="val 6000"/>
            </a:avLst>
          </a:prstGeom>
          <a:solidFill>
            <a:srgbClr val="EFF4FF"/>
          </a:solidFill>
          <a:ln w="19050">
            <a:solidFill>
              <a:srgbClr val="1E40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2489780" y="2688336"/>
            <a:ext cx="1127324" cy="384048"/>
          </a:xfrm>
          <a:prstGeom prst="rect">
            <a:avLst/>
          </a:prstGeom>
          <a:noFill/>
        </p:spPr>
        <p:txBody>
          <a:bodyPr wrap="square" anchor="ctr" lIns="45720" rIns="45720">
            <a:spAutoFit/>
          </a:bodyPr>
          <a:lstStyle/>
          <a:p>
            <a:pPr algn="ctr">
              <a:spcAft>
                <a:spcPts val="800"/>
              </a:spcAft>
            </a:pPr>
            <a:r>
              <a:rPr sz="1800">
                <a:solidFill>
                  <a:srgbClr val="1E293B"/>
                </a:solidFill>
                <a:latin typeface="Calibri"/>
              </a:rPr>
              <a:t>23</a:t>
            </a:r>
          </a:p>
        </p:txBody>
      </p:sp>
      <p:sp>
        <p:nvSpPr>
          <p:cNvPr id="26" name="Rounded Rectangle 25"/>
          <p:cNvSpPr/>
          <p:nvPr/>
        </p:nvSpPr>
        <p:spPr>
          <a:xfrm>
            <a:off x="3827417" y="2651760"/>
            <a:ext cx="1456508" cy="457200"/>
          </a:xfrm>
          <a:prstGeom prst="roundRect">
            <a:avLst>
              <a:gd name="adj" fmla="val 6000"/>
            </a:avLst>
          </a:prstGeom>
          <a:solidFill>
            <a:srgbClr val="EFF4FF"/>
          </a:solidFill>
          <a:ln w="19050">
            <a:solidFill>
              <a:srgbClr val="1E40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992009" y="2688336"/>
            <a:ext cx="1127324" cy="384048"/>
          </a:xfrm>
          <a:prstGeom prst="rect">
            <a:avLst/>
          </a:prstGeom>
          <a:noFill/>
        </p:spPr>
        <p:txBody>
          <a:bodyPr wrap="square" anchor="ctr" lIns="45720" rIns="45720">
            <a:spAutoFit/>
          </a:bodyPr>
          <a:lstStyle/>
          <a:p>
            <a:pPr algn="ctr">
              <a:spcAft>
                <a:spcPts val="800"/>
              </a:spcAft>
            </a:pPr>
            <a:r>
              <a:rPr sz="1800">
                <a:solidFill>
                  <a:srgbClr val="1E293B"/>
                </a:solidFill>
                <a:latin typeface="Calibri"/>
              </a:rPr>
              <a:t>69</a:t>
            </a:r>
          </a:p>
        </p:txBody>
      </p:sp>
      <p:sp>
        <p:nvSpPr>
          <p:cNvPr id="28" name="Rounded Rectangle 27"/>
          <p:cNvSpPr/>
          <p:nvPr/>
        </p:nvSpPr>
        <p:spPr>
          <a:xfrm>
            <a:off x="5329645" y="2651760"/>
            <a:ext cx="1456508" cy="457200"/>
          </a:xfrm>
          <a:prstGeom prst="roundRect">
            <a:avLst>
              <a:gd name="adj" fmla="val 6000"/>
            </a:avLst>
          </a:prstGeom>
          <a:solidFill>
            <a:srgbClr val="EFF4FF"/>
          </a:solidFill>
          <a:ln w="19050">
            <a:solidFill>
              <a:srgbClr val="1E40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494237" y="2688336"/>
            <a:ext cx="1127324" cy="384048"/>
          </a:xfrm>
          <a:prstGeom prst="rect">
            <a:avLst/>
          </a:prstGeom>
          <a:noFill/>
        </p:spPr>
        <p:txBody>
          <a:bodyPr wrap="square" anchor="ctr" lIns="45720" rIns="45720">
            <a:spAutoFit/>
          </a:bodyPr>
          <a:lstStyle/>
          <a:p>
            <a:pPr algn="ctr">
              <a:spcAft>
                <a:spcPts val="800"/>
              </a:spcAft>
            </a:pPr>
            <a:r>
              <a:rPr sz="1800">
                <a:solidFill>
                  <a:srgbClr val="1E293B"/>
                </a:solidFill>
                <a:latin typeface="Calibri"/>
              </a:rPr>
              <a:t>192</a:t>
            </a:r>
          </a:p>
        </p:txBody>
      </p:sp>
      <p:sp>
        <p:nvSpPr>
          <p:cNvPr id="30" name="Rounded Rectangle 29"/>
          <p:cNvSpPr/>
          <p:nvPr/>
        </p:nvSpPr>
        <p:spPr>
          <a:xfrm>
            <a:off x="6831874" y="2651760"/>
            <a:ext cx="1456508" cy="457200"/>
          </a:xfrm>
          <a:prstGeom prst="roundRect">
            <a:avLst>
              <a:gd name="adj" fmla="val 6000"/>
            </a:avLst>
          </a:prstGeom>
          <a:solidFill>
            <a:srgbClr val="EFF4FF"/>
          </a:solidFill>
          <a:ln w="19050">
            <a:solidFill>
              <a:srgbClr val="1E40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996466" y="2688336"/>
            <a:ext cx="1127324" cy="384048"/>
          </a:xfrm>
          <a:prstGeom prst="rect">
            <a:avLst/>
          </a:prstGeom>
          <a:noFill/>
        </p:spPr>
        <p:txBody>
          <a:bodyPr wrap="square" anchor="ctr" lIns="45720" rIns="45720">
            <a:spAutoFit/>
          </a:bodyPr>
          <a:lstStyle/>
          <a:p>
            <a:pPr algn="ctr">
              <a:spcAft>
                <a:spcPts val="800"/>
              </a:spcAft>
            </a:pPr>
            <a:r>
              <a:rPr sz="1800">
                <a:solidFill>
                  <a:srgbClr val="1E293B"/>
                </a:solidFill>
                <a:latin typeface="Calibri"/>
              </a:rPr>
              <a:t>…</a:t>
            </a:r>
          </a:p>
        </p:txBody>
      </p:sp>
      <p:sp>
        <p:nvSpPr>
          <p:cNvPr id="32" name="Rounded Rectangle 31"/>
          <p:cNvSpPr/>
          <p:nvPr/>
        </p:nvSpPr>
        <p:spPr>
          <a:xfrm>
            <a:off x="8334102" y="2651760"/>
            <a:ext cx="1456508" cy="457200"/>
          </a:xfrm>
          <a:prstGeom prst="roundRect">
            <a:avLst>
              <a:gd name="adj" fmla="val 6000"/>
            </a:avLst>
          </a:prstGeom>
          <a:solidFill>
            <a:srgbClr val="EFF4FF"/>
          </a:solidFill>
          <a:ln w="19050">
            <a:solidFill>
              <a:srgbClr val="1E40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498694" y="2688336"/>
            <a:ext cx="1127324" cy="384048"/>
          </a:xfrm>
          <a:prstGeom prst="rect">
            <a:avLst/>
          </a:prstGeom>
          <a:noFill/>
        </p:spPr>
        <p:txBody>
          <a:bodyPr wrap="square" anchor="ctr" lIns="45720" rIns="45720">
            <a:spAutoFit/>
          </a:bodyPr>
          <a:lstStyle/>
          <a:p>
            <a:pPr algn="ctr">
              <a:spcAft>
                <a:spcPts val="800"/>
              </a:spcAft>
            </a:pPr>
            <a:r>
              <a:rPr sz="1800">
                <a:solidFill>
                  <a:srgbClr val="1E293B"/>
                </a:solidFill>
                <a:latin typeface="Calibri"/>
              </a:rPr>
              <a:t>216</a:t>
            </a:r>
          </a:p>
        </p:txBody>
      </p:sp>
      <p:sp>
        <p:nvSpPr>
          <p:cNvPr id="34" name="Rounded Rectangle 33"/>
          <p:cNvSpPr/>
          <p:nvPr/>
        </p:nvSpPr>
        <p:spPr>
          <a:xfrm>
            <a:off x="9836331" y="2651760"/>
            <a:ext cx="1456508" cy="457200"/>
          </a:xfrm>
          <a:prstGeom prst="roundRect">
            <a:avLst>
              <a:gd name="adj" fmla="val 6000"/>
            </a:avLst>
          </a:prstGeom>
          <a:solidFill>
            <a:srgbClr val="EFF4FF"/>
          </a:solidFill>
          <a:ln w="19050">
            <a:solidFill>
              <a:srgbClr val="1E40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0000923" y="2688336"/>
            <a:ext cx="1127324" cy="384048"/>
          </a:xfrm>
          <a:prstGeom prst="rect">
            <a:avLst/>
          </a:prstGeom>
          <a:noFill/>
        </p:spPr>
        <p:txBody>
          <a:bodyPr wrap="square" anchor="ctr" lIns="45720" rIns="45720">
            <a:spAutoFit/>
          </a:bodyPr>
          <a:lstStyle/>
          <a:p>
            <a:pPr algn="ctr">
              <a:spcAft>
                <a:spcPts val="800"/>
              </a:spcAft>
            </a:pPr>
            <a:r>
              <a:rPr sz="1800">
                <a:solidFill>
                  <a:srgbClr val="1E293B"/>
                </a:solidFill>
                <a:latin typeface="Calibri"/>
              </a:rPr>
              <a:t>12</a:t>
            </a:r>
          </a:p>
        </p:txBody>
      </p:sp>
      <p:sp>
        <p:nvSpPr>
          <p:cNvPr id="36" name="s1_nen"/>
          <p:cNvSpPr/>
          <p:nvPr/>
        </p:nvSpPr>
        <p:spPr>
          <a:xfrm>
            <a:off x="548640" y="3246120"/>
            <a:ext cx="11064240" cy="813815"/>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s1_chu"/>
          <p:cNvSpPr txBox="1"/>
          <p:nvPr/>
        </p:nvSpPr>
        <p:spPr>
          <a:xfrm>
            <a:off x="713232" y="3282696"/>
            <a:ext cx="10735056" cy="740664"/>
          </a:xfrm>
          <a:prstGeom prst="rect">
            <a:avLst/>
          </a:prstGeom>
          <a:noFill/>
        </p:spPr>
        <p:txBody>
          <a:bodyPr wrap="square" anchor="ctr" lIns="45720" rIns="45720">
            <a:spAutoFit/>
          </a:bodyPr>
          <a:lstStyle/>
          <a:p>
            <a:pPr algn="l">
              <a:spcAft>
                <a:spcPts val="800"/>
              </a:spcAft>
            </a:pPr>
            <a:r>
              <a:rPr sz="1800">
                <a:solidFill>
                  <a:srgbClr val="1E293B"/>
                </a:solidFill>
                <a:latin typeface="Calibri"/>
              </a:rPr>
              <a:t>a) 344 752 giá trị. b) Không – quá nhiều giá trị khác nhau. c) Có 23 thí sinh dưới 6 điểm; 69 thí sinh từ 6 đến dưới 7 điểm; …; 12 thí sinh từ 29 đến 30 điểm.</a:t>
            </a:r>
          </a:p>
        </p:txBody>
      </p:sp>
      <p:sp>
        <p:nvSpPr>
          <p:cNvPr id="38" name="s2_nen"/>
          <p:cNvSpPr/>
          <p:nvPr/>
        </p:nvSpPr>
        <p:spPr>
          <a:xfrm>
            <a:off x="548640" y="4133088"/>
            <a:ext cx="11064240" cy="1737360"/>
          </a:xfrm>
          <a:prstGeom prst="roundRect">
            <a:avLst>
              <a:gd name="adj" fmla="val 6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39" name="s2_chu"/>
              <p:cNvSpPr txBox="1"/>
              <p:nvPr/>
            </p:nvSpPr>
            <p:spPr>
              <a:xfrm>
                <a:off x="713232" y="4169664"/>
                <a:ext cx="10735056" cy="1664208"/>
              </a:xfrm>
              <a:prstGeom prst="rect">
                <a:avLst/>
              </a:prstGeom>
              <a:noFill/>
            </p:spPr>
            <p:txBody>
              <a:bodyPr wrap="square" anchor="ctr" lIns="45720" rIns="45720">
                <a:spAutoFit/>
              </a:bodyPr>
              <a:lstStyle/>
              <a:p>
                <a:pPr algn="l">
                  <a:spcAft>
                    <a:spcPts val="800"/>
                  </a:spcAft>
                </a:pPr>
                <a:r>
                  <a:rPr sz="1800" b="1">
                    <a:solidFill>
                      <a:srgbClr val="1E293B"/>
                    </a:solidFill>
                    <a:latin typeface="Calibri"/>
                  </a:rPr>
                  <a:t>Mẫu số liệu ghép nhóm</a:t>
                </a:r>
                <a:r>
                  <a:rPr sz="1800">
                    <a:solidFill>
                      <a:srgbClr val="1E293B"/>
                    </a:solidFill>
                    <a:latin typeface="Calibri"/>
                  </a:rPr>
                  <a:t> là mẫu số liệu cho dưới dạng bảng tần số của các nhóm số liệu. Mỗi nhóm số liệu là tập hợp gồm các giá trị được ghép nhóm theo một tiêu chí xác định. Nhóm số liệu thường cho dưới dạng </a:t>
                </a:r>
                <a14:m>
                  <m:oMath xmlns:m="http://schemas.openxmlformats.org/officeDocument/2006/math">
                    <m:r>
                      <a:rPr lang="vi-VN" sz="1800" b="0">
                        <a:solidFill>
                          <a:srgbClr val="1E293B"/>
                        </a:solidFill>
                        <a:latin typeface="Cambria Math" panose="02040503050406030204" pitchFamily="18" charset="0"/>
                      </a:rPr>
                      <m:t>[a;</m:t>
                    </m:r>
                    <m:r>
                      <m:rPr>
                        <m:sty m:val="p"/>
                      </m:rPr>
                      <a:rPr lang="vi-VN" sz="1800" b="0">
                        <a:solidFill>
                          <a:srgbClr val="1E293B"/>
                        </a:solidFill>
                        <a:latin typeface="Cambria Math" panose="02040503050406030204" pitchFamily="18" charset="0"/>
                      </a:rPr>
                      <m:t> </m:t>
                    </m:r>
                    <m:r>
                      <a:rPr lang="vi-VN" sz="1800" b="0">
                        <a:solidFill>
                          <a:srgbClr val="1E293B"/>
                        </a:solidFill>
                        <a:latin typeface="Cambria Math" panose="02040503050406030204" pitchFamily="18" charset="0"/>
                      </a:rPr>
                      <m:t>b)</m:t>
                    </m:r>
                  </m:oMath>
                </a14:m>
                <a:r>
                  <a:rPr sz="1800">
                    <a:solidFill>
                      <a:srgbClr val="1E293B"/>
                    </a:solidFill>
                    <a:latin typeface="Calibri"/>
                  </a:rPr>
                  <a:t>, </a:t>
                </a:r>
                <a14:m>
                  <m:oMath xmlns:m="http://schemas.openxmlformats.org/officeDocument/2006/math">
                    <m:r>
                      <a:rPr lang="vi-VN" sz="1800" b="0">
                        <a:solidFill>
                          <a:srgbClr val="1E293B"/>
                        </a:solidFill>
                        <a:latin typeface="Cambria Math" panose="02040503050406030204" pitchFamily="18" charset="0"/>
                      </a:rPr>
                      <m:t>a</m:t>
                    </m:r>
                  </m:oMath>
                </a14:m>
                <a:r>
                  <a:rPr sz="1800">
                    <a:solidFill>
                      <a:srgbClr val="1E293B"/>
                    </a:solidFill>
                    <a:latin typeface="Calibri"/>
                  </a:rPr>
                  <a:t> là đầu mút trái, </a:t>
                </a:r>
                <a14:m>
                  <m:oMath xmlns:m="http://schemas.openxmlformats.org/officeDocument/2006/math">
                    <m:r>
                      <a:rPr lang="vi-VN" sz="1800" b="0">
                        <a:solidFill>
                          <a:srgbClr val="1E293B"/>
                        </a:solidFill>
                        <a:latin typeface="Cambria Math" panose="02040503050406030204" pitchFamily="18" charset="0"/>
                      </a:rPr>
                      <m:t>b</m:t>
                    </m:r>
                  </m:oMath>
                </a14:m>
                <a:r>
                  <a:rPr sz="1800">
                    <a:solidFill>
                      <a:srgbClr val="1E293B"/>
                    </a:solidFill>
                    <a:latin typeface="Calibri"/>
                  </a:rPr>
                  <a:t> là đầu mút phải.</a:t>
                </a:r>
              </a:p>
              <a:p>
                <a:pPr algn="l">
                  <a:spcAft>
                    <a:spcPts val="800"/>
                  </a:spcAft>
                </a:pPr>
                <a:r>
                  <a:rPr sz="1800" b="1">
                    <a:solidFill>
                      <a:srgbClr val="1E293B"/>
                    </a:solidFill>
                    <a:latin typeface="Calibri"/>
                  </a:rPr>
                  <a:t>Nhận xét.</a:t>
                </a:r>
                <a:r>
                  <a:rPr sz="1800">
                    <a:solidFill>
                      <a:srgbClr val="1E293B"/>
                    </a:solidFill>
                    <a:latin typeface="Calibri"/>
                  </a:rPr>
                  <a:t> Dùng khi không thu thập được số liệu chính xác hoặc để thuận lợi cho việc đọc, phân tích; nhóm cuối có thể lấy cả đầu mút phải.</a:t>
                </a:r>
              </a:p>
            </p:txBody>
          </p:sp>
        </mc:Choice>
        <mc:Fallback>
          <p:sp>
            <p:nvSpPr>
              <p:cNvPr id="39" name="TextBox 38"/>
              <p:cNvSpPr txBox="1"/>
              <p:nvPr/>
            </p:nvSpPr>
            <p:spPr>
              <a:xfrm>
                <a:off x="713232" y="4169664"/>
                <a:ext cx="10735056" cy="1664208"/>
              </a:xfrm>
              <a:prstGeom prst="rect">
                <a:avLst/>
              </a:prstGeom>
              <a:noFill/>
            </p:spPr>
            <p:txBody>
              <a:bodyPr wrap="square" anchor="ctr" lIns="45720" rIns="45720">
                <a:spAutoFit/>
              </a:bodyPr>
              <a:lstStyle/>
              <a:p>
                <a:pPr algn="l">
                  <a:spcAft>
                    <a:spcPts val="800"/>
                  </a:spcAft>
                </a:pPr>
                <a:r>
                  <a:rPr sz="1800" b="1">
                    <a:solidFill>
                      <a:srgbClr val="1E293B"/>
                    </a:solidFill>
                    <a:latin typeface="Calibri"/>
                  </a:rPr>
                  <a:t>Mẫu số liệu ghép nhóm</a:t>
                </a:r>
                <a:r>
                  <a:rPr sz="1800">
                    <a:solidFill>
                      <a:srgbClr val="1E293B"/>
                    </a:solidFill>
                    <a:latin typeface="Calibri"/>
                  </a:rPr>
                  <a:t> là mẫu số liệu cho dưới dạng bảng tần số của các nhóm số liệu. Mỗi nhóm số liệu là tập hợp gồm các giá trị được ghép nhóm theo một tiêu chí xác định. Nhóm số liệu thường cho dưới dạng </a:t>
                </a:r>
                <a:r>
                  <a:rPr lang="vi-VN"/>
                  <a:t>[a;\ b)</a:t>
                </a:r>
                <a:r>
                  <a:rPr sz="1800">
                    <a:solidFill>
                      <a:srgbClr val="1E293B"/>
                    </a:solidFill>
                    <a:latin typeface="Calibri"/>
                  </a:rPr>
                  <a:t>, </a:t>
                </a:r>
                <a:r>
                  <a:rPr lang="vi-VN"/>
                  <a:t>a</a:t>
                </a:r>
                <a:r>
                  <a:rPr sz="1800">
                    <a:solidFill>
                      <a:srgbClr val="1E293B"/>
                    </a:solidFill>
                    <a:latin typeface="Calibri"/>
                  </a:rPr>
                  <a:t> là đầu mút trái, </a:t>
                </a:r>
                <a:r>
                  <a:rPr lang="vi-VN"/>
                  <a:t>b</a:t>
                </a:r>
                <a:r>
                  <a:rPr sz="1800">
                    <a:solidFill>
                      <a:srgbClr val="1E293B"/>
                    </a:solidFill>
                    <a:latin typeface="Calibri"/>
                  </a:rPr>
                  <a:t> là đầu mút phải.</a:t>
                </a:r>
              </a:p>
              <a:p>
                <a:pPr algn="l">
                  <a:spcAft>
                    <a:spcPts val="800"/>
                  </a:spcAft>
                </a:pPr>
                <a:r>
                  <a:rPr sz="1800" b="1">
                    <a:solidFill>
                      <a:srgbClr val="1E293B"/>
                    </a:solidFill>
                    <a:latin typeface="Calibri"/>
                  </a:rPr>
                  <a:t>Nhận xét.</a:t>
                </a:r>
                <a:r>
                  <a:rPr sz="1800">
                    <a:solidFill>
                      <a:srgbClr val="1E293B"/>
                    </a:solidFill>
                    <a:latin typeface="Calibri"/>
                  </a:rPr>
                  <a:t> Dùng khi không thu thập được số liệu chính xác hoặc để thuận lợi cho việc đọc, phân tích; nhóm cuối có thể lấy cả đầu mút phải.</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7"/>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8"/>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037015" y="457200"/>
            <a:ext cx="2606040"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HÌNH THÀNH KIẾN THỨC</a:t>
            </a:r>
          </a:p>
        </p:txBody>
      </p:sp>
      <p:sp>
        <p:nvSpPr>
          <p:cNvPr id="4" name="TextBox 3"/>
          <p:cNvSpPr txBox="1"/>
          <p:nvPr/>
        </p:nvSpPr>
        <p:spPr>
          <a:xfrm>
            <a:off x="731520" y="274320"/>
            <a:ext cx="8366760" cy="868680"/>
          </a:xfrm>
          <a:prstGeom prst="rect">
            <a:avLst/>
          </a:prstGeom>
          <a:noFill/>
        </p:spPr>
        <p:txBody>
          <a:bodyPr wrap="square" anchor="ctr">
            <a:spAutoFit/>
          </a:bodyPr>
          <a:lstStyle/>
          <a:p>
            <a:r>
              <a:rPr sz="3000" b="1">
                <a:solidFill>
                  <a:srgbClr val="1E40AF"/>
                </a:solidFill>
                <a:latin typeface="Cambria"/>
              </a:rPr>
              <a:t>VÍ DỤ 1 – LUYỆN TẬP 1 (SGK TR.59)</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8. Mẫu số liệu ghép nhóm – Toán 11          5</a:t>
            </a:r>
          </a:p>
        </p:txBody>
      </p:sp>
      <p:sp>
        <p:nvSpPr>
          <p:cNvPr id="7" name="TextBox 6"/>
          <p:cNvSpPr txBox="1"/>
          <p:nvPr/>
        </p:nvSpPr>
        <p:spPr>
          <a:xfrm>
            <a:off x="548640" y="1325880"/>
            <a:ext cx="11064240" cy="731520"/>
          </a:xfrm>
          <a:prstGeom prst="rect">
            <a:avLst/>
          </a:prstGeom>
          <a:noFill/>
        </p:spPr>
        <p:txBody>
          <a:bodyPr wrap="square" anchor="t" lIns="45720" rIns="45720">
            <a:spAutoFit/>
          </a:bodyPr>
          <a:lstStyle/>
          <a:p>
            <a:pPr algn="l">
              <a:spcAft>
                <a:spcPts val="800"/>
              </a:spcAft>
            </a:pPr>
            <a:r>
              <a:rPr sz="1900" b="1">
                <a:solidFill>
                  <a:srgbClr val="1E293B"/>
                </a:solidFill>
                <a:latin typeface="Calibri"/>
              </a:rPr>
              <a:t>Ví dụ 1.</a:t>
            </a:r>
            <a:r>
              <a:rPr sz="1900">
                <a:solidFill>
                  <a:srgbClr val="1E293B"/>
                </a:solidFill>
                <a:latin typeface="Calibri"/>
              </a:rPr>
              <a:t> Phân bố theo độ tuổi của dân số Việt Nam năm 2019. a) Có phải mẫu số liệu ghép nhóm? b) Nêu các nhóm, tần số; dân số năm 2019.</a:t>
            </a:r>
          </a:p>
        </p:txBody>
      </p:sp>
      <p:sp>
        <p:nvSpPr>
          <p:cNvPr id="8" name="Rounded Rectangle 7"/>
          <p:cNvSpPr/>
          <p:nvPr/>
        </p:nvSpPr>
        <p:spPr>
          <a:xfrm>
            <a:off x="822960" y="2011680"/>
            <a:ext cx="2583180" cy="438912"/>
          </a:xfrm>
          <a:prstGeom prst="roundRect">
            <a:avLst>
              <a:gd name="adj" fmla="val 6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87552" y="2048256"/>
            <a:ext cx="2253996" cy="365759"/>
          </a:xfrm>
          <a:prstGeom prst="rect">
            <a:avLst/>
          </a:prstGeom>
          <a:noFill/>
        </p:spPr>
        <p:txBody>
          <a:bodyPr wrap="square" anchor="ctr" lIns="45720" rIns="45720">
            <a:spAutoFit/>
          </a:bodyPr>
          <a:lstStyle/>
          <a:p>
            <a:pPr algn="ctr">
              <a:spcAft>
                <a:spcPts val="800"/>
              </a:spcAft>
            </a:pPr>
            <a:r>
              <a:rPr sz="1700">
                <a:solidFill>
                  <a:srgbClr val="1E293B"/>
                </a:solidFill>
                <a:latin typeface="Calibri"/>
              </a:rPr>
              <a:t>Độ tuổi</a:t>
            </a:r>
          </a:p>
        </p:txBody>
      </p:sp>
      <p:sp>
        <p:nvSpPr>
          <p:cNvPr id="10" name="Rounded Rectangle 9"/>
          <p:cNvSpPr/>
          <p:nvPr/>
        </p:nvSpPr>
        <p:spPr>
          <a:xfrm>
            <a:off x="3451860" y="2011680"/>
            <a:ext cx="2583180" cy="438912"/>
          </a:xfrm>
          <a:prstGeom prst="roundRect">
            <a:avLst>
              <a:gd name="adj" fmla="val 6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616452" y="2048256"/>
            <a:ext cx="2253996" cy="365759"/>
          </a:xfrm>
          <a:prstGeom prst="rect">
            <a:avLst/>
          </a:prstGeom>
          <a:noFill/>
        </p:spPr>
        <p:txBody>
          <a:bodyPr wrap="square" anchor="ctr" lIns="45720" rIns="45720">
            <a:spAutoFit/>
          </a:bodyPr>
          <a:lstStyle/>
          <a:p>
            <a:pPr algn="ctr">
              <a:spcAft>
                <a:spcPts val="800"/>
              </a:spcAft>
            </a:pPr>
            <a:r>
              <a:rPr sz="1700">
                <a:solidFill>
                  <a:srgbClr val="1E293B"/>
                </a:solidFill>
                <a:latin typeface="Calibri"/>
              </a:rPr>
              <a:t>Dưới 15 tuổi</a:t>
            </a:r>
          </a:p>
        </p:txBody>
      </p:sp>
      <p:sp>
        <p:nvSpPr>
          <p:cNvPr id="12" name="Rounded Rectangle 11"/>
          <p:cNvSpPr/>
          <p:nvPr/>
        </p:nvSpPr>
        <p:spPr>
          <a:xfrm>
            <a:off x="6080760" y="2011680"/>
            <a:ext cx="2583180" cy="438912"/>
          </a:xfrm>
          <a:prstGeom prst="roundRect">
            <a:avLst>
              <a:gd name="adj" fmla="val 6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245352" y="2048256"/>
            <a:ext cx="2253996" cy="365759"/>
          </a:xfrm>
          <a:prstGeom prst="rect">
            <a:avLst/>
          </a:prstGeom>
          <a:noFill/>
        </p:spPr>
        <p:txBody>
          <a:bodyPr wrap="square" anchor="ctr" lIns="45720" rIns="45720">
            <a:spAutoFit/>
          </a:bodyPr>
          <a:lstStyle/>
          <a:p>
            <a:pPr algn="ctr">
              <a:spcAft>
                <a:spcPts val="800"/>
              </a:spcAft>
            </a:pPr>
            <a:r>
              <a:rPr sz="1700">
                <a:solidFill>
                  <a:srgbClr val="1E293B"/>
                </a:solidFill>
                <a:latin typeface="Calibri"/>
              </a:rPr>
              <a:t>Từ 15 đến dưới 65</a:t>
            </a:r>
          </a:p>
        </p:txBody>
      </p:sp>
      <p:sp>
        <p:nvSpPr>
          <p:cNvPr id="14" name="Rounded Rectangle 13"/>
          <p:cNvSpPr/>
          <p:nvPr/>
        </p:nvSpPr>
        <p:spPr>
          <a:xfrm>
            <a:off x="8709660" y="2011680"/>
            <a:ext cx="2583180" cy="438912"/>
          </a:xfrm>
          <a:prstGeom prst="roundRect">
            <a:avLst>
              <a:gd name="adj" fmla="val 6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874252" y="2048256"/>
            <a:ext cx="2253996" cy="365759"/>
          </a:xfrm>
          <a:prstGeom prst="rect">
            <a:avLst/>
          </a:prstGeom>
          <a:noFill/>
        </p:spPr>
        <p:txBody>
          <a:bodyPr wrap="square" anchor="ctr" lIns="45720" rIns="45720">
            <a:spAutoFit/>
          </a:bodyPr>
          <a:lstStyle/>
          <a:p>
            <a:pPr algn="ctr">
              <a:spcAft>
                <a:spcPts val="800"/>
              </a:spcAft>
            </a:pPr>
            <a:r>
              <a:rPr sz="1700">
                <a:solidFill>
                  <a:srgbClr val="1E293B"/>
                </a:solidFill>
                <a:latin typeface="Calibri"/>
              </a:rPr>
              <a:t>Từ 65 trở lên</a:t>
            </a:r>
          </a:p>
        </p:txBody>
      </p:sp>
      <p:sp>
        <p:nvSpPr>
          <p:cNvPr id="16" name="Rounded Rectangle 15"/>
          <p:cNvSpPr/>
          <p:nvPr/>
        </p:nvSpPr>
        <p:spPr>
          <a:xfrm>
            <a:off x="822960" y="2496312"/>
            <a:ext cx="2583180" cy="438912"/>
          </a:xfrm>
          <a:prstGeom prst="roundRect">
            <a:avLst>
              <a:gd name="adj" fmla="val 6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87552" y="2532888"/>
            <a:ext cx="2253996" cy="365759"/>
          </a:xfrm>
          <a:prstGeom prst="rect">
            <a:avLst/>
          </a:prstGeom>
          <a:noFill/>
        </p:spPr>
        <p:txBody>
          <a:bodyPr wrap="square" anchor="ctr" lIns="45720" rIns="45720">
            <a:spAutoFit/>
          </a:bodyPr>
          <a:lstStyle/>
          <a:p>
            <a:pPr algn="ctr">
              <a:spcAft>
                <a:spcPts val="800"/>
              </a:spcAft>
            </a:pPr>
            <a:r>
              <a:rPr sz="1700">
                <a:solidFill>
                  <a:srgbClr val="1E293B"/>
                </a:solidFill>
                <a:latin typeface="Calibri"/>
              </a:rPr>
              <a:t>Số người</a:t>
            </a:r>
          </a:p>
        </p:txBody>
      </p:sp>
      <p:sp>
        <p:nvSpPr>
          <p:cNvPr id="18" name="Rounded Rectangle 17"/>
          <p:cNvSpPr/>
          <p:nvPr/>
        </p:nvSpPr>
        <p:spPr>
          <a:xfrm>
            <a:off x="3451860" y="2496312"/>
            <a:ext cx="2583180" cy="438912"/>
          </a:xfrm>
          <a:prstGeom prst="roundRect">
            <a:avLst>
              <a:gd name="adj" fmla="val 6000"/>
            </a:avLst>
          </a:prstGeom>
          <a:solidFill>
            <a:srgbClr val="EFF4FF"/>
          </a:solidFill>
          <a:ln w="19050">
            <a:solidFill>
              <a:srgbClr val="1E40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616452" y="2532888"/>
            <a:ext cx="2253996" cy="365759"/>
          </a:xfrm>
          <a:prstGeom prst="rect">
            <a:avLst/>
          </a:prstGeom>
          <a:noFill/>
        </p:spPr>
        <p:txBody>
          <a:bodyPr wrap="square" anchor="ctr" lIns="45720" rIns="45720">
            <a:spAutoFit/>
          </a:bodyPr>
          <a:lstStyle/>
          <a:p>
            <a:pPr algn="ctr">
              <a:spcAft>
                <a:spcPts val="800"/>
              </a:spcAft>
            </a:pPr>
            <a:r>
              <a:rPr sz="1700">
                <a:solidFill>
                  <a:srgbClr val="1E293B"/>
                </a:solidFill>
                <a:latin typeface="Calibri"/>
              </a:rPr>
              <a:t>23 371 882</a:t>
            </a:r>
          </a:p>
        </p:txBody>
      </p:sp>
      <p:sp>
        <p:nvSpPr>
          <p:cNvPr id="20" name="Rounded Rectangle 19"/>
          <p:cNvSpPr/>
          <p:nvPr/>
        </p:nvSpPr>
        <p:spPr>
          <a:xfrm>
            <a:off x="6080760" y="2496312"/>
            <a:ext cx="2583180" cy="438912"/>
          </a:xfrm>
          <a:prstGeom prst="roundRect">
            <a:avLst>
              <a:gd name="adj" fmla="val 6000"/>
            </a:avLst>
          </a:prstGeom>
          <a:solidFill>
            <a:srgbClr val="EFF4FF"/>
          </a:solidFill>
          <a:ln w="19050">
            <a:solidFill>
              <a:srgbClr val="1E40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245352" y="2532888"/>
            <a:ext cx="2253996" cy="365759"/>
          </a:xfrm>
          <a:prstGeom prst="rect">
            <a:avLst/>
          </a:prstGeom>
          <a:noFill/>
        </p:spPr>
        <p:txBody>
          <a:bodyPr wrap="square" anchor="ctr" lIns="45720" rIns="45720">
            <a:spAutoFit/>
          </a:bodyPr>
          <a:lstStyle/>
          <a:p>
            <a:pPr algn="ctr">
              <a:spcAft>
                <a:spcPts val="800"/>
              </a:spcAft>
            </a:pPr>
            <a:r>
              <a:rPr sz="1700">
                <a:solidFill>
                  <a:srgbClr val="1E293B"/>
                </a:solidFill>
                <a:latin typeface="Calibri"/>
              </a:rPr>
              <a:t>65 420 451</a:t>
            </a:r>
          </a:p>
        </p:txBody>
      </p:sp>
      <p:sp>
        <p:nvSpPr>
          <p:cNvPr id="22" name="Rounded Rectangle 21"/>
          <p:cNvSpPr/>
          <p:nvPr/>
        </p:nvSpPr>
        <p:spPr>
          <a:xfrm>
            <a:off x="8709660" y="2496312"/>
            <a:ext cx="2583180" cy="438912"/>
          </a:xfrm>
          <a:prstGeom prst="roundRect">
            <a:avLst>
              <a:gd name="adj" fmla="val 6000"/>
            </a:avLst>
          </a:prstGeom>
          <a:solidFill>
            <a:srgbClr val="EFF4FF"/>
          </a:solidFill>
          <a:ln w="19050">
            <a:solidFill>
              <a:srgbClr val="1E40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874252" y="2532888"/>
            <a:ext cx="2253996" cy="365759"/>
          </a:xfrm>
          <a:prstGeom prst="rect">
            <a:avLst/>
          </a:prstGeom>
          <a:noFill/>
        </p:spPr>
        <p:txBody>
          <a:bodyPr wrap="square" anchor="ctr" lIns="45720" rIns="45720">
            <a:spAutoFit/>
          </a:bodyPr>
          <a:lstStyle/>
          <a:p>
            <a:pPr algn="ctr">
              <a:spcAft>
                <a:spcPts val="800"/>
              </a:spcAft>
            </a:pPr>
            <a:r>
              <a:rPr sz="1700">
                <a:solidFill>
                  <a:srgbClr val="1E293B"/>
                </a:solidFill>
                <a:latin typeface="Calibri"/>
              </a:rPr>
              <a:t>7 416 651</a:t>
            </a:r>
          </a:p>
        </p:txBody>
      </p:sp>
      <p:sp>
        <p:nvSpPr>
          <p:cNvPr id="24" name="s1_nen"/>
          <p:cNvSpPr/>
          <p:nvPr/>
        </p:nvSpPr>
        <p:spPr>
          <a:xfrm>
            <a:off x="548640" y="3026664"/>
            <a:ext cx="11064240" cy="844295"/>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25" name="s1_chu"/>
              <p:cNvSpPr txBox="1"/>
              <p:nvPr/>
            </p:nvSpPr>
            <p:spPr>
              <a:xfrm>
                <a:off x="713232" y="3063240"/>
                <a:ext cx="10735056" cy="771143"/>
              </a:xfrm>
              <a:prstGeom prst="rect">
                <a:avLst/>
              </a:prstGeom>
              <a:noFill/>
            </p:spPr>
            <p:txBody>
              <a:bodyPr wrap="square" anchor="ctr" lIns="45720" rIns="45720">
                <a:spAutoFit/>
              </a:bodyPr>
              <a:lstStyle/>
              <a:p>
                <a:pPr algn="l">
                  <a:spcAft>
                    <a:spcPts val="800"/>
                  </a:spcAft>
                </a:pPr>
                <a:r>
                  <a:rPr sz="1900">
                    <a:solidFill>
                      <a:srgbClr val="1E293B"/>
                    </a:solidFill>
                    <a:latin typeface="Calibri"/>
                  </a:rPr>
                  <a:t>a) Có. b) Ba nhóm với tần số tương ứng; dân số </a:t>
                </a:r>
                <a14:m>
                  <m:oMath xmlns:m="http://schemas.openxmlformats.org/officeDocument/2006/math">
                    <m:r>
                      <a:rPr lang="vi-VN" sz="1900" b="0">
                        <a:solidFill>
                          <a:srgbClr val="1E293B"/>
                        </a:solidFill>
                        <a:latin typeface="Cambria Math" panose="02040503050406030204" pitchFamily="18" charset="0"/>
                      </a:rPr>
                      <m:t>23</m:t>
                    </m:r>
                    <m:r>
                      <m:rPr>
                        <m:sty m:val="p"/>
                      </m:rPr>
                      <a:rPr lang="vi-VN" sz="1900" b="0">
                        <a:solidFill>
                          <a:srgbClr val="1E293B"/>
                        </a:solidFill>
                        <a:latin typeface="Cambria Math" panose="02040503050406030204" pitchFamily="18" charset="0"/>
                      </a:rPr>
                      <m:t> </m:t>
                    </m:r>
                    <m:r>
                      <a:rPr lang="vi-VN" sz="1900" b="0">
                        <a:solidFill>
                          <a:srgbClr val="1E293B"/>
                        </a:solidFill>
                        <a:latin typeface="Cambria Math" panose="02040503050406030204" pitchFamily="18" charset="0"/>
                      </a:rPr>
                      <m:t>371</m:t>
                    </m:r>
                    <m:r>
                      <m:rPr>
                        <m:sty m:val="p"/>
                      </m:rPr>
                      <a:rPr lang="vi-VN" sz="1900" b="0">
                        <a:solidFill>
                          <a:srgbClr val="1E293B"/>
                        </a:solidFill>
                        <a:latin typeface="Cambria Math" panose="02040503050406030204" pitchFamily="18" charset="0"/>
                      </a:rPr>
                      <m:t> </m:t>
                    </m:r>
                    <m:r>
                      <a:rPr lang="vi-VN" sz="1900" b="0">
                        <a:solidFill>
                          <a:srgbClr val="1E293B"/>
                        </a:solidFill>
                        <a:latin typeface="Cambria Math" panose="02040503050406030204" pitchFamily="18" charset="0"/>
                      </a:rPr>
                      <m:t>882+65</m:t>
                    </m:r>
                    <m:r>
                      <m:rPr>
                        <m:sty m:val="p"/>
                      </m:rPr>
                      <a:rPr lang="vi-VN" sz="1900" b="0">
                        <a:solidFill>
                          <a:srgbClr val="1E293B"/>
                        </a:solidFill>
                        <a:latin typeface="Cambria Math" panose="02040503050406030204" pitchFamily="18" charset="0"/>
                      </a:rPr>
                      <m:t> </m:t>
                    </m:r>
                    <m:r>
                      <a:rPr lang="vi-VN" sz="1900" b="0">
                        <a:solidFill>
                          <a:srgbClr val="1E293B"/>
                        </a:solidFill>
                        <a:latin typeface="Cambria Math" panose="02040503050406030204" pitchFamily="18" charset="0"/>
                      </a:rPr>
                      <m:t>420</m:t>
                    </m:r>
                    <m:r>
                      <m:rPr>
                        <m:sty m:val="p"/>
                      </m:rPr>
                      <a:rPr lang="vi-VN" sz="1900" b="0">
                        <a:solidFill>
                          <a:srgbClr val="1E293B"/>
                        </a:solidFill>
                        <a:latin typeface="Cambria Math" panose="02040503050406030204" pitchFamily="18" charset="0"/>
                      </a:rPr>
                      <m:t> </m:t>
                    </m:r>
                    <m:r>
                      <a:rPr lang="vi-VN" sz="1900" b="0">
                        <a:solidFill>
                          <a:srgbClr val="1E293B"/>
                        </a:solidFill>
                        <a:latin typeface="Cambria Math" panose="02040503050406030204" pitchFamily="18" charset="0"/>
                      </a:rPr>
                      <m:t>451+7</m:t>
                    </m:r>
                    <m:r>
                      <m:rPr>
                        <m:sty m:val="p"/>
                      </m:rPr>
                      <a:rPr lang="vi-VN" sz="1900" b="0">
                        <a:solidFill>
                          <a:srgbClr val="1E293B"/>
                        </a:solidFill>
                        <a:latin typeface="Cambria Math" panose="02040503050406030204" pitchFamily="18" charset="0"/>
                      </a:rPr>
                      <m:t> </m:t>
                    </m:r>
                    <m:r>
                      <a:rPr lang="vi-VN" sz="1900" b="0">
                        <a:solidFill>
                          <a:srgbClr val="1E293B"/>
                        </a:solidFill>
                        <a:latin typeface="Cambria Math" panose="02040503050406030204" pitchFamily="18" charset="0"/>
                      </a:rPr>
                      <m:t>416</m:t>
                    </m:r>
                    <m:r>
                      <m:rPr>
                        <m:sty m:val="p"/>
                      </m:rPr>
                      <a:rPr lang="vi-VN" sz="1900" b="0">
                        <a:solidFill>
                          <a:srgbClr val="1E293B"/>
                        </a:solidFill>
                        <a:latin typeface="Cambria Math" panose="02040503050406030204" pitchFamily="18" charset="0"/>
                      </a:rPr>
                      <m:t> </m:t>
                    </m:r>
                    <m:r>
                      <a:rPr lang="vi-VN" sz="1900" b="0">
                        <a:solidFill>
                          <a:srgbClr val="1E293B"/>
                        </a:solidFill>
                        <a:latin typeface="Cambria Math" panose="02040503050406030204" pitchFamily="18" charset="0"/>
                      </a:rPr>
                      <m:t>651=96</m:t>
                    </m:r>
                    <m:r>
                      <m:rPr>
                        <m:sty m:val="p"/>
                      </m:rPr>
                      <a:rPr lang="vi-VN" sz="1900" b="0">
                        <a:solidFill>
                          <a:srgbClr val="1E293B"/>
                        </a:solidFill>
                        <a:latin typeface="Cambria Math" panose="02040503050406030204" pitchFamily="18" charset="0"/>
                      </a:rPr>
                      <m:t> </m:t>
                    </m:r>
                    <m:r>
                      <a:rPr lang="vi-VN" sz="1900" b="0">
                        <a:solidFill>
                          <a:srgbClr val="1E293B"/>
                        </a:solidFill>
                        <a:latin typeface="Cambria Math" panose="02040503050406030204" pitchFamily="18" charset="0"/>
                      </a:rPr>
                      <m:t>208</m:t>
                    </m:r>
                    <m:r>
                      <m:rPr>
                        <m:sty m:val="p"/>
                      </m:rPr>
                      <a:rPr lang="vi-VN" sz="1900" b="0">
                        <a:solidFill>
                          <a:srgbClr val="1E293B"/>
                        </a:solidFill>
                        <a:latin typeface="Cambria Math" panose="02040503050406030204" pitchFamily="18" charset="0"/>
                      </a:rPr>
                      <m:t> </m:t>
                    </m:r>
                    <m:r>
                      <a:rPr lang="vi-VN" sz="1900" b="0">
                        <a:solidFill>
                          <a:srgbClr val="1E293B"/>
                        </a:solidFill>
                        <a:latin typeface="Cambria Math" panose="02040503050406030204" pitchFamily="18" charset="0"/>
                      </a:rPr>
                      <m:t>984</m:t>
                    </m:r>
                  </m:oMath>
                </a14:m>
                <a:r>
                  <a:rPr sz="1900">
                    <a:solidFill>
                      <a:srgbClr val="1E293B"/>
                    </a:solidFill>
                    <a:latin typeface="Calibri"/>
                  </a:rPr>
                  <a:t> người.</a:t>
                </a:r>
              </a:p>
            </p:txBody>
          </p:sp>
        </mc:Choice>
        <mc:Fallback>
          <p:sp>
            <p:nvSpPr>
              <p:cNvPr id="25" name="TextBox 24"/>
              <p:cNvSpPr txBox="1"/>
              <p:nvPr/>
            </p:nvSpPr>
            <p:spPr>
              <a:xfrm>
                <a:off x="713232" y="3063240"/>
                <a:ext cx="10735056" cy="771143"/>
              </a:xfrm>
              <a:prstGeom prst="rect">
                <a:avLst/>
              </a:prstGeom>
              <a:noFill/>
            </p:spPr>
            <p:txBody>
              <a:bodyPr wrap="square" anchor="ctr" lIns="45720" rIns="45720">
                <a:spAutoFit/>
              </a:bodyPr>
              <a:lstStyle/>
              <a:p>
                <a:pPr algn="l">
                  <a:spcAft>
                    <a:spcPts val="800"/>
                  </a:spcAft>
                </a:pPr>
                <a:r>
                  <a:rPr sz="1900">
                    <a:solidFill>
                      <a:srgbClr val="1E293B"/>
                    </a:solidFill>
                    <a:latin typeface="Calibri"/>
                  </a:rPr>
                  <a:t>a) Có. b) Ba nhóm với tần số tương ứng; dân số </a:t>
                </a:r>
                <a:r>
                  <a:rPr lang="vi-VN"/>
                  <a:t>23\ 371\ 882+65\ 420\ 451+7\ 416\ 651=96\ 208\ 984</a:t>
                </a:r>
                <a:r>
                  <a:rPr sz="1900">
                    <a:solidFill>
                      <a:srgbClr val="1E293B"/>
                    </a:solidFill>
                    <a:latin typeface="Calibri"/>
                  </a:rPr>
                  <a:t> người.</a:t>
                </a:r>
              </a:p>
            </p:txBody>
          </p:sp>
        </mc:Fallback>
      </mc:AlternateContent>
      <p:sp>
        <p:nvSpPr>
          <p:cNvPr id="26" name="s2_chu"/>
          <p:cNvSpPr txBox="1"/>
          <p:nvPr/>
        </p:nvSpPr>
        <p:spPr>
          <a:xfrm>
            <a:off x="548640" y="3925823"/>
            <a:ext cx="11064240" cy="463295"/>
          </a:xfrm>
          <a:prstGeom prst="rect">
            <a:avLst/>
          </a:prstGeom>
          <a:noFill/>
        </p:spPr>
        <p:txBody>
          <a:bodyPr wrap="square" anchor="t" lIns="45720" rIns="45720">
            <a:spAutoFit/>
          </a:bodyPr>
          <a:lstStyle/>
          <a:p>
            <a:pPr algn="l">
              <a:spcAft>
                <a:spcPts val="800"/>
              </a:spcAft>
            </a:pPr>
            <a:r>
              <a:rPr sz="1900" b="1">
                <a:solidFill>
                  <a:srgbClr val="1E293B"/>
                </a:solidFill>
                <a:latin typeface="Calibri"/>
              </a:rPr>
              <a:t>Luyện tập 1.</a:t>
            </a:r>
            <a:r>
              <a:rPr sz="1900">
                <a:solidFill>
                  <a:srgbClr val="1E293B"/>
                </a:solidFill>
                <a:latin typeface="Calibri"/>
              </a:rPr>
              <a:t> Đọc và giải thích mẫu số liệu thời gian (phút) đi từ nhà đến nơi làm việc:</a:t>
            </a:r>
          </a:p>
        </p:txBody>
      </p:sp>
      <p:sp>
        <p:nvSpPr>
          <p:cNvPr id="27" name="Rounded Rectangle 26"/>
          <p:cNvSpPr/>
          <p:nvPr/>
        </p:nvSpPr>
        <p:spPr>
          <a:xfrm>
            <a:off x="548640" y="4443983"/>
            <a:ext cx="1337310" cy="411480"/>
          </a:xfrm>
          <a:prstGeom prst="roundRect">
            <a:avLst>
              <a:gd name="adj" fmla="val 6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13232" y="4480559"/>
            <a:ext cx="1008126" cy="338328"/>
          </a:xfrm>
          <a:prstGeom prst="rect">
            <a:avLst/>
          </a:prstGeom>
          <a:noFill/>
        </p:spPr>
        <p:txBody>
          <a:bodyPr wrap="square" anchor="ctr" lIns="45720" rIns="45720">
            <a:spAutoFit/>
          </a:bodyPr>
          <a:lstStyle/>
          <a:p>
            <a:pPr algn="ctr">
              <a:spcAft>
                <a:spcPts val="800"/>
              </a:spcAft>
            </a:pPr>
            <a:r>
              <a:rPr sz="1600">
                <a:solidFill>
                  <a:srgbClr val="1E293B"/>
                </a:solidFill>
                <a:latin typeface="Calibri"/>
              </a:rPr>
              <a:t>Thời gian</a:t>
            </a:r>
          </a:p>
        </p:txBody>
      </p:sp>
      <p:sp>
        <p:nvSpPr>
          <p:cNvPr id="29" name="Rounded Rectangle 28"/>
          <p:cNvSpPr/>
          <p:nvPr/>
        </p:nvSpPr>
        <p:spPr>
          <a:xfrm>
            <a:off x="1931669" y="4443983"/>
            <a:ext cx="1337310" cy="411480"/>
          </a:xfrm>
          <a:prstGeom prst="roundRect">
            <a:avLst>
              <a:gd name="adj" fmla="val 6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2096262" y="4480559"/>
            <a:ext cx="1008126" cy="338328"/>
          </a:xfrm>
          <a:prstGeom prst="rect">
            <a:avLst/>
          </a:prstGeom>
          <a:noFill/>
        </p:spPr>
        <p:txBody>
          <a:bodyPr wrap="square" anchor="ctr" lIns="45720" rIns="45720">
            <a:spAutoFit/>
          </a:bodyPr>
          <a:lstStyle/>
          <a:p>
            <a:pPr algn="ctr">
              <a:spcAft>
                <a:spcPts val="800"/>
              </a:spcAft>
            </a:pPr>
            <a:r>
              <a:rPr sz="1600">
                <a:solidFill>
                  <a:srgbClr val="1E293B"/>
                </a:solidFill>
                <a:latin typeface="Calibri"/>
              </a:rPr>
              <a:t>[15; 20)</a:t>
            </a:r>
          </a:p>
        </p:txBody>
      </p:sp>
      <p:sp>
        <p:nvSpPr>
          <p:cNvPr id="31" name="Rounded Rectangle 30"/>
          <p:cNvSpPr/>
          <p:nvPr/>
        </p:nvSpPr>
        <p:spPr>
          <a:xfrm>
            <a:off x="3314700" y="4443983"/>
            <a:ext cx="1337310" cy="411480"/>
          </a:xfrm>
          <a:prstGeom prst="roundRect">
            <a:avLst>
              <a:gd name="adj" fmla="val 6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479292" y="4480559"/>
            <a:ext cx="1008126" cy="338328"/>
          </a:xfrm>
          <a:prstGeom prst="rect">
            <a:avLst/>
          </a:prstGeom>
          <a:noFill/>
        </p:spPr>
        <p:txBody>
          <a:bodyPr wrap="square" anchor="ctr" lIns="45720" rIns="45720">
            <a:spAutoFit/>
          </a:bodyPr>
          <a:lstStyle/>
          <a:p>
            <a:pPr algn="ctr">
              <a:spcAft>
                <a:spcPts val="800"/>
              </a:spcAft>
            </a:pPr>
            <a:r>
              <a:rPr sz="1600">
                <a:solidFill>
                  <a:srgbClr val="1E293B"/>
                </a:solidFill>
                <a:latin typeface="Calibri"/>
              </a:rPr>
              <a:t>[20; 25)</a:t>
            </a:r>
          </a:p>
        </p:txBody>
      </p:sp>
      <p:sp>
        <p:nvSpPr>
          <p:cNvPr id="33" name="Rounded Rectangle 32"/>
          <p:cNvSpPr/>
          <p:nvPr/>
        </p:nvSpPr>
        <p:spPr>
          <a:xfrm>
            <a:off x="4697729" y="4443983"/>
            <a:ext cx="1337310" cy="411480"/>
          </a:xfrm>
          <a:prstGeom prst="roundRect">
            <a:avLst>
              <a:gd name="adj" fmla="val 6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862321" y="4480559"/>
            <a:ext cx="1008126" cy="338328"/>
          </a:xfrm>
          <a:prstGeom prst="rect">
            <a:avLst/>
          </a:prstGeom>
          <a:noFill/>
        </p:spPr>
        <p:txBody>
          <a:bodyPr wrap="square" anchor="ctr" lIns="45720" rIns="45720">
            <a:spAutoFit/>
          </a:bodyPr>
          <a:lstStyle/>
          <a:p>
            <a:pPr algn="ctr">
              <a:spcAft>
                <a:spcPts val="800"/>
              </a:spcAft>
            </a:pPr>
            <a:r>
              <a:rPr sz="1600">
                <a:solidFill>
                  <a:srgbClr val="1E293B"/>
                </a:solidFill>
                <a:latin typeface="Calibri"/>
              </a:rPr>
              <a:t>[25; 30)</a:t>
            </a:r>
          </a:p>
        </p:txBody>
      </p:sp>
      <p:sp>
        <p:nvSpPr>
          <p:cNvPr id="35" name="Rounded Rectangle 34"/>
          <p:cNvSpPr/>
          <p:nvPr/>
        </p:nvSpPr>
        <p:spPr>
          <a:xfrm>
            <a:off x="6080759" y="4443983"/>
            <a:ext cx="1337310" cy="411480"/>
          </a:xfrm>
          <a:prstGeom prst="roundRect">
            <a:avLst>
              <a:gd name="adj" fmla="val 6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245351" y="4480559"/>
            <a:ext cx="1008126" cy="338328"/>
          </a:xfrm>
          <a:prstGeom prst="rect">
            <a:avLst/>
          </a:prstGeom>
          <a:noFill/>
        </p:spPr>
        <p:txBody>
          <a:bodyPr wrap="square" anchor="ctr" lIns="45720" rIns="45720">
            <a:spAutoFit/>
          </a:bodyPr>
          <a:lstStyle/>
          <a:p>
            <a:pPr algn="ctr">
              <a:spcAft>
                <a:spcPts val="800"/>
              </a:spcAft>
            </a:pPr>
            <a:r>
              <a:rPr sz="1600">
                <a:solidFill>
                  <a:srgbClr val="1E293B"/>
                </a:solidFill>
                <a:latin typeface="Calibri"/>
              </a:rPr>
              <a:t>[30; 35)</a:t>
            </a:r>
          </a:p>
        </p:txBody>
      </p:sp>
      <p:sp>
        <p:nvSpPr>
          <p:cNvPr id="37" name="Rounded Rectangle 36"/>
          <p:cNvSpPr/>
          <p:nvPr/>
        </p:nvSpPr>
        <p:spPr>
          <a:xfrm>
            <a:off x="7463790" y="4443983"/>
            <a:ext cx="1337310" cy="411480"/>
          </a:xfrm>
          <a:prstGeom prst="roundRect">
            <a:avLst>
              <a:gd name="adj" fmla="val 6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7628381" y="4480559"/>
            <a:ext cx="1008126" cy="338328"/>
          </a:xfrm>
          <a:prstGeom prst="rect">
            <a:avLst/>
          </a:prstGeom>
          <a:noFill/>
        </p:spPr>
        <p:txBody>
          <a:bodyPr wrap="square" anchor="ctr" lIns="45720" rIns="45720">
            <a:spAutoFit/>
          </a:bodyPr>
          <a:lstStyle/>
          <a:p>
            <a:pPr algn="ctr">
              <a:spcAft>
                <a:spcPts val="800"/>
              </a:spcAft>
            </a:pPr>
            <a:r>
              <a:rPr sz="1600">
                <a:solidFill>
                  <a:srgbClr val="1E293B"/>
                </a:solidFill>
                <a:latin typeface="Calibri"/>
              </a:rPr>
              <a:t>[35; 40)</a:t>
            </a:r>
          </a:p>
        </p:txBody>
      </p:sp>
      <p:sp>
        <p:nvSpPr>
          <p:cNvPr id="39" name="Rounded Rectangle 38"/>
          <p:cNvSpPr/>
          <p:nvPr/>
        </p:nvSpPr>
        <p:spPr>
          <a:xfrm>
            <a:off x="8846819" y="4443983"/>
            <a:ext cx="1337310" cy="411480"/>
          </a:xfrm>
          <a:prstGeom prst="roundRect">
            <a:avLst>
              <a:gd name="adj" fmla="val 6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9011411" y="4480559"/>
            <a:ext cx="1008126" cy="338328"/>
          </a:xfrm>
          <a:prstGeom prst="rect">
            <a:avLst/>
          </a:prstGeom>
          <a:noFill/>
        </p:spPr>
        <p:txBody>
          <a:bodyPr wrap="square" anchor="ctr" lIns="45720" rIns="45720">
            <a:spAutoFit/>
          </a:bodyPr>
          <a:lstStyle/>
          <a:p>
            <a:pPr algn="ctr">
              <a:spcAft>
                <a:spcPts val="800"/>
              </a:spcAft>
            </a:pPr>
            <a:r>
              <a:rPr sz="1600">
                <a:solidFill>
                  <a:srgbClr val="1E293B"/>
                </a:solidFill>
                <a:latin typeface="Calibri"/>
              </a:rPr>
              <a:t>[40; 45)</a:t>
            </a:r>
          </a:p>
        </p:txBody>
      </p:sp>
      <p:sp>
        <p:nvSpPr>
          <p:cNvPr id="41" name="Rounded Rectangle 40"/>
          <p:cNvSpPr/>
          <p:nvPr/>
        </p:nvSpPr>
        <p:spPr>
          <a:xfrm>
            <a:off x="10229850" y="4443983"/>
            <a:ext cx="1337310" cy="411480"/>
          </a:xfrm>
          <a:prstGeom prst="roundRect">
            <a:avLst>
              <a:gd name="adj" fmla="val 6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10394442" y="4480559"/>
            <a:ext cx="1008126" cy="338328"/>
          </a:xfrm>
          <a:prstGeom prst="rect">
            <a:avLst/>
          </a:prstGeom>
          <a:noFill/>
        </p:spPr>
        <p:txBody>
          <a:bodyPr wrap="square" anchor="ctr" lIns="45720" rIns="45720">
            <a:spAutoFit/>
          </a:bodyPr>
          <a:lstStyle/>
          <a:p>
            <a:pPr algn="ctr">
              <a:spcAft>
                <a:spcPts val="800"/>
              </a:spcAft>
            </a:pPr>
            <a:r>
              <a:rPr sz="1600">
                <a:solidFill>
                  <a:srgbClr val="1E293B"/>
                </a:solidFill>
                <a:latin typeface="Calibri"/>
              </a:rPr>
              <a:t>[45; 50)</a:t>
            </a:r>
          </a:p>
        </p:txBody>
      </p:sp>
      <p:sp>
        <p:nvSpPr>
          <p:cNvPr id="43" name="Rounded Rectangle 42"/>
          <p:cNvSpPr/>
          <p:nvPr/>
        </p:nvSpPr>
        <p:spPr>
          <a:xfrm>
            <a:off x="548640" y="4901183"/>
            <a:ext cx="1337310" cy="411480"/>
          </a:xfrm>
          <a:prstGeom prst="roundRect">
            <a:avLst>
              <a:gd name="adj" fmla="val 6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713232" y="4937759"/>
            <a:ext cx="1008126" cy="338328"/>
          </a:xfrm>
          <a:prstGeom prst="rect">
            <a:avLst/>
          </a:prstGeom>
          <a:noFill/>
        </p:spPr>
        <p:txBody>
          <a:bodyPr wrap="square" anchor="ctr" lIns="45720" rIns="45720">
            <a:spAutoFit/>
          </a:bodyPr>
          <a:lstStyle/>
          <a:p>
            <a:pPr algn="ctr">
              <a:spcAft>
                <a:spcPts val="800"/>
              </a:spcAft>
            </a:pPr>
            <a:r>
              <a:rPr sz="1600">
                <a:solidFill>
                  <a:srgbClr val="1E293B"/>
                </a:solidFill>
                <a:latin typeface="Calibri"/>
              </a:rPr>
              <a:t>Số nhân viên</a:t>
            </a:r>
          </a:p>
        </p:txBody>
      </p:sp>
      <p:sp>
        <p:nvSpPr>
          <p:cNvPr id="45" name="Rounded Rectangle 44"/>
          <p:cNvSpPr/>
          <p:nvPr/>
        </p:nvSpPr>
        <p:spPr>
          <a:xfrm>
            <a:off x="1931669" y="4901183"/>
            <a:ext cx="1337310" cy="411480"/>
          </a:xfrm>
          <a:prstGeom prst="roundRect">
            <a:avLst>
              <a:gd name="adj" fmla="val 6000"/>
            </a:avLst>
          </a:prstGeom>
          <a:solidFill>
            <a:srgbClr val="EFF4FF"/>
          </a:solidFill>
          <a:ln w="19050">
            <a:solidFill>
              <a:srgbClr val="1E40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2096262" y="4937759"/>
            <a:ext cx="1008126" cy="338328"/>
          </a:xfrm>
          <a:prstGeom prst="rect">
            <a:avLst/>
          </a:prstGeom>
          <a:noFill/>
        </p:spPr>
        <p:txBody>
          <a:bodyPr wrap="square" anchor="ctr" lIns="45720" rIns="45720">
            <a:spAutoFit/>
          </a:bodyPr>
          <a:lstStyle/>
          <a:p>
            <a:pPr algn="ctr">
              <a:spcAft>
                <a:spcPts val="800"/>
              </a:spcAft>
            </a:pPr>
            <a:r>
              <a:rPr sz="1600">
                <a:solidFill>
                  <a:srgbClr val="1E293B"/>
                </a:solidFill>
                <a:latin typeface="Calibri"/>
              </a:rPr>
              <a:t>6</a:t>
            </a:r>
          </a:p>
        </p:txBody>
      </p:sp>
      <p:sp>
        <p:nvSpPr>
          <p:cNvPr id="47" name="Rounded Rectangle 46"/>
          <p:cNvSpPr/>
          <p:nvPr/>
        </p:nvSpPr>
        <p:spPr>
          <a:xfrm>
            <a:off x="3314700" y="4901183"/>
            <a:ext cx="1337310" cy="411480"/>
          </a:xfrm>
          <a:prstGeom prst="roundRect">
            <a:avLst>
              <a:gd name="adj" fmla="val 6000"/>
            </a:avLst>
          </a:prstGeom>
          <a:solidFill>
            <a:srgbClr val="EFF4FF"/>
          </a:solidFill>
          <a:ln w="19050">
            <a:solidFill>
              <a:srgbClr val="1E40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3479292" y="4937759"/>
            <a:ext cx="1008126" cy="338328"/>
          </a:xfrm>
          <a:prstGeom prst="rect">
            <a:avLst/>
          </a:prstGeom>
          <a:noFill/>
        </p:spPr>
        <p:txBody>
          <a:bodyPr wrap="square" anchor="ctr" lIns="45720" rIns="45720">
            <a:spAutoFit/>
          </a:bodyPr>
          <a:lstStyle/>
          <a:p>
            <a:pPr algn="ctr">
              <a:spcAft>
                <a:spcPts val="800"/>
              </a:spcAft>
            </a:pPr>
            <a:r>
              <a:rPr sz="1600">
                <a:solidFill>
                  <a:srgbClr val="1E293B"/>
                </a:solidFill>
                <a:latin typeface="Calibri"/>
              </a:rPr>
              <a:t>14</a:t>
            </a:r>
          </a:p>
        </p:txBody>
      </p:sp>
      <p:sp>
        <p:nvSpPr>
          <p:cNvPr id="49" name="Rounded Rectangle 48"/>
          <p:cNvSpPr/>
          <p:nvPr/>
        </p:nvSpPr>
        <p:spPr>
          <a:xfrm>
            <a:off x="4697729" y="4901183"/>
            <a:ext cx="1337310" cy="411480"/>
          </a:xfrm>
          <a:prstGeom prst="roundRect">
            <a:avLst>
              <a:gd name="adj" fmla="val 6000"/>
            </a:avLst>
          </a:prstGeom>
          <a:solidFill>
            <a:srgbClr val="EFF4FF"/>
          </a:solidFill>
          <a:ln w="19050">
            <a:solidFill>
              <a:srgbClr val="1E40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4862321" y="4937759"/>
            <a:ext cx="1008126" cy="338328"/>
          </a:xfrm>
          <a:prstGeom prst="rect">
            <a:avLst/>
          </a:prstGeom>
          <a:noFill/>
        </p:spPr>
        <p:txBody>
          <a:bodyPr wrap="square" anchor="ctr" lIns="45720" rIns="45720">
            <a:spAutoFit/>
          </a:bodyPr>
          <a:lstStyle/>
          <a:p>
            <a:pPr algn="ctr">
              <a:spcAft>
                <a:spcPts val="800"/>
              </a:spcAft>
            </a:pPr>
            <a:r>
              <a:rPr sz="1600">
                <a:solidFill>
                  <a:srgbClr val="1E293B"/>
                </a:solidFill>
                <a:latin typeface="Calibri"/>
              </a:rPr>
              <a:t>25</a:t>
            </a:r>
          </a:p>
        </p:txBody>
      </p:sp>
      <p:sp>
        <p:nvSpPr>
          <p:cNvPr id="51" name="Rounded Rectangle 50"/>
          <p:cNvSpPr/>
          <p:nvPr/>
        </p:nvSpPr>
        <p:spPr>
          <a:xfrm>
            <a:off x="6080759" y="4901183"/>
            <a:ext cx="1337310" cy="411480"/>
          </a:xfrm>
          <a:prstGeom prst="roundRect">
            <a:avLst>
              <a:gd name="adj" fmla="val 6000"/>
            </a:avLst>
          </a:prstGeom>
          <a:solidFill>
            <a:srgbClr val="EFF4FF"/>
          </a:solidFill>
          <a:ln w="19050">
            <a:solidFill>
              <a:srgbClr val="1E40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6245351" y="4937759"/>
            <a:ext cx="1008126" cy="338328"/>
          </a:xfrm>
          <a:prstGeom prst="rect">
            <a:avLst/>
          </a:prstGeom>
          <a:noFill/>
        </p:spPr>
        <p:txBody>
          <a:bodyPr wrap="square" anchor="ctr" lIns="45720" rIns="45720">
            <a:spAutoFit/>
          </a:bodyPr>
          <a:lstStyle/>
          <a:p>
            <a:pPr algn="ctr">
              <a:spcAft>
                <a:spcPts val="800"/>
              </a:spcAft>
            </a:pPr>
            <a:r>
              <a:rPr sz="1600">
                <a:solidFill>
                  <a:srgbClr val="1E293B"/>
                </a:solidFill>
                <a:latin typeface="Calibri"/>
              </a:rPr>
              <a:t>37</a:t>
            </a:r>
          </a:p>
        </p:txBody>
      </p:sp>
      <p:sp>
        <p:nvSpPr>
          <p:cNvPr id="53" name="Rounded Rectangle 52"/>
          <p:cNvSpPr/>
          <p:nvPr/>
        </p:nvSpPr>
        <p:spPr>
          <a:xfrm>
            <a:off x="7463790" y="4901183"/>
            <a:ext cx="1337310" cy="411480"/>
          </a:xfrm>
          <a:prstGeom prst="roundRect">
            <a:avLst>
              <a:gd name="adj" fmla="val 6000"/>
            </a:avLst>
          </a:prstGeom>
          <a:solidFill>
            <a:srgbClr val="EFF4FF"/>
          </a:solidFill>
          <a:ln w="19050">
            <a:solidFill>
              <a:srgbClr val="1E40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7628381" y="4937759"/>
            <a:ext cx="1008126" cy="338328"/>
          </a:xfrm>
          <a:prstGeom prst="rect">
            <a:avLst/>
          </a:prstGeom>
          <a:noFill/>
        </p:spPr>
        <p:txBody>
          <a:bodyPr wrap="square" anchor="ctr" lIns="45720" rIns="45720">
            <a:spAutoFit/>
          </a:bodyPr>
          <a:lstStyle/>
          <a:p>
            <a:pPr algn="ctr">
              <a:spcAft>
                <a:spcPts val="800"/>
              </a:spcAft>
            </a:pPr>
            <a:r>
              <a:rPr sz="1600">
                <a:solidFill>
                  <a:srgbClr val="1E293B"/>
                </a:solidFill>
                <a:latin typeface="Calibri"/>
              </a:rPr>
              <a:t>21</a:t>
            </a:r>
          </a:p>
        </p:txBody>
      </p:sp>
      <p:sp>
        <p:nvSpPr>
          <p:cNvPr id="55" name="Rounded Rectangle 54"/>
          <p:cNvSpPr/>
          <p:nvPr/>
        </p:nvSpPr>
        <p:spPr>
          <a:xfrm>
            <a:off x="8846819" y="4901183"/>
            <a:ext cx="1337310" cy="411480"/>
          </a:xfrm>
          <a:prstGeom prst="roundRect">
            <a:avLst>
              <a:gd name="adj" fmla="val 6000"/>
            </a:avLst>
          </a:prstGeom>
          <a:solidFill>
            <a:srgbClr val="EFF4FF"/>
          </a:solidFill>
          <a:ln w="19050">
            <a:solidFill>
              <a:srgbClr val="1E40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9011411" y="4937759"/>
            <a:ext cx="1008126" cy="338328"/>
          </a:xfrm>
          <a:prstGeom prst="rect">
            <a:avLst/>
          </a:prstGeom>
          <a:noFill/>
        </p:spPr>
        <p:txBody>
          <a:bodyPr wrap="square" anchor="ctr" lIns="45720" rIns="45720">
            <a:spAutoFit/>
          </a:bodyPr>
          <a:lstStyle/>
          <a:p>
            <a:pPr algn="ctr">
              <a:spcAft>
                <a:spcPts val="800"/>
              </a:spcAft>
            </a:pPr>
            <a:r>
              <a:rPr sz="1600">
                <a:solidFill>
                  <a:srgbClr val="1E293B"/>
                </a:solidFill>
                <a:latin typeface="Calibri"/>
              </a:rPr>
              <a:t>13</a:t>
            </a:r>
          </a:p>
        </p:txBody>
      </p:sp>
      <p:sp>
        <p:nvSpPr>
          <p:cNvPr id="57" name="Rounded Rectangle 56"/>
          <p:cNvSpPr/>
          <p:nvPr/>
        </p:nvSpPr>
        <p:spPr>
          <a:xfrm>
            <a:off x="10229850" y="4901183"/>
            <a:ext cx="1337310" cy="411480"/>
          </a:xfrm>
          <a:prstGeom prst="roundRect">
            <a:avLst>
              <a:gd name="adj" fmla="val 6000"/>
            </a:avLst>
          </a:prstGeom>
          <a:solidFill>
            <a:srgbClr val="EFF4FF"/>
          </a:solidFill>
          <a:ln w="19050">
            <a:solidFill>
              <a:srgbClr val="1E40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10394442" y="4937759"/>
            <a:ext cx="1008126" cy="338328"/>
          </a:xfrm>
          <a:prstGeom prst="rect">
            <a:avLst/>
          </a:prstGeom>
          <a:noFill/>
        </p:spPr>
        <p:txBody>
          <a:bodyPr wrap="square" anchor="ctr" lIns="45720" rIns="45720">
            <a:spAutoFit/>
          </a:bodyPr>
          <a:lstStyle/>
          <a:p>
            <a:pPr algn="ctr">
              <a:spcAft>
                <a:spcPts val="800"/>
              </a:spcAft>
            </a:pPr>
            <a:r>
              <a:rPr sz="1600">
                <a:solidFill>
                  <a:srgbClr val="1E293B"/>
                </a:solidFill>
                <a:latin typeface="Calibri"/>
              </a:rPr>
              <a:t>9</a:t>
            </a:r>
          </a:p>
        </p:txBody>
      </p:sp>
      <p:sp>
        <p:nvSpPr>
          <p:cNvPr id="59" name="s3_nen"/>
          <p:cNvSpPr/>
          <p:nvPr/>
        </p:nvSpPr>
        <p:spPr>
          <a:xfrm>
            <a:off x="548640" y="5385816"/>
            <a:ext cx="11064240" cy="539496"/>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60" name="s3_chu"/>
              <p:cNvSpPr txBox="1"/>
              <p:nvPr/>
            </p:nvSpPr>
            <p:spPr>
              <a:xfrm>
                <a:off x="713232" y="5422392"/>
                <a:ext cx="10735056" cy="466344"/>
              </a:xfrm>
              <a:prstGeom prst="rect">
                <a:avLst/>
              </a:prstGeom>
              <a:noFill/>
            </p:spPr>
            <p:txBody>
              <a:bodyPr wrap="square" anchor="ctr" lIns="45720" rIns="45720">
                <a:spAutoFit/>
              </a:bodyPr>
              <a:lstStyle/>
              <a:p>
                <a:pPr algn="l">
                  <a:spcAft>
                    <a:spcPts val="800"/>
                  </a:spcAft>
                </a:pPr>
                <a:r>
                  <a:rPr sz="1800">
                    <a:solidFill>
                      <a:srgbClr val="1E293B"/>
                    </a:solidFill>
                    <a:latin typeface="Calibri"/>
                  </a:rPr>
                  <a:t>7 nhóm, mỗi nhóm dài 5 phút; cỡ mẫu 125 nhân viên; nhóm </a:t>
                </a:r>
                <a14:m>
                  <m:oMath xmlns:m="http://schemas.openxmlformats.org/officeDocument/2006/math">
                    <m:r>
                      <a:rPr lang="vi-VN" sz="1800" b="0">
                        <a:solidFill>
                          <a:srgbClr val="1E293B"/>
                        </a:solidFill>
                        <a:latin typeface="Cambria Math" panose="02040503050406030204" pitchFamily="18" charset="0"/>
                      </a:rPr>
                      <m:t>[30;</m:t>
                    </m:r>
                    <m:r>
                      <m:rPr>
                        <m:sty m:val="p"/>
                      </m:rPr>
                      <a:rPr lang="vi-VN" sz="1800" b="0">
                        <a:solidFill>
                          <a:srgbClr val="1E293B"/>
                        </a:solidFill>
                        <a:latin typeface="Cambria Math" panose="02040503050406030204" pitchFamily="18" charset="0"/>
                      </a:rPr>
                      <m:t> </m:t>
                    </m:r>
                    <m:r>
                      <a:rPr lang="vi-VN" sz="1800" b="0">
                        <a:solidFill>
                          <a:srgbClr val="1E293B"/>
                        </a:solidFill>
                        <a:latin typeface="Cambria Math" panose="02040503050406030204" pitchFamily="18" charset="0"/>
                      </a:rPr>
                      <m:t>35)</m:t>
                    </m:r>
                  </m:oMath>
                </a14:m>
                <a:r>
                  <a:rPr sz="1800">
                    <a:solidFill>
                      <a:srgbClr val="1E293B"/>
                    </a:solidFill>
                    <a:latin typeface="Calibri"/>
                  </a:rPr>
                  <a:t> đông nhất (37 nhân viên).</a:t>
                </a:r>
              </a:p>
            </p:txBody>
          </p:sp>
        </mc:Choice>
        <mc:Fallback>
          <p:sp>
            <p:nvSpPr>
              <p:cNvPr id="60" name="TextBox 59"/>
              <p:cNvSpPr txBox="1"/>
              <p:nvPr/>
            </p:nvSpPr>
            <p:spPr>
              <a:xfrm>
                <a:off x="713232" y="5422392"/>
                <a:ext cx="10735056" cy="466344"/>
              </a:xfrm>
              <a:prstGeom prst="rect">
                <a:avLst/>
              </a:prstGeom>
              <a:noFill/>
            </p:spPr>
            <p:txBody>
              <a:bodyPr wrap="square" anchor="ctr" lIns="45720" rIns="45720">
                <a:spAutoFit/>
              </a:bodyPr>
              <a:lstStyle/>
              <a:p>
                <a:pPr algn="l">
                  <a:spcAft>
                    <a:spcPts val="800"/>
                  </a:spcAft>
                </a:pPr>
                <a:r>
                  <a:rPr sz="1800">
                    <a:solidFill>
                      <a:srgbClr val="1E293B"/>
                    </a:solidFill>
                    <a:latin typeface="Calibri"/>
                  </a:rPr>
                  <a:t>7 nhóm, mỗi nhóm dài 5 phút; cỡ mẫu 125 nhân viên; nhóm </a:t>
                </a:r>
                <a:r>
                  <a:rPr lang="vi-VN"/>
                  <a:t>[30;\ 35)</a:t>
                </a:r>
                <a:r>
                  <a:rPr sz="1800">
                    <a:solidFill>
                      <a:srgbClr val="1E293B"/>
                    </a:solidFill>
                    <a:latin typeface="Calibri"/>
                  </a:rPr>
                  <a:t> đông nhất (37 nhân viên).</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26"/>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59"/>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6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037015" y="457200"/>
            <a:ext cx="2606040"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HÌNH THÀNH KIẾN THỨC</a:t>
            </a:r>
          </a:p>
        </p:txBody>
      </p:sp>
      <p:sp>
        <p:nvSpPr>
          <p:cNvPr id="4" name="TextBox 3"/>
          <p:cNvSpPr txBox="1"/>
          <p:nvPr/>
        </p:nvSpPr>
        <p:spPr>
          <a:xfrm>
            <a:off x="731520" y="274320"/>
            <a:ext cx="8366760" cy="868680"/>
          </a:xfrm>
          <a:prstGeom prst="rect">
            <a:avLst/>
          </a:prstGeom>
          <a:noFill/>
        </p:spPr>
        <p:txBody>
          <a:bodyPr wrap="square" anchor="ctr">
            <a:spAutoFit/>
          </a:bodyPr>
          <a:lstStyle/>
          <a:p>
            <a:r>
              <a:rPr sz="3000" b="1">
                <a:solidFill>
                  <a:srgbClr val="1E40AF"/>
                </a:solidFill>
                <a:latin typeface="Cambria"/>
              </a:rPr>
              <a:t>2. GHÉP NHÓM MẪU SỐ LIỆU – HĐ2 (SGK TR.60)</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8. Mẫu số liệu ghép nhóm – Toán 11          6</a:t>
            </a:r>
          </a:p>
        </p:txBody>
      </p:sp>
      <mc:AlternateContent xmlns:mc="http://schemas.openxmlformats.org/markup-compatibility/2006">
        <mc:Choice xmlns:a14="http://schemas.microsoft.com/office/drawing/2010/main" Requires="a14">
          <p:sp>
            <p:nvSpPr>
              <p:cNvPr id="7" name="TextBox 6"/>
              <p:cNvSpPr txBox="1"/>
              <p:nvPr/>
            </p:nvSpPr>
            <p:spPr>
              <a:xfrm>
                <a:off x="548640" y="1371600"/>
                <a:ext cx="11064240" cy="1088136"/>
              </a:xfrm>
              <a:prstGeom prst="rect">
                <a:avLst/>
              </a:prstGeom>
              <a:noFill/>
            </p:spPr>
            <p:txBody>
              <a:bodyPr wrap="square" anchor="t" lIns="45720" rIns="45720">
                <a:spAutoFit/>
              </a:bodyPr>
              <a:lstStyle/>
              <a:p>
                <a:pPr algn="l">
                  <a:spcAft>
                    <a:spcPts val="800"/>
                  </a:spcAft>
                </a:pPr>
                <a:r>
                  <a:rPr sz="2000" b="1">
                    <a:solidFill>
                      <a:srgbClr val="1E293B"/>
                    </a:solidFill>
                    <a:latin typeface="Calibri"/>
                  </a:rPr>
                  <a:t>HĐ2.</a:t>
                </a:r>
                <a:r>
                  <a:rPr sz="2000">
                    <a:solidFill>
                      <a:srgbClr val="1E293B"/>
                    </a:solidFill>
                    <a:latin typeface="Calibri"/>
                  </a:rPr>
                  <a:t> Chỉ số BMI (</a:t>
                </a:r>
                <a14:m>
                  <m:oMath xmlns:m="http://schemas.openxmlformats.org/officeDocument/2006/math">
                    <m:f>
                      <m:fPr>
                        <m:type m:val="lin"/>
                      </m:fPr>
                      <m:num>
                        <m:r>
                          <a:rPr lang="vi-VN" sz="2000" b="0">
                            <a:solidFill>
                              <a:srgbClr val="1E293B"/>
                            </a:solidFill>
                            <a:latin typeface="Cambria Math" panose="02040503050406030204" pitchFamily="18" charset="0"/>
                          </a:rPr>
                          <m:t>w</m:t>
                        </m:r>
                      </m:num>
                      <m:den>
                        <m:sSup>
                          <m:e>
                            <m:r>
                              <a:rPr lang="vi-VN" sz="2000" b="0">
                                <a:solidFill>
                                  <a:srgbClr val="1E293B"/>
                                </a:solidFill>
                                <a:latin typeface="Cambria Math" panose="02040503050406030204" pitchFamily="18" charset="0"/>
                              </a:rPr>
                              <m:t>h</m:t>
                            </m:r>
                          </m:e>
                          <m:sup>
                            <m:r>
                              <a:rPr lang="vi-VN" sz="2000" b="0">
                                <a:solidFill>
                                  <a:srgbClr val="1E293B"/>
                                </a:solidFill>
                                <a:latin typeface="Cambria Math" panose="02040503050406030204" pitchFamily="18" charset="0"/>
                              </a:rPr>
                              <m:t>2</m:t>
                            </m:r>
                          </m:sup>
                        </m:sSup>
                      </m:den>
                    </m:f>
                  </m:oMath>
                </a14:m>
                <a:r>
                  <a:rPr sz="2000">
                    <a:solidFill>
                      <a:srgbClr val="1E293B"/>
                    </a:solidFill>
                    <a:latin typeface="Calibri"/>
                  </a:rPr>
                  <a:t>) của các học sinh: </a:t>
                </a:r>
                <a14:m>
                  <m:oMath xmlns:m="http://schemas.openxmlformats.org/officeDocument/2006/math">
                    <m:r>
                      <a:rPr lang="vi-VN" sz="2000" b="0">
                        <a:solidFill>
                          <a:srgbClr val="1E293B"/>
                        </a:solidFill>
                        <a:latin typeface="Cambria Math" panose="02040503050406030204" pitchFamily="18" charset="0"/>
                      </a:rPr>
                      <m:t>19</m:t>
                    </m:r>
                    <m:r>
                      <a:rPr lang="vi-VN" sz="2000" b="0">
                        <a:solidFill>
                          <a:srgbClr val="1E293B"/>
                        </a:solidFill>
                        <a:latin typeface="Cambria Math" panose="02040503050406030204" pitchFamily="18" charset="0"/>
                      </a:rPr>
                      <m:t>,</m:t>
                    </m:r>
                    <m:r>
                      <a:rPr lang="vi-VN" sz="2000" b="0">
                        <a:solidFill>
                          <a:srgbClr val="1E293B"/>
                        </a:solidFill>
                        <a:latin typeface="Cambria Math" panose="02040503050406030204" pitchFamily="18" charset="0"/>
                      </a:rPr>
                      <m:t>2;</m:t>
                    </m:r>
                    <m:r>
                      <m:rPr>
                        <m:sty m:val="p"/>
                      </m:rPr>
                      <a:rPr lang="vi-VN" sz="2000" b="0">
                        <a:solidFill>
                          <a:srgbClr val="1E293B"/>
                        </a:solidFill>
                        <a:latin typeface="Cambria Math" panose="02040503050406030204" pitchFamily="18" charset="0"/>
                      </a:rPr>
                      <m:t> </m:t>
                    </m:r>
                    <m:r>
                      <a:rPr lang="vi-VN" sz="2000" b="0">
                        <a:solidFill>
                          <a:srgbClr val="1E293B"/>
                        </a:solidFill>
                        <a:latin typeface="Cambria Math" panose="02040503050406030204" pitchFamily="18" charset="0"/>
                      </a:rPr>
                      <m:t>21</m:t>
                    </m:r>
                    <m:r>
                      <a:rPr lang="vi-VN" sz="2000" b="0">
                        <a:solidFill>
                          <a:srgbClr val="1E293B"/>
                        </a:solidFill>
                        <a:latin typeface="Cambria Math" panose="02040503050406030204" pitchFamily="18" charset="0"/>
                      </a:rPr>
                      <m:t>,</m:t>
                    </m:r>
                    <m:r>
                      <a:rPr lang="vi-VN" sz="2000" b="0">
                        <a:solidFill>
                          <a:srgbClr val="1E293B"/>
                        </a:solidFill>
                        <a:latin typeface="Cambria Math" panose="02040503050406030204" pitchFamily="18" charset="0"/>
                      </a:rPr>
                      <m:t>1;</m:t>
                    </m:r>
                    <m:r>
                      <m:rPr>
                        <m:sty m:val="p"/>
                      </m:rPr>
                      <a:rPr lang="vi-VN" sz="2000" b="0">
                        <a:solidFill>
                          <a:srgbClr val="1E293B"/>
                        </a:solidFill>
                        <a:latin typeface="Cambria Math" panose="02040503050406030204" pitchFamily="18" charset="0"/>
                      </a:rPr>
                      <m:t> </m:t>
                    </m:r>
                    <m:r>
                      <a:rPr lang="vi-VN" sz="2000" b="0">
                        <a:solidFill>
                          <a:srgbClr val="1E293B"/>
                        </a:solidFill>
                        <a:latin typeface="Cambria Math" panose="02040503050406030204" pitchFamily="18" charset="0"/>
                      </a:rPr>
                      <m:t>16</m:t>
                    </m:r>
                    <m:r>
                      <a:rPr lang="vi-VN" sz="2000" b="0">
                        <a:solidFill>
                          <a:srgbClr val="1E293B"/>
                        </a:solidFill>
                        <a:latin typeface="Cambria Math" panose="02040503050406030204" pitchFamily="18" charset="0"/>
                      </a:rPr>
                      <m:t>,</m:t>
                    </m:r>
                    <m:r>
                      <a:rPr lang="vi-VN" sz="2000" b="0">
                        <a:solidFill>
                          <a:srgbClr val="1E293B"/>
                        </a:solidFill>
                        <a:latin typeface="Cambria Math" panose="02040503050406030204" pitchFamily="18" charset="0"/>
                      </a:rPr>
                      <m:t>8;</m:t>
                    </m:r>
                    <m:r>
                      <m:rPr>
                        <m:sty m:val="p"/>
                      </m:rPr>
                      <a:rPr lang="vi-VN" sz="2000" b="0">
                        <a:solidFill>
                          <a:srgbClr val="1E293B"/>
                        </a:solidFill>
                        <a:latin typeface="Cambria Math" panose="02040503050406030204" pitchFamily="18" charset="0"/>
                      </a:rPr>
                      <m:t> </m:t>
                    </m:r>
                    <m:r>
                      <a:rPr lang="vi-VN" sz="2000" b="0">
                        <a:solidFill>
                          <a:srgbClr val="1E293B"/>
                        </a:solidFill>
                        <a:latin typeface="Cambria Math" panose="02040503050406030204" pitchFamily="18" charset="0"/>
                      </a:rPr>
                      <m:t>23</m:t>
                    </m:r>
                    <m:r>
                      <a:rPr lang="vi-VN" sz="2000" b="0">
                        <a:solidFill>
                          <a:srgbClr val="1E293B"/>
                        </a:solidFill>
                        <a:latin typeface="Cambria Math" panose="02040503050406030204" pitchFamily="18" charset="0"/>
                      </a:rPr>
                      <m:t>,</m:t>
                    </m:r>
                    <m:r>
                      <a:rPr lang="vi-VN" sz="2000" b="0">
                        <a:solidFill>
                          <a:srgbClr val="1E293B"/>
                        </a:solidFill>
                        <a:latin typeface="Cambria Math" panose="02040503050406030204" pitchFamily="18" charset="0"/>
                      </a:rPr>
                      <m:t>5;</m:t>
                    </m:r>
                    <m:r>
                      <m:rPr>
                        <m:sty m:val="p"/>
                      </m:rPr>
                      <a:rPr lang="vi-VN" sz="2000" b="0">
                        <a:solidFill>
                          <a:srgbClr val="1E293B"/>
                        </a:solidFill>
                        <a:latin typeface="Cambria Math" panose="02040503050406030204" pitchFamily="18" charset="0"/>
                      </a:rPr>
                      <m:t> </m:t>
                    </m:r>
                    <m:r>
                      <a:rPr lang="vi-VN" sz="2000" b="0">
                        <a:solidFill>
                          <a:srgbClr val="1E293B"/>
                        </a:solidFill>
                        <a:latin typeface="Cambria Math" panose="02040503050406030204" pitchFamily="18" charset="0"/>
                      </a:rPr>
                      <m:t>20</m:t>
                    </m:r>
                    <m:r>
                      <a:rPr lang="vi-VN" sz="2000" b="0">
                        <a:solidFill>
                          <a:srgbClr val="1E293B"/>
                        </a:solidFill>
                        <a:latin typeface="Cambria Math" panose="02040503050406030204" pitchFamily="18" charset="0"/>
                      </a:rPr>
                      <m:t>,</m:t>
                    </m:r>
                    <m:r>
                      <a:rPr lang="vi-VN" sz="2000" b="0">
                        <a:solidFill>
                          <a:srgbClr val="1E293B"/>
                        </a:solidFill>
                        <a:latin typeface="Cambria Math" panose="02040503050406030204" pitchFamily="18" charset="0"/>
                      </a:rPr>
                      <m:t>6;</m:t>
                    </m:r>
                    <m:r>
                      <m:rPr>
                        <m:sty m:val="p"/>
                      </m:rPr>
                      <a:rPr lang="vi-VN" sz="2000" b="0">
                        <a:solidFill>
                          <a:srgbClr val="1E293B"/>
                        </a:solidFill>
                        <a:latin typeface="Cambria Math" panose="02040503050406030204" pitchFamily="18" charset="0"/>
                      </a:rPr>
                      <m:t> </m:t>
                    </m:r>
                    <m:r>
                      <a:rPr lang="vi-VN" sz="2000" b="0">
                        <a:solidFill>
                          <a:srgbClr val="1E293B"/>
                        </a:solidFill>
                        <a:latin typeface="Cambria Math" panose="02040503050406030204" pitchFamily="18" charset="0"/>
                      </a:rPr>
                      <m:t>25</m:t>
                    </m:r>
                    <m:r>
                      <a:rPr lang="vi-VN" sz="2000" b="0">
                        <a:solidFill>
                          <a:srgbClr val="1E293B"/>
                        </a:solidFill>
                        <a:latin typeface="Cambria Math" panose="02040503050406030204" pitchFamily="18" charset="0"/>
                      </a:rPr>
                      <m:t>,</m:t>
                    </m:r>
                    <m:r>
                      <a:rPr lang="vi-VN" sz="2000" b="0">
                        <a:solidFill>
                          <a:srgbClr val="1E293B"/>
                        </a:solidFill>
                        <a:latin typeface="Cambria Math" panose="02040503050406030204" pitchFamily="18" charset="0"/>
                      </a:rPr>
                      <m:t>2;</m:t>
                    </m:r>
                    <m:r>
                      <m:rPr>
                        <m:sty m:val="p"/>
                      </m:rPr>
                      <a:rPr lang="vi-VN" sz="2000" b="0">
                        <a:solidFill>
                          <a:srgbClr val="1E293B"/>
                        </a:solidFill>
                        <a:latin typeface="Cambria Math" panose="02040503050406030204" pitchFamily="18" charset="0"/>
                      </a:rPr>
                      <m:t> </m:t>
                    </m:r>
                    <m:r>
                      <a:rPr lang="vi-VN" sz="2000" b="0">
                        <a:solidFill>
                          <a:srgbClr val="1E293B"/>
                        </a:solidFill>
                        <a:latin typeface="Cambria Math" panose="02040503050406030204" pitchFamily="18" charset="0"/>
                      </a:rPr>
                      <m:t>18</m:t>
                    </m:r>
                    <m:r>
                      <a:rPr lang="vi-VN" sz="2000" b="0">
                        <a:solidFill>
                          <a:srgbClr val="1E293B"/>
                        </a:solidFill>
                        <a:latin typeface="Cambria Math" panose="02040503050406030204" pitchFamily="18" charset="0"/>
                      </a:rPr>
                      <m:t>,</m:t>
                    </m:r>
                    <m:r>
                      <a:rPr lang="vi-VN" sz="2000" b="0">
                        <a:solidFill>
                          <a:srgbClr val="1E293B"/>
                        </a:solidFill>
                        <a:latin typeface="Cambria Math" panose="02040503050406030204" pitchFamily="18" charset="0"/>
                      </a:rPr>
                      <m:t>7;</m:t>
                    </m:r>
                    <m:r>
                      <m:rPr>
                        <m:sty m:val="p"/>
                      </m:rPr>
                      <a:rPr lang="vi-VN" sz="2000" b="0">
                        <a:solidFill>
                          <a:srgbClr val="1E293B"/>
                        </a:solidFill>
                        <a:latin typeface="Cambria Math" panose="02040503050406030204" pitchFamily="18" charset="0"/>
                      </a:rPr>
                      <m:t> </m:t>
                    </m:r>
                    <m:r>
                      <a:rPr lang="vi-VN" sz="2000" b="0">
                        <a:solidFill>
                          <a:srgbClr val="1E293B"/>
                        </a:solidFill>
                        <a:latin typeface="Cambria Math" panose="02040503050406030204" pitchFamily="18" charset="0"/>
                      </a:rPr>
                      <m:t>19</m:t>
                    </m:r>
                    <m:r>
                      <a:rPr lang="vi-VN" sz="2000" b="0">
                        <a:solidFill>
                          <a:srgbClr val="1E293B"/>
                        </a:solidFill>
                        <a:latin typeface="Cambria Math" panose="02040503050406030204" pitchFamily="18" charset="0"/>
                      </a:rPr>
                      <m:t>,</m:t>
                    </m:r>
                    <m:r>
                      <a:rPr lang="vi-VN" sz="2000" b="0">
                        <a:solidFill>
                          <a:srgbClr val="1E293B"/>
                        </a:solidFill>
                        <a:latin typeface="Cambria Math" panose="02040503050406030204" pitchFamily="18" charset="0"/>
                      </a:rPr>
                      <m:t>1</m:t>
                    </m:r>
                  </m:oMath>
                </a14:m>
                <a:r>
                  <a:rPr sz="2000">
                    <a:solidFill>
                      <a:srgbClr val="1E293B"/>
                    </a:solidFill>
                    <a:latin typeface="Calibri"/>
                  </a:rPr>
                  <a:t>. BMI dưới 18,5: thiếu cân; từ 18,5 đến dưới 23: lí tưởng; từ 23 trở lên: thừa cân. Lập mẫu số liệu ghép nhóm.</a:t>
                </a:r>
              </a:p>
            </p:txBody>
          </p:sp>
        </mc:Choice>
        <mc:Fallback>
          <p:sp>
            <p:nvSpPr>
              <p:cNvPr id="7" name="TextBox 6"/>
              <p:cNvSpPr txBox="1"/>
              <p:nvPr/>
            </p:nvSpPr>
            <p:spPr>
              <a:xfrm>
                <a:off x="548640" y="1371600"/>
                <a:ext cx="11064240" cy="1088136"/>
              </a:xfrm>
              <a:prstGeom prst="rect">
                <a:avLst/>
              </a:prstGeom>
              <a:noFill/>
            </p:spPr>
            <p:txBody>
              <a:bodyPr wrap="square" anchor="t" lIns="45720" rIns="45720">
                <a:spAutoFit/>
              </a:bodyPr>
              <a:lstStyle/>
              <a:p>
                <a:pPr algn="l">
                  <a:spcAft>
                    <a:spcPts val="800"/>
                  </a:spcAft>
                </a:pPr>
                <a:r>
                  <a:rPr sz="2000" b="1">
                    <a:solidFill>
                      <a:srgbClr val="1E293B"/>
                    </a:solidFill>
                    <a:latin typeface="Calibri"/>
                  </a:rPr>
                  <a:t>HĐ2.</a:t>
                </a:r>
                <a:r>
                  <a:rPr sz="2000">
                    <a:solidFill>
                      <a:srgbClr val="1E293B"/>
                    </a:solidFill>
                    <a:latin typeface="Calibri"/>
                  </a:rPr>
                  <a:t> Chỉ số BMI (</a:t>
                </a:r>
                <a:r>
                  <a:rPr lang="vi-VN"/>
                  <a:t>w/h^2</a:t>
                </a:r>
                <a:r>
                  <a:rPr sz="2000">
                    <a:solidFill>
                      <a:srgbClr val="1E293B"/>
                    </a:solidFill>
                    <a:latin typeface="Calibri"/>
                  </a:rPr>
                  <a:t>) của các học sinh: </a:t>
                </a:r>
                <a:r>
                  <a:rPr lang="vi-VN"/>
                  <a:t>19{,}2;\ 21{,}1;\ 16{,}8;\ 23{,}5;\ 20{,}6;\ 25{,}2;\ 18{,}7;\ 19{,}1</a:t>
                </a:r>
                <a:r>
                  <a:rPr sz="2000">
                    <a:solidFill>
                      <a:srgbClr val="1E293B"/>
                    </a:solidFill>
                    <a:latin typeface="Calibri"/>
                  </a:rPr>
                  <a:t>. BMI dưới 18,5: thiếu cân; từ 18,5 đến dưới 23: lí tưởng; từ 23 trở lên: thừa cân. Lập mẫu số liệu ghép nhóm.</a:t>
                </a:r>
              </a:p>
            </p:txBody>
          </p:sp>
        </mc:Fallback>
      </mc:AlternateContent>
      <p:sp>
        <p:nvSpPr>
          <p:cNvPr id="8" name="s1_nen"/>
          <p:cNvSpPr/>
          <p:nvPr/>
        </p:nvSpPr>
        <p:spPr>
          <a:xfrm>
            <a:off x="548640" y="2569464"/>
            <a:ext cx="11064240" cy="569976"/>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9" name="s1_chu"/>
              <p:cNvSpPr txBox="1"/>
              <p:nvPr/>
            </p:nvSpPr>
            <p:spPr>
              <a:xfrm>
                <a:off x="713232" y="2606040"/>
                <a:ext cx="10735056" cy="496824"/>
              </a:xfrm>
              <a:prstGeom prst="rect">
                <a:avLst/>
              </a:prstGeom>
              <a:noFill/>
            </p:spPr>
            <p:txBody>
              <a:bodyPr wrap="square" anchor="ctr" lIns="45720" rIns="45720">
                <a:spAutoFit/>
              </a:bodyPr>
              <a:lstStyle/>
              <a:p>
                <a:pPr algn="l">
                  <a:spcAft>
                    <a:spcPts val="800"/>
                  </a:spcAft>
                </a:pPr>
                <a:r>
                  <a:rPr sz="2000">
                    <a:solidFill>
                      <a:srgbClr val="1E293B"/>
                    </a:solidFill>
                    <a:latin typeface="Calibri"/>
                  </a:rPr>
                  <a:t>Thiếu cân </a:t>
                </a:r>
                <a14:m>
                  <m:oMath xmlns:m="http://schemas.openxmlformats.org/officeDocument/2006/math">
                    <m:r>
                      <a:rPr lang="vi-VN" sz="2000" b="0">
                        <a:solidFill>
                          <a:srgbClr val="1E293B"/>
                        </a:solidFill>
                        <a:latin typeface="Cambria Math" panose="02040503050406030204" pitchFamily="18" charset="0"/>
                      </a:rPr>
                      <m:t>[0;</m:t>
                    </m:r>
                    <m:r>
                      <m:rPr>
                        <m:sty m:val="p"/>
                      </m:rPr>
                      <a:rPr lang="vi-VN" sz="2000" b="0">
                        <a:solidFill>
                          <a:srgbClr val="1E293B"/>
                        </a:solidFill>
                        <a:latin typeface="Cambria Math" panose="02040503050406030204" pitchFamily="18" charset="0"/>
                      </a:rPr>
                      <m:t> </m:t>
                    </m:r>
                    <m:r>
                      <a:rPr lang="vi-VN" sz="2000" b="0">
                        <a:solidFill>
                          <a:srgbClr val="1E293B"/>
                        </a:solidFill>
                        <a:latin typeface="Cambria Math" panose="02040503050406030204" pitchFamily="18" charset="0"/>
                      </a:rPr>
                      <m:t>18</m:t>
                    </m:r>
                    <m:r>
                      <a:rPr lang="vi-VN" sz="2000" b="0">
                        <a:solidFill>
                          <a:srgbClr val="1E293B"/>
                        </a:solidFill>
                        <a:latin typeface="Cambria Math" panose="02040503050406030204" pitchFamily="18" charset="0"/>
                      </a:rPr>
                      <m:t>,</m:t>
                    </m:r>
                    <m:r>
                      <a:rPr lang="vi-VN" sz="2000" b="0">
                        <a:solidFill>
                          <a:srgbClr val="1E293B"/>
                        </a:solidFill>
                        <a:latin typeface="Cambria Math" panose="02040503050406030204" pitchFamily="18" charset="0"/>
                      </a:rPr>
                      <m:t>5)</m:t>
                    </m:r>
                  </m:oMath>
                </a14:m>
                <a:r>
                  <a:rPr sz="2000">
                    <a:solidFill>
                      <a:srgbClr val="1E293B"/>
                    </a:solidFill>
                    <a:latin typeface="Calibri"/>
                  </a:rPr>
                  <a:t>: 1 HS; lí tưởng </a:t>
                </a:r>
                <a14:m>
                  <m:oMath xmlns:m="http://schemas.openxmlformats.org/officeDocument/2006/math">
                    <m:r>
                      <a:rPr lang="vi-VN" sz="2000" b="0">
                        <a:solidFill>
                          <a:srgbClr val="1E293B"/>
                        </a:solidFill>
                        <a:latin typeface="Cambria Math" panose="02040503050406030204" pitchFamily="18" charset="0"/>
                      </a:rPr>
                      <m:t>[18</m:t>
                    </m:r>
                    <m:r>
                      <a:rPr lang="vi-VN" sz="2000" b="0">
                        <a:solidFill>
                          <a:srgbClr val="1E293B"/>
                        </a:solidFill>
                        <a:latin typeface="Cambria Math" panose="02040503050406030204" pitchFamily="18" charset="0"/>
                      </a:rPr>
                      <m:t>,</m:t>
                    </m:r>
                    <m:r>
                      <a:rPr lang="vi-VN" sz="2000" b="0">
                        <a:solidFill>
                          <a:srgbClr val="1E293B"/>
                        </a:solidFill>
                        <a:latin typeface="Cambria Math" panose="02040503050406030204" pitchFamily="18" charset="0"/>
                      </a:rPr>
                      <m:t>5;</m:t>
                    </m:r>
                    <m:r>
                      <m:rPr>
                        <m:sty m:val="p"/>
                      </m:rPr>
                      <a:rPr lang="vi-VN" sz="2000" b="0">
                        <a:solidFill>
                          <a:srgbClr val="1E293B"/>
                        </a:solidFill>
                        <a:latin typeface="Cambria Math" panose="02040503050406030204" pitchFamily="18" charset="0"/>
                      </a:rPr>
                      <m:t> </m:t>
                    </m:r>
                    <m:r>
                      <a:rPr lang="vi-VN" sz="2000" b="0">
                        <a:solidFill>
                          <a:srgbClr val="1E293B"/>
                        </a:solidFill>
                        <a:latin typeface="Cambria Math" panose="02040503050406030204" pitchFamily="18" charset="0"/>
                      </a:rPr>
                      <m:t>23)</m:t>
                    </m:r>
                  </m:oMath>
                </a14:m>
                <a:r>
                  <a:rPr sz="2000">
                    <a:solidFill>
                      <a:srgbClr val="1E293B"/>
                    </a:solidFill>
                    <a:latin typeface="Calibri"/>
                  </a:rPr>
                  <a:t>: 5 HS; thừa cân </a:t>
                </a:r>
                <a14:m>
                  <m:oMath xmlns:m="http://schemas.openxmlformats.org/officeDocument/2006/math">
                    <m:r>
                      <a:rPr lang="vi-VN" sz="2000" b="0">
                        <a:solidFill>
                          <a:srgbClr val="1E293B"/>
                        </a:solidFill>
                        <a:latin typeface="Cambria Math" panose="02040503050406030204" pitchFamily="18" charset="0"/>
                      </a:rPr>
                      <m:t>[23;</m:t>
                    </m:r>
                    <m:r>
                      <m:rPr>
                        <m:sty m:val="p"/>
                      </m:rPr>
                      <a:rPr lang="vi-VN" sz="2000" b="0">
                        <a:solidFill>
                          <a:srgbClr val="1E293B"/>
                        </a:solidFill>
                        <a:latin typeface="Cambria Math" panose="02040503050406030204" pitchFamily="18" charset="0"/>
                      </a:rPr>
                      <m:t> </m:t>
                    </m:r>
                    <m:r>
                      <a:rPr lang="vi-VN" sz="2000" b="0">
                        <a:solidFill>
                          <a:srgbClr val="1E293B"/>
                        </a:solidFill>
                        <a:latin typeface="Cambria Math" panose="02040503050406030204" pitchFamily="18" charset="0"/>
                      </a:rPr>
                      <m:t>+∞)</m:t>
                    </m:r>
                  </m:oMath>
                </a14:m>
                <a:r>
                  <a:rPr sz="2000">
                    <a:solidFill>
                      <a:srgbClr val="1E293B"/>
                    </a:solidFill>
                    <a:latin typeface="Calibri"/>
                  </a:rPr>
                  <a:t>: 2 HS.</a:t>
                </a:r>
              </a:p>
            </p:txBody>
          </p:sp>
        </mc:Choice>
        <mc:Fallback>
          <p:sp>
            <p:nvSpPr>
              <p:cNvPr id="9" name="TextBox 8"/>
              <p:cNvSpPr txBox="1"/>
              <p:nvPr/>
            </p:nvSpPr>
            <p:spPr>
              <a:xfrm>
                <a:off x="713232" y="2606040"/>
                <a:ext cx="10735056" cy="496824"/>
              </a:xfrm>
              <a:prstGeom prst="rect">
                <a:avLst/>
              </a:prstGeom>
              <a:noFill/>
            </p:spPr>
            <p:txBody>
              <a:bodyPr wrap="square" anchor="ctr" lIns="45720" rIns="45720">
                <a:spAutoFit/>
              </a:bodyPr>
              <a:lstStyle/>
              <a:p>
                <a:pPr algn="l">
                  <a:spcAft>
                    <a:spcPts val="800"/>
                  </a:spcAft>
                </a:pPr>
                <a:r>
                  <a:rPr sz="2000">
                    <a:solidFill>
                      <a:srgbClr val="1E293B"/>
                    </a:solidFill>
                    <a:latin typeface="Calibri"/>
                  </a:rPr>
                  <a:t>Thiếu cân </a:t>
                </a:r>
                <a:r>
                  <a:rPr lang="vi-VN"/>
                  <a:t>[0;\ 18{,}5)</a:t>
                </a:r>
                <a:r>
                  <a:rPr sz="2000">
                    <a:solidFill>
                      <a:srgbClr val="1E293B"/>
                    </a:solidFill>
                    <a:latin typeface="Calibri"/>
                  </a:rPr>
                  <a:t>: 1 HS; lí tưởng </a:t>
                </a:r>
                <a:r>
                  <a:rPr lang="vi-VN"/>
                  <a:t>[18{,}5;\ 23)</a:t>
                </a:r>
                <a:r>
                  <a:rPr sz="2000">
                    <a:solidFill>
                      <a:srgbClr val="1E293B"/>
                    </a:solidFill>
                    <a:latin typeface="Calibri"/>
                  </a:rPr>
                  <a:t>: 5 HS; thừa cân </a:t>
                </a:r>
                <a:r>
                  <a:rPr lang="vi-VN"/>
                  <a:t>[23;\ +\infty)</a:t>
                </a:r>
                <a:r>
                  <a:rPr sz="2000">
                    <a:solidFill>
                      <a:srgbClr val="1E293B"/>
                    </a:solidFill>
                    <a:latin typeface="Calibri"/>
                  </a:rPr>
                  <a:t>: 2 HS.</a:t>
                </a:r>
              </a:p>
            </p:txBody>
          </p:sp>
        </mc:Fallback>
      </mc:AlternateContent>
      <p:sp>
        <p:nvSpPr>
          <p:cNvPr id="10" name="s2_nen"/>
          <p:cNvSpPr/>
          <p:nvPr/>
        </p:nvSpPr>
        <p:spPr>
          <a:xfrm>
            <a:off x="548640" y="3249168"/>
            <a:ext cx="11064240" cy="1889760"/>
          </a:xfrm>
          <a:prstGeom prst="roundRect">
            <a:avLst>
              <a:gd name="adj" fmla="val 6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1" name="s2_chu"/>
              <p:cNvSpPr txBox="1"/>
              <p:nvPr/>
            </p:nvSpPr>
            <p:spPr>
              <a:xfrm>
                <a:off x="713232" y="3285744"/>
                <a:ext cx="10735056" cy="1816608"/>
              </a:xfrm>
              <a:prstGeom prst="rect">
                <a:avLst/>
              </a:prstGeom>
              <a:noFill/>
            </p:spPr>
            <p:txBody>
              <a:bodyPr wrap="square" anchor="ctr" lIns="45720" rIns="45720">
                <a:spAutoFit/>
              </a:bodyPr>
              <a:lstStyle/>
              <a:p>
                <a:pPr algn="l">
                  <a:spcAft>
                    <a:spcPts val="800"/>
                  </a:spcAft>
                </a:pPr>
                <a:r>
                  <a:rPr sz="2000">
                    <a:solidFill>
                      <a:srgbClr val="1E293B"/>
                    </a:solidFill>
                    <a:latin typeface="Calibri"/>
                  </a:rPr>
                  <a:t>Chuyển mẫu số liệu không ghép nhóm sang ghép nhóm: </a:t>
                </a:r>
                <a:r>
                  <a:rPr sz="2000" b="1">
                    <a:solidFill>
                      <a:srgbClr val="1E293B"/>
                    </a:solidFill>
                    <a:latin typeface="Calibri"/>
                  </a:rPr>
                  <a:t>Bước 1.</a:t>
                </a:r>
                <a:r>
                  <a:rPr sz="2000">
                    <a:solidFill>
                      <a:srgbClr val="1E293B"/>
                    </a:solidFill>
                    <a:latin typeface="Calibri"/>
                  </a:rPr>
                  <a:t> Chia miền giá trị thành một số nhóm theo tiêu chí cho trước. </a:t>
                </a:r>
                <a:r>
                  <a:rPr sz="2000" b="1">
                    <a:solidFill>
                      <a:srgbClr val="1E293B"/>
                    </a:solidFill>
                    <a:latin typeface="Calibri"/>
                  </a:rPr>
                  <a:t>Bước 2.</a:t>
                </a:r>
                <a:r>
                  <a:rPr sz="2000">
                    <a:solidFill>
                      <a:srgbClr val="1E293B"/>
                    </a:solidFill>
                    <a:latin typeface="Calibri"/>
                  </a:rPr>
                  <a:t> Đếm số giá trị thuộc mỗi nhóm (tần số) và lập bảng thống kê.</a:t>
                </a:r>
              </a:p>
              <a:p>
                <a:pPr algn="l">
                  <a:spcAft>
                    <a:spcPts val="800"/>
                  </a:spcAft>
                </a:pPr>
                <a:r>
                  <a:rPr sz="2000">
                    <a:solidFill>
                      <a:srgbClr val="1E293B"/>
                    </a:solidFill>
                    <a:latin typeface="Calibri"/>
                  </a:rPr>
                  <a:t>Độ dài nhóm </a:t>
                </a:r>
                <a14:m>
                  <m:oMath xmlns:m="http://schemas.openxmlformats.org/officeDocument/2006/math">
                    <m:r>
                      <a:rPr lang="vi-VN" sz="2000" b="0">
                        <a:solidFill>
                          <a:srgbClr val="1E293B"/>
                        </a:solidFill>
                        <a:latin typeface="Cambria Math" panose="02040503050406030204" pitchFamily="18" charset="0"/>
                      </a:rPr>
                      <m:t>[a;</m:t>
                    </m:r>
                    <m:r>
                      <m:rPr>
                        <m:sty m:val="p"/>
                      </m:rPr>
                      <a:rPr lang="vi-VN" sz="2000" b="0">
                        <a:solidFill>
                          <a:srgbClr val="1E293B"/>
                        </a:solidFill>
                        <a:latin typeface="Cambria Math" panose="02040503050406030204" pitchFamily="18" charset="0"/>
                      </a:rPr>
                      <m:t> </m:t>
                    </m:r>
                    <m:r>
                      <a:rPr lang="vi-VN" sz="2000" b="0">
                        <a:solidFill>
                          <a:srgbClr val="1E293B"/>
                        </a:solidFill>
                        <a:latin typeface="Cambria Math" panose="02040503050406030204" pitchFamily="18" charset="0"/>
                      </a:rPr>
                      <m:t>b)</m:t>
                    </m:r>
                  </m:oMath>
                </a14:m>
                <a:r>
                  <a:rPr sz="2000">
                    <a:solidFill>
                      <a:srgbClr val="1E293B"/>
                    </a:solidFill>
                    <a:latin typeface="Calibri"/>
                  </a:rPr>
                  <a:t> là </a:t>
                </a:r>
                <a14:m>
                  <m:oMath xmlns:m="http://schemas.openxmlformats.org/officeDocument/2006/math">
                    <m:r>
                      <a:rPr lang="vi-VN" sz="2000" b="0">
                        <a:solidFill>
                          <a:srgbClr val="1E293B"/>
                        </a:solidFill>
                        <a:latin typeface="Cambria Math" panose="02040503050406030204" pitchFamily="18" charset="0"/>
                      </a:rPr>
                      <m:t>b−a</m:t>
                    </m:r>
                  </m:oMath>
                </a14:m>
                <a:r>
                  <a:rPr sz="2000">
                    <a:solidFill>
                      <a:srgbClr val="1E293B"/>
                    </a:solidFill>
                    <a:latin typeface="Calibri"/>
                  </a:rPr>
                  <a:t>. Không chia quá nhiều hoặc quá ít nhóm; các nhóm không giao nhau, nên có độ dài như nhau và tổng độ dài lớn hơn khoảng biến thiên.</a:t>
                </a:r>
              </a:p>
            </p:txBody>
          </p:sp>
        </mc:Choice>
        <mc:Fallback>
          <p:sp>
            <p:nvSpPr>
              <p:cNvPr id="11" name="TextBox 10"/>
              <p:cNvSpPr txBox="1"/>
              <p:nvPr/>
            </p:nvSpPr>
            <p:spPr>
              <a:xfrm>
                <a:off x="713232" y="3285744"/>
                <a:ext cx="10735056" cy="1816608"/>
              </a:xfrm>
              <a:prstGeom prst="rect">
                <a:avLst/>
              </a:prstGeom>
              <a:noFill/>
            </p:spPr>
            <p:txBody>
              <a:bodyPr wrap="square" anchor="ctr" lIns="45720" rIns="45720">
                <a:spAutoFit/>
              </a:bodyPr>
              <a:lstStyle/>
              <a:p>
                <a:pPr algn="l">
                  <a:spcAft>
                    <a:spcPts val="800"/>
                  </a:spcAft>
                </a:pPr>
                <a:r>
                  <a:rPr sz="2000">
                    <a:solidFill>
                      <a:srgbClr val="1E293B"/>
                    </a:solidFill>
                    <a:latin typeface="Calibri"/>
                  </a:rPr>
                  <a:t>Chuyển mẫu số liệu không ghép nhóm sang ghép nhóm: </a:t>
                </a:r>
                <a:r>
                  <a:rPr sz="2000" b="1">
                    <a:solidFill>
                      <a:srgbClr val="1E293B"/>
                    </a:solidFill>
                    <a:latin typeface="Calibri"/>
                  </a:rPr>
                  <a:t>Bước 1.</a:t>
                </a:r>
                <a:r>
                  <a:rPr sz="2000">
                    <a:solidFill>
                      <a:srgbClr val="1E293B"/>
                    </a:solidFill>
                    <a:latin typeface="Calibri"/>
                  </a:rPr>
                  <a:t> Chia miền giá trị thành một số nhóm theo tiêu chí cho trước. </a:t>
                </a:r>
                <a:r>
                  <a:rPr sz="2000" b="1">
                    <a:solidFill>
                      <a:srgbClr val="1E293B"/>
                    </a:solidFill>
                    <a:latin typeface="Calibri"/>
                  </a:rPr>
                  <a:t>Bước 2.</a:t>
                </a:r>
                <a:r>
                  <a:rPr sz="2000">
                    <a:solidFill>
                      <a:srgbClr val="1E293B"/>
                    </a:solidFill>
                    <a:latin typeface="Calibri"/>
                  </a:rPr>
                  <a:t> Đếm số giá trị thuộc mỗi nhóm (tần số) và lập bảng thống kê.</a:t>
                </a:r>
              </a:p>
              <a:p>
                <a:pPr algn="l">
                  <a:spcAft>
                    <a:spcPts val="800"/>
                  </a:spcAft>
                </a:pPr>
                <a:r>
                  <a:rPr sz="2000">
                    <a:solidFill>
                      <a:srgbClr val="1E293B"/>
                    </a:solidFill>
                    <a:latin typeface="Calibri"/>
                  </a:rPr>
                  <a:t>Độ dài nhóm </a:t>
                </a:r>
                <a:r>
                  <a:rPr lang="vi-VN"/>
                  <a:t>[a;\ b)</a:t>
                </a:r>
                <a:r>
                  <a:rPr sz="2000">
                    <a:solidFill>
                      <a:srgbClr val="1E293B"/>
                    </a:solidFill>
                    <a:latin typeface="Calibri"/>
                  </a:rPr>
                  <a:t> là </a:t>
                </a:r>
                <a:r>
                  <a:rPr lang="vi-VN"/>
                  <a:t>b-a</a:t>
                </a:r>
                <a:r>
                  <a:rPr sz="2000">
                    <a:solidFill>
                      <a:srgbClr val="1E293B"/>
                    </a:solidFill>
                    <a:latin typeface="Calibri"/>
                  </a:rPr>
                  <a:t>. Không chia quá nhiều hoặc quá ít nhóm; các nhóm không giao nhau, nên có độ dài như nhau và tổng độ dài lớn hơn khoảng biến thiên.</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037015" y="457200"/>
            <a:ext cx="2606040"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HÌNH THÀNH KIẾN THỨC</a:t>
            </a:r>
          </a:p>
        </p:txBody>
      </p:sp>
      <p:sp>
        <p:nvSpPr>
          <p:cNvPr id="4" name="TextBox 3"/>
          <p:cNvSpPr txBox="1"/>
          <p:nvPr/>
        </p:nvSpPr>
        <p:spPr>
          <a:xfrm>
            <a:off x="731520" y="274320"/>
            <a:ext cx="8366760" cy="868680"/>
          </a:xfrm>
          <a:prstGeom prst="rect">
            <a:avLst/>
          </a:prstGeom>
          <a:noFill/>
        </p:spPr>
        <p:txBody>
          <a:bodyPr wrap="square" anchor="ctr">
            <a:spAutoFit/>
          </a:bodyPr>
          <a:lstStyle/>
          <a:p>
            <a:r>
              <a:rPr sz="3000" b="1">
                <a:solidFill>
                  <a:srgbClr val="1E40AF"/>
                </a:solidFill>
                <a:latin typeface="Cambria"/>
              </a:rPr>
              <a:t>VÍ DỤ 2 – LUYỆN TẬP 2 (SGK TR.60)</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8. Mẫu số liệu ghép nhóm – Toán 11          7</a:t>
            </a:r>
          </a:p>
        </p:txBody>
      </p:sp>
      <p:sp>
        <p:nvSpPr>
          <p:cNvPr id="7" name="TextBox 6"/>
          <p:cNvSpPr txBox="1"/>
          <p:nvPr/>
        </p:nvSpPr>
        <p:spPr>
          <a:xfrm>
            <a:off x="548640" y="1325880"/>
            <a:ext cx="11064240" cy="731520"/>
          </a:xfrm>
          <a:prstGeom prst="rect">
            <a:avLst/>
          </a:prstGeom>
          <a:noFill/>
        </p:spPr>
        <p:txBody>
          <a:bodyPr wrap="square" anchor="t" lIns="45720" rIns="45720">
            <a:spAutoFit/>
          </a:bodyPr>
          <a:lstStyle/>
          <a:p>
            <a:pPr algn="l">
              <a:spcAft>
                <a:spcPts val="800"/>
              </a:spcAft>
            </a:pPr>
            <a:r>
              <a:rPr sz="1900" b="1">
                <a:solidFill>
                  <a:srgbClr val="1E293B"/>
                </a:solidFill>
                <a:latin typeface="Calibri"/>
              </a:rPr>
              <a:t>Ví dụ 2.</a:t>
            </a:r>
            <a:r>
              <a:rPr sz="1900">
                <a:solidFill>
                  <a:srgbClr val="1E293B"/>
                </a:solidFill>
                <a:latin typeface="Calibri"/>
              </a:rPr>
              <a:t> Thời gian chạy (phút) của 30 VĐV Marathon: nhỏ nhất 129, lớn nhất 145 (khoảng biến thiên 16). Chuyển sang 6 nhóm độ dài 3.</a:t>
            </a:r>
          </a:p>
        </p:txBody>
      </p:sp>
      <p:sp>
        <p:nvSpPr>
          <p:cNvPr id="8" name="Rounded Rectangle 7"/>
          <p:cNvSpPr/>
          <p:nvPr/>
        </p:nvSpPr>
        <p:spPr>
          <a:xfrm>
            <a:off x="548640" y="2057400"/>
            <a:ext cx="1534885" cy="411480"/>
          </a:xfrm>
          <a:prstGeom prst="roundRect">
            <a:avLst>
              <a:gd name="adj" fmla="val 6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13232" y="2093976"/>
            <a:ext cx="1205701" cy="338328"/>
          </a:xfrm>
          <a:prstGeom prst="rect">
            <a:avLst/>
          </a:prstGeom>
          <a:noFill/>
        </p:spPr>
        <p:txBody>
          <a:bodyPr wrap="square" anchor="ctr" lIns="45720" rIns="45720">
            <a:spAutoFit/>
          </a:bodyPr>
          <a:lstStyle/>
          <a:p>
            <a:pPr algn="ctr">
              <a:spcAft>
                <a:spcPts val="800"/>
              </a:spcAft>
            </a:pPr>
            <a:r>
              <a:rPr sz="1400">
                <a:solidFill>
                  <a:srgbClr val="1E293B"/>
                </a:solidFill>
                <a:latin typeface="Calibri"/>
              </a:rPr>
              <a:t>Thời gian</a:t>
            </a:r>
          </a:p>
        </p:txBody>
      </p:sp>
      <p:sp>
        <p:nvSpPr>
          <p:cNvPr id="10" name="Rounded Rectangle 9"/>
          <p:cNvSpPr/>
          <p:nvPr/>
        </p:nvSpPr>
        <p:spPr>
          <a:xfrm>
            <a:off x="2129245" y="2057400"/>
            <a:ext cx="1534885" cy="411480"/>
          </a:xfrm>
          <a:prstGeom prst="roundRect">
            <a:avLst>
              <a:gd name="adj" fmla="val 6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293837" y="2093976"/>
            <a:ext cx="1205701" cy="338328"/>
          </a:xfrm>
          <a:prstGeom prst="rect">
            <a:avLst/>
          </a:prstGeom>
          <a:noFill/>
        </p:spPr>
        <p:txBody>
          <a:bodyPr wrap="square" anchor="ctr" lIns="45720" rIns="45720">
            <a:spAutoFit/>
          </a:bodyPr>
          <a:lstStyle/>
          <a:p>
            <a:pPr algn="ctr">
              <a:spcAft>
                <a:spcPts val="800"/>
              </a:spcAft>
            </a:pPr>
            <a:r>
              <a:rPr sz="1400">
                <a:solidFill>
                  <a:srgbClr val="1E293B"/>
                </a:solidFill>
                <a:latin typeface="Calibri"/>
              </a:rPr>
              <a:t>[127,5; 130,5)</a:t>
            </a:r>
          </a:p>
        </p:txBody>
      </p:sp>
      <p:sp>
        <p:nvSpPr>
          <p:cNvPr id="12" name="Rounded Rectangle 11"/>
          <p:cNvSpPr/>
          <p:nvPr/>
        </p:nvSpPr>
        <p:spPr>
          <a:xfrm>
            <a:off x="3709851" y="2057400"/>
            <a:ext cx="1534885" cy="411480"/>
          </a:xfrm>
          <a:prstGeom prst="roundRect">
            <a:avLst>
              <a:gd name="adj" fmla="val 6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874443" y="2093976"/>
            <a:ext cx="1205701" cy="338328"/>
          </a:xfrm>
          <a:prstGeom prst="rect">
            <a:avLst/>
          </a:prstGeom>
          <a:noFill/>
        </p:spPr>
        <p:txBody>
          <a:bodyPr wrap="square" anchor="ctr" lIns="45720" rIns="45720">
            <a:spAutoFit/>
          </a:bodyPr>
          <a:lstStyle/>
          <a:p>
            <a:pPr algn="ctr">
              <a:spcAft>
                <a:spcPts val="800"/>
              </a:spcAft>
            </a:pPr>
            <a:r>
              <a:rPr sz="1400">
                <a:solidFill>
                  <a:srgbClr val="1E293B"/>
                </a:solidFill>
                <a:latin typeface="Calibri"/>
              </a:rPr>
              <a:t>[130,5; 133,5)</a:t>
            </a:r>
          </a:p>
        </p:txBody>
      </p:sp>
      <p:sp>
        <p:nvSpPr>
          <p:cNvPr id="14" name="Rounded Rectangle 13"/>
          <p:cNvSpPr/>
          <p:nvPr/>
        </p:nvSpPr>
        <p:spPr>
          <a:xfrm>
            <a:off x="5290457" y="2057400"/>
            <a:ext cx="1534885" cy="411480"/>
          </a:xfrm>
          <a:prstGeom prst="roundRect">
            <a:avLst>
              <a:gd name="adj" fmla="val 6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455049" y="2093976"/>
            <a:ext cx="1205701" cy="338328"/>
          </a:xfrm>
          <a:prstGeom prst="rect">
            <a:avLst/>
          </a:prstGeom>
          <a:noFill/>
        </p:spPr>
        <p:txBody>
          <a:bodyPr wrap="square" anchor="ctr" lIns="45720" rIns="45720">
            <a:spAutoFit/>
          </a:bodyPr>
          <a:lstStyle/>
          <a:p>
            <a:pPr algn="ctr">
              <a:spcAft>
                <a:spcPts val="800"/>
              </a:spcAft>
            </a:pPr>
            <a:r>
              <a:rPr sz="1400">
                <a:solidFill>
                  <a:srgbClr val="1E293B"/>
                </a:solidFill>
                <a:latin typeface="Calibri"/>
              </a:rPr>
              <a:t>[133,5; 136,5)</a:t>
            </a:r>
          </a:p>
        </p:txBody>
      </p:sp>
      <p:sp>
        <p:nvSpPr>
          <p:cNvPr id="16" name="Rounded Rectangle 15"/>
          <p:cNvSpPr/>
          <p:nvPr/>
        </p:nvSpPr>
        <p:spPr>
          <a:xfrm>
            <a:off x="6871062" y="2057400"/>
            <a:ext cx="1534885" cy="411480"/>
          </a:xfrm>
          <a:prstGeom prst="roundRect">
            <a:avLst>
              <a:gd name="adj" fmla="val 6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035654" y="2093976"/>
            <a:ext cx="1205701" cy="338328"/>
          </a:xfrm>
          <a:prstGeom prst="rect">
            <a:avLst/>
          </a:prstGeom>
          <a:noFill/>
        </p:spPr>
        <p:txBody>
          <a:bodyPr wrap="square" anchor="ctr" lIns="45720" rIns="45720">
            <a:spAutoFit/>
          </a:bodyPr>
          <a:lstStyle/>
          <a:p>
            <a:pPr algn="ctr">
              <a:spcAft>
                <a:spcPts val="800"/>
              </a:spcAft>
            </a:pPr>
            <a:r>
              <a:rPr sz="1400">
                <a:solidFill>
                  <a:srgbClr val="1E293B"/>
                </a:solidFill>
                <a:latin typeface="Calibri"/>
              </a:rPr>
              <a:t>[136,5; 139,5)</a:t>
            </a:r>
          </a:p>
        </p:txBody>
      </p:sp>
      <p:sp>
        <p:nvSpPr>
          <p:cNvPr id="18" name="Rounded Rectangle 17"/>
          <p:cNvSpPr/>
          <p:nvPr/>
        </p:nvSpPr>
        <p:spPr>
          <a:xfrm>
            <a:off x="8451668" y="2057400"/>
            <a:ext cx="1534885" cy="411480"/>
          </a:xfrm>
          <a:prstGeom prst="roundRect">
            <a:avLst>
              <a:gd name="adj" fmla="val 6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616260" y="2093976"/>
            <a:ext cx="1205701" cy="338328"/>
          </a:xfrm>
          <a:prstGeom prst="rect">
            <a:avLst/>
          </a:prstGeom>
          <a:noFill/>
        </p:spPr>
        <p:txBody>
          <a:bodyPr wrap="square" anchor="ctr" lIns="45720" rIns="45720">
            <a:spAutoFit/>
          </a:bodyPr>
          <a:lstStyle/>
          <a:p>
            <a:pPr algn="ctr">
              <a:spcAft>
                <a:spcPts val="800"/>
              </a:spcAft>
            </a:pPr>
            <a:r>
              <a:rPr sz="1400">
                <a:solidFill>
                  <a:srgbClr val="1E293B"/>
                </a:solidFill>
                <a:latin typeface="Calibri"/>
              </a:rPr>
              <a:t>[139,5; 142,5)</a:t>
            </a:r>
          </a:p>
        </p:txBody>
      </p:sp>
      <p:sp>
        <p:nvSpPr>
          <p:cNvPr id="20" name="Rounded Rectangle 19"/>
          <p:cNvSpPr/>
          <p:nvPr/>
        </p:nvSpPr>
        <p:spPr>
          <a:xfrm>
            <a:off x="10032274" y="2057400"/>
            <a:ext cx="1534885" cy="411480"/>
          </a:xfrm>
          <a:prstGeom prst="roundRect">
            <a:avLst>
              <a:gd name="adj" fmla="val 6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196866" y="2093976"/>
            <a:ext cx="1205701" cy="338328"/>
          </a:xfrm>
          <a:prstGeom prst="rect">
            <a:avLst/>
          </a:prstGeom>
          <a:noFill/>
        </p:spPr>
        <p:txBody>
          <a:bodyPr wrap="square" anchor="ctr" lIns="45720" rIns="45720">
            <a:spAutoFit/>
          </a:bodyPr>
          <a:lstStyle/>
          <a:p>
            <a:pPr algn="ctr">
              <a:spcAft>
                <a:spcPts val="800"/>
              </a:spcAft>
            </a:pPr>
            <a:r>
              <a:rPr sz="1400">
                <a:solidFill>
                  <a:srgbClr val="1E293B"/>
                </a:solidFill>
                <a:latin typeface="Calibri"/>
              </a:rPr>
              <a:t>[142,5; 145,5)</a:t>
            </a:r>
          </a:p>
        </p:txBody>
      </p:sp>
      <p:sp>
        <p:nvSpPr>
          <p:cNvPr id="22" name="Rounded Rectangle 21"/>
          <p:cNvSpPr/>
          <p:nvPr/>
        </p:nvSpPr>
        <p:spPr>
          <a:xfrm>
            <a:off x="548640" y="2514600"/>
            <a:ext cx="1534885" cy="411480"/>
          </a:xfrm>
          <a:prstGeom prst="roundRect">
            <a:avLst>
              <a:gd name="adj" fmla="val 6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13232" y="2551176"/>
            <a:ext cx="1205701" cy="338328"/>
          </a:xfrm>
          <a:prstGeom prst="rect">
            <a:avLst/>
          </a:prstGeom>
          <a:noFill/>
        </p:spPr>
        <p:txBody>
          <a:bodyPr wrap="square" anchor="ctr" lIns="45720" rIns="45720">
            <a:spAutoFit/>
          </a:bodyPr>
          <a:lstStyle/>
          <a:p>
            <a:pPr algn="ctr">
              <a:spcAft>
                <a:spcPts val="800"/>
              </a:spcAft>
            </a:pPr>
            <a:r>
              <a:rPr sz="1400">
                <a:solidFill>
                  <a:srgbClr val="1E293B"/>
                </a:solidFill>
                <a:latin typeface="Calibri"/>
              </a:rPr>
              <a:t>Số VĐV</a:t>
            </a:r>
          </a:p>
        </p:txBody>
      </p:sp>
      <p:sp>
        <p:nvSpPr>
          <p:cNvPr id="24" name="Rounded Rectangle 23"/>
          <p:cNvSpPr/>
          <p:nvPr/>
        </p:nvSpPr>
        <p:spPr>
          <a:xfrm>
            <a:off x="2129245" y="2514600"/>
            <a:ext cx="1534885" cy="411480"/>
          </a:xfrm>
          <a:prstGeom prst="roundRect">
            <a:avLst>
              <a:gd name="adj" fmla="val 6000"/>
            </a:avLst>
          </a:prstGeom>
          <a:solidFill>
            <a:srgbClr val="EFF4FF"/>
          </a:solidFill>
          <a:ln w="19050">
            <a:solidFill>
              <a:srgbClr val="1E40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2293837" y="2551176"/>
            <a:ext cx="1205701" cy="338328"/>
          </a:xfrm>
          <a:prstGeom prst="rect">
            <a:avLst/>
          </a:prstGeom>
          <a:noFill/>
        </p:spPr>
        <p:txBody>
          <a:bodyPr wrap="square" anchor="ctr" lIns="45720" rIns="45720">
            <a:spAutoFit/>
          </a:bodyPr>
          <a:lstStyle/>
          <a:p>
            <a:pPr algn="ctr">
              <a:spcAft>
                <a:spcPts val="800"/>
              </a:spcAft>
            </a:pPr>
            <a:r>
              <a:rPr sz="1400">
                <a:solidFill>
                  <a:srgbClr val="1E293B"/>
                </a:solidFill>
                <a:latin typeface="Calibri"/>
              </a:rPr>
              <a:t>3</a:t>
            </a:r>
          </a:p>
        </p:txBody>
      </p:sp>
      <p:sp>
        <p:nvSpPr>
          <p:cNvPr id="26" name="Rounded Rectangle 25"/>
          <p:cNvSpPr/>
          <p:nvPr/>
        </p:nvSpPr>
        <p:spPr>
          <a:xfrm>
            <a:off x="3709851" y="2514600"/>
            <a:ext cx="1534885" cy="411480"/>
          </a:xfrm>
          <a:prstGeom prst="roundRect">
            <a:avLst>
              <a:gd name="adj" fmla="val 6000"/>
            </a:avLst>
          </a:prstGeom>
          <a:solidFill>
            <a:srgbClr val="EFF4FF"/>
          </a:solidFill>
          <a:ln w="19050">
            <a:solidFill>
              <a:srgbClr val="1E40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874443" y="2551176"/>
            <a:ext cx="1205701" cy="338328"/>
          </a:xfrm>
          <a:prstGeom prst="rect">
            <a:avLst/>
          </a:prstGeom>
          <a:noFill/>
        </p:spPr>
        <p:txBody>
          <a:bodyPr wrap="square" anchor="ctr" lIns="45720" rIns="45720">
            <a:spAutoFit/>
          </a:bodyPr>
          <a:lstStyle/>
          <a:p>
            <a:pPr algn="ctr">
              <a:spcAft>
                <a:spcPts val="800"/>
              </a:spcAft>
            </a:pPr>
            <a:r>
              <a:rPr sz="1400">
                <a:solidFill>
                  <a:srgbClr val="1E293B"/>
                </a:solidFill>
                <a:latin typeface="Calibri"/>
              </a:rPr>
              <a:t>1</a:t>
            </a:r>
          </a:p>
        </p:txBody>
      </p:sp>
      <p:sp>
        <p:nvSpPr>
          <p:cNvPr id="28" name="Rounded Rectangle 27"/>
          <p:cNvSpPr/>
          <p:nvPr/>
        </p:nvSpPr>
        <p:spPr>
          <a:xfrm>
            <a:off x="5290457" y="2514600"/>
            <a:ext cx="1534885" cy="411480"/>
          </a:xfrm>
          <a:prstGeom prst="roundRect">
            <a:avLst>
              <a:gd name="adj" fmla="val 6000"/>
            </a:avLst>
          </a:prstGeom>
          <a:solidFill>
            <a:srgbClr val="EFF4FF"/>
          </a:solidFill>
          <a:ln w="19050">
            <a:solidFill>
              <a:srgbClr val="1E40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455049" y="2551176"/>
            <a:ext cx="1205701" cy="338328"/>
          </a:xfrm>
          <a:prstGeom prst="rect">
            <a:avLst/>
          </a:prstGeom>
          <a:noFill/>
        </p:spPr>
        <p:txBody>
          <a:bodyPr wrap="square" anchor="ctr" lIns="45720" rIns="45720">
            <a:spAutoFit/>
          </a:bodyPr>
          <a:lstStyle/>
          <a:p>
            <a:pPr algn="ctr">
              <a:spcAft>
                <a:spcPts val="800"/>
              </a:spcAft>
            </a:pPr>
            <a:r>
              <a:rPr sz="1400">
                <a:solidFill>
                  <a:srgbClr val="1E293B"/>
                </a:solidFill>
                <a:latin typeface="Calibri"/>
              </a:rPr>
              <a:t>4</a:t>
            </a:r>
          </a:p>
        </p:txBody>
      </p:sp>
      <p:sp>
        <p:nvSpPr>
          <p:cNvPr id="30" name="Rounded Rectangle 29"/>
          <p:cNvSpPr/>
          <p:nvPr/>
        </p:nvSpPr>
        <p:spPr>
          <a:xfrm>
            <a:off x="6871062" y="2514600"/>
            <a:ext cx="1534885" cy="411480"/>
          </a:xfrm>
          <a:prstGeom prst="roundRect">
            <a:avLst>
              <a:gd name="adj" fmla="val 6000"/>
            </a:avLst>
          </a:prstGeom>
          <a:solidFill>
            <a:srgbClr val="EFF4FF"/>
          </a:solidFill>
          <a:ln w="19050">
            <a:solidFill>
              <a:srgbClr val="1E40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035654" y="2551176"/>
            <a:ext cx="1205701" cy="338328"/>
          </a:xfrm>
          <a:prstGeom prst="rect">
            <a:avLst/>
          </a:prstGeom>
          <a:noFill/>
        </p:spPr>
        <p:txBody>
          <a:bodyPr wrap="square" anchor="ctr" lIns="45720" rIns="45720">
            <a:spAutoFit/>
          </a:bodyPr>
          <a:lstStyle/>
          <a:p>
            <a:pPr algn="ctr">
              <a:spcAft>
                <a:spcPts val="800"/>
              </a:spcAft>
            </a:pPr>
            <a:r>
              <a:rPr sz="1400">
                <a:solidFill>
                  <a:srgbClr val="1E293B"/>
                </a:solidFill>
                <a:latin typeface="Calibri"/>
              </a:rPr>
              <a:t>3</a:t>
            </a:r>
          </a:p>
        </p:txBody>
      </p:sp>
      <p:sp>
        <p:nvSpPr>
          <p:cNvPr id="32" name="Rounded Rectangle 31"/>
          <p:cNvSpPr/>
          <p:nvPr/>
        </p:nvSpPr>
        <p:spPr>
          <a:xfrm>
            <a:off x="8451668" y="2514600"/>
            <a:ext cx="1534885" cy="411480"/>
          </a:xfrm>
          <a:prstGeom prst="roundRect">
            <a:avLst>
              <a:gd name="adj" fmla="val 6000"/>
            </a:avLst>
          </a:prstGeom>
          <a:solidFill>
            <a:srgbClr val="EFF4FF"/>
          </a:solidFill>
          <a:ln w="19050">
            <a:solidFill>
              <a:srgbClr val="1E40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616260" y="2551176"/>
            <a:ext cx="1205701" cy="338328"/>
          </a:xfrm>
          <a:prstGeom prst="rect">
            <a:avLst/>
          </a:prstGeom>
          <a:noFill/>
        </p:spPr>
        <p:txBody>
          <a:bodyPr wrap="square" anchor="ctr" lIns="45720" rIns="45720">
            <a:spAutoFit/>
          </a:bodyPr>
          <a:lstStyle/>
          <a:p>
            <a:pPr algn="ctr">
              <a:spcAft>
                <a:spcPts val="800"/>
              </a:spcAft>
            </a:pPr>
            <a:r>
              <a:rPr sz="1400">
                <a:solidFill>
                  <a:srgbClr val="1E293B"/>
                </a:solidFill>
                <a:latin typeface="Calibri"/>
              </a:rPr>
              <a:t>7</a:t>
            </a:r>
          </a:p>
        </p:txBody>
      </p:sp>
      <p:sp>
        <p:nvSpPr>
          <p:cNvPr id="34" name="Rounded Rectangle 33"/>
          <p:cNvSpPr/>
          <p:nvPr/>
        </p:nvSpPr>
        <p:spPr>
          <a:xfrm>
            <a:off x="10032274" y="2514600"/>
            <a:ext cx="1534885" cy="411480"/>
          </a:xfrm>
          <a:prstGeom prst="roundRect">
            <a:avLst>
              <a:gd name="adj" fmla="val 6000"/>
            </a:avLst>
          </a:prstGeom>
          <a:solidFill>
            <a:srgbClr val="EFF4FF"/>
          </a:solidFill>
          <a:ln w="19050">
            <a:solidFill>
              <a:srgbClr val="1E40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0196866" y="2551176"/>
            <a:ext cx="1205701" cy="338328"/>
          </a:xfrm>
          <a:prstGeom prst="rect">
            <a:avLst/>
          </a:prstGeom>
          <a:noFill/>
        </p:spPr>
        <p:txBody>
          <a:bodyPr wrap="square" anchor="ctr" lIns="45720" rIns="45720">
            <a:spAutoFit/>
          </a:bodyPr>
          <a:lstStyle/>
          <a:p>
            <a:pPr algn="ctr">
              <a:spcAft>
                <a:spcPts val="800"/>
              </a:spcAft>
            </a:pPr>
            <a:r>
              <a:rPr sz="1400">
                <a:solidFill>
                  <a:srgbClr val="1E293B"/>
                </a:solidFill>
                <a:latin typeface="Calibri"/>
              </a:rPr>
              <a:t>12</a:t>
            </a:r>
          </a:p>
        </p:txBody>
      </p:sp>
      <p:sp>
        <p:nvSpPr>
          <p:cNvPr id="36" name="s1_nen"/>
          <p:cNvSpPr/>
          <p:nvPr/>
        </p:nvSpPr>
        <p:spPr>
          <a:xfrm>
            <a:off x="548640" y="3017520"/>
            <a:ext cx="11064240" cy="554735"/>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s1_chu"/>
          <p:cNvSpPr txBox="1"/>
          <p:nvPr/>
        </p:nvSpPr>
        <p:spPr>
          <a:xfrm>
            <a:off x="713232" y="3054096"/>
            <a:ext cx="10735056" cy="481583"/>
          </a:xfrm>
          <a:prstGeom prst="rect">
            <a:avLst/>
          </a:prstGeom>
          <a:noFill/>
        </p:spPr>
        <p:txBody>
          <a:bodyPr wrap="square" anchor="ctr" lIns="45720" rIns="45720">
            <a:spAutoFit/>
          </a:bodyPr>
          <a:lstStyle/>
          <a:p>
            <a:pPr algn="l">
              <a:spcAft>
                <a:spcPts val="800"/>
              </a:spcAft>
            </a:pPr>
            <a:r>
              <a:rPr sz="1900">
                <a:solidFill>
                  <a:srgbClr val="1E293B"/>
                </a:solidFill>
                <a:latin typeface="Calibri"/>
              </a:rPr>
              <a:t>Chọn đầu mút trái nhóm đầu 127,5, đầu mút phải nhóm cuối 145,5 (tổng độ dài 18 &gt; 16).</a:t>
            </a:r>
          </a:p>
        </p:txBody>
      </p:sp>
      <mc:AlternateContent xmlns:mc="http://schemas.openxmlformats.org/markup-compatibility/2006">
        <mc:Choice xmlns:a14="http://schemas.microsoft.com/office/drawing/2010/main" Requires="a14">
          <p:sp>
            <p:nvSpPr>
              <p:cNvPr id="38" name="s2_chu"/>
              <p:cNvSpPr txBox="1"/>
              <p:nvPr/>
            </p:nvSpPr>
            <p:spPr>
              <a:xfrm>
                <a:off x="548640" y="3627119"/>
                <a:ext cx="11064240" cy="752855"/>
              </a:xfrm>
              <a:prstGeom prst="rect">
                <a:avLst/>
              </a:prstGeom>
              <a:noFill/>
            </p:spPr>
            <p:txBody>
              <a:bodyPr wrap="square" anchor="t" lIns="45720" rIns="45720">
                <a:spAutoFit/>
              </a:bodyPr>
              <a:lstStyle/>
              <a:p>
                <a:pPr algn="l">
                  <a:spcAft>
                    <a:spcPts val="800"/>
                  </a:spcAft>
                </a:pPr>
                <a:r>
                  <a:rPr sz="1900" b="1">
                    <a:solidFill>
                      <a:srgbClr val="1E293B"/>
                    </a:solidFill>
                    <a:latin typeface="Calibri"/>
                  </a:rPr>
                  <a:t>Luyện tập 2.</a:t>
                </a:r>
                <a:r>
                  <a:rPr sz="1900">
                    <a:solidFill>
                      <a:srgbClr val="1E293B"/>
                    </a:solidFill>
                    <a:latin typeface="Calibri"/>
                  </a:rPr>
                  <a:t> Cân nặng (kg) của 35 người (bảng SGK), nhỏ nhất 40, lớn nhất 63. Ghép nhóm cùng độ dài, có nhóm </a:t>
                </a:r>
                <a14:m>
                  <m:oMath xmlns:m="http://schemas.openxmlformats.org/officeDocument/2006/math">
                    <m:r>
                      <a:rPr lang="vi-VN" sz="1900" b="0">
                        <a:solidFill>
                          <a:srgbClr val="1E293B"/>
                        </a:solidFill>
                        <a:latin typeface="Cambria Math" panose="02040503050406030204" pitchFamily="18" charset="0"/>
                      </a:rPr>
                      <m:t>[40;</m:t>
                    </m:r>
                    <m:r>
                      <m:rPr>
                        <m:sty m:val="p"/>
                      </m:rPr>
                      <a:rPr lang="vi-VN" sz="1900" b="0">
                        <a:solidFill>
                          <a:srgbClr val="1E293B"/>
                        </a:solidFill>
                        <a:latin typeface="Cambria Math" panose="02040503050406030204" pitchFamily="18" charset="0"/>
                      </a:rPr>
                      <m:t> </m:t>
                    </m:r>
                    <m:r>
                      <a:rPr lang="vi-VN" sz="1900" b="0">
                        <a:solidFill>
                          <a:srgbClr val="1E293B"/>
                        </a:solidFill>
                        <a:latin typeface="Cambria Math" panose="02040503050406030204" pitchFamily="18" charset="0"/>
                      </a:rPr>
                      <m:t>45)</m:t>
                    </m:r>
                  </m:oMath>
                </a14:m>
                <a:r>
                  <a:rPr sz="1900">
                    <a:solidFill>
                      <a:srgbClr val="1E293B"/>
                    </a:solidFill>
                    <a:latin typeface="Calibri"/>
                  </a:rPr>
                  <a:t>.</a:t>
                </a:r>
              </a:p>
            </p:txBody>
          </p:sp>
        </mc:Choice>
        <mc:Fallback>
          <p:sp>
            <p:nvSpPr>
              <p:cNvPr id="38" name="TextBox 37"/>
              <p:cNvSpPr txBox="1"/>
              <p:nvPr/>
            </p:nvSpPr>
            <p:spPr>
              <a:xfrm>
                <a:off x="548640" y="3627119"/>
                <a:ext cx="11064240" cy="752855"/>
              </a:xfrm>
              <a:prstGeom prst="rect">
                <a:avLst/>
              </a:prstGeom>
              <a:noFill/>
            </p:spPr>
            <p:txBody>
              <a:bodyPr wrap="square" anchor="t" lIns="45720" rIns="45720">
                <a:spAutoFit/>
              </a:bodyPr>
              <a:lstStyle/>
              <a:p>
                <a:pPr algn="l">
                  <a:spcAft>
                    <a:spcPts val="800"/>
                  </a:spcAft>
                </a:pPr>
                <a:r>
                  <a:rPr sz="1900" b="1">
                    <a:solidFill>
                      <a:srgbClr val="1E293B"/>
                    </a:solidFill>
                    <a:latin typeface="Calibri"/>
                  </a:rPr>
                  <a:t>Luyện tập 2.</a:t>
                </a:r>
                <a:r>
                  <a:rPr sz="1900">
                    <a:solidFill>
                      <a:srgbClr val="1E293B"/>
                    </a:solidFill>
                    <a:latin typeface="Calibri"/>
                  </a:rPr>
                  <a:t> Cân nặng (kg) của 35 người (bảng SGK), nhỏ nhất 40, lớn nhất 63. Ghép nhóm cùng độ dài, có nhóm </a:t>
                </a:r>
                <a:r>
                  <a:rPr lang="vi-VN"/>
                  <a:t>[40;\ 45)</a:t>
                </a:r>
                <a:r>
                  <a:rPr sz="1900">
                    <a:solidFill>
                      <a:srgbClr val="1E293B"/>
                    </a:solidFill>
                    <a:latin typeface="Calibri"/>
                  </a:rPr>
                  <a:t>.</a:t>
                </a:r>
              </a:p>
            </p:txBody>
          </p:sp>
        </mc:Fallback>
      </mc:AlternateContent>
      <p:sp>
        <p:nvSpPr>
          <p:cNvPr id="39" name="s3_nen"/>
          <p:cNvSpPr/>
          <p:nvPr/>
        </p:nvSpPr>
        <p:spPr>
          <a:xfrm>
            <a:off x="548640" y="4480559"/>
            <a:ext cx="2148840" cy="457200"/>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s3_chu"/>
          <p:cNvSpPr txBox="1"/>
          <p:nvPr/>
        </p:nvSpPr>
        <p:spPr>
          <a:xfrm>
            <a:off x="713232" y="4517136"/>
            <a:ext cx="1819656" cy="384048"/>
          </a:xfrm>
          <a:prstGeom prst="rect">
            <a:avLst/>
          </a:prstGeom>
          <a:noFill/>
        </p:spPr>
        <p:txBody>
          <a:bodyPr wrap="square" anchor="ctr" lIns="45720" rIns="45720">
            <a:spAutoFit/>
          </a:bodyPr>
          <a:lstStyle/>
          <a:p>
            <a:pPr algn="ctr">
              <a:spcAft>
                <a:spcPts val="800"/>
              </a:spcAft>
            </a:pPr>
            <a:r>
              <a:rPr sz="1800">
                <a:solidFill>
                  <a:srgbClr val="1E293B"/>
                </a:solidFill>
                <a:latin typeface="Calibri"/>
              </a:rPr>
              <a:t>[40; 45): </a:t>
            </a:r>
            <a:r>
              <a:rPr sz="1800" b="1">
                <a:solidFill>
                  <a:srgbClr val="1E293B"/>
                </a:solidFill>
                <a:latin typeface="Calibri"/>
              </a:rPr>
              <a:t>5</a:t>
            </a:r>
          </a:p>
        </p:txBody>
      </p:sp>
      <p:sp>
        <p:nvSpPr>
          <p:cNvPr id="41" name="s3_nen"/>
          <p:cNvSpPr/>
          <p:nvPr/>
        </p:nvSpPr>
        <p:spPr>
          <a:xfrm>
            <a:off x="2761488" y="4480559"/>
            <a:ext cx="2148840" cy="457200"/>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s3_chu"/>
          <p:cNvSpPr txBox="1"/>
          <p:nvPr/>
        </p:nvSpPr>
        <p:spPr>
          <a:xfrm>
            <a:off x="2926080" y="4517136"/>
            <a:ext cx="1819656" cy="384048"/>
          </a:xfrm>
          <a:prstGeom prst="rect">
            <a:avLst/>
          </a:prstGeom>
          <a:noFill/>
        </p:spPr>
        <p:txBody>
          <a:bodyPr wrap="square" anchor="ctr" lIns="45720" rIns="45720">
            <a:spAutoFit/>
          </a:bodyPr>
          <a:lstStyle/>
          <a:p>
            <a:pPr algn="ctr">
              <a:spcAft>
                <a:spcPts val="800"/>
              </a:spcAft>
            </a:pPr>
            <a:r>
              <a:rPr sz="1800">
                <a:solidFill>
                  <a:srgbClr val="1E293B"/>
                </a:solidFill>
                <a:latin typeface="Calibri"/>
              </a:rPr>
              <a:t>[45; 50): </a:t>
            </a:r>
            <a:r>
              <a:rPr sz="1800" b="1">
                <a:solidFill>
                  <a:srgbClr val="1E293B"/>
                </a:solidFill>
                <a:latin typeface="Calibri"/>
              </a:rPr>
              <a:t>7</a:t>
            </a:r>
          </a:p>
        </p:txBody>
      </p:sp>
      <p:sp>
        <p:nvSpPr>
          <p:cNvPr id="43" name="s3_nen"/>
          <p:cNvSpPr/>
          <p:nvPr/>
        </p:nvSpPr>
        <p:spPr>
          <a:xfrm>
            <a:off x="4974336" y="4480559"/>
            <a:ext cx="2148840" cy="457200"/>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s3_chu"/>
          <p:cNvSpPr txBox="1"/>
          <p:nvPr/>
        </p:nvSpPr>
        <p:spPr>
          <a:xfrm>
            <a:off x="5138927" y="4517136"/>
            <a:ext cx="1819656" cy="384048"/>
          </a:xfrm>
          <a:prstGeom prst="rect">
            <a:avLst/>
          </a:prstGeom>
          <a:noFill/>
        </p:spPr>
        <p:txBody>
          <a:bodyPr wrap="square" anchor="ctr" lIns="45720" rIns="45720">
            <a:spAutoFit/>
          </a:bodyPr>
          <a:lstStyle/>
          <a:p>
            <a:pPr algn="ctr">
              <a:spcAft>
                <a:spcPts val="800"/>
              </a:spcAft>
            </a:pPr>
            <a:r>
              <a:rPr sz="1800">
                <a:solidFill>
                  <a:srgbClr val="1E293B"/>
                </a:solidFill>
                <a:latin typeface="Calibri"/>
              </a:rPr>
              <a:t>[50; 55): </a:t>
            </a:r>
            <a:r>
              <a:rPr sz="1800" b="1">
                <a:solidFill>
                  <a:srgbClr val="1E293B"/>
                </a:solidFill>
                <a:latin typeface="Calibri"/>
              </a:rPr>
              <a:t>11</a:t>
            </a:r>
          </a:p>
        </p:txBody>
      </p:sp>
      <p:sp>
        <p:nvSpPr>
          <p:cNvPr id="45" name="s3_nen"/>
          <p:cNvSpPr/>
          <p:nvPr/>
        </p:nvSpPr>
        <p:spPr>
          <a:xfrm>
            <a:off x="7187183" y="4480559"/>
            <a:ext cx="2148840" cy="457200"/>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s3_chu"/>
          <p:cNvSpPr txBox="1"/>
          <p:nvPr/>
        </p:nvSpPr>
        <p:spPr>
          <a:xfrm>
            <a:off x="7351775" y="4517136"/>
            <a:ext cx="1819656" cy="384048"/>
          </a:xfrm>
          <a:prstGeom prst="rect">
            <a:avLst/>
          </a:prstGeom>
          <a:noFill/>
        </p:spPr>
        <p:txBody>
          <a:bodyPr wrap="square" anchor="ctr" lIns="45720" rIns="45720">
            <a:spAutoFit/>
          </a:bodyPr>
          <a:lstStyle/>
          <a:p>
            <a:pPr algn="ctr">
              <a:spcAft>
                <a:spcPts val="800"/>
              </a:spcAft>
            </a:pPr>
            <a:r>
              <a:rPr sz="1800">
                <a:solidFill>
                  <a:srgbClr val="1E293B"/>
                </a:solidFill>
                <a:latin typeface="Calibri"/>
              </a:rPr>
              <a:t>[55; 60): </a:t>
            </a:r>
            <a:r>
              <a:rPr sz="1800" b="1">
                <a:solidFill>
                  <a:srgbClr val="1E293B"/>
                </a:solidFill>
                <a:latin typeface="Calibri"/>
              </a:rPr>
              <a:t>7</a:t>
            </a:r>
          </a:p>
        </p:txBody>
      </p:sp>
      <p:sp>
        <p:nvSpPr>
          <p:cNvPr id="47" name="s3_nen"/>
          <p:cNvSpPr/>
          <p:nvPr/>
        </p:nvSpPr>
        <p:spPr>
          <a:xfrm>
            <a:off x="9400032" y="4480559"/>
            <a:ext cx="2148840" cy="457200"/>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s3_chu"/>
          <p:cNvSpPr txBox="1"/>
          <p:nvPr/>
        </p:nvSpPr>
        <p:spPr>
          <a:xfrm>
            <a:off x="9564624" y="4517136"/>
            <a:ext cx="1819656" cy="384048"/>
          </a:xfrm>
          <a:prstGeom prst="rect">
            <a:avLst/>
          </a:prstGeom>
          <a:noFill/>
        </p:spPr>
        <p:txBody>
          <a:bodyPr wrap="square" anchor="ctr" lIns="45720" rIns="45720">
            <a:spAutoFit/>
          </a:bodyPr>
          <a:lstStyle/>
          <a:p>
            <a:pPr algn="ctr">
              <a:spcAft>
                <a:spcPts val="800"/>
              </a:spcAft>
            </a:pPr>
            <a:r>
              <a:rPr sz="1800">
                <a:solidFill>
                  <a:srgbClr val="1E293B"/>
                </a:solidFill>
                <a:latin typeface="Calibri"/>
              </a:rPr>
              <a:t>[60; 65): </a:t>
            </a:r>
            <a:r>
              <a:rPr sz="1800" b="1">
                <a:solidFill>
                  <a:srgbClr val="1E293B"/>
                </a:solidFill>
                <a:latin typeface="Calibri"/>
              </a:rPr>
              <a:t>5</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7"/>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8"/>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9"/>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40"/>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41"/>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42"/>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43"/>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44"/>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45"/>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46"/>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47"/>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4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VẬN DỤNG</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000" b="1">
                <a:solidFill>
                  <a:srgbClr val="1E40AF"/>
                </a:solidFill>
                <a:latin typeface="Cambria"/>
              </a:rPr>
              <a:t>VẬN DỤNG – CỠ ÁO ĐỒNG PHỤC (SGK TR.61)</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8. Mẫu số liệu ghép nhóm – Toán 11          8</a:t>
            </a:r>
          </a:p>
        </p:txBody>
      </p:sp>
      <mc:AlternateContent xmlns:mc="http://schemas.openxmlformats.org/markup-compatibility/2006">
        <mc:Choice xmlns:a14="http://schemas.microsoft.com/office/drawing/2010/main" Requires="a14">
          <p:sp>
            <p:nvSpPr>
              <p:cNvPr id="7" name="TextBox 6"/>
              <p:cNvSpPr txBox="1"/>
              <p:nvPr/>
            </p:nvSpPr>
            <p:spPr>
              <a:xfrm>
                <a:off x="548640" y="1325880"/>
                <a:ext cx="11064240" cy="1371600"/>
              </a:xfrm>
              <a:prstGeom prst="rect">
                <a:avLst/>
              </a:prstGeom>
              <a:noFill/>
            </p:spPr>
            <p:txBody>
              <a:bodyPr wrap="square" anchor="t" lIns="45720" rIns="45720">
                <a:spAutoFit/>
              </a:bodyPr>
              <a:lstStyle/>
              <a:p>
                <a:pPr algn="l">
                  <a:spcAft>
                    <a:spcPts val="800"/>
                  </a:spcAft>
                </a:pPr>
                <a:r>
                  <a:rPr sz="2000">
                    <a:solidFill>
                      <a:srgbClr val="1E293B"/>
                    </a:solidFill>
                    <a:latin typeface="Calibri"/>
                  </a:rPr>
                  <a:t>Cỡ áo theo chiều cao: </a:t>
                </a:r>
                <a14:m>
                  <m:oMath xmlns:m="http://schemas.openxmlformats.org/officeDocument/2006/math">
                    <m:r>
                      <a:rPr lang="vi-VN" sz="2000" b="0">
                        <a:solidFill>
                          <a:srgbClr val="1E293B"/>
                        </a:solidFill>
                        <a:latin typeface="Cambria Math" panose="02040503050406030204" pitchFamily="18" charset="0"/>
                      </a:rPr>
                      <m:t>[150;</m:t>
                    </m:r>
                    <m:r>
                      <m:rPr>
                        <m:sty m:val="p"/>
                      </m:rPr>
                      <a:rPr lang="vi-VN" sz="2000" b="0">
                        <a:solidFill>
                          <a:srgbClr val="1E293B"/>
                        </a:solidFill>
                        <a:latin typeface="Cambria Math" panose="02040503050406030204" pitchFamily="18" charset="0"/>
                      </a:rPr>
                      <m:t> </m:t>
                    </m:r>
                    <m:r>
                      <a:rPr lang="vi-VN" sz="2000" b="0">
                        <a:solidFill>
                          <a:srgbClr val="1E293B"/>
                        </a:solidFill>
                        <a:latin typeface="Cambria Math" panose="02040503050406030204" pitchFamily="18" charset="0"/>
                      </a:rPr>
                      <m:t>160)</m:t>
                    </m:r>
                  </m:oMath>
                </a14:m>
                <a:r>
                  <a:rPr sz="2000">
                    <a:solidFill>
                      <a:srgbClr val="1E293B"/>
                    </a:solidFill>
                    <a:latin typeface="Calibri"/>
                  </a:rPr>
                  <a:t> – S; </a:t>
                </a:r>
                <a14:m>
                  <m:oMath xmlns:m="http://schemas.openxmlformats.org/officeDocument/2006/math">
                    <m:r>
                      <a:rPr lang="vi-VN" sz="2000" b="0">
                        <a:solidFill>
                          <a:srgbClr val="1E293B"/>
                        </a:solidFill>
                        <a:latin typeface="Cambria Math" panose="02040503050406030204" pitchFamily="18" charset="0"/>
                      </a:rPr>
                      <m:t>[160;</m:t>
                    </m:r>
                    <m:r>
                      <m:rPr>
                        <m:sty m:val="p"/>
                      </m:rPr>
                      <a:rPr lang="vi-VN" sz="2000" b="0">
                        <a:solidFill>
                          <a:srgbClr val="1E293B"/>
                        </a:solidFill>
                        <a:latin typeface="Cambria Math" panose="02040503050406030204" pitchFamily="18" charset="0"/>
                      </a:rPr>
                      <m:t> </m:t>
                    </m:r>
                    <m:r>
                      <a:rPr lang="vi-VN" sz="2000" b="0">
                        <a:solidFill>
                          <a:srgbClr val="1E293B"/>
                        </a:solidFill>
                        <a:latin typeface="Cambria Math" panose="02040503050406030204" pitchFamily="18" charset="0"/>
                      </a:rPr>
                      <m:t>167)</m:t>
                    </m:r>
                  </m:oMath>
                </a14:m>
                <a:r>
                  <a:rPr sz="2000">
                    <a:solidFill>
                      <a:srgbClr val="1E293B"/>
                    </a:solidFill>
                    <a:latin typeface="Calibri"/>
                  </a:rPr>
                  <a:t> – M; </a:t>
                </a:r>
                <a14:m>
                  <m:oMath xmlns:m="http://schemas.openxmlformats.org/officeDocument/2006/math">
                    <m:r>
                      <a:rPr lang="vi-VN" sz="2000" b="0">
                        <a:solidFill>
                          <a:srgbClr val="1E293B"/>
                        </a:solidFill>
                        <a:latin typeface="Cambria Math" panose="02040503050406030204" pitchFamily="18" charset="0"/>
                      </a:rPr>
                      <m:t>[167;</m:t>
                    </m:r>
                    <m:r>
                      <m:rPr>
                        <m:sty m:val="p"/>
                      </m:rPr>
                      <a:rPr lang="vi-VN" sz="2000" b="0">
                        <a:solidFill>
                          <a:srgbClr val="1E293B"/>
                        </a:solidFill>
                        <a:latin typeface="Cambria Math" panose="02040503050406030204" pitchFamily="18" charset="0"/>
                      </a:rPr>
                      <m:t> </m:t>
                    </m:r>
                    <m:r>
                      <a:rPr lang="vi-VN" sz="2000" b="0">
                        <a:solidFill>
                          <a:srgbClr val="1E293B"/>
                        </a:solidFill>
                        <a:latin typeface="Cambria Math" panose="02040503050406030204" pitchFamily="18" charset="0"/>
                      </a:rPr>
                      <m:t>170)</m:t>
                    </m:r>
                  </m:oMath>
                </a14:m>
                <a:r>
                  <a:rPr sz="2000">
                    <a:solidFill>
                      <a:srgbClr val="1E293B"/>
                    </a:solidFill>
                    <a:latin typeface="Calibri"/>
                  </a:rPr>
                  <a:t> – L; </a:t>
                </a:r>
                <a14:m>
                  <m:oMath xmlns:m="http://schemas.openxmlformats.org/officeDocument/2006/math">
                    <m:r>
                      <a:rPr lang="vi-VN" sz="2000" b="0">
                        <a:solidFill>
                          <a:srgbClr val="1E293B"/>
                        </a:solidFill>
                        <a:latin typeface="Cambria Math" panose="02040503050406030204" pitchFamily="18" charset="0"/>
                      </a:rPr>
                      <m:t>[170;</m:t>
                    </m:r>
                    <m:r>
                      <m:rPr>
                        <m:sty m:val="p"/>
                      </m:rPr>
                      <a:rPr lang="vi-VN" sz="2000" b="0">
                        <a:solidFill>
                          <a:srgbClr val="1E293B"/>
                        </a:solidFill>
                        <a:latin typeface="Cambria Math" panose="02040503050406030204" pitchFamily="18" charset="0"/>
                      </a:rPr>
                      <m:t> </m:t>
                    </m:r>
                    <m:r>
                      <a:rPr lang="vi-VN" sz="2000" b="0">
                        <a:solidFill>
                          <a:srgbClr val="1E293B"/>
                        </a:solidFill>
                        <a:latin typeface="Cambria Math" panose="02040503050406030204" pitchFamily="18" charset="0"/>
                      </a:rPr>
                      <m:t>175)</m:t>
                    </m:r>
                  </m:oMath>
                </a14:m>
                <a:r>
                  <a:rPr sz="2000">
                    <a:solidFill>
                      <a:srgbClr val="1E293B"/>
                    </a:solidFill>
                    <a:latin typeface="Calibri"/>
                  </a:rPr>
                  <a:t> – XL; </a:t>
                </a:r>
                <a14:m>
                  <m:oMath xmlns:m="http://schemas.openxmlformats.org/officeDocument/2006/math">
                    <m:r>
                      <a:rPr lang="vi-VN" sz="2000" b="0">
                        <a:solidFill>
                          <a:srgbClr val="1E293B"/>
                        </a:solidFill>
                        <a:latin typeface="Cambria Math" panose="02040503050406030204" pitchFamily="18" charset="0"/>
                      </a:rPr>
                      <m:t>[175;</m:t>
                    </m:r>
                    <m:r>
                      <m:rPr>
                        <m:sty m:val="p"/>
                      </m:rPr>
                      <a:rPr lang="vi-VN" sz="2000" b="0">
                        <a:solidFill>
                          <a:srgbClr val="1E293B"/>
                        </a:solidFill>
                        <a:latin typeface="Cambria Math" panose="02040503050406030204" pitchFamily="18" charset="0"/>
                      </a:rPr>
                      <m:t> </m:t>
                    </m:r>
                    <m:r>
                      <a:rPr lang="vi-VN" sz="2000" b="0">
                        <a:solidFill>
                          <a:srgbClr val="1E293B"/>
                        </a:solidFill>
                        <a:latin typeface="Cambria Math" panose="02040503050406030204" pitchFamily="18" charset="0"/>
                      </a:rPr>
                      <m:t>180)</m:t>
                    </m:r>
                  </m:oMath>
                </a14:m>
                <a:r>
                  <a:rPr sz="2000">
                    <a:solidFill>
                      <a:srgbClr val="1E293B"/>
                    </a:solidFill>
                    <a:latin typeface="Calibri"/>
                  </a:rPr>
                  <a:t> – XXL. Chiều cao của 36 học sinh nam khối 11 (bảng SGK). a) Lập bảng tần số ghép nhóm. b) Công ty may 500 áo cho học sinh lớp 11 thì nên may số lượng áo theo mỗi cỡ là bao nhiêu?</a:t>
                </a:r>
              </a:p>
            </p:txBody>
          </p:sp>
        </mc:Choice>
        <mc:Fallback>
          <p:sp>
            <p:nvSpPr>
              <p:cNvPr id="7" name="TextBox 6"/>
              <p:cNvSpPr txBox="1"/>
              <p:nvPr/>
            </p:nvSpPr>
            <p:spPr>
              <a:xfrm>
                <a:off x="548640" y="1325880"/>
                <a:ext cx="11064240" cy="1371600"/>
              </a:xfrm>
              <a:prstGeom prst="rect">
                <a:avLst/>
              </a:prstGeom>
              <a:noFill/>
            </p:spPr>
            <p:txBody>
              <a:bodyPr wrap="square" anchor="t" lIns="45720" rIns="45720">
                <a:spAutoFit/>
              </a:bodyPr>
              <a:lstStyle/>
              <a:p>
                <a:pPr algn="l">
                  <a:spcAft>
                    <a:spcPts val="800"/>
                  </a:spcAft>
                </a:pPr>
                <a:r>
                  <a:rPr sz="2000">
                    <a:solidFill>
                      <a:srgbClr val="1E293B"/>
                    </a:solidFill>
                    <a:latin typeface="Calibri"/>
                  </a:rPr>
                  <a:t>Cỡ áo theo chiều cao: </a:t>
                </a:r>
                <a:r>
                  <a:rPr lang="vi-VN"/>
                  <a:t>[150;\ 160)</a:t>
                </a:r>
                <a:r>
                  <a:rPr sz="2000">
                    <a:solidFill>
                      <a:srgbClr val="1E293B"/>
                    </a:solidFill>
                    <a:latin typeface="Calibri"/>
                  </a:rPr>
                  <a:t> – S; </a:t>
                </a:r>
                <a:r>
                  <a:rPr lang="vi-VN"/>
                  <a:t>[160;\ 167)</a:t>
                </a:r>
                <a:r>
                  <a:rPr sz="2000">
                    <a:solidFill>
                      <a:srgbClr val="1E293B"/>
                    </a:solidFill>
                    <a:latin typeface="Calibri"/>
                  </a:rPr>
                  <a:t> – M; </a:t>
                </a:r>
                <a:r>
                  <a:rPr lang="vi-VN"/>
                  <a:t>[167;\ 170)</a:t>
                </a:r>
                <a:r>
                  <a:rPr sz="2000">
                    <a:solidFill>
                      <a:srgbClr val="1E293B"/>
                    </a:solidFill>
                    <a:latin typeface="Calibri"/>
                  </a:rPr>
                  <a:t> – L; </a:t>
                </a:r>
                <a:r>
                  <a:rPr lang="vi-VN"/>
                  <a:t>[170;\ 175)</a:t>
                </a:r>
                <a:r>
                  <a:rPr sz="2000">
                    <a:solidFill>
                      <a:srgbClr val="1E293B"/>
                    </a:solidFill>
                    <a:latin typeface="Calibri"/>
                  </a:rPr>
                  <a:t> – XL; </a:t>
                </a:r>
                <a:r>
                  <a:rPr lang="vi-VN"/>
                  <a:t>[175;\ 180)</a:t>
                </a:r>
                <a:r>
                  <a:rPr sz="2000">
                    <a:solidFill>
                      <a:srgbClr val="1E293B"/>
                    </a:solidFill>
                    <a:latin typeface="Calibri"/>
                  </a:rPr>
                  <a:t> – XXL. Chiều cao của 36 học sinh nam khối 11 (bảng SGK). a) Lập bảng tần số ghép nhóm. b) Công ty may 500 áo cho học sinh lớp 11 thì nên may số lượng áo theo mỗi cỡ là bao nhiêu?</a:t>
                </a:r>
              </a:p>
            </p:txBody>
          </p:sp>
        </mc:Fallback>
      </mc:AlternateContent>
      <p:sp>
        <p:nvSpPr>
          <p:cNvPr id="8" name="Rounded Rectangle 7"/>
          <p:cNvSpPr/>
          <p:nvPr/>
        </p:nvSpPr>
        <p:spPr>
          <a:xfrm>
            <a:off x="548640" y="2788920"/>
            <a:ext cx="1798320" cy="438912"/>
          </a:xfrm>
          <a:prstGeom prst="roundRect">
            <a:avLst>
              <a:gd name="adj" fmla="val 6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13232" y="2825496"/>
            <a:ext cx="1469135" cy="365759"/>
          </a:xfrm>
          <a:prstGeom prst="rect">
            <a:avLst/>
          </a:prstGeom>
          <a:noFill/>
        </p:spPr>
        <p:txBody>
          <a:bodyPr wrap="square" anchor="ctr" lIns="45720" rIns="45720">
            <a:spAutoFit/>
          </a:bodyPr>
          <a:lstStyle/>
          <a:p>
            <a:pPr algn="ctr">
              <a:spcAft>
                <a:spcPts val="800"/>
              </a:spcAft>
            </a:pPr>
            <a:r>
              <a:rPr sz="1700">
                <a:solidFill>
                  <a:srgbClr val="1E293B"/>
                </a:solidFill>
                <a:latin typeface="Calibri"/>
              </a:rPr>
              <a:t>Chiều cao (cm)</a:t>
            </a:r>
          </a:p>
        </p:txBody>
      </p:sp>
      <p:sp>
        <p:nvSpPr>
          <p:cNvPr id="10" name="Rounded Rectangle 9"/>
          <p:cNvSpPr/>
          <p:nvPr/>
        </p:nvSpPr>
        <p:spPr>
          <a:xfrm>
            <a:off x="2392680" y="2788920"/>
            <a:ext cx="1798320" cy="438912"/>
          </a:xfrm>
          <a:prstGeom prst="roundRect">
            <a:avLst>
              <a:gd name="adj" fmla="val 6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557272" y="2825496"/>
            <a:ext cx="1469135" cy="365759"/>
          </a:xfrm>
          <a:prstGeom prst="rect">
            <a:avLst/>
          </a:prstGeom>
          <a:noFill/>
        </p:spPr>
        <p:txBody>
          <a:bodyPr wrap="square" anchor="ctr" lIns="45720" rIns="45720">
            <a:spAutoFit/>
          </a:bodyPr>
          <a:lstStyle/>
          <a:p>
            <a:pPr algn="ctr">
              <a:spcAft>
                <a:spcPts val="800"/>
              </a:spcAft>
            </a:pPr>
            <a:r>
              <a:rPr sz="1700">
                <a:solidFill>
                  <a:srgbClr val="1E293B"/>
                </a:solidFill>
                <a:latin typeface="Calibri"/>
              </a:rPr>
              <a:t>[150; 160)</a:t>
            </a:r>
          </a:p>
        </p:txBody>
      </p:sp>
      <p:sp>
        <p:nvSpPr>
          <p:cNvPr id="12" name="Rounded Rectangle 11"/>
          <p:cNvSpPr/>
          <p:nvPr/>
        </p:nvSpPr>
        <p:spPr>
          <a:xfrm>
            <a:off x="4236720" y="2788920"/>
            <a:ext cx="1798320" cy="438912"/>
          </a:xfrm>
          <a:prstGeom prst="roundRect">
            <a:avLst>
              <a:gd name="adj" fmla="val 6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401311" y="2825496"/>
            <a:ext cx="1469135" cy="365759"/>
          </a:xfrm>
          <a:prstGeom prst="rect">
            <a:avLst/>
          </a:prstGeom>
          <a:noFill/>
        </p:spPr>
        <p:txBody>
          <a:bodyPr wrap="square" anchor="ctr" lIns="45720" rIns="45720">
            <a:spAutoFit/>
          </a:bodyPr>
          <a:lstStyle/>
          <a:p>
            <a:pPr algn="ctr">
              <a:spcAft>
                <a:spcPts val="800"/>
              </a:spcAft>
            </a:pPr>
            <a:r>
              <a:rPr sz="1700">
                <a:solidFill>
                  <a:srgbClr val="1E293B"/>
                </a:solidFill>
                <a:latin typeface="Calibri"/>
              </a:rPr>
              <a:t>[160; 167)</a:t>
            </a:r>
          </a:p>
        </p:txBody>
      </p:sp>
      <p:sp>
        <p:nvSpPr>
          <p:cNvPr id="14" name="Rounded Rectangle 13"/>
          <p:cNvSpPr/>
          <p:nvPr/>
        </p:nvSpPr>
        <p:spPr>
          <a:xfrm>
            <a:off x="6080759" y="2788920"/>
            <a:ext cx="1798320" cy="438912"/>
          </a:xfrm>
          <a:prstGeom prst="roundRect">
            <a:avLst>
              <a:gd name="adj" fmla="val 6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245351" y="2825496"/>
            <a:ext cx="1469135" cy="365759"/>
          </a:xfrm>
          <a:prstGeom prst="rect">
            <a:avLst/>
          </a:prstGeom>
          <a:noFill/>
        </p:spPr>
        <p:txBody>
          <a:bodyPr wrap="square" anchor="ctr" lIns="45720" rIns="45720">
            <a:spAutoFit/>
          </a:bodyPr>
          <a:lstStyle/>
          <a:p>
            <a:pPr algn="ctr">
              <a:spcAft>
                <a:spcPts val="800"/>
              </a:spcAft>
            </a:pPr>
            <a:r>
              <a:rPr sz="1700">
                <a:solidFill>
                  <a:srgbClr val="1E293B"/>
                </a:solidFill>
                <a:latin typeface="Calibri"/>
              </a:rPr>
              <a:t>[167; 170)</a:t>
            </a:r>
          </a:p>
        </p:txBody>
      </p:sp>
      <p:sp>
        <p:nvSpPr>
          <p:cNvPr id="16" name="Rounded Rectangle 15"/>
          <p:cNvSpPr/>
          <p:nvPr/>
        </p:nvSpPr>
        <p:spPr>
          <a:xfrm>
            <a:off x="7924799" y="2788920"/>
            <a:ext cx="1798320" cy="438912"/>
          </a:xfrm>
          <a:prstGeom prst="roundRect">
            <a:avLst>
              <a:gd name="adj" fmla="val 6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089391" y="2825496"/>
            <a:ext cx="1469135" cy="365759"/>
          </a:xfrm>
          <a:prstGeom prst="rect">
            <a:avLst/>
          </a:prstGeom>
          <a:noFill/>
        </p:spPr>
        <p:txBody>
          <a:bodyPr wrap="square" anchor="ctr" lIns="45720" rIns="45720">
            <a:spAutoFit/>
          </a:bodyPr>
          <a:lstStyle/>
          <a:p>
            <a:pPr algn="ctr">
              <a:spcAft>
                <a:spcPts val="800"/>
              </a:spcAft>
            </a:pPr>
            <a:r>
              <a:rPr sz="1700">
                <a:solidFill>
                  <a:srgbClr val="1E293B"/>
                </a:solidFill>
                <a:latin typeface="Calibri"/>
              </a:rPr>
              <a:t>[170; 175)</a:t>
            </a:r>
          </a:p>
        </p:txBody>
      </p:sp>
      <p:sp>
        <p:nvSpPr>
          <p:cNvPr id="18" name="Rounded Rectangle 17"/>
          <p:cNvSpPr/>
          <p:nvPr/>
        </p:nvSpPr>
        <p:spPr>
          <a:xfrm>
            <a:off x="9768839" y="2788920"/>
            <a:ext cx="1798320" cy="438912"/>
          </a:xfrm>
          <a:prstGeom prst="roundRect">
            <a:avLst>
              <a:gd name="adj" fmla="val 6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933431" y="2825496"/>
            <a:ext cx="1469135" cy="365759"/>
          </a:xfrm>
          <a:prstGeom prst="rect">
            <a:avLst/>
          </a:prstGeom>
          <a:noFill/>
        </p:spPr>
        <p:txBody>
          <a:bodyPr wrap="square" anchor="ctr" lIns="45720" rIns="45720">
            <a:spAutoFit/>
          </a:bodyPr>
          <a:lstStyle/>
          <a:p>
            <a:pPr algn="ctr">
              <a:spcAft>
                <a:spcPts val="800"/>
              </a:spcAft>
            </a:pPr>
            <a:r>
              <a:rPr sz="1700">
                <a:solidFill>
                  <a:srgbClr val="1E293B"/>
                </a:solidFill>
                <a:latin typeface="Calibri"/>
              </a:rPr>
              <a:t>[175; 180)</a:t>
            </a:r>
          </a:p>
        </p:txBody>
      </p:sp>
      <p:sp>
        <p:nvSpPr>
          <p:cNvPr id="20" name="Rounded Rectangle 19"/>
          <p:cNvSpPr/>
          <p:nvPr/>
        </p:nvSpPr>
        <p:spPr>
          <a:xfrm>
            <a:off x="548640" y="3273552"/>
            <a:ext cx="1798320" cy="438912"/>
          </a:xfrm>
          <a:prstGeom prst="roundRect">
            <a:avLst>
              <a:gd name="adj" fmla="val 6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13232" y="3310128"/>
            <a:ext cx="1469135" cy="365759"/>
          </a:xfrm>
          <a:prstGeom prst="rect">
            <a:avLst/>
          </a:prstGeom>
          <a:noFill/>
        </p:spPr>
        <p:txBody>
          <a:bodyPr wrap="square" anchor="ctr" lIns="45720" rIns="45720">
            <a:spAutoFit/>
          </a:bodyPr>
          <a:lstStyle/>
          <a:p>
            <a:pPr algn="ctr">
              <a:spcAft>
                <a:spcPts val="800"/>
              </a:spcAft>
            </a:pPr>
            <a:r>
              <a:rPr sz="1700">
                <a:solidFill>
                  <a:srgbClr val="1E293B"/>
                </a:solidFill>
                <a:latin typeface="Calibri"/>
              </a:rPr>
              <a:t>Cỡ áo</a:t>
            </a:r>
          </a:p>
        </p:txBody>
      </p:sp>
      <p:sp>
        <p:nvSpPr>
          <p:cNvPr id="22" name="Rounded Rectangle 21"/>
          <p:cNvSpPr/>
          <p:nvPr/>
        </p:nvSpPr>
        <p:spPr>
          <a:xfrm>
            <a:off x="2392680" y="3273552"/>
            <a:ext cx="1798320" cy="438912"/>
          </a:xfrm>
          <a:prstGeom prst="roundRect">
            <a:avLst>
              <a:gd name="adj" fmla="val 6000"/>
            </a:avLst>
          </a:prstGeom>
          <a:solidFill>
            <a:srgbClr val="EFF4FF"/>
          </a:solidFill>
          <a:ln w="19050">
            <a:solidFill>
              <a:srgbClr val="1E40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2557272" y="3310128"/>
            <a:ext cx="1469135" cy="365759"/>
          </a:xfrm>
          <a:prstGeom prst="rect">
            <a:avLst/>
          </a:prstGeom>
          <a:noFill/>
        </p:spPr>
        <p:txBody>
          <a:bodyPr wrap="square" anchor="ctr" lIns="45720" rIns="45720">
            <a:spAutoFit/>
          </a:bodyPr>
          <a:lstStyle/>
          <a:p>
            <a:pPr algn="ctr">
              <a:spcAft>
                <a:spcPts val="800"/>
              </a:spcAft>
            </a:pPr>
            <a:r>
              <a:rPr sz="1700">
                <a:solidFill>
                  <a:srgbClr val="1E293B"/>
                </a:solidFill>
                <a:latin typeface="Calibri"/>
              </a:rPr>
              <a:t>S</a:t>
            </a:r>
          </a:p>
        </p:txBody>
      </p:sp>
      <p:sp>
        <p:nvSpPr>
          <p:cNvPr id="24" name="Rounded Rectangle 23"/>
          <p:cNvSpPr/>
          <p:nvPr/>
        </p:nvSpPr>
        <p:spPr>
          <a:xfrm>
            <a:off x="4236720" y="3273552"/>
            <a:ext cx="1798320" cy="438912"/>
          </a:xfrm>
          <a:prstGeom prst="roundRect">
            <a:avLst>
              <a:gd name="adj" fmla="val 6000"/>
            </a:avLst>
          </a:prstGeom>
          <a:solidFill>
            <a:srgbClr val="EFF4FF"/>
          </a:solidFill>
          <a:ln w="19050">
            <a:solidFill>
              <a:srgbClr val="1E40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401311" y="3310128"/>
            <a:ext cx="1469135" cy="365759"/>
          </a:xfrm>
          <a:prstGeom prst="rect">
            <a:avLst/>
          </a:prstGeom>
          <a:noFill/>
        </p:spPr>
        <p:txBody>
          <a:bodyPr wrap="square" anchor="ctr" lIns="45720" rIns="45720">
            <a:spAutoFit/>
          </a:bodyPr>
          <a:lstStyle/>
          <a:p>
            <a:pPr algn="ctr">
              <a:spcAft>
                <a:spcPts val="800"/>
              </a:spcAft>
            </a:pPr>
            <a:r>
              <a:rPr sz="1700">
                <a:solidFill>
                  <a:srgbClr val="1E293B"/>
                </a:solidFill>
                <a:latin typeface="Calibri"/>
              </a:rPr>
              <a:t>M</a:t>
            </a:r>
          </a:p>
        </p:txBody>
      </p:sp>
      <p:sp>
        <p:nvSpPr>
          <p:cNvPr id="26" name="Rounded Rectangle 25"/>
          <p:cNvSpPr/>
          <p:nvPr/>
        </p:nvSpPr>
        <p:spPr>
          <a:xfrm>
            <a:off x="6080759" y="3273552"/>
            <a:ext cx="1798320" cy="438912"/>
          </a:xfrm>
          <a:prstGeom prst="roundRect">
            <a:avLst>
              <a:gd name="adj" fmla="val 6000"/>
            </a:avLst>
          </a:prstGeom>
          <a:solidFill>
            <a:srgbClr val="EFF4FF"/>
          </a:solidFill>
          <a:ln w="19050">
            <a:solidFill>
              <a:srgbClr val="1E40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245351" y="3310128"/>
            <a:ext cx="1469135" cy="365759"/>
          </a:xfrm>
          <a:prstGeom prst="rect">
            <a:avLst/>
          </a:prstGeom>
          <a:noFill/>
        </p:spPr>
        <p:txBody>
          <a:bodyPr wrap="square" anchor="ctr" lIns="45720" rIns="45720">
            <a:spAutoFit/>
          </a:bodyPr>
          <a:lstStyle/>
          <a:p>
            <a:pPr algn="ctr">
              <a:spcAft>
                <a:spcPts val="800"/>
              </a:spcAft>
            </a:pPr>
            <a:r>
              <a:rPr sz="1700">
                <a:solidFill>
                  <a:srgbClr val="1E293B"/>
                </a:solidFill>
                <a:latin typeface="Calibri"/>
              </a:rPr>
              <a:t>L</a:t>
            </a:r>
          </a:p>
        </p:txBody>
      </p:sp>
      <p:sp>
        <p:nvSpPr>
          <p:cNvPr id="28" name="Rounded Rectangle 27"/>
          <p:cNvSpPr/>
          <p:nvPr/>
        </p:nvSpPr>
        <p:spPr>
          <a:xfrm>
            <a:off x="7924799" y="3273552"/>
            <a:ext cx="1798320" cy="438912"/>
          </a:xfrm>
          <a:prstGeom prst="roundRect">
            <a:avLst>
              <a:gd name="adj" fmla="val 6000"/>
            </a:avLst>
          </a:prstGeom>
          <a:solidFill>
            <a:srgbClr val="EFF4FF"/>
          </a:solidFill>
          <a:ln w="19050">
            <a:solidFill>
              <a:srgbClr val="1E40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089391" y="3310128"/>
            <a:ext cx="1469135" cy="365759"/>
          </a:xfrm>
          <a:prstGeom prst="rect">
            <a:avLst/>
          </a:prstGeom>
          <a:noFill/>
        </p:spPr>
        <p:txBody>
          <a:bodyPr wrap="square" anchor="ctr" lIns="45720" rIns="45720">
            <a:spAutoFit/>
          </a:bodyPr>
          <a:lstStyle/>
          <a:p>
            <a:pPr algn="ctr">
              <a:spcAft>
                <a:spcPts val="800"/>
              </a:spcAft>
            </a:pPr>
            <a:r>
              <a:rPr sz="1700">
                <a:solidFill>
                  <a:srgbClr val="1E293B"/>
                </a:solidFill>
                <a:latin typeface="Calibri"/>
              </a:rPr>
              <a:t>XL</a:t>
            </a:r>
          </a:p>
        </p:txBody>
      </p:sp>
      <p:sp>
        <p:nvSpPr>
          <p:cNvPr id="30" name="Rounded Rectangle 29"/>
          <p:cNvSpPr/>
          <p:nvPr/>
        </p:nvSpPr>
        <p:spPr>
          <a:xfrm>
            <a:off x="9768839" y="3273552"/>
            <a:ext cx="1798320" cy="438912"/>
          </a:xfrm>
          <a:prstGeom prst="roundRect">
            <a:avLst>
              <a:gd name="adj" fmla="val 6000"/>
            </a:avLst>
          </a:prstGeom>
          <a:solidFill>
            <a:srgbClr val="EFF4FF"/>
          </a:solidFill>
          <a:ln w="19050">
            <a:solidFill>
              <a:srgbClr val="1E40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933431" y="3310128"/>
            <a:ext cx="1469135" cy="365759"/>
          </a:xfrm>
          <a:prstGeom prst="rect">
            <a:avLst/>
          </a:prstGeom>
          <a:noFill/>
        </p:spPr>
        <p:txBody>
          <a:bodyPr wrap="square" anchor="ctr" lIns="45720" rIns="45720">
            <a:spAutoFit/>
          </a:bodyPr>
          <a:lstStyle/>
          <a:p>
            <a:pPr algn="ctr">
              <a:spcAft>
                <a:spcPts val="800"/>
              </a:spcAft>
            </a:pPr>
            <a:r>
              <a:rPr sz="1700">
                <a:solidFill>
                  <a:srgbClr val="1E293B"/>
                </a:solidFill>
                <a:latin typeface="Calibri"/>
              </a:rPr>
              <a:t>XXL</a:t>
            </a:r>
          </a:p>
        </p:txBody>
      </p:sp>
      <p:sp>
        <p:nvSpPr>
          <p:cNvPr id="32" name="s1_nen"/>
          <p:cNvSpPr/>
          <p:nvPr/>
        </p:nvSpPr>
        <p:spPr>
          <a:xfrm>
            <a:off x="548640" y="3831335"/>
            <a:ext cx="11064240" cy="569976"/>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33" name="s1_chu"/>
              <p:cNvSpPr txBox="1"/>
              <p:nvPr/>
            </p:nvSpPr>
            <p:spPr>
              <a:xfrm>
                <a:off x="713232" y="3867911"/>
                <a:ext cx="10735056" cy="496824"/>
              </a:xfrm>
              <a:prstGeom prst="rect">
                <a:avLst/>
              </a:prstGeom>
              <a:noFill/>
            </p:spPr>
            <p:txBody>
              <a:bodyPr wrap="square" anchor="ctr" lIns="45720" rIns="45720">
                <a:spAutoFit/>
              </a:bodyPr>
              <a:lstStyle/>
              <a:p>
                <a:pPr algn="l">
                  <a:spcAft>
                    <a:spcPts val="800"/>
                  </a:spcAft>
                </a:pPr>
                <a:r>
                  <a:rPr sz="2000">
                    <a:solidFill>
                      <a:srgbClr val="1E293B"/>
                    </a:solidFill>
                    <a:latin typeface="Calibri"/>
                  </a:rPr>
                  <a:t>a) Số học sinh theo từng nhóm: </a:t>
                </a:r>
                <a14:m>
                  <m:oMath xmlns:m="http://schemas.openxmlformats.org/officeDocument/2006/math">
                    <m:r>
                      <a:rPr lang="vi-VN" sz="2000" b="0">
                        <a:solidFill>
                          <a:srgbClr val="1E293B"/>
                        </a:solidFill>
                        <a:latin typeface="Cambria Math" panose="02040503050406030204" pitchFamily="18" charset="0"/>
                      </a:rPr>
                      <m:t>0;</m:t>
                    </m:r>
                    <m:r>
                      <m:rPr>
                        <m:sty m:val="p"/>
                      </m:rPr>
                      <a:rPr lang="vi-VN" sz="2000" b="0">
                        <a:solidFill>
                          <a:srgbClr val="1E293B"/>
                        </a:solidFill>
                        <a:latin typeface="Cambria Math" panose="02040503050406030204" pitchFamily="18" charset="0"/>
                      </a:rPr>
                      <m:t> </m:t>
                    </m:r>
                    <m:r>
                      <a:rPr lang="vi-VN" sz="2000" b="0">
                        <a:solidFill>
                          <a:srgbClr val="1E293B"/>
                        </a:solidFill>
                        <a:latin typeface="Cambria Math" panose="02040503050406030204" pitchFamily="18" charset="0"/>
                      </a:rPr>
                      <m:t>22;</m:t>
                    </m:r>
                    <m:r>
                      <m:rPr>
                        <m:sty m:val="p"/>
                      </m:rPr>
                      <a:rPr lang="vi-VN" sz="2000" b="0">
                        <a:solidFill>
                          <a:srgbClr val="1E293B"/>
                        </a:solidFill>
                        <a:latin typeface="Cambria Math" panose="02040503050406030204" pitchFamily="18" charset="0"/>
                      </a:rPr>
                      <m:t> </m:t>
                    </m:r>
                    <m:r>
                      <a:rPr lang="vi-VN" sz="2000" b="0">
                        <a:solidFill>
                          <a:srgbClr val="1E293B"/>
                        </a:solidFill>
                        <a:latin typeface="Cambria Math" panose="02040503050406030204" pitchFamily="18" charset="0"/>
                      </a:rPr>
                      <m:t>8;</m:t>
                    </m:r>
                    <m:r>
                      <m:rPr>
                        <m:sty m:val="p"/>
                      </m:rPr>
                      <a:rPr lang="vi-VN" sz="2000" b="0">
                        <a:solidFill>
                          <a:srgbClr val="1E293B"/>
                        </a:solidFill>
                        <a:latin typeface="Cambria Math" panose="02040503050406030204" pitchFamily="18" charset="0"/>
                      </a:rPr>
                      <m:t> </m:t>
                    </m:r>
                    <m:r>
                      <a:rPr lang="vi-VN" sz="2000" b="0">
                        <a:solidFill>
                          <a:srgbClr val="1E293B"/>
                        </a:solidFill>
                        <a:latin typeface="Cambria Math" panose="02040503050406030204" pitchFamily="18" charset="0"/>
                      </a:rPr>
                      <m:t>6;</m:t>
                    </m:r>
                    <m:r>
                      <m:rPr>
                        <m:sty m:val="p"/>
                      </m:rPr>
                      <a:rPr lang="vi-VN" sz="2000" b="0">
                        <a:solidFill>
                          <a:srgbClr val="1E293B"/>
                        </a:solidFill>
                        <a:latin typeface="Cambria Math" panose="02040503050406030204" pitchFamily="18" charset="0"/>
                      </a:rPr>
                      <m:t> </m:t>
                    </m:r>
                    <m:r>
                      <a:rPr lang="vi-VN" sz="2000" b="0">
                        <a:solidFill>
                          <a:srgbClr val="1E293B"/>
                        </a:solidFill>
                        <a:latin typeface="Cambria Math" panose="02040503050406030204" pitchFamily="18" charset="0"/>
                      </a:rPr>
                      <m:t>0</m:t>
                    </m:r>
                  </m:oMath>
                </a14:m>
                <a:r>
                  <a:rPr sz="2000">
                    <a:solidFill>
                      <a:srgbClr val="1E293B"/>
                    </a:solidFill>
                    <a:latin typeface="Calibri"/>
                  </a:rPr>
                  <a:t> (tổng 36).</a:t>
                </a:r>
              </a:p>
            </p:txBody>
          </p:sp>
        </mc:Choice>
        <mc:Fallback>
          <p:sp>
            <p:nvSpPr>
              <p:cNvPr id="33" name="TextBox 32"/>
              <p:cNvSpPr txBox="1"/>
              <p:nvPr/>
            </p:nvSpPr>
            <p:spPr>
              <a:xfrm>
                <a:off x="713232" y="3867911"/>
                <a:ext cx="10735056" cy="496824"/>
              </a:xfrm>
              <a:prstGeom prst="rect">
                <a:avLst/>
              </a:prstGeom>
              <a:noFill/>
            </p:spPr>
            <p:txBody>
              <a:bodyPr wrap="square" anchor="ctr" lIns="45720" rIns="45720">
                <a:spAutoFit/>
              </a:bodyPr>
              <a:lstStyle/>
              <a:p>
                <a:pPr algn="l">
                  <a:spcAft>
                    <a:spcPts val="800"/>
                  </a:spcAft>
                </a:pPr>
                <a:r>
                  <a:rPr sz="2000">
                    <a:solidFill>
                      <a:srgbClr val="1E293B"/>
                    </a:solidFill>
                    <a:latin typeface="Calibri"/>
                  </a:rPr>
                  <a:t>a) Số học sinh theo từng nhóm: </a:t>
                </a:r>
                <a:r>
                  <a:rPr lang="vi-VN"/>
                  <a:t>0;\ 22;\ 8;\ 6;\ 0</a:t>
                </a:r>
                <a:r>
                  <a:rPr sz="2000">
                    <a:solidFill>
                      <a:srgbClr val="1E293B"/>
                    </a:solidFill>
                    <a:latin typeface="Calibri"/>
                  </a:rPr>
                  <a:t> (tổng 36).</a:t>
                </a:r>
              </a:p>
            </p:txBody>
          </p:sp>
        </mc:Fallback>
      </mc:AlternateContent>
      <p:sp>
        <p:nvSpPr>
          <p:cNvPr id="34" name="s2_nen"/>
          <p:cNvSpPr/>
          <p:nvPr/>
        </p:nvSpPr>
        <p:spPr>
          <a:xfrm>
            <a:off x="548640" y="4474463"/>
            <a:ext cx="11064240" cy="1286256"/>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35" name="s2_chu"/>
              <p:cNvSpPr txBox="1"/>
              <p:nvPr/>
            </p:nvSpPr>
            <p:spPr>
              <a:xfrm>
                <a:off x="713232" y="4511039"/>
                <a:ext cx="10735056" cy="1213104"/>
              </a:xfrm>
              <a:prstGeom prst="rect">
                <a:avLst/>
              </a:prstGeom>
              <a:noFill/>
            </p:spPr>
            <p:txBody>
              <a:bodyPr wrap="square" anchor="ctr" lIns="45720" rIns="45720">
                <a:spAutoFit/>
              </a:bodyPr>
              <a:lstStyle/>
              <a:p>
                <a:pPr algn="l">
                  <a:spcAft>
                    <a:spcPts val="800"/>
                  </a:spcAft>
                </a:pPr>
                <a:r>
                  <a:rPr sz="2000">
                    <a:solidFill>
                      <a:srgbClr val="1E293B"/>
                    </a:solidFill>
                    <a:latin typeface="Calibri"/>
                  </a:rPr>
                  <a:t>b) Cỡ M: </a:t>
                </a:r>
                <a14:m>
                  <m:oMath xmlns:m="http://schemas.openxmlformats.org/officeDocument/2006/math">
                    <m:r>
                      <a:rPr lang="vi-VN" sz="2000" b="0">
                        <a:solidFill>
                          <a:srgbClr val="1E293B"/>
                        </a:solidFill>
                        <a:latin typeface="Cambria Math" panose="02040503050406030204" pitchFamily="18" charset="0"/>
                      </a:rPr>
                      <m:t>500·</m:t>
                    </m:r>
                    <m:f>
                      <m:fPr>
                        <m:type m:val="bar"/>
                      </m:fPr>
                      <m:num>
                        <m:r>
                          <a:rPr lang="vi-VN" sz="2000" b="0">
                            <a:solidFill>
                              <a:srgbClr val="1E293B"/>
                            </a:solidFill>
                            <a:latin typeface="Cambria Math" panose="02040503050406030204" pitchFamily="18" charset="0"/>
                          </a:rPr>
                          <m:t>22</m:t>
                        </m:r>
                      </m:num>
                      <m:den>
                        <m:r>
                          <a:rPr lang="vi-VN" sz="2000" b="0">
                            <a:solidFill>
                              <a:srgbClr val="1E293B"/>
                            </a:solidFill>
                            <a:latin typeface="Cambria Math" panose="02040503050406030204" pitchFamily="18" charset="0"/>
                          </a:rPr>
                          <m:t>36</m:t>
                        </m:r>
                      </m:den>
                    </m:f>
                    <m:r>
                      <a:rPr lang="vi-VN" sz="2000" b="0">
                        <a:solidFill>
                          <a:srgbClr val="1E293B"/>
                        </a:solidFill>
                        <a:latin typeface="Cambria Math" panose="02040503050406030204" pitchFamily="18" charset="0"/>
                      </a:rPr>
                      <m:t>≈306</m:t>
                    </m:r>
                  </m:oMath>
                </a14:m>
                <a:r>
                  <a:rPr sz="2000">
                    <a:solidFill>
                      <a:srgbClr val="1E293B"/>
                    </a:solidFill>
                    <a:latin typeface="Calibri"/>
                  </a:rPr>
                  <a:t> chiếc; cỡ L: </a:t>
                </a:r>
                <a14:m>
                  <m:oMath xmlns:m="http://schemas.openxmlformats.org/officeDocument/2006/math">
                    <m:r>
                      <a:rPr lang="vi-VN" sz="2000" b="0">
                        <a:solidFill>
                          <a:srgbClr val="1E293B"/>
                        </a:solidFill>
                        <a:latin typeface="Cambria Math" panose="02040503050406030204" pitchFamily="18" charset="0"/>
                      </a:rPr>
                      <m:t>500·</m:t>
                    </m:r>
                    <m:f>
                      <m:fPr>
                        <m:type m:val="bar"/>
                      </m:fPr>
                      <m:num>
                        <m:r>
                          <a:rPr lang="vi-VN" sz="2000" b="0">
                            <a:solidFill>
                              <a:srgbClr val="1E293B"/>
                            </a:solidFill>
                            <a:latin typeface="Cambria Math" panose="02040503050406030204" pitchFamily="18" charset="0"/>
                          </a:rPr>
                          <m:t>8</m:t>
                        </m:r>
                      </m:num>
                      <m:den>
                        <m:r>
                          <a:rPr lang="vi-VN" sz="2000" b="0">
                            <a:solidFill>
                              <a:srgbClr val="1E293B"/>
                            </a:solidFill>
                            <a:latin typeface="Cambria Math" panose="02040503050406030204" pitchFamily="18" charset="0"/>
                          </a:rPr>
                          <m:t>36</m:t>
                        </m:r>
                      </m:den>
                    </m:f>
                    <m:r>
                      <a:rPr lang="vi-VN" sz="2000" b="0">
                        <a:solidFill>
                          <a:srgbClr val="1E293B"/>
                        </a:solidFill>
                        <a:latin typeface="Cambria Math" panose="02040503050406030204" pitchFamily="18" charset="0"/>
                      </a:rPr>
                      <m:t>≈111</m:t>
                    </m:r>
                  </m:oMath>
                </a14:m>
                <a:r>
                  <a:rPr sz="2000">
                    <a:solidFill>
                      <a:srgbClr val="1E293B"/>
                    </a:solidFill>
                    <a:latin typeface="Calibri"/>
                  </a:rPr>
                  <a:t> chiếc; cỡ XL: </a:t>
                </a:r>
                <a14:m>
                  <m:oMath xmlns:m="http://schemas.openxmlformats.org/officeDocument/2006/math">
                    <m:r>
                      <a:rPr lang="vi-VN" sz="2000" b="0">
                        <a:solidFill>
                          <a:srgbClr val="1E293B"/>
                        </a:solidFill>
                        <a:latin typeface="Cambria Math" panose="02040503050406030204" pitchFamily="18" charset="0"/>
                      </a:rPr>
                      <m:t>500·</m:t>
                    </m:r>
                    <m:f>
                      <m:fPr>
                        <m:type m:val="bar"/>
                      </m:fPr>
                      <m:num>
                        <m:r>
                          <a:rPr lang="vi-VN" sz="2000" b="0">
                            <a:solidFill>
                              <a:srgbClr val="1E293B"/>
                            </a:solidFill>
                            <a:latin typeface="Cambria Math" panose="02040503050406030204" pitchFamily="18" charset="0"/>
                          </a:rPr>
                          <m:t>6</m:t>
                        </m:r>
                      </m:num>
                      <m:den>
                        <m:r>
                          <a:rPr lang="vi-VN" sz="2000" b="0">
                            <a:solidFill>
                              <a:srgbClr val="1E293B"/>
                            </a:solidFill>
                            <a:latin typeface="Cambria Math" panose="02040503050406030204" pitchFamily="18" charset="0"/>
                          </a:rPr>
                          <m:t>36</m:t>
                        </m:r>
                      </m:den>
                    </m:f>
                    <m:r>
                      <a:rPr lang="vi-VN" sz="2000" b="0">
                        <a:solidFill>
                          <a:srgbClr val="1E293B"/>
                        </a:solidFill>
                        <a:latin typeface="Cambria Math" panose="02040503050406030204" pitchFamily="18" charset="0"/>
                      </a:rPr>
                      <m:t>≈83</m:t>
                    </m:r>
                  </m:oMath>
                </a14:m>
                <a:r>
                  <a:rPr sz="2000">
                    <a:solidFill>
                      <a:srgbClr val="1E293B"/>
                    </a:solidFill>
                    <a:latin typeface="Calibri"/>
                  </a:rPr>
                  <a:t> chiếc.</a:t>
                </a:r>
              </a:p>
            </p:txBody>
          </p:sp>
        </mc:Choice>
        <mc:Fallback>
          <p:sp>
            <p:nvSpPr>
              <p:cNvPr id="35" name="TextBox 34"/>
              <p:cNvSpPr txBox="1"/>
              <p:nvPr/>
            </p:nvSpPr>
            <p:spPr>
              <a:xfrm>
                <a:off x="713232" y="4511039"/>
                <a:ext cx="10735056" cy="1213104"/>
              </a:xfrm>
              <a:prstGeom prst="rect">
                <a:avLst/>
              </a:prstGeom>
              <a:noFill/>
            </p:spPr>
            <p:txBody>
              <a:bodyPr wrap="square" anchor="ctr" lIns="45720" rIns="45720">
                <a:spAutoFit/>
              </a:bodyPr>
              <a:lstStyle/>
              <a:p>
                <a:pPr algn="l">
                  <a:spcAft>
                    <a:spcPts val="800"/>
                  </a:spcAft>
                </a:pPr>
                <a:r>
                  <a:rPr sz="2000">
                    <a:solidFill>
                      <a:srgbClr val="1E293B"/>
                    </a:solidFill>
                    <a:latin typeface="Calibri"/>
                  </a:rPr>
                  <a:t>b) Cỡ M: </a:t>
                </a:r>
                <a:r>
                  <a:rPr lang="vi-VN"/>
                  <a:t>500\cdot\frac{22}{36}\approx 306</a:t>
                </a:r>
                <a:r>
                  <a:rPr sz="2000">
                    <a:solidFill>
                      <a:srgbClr val="1E293B"/>
                    </a:solidFill>
                    <a:latin typeface="Calibri"/>
                  </a:rPr>
                  <a:t> chiếc; cỡ L: </a:t>
                </a:r>
                <a:r>
                  <a:rPr lang="vi-VN"/>
                  <a:t>500\cdot\frac{8}{36}\approx 111</a:t>
                </a:r>
                <a:r>
                  <a:rPr sz="2000">
                    <a:solidFill>
                      <a:srgbClr val="1E293B"/>
                    </a:solidFill>
                    <a:latin typeface="Calibri"/>
                  </a:rPr>
                  <a:t> chiếc; cỡ XL: </a:t>
                </a:r>
                <a:r>
                  <a:rPr lang="vi-VN"/>
                  <a:t>500\cdot\frac{6}{36}\approx 83</a:t>
                </a:r>
                <a:r>
                  <a:rPr sz="2000">
                    <a:solidFill>
                      <a:srgbClr val="1E293B"/>
                    </a:solidFill>
                    <a:latin typeface="Calibri"/>
                  </a:rPr>
                  <a:t> chiếc.</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3"/>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4"/>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344607" y="457200"/>
            <a:ext cx="1298448" cy="457200"/>
          </a:xfrm>
          <a:prstGeom prst="round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LUYỆN TẬP</a:t>
            </a:r>
          </a:p>
        </p:txBody>
      </p:sp>
      <p:sp>
        <p:nvSpPr>
          <p:cNvPr id="4" name="TextBox 3"/>
          <p:cNvSpPr txBox="1"/>
          <p:nvPr/>
        </p:nvSpPr>
        <p:spPr>
          <a:xfrm>
            <a:off x="731520" y="274320"/>
            <a:ext cx="9674352" cy="868680"/>
          </a:xfrm>
          <a:prstGeom prst="rect">
            <a:avLst/>
          </a:prstGeom>
          <a:noFill/>
        </p:spPr>
        <p:txBody>
          <a:bodyPr wrap="square" anchor="ctr">
            <a:spAutoFit/>
          </a:bodyPr>
          <a:lstStyle/>
          <a:p>
            <a:r>
              <a:rPr sz="3000" b="1">
                <a:solidFill>
                  <a:srgbClr val="1E40AF"/>
                </a:solidFill>
                <a:latin typeface="Cambria"/>
              </a:rPr>
              <a:t>BÀI TẬP 3.1 – 3.3 (SGK TR.61)</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8. Mẫu số liệu ghép nhóm – Toán 11          9</a:t>
            </a:r>
          </a:p>
        </p:txBody>
      </p:sp>
      <mc:AlternateContent xmlns:mc="http://schemas.openxmlformats.org/markup-compatibility/2006">
        <mc:Choice xmlns:a14="http://schemas.microsoft.com/office/drawing/2010/main" Requires="a14">
          <p:sp>
            <p:nvSpPr>
              <p:cNvPr id="7" name="TextBox 6"/>
              <p:cNvSpPr txBox="1"/>
              <p:nvPr/>
            </p:nvSpPr>
            <p:spPr>
              <a:xfrm>
                <a:off x="548640" y="1371600"/>
                <a:ext cx="11064240" cy="752855"/>
              </a:xfrm>
              <a:prstGeom prst="rect">
                <a:avLst/>
              </a:prstGeom>
              <a:noFill/>
            </p:spPr>
            <p:txBody>
              <a:bodyPr wrap="square" anchor="t" lIns="45720" rIns="45720">
                <a:spAutoFit/>
              </a:bodyPr>
              <a:lstStyle/>
              <a:p>
                <a:pPr algn="l">
                  <a:spcAft>
                    <a:spcPts val="800"/>
                  </a:spcAft>
                </a:pPr>
                <a:r>
                  <a:rPr sz="1900" b="1">
                    <a:solidFill>
                      <a:srgbClr val="1E293B"/>
                    </a:solidFill>
                    <a:latin typeface="Calibri"/>
                  </a:rPr>
                  <a:t>3.1.</a:t>
                </a:r>
                <a:r>
                  <a:rPr sz="1900">
                    <a:solidFill>
                      <a:srgbClr val="1E293B"/>
                    </a:solidFill>
                    <a:latin typeface="Calibri"/>
                  </a:rPr>
                  <a:t> Mẫu nào là ghép nhóm? Đọc, giải thích: a) tiền điện thoại của sinh viên </a:t>
                </a:r>
                <a14:m>
                  <m:oMath xmlns:m="http://schemas.openxmlformats.org/officeDocument/2006/math">
                    <m:r>
                      <a:rPr lang="vi-VN" sz="1900" b="0">
                        <a:solidFill>
                          <a:srgbClr val="1E293B"/>
                        </a:solidFill>
                        <a:latin typeface="Cambria Math" panose="02040503050406030204" pitchFamily="18" charset="0"/>
                      </a:rPr>
                      <m:t>[0;</m:t>
                    </m:r>
                    <m:r>
                      <m:rPr>
                        <m:sty m:val="p"/>
                      </m:rPr>
                      <a:rPr lang="vi-VN" sz="1900" b="0">
                        <a:solidFill>
                          <a:srgbClr val="1E293B"/>
                        </a:solidFill>
                        <a:latin typeface="Cambria Math" panose="02040503050406030204" pitchFamily="18" charset="0"/>
                      </a:rPr>
                      <m:t> </m:t>
                    </m:r>
                    <m:r>
                      <a:rPr lang="vi-VN" sz="1900" b="0">
                        <a:solidFill>
                          <a:srgbClr val="1E293B"/>
                        </a:solidFill>
                        <a:latin typeface="Cambria Math" panose="02040503050406030204" pitchFamily="18" charset="0"/>
                      </a:rPr>
                      <m:t>50)</m:t>
                    </m:r>
                  </m:oMath>
                </a14:m>
                <a:r>
                  <a:rPr sz="1900">
                    <a:solidFill>
                      <a:srgbClr val="1E293B"/>
                    </a:solidFill>
                    <a:latin typeface="Calibri"/>
                  </a:rPr>
                  <a:t>, …, </a:t>
                </a:r>
                <a14:m>
                  <m:oMath xmlns:m="http://schemas.openxmlformats.org/officeDocument/2006/math">
                    <m:r>
                      <a:rPr lang="vi-VN" sz="1900" b="0">
                        <a:solidFill>
                          <a:srgbClr val="1E293B"/>
                        </a:solidFill>
                        <a:latin typeface="Cambria Math" panose="02040503050406030204" pitchFamily="18" charset="0"/>
                      </a:rPr>
                      <m:t>[200;</m:t>
                    </m:r>
                    <m:r>
                      <m:rPr>
                        <m:sty m:val="p"/>
                      </m:rPr>
                      <a:rPr lang="vi-VN" sz="1900" b="0">
                        <a:solidFill>
                          <a:srgbClr val="1E293B"/>
                        </a:solidFill>
                        <a:latin typeface="Cambria Math" panose="02040503050406030204" pitchFamily="18" charset="0"/>
                      </a:rPr>
                      <m:t> </m:t>
                    </m:r>
                    <m:r>
                      <a:rPr lang="vi-VN" sz="1900" b="0">
                        <a:solidFill>
                          <a:srgbClr val="1E293B"/>
                        </a:solidFill>
                        <a:latin typeface="Cambria Math" panose="02040503050406030204" pitchFamily="18" charset="0"/>
                      </a:rPr>
                      <m:t>250)</m:t>
                    </m:r>
                  </m:oMath>
                </a14:m>
                <a:r>
                  <a:rPr sz="1900">
                    <a:solidFill>
                      <a:srgbClr val="1E293B"/>
                    </a:solidFill>
                    <a:latin typeface="Calibri"/>
                  </a:rPr>
                  <a:t>: 5, 12, 23, 17, 3; b) nhiệt độ 40 ngày </a:t>
                </a:r>
                <a14:m>
                  <m:oMath xmlns:m="http://schemas.openxmlformats.org/officeDocument/2006/math">
                    <m:r>
                      <a:rPr lang="vi-VN" sz="1900" b="0">
                        <a:solidFill>
                          <a:srgbClr val="1E293B"/>
                        </a:solidFill>
                        <a:latin typeface="Cambria Math" panose="02040503050406030204" pitchFamily="18" charset="0"/>
                      </a:rPr>
                      <m:t>[19;</m:t>
                    </m:r>
                    <m:r>
                      <m:rPr>
                        <m:sty m:val="p"/>
                      </m:rPr>
                      <a:rPr lang="vi-VN" sz="1900" b="0">
                        <a:solidFill>
                          <a:srgbClr val="1E293B"/>
                        </a:solidFill>
                        <a:latin typeface="Cambria Math" panose="02040503050406030204" pitchFamily="18" charset="0"/>
                      </a:rPr>
                      <m:t> </m:t>
                    </m:r>
                    <m:r>
                      <a:rPr lang="vi-VN" sz="1900" b="0">
                        <a:solidFill>
                          <a:srgbClr val="1E293B"/>
                        </a:solidFill>
                        <a:latin typeface="Cambria Math" panose="02040503050406030204" pitchFamily="18" charset="0"/>
                      </a:rPr>
                      <m:t>22)</m:t>
                    </m:r>
                  </m:oMath>
                </a14:m>
                <a:r>
                  <a:rPr sz="1900">
                    <a:solidFill>
                      <a:srgbClr val="1E293B"/>
                    </a:solidFill>
                    <a:latin typeface="Calibri"/>
                  </a:rPr>
                  <a:t>, …, </a:t>
                </a:r>
                <a14:m>
                  <m:oMath xmlns:m="http://schemas.openxmlformats.org/officeDocument/2006/math">
                    <m:r>
                      <a:rPr lang="vi-VN" sz="1900" b="0">
                        <a:solidFill>
                          <a:srgbClr val="1E293B"/>
                        </a:solidFill>
                        <a:latin typeface="Cambria Math" panose="02040503050406030204" pitchFamily="18" charset="0"/>
                      </a:rPr>
                      <m:t>[28;</m:t>
                    </m:r>
                    <m:r>
                      <m:rPr>
                        <m:sty m:val="p"/>
                      </m:rPr>
                      <a:rPr lang="vi-VN" sz="1900" b="0">
                        <a:solidFill>
                          <a:srgbClr val="1E293B"/>
                        </a:solidFill>
                        <a:latin typeface="Cambria Math" panose="02040503050406030204" pitchFamily="18" charset="0"/>
                      </a:rPr>
                      <m:t> </m:t>
                    </m:r>
                    <m:r>
                      <a:rPr lang="vi-VN" sz="1900" b="0">
                        <a:solidFill>
                          <a:srgbClr val="1E293B"/>
                        </a:solidFill>
                        <a:latin typeface="Cambria Math" panose="02040503050406030204" pitchFamily="18" charset="0"/>
                      </a:rPr>
                      <m:t>31)</m:t>
                    </m:r>
                  </m:oMath>
                </a14:m>
                <a:r>
                  <a:rPr sz="1900">
                    <a:solidFill>
                      <a:srgbClr val="1E293B"/>
                    </a:solidFill>
                    <a:latin typeface="Calibri"/>
                  </a:rPr>
                  <a:t>: 7, 15, 12, 6.</a:t>
                </a:r>
              </a:p>
            </p:txBody>
          </p:sp>
        </mc:Choice>
        <mc:Fallback>
          <p:sp>
            <p:nvSpPr>
              <p:cNvPr id="7" name="TextBox 6"/>
              <p:cNvSpPr txBox="1"/>
              <p:nvPr/>
            </p:nvSpPr>
            <p:spPr>
              <a:xfrm>
                <a:off x="548640" y="1371600"/>
                <a:ext cx="11064240" cy="752855"/>
              </a:xfrm>
              <a:prstGeom prst="rect">
                <a:avLst/>
              </a:prstGeom>
              <a:noFill/>
            </p:spPr>
            <p:txBody>
              <a:bodyPr wrap="square" anchor="t" lIns="45720" rIns="45720">
                <a:spAutoFit/>
              </a:bodyPr>
              <a:lstStyle/>
              <a:p>
                <a:pPr algn="l">
                  <a:spcAft>
                    <a:spcPts val="800"/>
                  </a:spcAft>
                </a:pPr>
                <a:r>
                  <a:rPr sz="1900" b="1">
                    <a:solidFill>
                      <a:srgbClr val="1E293B"/>
                    </a:solidFill>
                    <a:latin typeface="Calibri"/>
                  </a:rPr>
                  <a:t>3.1.</a:t>
                </a:r>
                <a:r>
                  <a:rPr sz="1900">
                    <a:solidFill>
                      <a:srgbClr val="1E293B"/>
                    </a:solidFill>
                    <a:latin typeface="Calibri"/>
                  </a:rPr>
                  <a:t> Mẫu nào là ghép nhóm? Đọc, giải thích: a) tiền điện thoại của sinh viên </a:t>
                </a:r>
                <a:r>
                  <a:rPr lang="vi-VN"/>
                  <a:t>[0;\ 50)</a:t>
                </a:r>
                <a:r>
                  <a:rPr sz="1900">
                    <a:solidFill>
                      <a:srgbClr val="1E293B"/>
                    </a:solidFill>
                    <a:latin typeface="Calibri"/>
                  </a:rPr>
                  <a:t>, …, </a:t>
                </a:r>
                <a:r>
                  <a:rPr lang="vi-VN"/>
                  <a:t>[200;\ 250)</a:t>
                </a:r>
                <a:r>
                  <a:rPr sz="1900">
                    <a:solidFill>
                      <a:srgbClr val="1E293B"/>
                    </a:solidFill>
                    <a:latin typeface="Calibri"/>
                  </a:rPr>
                  <a:t>: 5, 12, 23, 17, 3; b) nhiệt độ 40 ngày </a:t>
                </a:r>
                <a:r>
                  <a:rPr lang="vi-VN"/>
                  <a:t>[19;\ 22)</a:t>
                </a:r>
                <a:r>
                  <a:rPr sz="1900">
                    <a:solidFill>
                      <a:srgbClr val="1E293B"/>
                    </a:solidFill>
                    <a:latin typeface="Calibri"/>
                  </a:rPr>
                  <a:t>, …, </a:t>
                </a:r>
                <a:r>
                  <a:rPr lang="vi-VN"/>
                  <a:t>[28;\ 31)</a:t>
                </a:r>
                <a:r>
                  <a:rPr sz="1900">
                    <a:solidFill>
                      <a:srgbClr val="1E293B"/>
                    </a:solidFill>
                    <a:latin typeface="Calibri"/>
                  </a:rPr>
                  <a:t>: 7, 15, 12, 6.</a:t>
                </a:r>
              </a:p>
            </p:txBody>
          </p:sp>
        </mc:Fallback>
      </mc:AlternateContent>
      <p:sp>
        <p:nvSpPr>
          <p:cNvPr id="8" name="s1_nen"/>
          <p:cNvSpPr/>
          <p:nvPr/>
        </p:nvSpPr>
        <p:spPr>
          <a:xfrm>
            <a:off x="548640" y="2188464"/>
            <a:ext cx="11064240" cy="844295"/>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9" name="s1_chu"/>
              <p:cNvSpPr txBox="1"/>
              <p:nvPr/>
            </p:nvSpPr>
            <p:spPr>
              <a:xfrm>
                <a:off x="713232" y="2225040"/>
                <a:ext cx="10735056" cy="771143"/>
              </a:xfrm>
              <a:prstGeom prst="rect">
                <a:avLst/>
              </a:prstGeom>
              <a:noFill/>
            </p:spPr>
            <p:txBody>
              <a:bodyPr wrap="square" anchor="ctr" lIns="45720" rIns="45720">
                <a:spAutoFit/>
              </a:bodyPr>
              <a:lstStyle/>
              <a:p>
                <a:pPr algn="l">
                  <a:spcAft>
                    <a:spcPts val="800"/>
                  </a:spcAft>
                </a:pPr>
                <a:r>
                  <a:rPr sz="1900">
                    <a:solidFill>
                      <a:srgbClr val="1E293B"/>
                    </a:solidFill>
                    <a:latin typeface="Calibri"/>
                  </a:rPr>
                  <a:t>Cả hai đều ghép nhóm. a) 5 nhóm dài 50 nghìn đồng, 60 sinh viên, đông nhất </a:t>
                </a:r>
                <a14:m>
                  <m:oMath xmlns:m="http://schemas.openxmlformats.org/officeDocument/2006/math">
                    <m:r>
                      <a:rPr lang="vi-VN" sz="1900" b="0">
                        <a:solidFill>
                          <a:srgbClr val="1E293B"/>
                        </a:solidFill>
                        <a:latin typeface="Cambria Math" panose="02040503050406030204" pitchFamily="18" charset="0"/>
                      </a:rPr>
                      <m:t>[100;</m:t>
                    </m:r>
                    <m:r>
                      <m:rPr>
                        <m:sty m:val="p"/>
                      </m:rPr>
                      <a:rPr lang="vi-VN" sz="1900" b="0">
                        <a:solidFill>
                          <a:srgbClr val="1E293B"/>
                        </a:solidFill>
                        <a:latin typeface="Cambria Math" panose="02040503050406030204" pitchFamily="18" charset="0"/>
                      </a:rPr>
                      <m:t> </m:t>
                    </m:r>
                    <m:r>
                      <a:rPr lang="vi-VN" sz="1900" b="0">
                        <a:solidFill>
                          <a:srgbClr val="1E293B"/>
                        </a:solidFill>
                        <a:latin typeface="Cambria Math" panose="02040503050406030204" pitchFamily="18" charset="0"/>
                      </a:rPr>
                      <m:t>150)</m:t>
                    </m:r>
                  </m:oMath>
                </a14:m>
                <a:r>
                  <a:rPr sz="1900">
                    <a:solidFill>
                      <a:srgbClr val="1E293B"/>
                    </a:solidFill>
                    <a:latin typeface="Calibri"/>
                  </a:rPr>
                  <a:t>. b) 4 nhóm dài 3°C, 40 ngày, nhiều nhất </a:t>
                </a:r>
                <a14:m>
                  <m:oMath xmlns:m="http://schemas.openxmlformats.org/officeDocument/2006/math">
                    <m:r>
                      <a:rPr lang="vi-VN" sz="1900" b="0">
                        <a:solidFill>
                          <a:srgbClr val="1E293B"/>
                        </a:solidFill>
                        <a:latin typeface="Cambria Math" panose="02040503050406030204" pitchFamily="18" charset="0"/>
                      </a:rPr>
                      <m:t>[22;</m:t>
                    </m:r>
                    <m:r>
                      <m:rPr>
                        <m:sty m:val="p"/>
                      </m:rPr>
                      <a:rPr lang="vi-VN" sz="1900" b="0">
                        <a:solidFill>
                          <a:srgbClr val="1E293B"/>
                        </a:solidFill>
                        <a:latin typeface="Cambria Math" panose="02040503050406030204" pitchFamily="18" charset="0"/>
                      </a:rPr>
                      <m:t> </m:t>
                    </m:r>
                    <m:r>
                      <a:rPr lang="vi-VN" sz="1900" b="0">
                        <a:solidFill>
                          <a:srgbClr val="1E293B"/>
                        </a:solidFill>
                        <a:latin typeface="Cambria Math" panose="02040503050406030204" pitchFamily="18" charset="0"/>
                      </a:rPr>
                      <m:t>25)</m:t>
                    </m:r>
                  </m:oMath>
                </a14:m>
                <a:r>
                  <a:rPr sz="1900">
                    <a:solidFill>
                      <a:srgbClr val="1E293B"/>
                    </a:solidFill>
                    <a:latin typeface="Calibri"/>
                  </a:rPr>
                  <a:t>.</a:t>
                </a:r>
              </a:p>
            </p:txBody>
          </p:sp>
        </mc:Choice>
        <mc:Fallback>
          <p:sp>
            <p:nvSpPr>
              <p:cNvPr id="9" name="TextBox 8"/>
              <p:cNvSpPr txBox="1"/>
              <p:nvPr/>
            </p:nvSpPr>
            <p:spPr>
              <a:xfrm>
                <a:off x="713232" y="2225040"/>
                <a:ext cx="10735056" cy="771143"/>
              </a:xfrm>
              <a:prstGeom prst="rect">
                <a:avLst/>
              </a:prstGeom>
              <a:noFill/>
            </p:spPr>
            <p:txBody>
              <a:bodyPr wrap="square" anchor="ctr" lIns="45720" rIns="45720">
                <a:spAutoFit/>
              </a:bodyPr>
              <a:lstStyle/>
              <a:p>
                <a:pPr algn="l">
                  <a:spcAft>
                    <a:spcPts val="800"/>
                  </a:spcAft>
                </a:pPr>
                <a:r>
                  <a:rPr sz="1900">
                    <a:solidFill>
                      <a:srgbClr val="1E293B"/>
                    </a:solidFill>
                    <a:latin typeface="Calibri"/>
                  </a:rPr>
                  <a:t>Cả hai đều ghép nhóm. a) 5 nhóm dài 50 nghìn đồng, 60 sinh viên, đông nhất </a:t>
                </a:r>
                <a:r>
                  <a:rPr lang="vi-VN"/>
                  <a:t>[100;\ 150)</a:t>
                </a:r>
                <a:r>
                  <a:rPr sz="1900">
                    <a:solidFill>
                      <a:srgbClr val="1E293B"/>
                    </a:solidFill>
                    <a:latin typeface="Calibri"/>
                  </a:rPr>
                  <a:t>. b) 4 nhóm dài 3°C, 40 ngày, nhiều nhất </a:t>
                </a:r>
                <a:r>
                  <a:rPr lang="vi-VN"/>
                  <a:t>[22;\ 25)</a:t>
                </a:r>
                <a:r>
                  <a:rPr sz="1900">
                    <a:solidFill>
                      <a:srgbClr val="1E293B"/>
                    </a:solidFill>
                    <a:latin typeface="Calibri"/>
                  </a:rPr>
                  <a:t>.</a:t>
                </a:r>
              </a:p>
            </p:txBody>
          </p:sp>
        </mc:Fallback>
      </mc:AlternateContent>
      <p:sp>
        <p:nvSpPr>
          <p:cNvPr id="10" name="s2_chu"/>
          <p:cNvSpPr txBox="1"/>
          <p:nvPr/>
        </p:nvSpPr>
        <p:spPr>
          <a:xfrm>
            <a:off x="548640" y="3096768"/>
            <a:ext cx="11064240" cy="752855"/>
          </a:xfrm>
          <a:prstGeom prst="rect">
            <a:avLst/>
          </a:prstGeom>
          <a:noFill/>
        </p:spPr>
        <p:txBody>
          <a:bodyPr wrap="square" anchor="t" lIns="45720" rIns="45720">
            <a:spAutoFit/>
          </a:bodyPr>
          <a:lstStyle/>
          <a:p>
            <a:pPr algn="l">
              <a:spcAft>
                <a:spcPts val="800"/>
              </a:spcAft>
            </a:pPr>
            <a:r>
              <a:rPr sz="1900" b="1">
                <a:solidFill>
                  <a:srgbClr val="1E293B"/>
                </a:solidFill>
                <a:latin typeface="Calibri"/>
              </a:rPr>
              <a:t>3.2.</a:t>
            </a:r>
            <a:r>
              <a:rPr sz="1900">
                <a:solidFill>
                  <a:srgbClr val="1E293B"/>
                </a:solidFill>
                <a:latin typeface="Calibri"/>
              </a:rPr>
              <a:t> Số sản phẩm của 25 công nhân (nhỏ nhất 5, lớn nhất 54): ghép 6 nhóm cùng độ dài. </a:t>
            </a:r>
            <a:r>
              <a:rPr sz="1900" b="1">
                <a:solidFill>
                  <a:srgbClr val="1E293B"/>
                </a:solidFill>
                <a:latin typeface="Calibri"/>
              </a:rPr>
              <a:t>3.3.</a:t>
            </a:r>
            <a:r>
              <a:rPr sz="1900">
                <a:solidFill>
                  <a:srgbClr val="1E293B"/>
                </a:solidFill>
                <a:latin typeface="Calibri"/>
              </a:rPr>
              <a:t> Thời gian ra sân của 16 cựu cầu thủ (492 đến 653): ghép 7 nhóm cùng độ dài.</a:t>
            </a:r>
          </a:p>
        </p:txBody>
      </p:sp>
      <p:sp>
        <p:nvSpPr>
          <p:cNvPr id="11" name="s3_nen"/>
          <p:cNvSpPr/>
          <p:nvPr/>
        </p:nvSpPr>
        <p:spPr>
          <a:xfrm>
            <a:off x="548640" y="3913632"/>
            <a:ext cx="11064240" cy="844295"/>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2" name="s3_chu"/>
              <p:cNvSpPr txBox="1"/>
              <p:nvPr/>
            </p:nvSpPr>
            <p:spPr>
              <a:xfrm>
                <a:off x="713232" y="3950208"/>
                <a:ext cx="10735056" cy="771143"/>
              </a:xfrm>
              <a:prstGeom prst="rect">
                <a:avLst/>
              </a:prstGeom>
              <a:noFill/>
            </p:spPr>
            <p:txBody>
              <a:bodyPr wrap="square" anchor="ctr" lIns="45720" rIns="45720">
                <a:spAutoFit/>
              </a:bodyPr>
              <a:lstStyle/>
              <a:p>
                <a:pPr algn="l">
                  <a:spcAft>
                    <a:spcPts val="800"/>
                  </a:spcAft>
                </a:pPr>
                <a:r>
                  <a:rPr sz="1900">
                    <a:solidFill>
                      <a:srgbClr val="1E293B"/>
                    </a:solidFill>
                    <a:latin typeface="Calibri"/>
                  </a:rPr>
                  <a:t>3.2. Nhóm dài 9: </a:t>
                </a:r>
                <a14:m>
                  <m:oMath xmlns:m="http://schemas.openxmlformats.org/officeDocument/2006/math">
                    <m:r>
                      <a:rPr lang="vi-VN" sz="1900" b="0">
                        <a:solidFill>
                          <a:srgbClr val="1E293B"/>
                        </a:solidFill>
                        <a:latin typeface="Cambria Math" panose="02040503050406030204" pitchFamily="18" charset="0"/>
                      </a:rPr>
                      <m:t>[5;</m:t>
                    </m:r>
                    <m:r>
                      <m:rPr>
                        <m:sty m:val="p"/>
                      </m:rPr>
                      <a:rPr lang="vi-VN" sz="1900" b="0">
                        <a:solidFill>
                          <a:srgbClr val="1E293B"/>
                        </a:solidFill>
                        <a:latin typeface="Cambria Math" panose="02040503050406030204" pitchFamily="18" charset="0"/>
                      </a:rPr>
                      <m:t> </m:t>
                    </m:r>
                    <m:r>
                      <a:rPr lang="vi-VN" sz="1900" b="0">
                        <a:solidFill>
                          <a:srgbClr val="1E293B"/>
                        </a:solidFill>
                        <a:latin typeface="Cambria Math" panose="02040503050406030204" pitchFamily="18" charset="0"/>
                      </a:rPr>
                      <m:t>14),…,[50;</m:t>
                    </m:r>
                    <m:r>
                      <m:rPr>
                        <m:sty m:val="p"/>
                      </m:rPr>
                      <a:rPr lang="vi-VN" sz="1900" b="0">
                        <a:solidFill>
                          <a:srgbClr val="1E293B"/>
                        </a:solidFill>
                        <a:latin typeface="Cambria Math" panose="02040503050406030204" pitchFamily="18" charset="0"/>
                      </a:rPr>
                      <m:t> </m:t>
                    </m:r>
                    <m:r>
                      <a:rPr lang="vi-VN" sz="1900" b="0">
                        <a:solidFill>
                          <a:srgbClr val="1E293B"/>
                        </a:solidFill>
                        <a:latin typeface="Cambria Math" panose="02040503050406030204" pitchFamily="18" charset="0"/>
                      </a:rPr>
                      <m:t>59)</m:t>
                    </m:r>
                  </m:oMath>
                </a14:m>
                <a:r>
                  <a:rPr sz="1900">
                    <a:solidFill>
                      <a:srgbClr val="1E293B"/>
                    </a:solidFill>
                    <a:latin typeface="Calibri"/>
                  </a:rPr>
                  <a:t> có tần số 3, 8, 7, 3, 3, 1. 3.3. Nhóm dài 24: </a:t>
                </a:r>
                <a14:m>
                  <m:oMath xmlns:m="http://schemas.openxmlformats.org/officeDocument/2006/math">
                    <m:r>
                      <a:rPr lang="vi-VN" sz="1900" b="0">
                        <a:solidFill>
                          <a:srgbClr val="1E293B"/>
                        </a:solidFill>
                        <a:latin typeface="Cambria Math" panose="02040503050406030204" pitchFamily="18" charset="0"/>
                      </a:rPr>
                      <m:t>[490;</m:t>
                    </m:r>
                    <m:r>
                      <m:rPr>
                        <m:sty m:val="p"/>
                      </m:rPr>
                      <a:rPr lang="vi-VN" sz="1900" b="0">
                        <a:solidFill>
                          <a:srgbClr val="1E293B"/>
                        </a:solidFill>
                        <a:latin typeface="Cambria Math" panose="02040503050406030204" pitchFamily="18" charset="0"/>
                      </a:rPr>
                      <m:t> </m:t>
                    </m:r>
                    <m:r>
                      <a:rPr lang="vi-VN" sz="1900" b="0">
                        <a:solidFill>
                          <a:srgbClr val="1E293B"/>
                        </a:solidFill>
                        <a:latin typeface="Cambria Math" panose="02040503050406030204" pitchFamily="18" charset="0"/>
                      </a:rPr>
                      <m:t>514),…,[634;</m:t>
                    </m:r>
                    <m:r>
                      <m:rPr>
                        <m:sty m:val="p"/>
                      </m:rPr>
                      <a:rPr lang="vi-VN" sz="1900" b="0">
                        <a:solidFill>
                          <a:srgbClr val="1E293B"/>
                        </a:solidFill>
                        <a:latin typeface="Cambria Math" panose="02040503050406030204" pitchFamily="18" charset="0"/>
                      </a:rPr>
                      <m:t> </m:t>
                    </m:r>
                    <m:r>
                      <a:rPr lang="vi-VN" sz="1900" b="0">
                        <a:solidFill>
                          <a:srgbClr val="1E293B"/>
                        </a:solidFill>
                        <a:latin typeface="Cambria Math" panose="02040503050406030204" pitchFamily="18" charset="0"/>
                      </a:rPr>
                      <m:t>658)</m:t>
                    </m:r>
                  </m:oMath>
                </a14:m>
                <a:r>
                  <a:rPr sz="1900">
                    <a:solidFill>
                      <a:srgbClr val="1E293B"/>
                    </a:solidFill>
                    <a:latin typeface="Calibri"/>
                  </a:rPr>
                  <a:t> có tần số 8, 3, 0, 2, 1, 1, 1.</a:t>
                </a:r>
              </a:p>
            </p:txBody>
          </p:sp>
        </mc:Choice>
        <mc:Fallback>
          <p:sp>
            <p:nvSpPr>
              <p:cNvPr id="12" name="TextBox 11"/>
              <p:cNvSpPr txBox="1"/>
              <p:nvPr/>
            </p:nvSpPr>
            <p:spPr>
              <a:xfrm>
                <a:off x="713232" y="3950208"/>
                <a:ext cx="10735056" cy="771143"/>
              </a:xfrm>
              <a:prstGeom prst="rect">
                <a:avLst/>
              </a:prstGeom>
              <a:noFill/>
            </p:spPr>
            <p:txBody>
              <a:bodyPr wrap="square" anchor="ctr" lIns="45720" rIns="45720">
                <a:spAutoFit/>
              </a:bodyPr>
              <a:lstStyle/>
              <a:p>
                <a:pPr algn="l">
                  <a:spcAft>
                    <a:spcPts val="800"/>
                  </a:spcAft>
                </a:pPr>
                <a:r>
                  <a:rPr sz="1900">
                    <a:solidFill>
                      <a:srgbClr val="1E293B"/>
                    </a:solidFill>
                    <a:latin typeface="Calibri"/>
                  </a:rPr>
                  <a:t>3.2. Nhóm dài 9: </a:t>
                </a:r>
                <a:r>
                  <a:rPr lang="vi-VN"/>
                  <a:t>[5;\ 14),\ldots,[50;\ 59)</a:t>
                </a:r>
                <a:r>
                  <a:rPr sz="1900">
                    <a:solidFill>
                      <a:srgbClr val="1E293B"/>
                    </a:solidFill>
                    <a:latin typeface="Calibri"/>
                  </a:rPr>
                  <a:t> có tần số 3, 8, 7, 3, 3, 1. 3.3. Nhóm dài 24: </a:t>
                </a:r>
                <a:r>
                  <a:rPr lang="vi-VN"/>
                  <a:t>[490;\ 514),\ldots,[634;\ 658)</a:t>
                </a:r>
                <a:r>
                  <a:rPr sz="1900">
                    <a:solidFill>
                      <a:srgbClr val="1E293B"/>
                    </a:solidFill>
                    <a:latin typeface="Calibri"/>
                  </a:rPr>
                  <a:t> có tần số 8, 3, 0, 2, 1, 1, 1.</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DB2777"/>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TRÒ CHƠI</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000" b="1">
                <a:solidFill>
                  <a:srgbClr val="1E40AF"/>
                </a:solidFill>
                <a:latin typeface="Cambria"/>
              </a:rPr>
              <a:t>TRÒ CHƠI: RUNG CHUÔNG VÀNG</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8. Mẫu số liệu ghép nhóm – Toán 11          10</a:t>
            </a:r>
          </a:p>
        </p:txBody>
      </p:sp>
      <p:sp>
        <p:nvSpPr>
          <p:cNvPr id="7" name="Rounded Rectangle 6"/>
          <p:cNvSpPr/>
          <p:nvPr/>
        </p:nvSpPr>
        <p:spPr>
          <a:xfrm>
            <a:off x="1371600" y="1554480"/>
            <a:ext cx="9418320" cy="2962656"/>
          </a:xfrm>
          <a:prstGeom prst="roundRect">
            <a:avLst>
              <a:gd name="adj" fmla="val 6000"/>
            </a:avLst>
          </a:prstGeom>
          <a:solidFill>
            <a:srgbClr val="FFFBEB"/>
          </a:solidFill>
          <a:ln w="19050">
            <a:solidFill>
              <a:srgbClr val="D9770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536192" y="1591056"/>
            <a:ext cx="9089136" cy="2889504"/>
          </a:xfrm>
          <a:prstGeom prst="rect">
            <a:avLst/>
          </a:prstGeom>
          <a:noFill/>
        </p:spPr>
        <p:txBody>
          <a:bodyPr wrap="square" anchor="ctr" lIns="45720" rIns="45720">
            <a:spAutoFit/>
          </a:bodyPr>
          <a:lstStyle/>
          <a:p>
            <a:pPr algn="ctr">
              <a:spcAft>
                <a:spcPts val="800"/>
              </a:spcAft>
            </a:pPr>
            <a:r>
              <a:rPr sz="3000">
                <a:solidFill>
                  <a:srgbClr val="1E293B"/>
                </a:solidFill>
                <a:latin typeface="Calibri"/>
              </a:rPr>
              <a:t>🔔 </a:t>
            </a:r>
            <a:r>
              <a:rPr sz="3000" b="1">
                <a:solidFill>
                  <a:srgbClr val="1E293B"/>
                </a:solidFill>
                <a:latin typeface="Calibri"/>
              </a:rPr>
              <a:t>Luật chơi</a:t>
            </a:r>
          </a:p>
          <a:p>
            <a:pPr algn="l" marL="365760" indent="-365760">
              <a:spcAft>
                <a:spcPts val="800"/>
              </a:spcAft>
              <a:buClr>
                <a:srgbClr val="1E40AF"/>
              </a:buClr>
              <a:buFont typeface="Arial"/>
              <a:buChar char="•"/>
            </a:pPr>
            <a:r>
              <a:rPr sz="2400">
                <a:solidFill>
                  <a:srgbClr val="1E293B"/>
                </a:solidFill>
                <a:latin typeface="Calibri"/>
              </a:rPr>
              <a:t>Mỗi bạn một bảng con – viết đáp án khi hết giờ.</a:t>
            </a:r>
          </a:p>
          <a:p>
            <a:pPr algn="l" marL="365760" indent="-365760">
              <a:spcAft>
                <a:spcPts val="800"/>
              </a:spcAft>
              <a:buClr>
                <a:srgbClr val="1E40AF"/>
              </a:buClr>
              <a:buFont typeface="Arial"/>
              <a:buChar char="•"/>
            </a:pPr>
            <a:r>
              <a:rPr sz="2400">
                <a:solidFill>
                  <a:srgbClr val="1E293B"/>
                </a:solidFill>
                <a:latin typeface="Calibri"/>
              </a:rPr>
              <a:t>Câu nhiều lựa chọn: ghi A, B, C hoặc D (30 giây).</a:t>
            </a:r>
          </a:p>
          <a:p>
            <a:pPr algn="l" marL="365760" indent="-365760">
              <a:spcAft>
                <a:spcPts val="800"/>
              </a:spcAft>
              <a:buClr>
                <a:srgbClr val="1E40AF"/>
              </a:buClr>
              <a:buFont typeface="Arial"/>
              <a:buChar char="•"/>
            </a:pPr>
            <a:r>
              <a:rPr sz="2400">
                <a:solidFill>
                  <a:srgbClr val="1E293B"/>
                </a:solidFill>
                <a:latin typeface="Calibri"/>
              </a:rPr>
              <a:t>Câu Đúng/Sai: ghi Đ hoặc S cho từng ý (60 giây).</a:t>
            </a:r>
          </a:p>
          <a:p>
            <a:pPr algn="l" marL="365760" indent="-365760">
              <a:spcAft>
                <a:spcPts val="800"/>
              </a:spcAft>
              <a:buClr>
                <a:srgbClr val="1E40AF"/>
              </a:buClr>
              <a:buFont typeface="Arial"/>
              <a:buChar char="•"/>
            </a:pPr>
            <a:r>
              <a:rPr sz="2400">
                <a:solidFill>
                  <a:srgbClr val="1E293B"/>
                </a:solidFill>
                <a:latin typeface="Calibri"/>
              </a:rPr>
              <a:t>Câu trả lời ngắn, thực tế: ghi một số (60 giây).</a:t>
            </a:r>
          </a:p>
          <a:p>
            <a:pPr algn="l" marL="365760" indent="-365760">
              <a:spcAft>
                <a:spcPts val="800"/>
              </a:spcAft>
              <a:buClr>
                <a:srgbClr val="1E40AF"/>
              </a:buClr>
              <a:buFont typeface="Arial"/>
              <a:buChar char="•"/>
            </a:pPr>
            <a:r>
              <a:rPr sz="2400">
                <a:solidFill>
                  <a:srgbClr val="1E293B"/>
                </a:solidFill>
                <a:latin typeface="Calibri"/>
              </a:rPr>
              <a:t>Sai: rời sàn thi. Bạn trụ lại cuối cùng </a:t>
            </a:r>
            <a:r>
              <a:rPr sz="2400" b="1">
                <a:solidFill>
                  <a:srgbClr val="1E293B"/>
                </a:solidFill>
                <a:latin typeface="Calibri"/>
              </a:rPr>
              <a:t>rung chuông vàng</a:t>
            </a:r>
            <a:r>
              <a:rPr sz="2400">
                <a:solidFill>
                  <a:srgbClr val="1E293B"/>
                </a:solidFill>
                <a:latin typeface="Calibri"/>
              </a:rPr>
              <a: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DB2777"/>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TRÒ CHƠI</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000" b="1">
                <a:solidFill>
                  <a:srgbClr val="1E40AF"/>
                </a:solidFill>
                <a:latin typeface="Cambria"/>
              </a:rPr>
              <a:t>RUNG CHUÔNG VÀNG – CÂU 1 (BIẾT)</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8. Mẫu số liệu ghép nhóm – Toán 11          11</a:t>
            </a:r>
          </a:p>
        </p:txBody>
      </p:sp>
      <mc:AlternateContent xmlns:mc="http://schemas.openxmlformats.org/markup-compatibility/2006">
        <mc:Choice xmlns:a14="http://schemas.microsoft.com/office/drawing/2010/main" Requires="a14">
          <p:sp>
            <p:nvSpPr>
              <p:cNvPr id="7" name="TextBox 6"/>
              <p:cNvSpPr txBox="1"/>
              <p:nvPr/>
            </p:nvSpPr>
            <p:spPr>
              <a:xfrm>
                <a:off x="548640" y="1371600"/>
                <a:ext cx="11064240" cy="569976"/>
              </a:xfrm>
              <a:prstGeom prst="rect">
                <a:avLst/>
              </a:prstGeom>
              <a:noFill/>
            </p:spPr>
            <p:txBody>
              <a:bodyPr wrap="square" anchor="t" lIns="45720" rIns="45720">
                <a:spAutoFit/>
              </a:bodyPr>
              <a:lstStyle/>
              <a:p>
                <a:pPr algn="l">
                  <a:spcAft>
                    <a:spcPts val="800"/>
                  </a:spcAft>
                </a:pPr>
                <a:r>
                  <a:rPr sz="2600">
                    <a:solidFill>
                      <a:srgbClr val="1E293B"/>
                    </a:solidFill>
                    <a:latin typeface="Calibri"/>
                  </a:rPr>
                  <a:t>Nhóm số liệu </a:t>
                </a:r>
                <a14:m>
                  <m:oMath xmlns:m="http://schemas.openxmlformats.org/officeDocument/2006/math">
                    <m:r>
                      <a:rPr lang="vi-VN" sz="2600" b="0">
                        <a:solidFill>
                          <a:srgbClr val="1E293B"/>
                        </a:solidFill>
                        <a:latin typeface="Cambria Math" panose="02040503050406030204" pitchFamily="18" charset="0"/>
                      </a:rPr>
                      <m:t>[25;</m:t>
                    </m:r>
                    <m:r>
                      <m:rPr>
                        <m:sty m:val="p"/>
                      </m:rPr>
                      <a:rPr lang="vi-VN" sz="2600" b="0">
                        <a:solidFill>
                          <a:srgbClr val="1E293B"/>
                        </a:solidFill>
                        <a:latin typeface="Cambria Math" panose="02040503050406030204" pitchFamily="18" charset="0"/>
                      </a:rPr>
                      <m:t> </m:t>
                    </m:r>
                    <m:r>
                      <a:rPr lang="vi-VN" sz="2600" b="0">
                        <a:solidFill>
                          <a:srgbClr val="1E293B"/>
                        </a:solidFill>
                        <a:latin typeface="Cambria Math" panose="02040503050406030204" pitchFamily="18" charset="0"/>
                      </a:rPr>
                      <m:t>30)</m:t>
                    </m:r>
                  </m:oMath>
                </a14:m>
                <a:r>
                  <a:rPr sz="2600">
                    <a:solidFill>
                      <a:srgbClr val="1E293B"/>
                    </a:solidFill>
                    <a:latin typeface="Calibri"/>
                  </a:rPr>
                  <a:t> có độ dài bằng</a:t>
                </a:r>
              </a:p>
            </p:txBody>
          </p:sp>
        </mc:Choice>
        <mc:Fallback>
          <p:sp>
            <p:nvSpPr>
              <p:cNvPr id="7" name="TextBox 6"/>
              <p:cNvSpPr txBox="1"/>
              <p:nvPr/>
            </p:nvSpPr>
            <p:spPr>
              <a:xfrm>
                <a:off x="548640" y="1371600"/>
                <a:ext cx="11064240" cy="569976"/>
              </a:xfrm>
              <a:prstGeom prst="rect">
                <a:avLst/>
              </a:prstGeom>
              <a:noFill/>
            </p:spPr>
            <p:txBody>
              <a:bodyPr wrap="square" anchor="t" lIns="45720" rIns="45720">
                <a:spAutoFit/>
              </a:bodyPr>
              <a:lstStyle/>
              <a:p>
                <a:pPr algn="l">
                  <a:spcAft>
                    <a:spcPts val="800"/>
                  </a:spcAft>
                </a:pPr>
                <a:r>
                  <a:rPr sz="2600">
                    <a:solidFill>
                      <a:srgbClr val="1E293B"/>
                    </a:solidFill>
                    <a:latin typeface="Calibri"/>
                  </a:rPr>
                  <a:t>Nhóm số liệu </a:t>
                </a:r>
                <a:r>
                  <a:rPr lang="vi-VN"/>
                  <a:t>[25;\ 30)</a:t>
                </a:r>
                <a:r>
                  <a:rPr sz="2600">
                    <a:solidFill>
                      <a:srgbClr val="1E293B"/>
                    </a:solidFill>
                    <a:latin typeface="Calibri"/>
                  </a:rPr>
                  <a:t> có độ dài bằng</a:t>
                </a:r>
              </a:p>
            </p:txBody>
          </p:sp>
        </mc:Fallback>
      </mc:AlternateContent>
      <p:sp>
        <p:nvSpPr>
          <p:cNvPr id="8" name="Rounded Rectangle 7"/>
          <p:cNvSpPr/>
          <p:nvPr/>
        </p:nvSpPr>
        <p:spPr>
          <a:xfrm>
            <a:off x="548640" y="2468880"/>
            <a:ext cx="5440680" cy="841248"/>
          </a:xfrm>
          <a:prstGeom prst="roundRect">
            <a:avLst>
              <a:gd name="adj" fmla="val 6000"/>
            </a:avLst>
          </a:prstGeom>
          <a:solidFill>
            <a:srgbClr val="EFF4FF"/>
          </a:solidFill>
          <a:ln w="19050">
            <a:solidFill>
              <a:srgbClr val="1E40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9" name="TextBox 8"/>
              <p:cNvSpPr txBox="1"/>
              <p:nvPr/>
            </p:nvSpPr>
            <p:spPr>
              <a:xfrm>
                <a:off x="713232" y="2505456"/>
                <a:ext cx="5111496" cy="768096"/>
              </a:xfrm>
              <a:prstGeom prst="rect">
                <a:avLst/>
              </a:prstGeom>
              <a:noFill/>
            </p:spPr>
            <p:txBody>
              <a:bodyPr wrap="square" anchor="ctr" lIns="45720" rIns="45720">
                <a:spAutoFit/>
              </a:bodyPr>
              <a:lstStyle/>
              <a:p>
                <a:pPr algn="l">
                  <a:spcAft>
                    <a:spcPts val="800"/>
                  </a:spcAft>
                </a:pPr>
                <a:r>
                  <a:rPr sz="2400" b="1">
                    <a:solidFill>
                      <a:srgbClr val="1E293B"/>
                    </a:solidFill>
                    <a:latin typeface="Calibri"/>
                  </a:rPr>
                  <a:t>A.</a:t>
                </a:r>
                <a:r>
                  <a:rPr sz="2400">
                    <a:solidFill>
                      <a:srgbClr val="1E293B"/>
                    </a:solidFill>
                    <a:latin typeface="Calibri"/>
                  </a:rPr>
                  <a:t> </a:t>
                </a:r>
                <a14:m>
                  <m:oMath xmlns:m="http://schemas.openxmlformats.org/officeDocument/2006/math">
                    <m:r>
                      <a:rPr lang="vi-VN" sz="2400" b="0">
                        <a:solidFill>
                          <a:srgbClr val="1E293B"/>
                        </a:solidFill>
                        <a:latin typeface="Cambria Math" panose="02040503050406030204" pitchFamily="18" charset="0"/>
                      </a:rPr>
                      <m:t>25</m:t>
                    </m:r>
                  </m:oMath>
                </a14:m>
              </a:p>
            </p:txBody>
          </p:sp>
        </mc:Choice>
        <mc:Fallback>
          <p:sp>
            <p:nvSpPr>
              <p:cNvPr id="9" name="TextBox 8"/>
              <p:cNvSpPr txBox="1"/>
              <p:nvPr/>
            </p:nvSpPr>
            <p:spPr>
              <a:xfrm>
                <a:off x="713232" y="2505456"/>
                <a:ext cx="5111496" cy="768096"/>
              </a:xfrm>
              <a:prstGeom prst="rect">
                <a:avLst/>
              </a:prstGeom>
              <a:noFill/>
            </p:spPr>
            <p:txBody>
              <a:bodyPr wrap="square" anchor="ctr" lIns="45720" rIns="45720">
                <a:spAutoFit/>
              </a:bodyPr>
              <a:lstStyle/>
              <a:p>
                <a:pPr algn="l">
                  <a:spcAft>
                    <a:spcPts val="800"/>
                  </a:spcAft>
                </a:pPr>
                <a:r>
                  <a:rPr sz="2400" b="1">
                    <a:solidFill>
                      <a:srgbClr val="1E293B"/>
                    </a:solidFill>
                    <a:latin typeface="Calibri"/>
                  </a:rPr>
                  <a:t>A.</a:t>
                </a:r>
                <a:r>
                  <a:rPr sz="2400">
                    <a:solidFill>
                      <a:srgbClr val="1E293B"/>
                    </a:solidFill>
                    <a:latin typeface="Calibri"/>
                  </a:rPr>
                  <a:t> </a:t>
                </a:r>
                <a:r>
                  <a:rPr lang="vi-VN"/>
                  <a:t>25</a:t>
                </a:r>
              </a:p>
            </p:txBody>
          </p:sp>
        </mc:Fallback>
      </mc:AlternateContent>
      <p:sp>
        <p:nvSpPr>
          <p:cNvPr id="10" name="Rounded Rectangle 9"/>
          <p:cNvSpPr/>
          <p:nvPr/>
        </p:nvSpPr>
        <p:spPr>
          <a:xfrm>
            <a:off x="6172200" y="2468880"/>
            <a:ext cx="5440680" cy="841248"/>
          </a:xfrm>
          <a:prstGeom prst="roundRect">
            <a:avLst>
              <a:gd name="adj" fmla="val 6000"/>
            </a:avLst>
          </a:prstGeom>
          <a:solidFill>
            <a:srgbClr val="EFF4FF"/>
          </a:solidFill>
          <a:ln w="19050">
            <a:solidFill>
              <a:srgbClr val="1E40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1" name="TextBox 10"/>
              <p:cNvSpPr txBox="1"/>
              <p:nvPr/>
            </p:nvSpPr>
            <p:spPr>
              <a:xfrm>
                <a:off x="6336792" y="2505456"/>
                <a:ext cx="5111496" cy="768096"/>
              </a:xfrm>
              <a:prstGeom prst="rect">
                <a:avLst/>
              </a:prstGeom>
              <a:noFill/>
            </p:spPr>
            <p:txBody>
              <a:bodyPr wrap="square" anchor="ctr" lIns="45720" rIns="45720">
                <a:spAutoFit/>
              </a:bodyPr>
              <a:lstStyle/>
              <a:p>
                <a:pPr algn="l">
                  <a:spcAft>
                    <a:spcPts val="800"/>
                  </a:spcAft>
                </a:pPr>
                <a:r>
                  <a:rPr sz="2400" b="1">
                    <a:solidFill>
                      <a:srgbClr val="1E293B"/>
                    </a:solidFill>
                    <a:latin typeface="Calibri"/>
                  </a:rPr>
                  <a:t>B.</a:t>
                </a:r>
                <a:r>
                  <a:rPr sz="2400">
                    <a:solidFill>
                      <a:srgbClr val="1E293B"/>
                    </a:solidFill>
                    <a:latin typeface="Calibri"/>
                  </a:rPr>
                  <a:t> </a:t>
                </a:r>
                <a14:m>
                  <m:oMath xmlns:m="http://schemas.openxmlformats.org/officeDocument/2006/math">
                    <m:r>
                      <a:rPr lang="vi-VN" sz="2400" b="0">
                        <a:solidFill>
                          <a:srgbClr val="1E293B"/>
                        </a:solidFill>
                        <a:latin typeface="Cambria Math" panose="02040503050406030204" pitchFamily="18" charset="0"/>
                      </a:rPr>
                      <m:t>30</m:t>
                    </m:r>
                  </m:oMath>
                </a14:m>
              </a:p>
            </p:txBody>
          </p:sp>
        </mc:Choice>
        <mc:Fallback>
          <p:sp>
            <p:nvSpPr>
              <p:cNvPr id="11" name="TextBox 10"/>
              <p:cNvSpPr txBox="1"/>
              <p:nvPr/>
            </p:nvSpPr>
            <p:spPr>
              <a:xfrm>
                <a:off x="6336792" y="2505456"/>
                <a:ext cx="5111496" cy="768096"/>
              </a:xfrm>
              <a:prstGeom prst="rect">
                <a:avLst/>
              </a:prstGeom>
              <a:noFill/>
            </p:spPr>
            <p:txBody>
              <a:bodyPr wrap="square" anchor="ctr" lIns="45720" rIns="45720">
                <a:spAutoFit/>
              </a:bodyPr>
              <a:lstStyle/>
              <a:p>
                <a:pPr algn="l">
                  <a:spcAft>
                    <a:spcPts val="800"/>
                  </a:spcAft>
                </a:pPr>
                <a:r>
                  <a:rPr sz="2400" b="1">
                    <a:solidFill>
                      <a:srgbClr val="1E293B"/>
                    </a:solidFill>
                    <a:latin typeface="Calibri"/>
                  </a:rPr>
                  <a:t>B.</a:t>
                </a:r>
                <a:r>
                  <a:rPr sz="2400">
                    <a:solidFill>
                      <a:srgbClr val="1E293B"/>
                    </a:solidFill>
                    <a:latin typeface="Calibri"/>
                  </a:rPr>
                  <a:t> </a:t>
                </a:r>
                <a:r>
                  <a:rPr lang="vi-VN"/>
                  <a:t>30</a:t>
                </a:r>
              </a:p>
            </p:txBody>
          </p:sp>
        </mc:Fallback>
      </mc:AlternateContent>
      <p:sp>
        <p:nvSpPr>
          <p:cNvPr id="12" name="Rounded Rectangle 11"/>
          <p:cNvSpPr/>
          <p:nvPr/>
        </p:nvSpPr>
        <p:spPr>
          <a:xfrm>
            <a:off x="548640" y="3474720"/>
            <a:ext cx="5440680" cy="841248"/>
          </a:xfrm>
          <a:prstGeom prst="roundRect">
            <a:avLst>
              <a:gd name="adj" fmla="val 6000"/>
            </a:avLst>
          </a:prstGeom>
          <a:solidFill>
            <a:srgbClr val="EFF4FF"/>
          </a:solidFill>
          <a:ln w="19050">
            <a:solidFill>
              <a:srgbClr val="1E40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3" name="TextBox 12"/>
              <p:cNvSpPr txBox="1"/>
              <p:nvPr/>
            </p:nvSpPr>
            <p:spPr>
              <a:xfrm>
                <a:off x="713232" y="3511296"/>
                <a:ext cx="5111496" cy="768096"/>
              </a:xfrm>
              <a:prstGeom prst="rect">
                <a:avLst/>
              </a:prstGeom>
              <a:noFill/>
            </p:spPr>
            <p:txBody>
              <a:bodyPr wrap="square" anchor="ctr" lIns="45720" rIns="45720">
                <a:spAutoFit/>
              </a:bodyPr>
              <a:lstStyle/>
              <a:p>
                <a:pPr algn="l">
                  <a:spcAft>
                    <a:spcPts val="800"/>
                  </a:spcAft>
                </a:pPr>
                <a:r>
                  <a:rPr sz="2400" b="1">
                    <a:solidFill>
                      <a:srgbClr val="1E293B"/>
                    </a:solidFill>
                    <a:latin typeface="Calibri"/>
                  </a:rPr>
                  <a:t>C.</a:t>
                </a:r>
                <a:r>
                  <a:rPr sz="2400">
                    <a:solidFill>
                      <a:srgbClr val="1E293B"/>
                    </a:solidFill>
                    <a:latin typeface="Calibri"/>
                  </a:rPr>
                  <a:t> </a:t>
                </a:r>
                <a14:m>
                  <m:oMath xmlns:m="http://schemas.openxmlformats.org/officeDocument/2006/math">
                    <m:r>
                      <a:rPr lang="vi-VN" sz="2400" b="0">
                        <a:solidFill>
                          <a:srgbClr val="1E293B"/>
                        </a:solidFill>
                        <a:latin typeface="Cambria Math" panose="02040503050406030204" pitchFamily="18" charset="0"/>
                      </a:rPr>
                      <m:t>5</m:t>
                    </m:r>
                  </m:oMath>
                </a14:m>
              </a:p>
            </p:txBody>
          </p:sp>
        </mc:Choice>
        <mc:Fallback>
          <p:sp>
            <p:nvSpPr>
              <p:cNvPr id="13" name="TextBox 12"/>
              <p:cNvSpPr txBox="1"/>
              <p:nvPr/>
            </p:nvSpPr>
            <p:spPr>
              <a:xfrm>
                <a:off x="713232" y="3511296"/>
                <a:ext cx="5111496" cy="768096"/>
              </a:xfrm>
              <a:prstGeom prst="rect">
                <a:avLst/>
              </a:prstGeom>
              <a:noFill/>
            </p:spPr>
            <p:txBody>
              <a:bodyPr wrap="square" anchor="ctr" lIns="45720" rIns="45720">
                <a:spAutoFit/>
              </a:bodyPr>
              <a:lstStyle/>
              <a:p>
                <a:pPr algn="l">
                  <a:spcAft>
                    <a:spcPts val="800"/>
                  </a:spcAft>
                </a:pPr>
                <a:r>
                  <a:rPr sz="2400" b="1">
                    <a:solidFill>
                      <a:srgbClr val="1E293B"/>
                    </a:solidFill>
                    <a:latin typeface="Calibri"/>
                  </a:rPr>
                  <a:t>C.</a:t>
                </a:r>
                <a:r>
                  <a:rPr sz="2400">
                    <a:solidFill>
                      <a:srgbClr val="1E293B"/>
                    </a:solidFill>
                    <a:latin typeface="Calibri"/>
                  </a:rPr>
                  <a:t> </a:t>
                </a:r>
                <a:r>
                  <a:rPr lang="vi-VN"/>
                  <a:t>5</a:t>
                </a:r>
              </a:p>
            </p:txBody>
          </p:sp>
        </mc:Fallback>
      </mc:AlternateContent>
      <p:sp>
        <p:nvSpPr>
          <p:cNvPr id="14" name="Rounded Rectangle 13"/>
          <p:cNvSpPr/>
          <p:nvPr/>
        </p:nvSpPr>
        <p:spPr>
          <a:xfrm>
            <a:off x="6172200" y="3474720"/>
            <a:ext cx="5440680" cy="841248"/>
          </a:xfrm>
          <a:prstGeom prst="roundRect">
            <a:avLst>
              <a:gd name="adj" fmla="val 6000"/>
            </a:avLst>
          </a:prstGeom>
          <a:solidFill>
            <a:srgbClr val="EFF4FF"/>
          </a:solidFill>
          <a:ln w="19050">
            <a:solidFill>
              <a:srgbClr val="1E40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5" name="TextBox 14"/>
              <p:cNvSpPr txBox="1"/>
              <p:nvPr/>
            </p:nvSpPr>
            <p:spPr>
              <a:xfrm>
                <a:off x="6336792" y="3511296"/>
                <a:ext cx="5111496" cy="768096"/>
              </a:xfrm>
              <a:prstGeom prst="rect">
                <a:avLst/>
              </a:prstGeom>
              <a:noFill/>
            </p:spPr>
            <p:txBody>
              <a:bodyPr wrap="square" anchor="ctr" lIns="45720" rIns="45720">
                <a:spAutoFit/>
              </a:bodyPr>
              <a:lstStyle/>
              <a:p>
                <a:pPr algn="l">
                  <a:spcAft>
                    <a:spcPts val="800"/>
                  </a:spcAft>
                </a:pPr>
                <a:r>
                  <a:rPr sz="2400" b="1">
                    <a:solidFill>
                      <a:srgbClr val="1E293B"/>
                    </a:solidFill>
                    <a:latin typeface="Calibri"/>
                  </a:rPr>
                  <a:t>D.</a:t>
                </a:r>
                <a:r>
                  <a:rPr sz="2400">
                    <a:solidFill>
                      <a:srgbClr val="1E293B"/>
                    </a:solidFill>
                    <a:latin typeface="Calibri"/>
                  </a:rPr>
                  <a:t> </a:t>
                </a:r>
                <a14:m>
                  <m:oMath xmlns:m="http://schemas.openxmlformats.org/officeDocument/2006/math">
                    <m:r>
                      <a:rPr lang="vi-VN" sz="2400" b="0">
                        <a:solidFill>
                          <a:srgbClr val="1E293B"/>
                        </a:solidFill>
                        <a:latin typeface="Cambria Math" panose="02040503050406030204" pitchFamily="18" charset="0"/>
                      </a:rPr>
                      <m:t>55</m:t>
                    </m:r>
                  </m:oMath>
                </a14:m>
              </a:p>
            </p:txBody>
          </p:sp>
        </mc:Choice>
        <mc:Fallback>
          <p:sp>
            <p:nvSpPr>
              <p:cNvPr id="15" name="TextBox 14"/>
              <p:cNvSpPr txBox="1"/>
              <p:nvPr/>
            </p:nvSpPr>
            <p:spPr>
              <a:xfrm>
                <a:off x="6336792" y="3511296"/>
                <a:ext cx="5111496" cy="768096"/>
              </a:xfrm>
              <a:prstGeom prst="rect">
                <a:avLst/>
              </a:prstGeom>
              <a:noFill/>
            </p:spPr>
            <p:txBody>
              <a:bodyPr wrap="square" anchor="ctr" lIns="45720" rIns="45720">
                <a:spAutoFit/>
              </a:bodyPr>
              <a:lstStyle/>
              <a:p>
                <a:pPr algn="l">
                  <a:spcAft>
                    <a:spcPts val="800"/>
                  </a:spcAft>
                </a:pPr>
                <a:r>
                  <a:rPr sz="2400" b="1">
                    <a:solidFill>
                      <a:srgbClr val="1E293B"/>
                    </a:solidFill>
                    <a:latin typeface="Calibri"/>
                  </a:rPr>
                  <a:t>D.</a:t>
                </a:r>
                <a:r>
                  <a:rPr sz="2400">
                    <a:solidFill>
                      <a:srgbClr val="1E293B"/>
                    </a:solidFill>
                    <a:latin typeface="Calibri"/>
                  </a:rPr>
                  <a:t> </a:t>
                </a:r>
                <a:r>
                  <a:rPr lang="vi-VN"/>
                  <a:t>55</a:t>
                </a:r>
              </a:p>
            </p:txBody>
          </p:sp>
        </mc:Fallback>
      </mc:AlternateContent>
      <p:sp>
        <p:nvSpPr>
          <p:cNvPr id="16" name="s1_nen"/>
          <p:cNvSpPr/>
          <p:nvPr/>
        </p:nvSpPr>
        <p:spPr>
          <a:xfrm>
            <a:off x="548640" y="4617720"/>
            <a:ext cx="11064240" cy="600456"/>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7" name="s1_chu"/>
              <p:cNvSpPr txBox="1"/>
              <p:nvPr/>
            </p:nvSpPr>
            <p:spPr>
              <a:xfrm>
                <a:off x="713232" y="4654296"/>
                <a:ext cx="10735056" cy="527304"/>
              </a:xfrm>
              <a:prstGeom prst="rect">
                <a:avLst/>
              </a:prstGeom>
              <a:noFill/>
            </p:spPr>
            <p:txBody>
              <a:bodyPr wrap="square" anchor="ctr" lIns="45720" rIns="45720">
                <a:spAutoFit/>
              </a:bodyPr>
              <a:lstStyle/>
              <a:p>
                <a:pPr algn="l">
                  <a:spcAft>
                    <a:spcPts val="800"/>
                  </a:spcAft>
                </a:pPr>
                <a:r>
                  <a:rPr sz="2200" b="1">
                    <a:solidFill>
                      <a:srgbClr val="1E293B"/>
                    </a:solidFill>
                    <a:latin typeface="Calibri"/>
                  </a:rPr>
                  <a:t>Đáp án C.</a:t>
                </a:r>
                <a:r>
                  <a:rPr sz="2200">
                    <a:solidFill>
                      <a:srgbClr val="1E293B"/>
                    </a:solidFill>
                    <a:latin typeface="Calibri"/>
                  </a:rPr>
                  <a:t> </a:t>
                </a:r>
                <a14:m>
                  <m:oMath xmlns:m="http://schemas.openxmlformats.org/officeDocument/2006/math">
                    <m:r>
                      <a:rPr lang="vi-VN" sz="2200" b="0">
                        <a:solidFill>
                          <a:srgbClr val="1E293B"/>
                        </a:solidFill>
                        <a:latin typeface="Cambria Math" panose="02040503050406030204" pitchFamily="18" charset="0"/>
                      </a:rPr>
                      <m:t>30−25=5</m:t>
                    </m:r>
                  </m:oMath>
                </a14:m>
                <a:r>
                  <a:rPr sz="2200">
                    <a:solidFill>
                      <a:srgbClr val="1E293B"/>
                    </a:solidFill>
                    <a:latin typeface="Calibri"/>
                  </a:rPr>
                  <a:t>.</a:t>
                </a:r>
              </a:p>
            </p:txBody>
          </p:sp>
        </mc:Choice>
        <mc:Fallback>
          <p:sp>
            <p:nvSpPr>
              <p:cNvPr id="17" name="TextBox 16"/>
              <p:cNvSpPr txBox="1"/>
              <p:nvPr/>
            </p:nvSpPr>
            <p:spPr>
              <a:xfrm>
                <a:off x="713232" y="4654296"/>
                <a:ext cx="10735056" cy="527304"/>
              </a:xfrm>
              <a:prstGeom prst="rect">
                <a:avLst/>
              </a:prstGeom>
              <a:noFill/>
            </p:spPr>
            <p:txBody>
              <a:bodyPr wrap="square" anchor="ctr" lIns="45720" rIns="45720">
                <a:spAutoFit/>
              </a:bodyPr>
              <a:lstStyle/>
              <a:p>
                <a:pPr algn="l">
                  <a:spcAft>
                    <a:spcPts val="800"/>
                  </a:spcAft>
                </a:pPr>
                <a:r>
                  <a:rPr sz="2200" b="1">
                    <a:solidFill>
                      <a:srgbClr val="1E293B"/>
                    </a:solidFill>
                    <a:latin typeface="Calibri"/>
                  </a:rPr>
                  <a:t>Đáp án C.</a:t>
                </a:r>
                <a:r>
                  <a:rPr sz="2200">
                    <a:solidFill>
                      <a:srgbClr val="1E293B"/>
                    </a:solidFill>
                    <a:latin typeface="Calibri"/>
                  </a:rPr>
                  <a:t> </a:t>
                </a:r>
                <a:r>
                  <a:rPr lang="vi-VN"/>
                  <a:t>30-25=5</a:t>
                </a:r>
                <a:r>
                  <a:rPr sz="2200">
                    <a:solidFill>
                      <a:srgbClr val="1E293B"/>
                    </a:solidFill>
                    <a:latin typeface="Calibri"/>
                  </a:rPr>
                  <a:t>.</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DB2777"/>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TRÒ CHƠI</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000" b="1">
                <a:solidFill>
                  <a:srgbClr val="1E40AF"/>
                </a:solidFill>
                <a:latin typeface="Cambria"/>
              </a:rPr>
              <a:t>RUNG CHUÔNG VÀNG – CÂU 2 (ĐÚNG/SAI)</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8. Mẫu số liệu ghép nhóm – Toán 11          12</a:t>
            </a:r>
          </a:p>
        </p:txBody>
      </p:sp>
      <p:sp>
        <p:nvSpPr>
          <p:cNvPr id="7" name="TextBox 6"/>
          <p:cNvSpPr txBox="1"/>
          <p:nvPr/>
        </p:nvSpPr>
        <p:spPr>
          <a:xfrm>
            <a:off x="548640" y="1371600"/>
            <a:ext cx="11064240" cy="539496"/>
          </a:xfrm>
          <a:prstGeom prst="rect">
            <a:avLst/>
          </a:prstGeom>
          <a:noFill/>
        </p:spPr>
        <p:txBody>
          <a:bodyPr wrap="square" anchor="t" lIns="45720" rIns="45720">
            <a:spAutoFit/>
          </a:bodyPr>
          <a:lstStyle/>
          <a:p>
            <a:pPr algn="l">
              <a:spcAft>
                <a:spcPts val="800"/>
              </a:spcAft>
            </a:pPr>
            <a:r>
              <a:rPr sz="2400">
                <a:solidFill>
                  <a:srgbClr val="1E293B"/>
                </a:solidFill>
                <a:latin typeface="Calibri"/>
              </a:rPr>
              <a:t>Mẫu số liệu thời gian đi làm (Luyện tập 1). Xét tính đúng, sai:</a:t>
            </a:r>
          </a:p>
        </p:txBody>
      </p:sp>
      <p:sp>
        <p:nvSpPr>
          <p:cNvPr id="8" name="TextBox 7"/>
          <p:cNvSpPr txBox="1"/>
          <p:nvPr/>
        </p:nvSpPr>
        <p:spPr>
          <a:xfrm>
            <a:off x="548640" y="2002536"/>
            <a:ext cx="7680960" cy="941832"/>
          </a:xfrm>
          <a:prstGeom prst="rect">
            <a:avLst/>
          </a:prstGeom>
          <a:noFill/>
        </p:spPr>
        <p:txBody>
          <a:bodyPr wrap="square" anchor="t" lIns="45720" rIns="45720">
            <a:spAutoFit/>
          </a:bodyPr>
          <a:lstStyle/>
          <a:p>
            <a:pPr algn="l">
              <a:spcAft>
                <a:spcPts val="800"/>
              </a:spcAft>
            </a:pPr>
            <a:r>
              <a:rPr sz="2300">
                <a:solidFill>
                  <a:srgbClr val="1E293B"/>
                </a:solidFill>
                <a:latin typeface="Calibri"/>
              </a:rPr>
              <a:t>a) Mẫu có 7 nhóm.</a:t>
            </a:r>
          </a:p>
        </p:txBody>
      </p:sp>
      <p:sp>
        <p:nvSpPr>
          <p:cNvPr id="9" name="s1_nen"/>
          <p:cNvSpPr/>
          <p:nvPr/>
        </p:nvSpPr>
        <p:spPr>
          <a:xfrm>
            <a:off x="8412480" y="1975104"/>
            <a:ext cx="3200400" cy="804672"/>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s1_chu"/>
          <p:cNvSpPr txBox="1"/>
          <p:nvPr/>
        </p:nvSpPr>
        <p:spPr>
          <a:xfrm>
            <a:off x="8577072" y="2011680"/>
            <a:ext cx="2871216" cy="731520"/>
          </a:xfrm>
          <a:prstGeom prst="rect">
            <a:avLst/>
          </a:prstGeom>
          <a:noFill/>
        </p:spPr>
        <p:txBody>
          <a:bodyPr wrap="square" anchor="ctr" lIns="45720" rIns="45720">
            <a:spAutoFit/>
          </a:bodyPr>
          <a:lstStyle/>
          <a:p>
            <a:pPr algn="ctr">
              <a:spcAft>
                <a:spcPts val="800"/>
              </a:spcAft>
            </a:pPr>
            <a:r>
              <a:rPr sz="2100" b="1">
                <a:solidFill>
                  <a:srgbClr val="1E293B"/>
                </a:solidFill>
                <a:latin typeface="Calibri"/>
              </a:rPr>
              <a:t>ĐÚNG</a:t>
            </a:r>
          </a:p>
        </p:txBody>
      </p:sp>
      <p:sp>
        <p:nvSpPr>
          <p:cNvPr id="11" name="TextBox 10"/>
          <p:cNvSpPr txBox="1"/>
          <p:nvPr/>
        </p:nvSpPr>
        <p:spPr>
          <a:xfrm>
            <a:off x="548640" y="2990088"/>
            <a:ext cx="7680960" cy="941832"/>
          </a:xfrm>
          <a:prstGeom prst="rect">
            <a:avLst/>
          </a:prstGeom>
          <a:noFill/>
        </p:spPr>
        <p:txBody>
          <a:bodyPr wrap="square" anchor="t" lIns="45720" rIns="45720">
            <a:spAutoFit/>
          </a:bodyPr>
          <a:lstStyle/>
          <a:p>
            <a:pPr algn="l">
              <a:spcAft>
                <a:spcPts val="800"/>
              </a:spcAft>
            </a:pPr>
            <a:r>
              <a:rPr sz="2300">
                <a:solidFill>
                  <a:srgbClr val="1E293B"/>
                </a:solidFill>
                <a:latin typeface="Calibri"/>
              </a:rPr>
              <a:t>b) Cỡ mẫu là 125.</a:t>
            </a:r>
          </a:p>
        </p:txBody>
      </p:sp>
      <p:sp>
        <p:nvSpPr>
          <p:cNvPr id="12" name="s2_nen"/>
          <p:cNvSpPr/>
          <p:nvPr/>
        </p:nvSpPr>
        <p:spPr>
          <a:xfrm>
            <a:off x="8412480" y="2962656"/>
            <a:ext cx="3200400" cy="804672"/>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s2_chu"/>
          <p:cNvSpPr txBox="1"/>
          <p:nvPr/>
        </p:nvSpPr>
        <p:spPr>
          <a:xfrm>
            <a:off x="8577072" y="2999232"/>
            <a:ext cx="2871216" cy="731520"/>
          </a:xfrm>
          <a:prstGeom prst="rect">
            <a:avLst/>
          </a:prstGeom>
          <a:noFill/>
        </p:spPr>
        <p:txBody>
          <a:bodyPr wrap="square" anchor="ctr" lIns="45720" rIns="45720">
            <a:spAutoFit/>
          </a:bodyPr>
          <a:lstStyle/>
          <a:p>
            <a:pPr algn="ctr">
              <a:spcAft>
                <a:spcPts val="800"/>
              </a:spcAft>
            </a:pPr>
            <a:r>
              <a:rPr sz="2100" b="1">
                <a:solidFill>
                  <a:srgbClr val="1E293B"/>
                </a:solidFill>
                <a:latin typeface="Calibri"/>
              </a:rPr>
              <a:t>ĐÚNG</a:t>
            </a:r>
          </a:p>
        </p:txBody>
      </p:sp>
      <p:sp>
        <p:nvSpPr>
          <p:cNvPr id="14" name="TextBox 13"/>
          <p:cNvSpPr txBox="1"/>
          <p:nvPr/>
        </p:nvSpPr>
        <p:spPr>
          <a:xfrm>
            <a:off x="548640" y="3977639"/>
            <a:ext cx="7680960" cy="941832"/>
          </a:xfrm>
          <a:prstGeom prst="rect">
            <a:avLst/>
          </a:prstGeom>
          <a:noFill/>
        </p:spPr>
        <p:txBody>
          <a:bodyPr wrap="square" anchor="t" lIns="45720" rIns="45720">
            <a:spAutoFit/>
          </a:bodyPr>
          <a:lstStyle/>
          <a:p>
            <a:pPr algn="l">
              <a:spcAft>
                <a:spcPts val="800"/>
              </a:spcAft>
            </a:pPr>
            <a:r>
              <a:rPr sz="2300">
                <a:solidFill>
                  <a:srgbClr val="1E293B"/>
                </a:solidFill>
                <a:latin typeface="Calibri"/>
              </a:rPr>
              <a:t>c) Có 21 nhân viên đi mất từ 40 đến dưới 45 phút.</a:t>
            </a:r>
          </a:p>
        </p:txBody>
      </p:sp>
      <p:sp>
        <p:nvSpPr>
          <p:cNvPr id="15" name="s3_nen"/>
          <p:cNvSpPr/>
          <p:nvPr/>
        </p:nvSpPr>
        <p:spPr>
          <a:xfrm>
            <a:off x="8412480" y="3950207"/>
            <a:ext cx="3200400" cy="804672"/>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s3_chu"/>
          <p:cNvSpPr txBox="1"/>
          <p:nvPr/>
        </p:nvSpPr>
        <p:spPr>
          <a:xfrm>
            <a:off x="8577072" y="3986783"/>
            <a:ext cx="2871216" cy="731520"/>
          </a:xfrm>
          <a:prstGeom prst="rect">
            <a:avLst/>
          </a:prstGeom>
          <a:noFill/>
        </p:spPr>
        <p:txBody>
          <a:bodyPr wrap="square" anchor="ctr" lIns="45720" rIns="45720">
            <a:spAutoFit/>
          </a:bodyPr>
          <a:lstStyle/>
          <a:p>
            <a:pPr algn="ctr">
              <a:spcAft>
                <a:spcPts val="800"/>
              </a:spcAft>
            </a:pPr>
            <a:r>
              <a:rPr sz="2100" b="1">
                <a:solidFill>
                  <a:srgbClr val="1E293B"/>
                </a:solidFill>
                <a:latin typeface="Calibri"/>
              </a:rPr>
              <a:t>SAI</a:t>
            </a:r>
            <a:r>
              <a:rPr sz="2100">
                <a:solidFill>
                  <a:srgbClr val="1E293B"/>
                </a:solidFill>
                <a:latin typeface="Calibri"/>
              </a:rPr>
              <a:t> (13)</a:t>
            </a:r>
          </a:p>
        </p:txBody>
      </p:sp>
      <p:sp>
        <p:nvSpPr>
          <p:cNvPr id="17" name="TextBox 16"/>
          <p:cNvSpPr txBox="1"/>
          <p:nvPr/>
        </p:nvSpPr>
        <p:spPr>
          <a:xfrm>
            <a:off x="548640" y="4965192"/>
            <a:ext cx="7680960" cy="941832"/>
          </a:xfrm>
          <a:prstGeom prst="rect">
            <a:avLst/>
          </a:prstGeom>
          <a:noFill/>
        </p:spPr>
        <p:txBody>
          <a:bodyPr wrap="square" anchor="t" lIns="45720" rIns="45720">
            <a:spAutoFit/>
          </a:bodyPr>
          <a:lstStyle/>
          <a:p>
            <a:pPr algn="l">
              <a:spcAft>
                <a:spcPts val="800"/>
              </a:spcAft>
            </a:pPr>
            <a:r>
              <a:rPr sz="2300">
                <a:solidFill>
                  <a:srgbClr val="1E293B"/>
                </a:solidFill>
                <a:latin typeface="Calibri"/>
              </a:rPr>
              <a:t>d) Có 25 nhân viên đi mất dưới 25 phút.</a:t>
            </a:r>
          </a:p>
        </p:txBody>
      </p:sp>
      <p:sp>
        <p:nvSpPr>
          <p:cNvPr id="18" name="s4_nen"/>
          <p:cNvSpPr/>
          <p:nvPr/>
        </p:nvSpPr>
        <p:spPr>
          <a:xfrm>
            <a:off x="8412480" y="4937759"/>
            <a:ext cx="3200400" cy="804672"/>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s4_chu"/>
          <p:cNvSpPr txBox="1"/>
          <p:nvPr/>
        </p:nvSpPr>
        <p:spPr>
          <a:xfrm>
            <a:off x="8577072" y="4974336"/>
            <a:ext cx="2871216" cy="731520"/>
          </a:xfrm>
          <a:prstGeom prst="rect">
            <a:avLst/>
          </a:prstGeom>
          <a:noFill/>
        </p:spPr>
        <p:txBody>
          <a:bodyPr wrap="square" anchor="ctr" lIns="45720" rIns="45720">
            <a:spAutoFit/>
          </a:bodyPr>
          <a:lstStyle/>
          <a:p>
            <a:pPr algn="ctr">
              <a:spcAft>
                <a:spcPts val="800"/>
              </a:spcAft>
            </a:pPr>
            <a:r>
              <a:rPr sz="2100" b="1">
                <a:solidFill>
                  <a:srgbClr val="1E293B"/>
                </a:solidFill>
                <a:latin typeface="Calibri"/>
              </a:rPr>
              <a:t>SAI</a:t>
            </a:r>
            <a:r>
              <a:rPr sz="2100">
                <a:solidFill>
                  <a:srgbClr val="1E293B"/>
                </a:solidFill>
                <a:latin typeface="Calibri"/>
              </a:rPr>
              <a:t> (20)</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5"/>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6"/>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8"/>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DB2777"/>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TRÒ CHƠI</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000" b="1">
                <a:solidFill>
                  <a:srgbClr val="1E40AF"/>
                </a:solidFill>
                <a:latin typeface="Cambria"/>
              </a:rPr>
              <a:t>RUNG CHUÔNG VÀNG – CÂU 3 (THỰC TẾ)</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8. Mẫu số liệu ghép nhóm – Toán 11          13</a:t>
            </a:r>
          </a:p>
        </p:txBody>
      </p:sp>
      <mc:AlternateContent xmlns:mc="http://schemas.openxmlformats.org/markup-compatibility/2006">
        <mc:Choice xmlns:a14="http://schemas.microsoft.com/office/drawing/2010/main" Requires="a14">
          <p:sp>
            <p:nvSpPr>
              <p:cNvPr id="7" name="TextBox 6"/>
              <p:cNvSpPr txBox="1"/>
              <p:nvPr/>
            </p:nvSpPr>
            <p:spPr>
              <a:xfrm>
                <a:off x="548640" y="1463040"/>
                <a:ext cx="11064240" cy="966216"/>
              </a:xfrm>
              <a:prstGeom prst="rect">
                <a:avLst/>
              </a:prstGeom>
              <a:noFill/>
            </p:spPr>
            <p:txBody>
              <a:bodyPr wrap="square" anchor="t" lIns="45720" rIns="45720">
                <a:spAutoFit/>
              </a:bodyPr>
              <a:lstStyle/>
              <a:p>
                <a:pPr algn="l">
                  <a:spcAft>
                    <a:spcPts val="800"/>
                  </a:spcAft>
                </a:pPr>
                <a:r>
                  <a:rPr sz="2600">
                    <a:solidFill>
                      <a:srgbClr val="1E293B"/>
                    </a:solidFill>
                    <a:latin typeface="Calibri"/>
                  </a:rPr>
                  <a:t>Lớp có 40 HS; nhóm chiều cao </a:t>
                </a:r>
                <a14:m>
                  <m:oMath xmlns:m="http://schemas.openxmlformats.org/officeDocument/2006/math">
                    <m:r>
                      <a:rPr lang="vi-VN" sz="2600" b="0">
                        <a:solidFill>
                          <a:srgbClr val="1E293B"/>
                        </a:solidFill>
                        <a:latin typeface="Cambria Math" panose="02040503050406030204" pitchFamily="18" charset="0"/>
                      </a:rPr>
                      <m:t>[160;</m:t>
                    </m:r>
                    <m:r>
                      <m:rPr>
                        <m:sty m:val="p"/>
                      </m:rPr>
                      <a:rPr lang="vi-VN" sz="2600" b="0">
                        <a:solidFill>
                          <a:srgbClr val="1E293B"/>
                        </a:solidFill>
                        <a:latin typeface="Cambria Math" panose="02040503050406030204" pitchFamily="18" charset="0"/>
                      </a:rPr>
                      <m:t> </m:t>
                    </m:r>
                    <m:r>
                      <a:rPr lang="vi-VN" sz="2600" b="0">
                        <a:solidFill>
                          <a:srgbClr val="1E293B"/>
                        </a:solidFill>
                        <a:latin typeface="Cambria Math" panose="02040503050406030204" pitchFamily="18" charset="0"/>
                      </a:rPr>
                      <m:t>165)</m:t>
                    </m:r>
                  </m:oMath>
                </a14:m>
                <a:r>
                  <a:rPr sz="2600">
                    <a:solidFill>
                      <a:srgbClr val="1E293B"/>
                    </a:solidFill>
                    <a:latin typeface="Calibri"/>
                  </a:rPr>
                  <a:t> có 14 HS. Nếu may 200 áo theo tỉ lệ này thì nhóm đó cần bao nhiêu áo?</a:t>
                </a:r>
              </a:p>
            </p:txBody>
          </p:sp>
        </mc:Choice>
        <mc:Fallback>
          <p:sp>
            <p:nvSpPr>
              <p:cNvPr id="7" name="TextBox 6"/>
              <p:cNvSpPr txBox="1"/>
              <p:nvPr/>
            </p:nvSpPr>
            <p:spPr>
              <a:xfrm>
                <a:off x="548640" y="1463040"/>
                <a:ext cx="11064240" cy="966216"/>
              </a:xfrm>
              <a:prstGeom prst="rect">
                <a:avLst/>
              </a:prstGeom>
              <a:noFill/>
            </p:spPr>
            <p:txBody>
              <a:bodyPr wrap="square" anchor="t" lIns="45720" rIns="45720">
                <a:spAutoFit/>
              </a:bodyPr>
              <a:lstStyle/>
              <a:p>
                <a:pPr algn="l">
                  <a:spcAft>
                    <a:spcPts val="800"/>
                  </a:spcAft>
                </a:pPr>
                <a:r>
                  <a:rPr sz="2600">
                    <a:solidFill>
                      <a:srgbClr val="1E293B"/>
                    </a:solidFill>
                    <a:latin typeface="Calibri"/>
                  </a:rPr>
                  <a:t>Lớp có 40 HS; nhóm chiều cao </a:t>
                </a:r>
                <a:r>
                  <a:rPr lang="vi-VN"/>
                  <a:t>[160;\ 165)</a:t>
                </a:r>
                <a:r>
                  <a:rPr sz="2600">
                    <a:solidFill>
                      <a:srgbClr val="1E293B"/>
                    </a:solidFill>
                    <a:latin typeface="Calibri"/>
                  </a:rPr>
                  <a:t> có 14 HS. Nếu may 200 áo theo tỉ lệ này thì nhóm đó cần bao nhiêu áo?</a:t>
                </a:r>
              </a:p>
            </p:txBody>
          </p:sp>
        </mc:Fallback>
      </mc:AlternateContent>
      <p:sp>
        <p:nvSpPr>
          <p:cNvPr id="8" name="s1_nen"/>
          <p:cNvSpPr/>
          <p:nvPr/>
        </p:nvSpPr>
        <p:spPr>
          <a:xfrm>
            <a:off x="548640" y="3931920"/>
            <a:ext cx="11064240" cy="795527"/>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9" name="s1_chu"/>
              <p:cNvSpPr txBox="1"/>
              <p:nvPr/>
            </p:nvSpPr>
            <p:spPr>
              <a:xfrm>
                <a:off x="713232" y="3968496"/>
                <a:ext cx="10735056" cy="722375"/>
              </a:xfrm>
              <a:prstGeom prst="rect">
                <a:avLst/>
              </a:prstGeom>
              <a:noFill/>
            </p:spPr>
            <p:txBody>
              <a:bodyPr wrap="square" anchor="ctr" lIns="45720" rIns="45720">
                <a:spAutoFit/>
              </a:bodyPr>
              <a:lstStyle/>
              <a:p>
                <a:pPr algn="l">
                  <a:spcAft>
                    <a:spcPts val="800"/>
                  </a:spcAft>
                </a:pPr>
                <a:r>
                  <a:rPr sz="2400" b="1">
                    <a:solidFill>
                      <a:srgbClr val="1E293B"/>
                    </a:solidFill>
                    <a:latin typeface="Calibri"/>
                  </a:rPr>
                  <a:t>Đáp số: 70.</a:t>
                </a:r>
                <a:r>
                  <a:rPr sz="2400">
                    <a:solidFill>
                      <a:srgbClr val="1E293B"/>
                    </a:solidFill>
                    <a:latin typeface="Calibri"/>
                  </a:rPr>
                  <a:t> </a:t>
                </a:r>
                <a14:m>
                  <m:oMath xmlns:m="http://schemas.openxmlformats.org/officeDocument/2006/math">
                    <m:r>
                      <a:rPr lang="vi-VN" sz="2400" b="0">
                        <a:solidFill>
                          <a:srgbClr val="1E293B"/>
                        </a:solidFill>
                        <a:latin typeface="Cambria Math" panose="02040503050406030204" pitchFamily="18" charset="0"/>
                      </a:rPr>
                      <m:t>200·</m:t>
                    </m:r>
                    <m:f>
                      <m:fPr>
                        <m:type m:val="bar"/>
                      </m:fPr>
                      <m:num>
                        <m:r>
                          <a:rPr lang="vi-VN" sz="2400" b="0">
                            <a:solidFill>
                              <a:srgbClr val="1E293B"/>
                            </a:solidFill>
                            <a:latin typeface="Cambria Math" panose="02040503050406030204" pitchFamily="18" charset="0"/>
                          </a:rPr>
                          <m:t>14</m:t>
                        </m:r>
                      </m:num>
                      <m:den>
                        <m:r>
                          <a:rPr lang="vi-VN" sz="2400" b="0">
                            <a:solidFill>
                              <a:srgbClr val="1E293B"/>
                            </a:solidFill>
                            <a:latin typeface="Cambria Math" panose="02040503050406030204" pitchFamily="18" charset="0"/>
                          </a:rPr>
                          <m:t>40</m:t>
                        </m:r>
                      </m:den>
                    </m:f>
                    <m:r>
                      <a:rPr lang="vi-VN" sz="2400" b="0">
                        <a:solidFill>
                          <a:srgbClr val="1E293B"/>
                        </a:solidFill>
                        <a:latin typeface="Cambria Math" panose="02040503050406030204" pitchFamily="18" charset="0"/>
                      </a:rPr>
                      <m:t>=70</m:t>
                    </m:r>
                  </m:oMath>
                </a14:m>
                <a:r>
                  <a:rPr sz="2400">
                    <a:solidFill>
                      <a:srgbClr val="1E293B"/>
                    </a:solidFill>
                    <a:latin typeface="Calibri"/>
                  </a:rPr>
                  <a:t>.</a:t>
                </a:r>
              </a:p>
            </p:txBody>
          </p:sp>
        </mc:Choice>
        <mc:Fallback>
          <p:sp>
            <p:nvSpPr>
              <p:cNvPr id="9" name="TextBox 8"/>
              <p:cNvSpPr txBox="1"/>
              <p:nvPr/>
            </p:nvSpPr>
            <p:spPr>
              <a:xfrm>
                <a:off x="713232" y="3968496"/>
                <a:ext cx="10735056" cy="722375"/>
              </a:xfrm>
              <a:prstGeom prst="rect">
                <a:avLst/>
              </a:prstGeom>
              <a:noFill/>
            </p:spPr>
            <p:txBody>
              <a:bodyPr wrap="square" anchor="ctr" lIns="45720" rIns="45720">
                <a:spAutoFit/>
              </a:bodyPr>
              <a:lstStyle/>
              <a:p>
                <a:pPr algn="l">
                  <a:spcAft>
                    <a:spcPts val="800"/>
                  </a:spcAft>
                </a:pPr>
                <a:r>
                  <a:rPr sz="2400" b="1">
                    <a:solidFill>
                      <a:srgbClr val="1E293B"/>
                    </a:solidFill>
                    <a:latin typeface="Calibri"/>
                  </a:rPr>
                  <a:t>Đáp số: 70.</a:t>
                </a:r>
                <a:r>
                  <a:rPr sz="2400">
                    <a:solidFill>
                      <a:srgbClr val="1E293B"/>
                    </a:solidFill>
                    <a:latin typeface="Calibri"/>
                  </a:rPr>
                  <a:t> </a:t>
                </a:r>
                <a:r>
                  <a:rPr lang="vi-VN"/>
                  <a:t>200\cdot\frac{14}{40}=70</a:t>
                </a:r>
                <a:r>
                  <a:rPr sz="2400">
                    <a:solidFill>
                      <a:srgbClr val="1E293B"/>
                    </a:solidFill>
                    <a:latin typeface="Calibri"/>
                  </a:rPr>
                  <a:t>.</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475569"/>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TỔNG KẾT</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000" b="1">
                <a:solidFill>
                  <a:srgbClr val="1E40AF"/>
                </a:solidFill>
                <a:latin typeface="Cambria"/>
              </a:rPr>
              <a:t>CỦNG CỐ TRỰC TUYẾN – NHIỆM VỤ VỀ NHÀ</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8. Mẫu số liệu ghép nhóm – Toán 11          14</a:t>
            </a:r>
          </a:p>
        </p:txBody>
      </p:sp>
      <p:sp>
        <p:nvSpPr>
          <p:cNvPr id="7" name="TextBox 6"/>
          <p:cNvSpPr txBox="1"/>
          <p:nvPr/>
        </p:nvSpPr>
        <p:spPr>
          <a:xfrm>
            <a:off x="548640" y="1417320"/>
            <a:ext cx="7589520" cy="4754880"/>
          </a:xfrm>
          <a:prstGeom prst="rect">
            <a:avLst/>
          </a:prstGeom>
          <a:noFill/>
        </p:spPr>
        <p:txBody>
          <a:bodyPr wrap="square" anchor="t" lIns="45720" rIns="45720">
            <a:spAutoFit/>
          </a:bodyPr>
          <a:lstStyle/>
          <a:p>
            <a:pPr algn="l">
              <a:spcAft>
                <a:spcPts val="800"/>
              </a:spcAft>
            </a:pPr>
            <a:r>
              <a:rPr sz="2200" b="1">
                <a:solidFill>
                  <a:srgbClr val="1E293B"/>
                </a:solidFill>
                <a:latin typeface="Calibri"/>
              </a:rPr>
              <a:t>Bài củng cố trực tuyến</a:t>
            </a:r>
            <a:r>
              <a:rPr sz="2200">
                <a:solidFill>
                  <a:srgbClr val="1E293B"/>
                </a:solidFill>
                <a:latin typeface="Calibri"/>
              </a:rPr>
              <a:t> – quét mã QR hoặc mở đường link:</a:t>
            </a:r>
          </a:p>
          <a:p>
            <a:pPr algn="l">
              <a:spcAft>
                <a:spcPts val="800"/>
              </a:spcAft>
            </a:pPr>
            <a:r>
              <a:rPr sz="2000">
                <a:solidFill>
                  <a:srgbClr val="64748B"/>
                </a:solidFill>
                <a:latin typeface="Calibri"/>
              </a:rPr>
              <a:t>https://trangtu66.github.io/Taode_thi_online/cc_bai8_t11.html</a:t>
            </a:r>
          </a:p>
          <a:p>
            <a:pPr algn="l">
              <a:spcAft>
                <a:spcPts val="800"/>
              </a:spcAft>
            </a:pPr>
            <a:r>
              <a:rPr sz="2200" b="1">
                <a:solidFill>
                  <a:srgbClr val="1E293B"/>
                </a:solidFill>
                <a:latin typeface="Calibri"/>
              </a:rPr>
              <a:t>Nhiệm vụ về nhà:</a:t>
            </a:r>
          </a:p>
          <a:p>
            <a:pPr algn="l" marL="365760" indent="-365760">
              <a:spcAft>
                <a:spcPts val="800"/>
              </a:spcAft>
              <a:buClr>
                <a:srgbClr val="1E40AF"/>
              </a:buClr>
              <a:buFont typeface="Arial"/>
              <a:buChar char="•"/>
            </a:pPr>
            <a:r>
              <a:rPr sz="2200">
                <a:solidFill>
                  <a:srgbClr val="1E293B"/>
                </a:solidFill>
                <a:latin typeface="Calibri"/>
              </a:rPr>
              <a:t>Hoàn thành Bài tập 3.1 – 3.3.</a:t>
            </a:r>
          </a:p>
          <a:p>
            <a:pPr algn="l" marL="365760" indent="-365760">
              <a:spcAft>
                <a:spcPts val="800"/>
              </a:spcAft>
              <a:buClr>
                <a:srgbClr val="1E40AF"/>
              </a:buClr>
              <a:buFont typeface="Arial"/>
              <a:buChar char="•"/>
            </a:pPr>
            <a:r>
              <a:rPr sz="2200">
                <a:solidFill>
                  <a:srgbClr val="1E293B"/>
                </a:solidFill>
                <a:latin typeface="Calibri"/>
              </a:rPr>
              <a:t>Nhóm: thu thập chiều cao (hoặc cân nặng) của lớp, ghép nhóm trên Google Sheets.</a:t>
            </a:r>
          </a:p>
          <a:p>
            <a:pPr algn="l" marL="365760" indent="-365760">
              <a:spcAft>
                <a:spcPts val="800"/>
              </a:spcAft>
              <a:buClr>
                <a:srgbClr val="1E40AF"/>
              </a:buClr>
              <a:buFont typeface="Arial"/>
              <a:buChar char="•"/>
            </a:pPr>
            <a:r>
              <a:rPr sz="2200">
                <a:solidFill>
                  <a:srgbClr val="1E293B"/>
                </a:solidFill>
                <a:latin typeface="Calibri"/>
              </a:rPr>
              <a:t>Đọc trước </a:t>
            </a:r>
            <a:r>
              <a:rPr sz="2200" b="1">
                <a:solidFill>
                  <a:srgbClr val="1E293B"/>
                </a:solidFill>
                <a:latin typeface="Calibri"/>
              </a:rPr>
              <a:t>Bài 9. Các số đặc trưng đo xu thế trung tâm</a:t>
            </a:r>
            <a:r>
              <a:rPr sz="2200">
                <a:solidFill>
                  <a:srgbClr val="1E293B"/>
                </a:solidFill>
                <a:latin typeface="Calibri"/>
              </a:rPr>
              <a:t> (SGK tr.62).</a:t>
            </a:r>
          </a:p>
        </p:txBody>
      </p:sp>
      <p:pic>
        <p:nvPicPr>
          <p:cNvPr id="8" name="Picture 7" descr="QR_CungCo_Bai8_Toan11.png"/>
          <p:cNvPicPr>
            <a:picLocks noChangeAspect="1"/>
          </p:cNvPicPr>
          <p:nvPr/>
        </p:nvPicPr>
        <p:blipFill>
          <a:blip r:embed="rId3"/>
          <a:stretch>
            <a:fillRect/>
          </a:stretch>
        </p:blipFill>
        <p:spPr>
          <a:xfrm>
            <a:off x="8412480" y="1554480"/>
            <a:ext cx="3291840" cy="3291840"/>
          </a:xfrm>
          <a:prstGeom prst="rect">
            <a:avLst/>
          </a:prstGeom>
        </p:spPr>
      </p:pic>
      <p:sp>
        <p:nvSpPr>
          <p:cNvPr id="9" name="Rounded Rectangle 8">
            <a:hlinkClick r:id="rId4"/>
          </p:cNvPr>
          <p:cNvSpPr/>
          <p:nvPr/>
        </p:nvSpPr>
        <p:spPr>
          <a:xfrm>
            <a:off x="8412480" y="5029200"/>
            <a:ext cx="3291840" cy="594360"/>
          </a:xfrm>
          <a:prstGeom prst="round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000" b="1">
                <a:solidFill>
                  <a:srgbClr val="FFFFFF"/>
                </a:solidFill>
                <a:latin typeface="Calibri"/>
              </a:rPr>
              <a:t>▶  MỞ BÀI CỦNG CỐ</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475569"/>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TỔNG KẾT</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000" b="1">
                <a:solidFill>
                  <a:srgbClr val="1E40AF"/>
                </a:solidFill>
                <a:latin typeface="Cambria"/>
              </a:rPr>
              <a:t>SƠ ĐỒ TƯ DUY – BÀI 8</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8. Mẫu số liệu ghép nhóm – Toán 11          15</a:t>
            </a:r>
          </a:p>
        </p:txBody>
      </p:sp>
      <p:pic>
        <p:nvPicPr>
          <p:cNvPr id="7" name="Picture 6" descr="SoDoTuDuy_TOAN11_Bai8_MauSoLieuGhepNhom_T18.png"/>
          <p:cNvPicPr>
            <a:picLocks noChangeAspect="1"/>
          </p:cNvPicPr>
          <p:nvPr/>
        </p:nvPicPr>
        <p:blipFill>
          <a:blip r:embed="rId3"/>
          <a:stretch>
            <a:fillRect/>
          </a:stretch>
        </p:blipFill>
        <p:spPr>
          <a:xfrm>
            <a:off x="1765397" y="1371600"/>
            <a:ext cx="8630725" cy="4846320"/>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show="0">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106863" y="457200"/>
            <a:ext cx="1536192" cy="457200"/>
          </a:xfrm>
          <a:prstGeom prst="roundRect">
            <a:avLst/>
          </a:prstGeom>
          <a:solidFill>
            <a:srgbClr val="991B1B"/>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DÀNH CHO GV</a:t>
            </a:r>
          </a:p>
        </p:txBody>
      </p:sp>
      <p:sp>
        <p:nvSpPr>
          <p:cNvPr id="4" name="TextBox 3"/>
          <p:cNvSpPr txBox="1"/>
          <p:nvPr/>
        </p:nvSpPr>
        <p:spPr>
          <a:xfrm>
            <a:off x="731520" y="274320"/>
            <a:ext cx="9436608" cy="868680"/>
          </a:xfrm>
          <a:prstGeom prst="rect">
            <a:avLst/>
          </a:prstGeom>
          <a:noFill/>
        </p:spPr>
        <p:txBody>
          <a:bodyPr wrap="square" anchor="ctr">
            <a:spAutoFit/>
          </a:bodyPr>
          <a:lstStyle/>
          <a:p>
            <a:r>
              <a:rPr sz="3000" b="1">
                <a:solidFill>
                  <a:srgbClr val="1E40AF"/>
                </a:solidFill>
                <a:latin typeface="Cambria"/>
              </a:rPr>
              <a:t>PHỤ LỤC 1 – SAI LẦM THƯỜNG GẶP</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8. Mẫu số liệu ghép nhóm – Toán 11          16</a:t>
            </a:r>
          </a:p>
        </p:txBody>
      </p:sp>
      <mc:AlternateContent xmlns:mc="http://schemas.openxmlformats.org/markup-compatibility/2006">
        <mc:Choice xmlns:a14="http://schemas.microsoft.com/office/drawing/2010/main" Requires="a14">
          <p:sp>
            <p:nvSpPr>
              <p:cNvPr id="7" name="TextBox 6"/>
              <p:cNvSpPr txBox="1"/>
              <p:nvPr/>
            </p:nvSpPr>
            <p:spPr>
              <a:xfrm>
                <a:off x="548640" y="1371600"/>
                <a:ext cx="11064240" cy="4846320"/>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100">
                    <a:solidFill>
                      <a:srgbClr val="1E293B"/>
                    </a:solidFill>
                    <a:latin typeface="Calibri"/>
                  </a:rPr>
                  <a:t>Đếm giá trị ở đầu mút phải vào nhóm trước (nhóm </a:t>
                </a:r>
                <a14:m>
                  <m:oMath xmlns:m="http://schemas.openxmlformats.org/officeDocument/2006/math">
                    <m:r>
                      <a:rPr lang="vi-VN" sz="2100" b="0">
                        <a:solidFill>
                          <a:srgbClr val="1E293B"/>
                        </a:solidFill>
                        <a:latin typeface="Cambria Math" panose="02040503050406030204" pitchFamily="18" charset="0"/>
                      </a:rPr>
                      <m:t>[a;</m:t>
                    </m:r>
                    <m:r>
                      <m:rPr>
                        <m:sty m:val="p"/>
                      </m:rPr>
                      <a:rPr lang="vi-VN" sz="2100" b="0">
                        <a:solidFill>
                          <a:srgbClr val="1E293B"/>
                        </a:solidFill>
                        <a:latin typeface="Cambria Math" panose="02040503050406030204" pitchFamily="18" charset="0"/>
                      </a:rPr>
                      <m:t> </m:t>
                    </m:r>
                    <m:r>
                      <a:rPr lang="vi-VN" sz="2100" b="0">
                        <a:solidFill>
                          <a:srgbClr val="1E293B"/>
                        </a:solidFill>
                        <a:latin typeface="Cambria Math" panose="02040503050406030204" pitchFamily="18" charset="0"/>
                      </a:rPr>
                      <m:t>b)</m:t>
                    </m:r>
                  </m:oMath>
                </a14:m>
                <a:r>
                  <a:rPr sz="2100">
                    <a:solidFill>
                      <a:srgbClr val="1E293B"/>
                    </a:solidFill>
                    <a:latin typeface="Calibri"/>
                  </a:rPr>
                  <a:t> không chứa </a:t>
                </a:r>
                <a14:m>
                  <m:oMath xmlns:m="http://schemas.openxmlformats.org/officeDocument/2006/math">
                    <m:r>
                      <a:rPr lang="vi-VN" sz="2100" b="0">
                        <a:solidFill>
                          <a:srgbClr val="1E293B"/>
                        </a:solidFill>
                        <a:latin typeface="Cambria Math" panose="02040503050406030204" pitchFamily="18" charset="0"/>
                      </a:rPr>
                      <m:t>b</m:t>
                    </m:r>
                  </m:oMath>
                </a14:m>
                <a:r>
                  <a:rPr sz="2100">
                    <a:solidFill>
                      <a:srgbClr val="1E293B"/>
                    </a:solidFill>
                    <a:latin typeface="Calibri"/>
                  </a:rPr>
                  <a:t>).</a:t>
                </a:r>
              </a:p>
              <a:p>
                <a:pPr algn="l" marL="365760" indent="-365760">
                  <a:spcAft>
                    <a:spcPts val="800"/>
                  </a:spcAft>
                  <a:buClr>
                    <a:srgbClr val="1E40AF"/>
                  </a:buClr>
                  <a:buFont typeface="Arial"/>
                  <a:buChar char="•"/>
                </a:pPr>
                <a:r>
                  <a:rPr sz="2100">
                    <a:solidFill>
                      <a:srgbClr val="1E293B"/>
                    </a:solidFill>
                    <a:latin typeface="Calibri"/>
                  </a:rPr>
                  <a:t>Tổng tần số khác cỡ mẫu do đếm sót.</a:t>
                </a:r>
              </a:p>
              <a:p>
                <a:pPr algn="l" marL="365760" indent="-365760">
                  <a:spcAft>
                    <a:spcPts val="800"/>
                  </a:spcAft>
                  <a:buClr>
                    <a:srgbClr val="1E40AF"/>
                  </a:buClr>
                  <a:buFont typeface="Arial"/>
                  <a:buChar char="•"/>
                </a:pPr>
                <a:r>
                  <a:rPr sz="2100">
                    <a:solidFill>
                      <a:srgbClr val="1E293B"/>
                    </a:solidFill>
                    <a:latin typeface="Calibri"/>
                  </a:rPr>
                  <a:t>Chọn các nhóm có tổng độ dài nhỏ hơn khoảng biến thiên.</a:t>
                </a:r>
              </a:p>
            </p:txBody>
          </p:sp>
        </mc:Choice>
        <mc:Fallback>
          <p:sp>
            <p:nvSpPr>
              <p:cNvPr id="7" name="TextBox 6"/>
              <p:cNvSpPr txBox="1"/>
              <p:nvPr/>
            </p:nvSpPr>
            <p:spPr>
              <a:xfrm>
                <a:off x="548640" y="1371600"/>
                <a:ext cx="11064240" cy="4846320"/>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100">
                    <a:solidFill>
                      <a:srgbClr val="1E293B"/>
                    </a:solidFill>
                    <a:latin typeface="Calibri"/>
                  </a:rPr>
                  <a:t>Đếm giá trị ở đầu mút phải vào nhóm trước (nhóm </a:t>
                </a:r>
                <a:r>
                  <a:rPr lang="vi-VN"/>
                  <a:t>[a;\ b)</a:t>
                </a:r>
                <a:r>
                  <a:rPr sz="2100">
                    <a:solidFill>
                      <a:srgbClr val="1E293B"/>
                    </a:solidFill>
                    <a:latin typeface="Calibri"/>
                  </a:rPr>
                  <a:t> không chứa </a:t>
                </a:r>
                <a:r>
                  <a:rPr lang="vi-VN"/>
                  <a:t>b</a:t>
                </a:r>
                <a:r>
                  <a:rPr sz="2100">
                    <a:solidFill>
                      <a:srgbClr val="1E293B"/>
                    </a:solidFill>
                    <a:latin typeface="Calibri"/>
                  </a:rPr>
                  <a:t>).</a:t>
                </a:r>
              </a:p>
              <a:p>
                <a:pPr algn="l" marL="365760" indent="-365760">
                  <a:spcAft>
                    <a:spcPts val="800"/>
                  </a:spcAft>
                  <a:buClr>
                    <a:srgbClr val="1E40AF"/>
                  </a:buClr>
                  <a:buFont typeface="Arial"/>
                  <a:buChar char="•"/>
                </a:pPr>
                <a:r>
                  <a:rPr sz="2100">
                    <a:solidFill>
                      <a:srgbClr val="1E293B"/>
                    </a:solidFill>
                    <a:latin typeface="Calibri"/>
                  </a:rPr>
                  <a:t>Tổng tần số khác cỡ mẫu do đếm sót.</a:t>
                </a:r>
              </a:p>
              <a:p>
                <a:pPr algn="l" marL="365760" indent="-365760">
                  <a:spcAft>
                    <a:spcPts val="800"/>
                  </a:spcAft>
                  <a:buClr>
                    <a:srgbClr val="1E40AF"/>
                  </a:buClr>
                  <a:buFont typeface="Arial"/>
                  <a:buChar char="•"/>
                </a:pPr>
                <a:r>
                  <a:rPr sz="2100">
                    <a:solidFill>
                      <a:srgbClr val="1E293B"/>
                    </a:solidFill>
                    <a:latin typeface="Calibri"/>
                  </a:rPr>
                  <a:t>Chọn các nhóm có tổng độ dài nhỏ hơn khoảng biến thiên.</a:t>
                </a:r>
              </a:p>
            </p:txBody>
          </p:sp>
        </mc:Fallback>
      </mc:AlternateContent>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show="0">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106863" y="457200"/>
            <a:ext cx="1536192" cy="457200"/>
          </a:xfrm>
          <a:prstGeom prst="roundRect">
            <a:avLst/>
          </a:prstGeom>
          <a:solidFill>
            <a:srgbClr val="991B1B"/>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DÀNH CHO GV</a:t>
            </a:r>
          </a:p>
        </p:txBody>
      </p:sp>
      <p:sp>
        <p:nvSpPr>
          <p:cNvPr id="4" name="TextBox 3"/>
          <p:cNvSpPr txBox="1"/>
          <p:nvPr/>
        </p:nvSpPr>
        <p:spPr>
          <a:xfrm>
            <a:off x="731520" y="274320"/>
            <a:ext cx="9436608" cy="868680"/>
          </a:xfrm>
          <a:prstGeom prst="rect">
            <a:avLst/>
          </a:prstGeom>
          <a:noFill/>
        </p:spPr>
        <p:txBody>
          <a:bodyPr wrap="square" anchor="ctr">
            <a:spAutoFit/>
          </a:bodyPr>
          <a:lstStyle/>
          <a:p>
            <a:r>
              <a:rPr sz="3000" b="1">
                <a:solidFill>
                  <a:srgbClr val="1E40AF"/>
                </a:solidFill>
                <a:latin typeface="Cambria"/>
              </a:rPr>
              <a:t>PHỤ LỤC 2 – PHÂN HOÁ, DỰ PHÒNG</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8. Mẫu số liệu ghép nhóm – Toán 11          17</a:t>
            </a:r>
          </a:p>
        </p:txBody>
      </p:sp>
      <p:sp>
        <p:nvSpPr>
          <p:cNvPr id="7" name="TextBox 6"/>
          <p:cNvSpPr txBox="1"/>
          <p:nvPr/>
        </p:nvSpPr>
        <p:spPr>
          <a:xfrm>
            <a:off x="548640" y="1371600"/>
            <a:ext cx="11064240" cy="4846320"/>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000" b="1">
                <a:solidFill>
                  <a:srgbClr val="1E293B"/>
                </a:solidFill>
                <a:latin typeface="Calibri"/>
              </a:rPr>
              <a:t>HS cần hỗ trợ:</a:t>
            </a:r>
            <a:r>
              <a:rPr sz="2000">
                <a:solidFill>
                  <a:srgbClr val="1E293B"/>
                </a:solidFill>
                <a:latin typeface="Calibri"/>
              </a:rPr>
              <a:t> HĐ1, Ví dụ 1, LT1, Bài 3.1.</a:t>
            </a:r>
          </a:p>
          <a:p>
            <a:pPr algn="l" marL="365760" indent="-365760">
              <a:spcAft>
                <a:spcPts val="800"/>
              </a:spcAft>
              <a:buClr>
                <a:srgbClr val="1E40AF"/>
              </a:buClr>
              <a:buFont typeface="Arial"/>
              <a:buChar char="•"/>
            </a:pPr>
            <a:r>
              <a:rPr sz="2000" b="1">
                <a:solidFill>
                  <a:srgbClr val="1E293B"/>
                </a:solidFill>
                <a:latin typeface="Calibri"/>
              </a:rPr>
              <a:t>HS khá, giỏi:</a:t>
            </a:r>
            <a:r>
              <a:rPr sz="2000">
                <a:solidFill>
                  <a:srgbClr val="1E293B"/>
                </a:solidFill>
                <a:latin typeface="Calibri"/>
              </a:rPr>
              <a:t> LT2, Vận dụng, Bài 3.2, 3.3; dùng hàm COUNTIFS.</a:t>
            </a:r>
          </a:p>
          <a:p>
            <a:pPr algn="l" marL="365760" indent="-365760">
              <a:spcAft>
                <a:spcPts val="800"/>
              </a:spcAft>
              <a:buClr>
                <a:srgbClr val="1E40AF"/>
              </a:buClr>
              <a:buFont typeface="Arial"/>
              <a:buChar char="•"/>
            </a:pPr>
            <a:r>
              <a:rPr sz="2000">
                <a:solidFill>
                  <a:srgbClr val="1E293B"/>
                </a:solidFill>
                <a:latin typeface="Calibri"/>
              </a:rPr>
              <a:t>Khối 11 không có HS khuyết tật.</a:t>
            </a:r>
          </a:p>
          <a:p>
            <a:pPr algn="l" marL="365760" indent="-365760">
              <a:spcAft>
                <a:spcPts val="800"/>
              </a:spcAft>
              <a:buClr>
                <a:srgbClr val="1E40AF"/>
              </a:buClr>
              <a:buFont typeface="Arial"/>
              <a:buChar char="•"/>
            </a:pPr>
            <a:r>
              <a:rPr sz="2000" b="1">
                <a:solidFill>
                  <a:srgbClr val="1E293B"/>
                </a:solidFill>
                <a:latin typeface="Calibri"/>
              </a:rPr>
              <a:t>Mất điện/mạng:</a:t>
            </a:r>
            <a:r>
              <a:rPr sz="2000">
                <a:solidFill>
                  <a:srgbClr val="1E293B"/>
                </a:solidFill>
                <a:latin typeface="Calibri"/>
              </a:rPr>
              <a:t> phiếu số liệu in sẵn.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