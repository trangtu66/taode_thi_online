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mở trang online (cần Internet).</a:t>
            </a:r>
          </a:p>
          <a:p>
            <a:r>
              <a:t>Khối 11 năm học 2026 – 2027 không có HS khuyết tật; vẫn ghi đủ chữ trên slide để HS tự đọc lại.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tr.62.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4' – HĐ1, công thức trung bình 8' – Chú ý, Ví dụ 1, LT1: 12' – HĐ2, công thức trung vị 8' – Ví dụ 2, LT2: 10' – Tổng kết 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video mở đầu (ảnh thật, lồng tiếng, phụ đề – không nói đáp án), HS quét QR xem lại. 4'. Giải ở Vận dụng (Tiết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khảo sát nhanh lớp theo 4 phương án A–D (click 1). Chốt khung (click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1: click 1. LT1: click 2. Ý nghĩa: số trung bình là vị trí trung tâm, dùng để đại diện cho mẫu.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HĐ2: click 1. Chốt khung (click 2). Ý nghĩa: trung vị chia mẫu thành hai phần, mỗi phần 50% giá trị.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2: click 1. LT2: click 2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Click 1–4. x̄ = (4·5 + 6·15 + 10·25)/20 = 18; n/2 = 10, 4 &lt; 10 ≤ 10 nên nhóm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HĐ3, công thức tứ phân vị 7' – Ví dụ 3, LT3: 8' – HĐ4, mốt, Ví dụ 4, LT4: 9' – Vận dụng 6' – Bài tập 3' – Rung chuông vàng 8' – Củng cố 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HĐ3: click 1. Chốt khung (click 2). Ý nghĩa: chia mẫu thành 4 phần, mỗi phần 25% giá trị.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3: click 1, 2. LT3: click 3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HĐ4: click 1. Chốt khung, Lưu ý (click 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4: click 1. LT4: click 2. Ý nghĩa: mốt là giá trị xuất hiện nhiều nhất (xấp xỉ).</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Nhóm 4 HS. Click 1–3 (đối chiếu KHBD;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Đồ thị tần số tích luỹ; giao với các đường y = n/4, n/2, 3n/4 cho Q1, Q2, Q3 (Ví dụ 2: 15,25; 18,1; 20).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Đáp số để HS tự đối chiếu (đối chiếu KHBD;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4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1–4. Đ – S – Đ – Đ.</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 Liên hệ nhiệm vụ nhóm "Năng suất cà phê của xã 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gtu66.github.io/Taode_thi_online/mon/toan/video/lop11/VIDEO_MoDau_TOAN11_Bai9_CacSoDacTrung.mp4" TargetMode="External"/><Relationship Id="rId4" Type="http://schemas.openxmlformats.org/officeDocument/2006/relationships/image" Target="../media/image1.png"/><Relationship Id="rId5"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hyperlink" Target="https://trangtu66.github.io/Taode_thi_online/cc_bai9_t11.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1800" b="1">
                <a:solidFill>
                  <a:srgbClr val="FCD34D"/>
                </a:solidFill>
                <a:latin typeface="Cambria"/>
              </a:rPr>
              <a:t>CHƯƠNG III. CÁC SỐ ĐẶC TRƯNG ĐO XU THẾ TRUNG TÂM CỦA MẪU SỐ LIỆU GHÉP NHÓM</a:t>
            </a:r>
          </a:p>
          <a:p>
            <a:pPr>
              <a:spcAft>
                <a:spcPts val="600"/>
              </a:spcAft>
            </a:pPr>
            <a:r>
              <a:rPr sz="3000" b="1">
                <a:solidFill>
                  <a:srgbClr val="FFFFFF"/>
                </a:solidFill>
                <a:latin typeface="Cambria"/>
              </a:rPr>
              <a:t>BÀI 9</a:t>
            </a:r>
          </a:p>
          <a:p>
            <a:pPr>
              <a:spcAft>
                <a:spcPts val="600"/>
              </a:spcAft>
            </a:pPr>
            <a:r>
              <a:rPr sz="4000" b="1">
                <a:solidFill>
                  <a:srgbClr val="FFFFFF"/>
                </a:solidFill>
                <a:latin typeface="Cambria"/>
              </a:rPr>
              <a:t>CÁC SỐ ĐẶC TRƯNG ĐO XU THẾ TRUNG TÂM</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2 tiết: T19 – T20</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2</a:t>
            </a:r>
          </a:p>
        </p:txBody>
      </p:sp>
      <p:sp>
        <p:nvSpPr>
          <p:cNvPr id="7" name="Rounded Rectangle 6"/>
          <p:cNvSpPr/>
          <p:nvPr/>
        </p:nvSpPr>
        <p:spPr>
          <a:xfrm>
            <a:off x="548640" y="1417320"/>
            <a:ext cx="11064240" cy="180746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173431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tr.62)</a:t>
            </a:r>
          </a:p>
          <a:p>
            <a:pPr algn="l" marL="365760" indent="-365760">
              <a:spcAft>
                <a:spcPts val="800"/>
              </a:spcAft>
              <a:buClr>
                <a:srgbClr val="1E40AF"/>
              </a:buClr>
              <a:buFont typeface="Arial"/>
              <a:buChar char="•"/>
            </a:pPr>
            <a:r>
              <a:rPr sz="2200">
                <a:solidFill>
                  <a:srgbClr val="1E293B"/>
                </a:solidFill>
                <a:latin typeface="Calibri"/>
              </a:rPr>
              <a:t>Tính các số đặc trưng đo xu thế trung tâm của mẫu số liệu ghép nhóm: số trung bình, trung vị, tứ phân vị, mốt.</a:t>
            </a:r>
          </a:p>
          <a:p>
            <a:pPr algn="l" marL="365760" indent="-365760">
              <a:spcAft>
                <a:spcPts val="800"/>
              </a:spcAft>
              <a:buClr>
                <a:srgbClr val="1E40AF"/>
              </a:buClr>
              <a:buFont typeface="Arial"/>
              <a:buChar char="•"/>
            </a:pPr>
            <a:r>
              <a:rPr sz="2200">
                <a:solidFill>
                  <a:srgbClr val="1E293B"/>
                </a:solidFill>
                <a:latin typeface="Calibri"/>
              </a:rPr>
              <a:t>Hiểu ý nghĩa, vai trò của các số đặc trưng của mẫu số liệu trong thực tế.</a:t>
            </a:r>
          </a:p>
        </p:txBody>
      </p:sp>
      <p:sp>
        <p:nvSpPr>
          <p:cNvPr id="9" name="TextBox 8"/>
          <p:cNvSpPr txBox="1"/>
          <p:nvPr/>
        </p:nvSpPr>
        <p:spPr>
          <a:xfrm>
            <a:off x="548640" y="3453384"/>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mô hình hoá (tiền xăng, cân nặng, tốc độ giao bóng); giải quyết vấn đề; sử dụng công cụ (GeoGebra, bảng tính).</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trách nhiệm.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2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T19</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Số trung bình. 2. Trung vị của mẫu số liệu ghép nhóm</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Ai nhanh hơn</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T20</a:t>
            </a:r>
          </a:p>
        </p:txBody>
      </p:sp>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3. Tứ phân vị. 4. Mốt; Vận dụng; bài tập; Em có biết (GeoGebra)</a:t>
            </a:r>
          </a:p>
        </p:txBody>
      </p:sp>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Rung chuông vàng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(T19)</a:t>
            </a:r>
          </a:p>
          <a:p>
            <a:pPr>
              <a:spcAft>
                <a:spcPts val="600"/>
              </a:spcAft>
            </a:pPr>
            <a:r>
              <a:rPr sz="4000" b="1">
                <a:solidFill>
                  <a:srgbClr val="FFFFFF"/>
                </a:solidFill>
                <a:latin typeface="Cambria"/>
              </a:rPr>
              <a:t>Số trung bình. Trung vị của mẫu số liệu ghép nhóm</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Tính số trung bình của mẫu số liệu ghép nhóm.</a:t>
            </a:r>
          </a:p>
          <a:p>
            <a:pPr algn="l">
              <a:spcAft>
                <a:spcPts val="800"/>
              </a:spcAft>
            </a:pPr>
            <a:r>
              <a:rPr sz="2200">
                <a:solidFill>
                  <a:srgbClr val="E0E7FF"/>
                </a:solidFill>
                <a:latin typeface="Calibri"/>
              </a:rPr>
              <a:t>• Tính trung vị của mẫu số liệu ghép nhóm.</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TIỀN MUA XĂNG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5</a:t>
            </a:r>
          </a:p>
        </p:txBody>
      </p:sp>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cửa hàng ghi lại số tiền bán xăng cho 35 khách hàng đi xe máy; vì một lí do nào đó, cửa hàng chỉ còn mẫu số liệu ghép nhóm (Bảng 3.1). </a:t>
            </a:r>
            <a:r>
              <a:rPr sz="2200" b="1">
                <a:solidFill>
                  <a:srgbClr val="1E293B"/>
                </a:solidFill>
                <a:latin typeface="Calibri"/>
              </a:rPr>
              <a:t>Dựa trên mẫu số liệu ghép nhóm này, làm thế nào để ước lượng các số đặc trưng đo xu thế trung tâm (số trung bình, trung vị, tứ phân vị, mốt) cho mẫu số liệu gốc?</a:t>
            </a:r>
          </a:p>
          <a:p>
            <a:pPr algn="l">
              <a:spcAft>
                <a:spcPts val="800"/>
              </a:spcAft>
            </a:pPr>
            <a:r>
              <a:rPr sz="2000">
                <a:solidFill>
                  <a:srgbClr val="64748B"/>
                </a:solidFill>
                <a:latin typeface="Calibri"/>
              </a:rPr>
              <a:t>(SGK Toán 11 tập một, tr.62)</a:t>
            </a:r>
          </a:p>
        </p:txBody>
      </p:sp>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xang.jpg"/>
          <p:cNvPicPr>
            <a:picLocks noChangeAspect="1"/>
          </p:cNvPicPr>
          <p:nvPr/>
        </p:nvPicPr>
        <p:blipFill>
          <a:blip r:embed="rId5"/>
          <a:stretch>
            <a:fillRect/>
          </a:stretch>
        </p:blipFill>
        <p:spPr>
          <a:xfrm>
            <a:off x="7315200" y="2240280"/>
            <a:ext cx="4389120" cy="24688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SỐ TRUNG BÌNH – HĐ1 (SGK TR.62)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6</a:t>
            </a:r>
          </a:p>
        </p:txBody>
      </p:sp>
      <p:sp>
        <p:nvSpPr>
          <p:cNvPr id="7" name="TextBox 6"/>
          <p:cNvSpPr txBox="1"/>
          <p:nvPr/>
        </p:nvSpPr>
        <p:spPr>
          <a:xfrm>
            <a:off x="548640" y="1325880"/>
            <a:ext cx="11064240" cy="104241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HĐ1.</a:t>
            </a:r>
            <a:r>
              <a:rPr sz="1900">
                <a:solidFill>
                  <a:srgbClr val="1E293B"/>
                </a:solidFill>
                <a:latin typeface="Calibri"/>
              </a:rPr>
              <a:t> Khảo sát thời gian tự học mỗi ngày (A. dưới 1,5 giờ; B. từ 1,5 đến dưới 3 giờ; C. từ 3 đến dưới 4,5 giờ; D. từ 4,5 giờ trở lên). a) Lập bảng thống kê. b) Có tính chính xác thời gian tự học trung bình không? c) Có cách tính gần đúng không?</a:t>
            </a:r>
          </a:p>
        </p:txBody>
      </p:sp>
      <p:sp>
        <p:nvSpPr>
          <p:cNvPr id="8" name="s1_nen"/>
          <p:cNvSpPr/>
          <p:nvPr/>
        </p:nvSpPr>
        <p:spPr>
          <a:xfrm>
            <a:off x="548640" y="2441448"/>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478024"/>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b) Không – không biết thời gian cụ thể từng HS. c) Lấy giá trị đại diện (trung điểm) mỗi nhóm rồi tính trung bình có trọng số.</a:t>
            </a:r>
          </a:p>
        </p:txBody>
      </p:sp>
      <p:sp>
        <p:nvSpPr>
          <p:cNvPr id="10" name="s2_nen"/>
          <p:cNvSpPr/>
          <p:nvPr/>
        </p:nvSpPr>
        <p:spPr>
          <a:xfrm>
            <a:off x="548640" y="3358896"/>
            <a:ext cx="11064240" cy="139446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395472"/>
                <a:ext cx="10735056" cy="1321308"/>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Cho mẫu số liệu ghép nhóm: nhóm </a:t>
                </a:r>
                <a14:m>
                  <m:oMath xmlns:m="http://schemas.openxmlformats.org/officeDocument/2006/math">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i</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i+1</m:t>
                        </m:r>
                      </m:sub>
                    </m:sSub>
                    <m:r>
                      <a:rPr lang="vi-VN" sz="2200" b="0">
                        <a:solidFill>
                          <a:srgbClr val="1E293B"/>
                        </a:solidFill>
                        <a:latin typeface="Cambria Math" panose="02040503050406030204" pitchFamily="18" charset="0"/>
                      </a:rPr>
                      <m:t>)</m:t>
                    </m:r>
                  </m:oMath>
                </a14:m>
                <a:r>
                  <a:rPr sz="2200">
                    <a:solidFill>
                      <a:srgbClr val="1E293B"/>
                    </a:solidFill>
                    <a:latin typeface="Calibri"/>
                  </a:rPr>
                  <a:t> có tần số </a:t>
                </a:r>
                <a14:m>
                  <m:oMath xmlns:m="http://schemas.openxmlformats.org/officeDocument/2006/math">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i</m:t>
                        </m:r>
                      </m:sub>
                    </m:sSub>
                  </m:oMath>
                </a14:m>
                <a:r>
                  <a:rPr sz="2200">
                    <a:solidFill>
                      <a:srgbClr val="1E293B"/>
                    </a:solidFill>
                    <a:latin typeface="Calibri"/>
                  </a:rPr>
                  <a:t> </a:t>
                </a:r>
                <a14:m>
                  <m:oMath xmlns:m="http://schemas.openxmlformats.org/officeDocument/2006/math">
                    <m:d>
                      <m:dPr>
                        <m:sepChr m:val=""/>
                      </m:dPr>
                      <m:e>
                        <m:r>
                          <a:rPr lang="vi-VN" sz="2200" b="0">
                            <a:solidFill>
                              <a:srgbClr val="1E293B"/>
                            </a:solidFill>
                            <a:latin typeface="Cambria Math" panose="02040503050406030204" pitchFamily="18" charset="0"/>
                          </a:rPr>
                          <m:t>i</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k</m:t>
                        </m:r>
                      </m:e>
                    </m:d>
                  </m:oMath>
                </a14:m>
                <a:r>
                  <a:rPr sz="2200">
                    <a:solidFill>
                      <a:srgbClr val="1E293B"/>
                    </a:solidFill>
                    <a:latin typeface="Calibri"/>
                  </a:rPr>
                  <a:t>. </a:t>
                </a:r>
                <a:r>
                  <a:rPr sz="2200" b="1">
                    <a:solidFill>
                      <a:srgbClr val="1E293B"/>
                    </a:solidFill>
                    <a:latin typeface="Calibri"/>
                  </a:rPr>
                  <a:t>Số trung bình</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x</m:t>
                        </m:r>
                      </m:e>
                    </m:acc>
                    <m:r>
                      <a:rPr lang="vi-VN" sz="2200" b="0">
                        <a:solidFill>
                          <a:srgbClr val="1E293B"/>
                        </a:solidFill>
                        <a:latin typeface="Cambria Math" panose="02040503050406030204" pitchFamily="18" charset="0"/>
                      </a:rPr>
                      <m:t>=</m:t>
                    </m:r>
                    <m:f>
                      <m:fPr>
                        <m:type m:val="bar"/>
                      </m:fPr>
                      <m:num>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1</m:t>
                            </m:r>
                          </m:sub>
                        </m:sSub>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k</m:t>
                            </m:r>
                          </m:sub>
                        </m:sSub>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k</m:t>
                            </m:r>
                          </m:sub>
                        </m:sSub>
                      </m:num>
                      <m:den>
                        <m:r>
                          <a:rPr lang="vi-VN" sz="2200" b="0">
                            <a:solidFill>
                              <a:srgbClr val="1E293B"/>
                            </a:solidFill>
                            <a:latin typeface="Cambria Math" panose="02040503050406030204" pitchFamily="18" charset="0"/>
                          </a:rPr>
                          <m:t>n</m:t>
                        </m:r>
                      </m:den>
                    </m:f>
                  </m:oMath>
                </a14:m>
                <a:r>
                  <a:rPr sz="2200">
                    <a:solidFill>
                      <a:srgbClr val="1E293B"/>
                    </a:solidFill>
                    <a:latin typeface="Calibri"/>
                  </a:rPr>
                  <a:t>, trong đó </a:t>
                </a:r>
                <a14:m>
                  <m:oMath xmlns:m="http://schemas.openxmlformats.org/officeDocument/2006/math">
                    <m:r>
                      <a:rPr lang="vi-VN" sz="2200" b="0">
                        <a:solidFill>
                          <a:srgbClr val="1E293B"/>
                        </a:solidFill>
                        <a:latin typeface="Cambria Math" panose="02040503050406030204" pitchFamily="18" charset="0"/>
                      </a:rPr>
                      <m:t>n=</m:t>
                    </m:r>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k</m:t>
                        </m:r>
                      </m:sub>
                    </m:sSub>
                  </m:oMath>
                </a14:m>
                <a:r>
                  <a:rPr sz="2200">
                    <a:solidFill>
                      <a:srgbClr val="1E293B"/>
                    </a:solidFill>
                    <a:latin typeface="Calibri"/>
                  </a:rPr>
                  <a:t> là cỡ mẫu và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i</m:t>
                        </m:r>
                      </m:sub>
                    </m:sSub>
                    <m:r>
                      <a:rPr lang="vi-VN" sz="2200" b="0">
                        <a:solidFill>
                          <a:srgbClr val="1E293B"/>
                        </a:solidFill>
                        <a:latin typeface="Cambria Math" panose="02040503050406030204" pitchFamily="18" charset="0"/>
                      </a:rPr>
                      <m:t>=</m:t>
                    </m:r>
                    <m:f>
                      <m:fPr>
                        <m:type m:val="bar"/>
                      </m:fPr>
                      <m:num>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i</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i+1</m:t>
                            </m:r>
                          </m:sub>
                        </m:sSub>
                      </m:num>
                      <m:den>
                        <m:r>
                          <a:rPr lang="vi-VN" sz="2200" b="0">
                            <a:solidFill>
                              <a:srgbClr val="1E293B"/>
                            </a:solidFill>
                            <a:latin typeface="Cambria Math" panose="02040503050406030204" pitchFamily="18" charset="0"/>
                          </a:rPr>
                          <m:t>2</m:t>
                        </m:r>
                      </m:den>
                    </m:f>
                  </m:oMath>
                </a14:m>
                <a:r>
                  <a:rPr sz="2200">
                    <a:solidFill>
                      <a:srgbClr val="1E293B"/>
                    </a:solidFill>
                    <a:latin typeface="Calibri"/>
                  </a:rPr>
                  <a:t> là giá trị đại diện của nhóm </a:t>
                </a:r>
                <a14:m>
                  <m:oMath xmlns:m="http://schemas.openxmlformats.org/officeDocument/2006/math">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i</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i+1</m:t>
                        </m:r>
                      </m:sub>
                    </m:sSub>
                    <m:r>
                      <a:rPr lang="vi-VN" sz="2200" b="0">
                        <a:solidFill>
                          <a:srgbClr val="1E293B"/>
                        </a:solidFill>
                        <a:latin typeface="Cambria Math" panose="02040503050406030204" pitchFamily="18" charset="0"/>
                      </a:rPr>
                      <m:t>)</m:t>
                    </m:r>
                  </m:oMath>
                </a14:m>
                <a:r>
                  <a:rPr sz="2200">
                    <a:solidFill>
                      <a:srgbClr val="1E293B"/>
                    </a:solidFill>
                    <a:latin typeface="Calibri"/>
                  </a:rPr>
                  <a:t>.</a:t>
                </a:r>
              </a:p>
            </p:txBody>
          </p:sp>
        </mc:Choice>
        <mc:Fallback>
          <p:sp>
            <p:nvSpPr>
              <p:cNvPr id="11" name="TextBox 10"/>
              <p:cNvSpPr txBox="1"/>
              <p:nvPr/>
            </p:nvSpPr>
            <p:spPr>
              <a:xfrm>
                <a:off x="713232" y="3395472"/>
                <a:ext cx="10735056" cy="1321308"/>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Cho mẫu số liệu ghép nhóm: nhóm </a:t>
                </a:r>
                <a:r>
                  <a:rPr lang="vi-VN"/>
                  <a:t>[a_i;\ a_{i+1})</a:t>
                </a:r>
                <a:r>
                  <a:rPr sz="2200">
                    <a:solidFill>
                      <a:srgbClr val="1E293B"/>
                    </a:solidFill>
                    <a:latin typeface="Calibri"/>
                  </a:rPr>
                  <a:t> có tần số </a:t>
                </a:r>
                <a:r>
                  <a:rPr lang="vi-VN"/>
                  <a:t>m_i</a:t>
                </a:r>
                <a:r>
                  <a:rPr sz="2200">
                    <a:solidFill>
                      <a:srgbClr val="1E293B"/>
                    </a:solidFill>
                    <a:latin typeface="Calibri"/>
                  </a:rPr>
                  <a:t> </a:t>
                </a:r>
                <a:r>
                  <a:rPr lang="vi-VN"/>
                  <a:t>(i=1,\ldots,\ k)</a:t>
                </a:r>
                <a:r>
                  <a:rPr sz="2200">
                    <a:solidFill>
                      <a:srgbClr val="1E293B"/>
                    </a:solidFill>
                    <a:latin typeface="Calibri"/>
                  </a:rPr>
                  <a:t>. </a:t>
                </a:r>
                <a:r>
                  <a:rPr sz="2200" b="1">
                    <a:solidFill>
                      <a:srgbClr val="1E293B"/>
                    </a:solidFill>
                    <a:latin typeface="Calibri"/>
                  </a:rPr>
                  <a:t>Số trung bình</a:t>
                </a:r>
                <a:r>
                  <a:rPr sz="2200">
                    <a:solidFill>
                      <a:srgbClr val="1E293B"/>
                    </a:solidFill>
                    <a:latin typeface="Calibri"/>
                  </a:rPr>
                  <a:t> </a:t>
                </a:r>
                <a:r>
                  <a:rPr lang="vi-VN"/>
                  <a:t>\overline{x}=\frac{m_1x_1+\ldots+m_kx_k}{n}</a:t>
                </a:r>
                <a:r>
                  <a:rPr sz="2200">
                    <a:solidFill>
                      <a:srgbClr val="1E293B"/>
                    </a:solidFill>
                    <a:latin typeface="Calibri"/>
                  </a:rPr>
                  <a:t>, trong đó </a:t>
                </a:r>
                <a:r>
                  <a:rPr lang="vi-VN"/>
                  <a:t>n=m_1+\ldots+m_k</a:t>
                </a:r>
                <a:r>
                  <a:rPr sz="2200">
                    <a:solidFill>
                      <a:srgbClr val="1E293B"/>
                    </a:solidFill>
                    <a:latin typeface="Calibri"/>
                  </a:rPr>
                  <a:t> là cỡ mẫu và </a:t>
                </a:r>
                <a:r>
                  <a:rPr lang="vi-VN"/>
                  <a:t>x_i=\frac{a_i+a_{i+1}}{2}</a:t>
                </a:r>
                <a:r>
                  <a:rPr sz="2200">
                    <a:solidFill>
                      <a:srgbClr val="1E293B"/>
                    </a:solidFill>
                    <a:latin typeface="Calibri"/>
                  </a:rPr>
                  <a:t> là giá trị đại diện của nhóm </a:t>
                </a:r>
                <a:r>
                  <a:rPr lang="vi-VN"/>
                  <a:t>[a_i;\ a_{i+1})</a:t>
                </a:r>
                <a:r>
                  <a:rPr sz="2200">
                    <a:solidFill>
                      <a:srgbClr val="1E293B"/>
                    </a:solidFill>
                    <a:latin typeface="Calibri"/>
                  </a:rPr>
                  <a:t>.</a:t>
                </a:r>
              </a:p>
            </p:txBody>
          </p:sp>
        </mc:Fallback>
      </mc:AlternateContent>
      <p:sp>
        <p:nvSpPr>
          <p:cNvPr id="12" name="s3_nen"/>
          <p:cNvSpPr/>
          <p:nvPr/>
        </p:nvSpPr>
        <p:spPr>
          <a:xfrm>
            <a:off x="548640" y="4826508"/>
            <a:ext cx="11064240" cy="844295"/>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863084"/>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Chú ý.</a:t>
                </a:r>
                <a:r>
                  <a:rPr sz="1900">
                    <a:solidFill>
                      <a:srgbClr val="1E293B"/>
                    </a:solidFill>
                    <a:latin typeface="Calibri"/>
                  </a:rPr>
                  <a:t> Số liệu rời rạc dạng </a:t>
                </a:r>
                <a14:m>
                  <m:oMath xmlns:m="http://schemas.openxmlformats.org/officeDocument/2006/math">
                    <m:sSub>
                      <m:e>
                        <m:r>
                          <a:rPr lang="vi-VN" sz="1900" b="0">
                            <a:solidFill>
                              <a:srgbClr val="1E293B"/>
                            </a:solidFill>
                            <a:latin typeface="Cambria Math" panose="02040503050406030204" pitchFamily="18" charset="0"/>
                          </a:rPr>
                          <m:t>k</m:t>
                        </m:r>
                      </m:e>
                      <m:sub>
                        <m:r>
                          <a:rPr lang="vi-VN" sz="1900" b="0">
                            <a:solidFill>
                              <a:srgbClr val="1E293B"/>
                            </a:solidFill>
                            <a:latin typeface="Cambria Math" panose="02040503050406030204" pitchFamily="18" charset="0"/>
                          </a:rPr>
                          <m:t>1</m:t>
                        </m:r>
                      </m:sub>
                    </m:sSub>
                  </m:oMath>
                </a14:m>
                <a:r>
                  <a:rPr sz="1900">
                    <a:solidFill>
                      <a:srgbClr val="1E293B"/>
                    </a:solidFill>
                    <a:latin typeface="Calibri"/>
                  </a:rPr>
                  <a:t> – </a:t>
                </a:r>
                <a14:m>
                  <m:oMath xmlns:m="http://schemas.openxmlformats.org/officeDocument/2006/math">
                    <m:sSub>
                      <m:e>
                        <m:r>
                          <a:rPr lang="vi-VN" sz="1900" b="0">
                            <a:solidFill>
                              <a:srgbClr val="1E293B"/>
                            </a:solidFill>
                            <a:latin typeface="Cambria Math" panose="02040503050406030204" pitchFamily="18" charset="0"/>
                          </a:rPr>
                          <m:t>k</m:t>
                        </m:r>
                      </m:e>
                      <m:sub>
                        <m:r>
                          <a:rPr lang="vi-VN" sz="1900" b="0">
                            <a:solidFill>
                              <a:srgbClr val="1E293B"/>
                            </a:solidFill>
                            <a:latin typeface="Cambria Math" panose="02040503050406030204" pitchFamily="18" charset="0"/>
                          </a:rPr>
                          <m:t>2</m:t>
                        </m:r>
                      </m:sub>
                    </m:sSub>
                  </m:oMath>
                </a14:m>
                <a:r>
                  <a:rPr sz="1900">
                    <a:solidFill>
                      <a:srgbClr val="1E293B"/>
                    </a:solidFill>
                    <a:latin typeface="Calibri"/>
                  </a:rPr>
                  <a:t> được hiệu chỉnh thành </a:t>
                </a:r>
                <a14:m>
                  <m:oMath xmlns:m="http://schemas.openxmlformats.org/officeDocument/2006/math">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k</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r>
                      <m:rPr>
                        <m:sty m:val="p"/>
                      </m:rPr>
                      <a:rPr lang="vi-VN" sz="1900" b="0">
                        <a:solidFill>
                          <a:srgbClr val="1E293B"/>
                        </a:solidFill>
                        <a:latin typeface="Cambria Math" panose="02040503050406030204" pitchFamily="18" charset="0"/>
                      </a:rPr>
                      <m:t> </m:t>
                    </m:r>
                    <m:sSub>
                      <m:e>
                        <m:r>
                          <a:rPr lang="vi-VN" sz="1900" b="0">
                            <a:solidFill>
                              <a:srgbClr val="1E293B"/>
                            </a:solidFill>
                            <a:latin typeface="Cambria Math" panose="02040503050406030204" pitchFamily="18" charset="0"/>
                          </a:rPr>
                          <m:t>k</m:t>
                        </m:r>
                      </m:e>
                      <m:sub>
                        <m:r>
                          <a:rPr lang="vi-VN" sz="1900" b="0">
                            <a:solidFill>
                              <a:srgbClr val="1E293B"/>
                            </a:solidFill>
                            <a:latin typeface="Cambria Math" panose="02040503050406030204" pitchFamily="18" charset="0"/>
                          </a:rPr>
                          <m:t>2</m:t>
                        </m:r>
                      </m:sub>
                    </m:sSub>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oMath>
                </a14:m>
                <a:r>
                  <a:rPr sz="1900">
                    <a:solidFill>
                      <a:srgbClr val="1E293B"/>
                    </a:solidFill>
                    <a:latin typeface="Calibri"/>
                  </a:rPr>
                  <a:t> trước khi tính. Ví dụ: 1 – 4, 5 – 7, 8 – 10 thành </a:t>
                </a:r>
                <a14:m>
                  <m:oMath xmlns:m="http://schemas.openxmlformats.org/officeDocument/2006/math">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4</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[4</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7</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oMath>
                </a14:m>
                <a:r>
                  <a:rPr sz="1900">
                    <a:solidFill>
                      <a:srgbClr val="1E293B"/>
                    </a:solidFill>
                    <a:latin typeface="Calibri"/>
                  </a:rPr>
                  <a:t>, </a:t>
                </a:r>
                <a14:m>
                  <m:oMath xmlns:m="http://schemas.openxmlformats.org/officeDocument/2006/math">
                    <m:d>
                      <m:dPr>
                        <m:begChr m:val="["/>
                        <m:sepChr m:val=""/>
                        <m:endChr m:val="]"/>
                      </m:dPr>
                      <m:e>
                        <m:r>
                          <a:rPr lang="vi-VN" sz="1900" b="0">
                            <a:solidFill>
                              <a:srgbClr val="1E293B"/>
                            </a:solidFill>
                            <a:latin typeface="Cambria Math" panose="02040503050406030204" pitchFamily="18" charset="0"/>
                          </a:rPr>
                          <m:t>7</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10</m:t>
                        </m:r>
                      </m:e>
                    </m:d>
                  </m:oMath>
                </a14:m>
                <a:r>
                  <a:rPr sz="1900">
                    <a:solidFill>
                      <a:srgbClr val="1E293B"/>
                    </a:solidFill>
                    <a:latin typeface="Calibri"/>
                  </a:rPr>
                  <a:t>.</a:t>
                </a:r>
              </a:p>
            </p:txBody>
          </p:sp>
        </mc:Choice>
        <mc:Fallback>
          <p:sp>
            <p:nvSpPr>
              <p:cNvPr id="13" name="TextBox 12"/>
              <p:cNvSpPr txBox="1"/>
              <p:nvPr/>
            </p:nvSpPr>
            <p:spPr>
              <a:xfrm>
                <a:off x="713232" y="4863084"/>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Chú ý.</a:t>
                </a:r>
                <a:r>
                  <a:rPr sz="1900">
                    <a:solidFill>
                      <a:srgbClr val="1E293B"/>
                    </a:solidFill>
                    <a:latin typeface="Calibri"/>
                  </a:rPr>
                  <a:t> Số liệu rời rạc dạng </a:t>
                </a:r>
                <a:r>
                  <a:rPr lang="vi-VN"/>
                  <a:t>k_1</a:t>
                </a:r>
                <a:r>
                  <a:rPr sz="1900">
                    <a:solidFill>
                      <a:srgbClr val="1E293B"/>
                    </a:solidFill>
                    <a:latin typeface="Calibri"/>
                  </a:rPr>
                  <a:t> – </a:t>
                </a:r>
                <a:r>
                  <a:rPr lang="vi-VN"/>
                  <a:t>k_2</a:t>
                </a:r>
                <a:r>
                  <a:rPr sz="1900">
                    <a:solidFill>
                      <a:srgbClr val="1E293B"/>
                    </a:solidFill>
                    <a:latin typeface="Calibri"/>
                  </a:rPr>
                  <a:t> được hiệu chỉnh thành </a:t>
                </a:r>
                <a:r>
                  <a:rPr lang="vi-VN"/>
                  <a:t>[k_1-0{,}5;\ k_2+0{,}5)</a:t>
                </a:r>
                <a:r>
                  <a:rPr sz="1900">
                    <a:solidFill>
                      <a:srgbClr val="1E293B"/>
                    </a:solidFill>
                    <a:latin typeface="Calibri"/>
                  </a:rPr>
                  <a:t> trước khi tính. Ví dụ: 1 – 4, 5 – 7, 8 – 10 thành </a:t>
                </a:r>
                <a:r>
                  <a:rPr lang="vi-VN"/>
                  <a:t>[0{,}5;\ 4{,}5)</a:t>
                </a:r>
                <a:r>
                  <a:rPr sz="1900">
                    <a:solidFill>
                      <a:srgbClr val="1E293B"/>
                    </a:solidFill>
                    <a:latin typeface="Calibri"/>
                  </a:rPr>
                  <a:t>, </a:t>
                </a:r>
                <a:r>
                  <a:rPr lang="vi-VN"/>
                  <a:t>[4{,}5;\ 7{,}5)</a:t>
                </a:r>
                <a:r>
                  <a:rPr sz="1900">
                    <a:solidFill>
                      <a:srgbClr val="1E293B"/>
                    </a:solidFill>
                    <a:latin typeface="Calibri"/>
                  </a:rPr>
                  <a:t>, </a:t>
                </a:r>
                <a:r>
                  <a:rPr lang="vi-VN"/>
                  <a:t>[7{,}5;\ 10]</a:t>
                </a:r>
                <a:r>
                  <a:rPr sz="19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 LUYỆN TẬP 1 (SGK TR.63)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7</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1.</a:t>
            </a:r>
            <a:r>
              <a:rPr sz="1900">
                <a:solidFill>
                  <a:srgbClr val="1E293B"/>
                </a:solidFill>
                <a:latin typeface="Calibri"/>
              </a:rPr>
              <a:t> Cân nặng của học sinh lớp 11D (Bảng 3.5):</a:t>
            </a:r>
          </a:p>
        </p:txBody>
      </p:sp>
      <p:sp>
        <p:nvSpPr>
          <p:cNvPr id="8" name="Rounded Rectangle 7"/>
          <p:cNvSpPr/>
          <p:nvPr/>
        </p:nvSpPr>
        <p:spPr>
          <a:xfrm>
            <a:off x="548640" y="178308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196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Cân nặng (kg)</a:t>
            </a:r>
          </a:p>
        </p:txBody>
      </p:sp>
      <p:sp>
        <p:nvSpPr>
          <p:cNvPr id="10" name="Rounded Rectangle 9"/>
          <p:cNvSpPr/>
          <p:nvPr/>
        </p:nvSpPr>
        <p:spPr>
          <a:xfrm>
            <a:off x="2129245" y="178308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93837" y="18196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[40,5; 45,5)</a:t>
            </a:r>
          </a:p>
        </p:txBody>
      </p:sp>
      <p:sp>
        <p:nvSpPr>
          <p:cNvPr id="12" name="Rounded Rectangle 11"/>
          <p:cNvSpPr/>
          <p:nvPr/>
        </p:nvSpPr>
        <p:spPr>
          <a:xfrm>
            <a:off x="3709851" y="178308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74443" y="18196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[45,5; 50,5)</a:t>
            </a:r>
          </a:p>
        </p:txBody>
      </p:sp>
      <p:sp>
        <p:nvSpPr>
          <p:cNvPr id="14" name="Rounded Rectangle 13"/>
          <p:cNvSpPr/>
          <p:nvPr/>
        </p:nvSpPr>
        <p:spPr>
          <a:xfrm>
            <a:off x="5290457" y="178308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55049" y="18196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[50,5; 55,5)</a:t>
            </a:r>
          </a:p>
        </p:txBody>
      </p:sp>
      <p:sp>
        <p:nvSpPr>
          <p:cNvPr id="16" name="Rounded Rectangle 15"/>
          <p:cNvSpPr/>
          <p:nvPr/>
        </p:nvSpPr>
        <p:spPr>
          <a:xfrm>
            <a:off x="6871062" y="178308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35654" y="18196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[55,5; 60,5)</a:t>
            </a:r>
          </a:p>
        </p:txBody>
      </p:sp>
      <p:sp>
        <p:nvSpPr>
          <p:cNvPr id="18" name="Rounded Rectangle 17"/>
          <p:cNvSpPr/>
          <p:nvPr/>
        </p:nvSpPr>
        <p:spPr>
          <a:xfrm>
            <a:off x="8451668" y="178308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16260" y="18196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[60,5; 65,5)</a:t>
            </a:r>
          </a:p>
        </p:txBody>
      </p:sp>
      <p:sp>
        <p:nvSpPr>
          <p:cNvPr id="20" name="Rounded Rectangle 19"/>
          <p:cNvSpPr/>
          <p:nvPr/>
        </p:nvSpPr>
        <p:spPr>
          <a:xfrm>
            <a:off x="10032274" y="178308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96866" y="18196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[65,5; 70,5)</a:t>
            </a:r>
          </a:p>
        </p:txBody>
      </p:sp>
      <p:sp>
        <p:nvSpPr>
          <p:cNvPr id="22" name="Rounded Rectangle 21"/>
          <p:cNvSpPr/>
          <p:nvPr/>
        </p:nvSpPr>
        <p:spPr>
          <a:xfrm>
            <a:off x="548640" y="2240280"/>
            <a:ext cx="1534885"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22768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Số học sinh</a:t>
            </a:r>
          </a:p>
        </p:txBody>
      </p:sp>
      <p:sp>
        <p:nvSpPr>
          <p:cNvPr id="24" name="Rounded Rectangle 23"/>
          <p:cNvSpPr/>
          <p:nvPr/>
        </p:nvSpPr>
        <p:spPr>
          <a:xfrm>
            <a:off x="2129245" y="224028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93837" y="22768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10</a:t>
            </a:r>
          </a:p>
        </p:txBody>
      </p:sp>
      <p:sp>
        <p:nvSpPr>
          <p:cNvPr id="26" name="Rounded Rectangle 25"/>
          <p:cNvSpPr/>
          <p:nvPr/>
        </p:nvSpPr>
        <p:spPr>
          <a:xfrm>
            <a:off x="3709851" y="224028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74443" y="22768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7</a:t>
            </a:r>
          </a:p>
        </p:txBody>
      </p:sp>
      <p:sp>
        <p:nvSpPr>
          <p:cNvPr id="28" name="Rounded Rectangle 27"/>
          <p:cNvSpPr/>
          <p:nvPr/>
        </p:nvSpPr>
        <p:spPr>
          <a:xfrm>
            <a:off x="5290457" y="224028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55049" y="22768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16</a:t>
            </a:r>
          </a:p>
        </p:txBody>
      </p:sp>
      <p:sp>
        <p:nvSpPr>
          <p:cNvPr id="30" name="Rounded Rectangle 29"/>
          <p:cNvSpPr/>
          <p:nvPr/>
        </p:nvSpPr>
        <p:spPr>
          <a:xfrm>
            <a:off x="6871062" y="224028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35654" y="22768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4</a:t>
            </a:r>
          </a:p>
        </p:txBody>
      </p:sp>
      <p:sp>
        <p:nvSpPr>
          <p:cNvPr id="32" name="Rounded Rectangle 31"/>
          <p:cNvSpPr/>
          <p:nvPr/>
        </p:nvSpPr>
        <p:spPr>
          <a:xfrm>
            <a:off x="8451668" y="224028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16260" y="22768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2</a:t>
            </a:r>
          </a:p>
        </p:txBody>
      </p:sp>
      <p:sp>
        <p:nvSpPr>
          <p:cNvPr id="34" name="Rounded Rectangle 33"/>
          <p:cNvSpPr/>
          <p:nvPr/>
        </p:nvSpPr>
        <p:spPr>
          <a:xfrm>
            <a:off x="10032274" y="2240280"/>
            <a:ext cx="1534885"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96866" y="2276856"/>
            <a:ext cx="1205701" cy="338328"/>
          </a:xfrm>
          <a:prstGeom prst="rect">
            <a:avLst/>
          </a:prstGeom>
          <a:noFill/>
        </p:spPr>
        <p:txBody>
          <a:bodyPr wrap="square" anchor="ctr" lIns="45720" rIns="45720">
            <a:spAutoFit/>
          </a:bodyPr>
          <a:lstStyle/>
          <a:p>
            <a:pPr algn="ctr">
              <a:spcAft>
                <a:spcPts val="800"/>
              </a:spcAft>
            </a:pPr>
            <a:r>
              <a:rPr sz="1400">
                <a:solidFill>
                  <a:srgbClr val="1E293B"/>
                </a:solidFill>
                <a:latin typeface="Calibri"/>
              </a:rPr>
              <a:t>3</a:t>
            </a:r>
          </a:p>
        </p:txBody>
      </p:sp>
      <p:sp>
        <p:nvSpPr>
          <p:cNvPr id="36" name="s1_nen"/>
          <p:cNvSpPr/>
          <p:nvPr/>
        </p:nvSpPr>
        <p:spPr>
          <a:xfrm>
            <a:off x="548640" y="2743200"/>
            <a:ext cx="11064240" cy="97459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7" name="s1_chu"/>
              <p:cNvSpPr txBox="1"/>
              <p:nvPr/>
            </p:nvSpPr>
            <p:spPr>
              <a:xfrm>
                <a:off x="713232" y="2779776"/>
                <a:ext cx="10735056" cy="901446"/>
              </a:xfrm>
              <a:prstGeom prst="rect">
                <a:avLst/>
              </a:prstGeom>
              <a:noFill/>
            </p:spPr>
            <p:txBody>
              <a:bodyPr wrap="square" anchor="ctr" lIns="45720" rIns="45720">
                <a:spAutoFit/>
              </a:bodyPr>
              <a:lstStyle/>
              <a:p>
                <a:pPr algn="l">
                  <a:spcAft>
                    <a:spcPts val="800"/>
                  </a:spcAft>
                </a:pPr>
                <a:r>
                  <a:rPr sz="1900">
                    <a:solidFill>
                      <a:srgbClr val="1E293B"/>
                    </a:solidFill>
                    <a:latin typeface="Calibri"/>
                  </a:rPr>
                  <a:t>Giá trị đại diện </a:t>
                </a:r>
                <a14:m>
                  <m:oMath xmlns:m="http://schemas.openxmlformats.org/officeDocument/2006/math">
                    <m:r>
                      <a:rPr lang="vi-VN" sz="1900" b="0">
                        <a:solidFill>
                          <a:srgbClr val="1E293B"/>
                        </a:solidFill>
                        <a:latin typeface="Cambria Math" panose="02040503050406030204" pitchFamily="18" charset="0"/>
                      </a:rPr>
                      <m:t>43;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48;</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53;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58;</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63;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68</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n=42</m:t>
                    </m:r>
                  </m:oMath>
                </a14:m>
                <a:r>
                  <a:rPr sz="1900">
                    <a:solidFill>
                      <a:srgbClr val="1E293B"/>
                    </a:solidFill>
                    <a:latin typeface="Calibri"/>
                  </a:rPr>
                  <a:t>: </a:t>
                </a:r>
                <a14:m>
                  <m:oMath xmlns:m="http://schemas.openxmlformats.org/officeDocument/2006/math">
                    <m:acc>
                      <m:accPr>
                        <m:chr m:val="―"/>
                      </m:accPr>
                      <m:e>
                        <m:r>
                          <a:rPr lang="vi-VN" sz="1900" b="0">
                            <a:solidFill>
                              <a:srgbClr val="1E293B"/>
                            </a:solidFill>
                            <a:latin typeface="Cambria Math" panose="02040503050406030204" pitchFamily="18" charset="0"/>
                          </a:rPr>
                          <m:t>x</m:t>
                        </m:r>
                      </m:e>
                    </m:acc>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10·43+7·48+16·53+4·58+2·63+3·68</m:t>
                        </m:r>
                      </m:num>
                      <m:den>
                        <m:r>
                          <a:rPr lang="vi-VN" sz="1900" b="0">
                            <a:solidFill>
                              <a:srgbClr val="1E293B"/>
                            </a:solidFill>
                            <a:latin typeface="Cambria Math" panose="02040503050406030204" pitchFamily="18" charset="0"/>
                          </a:rPr>
                          <m:t>42</m:t>
                        </m:r>
                      </m:den>
                    </m:f>
                    <m:r>
                      <a:rPr lang="vi-VN" sz="1900" b="0">
                        <a:solidFill>
                          <a:srgbClr val="1E293B"/>
                        </a:solidFill>
                        <a:latin typeface="Cambria Math" panose="02040503050406030204" pitchFamily="18" charset="0"/>
                      </a:rPr>
                      <m:t>≈51</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81</m:t>
                    </m:r>
                  </m:oMath>
                </a14:m>
                <a:r>
                  <a:rPr sz="1900">
                    <a:solidFill>
                      <a:srgbClr val="1E293B"/>
                    </a:solidFill>
                    <a:latin typeface="Calibri"/>
                  </a:rPr>
                  <a:t> (kg).</a:t>
                </a:r>
              </a:p>
            </p:txBody>
          </p:sp>
        </mc:Choice>
        <mc:Fallback>
          <p:sp>
            <p:nvSpPr>
              <p:cNvPr id="37" name="TextBox 36"/>
              <p:cNvSpPr txBox="1"/>
              <p:nvPr/>
            </p:nvSpPr>
            <p:spPr>
              <a:xfrm>
                <a:off x="713232" y="2779776"/>
                <a:ext cx="10735056" cy="901446"/>
              </a:xfrm>
              <a:prstGeom prst="rect">
                <a:avLst/>
              </a:prstGeom>
              <a:noFill/>
            </p:spPr>
            <p:txBody>
              <a:bodyPr wrap="square" anchor="ctr" lIns="45720" rIns="45720">
                <a:spAutoFit/>
              </a:bodyPr>
              <a:lstStyle/>
              <a:p>
                <a:pPr algn="l">
                  <a:spcAft>
                    <a:spcPts val="800"/>
                  </a:spcAft>
                </a:pPr>
                <a:r>
                  <a:rPr sz="1900">
                    <a:solidFill>
                      <a:srgbClr val="1E293B"/>
                    </a:solidFill>
                    <a:latin typeface="Calibri"/>
                  </a:rPr>
                  <a:t>Giá trị đại diện </a:t>
                </a:r>
                <a:r>
                  <a:rPr lang="vi-VN"/>
                  <a:t>43;\ 48;\ 53;\ 58;\ 63;\ 68</a:t>
                </a:r>
                <a:r>
                  <a:rPr sz="1900">
                    <a:solidFill>
                      <a:srgbClr val="1E293B"/>
                    </a:solidFill>
                    <a:latin typeface="Calibri"/>
                  </a:rPr>
                  <a:t>; </a:t>
                </a:r>
                <a:r>
                  <a:rPr lang="vi-VN"/>
                  <a:t>n=42</a:t>
                </a:r>
                <a:r>
                  <a:rPr sz="1900">
                    <a:solidFill>
                      <a:srgbClr val="1E293B"/>
                    </a:solidFill>
                    <a:latin typeface="Calibri"/>
                  </a:rPr>
                  <a:t>: </a:t>
                </a:r>
                <a:r>
                  <a:rPr lang="vi-VN"/>
                  <a:t>\overline{x}=\frac{10\cdot 43+7\cdot 48+16\cdot 53+4\cdot 58+2\cdot 63+3\cdot 68}{42}\approx 51{,}81</a:t>
                </a:r>
                <a:r>
                  <a:rPr sz="1900">
                    <a:solidFill>
                      <a:srgbClr val="1E293B"/>
                    </a:solidFill>
                    <a:latin typeface="Calibri"/>
                  </a:rPr>
                  <a:t> (kg).</a:t>
                </a:r>
              </a:p>
            </p:txBody>
          </p:sp>
        </mc:Fallback>
      </mc:AlternateContent>
      <p:sp>
        <p:nvSpPr>
          <p:cNvPr id="38" name="s2_chu"/>
          <p:cNvSpPr txBox="1"/>
          <p:nvPr/>
        </p:nvSpPr>
        <p:spPr>
          <a:xfrm>
            <a:off x="548640" y="3772662"/>
            <a:ext cx="11064240" cy="46329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Luyện tập 1.</a:t>
            </a:r>
            <a:r>
              <a:rPr sz="1900">
                <a:solidFill>
                  <a:srgbClr val="1E293B"/>
                </a:solidFill>
                <a:latin typeface="Calibri"/>
              </a:rPr>
              <a:t> Thời gian xem ti vi tuần trước (giờ):</a:t>
            </a:r>
          </a:p>
        </p:txBody>
      </p:sp>
      <p:sp>
        <p:nvSpPr>
          <p:cNvPr id="39" name="Rounded Rectangle 38"/>
          <p:cNvSpPr/>
          <p:nvPr/>
        </p:nvSpPr>
        <p:spPr>
          <a:xfrm>
            <a:off x="548640" y="4290822"/>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43273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Thời gian (giờ)</a:t>
            </a:r>
          </a:p>
        </p:txBody>
      </p:sp>
      <p:sp>
        <p:nvSpPr>
          <p:cNvPr id="41" name="Rounded Rectangle 40"/>
          <p:cNvSpPr/>
          <p:nvPr/>
        </p:nvSpPr>
        <p:spPr>
          <a:xfrm>
            <a:off x="2392680" y="4290822"/>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57272" y="43273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[0; 5)</a:t>
            </a:r>
          </a:p>
        </p:txBody>
      </p:sp>
      <p:sp>
        <p:nvSpPr>
          <p:cNvPr id="43" name="Rounded Rectangle 42"/>
          <p:cNvSpPr/>
          <p:nvPr/>
        </p:nvSpPr>
        <p:spPr>
          <a:xfrm>
            <a:off x="4236720" y="4290822"/>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01311" y="43273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[5; 10)</a:t>
            </a:r>
          </a:p>
        </p:txBody>
      </p:sp>
      <p:sp>
        <p:nvSpPr>
          <p:cNvPr id="45" name="Rounded Rectangle 44"/>
          <p:cNvSpPr/>
          <p:nvPr/>
        </p:nvSpPr>
        <p:spPr>
          <a:xfrm>
            <a:off x="6080759" y="4290822"/>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43273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[10; 15)</a:t>
            </a:r>
          </a:p>
        </p:txBody>
      </p:sp>
      <p:sp>
        <p:nvSpPr>
          <p:cNvPr id="47" name="Rounded Rectangle 46"/>
          <p:cNvSpPr/>
          <p:nvPr/>
        </p:nvSpPr>
        <p:spPr>
          <a:xfrm>
            <a:off x="7924799" y="4290822"/>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89391" y="43273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[15; 20)</a:t>
            </a:r>
          </a:p>
        </p:txBody>
      </p:sp>
      <p:sp>
        <p:nvSpPr>
          <p:cNvPr id="49" name="Rounded Rectangle 48"/>
          <p:cNvSpPr/>
          <p:nvPr/>
        </p:nvSpPr>
        <p:spPr>
          <a:xfrm>
            <a:off x="9768839" y="4290822"/>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33431" y="43273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[20; 25)</a:t>
            </a:r>
          </a:p>
        </p:txBody>
      </p:sp>
      <p:sp>
        <p:nvSpPr>
          <p:cNvPr id="51" name="Rounded Rectangle 50"/>
          <p:cNvSpPr/>
          <p:nvPr/>
        </p:nvSpPr>
        <p:spPr>
          <a:xfrm>
            <a:off x="548640" y="4748022"/>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13232" y="47845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Số học sinh</a:t>
            </a:r>
          </a:p>
        </p:txBody>
      </p:sp>
      <p:sp>
        <p:nvSpPr>
          <p:cNvPr id="53" name="Rounded Rectangle 52"/>
          <p:cNvSpPr/>
          <p:nvPr/>
        </p:nvSpPr>
        <p:spPr>
          <a:xfrm>
            <a:off x="2392680" y="4748022"/>
            <a:ext cx="179832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7272" y="47845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8</a:t>
            </a:r>
          </a:p>
        </p:txBody>
      </p:sp>
      <p:sp>
        <p:nvSpPr>
          <p:cNvPr id="55" name="Rounded Rectangle 54"/>
          <p:cNvSpPr/>
          <p:nvPr/>
        </p:nvSpPr>
        <p:spPr>
          <a:xfrm>
            <a:off x="4236720" y="4748022"/>
            <a:ext cx="179832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01311" y="47845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16</a:t>
            </a:r>
          </a:p>
        </p:txBody>
      </p:sp>
      <p:sp>
        <p:nvSpPr>
          <p:cNvPr id="57" name="Rounded Rectangle 56"/>
          <p:cNvSpPr/>
          <p:nvPr/>
        </p:nvSpPr>
        <p:spPr>
          <a:xfrm>
            <a:off x="6080759" y="4748022"/>
            <a:ext cx="179832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45351" y="47845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4</a:t>
            </a:r>
          </a:p>
        </p:txBody>
      </p:sp>
      <p:sp>
        <p:nvSpPr>
          <p:cNvPr id="59" name="Rounded Rectangle 58"/>
          <p:cNvSpPr/>
          <p:nvPr/>
        </p:nvSpPr>
        <p:spPr>
          <a:xfrm>
            <a:off x="7924799" y="4748022"/>
            <a:ext cx="179832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89391" y="47845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2</a:t>
            </a:r>
          </a:p>
        </p:txBody>
      </p:sp>
      <p:sp>
        <p:nvSpPr>
          <p:cNvPr id="61" name="Rounded Rectangle 60"/>
          <p:cNvSpPr/>
          <p:nvPr/>
        </p:nvSpPr>
        <p:spPr>
          <a:xfrm>
            <a:off x="9768839" y="4748022"/>
            <a:ext cx="179832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933431" y="4784598"/>
            <a:ext cx="1469135" cy="338328"/>
          </a:xfrm>
          <a:prstGeom prst="rect">
            <a:avLst/>
          </a:prstGeom>
          <a:noFill/>
        </p:spPr>
        <p:txBody>
          <a:bodyPr wrap="square" anchor="ctr" lIns="45720" rIns="45720">
            <a:spAutoFit/>
          </a:bodyPr>
          <a:lstStyle/>
          <a:p>
            <a:pPr algn="ctr">
              <a:spcAft>
                <a:spcPts val="800"/>
              </a:spcAft>
            </a:pPr>
            <a:r>
              <a:rPr sz="1600">
                <a:solidFill>
                  <a:srgbClr val="1E293B"/>
                </a:solidFill>
                <a:latin typeface="Calibri"/>
              </a:rPr>
              <a:t>2</a:t>
            </a:r>
          </a:p>
        </p:txBody>
      </p:sp>
      <p:sp>
        <p:nvSpPr>
          <p:cNvPr id="63" name="s3_nen"/>
          <p:cNvSpPr/>
          <p:nvPr/>
        </p:nvSpPr>
        <p:spPr>
          <a:xfrm>
            <a:off x="548640" y="5232654"/>
            <a:ext cx="11064240" cy="8153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64" name="s3_chu"/>
              <p:cNvSpPr txBox="1"/>
              <p:nvPr/>
            </p:nvSpPr>
            <p:spPr>
              <a:xfrm>
                <a:off x="713232" y="5269230"/>
                <a:ext cx="10735056" cy="74218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n=32</m:t>
                    </m:r>
                  </m:oMath>
                </a14:m>
                <a:r>
                  <a:rPr sz="1900">
                    <a:solidFill>
                      <a:srgbClr val="1E293B"/>
                    </a:solidFill>
                    <a:latin typeface="Calibri"/>
                  </a:rPr>
                  <a:t>; </a:t>
                </a:r>
                <a14:m>
                  <m:oMath xmlns:m="http://schemas.openxmlformats.org/officeDocument/2006/math">
                    <m:acc>
                      <m:accPr>
                        <m:chr m:val="―"/>
                      </m:accPr>
                      <m:e>
                        <m:r>
                          <a:rPr lang="vi-VN" sz="1900" b="0">
                            <a:solidFill>
                              <a:srgbClr val="1E293B"/>
                            </a:solidFill>
                            <a:latin typeface="Cambria Math" panose="02040503050406030204" pitchFamily="18" charset="0"/>
                          </a:rPr>
                          <m:t>x</m:t>
                        </m:r>
                      </m:e>
                    </m:acc>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8·2</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5+16·7</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5+4·12</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5+2·17</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5+2·22</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num>
                      <m:den>
                        <m:r>
                          <a:rPr lang="vi-VN" sz="1900" b="0">
                            <a:solidFill>
                              <a:srgbClr val="1E293B"/>
                            </a:solidFill>
                            <a:latin typeface="Cambria Math" panose="02040503050406030204" pitchFamily="18" charset="0"/>
                          </a:rPr>
                          <m:t>32</m:t>
                        </m:r>
                      </m:den>
                    </m:f>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270</m:t>
                        </m:r>
                      </m:num>
                      <m:den>
                        <m:r>
                          <a:rPr lang="vi-VN" sz="1900" b="0">
                            <a:solidFill>
                              <a:srgbClr val="1E293B"/>
                            </a:solidFill>
                            <a:latin typeface="Cambria Math" panose="02040503050406030204" pitchFamily="18" charset="0"/>
                          </a:rPr>
                          <m:t>32</m:t>
                        </m:r>
                      </m:den>
                    </m:f>
                    <m:r>
                      <a:rPr lang="vi-VN" sz="1900" b="0">
                        <a:solidFill>
                          <a:srgbClr val="1E293B"/>
                        </a:solidFill>
                        <a:latin typeface="Cambria Math" panose="02040503050406030204" pitchFamily="18" charset="0"/>
                      </a:rPr>
                      <m:t>≈8</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44</m:t>
                    </m:r>
                  </m:oMath>
                </a14:m>
                <a:r>
                  <a:rPr sz="1900">
                    <a:solidFill>
                      <a:srgbClr val="1E293B"/>
                    </a:solidFill>
                    <a:latin typeface="Calibri"/>
                  </a:rPr>
                  <a:t> (giờ).</a:t>
                </a:r>
              </a:p>
            </p:txBody>
          </p:sp>
        </mc:Choice>
        <mc:Fallback>
          <p:sp>
            <p:nvSpPr>
              <p:cNvPr id="64" name="TextBox 63"/>
              <p:cNvSpPr txBox="1"/>
              <p:nvPr/>
            </p:nvSpPr>
            <p:spPr>
              <a:xfrm>
                <a:off x="713232" y="5269230"/>
                <a:ext cx="10735056" cy="74218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n=32</a:t>
                </a:r>
                <a:r>
                  <a:rPr sz="1900">
                    <a:solidFill>
                      <a:srgbClr val="1E293B"/>
                    </a:solidFill>
                    <a:latin typeface="Calibri"/>
                  </a:rPr>
                  <a:t>; </a:t>
                </a:r>
                <a:r>
                  <a:rPr lang="vi-VN"/>
                  <a:t>\overline{x}=\frac{8\cdot 2{,}5+16\cdot 7{,}5+4\cdot 12{,}5+2\cdot 17{,}5+2\cdot 22{,}5}{32}=\frac{270}{32}\approx 8{,}44</a:t>
                </a:r>
                <a:r>
                  <a:rPr sz="1900">
                    <a:solidFill>
                      <a:srgbClr val="1E293B"/>
                    </a:solidFill>
                    <a:latin typeface="Calibri"/>
                  </a:rPr>
                  <a:t> (giờ).</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TRUNG VỊ – HĐ2 (SGK TR.63 – 64)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8</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11064240" cy="91440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HĐ2.</a:t>
                </a:r>
                <a:r>
                  <a:rPr sz="2000">
                    <a:solidFill>
                      <a:srgbClr val="1E293B"/>
                    </a:solidFill>
                    <a:latin typeface="Calibri"/>
                  </a:rPr>
                  <a:t> Chiều cao của 21 cây na giống: </a:t>
                </a:r>
                <a14:m>
                  <m:oMath xmlns:m="http://schemas.openxmlformats.org/officeDocument/2006/math">
                    <m:r>
                      <a:rPr lang="vi-VN" sz="2000" b="0">
                        <a:solidFill>
                          <a:srgbClr val="1E293B"/>
                        </a:solidFill>
                        <a:latin typeface="Cambria Math" panose="02040503050406030204" pitchFamily="18" charset="0"/>
                      </a:rPr>
                      <m:t>[0;</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5)</m:t>
                    </m:r>
                  </m:oMath>
                </a14:m>
                <a:r>
                  <a:rPr sz="2000">
                    <a:solidFill>
                      <a:srgbClr val="1E293B"/>
                    </a:solidFill>
                    <a:latin typeface="Calibri"/>
                  </a:rPr>
                  <a:t>: 3; </a:t>
                </a:r>
                <a14:m>
                  <m:oMath xmlns:m="http://schemas.openxmlformats.org/officeDocument/2006/math">
                    <m:r>
                      <a:rPr lang="vi-VN" sz="2000" b="0">
                        <a:solidFill>
                          <a:srgbClr val="1E293B"/>
                        </a:solidFill>
                        <a:latin typeface="Cambria Math" panose="02040503050406030204" pitchFamily="18" charset="0"/>
                      </a:rPr>
                      <m:t>[5;</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10)</m:t>
                    </m:r>
                  </m:oMath>
                </a14:m>
                <a:r>
                  <a:rPr sz="2000">
                    <a:solidFill>
                      <a:srgbClr val="1E293B"/>
                    </a:solidFill>
                    <a:latin typeface="Calibri"/>
                  </a:rPr>
                  <a:t>: 8; </a:t>
                </a:r>
                <a14:m>
                  <m:oMath xmlns:m="http://schemas.openxmlformats.org/officeDocument/2006/math">
                    <m:r>
                      <a:rPr lang="vi-VN" sz="2000" b="0">
                        <a:solidFill>
                          <a:srgbClr val="1E293B"/>
                        </a:solidFill>
                        <a:latin typeface="Cambria Math" panose="02040503050406030204" pitchFamily="18" charset="0"/>
                      </a:rPr>
                      <m:t>[10;</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15)</m:t>
                    </m:r>
                  </m:oMath>
                </a14:m>
                <a:r>
                  <a:rPr sz="2000">
                    <a:solidFill>
                      <a:srgbClr val="1E293B"/>
                    </a:solidFill>
                    <a:latin typeface="Calibri"/>
                  </a:rPr>
                  <a:t>: 7; </a:t>
                </a:r>
                <a14:m>
                  <m:oMath xmlns:m="http://schemas.openxmlformats.org/officeDocument/2006/math">
                    <m:r>
                      <a:rPr lang="vi-VN" sz="2000" b="0">
                        <a:solidFill>
                          <a:srgbClr val="1E293B"/>
                        </a:solidFill>
                        <a:latin typeface="Cambria Math" panose="02040503050406030204" pitchFamily="18" charset="0"/>
                      </a:rPr>
                      <m:t>[15;</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20)</m:t>
                    </m:r>
                  </m:oMath>
                </a14:m>
                <a:r>
                  <a:rPr sz="2000">
                    <a:solidFill>
                      <a:srgbClr val="1E293B"/>
                    </a:solidFill>
                    <a:latin typeface="Calibri"/>
                  </a:rPr>
                  <a:t>: 3. Gọi </a:t>
                </a:r>
                <a14:m>
                  <m:oMath xmlns:m="http://schemas.openxmlformats.org/officeDocument/2006/math">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1</m:t>
                        </m:r>
                      </m:sub>
                    </m:sSub>
                    <m:r>
                      <a:rPr lang="vi-VN" sz="2000" b="0">
                        <a:solidFill>
                          <a:srgbClr val="1E293B"/>
                        </a:solidFill>
                        <a:latin typeface="Cambria Math" panose="02040503050406030204" pitchFamily="18" charset="0"/>
                      </a:rPr>
                      <m:t>,…,</m:t>
                    </m:r>
                    <m:sSub>
                      <m:e>
                        <m:r>
                          <a:rPr lang="vi-VN" sz="2000" b="0">
                            <a:solidFill>
                              <a:srgbClr val="1E293B"/>
                            </a:solidFill>
                            <a:latin typeface="Cambria Math" panose="02040503050406030204" pitchFamily="18" charset="0"/>
                          </a:rPr>
                          <m:t>x</m:t>
                        </m:r>
                      </m:e>
                      <m:sub>
                        <m:r>
                          <a:rPr lang="vi-VN" sz="2000" b="0">
                            <a:solidFill>
                              <a:srgbClr val="1E293B"/>
                            </a:solidFill>
                            <a:latin typeface="Cambria Math" panose="02040503050406030204" pitchFamily="18" charset="0"/>
                          </a:rPr>
                          <m:t>21</m:t>
                        </m:r>
                      </m:sub>
                    </m:sSub>
                  </m:oMath>
                </a14:m>
                <a:r>
                  <a:rPr sz="2000">
                    <a:solidFill>
                      <a:srgbClr val="1E293B"/>
                    </a:solidFill>
                    <a:latin typeface="Calibri"/>
                  </a:rPr>
                  <a:t> là chiều cao đã sắp tăng dần. Trung vị thuộc nhóm nào?</a:t>
                </a:r>
              </a:p>
            </p:txBody>
          </p:sp>
        </mc:Choice>
        <mc:Fallback>
          <p:sp>
            <p:nvSpPr>
              <p:cNvPr id="7" name="TextBox 6"/>
              <p:cNvSpPr txBox="1"/>
              <p:nvPr/>
            </p:nvSpPr>
            <p:spPr>
              <a:xfrm>
                <a:off x="548640" y="1325880"/>
                <a:ext cx="11064240" cy="91440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HĐ2.</a:t>
                </a:r>
                <a:r>
                  <a:rPr sz="2000">
                    <a:solidFill>
                      <a:srgbClr val="1E293B"/>
                    </a:solidFill>
                    <a:latin typeface="Calibri"/>
                  </a:rPr>
                  <a:t> Chiều cao của 21 cây na giống: </a:t>
                </a:r>
                <a:r>
                  <a:rPr lang="vi-VN"/>
                  <a:t>[0;\ 5)</a:t>
                </a:r>
                <a:r>
                  <a:rPr sz="2000">
                    <a:solidFill>
                      <a:srgbClr val="1E293B"/>
                    </a:solidFill>
                    <a:latin typeface="Calibri"/>
                  </a:rPr>
                  <a:t>: 3; </a:t>
                </a:r>
                <a:r>
                  <a:rPr lang="vi-VN"/>
                  <a:t>[5;\ 10)</a:t>
                </a:r>
                <a:r>
                  <a:rPr sz="2000">
                    <a:solidFill>
                      <a:srgbClr val="1E293B"/>
                    </a:solidFill>
                    <a:latin typeface="Calibri"/>
                  </a:rPr>
                  <a:t>: 8; </a:t>
                </a:r>
                <a:r>
                  <a:rPr lang="vi-VN"/>
                  <a:t>[10;\ 15)</a:t>
                </a:r>
                <a:r>
                  <a:rPr sz="2000">
                    <a:solidFill>
                      <a:srgbClr val="1E293B"/>
                    </a:solidFill>
                    <a:latin typeface="Calibri"/>
                  </a:rPr>
                  <a:t>: 7; </a:t>
                </a:r>
                <a:r>
                  <a:rPr lang="vi-VN"/>
                  <a:t>[15;\ 20)</a:t>
                </a:r>
                <a:r>
                  <a:rPr sz="2000">
                    <a:solidFill>
                      <a:srgbClr val="1E293B"/>
                    </a:solidFill>
                    <a:latin typeface="Calibri"/>
                  </a:rPr>
                  <a:t>: 3. Gọi </a:t>
                </a:r>
                <a:r>
                  <a:rPr lang="vi-VN"/>
                  <a:t>x_1,\ldots,x_{21}</a:t>
                </a:r>
                <a:r>
                  <a:rPr sz="2000">
                    <a:solidFill>
                      <a:srgbClr val="1E293B"/>
                    </a:solidFill>
                    <a:latin typeface="Calibri"/>
                  </a:rPr>
                  <a:t> là chiều cao đã sắp tăng dần. Trung vị thuộc nhóm nào?</a:t>
                </a:r>
              </a:p>
            </p:txBody>
          </p:sp>
        </mc:Fallback>
      </mc:AlternateContent>
      <p:sp>
        <p:nvSpPr>
          <p:cNvPr id="8" name="s1_nen"/>
          <p:cNvSpPr/>
          <p:nvPr/>
        </p:nvSpPr>
        <p:spPr>
          <a:xfrm>
            <a:off x="548640" y="2331720"/>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68296"/>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Trung vị là </a:t>
                </a:r>
                <a14:m>
                  <m:oMath xmlns:m="http://schemas.openxmlformats.org/officeDocument/2006/math">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11</m:t>
                        </m:r>
                      </m:sub>
                    </m:sSub>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4</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11</m:t>
                        </m:r>
                      </m:sub>
                    </m:sSub>
                  </m:oMath>
                </a14:m>
                <a:r>
                  <a:rPr sz="2100">
                    <a:solidFill>
                      <a:srgbClr val="1E293B"/>
                    </a:solidFill>
                    <a:latin typeface="Calibri"/>
                  </a:rPr>
                  <a:t> thuộc </a:t>
                </a:r>
                <a14:m>
                  <m:oMath xmlns:m="http://schemas.openxmlformats.org/officeDocument/2006/math">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10)</m:t>
                    </m:r>
                  </m:oMath>
                </a14:m>
                <a:r>
                  <a:rPr sz="2100">
                    <a:solidFill>
                      <a:srgbClr val="1E293B"/>
                    </a:solidFill>
                    <a:latin typeface="Calibri"/>
                  </a:rPr>
                  <a:t> nên trung vị thuộc nhóm </a:t>
                </a:r>
                <a14:m>
                  <m:oMath xmlns:m="http://schemas.openxmlformats.org/officeDocument/2006/math">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10)</m:t>
                    </m:r>
                  </m:oMath>
                </a14:m>
                <a:r>
                  <a:rPr sz="2100">
                    <a:solidFill>
                      <a:srgbClr val="1E293B"/>
                    </a:solidFill>
                    <a:latin typeface="Calibri"/>
                  </a:rPr>
                  <a:t>.</a:t>
                </a:r>
              </a:p>
            </p:txBody>
          </p:sp>
        </mc:Choice>
        <mc:Fallback>
          <p:sp>
            <p:nvSpPr>
              <p:cNvPr id="9" name="TextBox 8"/>
              <p:cNvSpPr txBox="1"/>
              <p:nvPr/>
            </p:nvSpPr>
            <p:spPr>
              <a:xfrm>
                <a:off x="713232" y="2368296"/>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Trung vị là </a:t>
                </a:r>
                <a:r>
                  <a:rPr lang="vi-VN"/>
                  <a:t>x_{11}</a:t>
                </a:r>
                <a:r>
                  <a:rPr sz="2100">
                    <a:solidFill>
                      <a:srgbClr val="1E293B"/>
                    </a:solidFill>
                    <a:latin typeface="Calibri"/>
                  </a:rPr>
                  <a:t>; </a:t>
                </a:r>
                <a:r>
                  <a:rPr lang="vi-VN"/>
                  <a:t>x_4,\ldots,x_{11}</a:t>
                </a:r>
                <a:r>
                  <a:rPr sz="2100">
                    <a:solidFill>
                      <a:srgbClr val="1E293B"/>
                    </a:solidFill>
                    <a:latin typeface="Calibri"/>
                  </a:rPr>
                  <a:t> thuộc </a:t>
                </a:r>
                <a:r>
                  <a:rPr lang="vi-VN"/>
                  <a:t>[5;\ 10)</a:t>
                </a:r>
                <a:r>
                  <a:rPr sz="2100">
                    <a:solidFill>
                      <a:srgbClr val="1E293B"/>
                    </a:solidFill>
                    <a:latin typeface="Calibri"/>
                  </a:rPr>
                  <a:t> nên trung vị thuộc nhóm </a:t>
                </a:r>
                <a:r>
                  <a:rPr lang="vi-VN"/>
                  <a:t>[5;\ 10)</a:t>
                </a:r>
                <a:r>
                  <a:rPr sz="2100">
                    <a:solidFill>
                      <a:srgbClr val="1E293B"/>
                    </a:solidFill>
                    <a:latin typeface="Calibri"/>
                  </a:rPr>
                  <a:t>.</a:t>
                </a:r>
              </a:p>
            </p:txBody>
          </p:sp>
        </mc:Fallback>
      </mc:AlternateContent>
      <p:sp>
        <p:nvSpPr>
          <p:cNvPr id="10" name="s2_nen"/>
          <p:cNvSpPr/>
          <p:nvPr/>
        </p:nvSpPr>
        <p:spPr>
          <a:xfrm>
            <a:off x="548640" y="3054095"/>
            <a:ext cx="11064240" cy="161391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090671"/>
                <a:ext cx="10735056" cy="154076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Bước 1.</a:t>
                </a:r>
                <a:r>
                  <a:rPr sz="2100">
                    <a:solidFill>
                      <a:srgbClr val="1E293B"/>
                    </a:solidFill>
                    <a:latin typeface="Calibri"/>
                  </a:rPr>
                  <a:t> Xác định nhóm chứa trung vị, giả sử là nhóm thứ </a:t>
                </a:r>
                <a14:m>
                  <m:oMath xmlns:m="http://schemas.openxmlformats.org/officeDocument/2006/math">
                    <m:r>
                      <a:rPr lang="vi-VN" sz="2100" b="0">
                        <a:solidFill>
                          <a:srgbClr val="1E293B"/>
                        </a:solidFill>
                        <a:latin typeface="Cambria Math" panose="02040503050406030204" pitchFamily="18" charset="0"/>
                      </a:rPr>
                      <m:t>p</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m:t>
                        </m:r>
                      </m:sub>
                    </m:sSub>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p+1</m:t>
                        </m:r>
                      </m:sub>
                    </m:sSub>
                    <m:r>
                      <a:rPr lang="vi-VN" sz="2100" b="0">
                        <a:solidFill>
                          <a:srgbClr val="1E293B"/>
                        </a:solidFill>
                        <a:latin typeface="Cambria Math" panose="02040503050406030204" pitchFamily="18" charset="0"/>
                      </a:rPr>
                      <m:t>)</m:t>
                    </m:r>
                  </m:oMath>
                </a14:m>
                <a:r>
                  <a:rPr sz="2100">
                    <a:solidFill>
                      <a:srgbClr val="1E293B"/>
                    </a:solidFill>
                    <a:latin typeface="Calibri"/>
                  </a:rPr>
                  <a:t>.</a:t>
                </a:r>
              </a:p>
              <a:p>
                <a:pPr algn="l">
                  <a:spcAft>
                    <a:spcPts val="800"/>
                  </a:spcAft>
                </a:pPr>
                <a:r>
                  <a:rPr sz="2100" b="1">
                    <a:solidFill>
                      <a:srgbClr val="1E293B"/>
                    </a:solidFill>
                    <a:latin typeface="Calibri"/>
                  </a:rPr>
                  <a:t>Bước 2.</a:t>
                </a:r>
                <a:r>
                  <a:rPr sz="2100">
                    <a:solidFill>
                      <a:srgbClr val="1E293B"/>
                    </a:solidFill>
                    <a:latin typeface="Calibri"/>
                  </a:rPr>
                  <a:t> Trung vị </a:t>
                </a:r>
                <a14:m>
                  <m:oMath xmlns:m="http://schemas.openxmlformats.org/officeDocument/2006/math">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e</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m:t>
                        </m:r>
                      </m:sub>
                    </m:sSub>
                    <m:r>
                      <a:rPr lang="vi-VN" sz="2100" b="0">
                        <a:solidFill>
                          <a:srgbClr val="1E293B"/>
                        </a:solidFill>
                        <a:latin typeface="Cambria Math" panose="02040503050406030204" pitchFamily="18" charset="0"/>
                      </a:rPr>
                      <m:t>+</m:t>
                    </m:r>
                    <m:f>
                      <m:fPr>
                        <m:type m:val="bar"/>
                      </m:fPr>
                      <m:num>
                        <m:f>
                          <m:fPr>
                            <m:type m:val="bar"/>
                          </m:fPr>
                          <m:num>
                            <m:r>
                              <a:rPr lang="vi-VN" sz="2100" b="0">
                                <a:solidFill>
                                  <a:srgbClr val="1E293B"/>
                                </a:solidFill>
                                <a:latin typeface="Cambria Math" panose="02040503050406030204" pitchFamily="18" charset="0"/>
                              </a:rPr>
                              <m:t>n</m:t>
                            </m:r>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p−1</m:t>
                            </m:r>
                          </m:sub>
                        </m:sSub>
                        <m:r>
                          <a:rPr lang="vi-VN" sz="2100" b="0">
                            <a:solidFill>
                              <a:srgbClr val="1E293B"/>
                            </a:solidFill>
                            <a:latin typeface="Cambria Math" panose="02040503050406030204" pitchFamily="18" charset="0"/>
                          </a:rPr>
                          <m:t>)</m:t>
                        </m:r>
                      </m:num>
                      <m:den>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p</m:t>
                            </m:r>
                          </m:sub>
                        </m:sSub>
                      </m:den>
                    </m:f>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p+1</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m:t>
                        </m:r>
                      </m:sub>
                    </m:sSub>
                    <m:r>
                      <a:rPr lang="vi-VN" sz="2100" b="0">
                        <a:solidFill>
                          <a:srgbClr val="1E293B"/>
                        </a:solidFill>
                        <a:latin typeface="Cambria Math" panose="02040503050406030204" pitchFamily="18" charset="0"/>
                      </a:rPr>
                      <m:t>)</m:t>
                    </m:r>
                  </m:oMath>
                </a14:m>
                <a:r>
                  <a:rPr sz="2100">
                    <a:solidFill>
                      <a:srgbClr val="1E293B"/>
                    </a:solidFill>
                    <a:latin typeface="Calibri"/>
                  </a:rPr>
                  <a:t>, trong đó </a:t>
                </a:r>
                <a14:m>
                  <m:oMath xmlns:m="http://schemas.openxmlformats.org/officeDocument/2006/math">
                    <m:r>
                      <a:rPr lang="vi-VN" sz="2100" b="0">
                        <a:solidFill>
                          <a:srgbClr val="1E293B"/>
                        </a:solidFill>
                        <a:latin typeface="Cambria Math" panose="02040503050406030204" pitchFamily="18" charset="0"/>
                      </a:rPr>
                      <m:t>n</m:t>
                    </m:r>
                  </m:oMath>
                </a14:m>
                <a:r>
                  <a:rPr sz="2100">
                    <a:solidFill>
                      <a:srgbClr val="1E293B"/>
                    </a:solidFill>
                    <a:latin typeface="Calibri"/>
                  </a:rPr>
                  <a:t> là cỡ mẫu, </a:t>
                </a:r>
                <a14:m>
                  <m:oMath xmlns:m="http://schemas.openxmlformats.org/officeDocument/2006/math">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p</m:t>
                        </m:r>
                      </m:sub>
                    </m:sSub>
                  </m:oMath>
                </a14:m>
                <a:r>
                  <a:rPr sz="2100">
                    <a:solidFill>
                      <a:srgbClr val="1E293B"/>
                    </a:solidFill>
                    <a:latin typeface="Calibri"/>
                  </a:rPr>
                  <a:t> là tần số nhóm </a:t>
                </a:r>
                <a14:m>
                  <m:oMath xmlns:m="http://schemas.openxmlformats.org/officeDocument/2006/math">
                    <m:r>
                      <a:rPr lang="vi-VN" sz="2100" b="0">
                        <a:solidFill>
                          <a:srgbClr val="1E293B"/>
                        </a:solidFill>
                        <a:latin typeface="Cambria Math" panose="02040503050406030204" pitchFamily="18" charset="0"/>
                      </a:rPr>
                      <m:t>p</m:t>
                    </m:r>
                  </m:oMath>
                </a14:m>
                <a:r>
                  <a:rPr sz="2100">
                    <a:solidFill>
                      <a:srgbClr val="1E293B"/>
                    </a:solidFill>
                    <a:latin typeface="Calibri"/>
                  </a:rPr>
                  <a:t> (với </a:t>
                </a:r>
                <a14:m>
                  <m:oMath xmlns:m="http://schemas.openxmlformats.org/officeDocument/2006/math">
                    <m:r>
                      <a:rPr lang="vi-VN" sz="2100" b="0">
                        <a:solidFill>
                          <a:srgbClr val="1E293B"/>
                        </a:solidFill>
                        <a:latin typeface="Cambria Math" panose="02040503050406030204" pitchFamily="18" charset="0"/>
                      </a:rPr>
                      <m:t>p=1</m:t>
                    </m:r>
                  </m:oMath>
                </a14:m>
                <a:r>
                  <a:rPr sz="2100">
                    <a:solidFill>
                      <a:srgbClr val="1E293B"/>
                    </a:solidFill>
                    <a:latin typeface="Calibri"/>
                  </a:rPr>
                  <a:t> quy ước </a:t>
                </a:r>
                <a14:m>
                  <m:oMath xmlns:m="http://schemas.openxmlformats.org/officeDocument/2006/math">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p−1</m:t>
                        </m:r>
                      </m:sub>
                    </m:sSub>
                    <m:r>
                      <a:rPr lang="vi-VN" sz="2100" b="0">
                        <a:solidFill>
                          <a:srgbClr val="1E293B"/>
                        </a:solidFill>
                        <a:latin typeface="Cambria Math" panose="02040503050406030204" pitchFamily="18" charset="0"/>
                      </a:rPr>
                      <m:t>=0</m:t>
                    </m:r>
                  </m:oMath>
                </a14:m>
                <a:r>
                  <a:rPr sz="2100">
                    <a:solidFill>
                      <a:srgbClr val="1E293B"/>
                    </a:solidFill>
                    <a:latin typeface="Calibri"/>
                  </a:rPr>
                  <a:t>).</a:t>
                </a:r>
              </a:p>
            </p:txBody>
          </p:sp>
        </mc:Choice>
        <mc:Fallback>
          <p:sp>
            <p:nvSpPr>
              <p:cNvPr id="11" name="TextBox 10"/>
              <p:cNvSpPr txBox="1"/>
              <p:nvPr/>
            </p:nvSpPr>
            <p:spPr>
              <a:xfrm>
                <a:off x="713232" y="3090671"/>
                <a:ext cx="10735056" cy="154076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Bước 1.</a:t>
                </a:r>
                <a:r>
                  <a:rPr sz="2100">
                    <a:solidFill>
                      <a:srgbClr val="1E293B"/>
                    </a:solidFill>
                    <a:latin typeface="Calibri"/>
                  </a:rPr>
                  <a:t> Xác định nhóm chứa trung vị, giả sử là nhóm thứ </a:t>
                </a:r>
                <a:r>
                  <a:rPr lang="vi-VN"/>
                  <a:t>p</a:t>
                </a:r>
                <a:r>
                  <a:rPr sz="2100">
                    <a:solidFill>
                      <a:srgbClr val="1E293B"/>
                    </a:solidFill>
                    <a:latin typeface="Calibri"/>
                  </a:rPr>
                  <a:t>: </a:t>
                </a:r>
                <a:r>
                  <a:rPr lang="vi-VN"/>
                  <a:t>[a_p;\ a_{p+1})</a:t>
                </a:r>
                <a:r>
                  <a:rPr sz="2100">
                    <a:solidFill>
                      <a:srgbClr val="1E293B"/>
                    </a:solidFill>
                    <a:latin typeface="Calibri"/>
                  </a:rPr>
                  <a:t>.</a:t>
                </a:r>
              </a:p>
              <a:p>
                <a:pPr algn="l">
                  <a:spcAft>
                    <a:spcPts val="800"/>
                  </a:spcAft>
                </a:pPr>
                <a:r>
                  <a:rPr sz="2100" b="1">
                    <a:solidFill>
                      <a:srgbClr val="1E293B"/>
                    </a:solidFill>
                    <a:latin typeface="Calibri"/>
                  </a:rPr>
                  <a:t>Bước 2.</a:t>
                </a:r>
                <a:r>
                  <a:rPr sz="2100">
                    <a:solidFill>
                      <a:srgbClr val="1E293B"/>
                    </a:solidFill>
                    <a:latin typeface="Calibri"/>
                  </a:rPr>
                  <a:t> Trung vị </a:t>
                </a:r>
                <a:r>
                  <a:rPr lang="vi-VN"/>
                  <a:t>M_e=a_p+\frac{\frac{n}{2}-(m_1+\ldots+m_{p-1})}{m_p}\cdot(a_{p+1}-a_p)</a:t>
                </a:r>
                <a:r>
                  <a:rPr sz="2100">
                    <a:solidFill>
                      <a:srgbClr val="1E293B"/>
                    </a:solidFill>
                    <a:latin typeface="Calibri"/>
                  </a:rPr>
                  <a:t>, trong đó </a:t>
                </a:r>
                <a:r>
                  <a:rPr lang="vi-VN"/>
                  <a:t>n</a:t>
                </a:r>
                <a:r>
                  <a:rPr sz="2100">
                    <a:solidFill>
                      <a:srgbClr val="1E293B"/>
                    </a:solidFill>
                    <a:latin typeface="Calibri"/>
                  </a:rPr>
                  <a:t> là cỡ mẫu, </a:t>
                </a:r>
                <a:r>
                  <a:rPr lang="vi-VN"/>
                  <a:t>m_p</a:t>
                </a:r>
                <a:r>
                  <a:rPr sz="2100">
                    <a:solidFill>
                      <a:srgbClr val="1E293B"/>
                    </a:solidFill>
                    <a:latin typeface="Calibri"/>
                  </a:rPr>
                  <a:t> là tần số nhóm </a:t>
                </a:r>
                <a:r>
                  <a:rPr lang="vi-VN"/>
                  <a:t>p</a:t>
                </a:r>
                <a:r>
                  <a:rPr sz="2100">
                    <a:solidFill>
                      <a:srgbClr val="1E293B"/>
                    </a:solidFill>
                    <a:latin typeface="Calibri"/>
                  </a:rPr>
                  <a:t> (với </a:t>
                </a:r>
                <a:r>
                  <a:rPr lang="vi-VN"/>
                  <a:t>p=1</a:t>
                </a:r>
                <a:r>
                  <a:rPr sz="2100">
                    <a:solidFill>
                      <a:srgbClr val="1E293B"/>
                    </a:solidFill>
                    <a:latin typeface="Calibri"/>
                  </a:rPr>
                  <a:t> quy ước </a:t>
                </a:r>
                <a:r>
                  <a:rPr lang="vi-VN"/>
                  <a:t>m_1+\ldots+m_{p-1}=0</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 LUYỆN TẬP 2 (SGK TR.64)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9</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2.</a:t>
            </a:r>
            <a:r>
              <a:rPr sz="1900">
                <a:solidFill>
                  <a:srgbClr val="1E293B"/>
                </a:solidFill>
                <a:latin typeface="Calibri"/>
              </a:rPr>
              <a:t> Thời gian (phút) truy cập Internet mỗi buổi tối của học sinh:</a:t>
            </a:r>
          </a:p>
        </p:txBody>
      </p:sp>
      <p:sp>
        <p:nvSpPr>
          <p:cNvPr id="8" name="Rounded Rectangle 7"/>
          <p:cNvSpPr/>
          <p:nvPr/>
        </p:nvSpPr>
        <p:spPr>
          <a:xfrm>
            <a:off x="548640" y="1783080"/>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196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Thời gian (phút)</a:t>
            </a:r>
          </a:p>
        </p:txBody>
      </p:sp>
      <p:sp>
        <p:nvSpPr>
          <p:cNvPr id="10" name="Rounded Rectangle 9"/>
          <p:cNvSpPr/>
          <p:nvPr/>
        </p:nvSpPr>
        <p:spPr>
          <a:xfrm>
            <a:off x="2392680" y="1783080"/>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57272" y="18196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[9,5; 12,5)</a:t>
            </a:r>
          </a:p>
        </p:txBody>
      </p:sp>
      <p:sp>
        <p:nvSpPr>
          <p:cNvPr id="12" name="Rounded Rectangle 11"/>
          <p:cNvSpPr/>
          <p:nvPr/>
        </p:nvSpPr>
        <p:spPr>
          <a:xfrm>
            <a:off x="4236720" y="1783080"/>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1311" y="18196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[12,5; 15,5)</a:t>
            </a:r>
          </a:p>
        </p:txBody>
      </p:sp>
      <p:sp>
        <p:nvSpPr>
          <p:cNvPr id="14" name="Rounded Rectangle 13"/>
          <p:cNvSpPr/>
          <p:nvPr/>
        </p:nvSpPr>
        <p:spPr>
          <a:xfrm>
            <a:off x="6080759" y="1783080"/>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45351" y="18196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[15,5; 18,5)</a:t>
            </a:r>
          </a:p>
        </p:txBody>
      </p:sp>
      <p:sp>
        <p:nvSpPr>
          <p:cNvPr id="16" name="Rounded Rectangle 15"/>
          <p:cNvSpPr/>
          <p:nvPr/>
        </p:nvSpPr>
        <p:spPr>
          <a:xfrm>
            <a:off x="7924799" y="1783080"/>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89391" y="18196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[18,5; 21,5)</a:t>
            </a:r>
          </a:p>
        </p:txBody>
      </p:sp>
      <p:sp>
        <p:nvSpPr>
          <p:cNvPr id="18" name="Rounded Rectangle 17"/>
          <p:cNvSpPr/>
          <p:nvPr/>
        </p:nvSpPr>
        <p:spPr>
          <a:xfrm>
            <a:off x="9768839" y="1783080"/>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33431" y="18196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[21,5; 24,5)</a:t>
            </a:r>
          </a:p>
        </p:txBody>
      </p:sp>
      <p:sp>
        <p:nvSpPr>
          <p:cNvPr id="20" name="Rounded Rectangle 19"/>
          <p:cNvSpPr/>
          <p:nvPr/>
        </p:nvSpPr>
        <p:spPr>
          <a:xfrm>
            <a:off x="548640" y="2240280"/>
            <a:ext cx="1798320" cy="411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22768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Số học sinh</a:t>
            </a:r>
          </a:p>
        </p:txBody>
      </p:sp>
      <p:sp>
        <p:nvSpPr>
          <p:cNvPr id="22" name="Rounded Rectangle 21"/>
          <p:cNvSpPr/>
          <p:nvPr/>
        </p:nvSpPr>
        <p:spPr>
          <a:xfrm>
            <a:off x="2392680" y="2240280"/>
            <a:ext cx="179832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57272" y="22768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3</a:t>
            </a:r>
          </a:p>
        </p:txBody>
      </p:sp>
      <p:sp>
        <p:nvSpPr>
          <p:cNvPr id="24" name="Rounded Rectangle 23"/>
          <p:cNvSpPr/>
          <p:nvPr/>
        </p:nvSpPr>
        <p:spPr>
          <a:xfrm>
            <a:off x="4236720" y="2240280"/>
            <a:ext cx="179832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1311" y="22768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12</a:t>
            </a:r>
          </a:p>
        </p:txBody>
      </p:sp>
      <p:sp>
        <p:nvSpPr>
          <p:cNvPr id="26" name="Rounded Rectangle 25"/>
          <p:cNvSpPr/>
          <p:nvPr/>
        </p:nvSpPr>
        <p:spPr>
          <a:xfrm>
            <a:off x="6080759" y="2240280"/>
            <a:ext cx="179832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45351" y="22768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15</a:t>
            </a:r>
          </a:p>
        </p:txBody>
      </p:sp>
      <p:sp>
        <p:nvSpPr>
          <p:cNvPr id="28" name="Rounded Rectangle 27"/>
          <p:cNvSpPr/>
          <p:nvPr/>
        </p:nvSpPr>
        <p:spPr>
          <a:xfrm>
            <a:off x="7924799" y="2240280"/>
            <a:ext cx="179832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89391" y="22768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24</a:t>
            </a:r>
          </a:p>
        </p:txBody>
      </p:sp>
      <p:sp>
        <p:nvSpPr>
          <p:cNvPr id="30" name="Rounded Rectangle 29"/>
          <p:cNvSpPr/>
          <p:nvPr/>
        </p:nvSpPr>
        <p:spPr>
          <a:xfrm>
            <a:off x="9768839" y="2240280"/>
            <a:ext cx="1798320" cy="4114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33431" y="2276856"/>
            <a:ext cx="1469135" cy="338328"/>
          </a:xfrm>
          <a:prstGeom prst="rect">
            <a:avLst/>
          </a:prstGeom>
          <a:noFill/>
        </p:spPr>
        <p:txBody>
          <a:bodyPr wrap="square" anchor="ctr" lIns="45720" rIns="45720">
            <a:spAutoFit/>
          </a:bodyPr>
          <a:lstStyle/>
          <a:p>
            <a:pPr algn="ctr">
              <a:spcAft>
                <a:spcPts val="800"/>
              </a:spcAft>
            </a:pPr>
            <a:r>
              <a:rPr sz="1500">
                <a:solidFill>
                  <a:srgbClr val="1E293B"/>
                </a:solidFill>
                <a:latin typeface="Calibri"/>
              </a:rPr>
              <a:t>2</a:t>
            </a:r>
          </a:p>
        </p:txBody>
      </p:sp>
      <p:sp>
        <p:nvSpPr>
          <p:cNvPr id="32" name="s1_nen"/>
          <p:cNvSpPr/>
          <p:nvPr/>
        </p:nvSpPr>
        <p:spPr>
          <a:xfrm>
            <a:off x="548640" y="2743200"/>
            <a:ext cx="11064240" cy="94564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3" name="s1_chu"/>
              <p:cNvSpPr txBox="1"/>
              <p:nvPr/>
            </p:nvSpPr>
            <p:spPr>
              <a:xfrm>
                <a:off x="713232" y="2779776"/>
                <a:ext cx="10735056" cy="872490"/>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n=56</m:t>
                    </m:r>
                  </m:oMath>
                </a14:m>
                <a:r>
                  <a:rPr sz="1900">
                    <a:solidFill>
                      <a:srgbClr val="1E293B"/>
                    </a:solidFill>
                    <a:latin typeface="Calibri"/>
                  </a:rPr>
                  <a:t>; trung vị </a:t>
                </a:r>
                <a14:m>
                  <m:oMath xmlns:m="http://schemas.openxmlformats.org/officeDocument/2006/math">
                    <m:f>
                      <m:fPr>
                        <m:type m:val="bar"/>
                      </m:fPr>
                      <m:num>
                        <m:sSub>
                          <m:e>
                            <m:r>
                              <a:rPr lang="vi-VN" sz="1900" b="0">
                                <a:solidFill>
                                  <a:srgbClr val="1E293B"/>
                                </a:solidFill>
                                <a:latin typeface="Cambria Math" panose="02040503050406030204" pitchFamily="18" charset="0"/>
                              </a:rPr>
                              <m:t>x</m:t>
                            </m:r>
                          </m:e>
                          <m:sub>
                            <m:r>
                              <a:rPr lang="vi-VN" sz="1900" b="0">
                                <a:solidFill>
                                  <a:srgbClr val="1E293B"/>
                                </a:solidFill>
                                <a:latin typeface="Cambria Math" panose="02040503050406030204" pitchFamily="18" charset="0"/>
                              </a:rPr>
                              <m:t>28</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x</m:t>
                            </m:r>
                          </m:e>
                          <m:sub>
                            <m:r>
                              <a:rPr lang="vi-VN" sz="1900" b="0">
                                <a:solidFill>
                                  <a:srgbClr val="1E293B"/>
                                </a:solidFill>
                                <a:latin typeface="Cambria Math" panose="02040503050406030204" pitchFamily="18" charset="0"/>
                              </a:rPr>
                              <m:t>29</m:t>
                            </m:r>
                          </m:sub>
                        </m:sSub>
                      </m:num>
                      <m:den>
                        <m:r>
                          <a:rPr lang="vi-VN" sz="1900" b="0">
                            <a:solidFill>
                              <a:srgbClr val="1E293B"/>
                            </a:solidFill>
                            <a:latin typeface="Cambria Math" panose="02040503050406030204" pitchFamily="18" charset="0"/>
                          </a:rPr>
                          <m:t>2</m:t>
                        </m:r>
                      </m:den>
                    </m:f>
                  </m:oMath>
                </a14:m>
                <a:r>
                  <a:rPr sz="1900">
                    <a:solidFill>
                      <a:srgbClr val="1E293B"/>
                    </a:solidFill>
                    <a:latin typeface="Calibri"/>
                  </a:rPr>
                  <a:t> thuộc </a:t>
                </a:r>
                <a14:m>
                  <m:oMath xmlns:m="http://schemas.openxmlformats.org/officeDocument/2006/math">
                    <m:r>
                      <a:rPr lang="vi-VN" sz="1900" b="0">
                        <a:solidFill>
                          <a:srgbClr val="1E293B"/>
                        </a:solidFill>
                        <a:latin typeface="Cambria Math" panose="02040503050406030204" pitchFamily="18" charset="0"/>
                      </a:rPr>
                      <m:t>[15</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18</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M</m:t>
                        </m:r>
                      </m:e>
                      <m:sub>
                        <m:r>
                          <a:rPr lang="vi-VN" sz="1900" b="0">
                            <a:solidFill>
                              <a:srgbClr val="1E293B"/>
                            </a:solidFill>
                            <a:latin typeface="Cambria Math" panose="02040503050406030204" pitchFamily="18" charset="0"/>
                          </a:rPr>
                          <m:t>e</m:t>
                        </m:r>
                      </m:sub>
                    </m:sSub>
                    <m:r>
                      <a:rPr lang="vi-VN" sz="1900" b="0">
                        <a:solidFill>
                          <a:srgbClr val="1E293B"/>
                        </a:solidFill>
                        <a:latin typeface="Cambria Math" panose="02040503050406030204" pitchFamily="18" charset="0"/>
                      </a:rPr>
                      <m:t>=15</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f>
                      <m:fPr>
                        <m:type m:val="bar"/>
                      </m:fPr>
                      <m:num>
                        <m:f>
                          <m:fPr>
                            <m:type m:val="bar"/>
                          </m:fPr>
                          <m:num>
                            <m:r>
                              <a:rPr lang="vi-VN" sz="1900" b="0">
                                <a:solidFill>
                                  <a:srgbClr val="1E293B"/>
                                </a:solidFill>
                                <a:latin typeface="Cambria Math" panose="02040503050406030204" pitchFamily="18" charset="0"/>
                              </a:rPr>
                              <m:t>56</m:t>
                            </m:r>
                          </m:num>
                          <m:den>
                            <m:r>
                              <a:rPr lang="vi-VN" sz="1900" b="0">
                                <a:solidFill>
                                  <a:srgbClr val="1E293B"/>
                                </a:solidFill>
                                <a:latin typeface="Cambria Math" panose="02040503050406030204" pitchFamily="18" charset="0"/>
                              </a:rPr>
                              <m:t>2</m:t>
                            </m:r>
                          </m:den>
                        </m:f>
                        <m:r>
                          <a:rPr lang="vi-VN" sz="1900" b="0">
                            <a:solidFill>
                              <a:srgbClr val="1E293B"/>
                            </a:solidFill>
                            <a:latin typeface="Cambria Math" panose="02040503050406030204" pitchFamily="18" charset="0"/>
                          </a:rPr>
                          <m:t>−15</m:t>
                        </m:r>
                      </m:num>
                      <m:den>
                        <m:r>
                          <a:rPr lang="vi-VN" sz="1900" b="0">
                            <a:solidFill>
                              <a:srgbClr val="1E293B"/>
                            </a:solidFill>
                            <a:latin typeface="Cambria Math" panose="02040503050406030204" pitchFamily="18" charset="0"/>
                          </a:rPr>
                          <m:t>15</m:t>
                        </m:r>
                      </m:den>
                    </m:f>
                    <m:r>
                      <a:rPr lang="vi-VN" sz="1900" b="0">
                        <a:solidFill>
                          <a:srgbClr val="1E293B"/>
                        </a:solidFill>
                        <a:latin typeface="Cambria Math" panose="02040503050406030204" pitchFamily="18" charset="0"/>
                      </a:rPr>
                      <m:t>·3=18</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oMath>
                </a14:m>
                <a:r>
                  <a:rPr sz="1900">
                    <a:solidFill>
                      <a:srgbClr val="1E293B"/>
                    </a:solidFill>
                    <a:latin typeface="Calibri"/>
                  </a:rPr>
                  <a:t>.</a:t>
                </a:r>
              </a:p>
            </p:txBody>
          </p:sp>
        </mc:Choice>
        <mc:Fallback>
          <p:sp>
            <p:nvSpPr>
              <p:cNvPr id="33" name="TextBox 32"/>
              <p:cNvSpPr txBox="1"/>
              <p:nvPr/>
            </p:nvSpPr>
            <p:spPr>
              <a:xfrm>
                <a:off x="713232" y="2779776"/>
                <a:ext cx="10735056" cy="872490"/>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n=56</a:t>
                </a:r>
                <a:r>
                  <a:rPr sz="1900">
                    <a:solidFill>
                      <a:srgbClr val="1E293B"/>
                    </a:solidFill>
                    <a:latin typeface="Calibri"/>
                  </a:rPr>
                  <a:t>; trung vị </a:t>
                </a:r>
                <a:r>
                  <a:rPr lang="vi-VN"/>
                  <a:t>\frac{x_{28}+x_{29}}{2}</a:t>
                </a:r>
                <a:r>
                  <a:rPr sz="1900">
                    <a:solidFill>
                      <a:srgbClr val="1E293B"/>
                    </a:solidFill>
                    <a:latin typeface="Calibri"/>
                  </a:rPr>
                  <a:t> thuộc </a:t>
                </a:r>
                <a:r>
                  <a:rPr lang="vi-VN"/>
                  <a:t>[15{,}5;\ 18{,}5)</a:t>
                </a:r>
                <a:r>
                  <a:rPr sz="1900">
                    <a:solidFill>
                      <a:srgbClr val="1E293B"/>
                    </a:solidFill>
                    <a:latin typeface="Calibri"/>
                  </a:rPr>
                  <a:t>: </a:t>
                </a:r>
                <a:r>
                  <a:rPr lang="vi-VN"/>
                  <a:t>M_e=15{,}5+\frac{\frac{56}{2}-15}{15}\cdot 3=18{,}1</a:t>
                </a:r>
                <a:r>
                  <a:rPr sz="19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34" name="s2_chu"/>
              <p:cNvSpPr txBox="1"/>
              <p:nvPr/>
            </p:nvSpPr>
            <p:spPr>
              <a:xfrm>
                <a:off x="548640" y="3761994"/>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Luyện tập 2.</a:t>
                </a:r>
                <a:r>
                  <a:rPr sz="1900">
                    <a:solidFill>
                      <a:srgbClr val="1E293B"/>
                    </a:solidFill>
                    <a:latin typeface="Calibri"/>
                  </a:rPr>
                  <a:t> Tốc độ </a:t>
                </a:r>
                <a14:m>
                  <m:oMath xmlns:m="http://schemas.openxmlformats.org/officeDocument/2006/math">
                    <m:r>
                      <a:rPr lang="vi-VN" sz="1900" b="0">
                        <a:solidFill>
                          <a:srgbClr val="1E293B"/>
                        </a:solidFill>
                        <a:latin typeface="Cambria Math" panose="02040503050406030204" pitchFamily="18" charset="0"/>
                      </a:rPr>
                      <m:t>v</m:t>
                    </m:r>
                  </m:oMath>
                </a14:m>
                <a:r>
                  <a:rPr sz="1900">
                    <a:solidFill>
                      <a:srgbClr val="1E293B"/>
                    </a:solidFill>
                    <a:latin typeface="Calibri"/>
                  </a:rPr>
                  <a:t> (km/h) 200 lần giao bóng: </a:t>
                </a:r>
                <a14:m>
                  <m:oMath xmlns:m="http://schemas.openxmlformats.org/officeDocument/2006/math">
                    <m:r>
                      <a:rPr lang="vi-VN" sz="1900" b="0">
                        <a:solidFill>
                          <a:srgbClr val="1E293B"/>
                        </a:solidFill>
                        <a:latin typeface="Cambria Math" panose="02040503050406030204" pitchFamily="18" charset="0"/>
                      </a:rPr>
                      <m:t>[150;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155)</m:t>
                    </m:r>
                  </m:oMath>
                </a14:m>
                <a:r>
                  <a:rPr sz="1900">
                    <a:solidFill>
                      <a:srgbClr val="1E293B"/>
                    </a:solidFill>
                    <a:latin typeface="Calibri"/>
                  </a:rPr>
                  <a:t>: 18; </a:t>
                </a:r>
                <a14:m>
                  <m:oMath xmlns:m="http://schemas.openxmlformats.org/officeDocument/2006/math">
                    <m:r>
                      <a:rPr lang="vi-VN" sz="1900" b="0">
                        <a:solidFill>
                          <a:srgbClr val="1E293B"/>
                        </a:solidFill>
                        <a:latin typeface="Cambria Math" panose="02040503050406030204" pitchFamily="18" charset="0"/>
                      </a:rPr>
                      <m:t>[155;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160)</m:t>
                    </m:r>
                  </m:oMath>
                </a14:m>
                <a:r>
                  <a:rPr sz="1900">
                    <a:solidFill>
                      <a:srgbClr val="1E293B"/>
                    </a:solidFill>
                    <a:latin typeface="Calibri"/>
                  </a:rPr>
                  <a:t>: 28; </a:t>
                </a:r>
                <a14:m>
                  <m:oMath xmlns:m="http://schemas.openxmlformats.org/officeDocument/2006/math">
                    <m:r>
                      <a:rPr lang="vi-VN" sz="1900" b="0">
                        <a:solidFill>
                          <a:srgbClr val="1E293B"/>
                        </a:solidFill>
                        <a:latin typeface="Cambria Math" panose="02040503050406030204" pitchFamily="18" charset="0"/>
                      </a:rPr>
                      <m:t>[160;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165)</m:t>
                    </m:r>
                  </m:oMath>
                </a14:m>
                <a:r>
                  <a:rPr sz="1900">
                    <a:solidFill>
                      <a:srgbClr val="1E293B"/>
                    </a:solidFill>
                    <a:latin typeface="Calibri"/>
                  </a:rPr>
                  <a:t>: 35; </a:t>
                </a:r>
                <a14:m>
                  <m:oMath xmlns:m="http://schemas.openxmlformats.org/officeDocument/2006/math">
                    <m:r>
                      <a:rPr lang="vi-VN" sz="1900" b="0">
                        <a:solidFill>
                          <a:srgbClr val="1E293B"/>
                        </a:solidFill>
                        <a:latin typeface="Cambria Math" panose="02040503050406030204" pitchFamily="18" charset="0"/>
                      </a:rPr>
                      <m:t>[165;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170)</m:t>
                    </m:r>
                  </m:oMath>
                </a14:m>
                <a:r>
                  <a:rPr sz="1900">
                    <a:solidFill>
                      <a:srgbClr val="1E293B"/>
                    </a:solidFill>
                    <a:latin typeface="Calibri"/>
                  </a:rPr>
                  <a:t>: 43; </a:t>
                </a:r>
                <a14:m>
                  <m:oMath xmlns:m="http://schemas.openxmlformats.org/officeDocument/2006/math">
                    <m:r>
                      <a:rPr lang="vi-VN" sz="1900" b="0">
                        <a:solidFill>
                          <a:srgbClr val="1E293B"/>
                        </a:solidFill>
                        <a:latin typeface="Cambria Math" panose="02040503050406030204" pitchFamily="18" charset="0"/>
                      </a:rPr>
                      <m:t>[170;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175)</m:t>
                    </m:r>
                  </m:oMath>
                </a14:m>
                <a:r>
                  <a:rPr sz="1900">
                    <a:solidFill>
                      <a:srgbClr val="1E293B"/>
                    </a:solidFill>
                    <a:latin typeface="Calibri"/>
                  </a:rPr>
                  <a:t>: 41; </a:t>
                </a:r>
                <a14:m>
                  <m:oMath xmlns:m="http://schemas.openxmlformats.org/officeDocument/2006/math">
                    <m:r>
                      <a:rPr lang="vi-VN" sz="1900" b="0">
                        <a:solidFill>
                          <a:srgbClr val="1E293B"/>
                        </a:solidFill>
                        <a:latin typeface="Cambria Math" panose="02040503050406030204" pitchFamily="18" charset="0"/>
                      </a:rPr>
                      <m:t>[175;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180)</m:t>
                    </m:r>
                  </m:oMath>
                </a14:m>
                <a:r>
                  <a:rPr sz="1900">
                    <a:solidFill>
                      <a:srgbClr val="1E293B"/>
                    </a:solidFill>
                    <a:latin typeface="Calibri"/>
                  </a:rPr>
                  <a:t>: 35. Tính trung vị.</a:t>
                </a:r>
              </a:p>
            </p:txBody>
          </p:sp>
        </mc:Choice>
        <mc:Fallback>
          <p:sp>
            <p:nvSpPr>
              <p:cNvPr id="34" name="TextBox 33"/>
              <p:cNvSpPr txBox="1"/>
              <p:nvPr/>
            </p:nvSpPr>
            <p:spPr>
              <a:xfrm>
                <a:off x="548640" y="3761994"/>
                <a:ext cx="11064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Luyện tập 2.</a:t>
                </a:r>
                <a:r>
                  <a:rPr sz="1900">
                    <a:solidFill>
                      <a:srgbClr val="1E293B"/>
                    </a:solidFill>
                    <a:latin typeface="Calibri"/>
                  </a:rPr>
                  <a:t> Tốc độ </a:t>
                </a:r>
                <a:r>
                  <a:rPr lang="vi-VN"/>
                  <a:t>v</a:t>
                </a:r>
                <a:r>
                  <a:rPr sz="1900">
                    <a:solidFill>
                      <a:srgbClr val="1E293B"/>
                    </a:solidFill>
                    <a:latin typeface="Calibri"/>
                  </a:rPr>
                  <a:t> (km/h) 200 lần giao bóng: </a:t>
                </a:r>
                <a:r>
                  <a:rPr lang="vi-VN"/>
                  <a:t>[150;\ 155)</a:t>
                </a:r>
                <a:r>
                  <a:rPr sz="1900">
                    <a:solidFill>
                      <a:srgbClr val="1E293B"/>
                    </a:solidFill>
                    <a:latin typeface="Calibri"/>
                  </a:rPr>
                  <a:t>: 18; </a:t>
                </a:r>
                <a:r>
                  <a:rPr lang="vi-VN"/>
                  <a:t>[155;\ 160)</a:t>
                </a:r>
                <a:r>
                  <a:rPr sz="1900">
                    <a:solidFill>
                      <a:srgbClr val="1E293B"/>
                    </a:solidFill>
                    <a:latin typeface="Calibri"/>
                  </a:rPr>
                  <a:t>: 28; </a:t>
                </a:r>
                <a:r>
                  <a:rPr lang="vi-VN"/>
                  <a:t>[160;\ 165)</a:t>
                </a:r>
                <a:r>
                  <a:rPr sz="1900">
                    <a:solidFill>
                      <a:srgbClr val="1E293B"/>
                    </a:solidFill>
                    <a:latin typeface="Calibri"/>
                  </a:rPr>
                  <a:t>: 35; </a:t>
                </a:r>
                <a:r>
                  <a:rPr lang="vi-VN"/>
                  <a:t>[165;\ 170)</a:t>
                </a:r>
                <a:r>
                  <a:rPr sz="1900">
                    <a:solidFill>
                      <a:srgbClr val="1E293B"/>
                    </a:solidFill>
                    <a:latin typeface="Calibri"/>
                  </a:rPr>
                  <a:t>: 43; </a:t>
                </a:r>
                <a:r>
                  <a:rPr lang="vi-VN"/>
                  <a:t>[170;\ 175)</a:t>
                </a:r>
                <a:r>
                  <a:rPr sz="1900">
                    <a:solidFill>
                      <a:srgbClr val="1E293B"/>
                    </a:solidFill>
                    <a:latin typeface="Calibri"/>
                  </a:rPr>
                  <a:t>: 41; </a:t>
                </a:r>
                <a:r>
                  <a:rPr lang="vi-VN"/>
                  <a:t>[175;\ 180)</a:t>
                </a:r>
                <a:r>
                  <a:rPr sz="1900">
                    <a:solidFill>
                      <a:srgbClr val="1E293B"/>
                    </a:solidFill>
                    <a:latin typeface="Calibri"/>
                  </a:rPr>
                  <a:t>: 35. Tính trung vị.</a:t>
                </a:r>
              </a:p>
            </p:txBody>
          </p:sp>
        </mc:Fallback>
      </mc:AlternateContent>
      <p:sp>
        <p:nvSpPr>
          <p:cNvPr id="35" name="s3_nen"/>
          <p:cNvSpPr/>
          <p:nvPr/>
        </p:nvSpPr>
        <p:spPr>
          <a:xfrm>
            <a:off x="548640" y="4588002"/>
            <a:ext cx="11064240" cy="8153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6" name="s3_chu"/>
              <p:cNvSpPr txBox="1"/>
              <p:nvPr/>
            </p:nvSpPr>
            <p:spPr>
              <a:xfrm>
                <a:off x="713232" y="4624578"/>
                <a:ext cx="10735056" cy="74218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f>
                      <m:fPr>
                        <m:type m:val="bar"/>
                      </m:fPr>
                      <m:num>
                        <m:r>
                          <a:rPr lang="vi-VN" sz="1900" b="0">
                            <a:solidFill>
                              <a:srgbClr val="1E293B"/>
                            </a:solidFill>
                            <a:latin typeface="Cambria Math" panose="02040503050406030204" pitchFamily="18" charset="0"/>
                          </a:rPr>
                          <m:t>n</m:t>
                        </m:r>
                      </m:num>
                      <m:den>
                        <m:r>
                          <a:rPr lang="vi-VN" sz="1900" b="0">
                            <a:solidFill>
                              <a:srgbClr val="1E293B"/>
                            </a:solidFill>
                            <a:latin typeface="Cambria Math" panose="02040503050406030204" pitchFamily="18" charset="0"/>
                          </a:rPr>
                          <m:t>2</m:t>
                        </m:r>
                      </m:den>
                    </m:f>
                    <m:r>
                      <a:rPr lang="vi-VN" sz="1900" b="0">
                        <a:solidFill>
                          <a:srgbClr val="1E293B"/>
                        </a:solidFill>
                        <a:latin typeface="Cambria Math" panose="02040503050406030204" pitchFamily="18" charset="0"/>
                      </a:rPr>
                      <m:t>=100</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18+28+35=81&lt;100≤124</m:t>
                    </m:r>
                  </m:oMath>
                </a14:m>
                <a:r>
                  <a:rPr sz="1900">
                    <a:solidFill>
                      <a:srgbClr val="1E293B"/>
                    </a:solidFill>
                    <a:latin typeface="Calibri"/>
                  </a:rPr>
                  <a:t>: nhóm </a:t>
                </a:r>
                <a14:m>
                  <m:oMath xmlns:m="http://schemas.openxmlformats.org/officeDocument/2006/math">
                    <m:r>
                      <a:rPr lang="vi-VN" sz="1900" b="0">
                        <a:solidFill>
                          <a:srgbClr val="1E293B"/>
                        </a:solidFill>
                        <a:latin typeface="Cambria Math" panose="02040503050406030204" pitchFamily="18" charset="0"/>
                      </a:rPr>
                      <m:t>[165;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170)</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M</m:t>
                        </m:r>
                      </m:e>
                      <m:sub>
                        <m:r>
                          <a:rPr lang="vi-VN" sz="1900" b="0">
                            <a:solidFill>
                              <a:srgbClr val="1E293B"/>
                            </a:solidFill>
                            <a:latin typeface="Cambria Math" panose="02040503050406030204" pitchFamily="18" charset="0"/>
                          </a:rPr>
                          <m:t>e</m:t>
                        </m:r>
                      </m:sub>
                    </m:sSub>
                    <m:r>
                      <a:rPr lang="vi-VN" sz="1900" b="0">
                        <a:solidFill>
                          <a:srgbClr val="1E293B"/>
                        </a:solidFill>
                        <a:latin typeface="Cambria Math" panose="02040503050406030204" pitchFamily="18" charset="0"/>
                      </a:rPr>
                      <m:t>=165+</m:t>
                    </m:r>
                    <m:f>
                      <m:fPr>
                        <m:type m:val="bar"/>
                      </m:fPr>
                      <m:num>
                        <m:r>
                          <a:rPr lang="vi-VN" sz="1900" b="0">
                            <a:solidFill>
                              <a:srgbClr val="1E293B"/>
                            </a:solidFill>
                            <a:latin typeface="Cambria Math" panose="02040503050406030204" pitchFamily="18" charset="0"/>
                          </a:rPr>
                          <m:t>100−81</m:t>
                        </m:r>
                      </m:num>
                      <m:den>
                        <m:r>
                          <a:rPr lang="vi-VN" sz="1900" b="0">
                            <a:solidFill>
                              <a:srgbClr val="1E293B"/>
                            </a:solidFill>
                            <a:latin typeface="Cambria Math" panose="02040503050406030204" pitchFamily="18" charset="0"/>
                          </a:rPr>
                          <m:t>43</m:t>
                        </m:r>
                      </m:den>
                    </m:f>
                    <m:r>
                      <a:rPr lang="vi-VN" sz="1900" b="0">
                        <a:solidFill>
                          <a:srgbClr val="1E293B"/>
                        </a:solidFill>
                        <a:latin typeface="Cambria Math" panose="02040503050406030204" pitchFamily="18" charset="0"/>
                      </a:rPr>
                      <m:t>·5≈167</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21</m:t>
                    </m:r>
                  </m:oMath>
                </a14:m>
                <a:r>
                  <a:rPr sz="1900">
                    <a:solidFill>
                      <a:srgbClr val="1E293B"/>
                    </a:solidFill>
                    <a:latin typeface="Calibri"/>
                  </a:rPr>
                  <a:t> (km/h).</a:t>
                </a:r>
              </a:p>
            </p:txBody>
          </p:sp>
        </mc:Choice>
        <mc:Fallback>
          <p:sp>
            <p:nvSpPr>
              <p:cNvPr id="36" name="TextBox 35"/>
              <p:cNvSpPr txBox="1"/>
              <p:nvPr/>
            </p:nvSpPr>
            <p:spPr>
              <a:xfrm>
                <a:off x="713232" y="4624578"/>
                <a:ext cx="10735056" cy="74218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\frac{n}{2}=100</a:t>
                </a:r>
                <a:r>
                  <a:rPr sz="1900">
                    <a:solidFill>
                      <a:srgbClr val="1E293B"/>
                    </a:solidFill>
                    <a:latin typeface="Calibri"/>
                  </a:rPr>
                  <a:t>; </a:t>
                </a:r>
                <a:r>
                  <a:rPr lang="vi-VN"/>
                  <a:t>18+28+35=81&lt;100\le 124</a:t>
                </a:r>
                <a:r>
                  <a:rPr sz="1900">
                    <a:solidFill>
                      <a:srgbClr val="1E293B"/>
                    </a:solidFill>
                    <a:latin typeface="Calibri"/>
                  </a:rPr>
                  <a:t>: nhóm </a:t>
                </a:r>
                <a:r>
                  <a:rPr lang="vi-VN"/>
                  <a:t>[165;\ 170)</a:t>
                </a:r>
                <a:r>
                  <a:rPr sz="1900">
                    <a:solidFill>
                      <a:srgbClr val="1E293B"/>
                    </a:solidFill>
                    <a:latin typeface="Calibri"/>
                  </a:rPr>
                  <a:t>, </a:t>
                </a:r>
                <a:r>
                  <a:rPr lang="vi-VN"/>
                  <a:t>M_e=165+\frac{100-81}{43}\cdot 5\approx 167{,}21</a:t>
                </a:r>
                <a:r>
                  <a:rPr sz="1900">
                    <a:solidFill>
                      <a:srgbClr val="1E293B"/>
                    </a:solidFill>
                    <a:latin typeface="Calibri"/>
                  </a:rPr>
                  <a:t> (km/h).</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AI NHANH HƠN?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10</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Từng cặp ghi đáp án lên bảng con. Mỗi câu 30 giây.</a:t>
            </a:r>
          </a:p>
        </p:txBody>
      </p:sp>
      <mc:AlternateContent xmlns:mc="http://schemas.openxmlformats.org/markup-compatibility/2006">
        <mc:Choice xmlns:a14="http://schemas.microsoft.com/office/drawing/2010/main" Requires="a14">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Mẫu: </a:t>
                </a:r>
                <a14:m>
                  <m:oMath xmlns:m="http://schemas.openxmlformats.org/officeDocument/2006/math">
                    <m:r>
                      <a:rPr lang="vi-VN" sz="2200" b="0">
                        <a:solidFill>
                          <a:srgbClr val="1E293B"/>
                        </a:solidFill>
                        <a:latin typeface="Cambria Math" panose="02040503050406030204" pitchFamily="18" charset="0"/>
                      </a:rPr>
                      <m:t>[0;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10)</m:t>
                    </m:r>
                  </m:oMath>
                </a14:m>
                <a:r>
                  <a:rPr sz="2200">
                    <a:solidFill>
                      <a:srgbClr val="1E293B"/>
                    </a:solidFill>
                    <a:latin typeface="Calibri"/>
                  </a:rPr>
                  <a:t>: 4; </a:t>
                </a:r>
                <a14:m>
                  <m:oMath xmlns:m="http://schemas.openxmlformats.org/officeDocument/2006/math">
                    <m:r>
                      <a:rPr lang="vi-VN" sz="2200" b="0">
                        <a:solidFill>
                          <a:srgbClr val="1E293B"/>
                        </a:solidFill>
                        <a:latin typeface="Cambria Math" panose="02040503050406030204" pitchFamily="18" charset="0"/>
                      </a:rPr>
                      <m:t>[10;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20)</m:t>
                    </m:r>
                  </m:oMath>
                </a14:m>
                <a:r>
                  <a:rPr sz="2200">
                    <a:solidFill>
                      <a:srgbClr val="1E293B"/>
                    </a:solidFill>
                    <a:latin typeface="Calibri"/>
                  </a:rPr>
                  <a:t>: 6; </a:t>
                </a:r>
                <a14:m>
                  <m:oMath xmlns:m="http://schemas.openxmlformats.org/officeDocument/2006/math">
                    <m:r>
                      <a:rPr lang="vi-VN" sz="2200" b="0">
                        <a:solidFill>
                          <a:srgbClr val="1E293B"/>
                        </a:solidFill>
                        <a:latin typeface="Cambria Math" panose="02040503050406030204" pitchFamily="18" charset="0"/>
                      </a:rPr>
                      <m:t>[20;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30)</m:t>
                    </m:r>
                  </m:oMath>
                </a14:m>
                <a:r>
                  <a:rPr sz="2200">
                    <a:solidFill>
                      <a:srgbClr val="1E293B"/>
                    </a:solidFill>
                    <a:latin typeface="Calibri"/>
                  </a:rPr>
                  <a:t>: 10.</a:t>
                </a:r>
              </a:p>
            </p:txBody>
          </p:sp>
        </mc:Choice>
        <mc:Fallback>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Mẫu: </a:t>
                </a:r>
                <a:r>
                  <a:rPr lang="vi-VN"/>
                  <a:t>[0;\ 10)</a:t>
                </a:r>
                <a:r>
                  <a:rPr sz="2200">
                    <a:solidFill>
                      <a:srgbClr val="1E293B"/>
                    </a:solidFill>
                    <a:latin typeface="Calibri"/>
                  </a:rPr>
                  <a:t>: 4; </a:t>
                </a:r>
                <a:r>
                  <a:rPr lang="vi-VN"/>
                  <a:t>[10;\ 20)</a:t>
                </a:r>
                <a:r>
                  <a:rPr sz="2200">
                    <a:solidFill>
                      <a:srgbClr val="1E293B"/>
                    </a:solidFill>
                    <a:latin typeface="Calibri"/>
                  </a:rPr>
                  <a:t>: 6; </a:t>
                </a:r>
                <a:r>
                  <a:rPr lang="vi-VN"/>
                  <a:t>[20;\ 30)</a:t>
                </a:r>
                <a:r>
                  <a:rPr sz="2200">
                    <a:solidFill>
                      <a:srgbClr val="1E293B"/>
                    </a:solidFill>
                    <a:latin typeface="Calibri"/>
                  </a:rPr>
                  <a:t>: 10.</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68879"/>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Cỡ mẫu </a:t>
                </a:r>
                <a14:m>
                  <m:oMath xmlns:m="http://schemas.openxmlformats.org/officeDocument/2006/math">
                    <m:r>
                      <a:rPr lang="vi-VN" sz="2400" b="0">
                        <a:solidFill>
                          <a:srgbClr val="1E293B"/>
                        </a:solidFill>
                        <a:latin typeface="Cambria Math" panose="02040503050406030204" pitchFamily="18" charset="0"/>
                      </a:rPr>
                      <m:t>n=</m:t>
                    </m:r>
                  </m:oMath>
                </a14:m>
                <a:r>
                  <a:rPr sz="2400">
                    <a:solidFill>
                      <a:srgbClr val="1E293B"/>
                    </a:solidFill>
                    <a:latin typeface="Calibri"/>
                  </a:rPr>
                  <a:t>?</a:t>
                </a:r>
              </a:p>
            </p:txBody>
          </p:sp>
        </mc:Choice>
        <mc:Fallback>
          <p:sp>
            <p:nvSpPr>
              <p:cNvPr id="9" name="TextBox 8"/>
              <p:cNvSpPr txBox="1"/>
              <p:nvPr/>
            </p:nvSpPr>
            <p:spPr>
              <a:xfrm>
                <a:off x="548640" y="2468879"/>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Cỡ mẫu </a:t>
                </a:r>
                <a:r>
                  <a:rPr lang="vi-VN"/>
                  <a:t>n=</a:t>
                </a:r>
                <a:r>
                  <a:rPr sz="2400">
                    <a:solidFill>
                      <a:srgbClr val="1E293B"/>
                    </a:solidFill>
                    <a:latin typeface="Calibri"/>
                  </a:rPr>
                  <a:t>?</a:t>
                </a:r>
              </a:p>
            </p:txBody>
          </p:sp>
        </mc:Fallback>
      </mc:AlternateContent>
      <p:sp>
        <p:nvSpPr>
          <p:cNvPr id="10" name="s1_nen"/>
          <p:cNvSpPr/>
          <p:nvPr/>
        </p:nvSpPr>
        <p:spPr>
          <a:xfrm>
            <a:off x="5029200" y="242316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5193792" y="245973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20</m:t>
                    </m:r>
                  </m:oMath>
                </a14:m>
              </a:p>
            </p:txBody>
          </p:sp>
        </mc:Choice>
        <mc:Fallback>
          <p:sp>
            <p:nvSpPr>
              <p:cNvPr id="11" name="TextBox 10"/>
              <p:cNvSpPr txBox="1"/>
              <p:nvPr/>
            </p:nvSpPr>
            <p:spPr>
              <a:xfrm>
                <a:off x="5193792" y="245973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20</a:t>
                </a:r>
              </a:p>
            </p:txBody>
          </p:sp>
        </mc:Fallback>
      </mc:AlternateContent>
      <p:sp>
        <p:nvSpPr>
          <p:cNvPr id="12" name="TextBox 11"/>
          <p:cNvSpPr txBox="1"/>
          <p:nvPr/>
        </p:nvSpPr>
        <p:spPr>
          <a:xfrm>
            <a:off x="548640" y="3417570"/>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Giá trị đại diện nhóm 2?</a:t>
            </a:r>
          </a:p>
        </p:txBody>
      </p:sp>
      <p:sp>
        <p:nvSpPr>
          <p:cNvPr id="13" name="s2_nen"/>
          <p:cNvSpPr/>
          <p:nvPr/>
        </p:nvSpPr>
        <p:spPr>
          <a:xfrm>
            <a:off x="5029200" y="337185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2_chu"/>
              <p:cNvSpPr txBox="1"/>
              <p:nvPr/>
            </p:nvSpPr>
            <p:spPr>
              <a:xfrm>
                <a:off x="5193792" y="340842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15</m:t>
                    </m:r>
                  </m:oMath>
                </a14:m>
              </a:p>
            </p:txBody>
          </p:sp>
        </mc:Choice>
        <mc:Fallback>
          <p:sp>
            <p:nvSpPr>
              <p:cNvPr id="14" name="TextBox 13"/>
              <p:cNvSpPr txBox="1"/>
              <p:nvPr/>
            </p:nvSpPr>
            <p:spPr>
              <a:xfrm>
                <a:off x="5193792" y="340842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15</a:t>
                </a:r>
              </a:p>
            </p:txBody>
          </p:sp>
        </mc:Fallback>
      </mc:AlternateContent>
      <p:sp>
        <p:nvSpPr>
          <p:cNvPr id="15" name="TextBox 14"/>
          <p:cNvSpPr txBox="1"/>
          <p:nvPr/>
        </p:nvSpPr>
        <p:spPr>
          <a:xfrm>
            <a:off x="548640" y="4366259"/>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Số trung bình?</a:t>
            </a:r>
          </a:p>
        </p:txBody>
      </p:sp>
      <p:sp>
        <p:nvSpPr>
          <p:cNvPr id="16" name="s3_nen"/>
          <p:cNvSpPr/>
          <p:nvPr/>
        </p:nvSpPr>
        <p:spPr>
          <a:xfrm>
            <a:off x="5029200" y="432054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3_chu"/>
              <p:cNvSpPr txBox="1"/>
              <p:nvPr/>
            </p:nvSpPr>
            <p:spPr>
              <a:xfrm>
                <a:off x="5193792" y="435711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18</m:t>
                    </m:r>
                  </m:oMath>
                </a14:m>
              </a:p>
            </p:txBody>
          </p:sp>
        </mc:Choice>
        <mc:Fallback>
          <p:sp>
            <p:nvSpPr>
              <p:cNvPr id="17" name="TextBox 16"/>
              <p:cNvSpPr txBox="1"/>
              <p:nvPr/>
            </p:nvSpPr>
            <p:spPr>
              <a:xfrm>
                <a:off x="5193792" y="435711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18</a:t>
                </a:r>
              </a:p>
            </p:txBody>
          </p:sp>
        </mc:Fallback>
      </mc:AlternateContent>
      <p:sp>
        <p:nvSpPr>
          <p:cNvPr id="18" name="TextBox 17"/>
          <p:cNvSpPr txBox="1"/>
          <p:nvPr/>
        </p:nvSpPr>
        <p:spPr>
          <a:xfrm>
            <a:off x="548640" y="5314950"/>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Nhóm chứa trung vị?</a:t>
            </a:r>
          </a:p>
        </p:txBody>
      </p:sp>
      <p:sp>
        <p:nvSpPr>
          <p:cNvPr id="19" name="s4_nen"/>
          <p:cNvSpPr/>
          <p:nvPr/>
        </p:nvSpPr>
        <p:spPr>
          <a:xfrm>
            <a:off x="5029200" y="526923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0" name="s4_chu"/>
              <p:cNvSpPr txBox="1"/>
              <p:nvPr/>
            </p:nvSpPr>
            <p:spPr>
              <a:xfrm>
                <a:off x="5193792" y="530580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20)</m:t>
                    </m:r>
                  </m:oMath>
                </a14:m>
              </a:p>
            </p:txBody>
          </p:sp>
        </mc:Choice>
        <mc:Fallback>
          <p:sp>
            <p:nvSpPr>
              <p:cNvPr id="20" name="TextBox 19"/>
              <p:cNvSpPr txBox="1"/>
              <p:nvPr/>
            </p:nvSpPr>
            <p:spPr>
              <a:xfrm>
                <a:off x="5193792" y="530580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[10;\ 20)</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11</a:t>
            </a:r>
          </a:p>
        </p:txBody>
      </p:sp>
      <p:sp>
        <p:nvSpPr>
          <p:cNvPr id="7" name="Rounded Rectangle 6"/>
          <p:cNvSpPr/>
          <p:nvPr/>
        </p:nvSpPr>
        <p:spPr>
          <a:xfrm>
            <a:off x="548640" y="1463040"/>
            <a:ext cx="11064240" cy="1488947"/>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415795"/>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14:m>
                  <m:oMath xmlns:m="http://schemas.openxmlformats.org/officeDocument/2006/math">
                    <m:acc>
                      <m:accPr>
                        <m:chr m:val="―"/>
                      </m:accPr>
                      <m:e>
                        <m:r>
                          <a:rPr lang="vi-VN" sz="2200" b="0">
                            <a:solidFill>
                              <a:srgbClr val="1E293B"/>
                            </a:solidFill>
                            <a:latin typeface="Cambria Math" panose="02040503050406030204" pitchFamily="18" charset="0"/>
                          </a:rPr>
                          <m:t>x</m:t>
                        </m:r>
                      </m:e>
                    </m:acc>
                    <m:r>
                      <a:rPr lang="vi-VN" sz="2200" b="0">
                        <a:solidFill>
                          <a:srgbClr val="1E293B"/>
                        </a:solidFill>
                        <a:latin typeface="Cambria Math" panose="02040503050406030204" pitchFamily="18" charset="0"/>
                      </a:rPr>
                      <m:t>=</m:t>
                    </m:r>
                    <m:f>
                      <m:fPr>
                        <m:type m:val="bar"/>
                      </m:fPr>
                      <m:num>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1</m:t>
                            </m:r>
                          </m:sub>
                        </m:sSub>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k</m:t>
                            </m:r>
                          </m:sub>
                        </m:sSub>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k</m:t>
                            </m:r>
                          </m:sub>
                        </m:sSub>
                      </m:num>
                      <m:den>
                        <m:r>
                          <a:rPr lang="vi-VN" sz="2200" b="0">
                            <a:solidFill>
                              <a:srgbClr val="1E293B"/>
                            </a:solidFill>
                            <a:latin typeface="Cambria Math" panose="02040503050406030204" pitchFamily="18" charset="0"/>
                          </a:rPr>
                          <m:t>n</m:t>
                        </m:r>
                      </m:den>
                    </m:f>
                  </m:oMath>
                </a14:m>
                <a:r>
                  <a:rPr sz="2200">
                    <a:solidFill>
                      <a:srgbClr val="1E293B"/>
                    </a:solidFill>
                    <a:latin typeface="Calibri"/>
                  </a:rPr>
                  <a:t> với </a:t>
                </a:r>
                <a14:m>
                  <m:oMath xmlns:m="http://schemas.openxmlformats.org/officeDocument/2006/math">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i</m:t>
                        </m:r>
                      </m:sub>
                    </m:sSub>
                  </m:oMath>
                </a14:m>
                <a:r>
                  <a:rPr sz="2200">
                    <a:solidFill>
                      <a:srgbClr val="1E293B"/>
                    </a:solidFill>
                    <a:latin typeface="Calibri"/>
                  </a:rPr>
                  <a:t> là giá trị đại diện (trung điểm nhóm).</a:t>
                </a:r>
              </a:p>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e</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p</m:t>
                        </m:r>
                      </m:sub>
                    </m:sSub>
                    <m:r>
                      <a:rPr lang="vi-VN" sz="2200" b="0">
                        <a:solidFill>
                          <a:srgbClr val="1E293B"/>
                        </a:solidFill>
                        <a:latin typeface="Cambria Math" panose="02040503050406030204" pitchFamily="18" charset="0"/>
                      </a:rPr>
                      <m:t>+</m:t>
                    </m:r>
                    <m:f>
                      <m:fPr>
                        <m:type m:val="bar"/>
                      </m:fPr>
                      <m:num>
                        <m:f>
                          <m:fPr>
                            <m:type m:val="bar"/>
                          </m:fPr>
                          <m:num>
                            <m:r>
                              <a:rPr lang="vi-VN" sz="2200" b="0">
                                <a:solidFill>
                                  <a:srgbClr val="1E293B"/>
                                </a:solidFill>
                                <a:latin typeface="Cambria Math" panose="02040503050406030204" pitchFamily="18" charset="0"/>
                              </a:rPr>
                              <m:t>n</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p−1</m:t>
                            </m:r>
                          </m:sub>
                        </m:sSub>
                        <m:r>
                          <a:rPr lang="vi-VN" sz="2200" b="0">
                            <a:solidFill>
                              <a:srgbClr val="1E293B"/>
                            </a:solidFill>
                            <a:latin typeface="Cambria Math" panose="02040503050406030204" pitchFamily="18" charset="0"/>
                          </a:rPr>
                          <m:t>)</m:t>
                        </m:r>
                      </m:num>
                      <m:den>
                        <m:sSub>
                          <m:e>
                            <m:r>
                              <a:rPr lang="vi-VN" sz="2200" b="0">
                                <a:solidFill>
                                  <a:srgbClr val="1E293B"/>
                                </a:solidFill>
                                <a:latin typeface="Cambria Math" panose="02040503050406030204" pitchFamily="18" charset="0"/>
                              </a:rPr>
                              <m:t>m</m:t>
                            </m:r>
                          </m:e>
                          <m:sub>
                            <m:r>
                              <a:rPr lang="vi-VN" sz="2200" b="0">
                                <a:solidFill>
                                  <a:srgbClr val="1E293B"/>
                                </a:solidFill>
                                <a:latin typeface="Cambria Math" panose="02040503050406030204" pitchFamily="18" charset="0"/>
                              </a:rPr>
                              <m:t>p</m:t>
                            </m:r>
                          </m:sub>
                        </m:sSub>
                      </m:den>
                    </m:f>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p+1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p</m:t>
                        </m:r>
                      </m:sub>
                    </m:sSub>
                    <m:r>
                      <a:rPr lang="vi-VN" sz="2200" b="0">
                        <a:solidFill>
                          <a:srgbClr val="1E293B"/>
                        </a:solidFill>
                        <a:latin typeface="Cambria Math" panose="02040503050406030204" pitchFamily="18" charset="0"/>
                      </a:rPr>
                      <m:t>)</m:t>
                    </m:r>
                  </m:oMath>
                </a14:m>
                <a:r>
                  <a:rPr sz="2200">
                    <a:solidFill>
                      <a:srgbClr val="1E293B"/>
                    </a:solidFill>
                    <a:latin typeface="Calibri"/>
                  </a:rPr>
                  <a:t>.</a:t>
                </a:r>
              </a:p>
            </p:txBody>
          </p:sp>
        </mc:Choice>
        <mc:Fallback>
          <p:sp>
            <p:nvSpPr>
              <p:cNvPr id="8" name="TextBox 7"/>
              <p:cNvSpPr txBox="1"/>
              <p:nvPr/>
            </p:nvSpPr>
            <p:spPr>
              <a:xfrm>
                <a:off x="713232" y="1499616"/>
                <a:ext cx="10735056" cy="1415795"/>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\overline{x}=\frac{m_1x_1+\ldots+m_kx_k}{n}</a:t>
                </a:r>
                <a:r>
                  <a:rPr sz="2200">
                    <a:solidFill>
                      <a:srgbClr val="1E293B"/>
                    </a:solidFill>
                    <a:latin typeface="Calibri"/>
                  </a:rPr>
                  <a:t> với </a:t>
                </a:r>
                <a:r>
                  <a:rPr lang="vi-VN"/>
                  <a:t>x_i</a:t>
                </a:r>
                <a:r>
                  <a:rPr sz="2200">
                    <a:solidFill>
                      <a:srgbClr val="1E293B"/>
                    </a:solidFill>
                    <a:latin typeface="Calibri"/>
                  </a:rPr>
                  <a:t> là giá trị đại diện (trung điểm nhóm).</a:t>
                </a:r>
              </a:p>
              <a:p>
                <a:pPr algn="l" marL="365760" indent="-365760">
                  <a:spcAft>
                    <a:spcPts val="800"/>
                  </a:spcAft>
                  <a:buClr>
                    <a:srgbClr val="1E40AF"/>
                  </a:buClr>
                  <a:buFont typeface="Arial"/>
                  <a:buChar char="•"/>
                </a:pPr>
                <a:r>
                  <a:rPr lang="vi-VN"/>
                  <a:t>M_e=a_p+\frac{\frac{n}{2}-(m_1+\ldots+m_{p-1})}{m_p}\cdot(a_{p+1}-a_p)</a:t>
                </a:r>
                <a:r>
                  <a:rPr sz="2200">
                    <a:solidFill>
                      <a:srgbClr val="1E293B"/>
                    </a:solidFill>
                    <a:latin typeface="Calibri"/>
                  </a:rPr>
                  <a:t>.</a:t>
                </a:r>
              </a:p>
            </p:txBody>
          </p:sp>
        </mc:Fallback>
      </mc:AlternateContent>
      <p:sp>
        <p:nvSpPr>
          <p:cNvPr id="9" name="Rounded Rectangle 8"/>
          <p:cNvSpPr/>
          <p:nvPr/>
        </p:nvSpPr>
        <p:spPr>
          <a:xfrm>
            <a:off x="548640" y="3180588"/>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217164"/>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3.4, 3.5b (SGK tr.67).</a:t>
            </a:r>
          </a:p>
          <a:p>
            <a:pPr algn="l" marL="365760" indent="-365760">
              <a:spcAft>
                <a:spcPts val="800"/>
              </a:spcAft>
              <a:buClr>
                <a:srgbClr val="1E40AF"/>
              </a:buClr>
              <a:buFont typeface="Arial"/>
              <a:buChar char="•"/>
            </a:pPr>
            <a:r>
              <a:rPr sz="2200">
                <a:solidFill>
                  <a:srgbClr val="1E293B"/>
                </a:solidFill>
                <a:latin typeface="Calibri"/>
              </a:rPr>
              <a:t>Đọc trước mục 3, 4 (SGK tr.64 – 66).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(T20)</a:t>
            </a:r>
          </a:p>
          <a:p>
            <a:pPr>
              <a:spcAft>
                <a:spcPts val="600"/>
              </a:spcAft>
            </a:pPr>
            <a:r>
              <a:rPr sz="4000" b="1">
                <a:solidFill>
                  <a:srgbClr val="FFFFFF"/>
                </a:solidFill>
                <a:latin typeface="Cambria"/>
              </a:rPr>
              <a:t>Tứ phân vị. Mốt của mẫu số liệu ghép nhóm</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Tính tứ phân vị, mốt của mẫu số liệu ghép nhóm.</a:t>
            </a:r>
          </a:p>
          <a:p>
            <a:pPr algn="l">
              <a:spcAft>
                <a:spcPts val="800"/>
              </a:spcAft>
            </a:pPr>
            <a:r>
              <a:rPr sz="2200">
                <a:solidFill>
                  <a:srgbClr val="E0E7FF"/>
                </a:solidFill>
                <a:latin typeface="Calibri"/>
              </a:rPr>
              <a:t>• Giải thích ý nghĩa các số đặc trưng trong thực tế.</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3. TỨ PHÂN VỊ – HĐ3 (SGK TR.64 – 65)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13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9377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HĐ3.</a:t>
                </a:r>
                <a:r>
                  <a:rPr sz="2100">
                    <a:solidFill>
                      <a:srgbClr val="1E293B"/>
                    </a:solidFill>
                    <a:latin typeface="Calibri"/>
                  </a:rPr>
                  <a:t> Với mẫu số liệu ở HĐ2 (21 cây na),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1</m:t>
                        </m:r>
                      </m:sub>
                    </m:sSub>
                  </m:oMath>
                </a14:m>
                <a:r>
                  <a:rPr sz="2100">
                    <a:solidFill>
                      <a:srgbClr val="1E293B"/>
                    </a:solidFill>
                    <a:latin typeface="Calibri"/>
                  </a:rPr>
                  <a:t> và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3</m:t>
                        </m:r>
                      </m:sub>
                    </m:sSub>
                  </m:oMath>
                </a14:m>
                <a:r>
                  <a:rPr sz="2100">
                    <a:solidFill>
                      <a:srgbClr val="1E293B"/>
                    </a:solidFill>
                    <a:latin typeface="Calibri"/>
                  </a:rPr>
                  <a:t> thuộc nhóm nào?</a:t>
                </a:r>
              </a:p>
            </p:txBody>
          </p:sp>
        </mc:Choice>
        <mc:Fallback>
          <p:sp>
            <p:nvSpPr>
              <p:cNvPr id="7" name="TextBox 6"/>
              <p:cNvSpPr txBox="1"/>
              <p:nvPr/>
            </p:nvSpPr>
            <p:spPr>
              <a:xfrm>
                <a:off x="548640" y="1371600"/>
                <a:ext cx="11064240" cy="49377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HĐ3.</a:t>
                </a:r>
                <a:r>
                  <a:rPr sz="2100">
                    <a:solidFill>
                      <a:srgbClr val="1E293B"/>
                    </a:solidFill>
                    <a:latin typeface="Calibri"/>
                  </a:rPr>
                  <a:t> Với mẫu số liệu ở HĐ2 (21 cây na), </a:t>
                </a:r>
                <a:r>
                  <a:rPr lang="vi-VN"/>
                  <a:t>Q_1</a:t>
                </a:r>
                <a:r>
                  <a:rPr sz="2100">
                    <a:solidFill>
                      <a:srgbClr val="1E293B"/>
                    </a:solidFill>
                    <a:latin typeface="Calibri"/>
                  </a:rPr>
                  <a:t> và </a:t>
                </a:r>
                <a:r>
                  <a:rPr lang="vi-VN"/>
                  <a:t>Q_3</a:t>
                </a:r>
                <a:r>
                  <a:rPr sz="2100">
                    <a:solidFill>
                      <a:srgbClr val="1E293B"/>
                    </a:solidFill>
                    <a:latin typeface="Calibri"/>
                  </a:rPr>
                  <a:t> thuộc nhóm nào?</a:t>
                </a:r>
              </a:p>
            </p:txBody>
          </p:sp>
        </mc:Fallback>
      </mc:AlternateContent>
      <p:sp>
        <p:nvSpPr>
          <p:cNvPr id="8" name="s1_nen"/>
          <p:cNvSpPr/>
          <p:nvPr/>
        </p:nvSpPr>
        <p:spPr>
          <a:xfrm>
            <a:off x="548640" y="1975104"/>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011680"/>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m:t>
                    </m:r>
                    <m:f>
                      <m:fPr>
                        <m:type m:val="bar"/>
                      </m:fPr>
                      <m:num>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5</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6</m:t>
                            </m:r>
                          </m:sub>
                        </m:sSub>
                      </m:num>
                      <m:den>
                        <m:r>
                          <a:rPr lang="vi-VN" sz="2100" b="0">
                            <a:solidFill>
                              <a:srgbClr val="1E293B"/>
                            </a:solidFill>
                            <a:latin typeface="Cambria Math" panose="02040503050406030204" pitchFamily="18" charset="0"/>
                          </a:rPr>
                          <m:t>2</m:t>
                        </m:r>
                      </m:den>
                    </m:f>
                  </m:oMath>
                </a14:m>
                <a:r>
                  <a:rPr sz="2100">
                    <a:solidFill>
                      <a:srgbClr val="1E293B"/>
                    </a:solidFill>
                    <a:latin typeface="Calibri"/>
                  </a:rPr>
                  <a:t> thuộc </a:t>
                </a:r>
                <a14:m>
                  <m:oMath xmlns:m="http://schemas.openxmlformats.org/officeDocument/2006/math">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10)</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3</m:t>
                        </m:r>
                      </m:sub>
                    </m:sSub>
                    <m:r>
                      <a:rPr lang="vi-VN" sz="2100" b="0">
                        <a:solidFill>
                          <a:srgbClr val="1E293B"/>
                        </a:solidFill>
                        <a:latin typeface="Cambria Math" panose="02040503050406030204" pitchFamily="18" charset="0"/>
                      </a:rPr>
                      <m:t>=</m:t>
                    </m:r>
                    <m:f>
                      <m:fPr>
                        <m:type m:val="bar"/>
                      </m:fPr>
                      <m:num>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16</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x</m:t>
                            </m:r>
                          </m:e>
                          <m:sub>
                            <m:r>
                              <a:rPr lang="vi-VN" sz="2100" b="0">
                                <a:solidFill>
                                  <a:srgbClr val="1E293B"/>
                                </a:solidFill>
                                <a:latin typeface="Cambria Math" panose="02040503050406030204" pitchFamily="18" charset="0"/>
                              </a:rPr>
                              <m:t>17</m:t>
                            </m:r>
                          </m:sub>
                        </m:sSub>
                      </m:num>
                      <m:den>
                        <m:r>
                          <a:rPr lang="vi-VN" sz="2100" b="0">
                            <a:solidFill>
                              <a:srgbClr val="1E293B"/>
                            </a:solidFill>
                            <a:latin typeface="Cambria Math" panose="02040503050406030204" pitchFamily="18" charset="0"/>
                          </a:rPr>
                          <m:t>2</m:t>
                        </m:r>
                      </m:den>
                    </m:f>
                  </m:oMath>
                </a14:m>
                <a:r>
                  <a:rPr sz="2100">
                    <a:solidFill>
                      <a:srgbClr val="1E293B"/>
                    </a:solidFill>
                    <a:latin typeface="Calibri"/>
                  </a:rPr>
                  <a:t> thuộc </a:t>
                </a:r>
                <a14:m>
                  <m:oMath xmlns:m="http://schemas.openxmlformats.org/officeDocument/2006/math">
                    <m:r>
                      <a:rPr lang="vi-VN" sz="2100" b="0">
                        <a:solidFill>
                          <a:srgbClr val="1E293B"/>
                        </a:solidFill>
                        <a:latin typeface="Cambria Math" panose="02040503050406030204" pitchFamily="18" charset="0"/>
                      </a:rPr>
                      <m:t>[10;</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15)</m:t>
                    </m:r>
                  </m:oMath>
                </a14:m>
                <a:r>
                  <a:rPr sz="2100">
                    <a:solidFill>
                      <a:srgbClr val="1E293B"/>
                    </a:solidFill>
                    <a:latin typeface="Calibri"/>
                  </a:rPr>
                  <a:t>.</a:t>
                </a:r>
              </a:p>
            </p:txBody>
          </p:sp>
        </mc:Choice>
        <mc:Fallback>
          <p:sp>
            <p:nvSpPr>
              <p:cNvPr id="9" name="TextBox 8"/>
              <p:cNvSpPr txBox="1"/>
              <p:nvPr/>
            </p:nvSpPr>
            <p:spPr>
              <a:xfrm>
                <a:off x="713232" y="2011680"/>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Q_1=\frac{x_5+x_6}{2}</a:t>
                </a:r>
                <a:r>
                  <a:rPr sz="2100">
                    <a:solidFill>
                      <a:srgbClr val="1E293B"/>
                    </a:solidFill>
                    <a:latin typeface="Calibri"/>
                  </a:rPr>
                  <a:t> thuộc </a:t>
                </a:r>
                <a:r>
                  <a:rPr lang="vi-VN"/>
                  <a:t>[5;\ 10)</a:t>
                </a:r>
                <a:r>
                  <a:rPr sz="2100">
                    <a:solidFill>
                      <a:srgbClr val="1E293B"/>
                    </a:solidFill>
                    <a:latin typeface="Calibri"/>
                  </a:rPr>
                  <a:t>; </a:t>
                </a:r>
                <a:r>
                  <a:rPr lang="vi-VN"/>
                  <a:t>Q_3=\frac{x_{16}+x_{17}}{2}</a:t>
                </a:r>
                <a:r>
                  <a:rPr sz="2100">
                    <a:solidFill>
                      <a:srgbClr val="1E293B"/>
                    </a:solidFill>
                    <a:latin typeface="Calibri"/>
                  </a:rPr>
                  <a:t> thuộc </a:t>
                </a:r>
                <a:r>
                  <a:rPr lang="vi-VN"/>
                  <a:t>[10;\ 15)</a:t>
                </a:r>
                <a:r>
                  <a:rPr sz="2100">
                    <a:solidFill>
                      <a:srgbClr val="1E293B"/>
                    </a:solidFill>
                    <a:latin typeface="Calibri"/>
                  </a:rPr>
                  <a:t>.</a:t>
                </a:r>
              </a:p>
            </p:txBody>
          </p:sp>
        </mc:Fallback>
      </mc:AlternateContent>
      <p:sp>
        <p:nvSpPr>
          <p:cNvPr id="10" name="s2_nen"/>
          <p:cNvSpPr/>
          <p:nvPr/>
        </p:nvSpPr>
        <p:spPr>
          <a:xfrm>
            <a:off x="548640" y="2958084"/>
            <a:ext cx="11064240" cy="246659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994660"/>
                <a:ext cx="10735056" cy="239344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m:t>
                        </m:r>
                      </m:sub>
                    </m:sSub>
                    <m:r>
                      <a:rPr lang="vi-VN" sz="2100" b="0">
                        <a:solidFill>
                          <a:srgbClr val="1E293B"/>
                        </a:solidFill>
                        <a:latin typeface="Cambria Math" panose="02040503050406030204" pitchFamily="18" charset="0"/>
                      </a:rPr>
                      <m:t>+</m:t>
                    </m:r>
                    <m:f>
                      <m:fPr>
                        <m:type m:val="bar"/>
                      </m:fPr>
                      <m:num>
                        <m:f>
                          <m:fPr>
                            <m:type m:val="bar"/>
                          </m:fPr>
                          <m:num>
                            <m:r>
                              <a:rPr lang="vi-VN" sz="2100" b="0">
                                <a:solidFill>
                                  <a:srgbClr val="1E293B"/>
                                </a:solidFill>
                                <a:latin typeface="Cambria Math" panose="02040503050406030204" pitchFamily="18" charset="0"/>
                              </a:rPr>
                              <m:t>n</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p−1</m:t>
                            </m:r>
                          </m:sub>
                        </m:sSub>
                        <m:r>
                          <a:rPr lang="vi-VN" sz="2100" b="0">
                            <a:solidFill>
                              <a:srgbClr val="1E293B"/>
                            </a:solidFill>
                            <a:latin typeface="Cambria Math" panose="02040503050406030204" pitchFamily="18" charset="0"/>
                          </a:rPr>
                          <m:t>)</m:t>
                        </m:r>
                      </m:num>
                      <m:den>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p</m:t>
                            </m:r>
                          </m:sub>
                        </m:sSub>
                      </m:den>
                    </m:f>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p+1</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m:t>
                        </m:r>
                      </m:sub>
                    </m:sSub>
                    <m:r>
                      <a:rPr lang="vi-VN" sz="2100" b="0">
                        <a:solidFill>
                          <a:srgbClr val="1E293B"/>
                        </a:solidFill>
                        <a:latin typeface="Cambria Math" panose="02040503050406030204" pitchFamily="18" charset="0"/>
                      </a:rPr>
                      <m:t>)</m:t>
                    </m:r>
                  </m:oMath>
                </a14:m>
                <a:r>
                  <a:rPr sz="2100">
                    <a:solidFill>
                      <a:srgbClr val="1E293B"/>
                    </a:solidFill>
                    <a:latin typeface="Calibri"/>
                  </a:rPr>
                  <a:t> với </a:t>
                </a:r>
                <a14:m>
                  <m:oMath xmlns:m="http://schemas.openxmlformats.org/officeDocument/2006/math">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m:t>
                        </m:r>
                      </m:sub>
                    </m:sSub>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p+1</m:t>
                        </m:r>
                      </m:sub>
                    </m:sSub>
                    <m:r>
                      <a:rPr lang="vi-VN" sz="2100" b="0">
                        <a:solidFill>
                          <a:srgbClr val="1E293B"/>
                        </a:solidFill>
                        <a:latin typeface="Cambria Math" panose="02040503050406030204" pitchFamily="18" charset="0"/>
                      </a:rPr>
                      <m:t>)</m:t>
                    </m:r>
                  </m:oMath>
                </a14:m>
                <a:r>
                  <a:rPr sz="2100">
                    <a:solidFill>
                      <a:srgbClr val="1E293B"/>
                    </a:solidFill>
                    <a:latin typeface="Calibri"/>
                  </a:rPr>
                  <a:t> là nhóm chứa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1</m:t>
                        </m:r>
                      </m:sub>
                    </m:sSub>
                  </m:oMath>
                </a14:m>
                <a:r>
                  <a:rPr sz="2100">
                    <a:solidFill>
                      <a:srgbClr val="1E293B"/>
                    </a:solidFill>
                    <a:latin typeface="Calibri"/>
                  </a:rPr>
                  <a:t>.</a:t>
                </a:r>
              </a:p>
              <a:p>
                <a:pPr algn="l">
                  <a:spcAft>
                    <a:spcPts val="800"/>
                  </a:spcAft>
                </a:pPr>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3</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m:t>
                        </m:r>
                      </m:sub>
                    </m:sSub>
                    <m:r>
                      <a:rPr lang="vi-VN" sz="2100" b="0">
                        <a:solidFill>
                          <a:srgbClr val="1E293B"/>
                        </a:solidFill>
                        <a:latin typeface="Cambria Math" panose="02040503050406030204" pitchFamily="18" charset="0"/>
                      </a:rPr>
                      <m:t>+</m:t>
                    </m:r>
                    <m:f>
                      <m:fPr>
                        <m:type m:val="bar"/>
                      </m:fPr>
                      <m:num>
                        <m:f>
                          <m:fPr>
                            <m:type m:val="bar"/>
                          </m:fPr>
                          <m:num>
                            <m:r>
                              <a:rPr lang="vi-VN" sz="2100" b="0">
                                <a:solidFill>
                                  <a:srgbClr val="1E293B"/>
                                </a:solidFill>
                                <a:latin typeface="Cambria Math" panose="02040503050406030204" pitchFamily="18" charset="0"/>
                              </a:rPr>
                              <m:t>3n</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p−1</m:t>
                            </m:r>
                          </m:sub>
                        </m:sSub>
                        <m:r>
                          <a:rPr lang="vi-VN" sz="2100" b="0">
                            <a:solidFill>
                              <a:srgbClr val="1E293B"/>
                            </a:solidFill>
                            <a:latin typeface="Cambria Math" panose="02040503050406030204" pitchFamily="18" charset="0"/>
                          </a:rPr>
                          <m:t>)</m:t>
                        </m:r>
                      </m:num>
                      <m:den>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p</m:t>
                            </m:r>
                          </m:sub>
                        </m:sSub>
                      </m:den>
                    </m:f>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p+1</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m:t>
                        </m:r>
                      </m:sub>
                    </m:sSub>
                    <m:r>
                      <a:rPr lang="vi-VN" sz="2100" b="0">
                        <a:solidFill>
                          <a:srgbClr val="1E293B"/>
                        </a:solidFill>
                        <a:latin typeface="Cambria Math" panose="02040503050406030204" pitchFamily="18" charset="0"/>
                      </a:rPr>
                      <m:t>)</m:t>
                    </m:r>
                  </m:oMath>
                </a14:m>
                <a:r>
                  <a:rPr sz="2100">
                    <a:solidFill>
                      <a:srgbClr val="1E293B"/>
                    </a:solidFill>
                    <a:latin typeface="Calibri"/>
                  </a:rPr>
                  <a:t> với </a:t>
                </a:r>
                <a14:m>
                  <m:oMath xmlns:m="http://schemas.openxmlformats.org/officeDocument/2006/math">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m:t>
                        </m:r>
                      </m:sub>
                    </m:sSub>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b>
                      <m:e>
                        <m:r>
                          <a:rPr lang="vi-VN" sz="2100" b="0">
                            <a:solidFill>
                              <a:srgbClr val="1E293B"/>
                            </a:solidFill>
                            <a:latin typeface="Cambria Math" panose="02040503050406030204" pitchFamily="18" charset="0"/>
                          </a:rPr>
                          <m:t>a</m:t>
                        </m:r>
                      </m:e>
                      <m:sub>
                        <m:r>
                          <a:rPr lang="vi-VN" sz="2100" b="0">
                            <a:solidFill>
                              <a:srgbClr val="1E293B"/>
                            </a:solidFill>
                            <a:latin typeface="Cambria Math" panose="02040503050406030204" pitchFamily="18" charset="0"/>
                          </a:rPr>
                          <m:t>p+1</m:t>
                        </m:r>
                      </m:sub>
                    </m:sSub>
                    <m:r>
                      <a:rPr lang="vi-VN" sz="2100" b="0">
                        <a:solidFill>
                          <a:srgbClr val="1E293B"/>
                        </a:solidFill>
                        <a:latin typeface="Cambria Math" panose="02040503050406030204" pitchFamily="18" charset="0"/>
                      </a:rPr>
                      <m:t>)</m:t>
                    </m:r>
                  </m:oMath>
                </a14:m>
                <a:r>
                  <a:rPr sz="2100">
                    <a:solidFill>
                      <a:srgbClr val="1E293B"/>
                    </a:solidFill>
                    <a:latin typeface="Calibri"/>
                  </a:rPr>
                  <a:t> là nhóm chứa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3</m:t>
                        </m:r>
                      </m:sub>
                    </m:sSub>
                  </m:oMath>
                </a14:m>
                <a:r>
                  <a:rPr sz="2100">
                    <a:solidFill>
                      <a:srgbClr val="1E293B"/>
                    </a:solidFill>
                    <a:latin typeface="Calibri"/>
                  </a:rPr>
                  <a:t>.</a:t>
                </a:r>
              </a:p>
              <a:p>
                <a:pPr algn="l">
                  <a:spcAft>
                    <a:spcPts val="800"/>
                  </a:spcAft>
                </a:pPr>
                <a:r>
                  <a:rPr sz="2100">
                    <a:solidFill>
                      <a:srgbClr val="1E293B"/>
                    </a:solidFill>
                    <a:latin typeface="Calibri"/>
                  </a:rPr>
                  <a:t>Tứ phân vị thứ hai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2</m:t>
                        </m:r>
                      </m:sub>
                    </m:sSub>
                  </m:oMath>
                </a14:m>
                <a:r>
                  <a:rPr sz="2100">
                    <a:solidFill>
                      <a:srgbClr val="1E293B"/>
                    </a:solidFill>
                    <a:latin typeface="Calibri"/>
                  </a:rPr>
                  <a:t> chính là trung vị </a:t>
                </a:r>
                <a14:m>
                  <m:oMath xmlns:m="http://schemas.openxmlformats.org/officeDocument/2006/math">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e</m:t>
                        </m:r>
                      </m:sub>
                    </m:sSub>
                  </m:oMath>
                </a14:m>
                <a:r>
                  <a:rPr sz="2100">
                    <a:solidFill>
                      <a:srgbClr val="1E293B"/>
                    </a:solidFill>
                    <a:latin typeface="Calibri"/>
                  </a:rPr>
                  <a:t>. </a:t>
                </a:r>
                <a:r>
                  <a:rPr sz="2100" b="1">
                    <a:solidFill>
                      <a:srgbClr val="1E293B"/>
                    </a:solidFill>
                    <a:latin typeface="Calibri"/>
                  </a:rPr>
                  <a:t>Nhận xét.</a:t>
                </a:r>
                <a:r>
                  <a:rPr sz="2100">
                    <a:solidFill>
                      <a:srgbClr val="1E293B"/>
                    </a:solidFill>
                    <a:latin typeface="Calibri"/>
                  </a:rPr>
                  <a:t> Có khoảng </a:t>
                </a:r>
                <a14:m>
                  <m:oMath xmlns:m="http://schemas.openxmlformats.org/officeDocument/2006/math">
                    <m:f>
                      <m:fPr>
                        <m:type m:val="bar"/>
                      </m:fPr>
                      <m:num>
                        <m:r>
                          <a:rPr lang="vi-VN" sz="2100" b="0">
                            <a:solidFill>
                              <a:srgbClr val="1E293B"/>
                            </a:solidFill>
                            <a:latin typeface="Cambria Math" panose="02040503050406030204" pitchFamily="18" charset="0"/>
                          </a:rPr>
                          <m:t>r·n</m:t>
                        </m:r>
                      </m:num>
                      <m:den>
                        <m:r>
                          <a:rPr lang="vi-VN" sz="2100" b="0">
                            <a:solidFill>
                              <a:srgbClr val="1E293B"/>
                            </a:solidFill>
                            <a:latin typeface="Cambria Math" panose="02040503050406030204" pitchFamily="18" charset="0"/>
                          </a:rPr>
                          <m:t>4</m:t>
                        </m:r>
                      </m:den>
                    </m:f>
                  </m:oMath>
                </a14:m>
                <a:r>
                  <a:rPr sz="2100">
                    <a:solidFill>
                      <a:srgbClr val="1E293B"/>
                    </a:solidFill>
                    <a:latin typeface="Calibri"/>
                  </a:rPr>
                  <a:t> giá trị nhỏ hơn tứ phân vị thứ </a:t>
                </a:r>
                <a14:m>
                  <m:oMath xmlns:m="http://schemas.openxmlformats.org/officeDocument/2006/math">
                    <m:r>
                      <a:rPr lang="vi-VN" sz="2100" b="0">
                        <a:solidFill>
                          <a:srgbClr val="1E293B"/>
                        </a:solidFill>
                        <a:latin typeface="Cambria Math" panose="02040503050406030204" pitchFamily="18" charset="0"/>
                      </a:rPr>
                      <m:t>r</m:t>
                    </m:r>
                  </m:oMath>
                </a14:m>
                <a:r>
                  <a:rPr sz="2100">
                    <a:solidFill>
                      <a:srgbClr val="1E293B"/>
                    </a:solidFill>
                    <a:latin typeface="Calibri"/>
                  </a:rPr>
                  <a:t>.</a:t>
                </a:r>
              </a:p>
            </p:txBody>
          </p:sp>
        </mc:Choice>
        <mc:Fallback>
          <p:sp>
            <p:nvSpPr>
              <p:cNvPr id="11" name="TextBox 10"/>
              <p:cNvSpPr txBox="1"/>
              <p:nvPr/>
            </p:nvSpPr>
            <p:spPr>
              <a:xfrm>
                <a:off x="713232" y="2994660"/>
                <a:ext cx="10735056" cy="239344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Q_1=a_p+\frac{\frac{n}{4}-(m_1+\ldots+m_{p-1})}{m_p}\cdot(a_{p+1}-a_p)</a:t>
                </a:r>
                <a:r>
                  <a:rPr sz="2100">
                    <a:solidFill>
                      <a:srgbClr val="1E293B"/>
                    </a:solidFill>
                    <a:latin typeface="Calibri"/>
                  </a:rPr>
                  <a:t> với </a:t>
                </a:r>
                <a:r>
                  <a:rPr lang="vi-VN"/>
                  <a:t>[a_p;\ a_{p+1})</a:t>
                </a:r>
                <a:r>
                  <a:rPr sz="2100">
                    <a:solidFill>
                      <a:srgbClr val="1E293B"/>
                    </a:solidFill>
                    <a:latin typeface="Calibri"/>
                  </a:rPr>
                  <a:t> là nhóm chứa </a:t>
                </a:r>
                <a:r>
                  <a:rPr lang="vi-VN"/>
                  <a:t>Q_1</a:t>
                </a:r>
                <a:r>
                  <a:rPr sz="2100">
                    <a:solidFill>
                      <a:srgbClr val="1E293B"/>
                    </a:solidFill>
                    <a:latin typeface="Calibri"/>
                  </a:rPr>
                  <a:t>.</a:t>
                </a:r>
              </a:p>
              <a:p>
                <a:pPr algn="l">
                  <a:spcAft>
                    <a:spcPts val="800"/>
                  </a:spcAft>
                </a:pPr>
                <a:r>
                  <a:rPr sz="2100">
                    <a:solidFill>
                      <a:srgbClr val="1E293B"/>
                    </a:solidFill>
                    <a:latin typeface="Calibri"/>
                  </a:rPr>
                  <a:t> </a:t>
                </a:r>
                <a:r>
                  <a:rPr lang="vi-VN"/>
                  <a:t>Q_3=a_p+\frac{\frac{3n}{4}-(m_1+\ldots+m_{p-1})}{m_p}\cdot(a_{p+1}-a_p)</a:t>
                </a:r>
                <a:r>
                  <a:rPr sz="2100">
                    <a:solidFill>
                      <a:srgbClr val="1E293B"/>
                    </a:solidFill>
                    <a:latin typeface="Calibri"/>
                  </a:rPr>
                  <a:t> với </a:t>
                </a:r>
                <a:r>
                  <a:rPr lang="vi-VN"/>
                  <a:t>[a_p;\ a_{p+1})</a:t>
                </a:r>
                <a:r>
                  <a:rPr sz="2100">
                    <a:solidFill>
                      <a:srgbClr val="1E293B"/>
                    </a:solidFill>
                    <a:latin typeface="Calibri"/>
                  </a:rPr>
                  <a:t> là nhóm chứa </a:t>
                </a:r>
                <a:r>
                  <a:rPr lang="vi-VN"/>
                  <a:t>Q_3</a:t>
                </a:r>
                <a:r>
                  <a:rPr sz="2100">
                    <a:solidFill>
                      <a:srgbClr val="1E293B"/>
                    </a:solidFill>
                    <a:latin typeface="Calibri"/>
                  </a:rPr>
                  <a:t>.</a:t>
                </a:r>
              </a:p>
              <a:p>
                <a:pPr algn="l">
                  <a:spcAft>
                    <a:spcPts val="800"/>
                  </a:spcAft>
                </a:pPr>
                <a:r>
                  <a:rPr sz="2100">
                    <a:solidFill>
                      <a:srgbClr val="1E293B"/>
                    </a:solidFill>
                    <a:latin typeface="Calibri"/>
                  </a:rPr>
                  <a:t>Tứ phân vị thứ hai </a:t>
                </a:r>
                <a:r>
                  <a:rPr lang="vi-VN"/>
                  <a:t>Q_2</a:t>
                </a:r>
                <a:r>
                  <a:rPr sz="2100">
                    <a:solidFill>
                      <a:srgbClr val="1E293B"/>
                    </a:solidFill>
                    <a:latin typeface="Calibri"/>
                  </a:rPr>
                  <a:t> chính là trung vị </a:t>
                </a:r>
                <a:r>
                  <a:rPr lang="vi-VN"/>
                  <a:t>M_e</a:t>
                </a:r>
                <a:r>
                  <a:rPr sz="2100">
                    <a:solidFill>
                      <a:srgbClr val="1E293B"/>
                    </a:solidFill>
                    <a:latin typeface="Calibri"/>
                  </a:rPr>
                  <a:t>. </a:t>
                </a:r>
                <a:r>
                  <a:rPr sz="2100" b="1">
                    <a:solidFill>
                      <a:srgbClr val="1E293B"/>
                    </a:solidFill>
                    <a:latin typeface="Calibri"/>
                  </a:rPr>
                  <a:t>Nhận xét.</a:t>
                </a:r>
                <a:r>
                  <a:rPr sz="2100">
                    <a:solidFill>
                      <a:srgbClr val="1E293B"/>
                    </a:solidFill>
                    <a:latin typeface="Calibri"/>
                  </a:rPr>
                  <a:t> Có khoảng </a:t>
                </a:r>
                <a:r>
                  <a:rPr lang="vi-VN"/>
                  <a:t>\frac{r\cdot n}{4}</a:t>
                </a:r>
                <a:r>
                  <a:rPr sz="2100">
                    <a:solidFill>
                      <a:srgbClr val="1E293B"/>
                    </a:solidFill>
                    <a:latin typeface="Calibri"/>
                  </a:rPr>
                  <a:t> giá trị nhỏ hơn tứ phân vị thứ </a:t>
                </a:r>
                <a:r>
                  <a:rPr lang="vi-VN"/>
                  <a:t>r</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 LUYỆN TẬP 3 (SGK TR.65)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14</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3.</a:t>
                </a:r>
                <a:r>
                  <a:rPr sz="2100">
                    <a:solidFill>
                      <a:srgbClr val="1E293B"/>
                    </a:solidFill>
                    <a:latin typeface="Calibri"/>
                  </a:rPr>
                  <a:t> Tìm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1</m:t>
                        </m:r>
                      </m:sub>
                    </m:sSub>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3</m:t>
                        </m:r>
                      </m:sub>
                    </m:sSub>
                  </m:oMath>
                </a14:m>
                <a:r>
                  <a:rPr sz="2100">
                    <a:solidFill>
                      <a:srgbClr val="1E293B"/>
                    </a:solidFill>
                    <a:latin typeface="Calibri"/>
                  </a:rPr>
                  <a:t> của mẫu số liệu ở Ví dụ 2 (</a:t>
                </a:r>
                <a14:m>
                  <m:oMath xmlns:m="http://schemas.openxmlformats.org/officeDocument/2006/math">
                    <m:r>
                      <a:rPr lang="vi-VN" sz="2100" b="0">
                        <a:solidFill>
                          <a:srgbClr val="1E293B"/>
                        </a:solidFill>
                        <a:latin typeface="Cambria Math" panose="02040503050406030204" pitchFamily="18" charset="0"/>
                      </a:rPr>
                      <m:t>n=56</m:t>
                    </m:r>
                  </m:oMath>
                </a14:m>
                <a:r>
                  <a:rPr sz="2100">
                    <a:solidFill>
                      <a:srgbClr val="1E293B"/>
                    </a:solidFill>
                    <a:latin typeface="Calibri"/>
                  </a:rPr>
                  <a:t>; tần số 3, 12, 15, 24, 2; nhóm dài 3, bắt đầu 9,5).</a:t>
                </a:r>
              </a:p>
            </p:txBody>
          </p:sp>
        </mc:Choice>
        <mc:Fallback>
          <p:sp>
            <p:nvSpPr>
              <p:cNvPr id="7" name="TextBox 6"/>
              <p:cNvSpPr txBox="1"/>
              <p:nvPr/>
            </p:nvSpPr>
            <p:spPr>
              <a:xfrm>
                <a:off x="548640" y="146304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3.</a:t>
                </a:r>
                <a:r>
                  <a:rPr sz="2100">
                    <a:solidFill>
                      <a:srgbClr val="1E293B"/>
                    </a:solidFill>
                    <a:latin typeface="Calibri"/>
                  </a:rPr>
                  <a:t> Tìm </a:t>
                </a:r>
                <a:r>
                  <a:rPr lang="vi-VN"/>
                  <a:t>Q_1</a:t>
                </a:r>
                <a:r>
                  <a:rPr sz="2100">
                    <a:solidFill>
                      <a:srgbClr val="1E293B"/>
                    </a:solidFill>
                    <a:latin typeface="Calibri"/>
                  </a:rPr>
                  <a:t>, </a:t>
                </a:r>
                <a:r>
                  <a:rPr lang="vi-VN"/>
                  <a:t>Q_3</a:t>
                </a:r>
                <a:r>
                  <a:rPr sz="2100">
                    <a:solidFill>
                      <a:srgbClr val="1E293B"/>
                    </a:solidFill>
                    <a:latin typeface="Calibri"/>
                  </a:rPr>
                  <a:t> của mẫu số liệu ở Ví dụ 2 (</a:t>
                </a:r>
                <a:r>
                  <a:rPr lang="vi-VN"/>
                  <a:t>n=56</a:t>
                </a:r>
                <a:r>
                  <a:rPr sz="2100">
                    <a:solidFill>
                      <a:srgbClr val="1E293B"/>
                    </a:solidFill>
                    <a:latin typeface="Calibri"/>
                  </a:rPr>
                  <a:t>; tần số 3, 12, 15, 24, 2; nhóm dài 3, bắt đầu 9,5).</a:t>
                </a:r>
              </a:p>
            </p:txBody>
          </p:sp>
        </mc:Fallback>
      </mc:AlternateContent>
      <p:sp>
        <p:nvSpPr>
          <p:cNvPr id="8" name="s1_nen"/>
          <p:cNvSpPr/>
          <p:nvPr/>
        </p:nvSpPr>
        <p:spPr>
          <a:xfrm>
            <a:off x="548640" y="2414015"/>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50591"/>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1</m:t>
                        </m:r>
                      </m:sub>
                    </m:sSub>
                  </m:oMath>
                </a14:m>
                <a:r>
                  <a:rPr sz="2100">
                    <a:solidFill>
                      <a:srgbClr val="1E293B"/>
                    </a:solidFill>
                    <a:latin typeface="Calibri"/>
                  </a:rPr>
                  <a:t> thuộc </a:t>
                </a:r>
                <a14:m>
                  <m:oMath xmlns:m="http://schemas.openxmlformats.org/officeDocument/2006/math">
                    <m:r>
                      <a:rPr lang="vi-VN" sz="2100" b="0">
                        <a:solidFill>
                          <a:srgbClr val="1E293B"/>
                        </a:solidFill>
                        <a:latin typeface="Cambria Math" panose="02040503050406030204" pitchFamily="18" charset="0"/>
                      </a:rPr>
                      <m:t>[12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15</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=12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f>
                      <m:fPr>
                        <m:type m:val="bar"/>
                      </m:fPr>
                      <m:num>
                        <m:f>
                          <m:fPr>
                            <m:type m:val="bar"/>
                          </m:fPr>
                          <m:num>
                            <m:r>
                              <a:rPr lang="vi-VN" sz="2100" b="0">
                                <a:solidFill>
                                  <a:srgbClr val="1E293B"/>
                                </a:solidFill>
                                <a:latin typeface="Cambria Math" panose="02040503050406030204" pitchFamily="18" charset="0"/>
                              </a:rPr>
                              <m:t>56</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−3</m:t>
                        </m:r>
                      </m:num>
                      <m:den>
                        <m:r>
                          <a:rPr lang="vi-VN" sz="2100" b="0">
                            <a:solidFill>
                              <a:srgbClr val="1E293B"/>
                            </a:solidFill>
                            <a:latin typeface="Cambria Math" panose="02040503050406030204" pitchFamily="18" charset="0"/>
                          </a:rPr>
                          <m:t>12</m:t>
                        </m:r>
                      </m:den>
                    </m:f>
                    <m:r>
                      <a:rPr lang="vi-VN" sz="2100" b="0">
                        <a:solidFill>
                          <a:srgbClr val="1E293B"/>
                        </a:solidFill>
                        <a:latin typeface="Cambria Math" panose="02040503050406030204" pitchFamily="18" charset="0"/>
                      </a:rPr>
                      <m:t>·3=15</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25</m:t>
                    </m:r>
                  </m:oMath>
                </a14:m>
                <a:r>
                  <a:rPr sz="2100">
                    <a:solidFill>
                      <a:srgbClr val="1E293B"/>
                    </a:solidFill>
                    <a:latin typeface="Calibri"/>
                  </a:rPr>
                  <a:t>.</a:t>
                </a:r>
              </a:p>
            </p:txBody>
          </p:sp>
        </mc:Choice>
        <mc:Fallback>
          <p:sp>
            <p:nvSpPr>
              <p:cNvPr id="9" name="TextBox 8"/>
              <p:cNvSpPr txBox="1"/>
              <p:nvPr/>
            </p:nvSpPr>
            <p:spPr>
              <a:xfrm>
                <a:off x="713232" y="2450591"/>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Q_1</a:t>
                </a:r>
                <a:r>
                  <a:rPr sz="2100">
                    <a:solidFill>
                      <a:srgbClr val="1E293B"/>
                    </a:solidFill>
                    <a:latin typeface="Calibri"/>
                  </a:rPr>
                  <a:t> thuộc </a:t>
                </a:r>
                <a:r>
                  <a:rPr lang="vi-VN"/>
                  <a:t>[12{,}5;\ 15{,}5)</a:t>
                </a:r>
                <a:r>
                  <a:rPr sz="2100">
                    <a:solidFill>
                      <a:srgbClr val="1E293B"/>
                    </a:solidFill>
                    <a:latin typeface="Calibri"/>
                  </a:rPr>
                  <a:t>: </a:t>
                </a:r>
                <a:r>
                  <a:rPr lang="vi-VN"/>
                  <a:t>Q_1=12{,}5+\frac{\frac{56}{4}-3}{12}\cdot 3=15{,}25</a:t>
                </a:r>
                <a:r>
                  <a:rPr sz="2100">
                    <a:solidFill>
                      <a:srgbClr val="1E293B"/>
                    </a:solidFill>
                    <a:latin typeface="Calibri"/>
                  </a:rPr>
                  <a:t>.</a:t>
                </a:r>
              </a:p>
            </p:txBody>
          </p:sp>
        </mc:Fallback>
      </mc:AlternateContent>
      <p:sp>
        <p:nvSpPr>
          <p:cNvPr id="10" name="s2_nen"/>
          <p:cNvSpPr/>
          <p:nvPr/>
        </p:nvSpPr>
        <p:spPr>
          <a:xfrm>
            <a:off x="548640" y="3424427"/>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61003"/>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3</m:t>
                        </m:r>
                      </m:sub>
                    </m:sSub>
                  </m:oMath>
                </a14:m>
                <a:r>
                  <a:rPr sz="2100">
                    <a:solidFill>
                      <a:srgbClr val="1E293B"/>
                    </a:solidFill>
                    <a:latin typeface="Calibri"/>
                  </a:rPr>
                  <a:t> thuộc </a:t>
                </a:r>
                <a14:m>
                  <m:oMath xmlns:m="http://schemas.openxmlformats.org/officeDocument/2006/math">
                    <m:r>
                      <a:rPr lang="vi-VN" sz="2100" b="0">
                        <a:solidFill>
                          <a:srgbClr val="1E293B"/>
                        </a:solidFill>
                        <a:latin typeface="Cambria Math" panose="02040503050406030204" pitchFamily="18" charset="0"/>
                      </a:rPr>
                      <m:t>[18</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21</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3</m:t>
                        </m:r>
                      </m:sub>
                    </m:sSub>
                    <m:r>
                      <a:rPr lang="vi-VN" sz="2100" b="0">
                        <a:solidFill>
                          <a:srgbClr val="1E293B"/>
                        </a:solidFill>
                        <a:latin typeface="Cambria Math" panose="02040503050406030204" pitchFamily="18" charset="0"/>
                      </a:rPr>
                      <m:t>=18</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f>
                      <m:fPr>
                        <m:type m:val="bar"/>
                      </m:fPr>
                      <m:num>
                        <m:f>
                          <m:fPr>
                            <m:type m:val="bar"/>
                          </m:fPr>
                          <m:num>
                            <m:r>
                              <a:rPr lang="vi-VN" sz="2100" b="0">
                                <a:solidFill>
                                  <a:srgbClr val="1E293B"/>
                                </a:solidFill>
                                <a:latin typeface="Cambria Math" panose="02040503050406030204" pitchFamily="18" charset="0"/>
                              </a:rPr>
                              <m:t>3·56</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−30</m:t>
                        </m:r>
                      </m:num>
                      <m:den>
                        <m:r>
                          <a:rPr lang="vi-VN" sz="2100" b="0">
                            <a:solidFill>
                              <a:srgbClr val="1E293B"/>
                            </a:solidFill>
                            <a:latin typeface="Cambria Math" panose="02040503050406030204" pitchFamily="18" charset="0"/>
                          </a:rPr>
                          <m:t>24</m:t>
                        </m:r>
                      </m:den>
                    </m:f>
                    <m:r>
                      <a:rPr lang="vi-VN" sz="2100" b="0">
                        <a:solidFill>
                          <a:srgbClr val="1E293B"/>
                        </a:solidFill>
                        <a:latin typeface="Cambria Math" panose="02040503050406030204" pitchFamily="18" charset="0"/>
                      </a:rPr>
                      <m:t>·3=20</m:t>
                    </m:r>
                  </m:oMath>
                </a14:m>
                <a:r>
                  <a:rPr sz="2100">
                    <a:solidFill>
                      <a:srgbClr val="1E293B"/>
                    </a:solidFill>
                    <a:latin typeface="Calibri"/>
                  </a:rPr>
                  <a:t>.</a:t>
                </a:r>
              </a:p>
            </p:txBody>
          </p:sp>
        </mc:Choice>
        <mc:Fallback>
          <p:sp>
            <p:nvSpPr>
              <p:cNvPr id="11" name="TextBox 10"/>
              <p:cNvSpPr txBox="1"/>
              <p:nvPr/>
            </p:nvSpPr>
            <p:spPr>
              <a:xfrm>
                <a:off x="713232" y="3461003"/>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Q_3</a:t>
                </a:r>
                <a:r>
                  <a:rPr sz="2100">
                    <a:solidFill>
                      <a:srgbClr val="1E293B"/>
                    </a:solidFill>
                    <a:latin typeface="Calibri"/>
                  </a:rPr>
                  <a:t> thuộc </a:t>
                </a:r>
                <a:r>
                  <a:rPr lang="vi-VN"/>
                  <a:t>[18{,}5;\ 21{,}5)</a:t>
                </a:r>
                <a:r>
                  <a:rPr sz="2100">
                    <a:solidFill>
                      <a:srgbClr val="1E293B"/>
                    </a:solidFill>
                    <a:latin typeface="Calibri"/>
                  </a:rPr>
                  <a:t>: </a:t>
                </a:r>
                <a:r>
                  <a:rPr lang="vi-VN"/>
                  <a:t>Q_3=18{,}5+\frac{\frac{3\cdot 56}{4}-30}{24}\cdot 3=20</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4434840"/>
                <a:ext cx="11064240" cy="49377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3.</a:t>
                </a:r>
                <a:r>
                  <a:rPr sz="2100">
                    <a:solidFill>
                      <a:srgbClr val="1E293B"/>
                    </a:solidFill>
                    <a:latin typeface="Calibri"/>
                  </a:rPr>
                  <a:t> Tìm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1</m:t>
                        </m:r>
                      </m:sub>
                    </m:sSub>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3</m:t>
                        </m:r>
                      </m:sub>
                    </m:sSub>
                  </m:oMath>
                </a14:m>
                <a:r>
                  <a:rPr sz="2100">
                    <a:solidFill>
                      <a:srgbClr val="1E293B"/>
                    </a:solidFill>
                    <a:latin typeface="Calibri"/>
                  </a:rPr>
                  <a:t> cho mẫu số liệu ở Luyện tập 2 (tốc độ giao bóng).</a:t>
                </a:r>
              </a:p>
            </p:txBody>
          </p:sp>
        </mc:Choice>
        <mc:Fallback>
          <p:sp>
            <p:nvSpPr>
              <p:cNvPr id="12" name="TextBox 11"/>
              <p:cNvSpPr txBox="1"/>
              <p:nvPr/>
            </p:nvSpPr>
            <p:spPr>
              <a:xfrm>
                <a:off x="548640" y="4434840"/>
                <a:ext cx="11064240" cy="49377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3.</a:t>
                </a:r>
                <a:r>
                  <a:rPr sz="2100">
                    <a:solidFill>
                      <a:srgbClr val="1E293B"/>
                    </a:solidFill>
                    <a:latin typeface="Calibri"/>
                  </a:rPr>
                  <a:t> Tìm </a:t>
                </a:r>
                <a:r>
                  <a:rPr lang="vi-VN"/>
                  <a:t>Q_1</a:t>
                </a:r>
                <a:r>
                  <a:rPr sz="2100">
                    <a:solidFill>
                      <a:srgbClr val="1E293B"/>
                    </a:solidFill>
                    <a:latin typeface="Calibri"/>
                  </a:rPr>
                  <a:t>, </a:t>
                </a:r>
                <a:r>
                  <a:rPr lang="vi-VN"/>
                  <a:t>Q_3</a:t>
                </a:r>
                <a:r>
                  <a:rPr sz="2100">
                    <a:solidFill>
                      <a:srgbClr val="1E293B"/>
                    </a:solidFill>
                    <a:latin typeface="Calibri"/>
                  </a:rPr>
                  <a:t> cho mẫu số liệu ở Luyện tập 2 (tốc độ giao bóng).</a:t>
                </a:r>
              </a:p>
            </p:txBody>
          </p:sp>
        </mc:Fallback>
      </mc:AlternateContent>
      <p:sp>
        <p:nvSpPr>
          <p:cNvPr id="13" name="s4_nen"/>
          <p:cNvSpPr/>
          <p:nvPr/>
        </p:nvSpPr>
        <p:spPr>
          <a:xfrm>
            <a:off x="548640" y="5065775"/>
            <a:ext cx="11064240" cy="133731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102351"/>
                <a:ext cx="1073505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Tần số tích luỹ 18; 46; 81; 124; 165; 200. </a:t>
                </a:r>
                <a14:m>
                  <m:oMath xmlns:m="http://schemas.openxmlformats.org/officeDocument/2006/math">
                    <m:f>
                      <m:fPr>
                        <m:type m:val="bar"/>
                      </m:fPr>
                      <m:num>
                        <m:r>
                          <a:rPr lang="vi-VN" sz="2100" b="0">
                            <a:solidFill>
                              <a:srgbClr val="1E293B"/>
                            </a:solidFill>
                            <a:latin typeface="Cambria Math" panose="02040503050406030204" pitchFamily="18" charset="0"/>
                          </a:rPr>
                          <m:t>n</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=50</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=160+</m:t>
                    </m:r>
                    <m:f>
                      <m:fPr>
                        <m:type m:val="bar"/>
                      </m:fPr>
                      <m:num>
                        <m:r>
                          <a:rPr lang="vi-VN" sz="2100" b="0">
                            <a:solidFill>
                              <a:srgbClr val="1E293B"/>
                            </a:solidFill>
                            <a:latin typeface="Cambria Math" panose="02040503050406030204" pitchFamily="18" charset="0"/>
                          </a:rPr>
                          <m:t>50−46</m:t>
                        </m:r>
                      </m:num>
                      <m:den>
                        <m:r>
                          <a:rPr lang="vi-VN" sz="2100" b="0">
                            <a:solidFill>
                              <a:srgbClr val="1E293B"/>
                            </a:solidFill>
                            <a:latin typeface="Cambria Math" panose="02040503050406030204" pitchFamily="18" charset="0"/>
                          </a:rPr>
                          <m:t>35</m:t>
                        </m:r>
                      </m:den>
                    </m:f>
                    <m:r>
                      <a:rPr lang="vi-VN" sz="2100" b="0">
                        <a:solidFill>
                          <a:srgbClr val="1E293B"/>
                        </a:solidFill>
                        <a:latin typeface="Cambria Math" panose="02040503050406030204" pitchFamily="18" charset="0"/>
                      </a:rPr>
                      <m:t>·5≈160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57</m:t>
                    </m:r>
                  </m:oMath>
                </a14:m>
                <a:r>
                  <a:rPr sz="2100">
                    <a:solidFill>
                      <a:srgbClr val="1E293B"/>
                    </a:solidFill>
                    <a:latin typeface="Calibri"/>
                  </a:rPr>
                  <a:t>; </a:t>
                </a:r>
                <a14:m>
                  <m:oMath xmlns:m="http://schemas.openxmlformats.org/officeDocument/2006/math">
                    <m:f>
                      <m:fPr>
                        <m:type m:val="bar"/>
                      </m:fPr>
                      <m:num>
                        <m:r>
                          <a:rPr lang="vi-VN" sz="2100" b="0">
                            <a:solidFill>
                              <a:srgbClr val="1E293B"/>
                            </a:solidFill>
                            <a:latin typeface="Cambria Math" panose="02040503050406030204" pitchFamily="18" charset="0"/>
                          </a:rPr>
                          <m:t>3n</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=150</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Q</m:t>
                        </m:r>
                      </m:e>
                      <m:sub>
                        <m:r>
                          <a:rPr lang="vi-VN" sz="2100" b="0">
                            <a:solidFill>
                              <a:srgbClr val="1E293B"/>
                            </a:solidFill>
                            <a:latin typeface="Cambria Math" panose="02040503050406030204" pitchFamily="18" charset="0"/>
                          </a:rPr>
                          <m:t>3</m:t>
                        </m:r>
                      </m:sub>
                    </m:sSub>
                    <m:r>
                      <a:rPr lang="vi-VN" sz="2100" b="0">
                        <a:solidFill>
                          <a:srgbClr val="1E293B"/>
                        </a:solidFill>
                        <a:latin typeface="Cambria Math" panose="02040503050406030204" pitchFamily="18" charset="0"/>
                      </a:rPr>
                      <m:t>=170+</m:t>
                    </m:r>
                    <m:f>
                      <m:fPr>
                        <m:type m:val="bar"/>
                      </m:fPr>
                      <m:num>
                        <m:r>
                          <a:rPr lang="vi-VN" sz="2100" b="0">
                            <a:solidFill>
                              <a:srgbClr val="1E293B"/>
                            </a:solidFill>
                            <a:latin typeface="Cambria Math" panose="02040503050406030204" pitchFamily="18" charset="0"/>
                          </a:rPr>
                          <m:t>150−124</m:t>
                        </m:r>
                      </m:num>
                      <m:den>
                        <m:r>
                          <a:rPr lang="vi-VN" sz="2100" b="0">
                            <a:solidFill>
                              <a:srgbClr val="1E293B"/>
                            </a:solidFill>
                            <a:latin typeface="Cambria Math" panose="02040503050406030204" pitchFamily="18" charset="0"/>
                          </a:rPr>
                          <m:t>41</m:t>
                        </m:r>
                      </m:den>
                    </m:f>
                    <m:r>
                      <a:rPr lang="vi-VN" sz="2100" b="0">
                        <a:solidFill>
                          <a:srgbClr val="1E293B"/>
                        </a:solidFill>
                        <a:latin typeface="Cambria Math" panose="02040503050406030204" pitchFamily="18" charset="0"/>
                      </a:rPr>
                      <m:t>·5≈173</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17</m:t>
                    </m:r>
                  </m:oMath>
                </a14:m>
                <a:r>
                  <a:rPr sz="2100">
                    <a:solidFill>
                      <a:srgbClr val="1E293B"/>
                    </a:solidFill>
                    <a:latin typeface="Calibri"/>
                  </a:rPr>
                  <a:t> (km/h).</a:t>
                </a:r>
              </a:p>
            </p:txBody>
          </p:sp>
        </mc:Choice>
        <mc:Fallback>
          <p:sp>
            <p:nvSpPr>
              <p:cNvPr id="14" name="TextBox 13"/>
              <p:cNvSpPr txBox="1"/>
              <p:nvPr/>
            </p:nvSpPr>
            <p:spPr>
              <a:xfrm>
                <a:off x="713232" y="5102351"/>
                <a:ext cx="1073505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Tần số tích luỹ 18; 46; 81; 124; 165; 200. </a:t>
                </a:r>
                <a:r>
                  <a:rPr lang="vi-VN"/>
                  <a:t>\frac{n}{4}=50</a:t>
                </a:r>
                <a:r>
                  <a:rPr sz="2100">
                    <a:solidFill>
                      <a:srgbClr val="1E293B"/>
                    </a:solidFill>
                    <a:latin typeface="Calibri"/>
                  </a:rPr>
                  <a:t>: </a:t>
                </a:r>
                <a:r>
                  <a:rPr lang="vi-VN"/>
                  <a:t>Q_1=160+\frac{50-46}{35}\cdot 5\approx 160{,}57</a:t>
                </a:r>
                <a:r>
                  <a:rPr sz="2100">
                    <a:solidFill>
                      <a:srgbClr val="1E293B"/>
                    </a:solidFill>
                    <a:latin typeface="Calibri"/>
                  </a:rPr>
                  <a:t>; </a:t>
                </a:r>
                <a:r>
                  <a:rPr lang="vi-VN"/>
                  <a:t>\frac{3n}{4}=150</a:t>
                </a:r>
                <a:r>
                  <a:rPr sz="2100">
                    <a:solidFill>
                      <a:srgbClr val="1E293B"/>
                    </a:solidFill>
                    <a:latin typeface="Calibri"/>
                  </a:rPr>
                  <a:t>: </a:t>
                </a:r>
                <a:r>
                  <a:rPr lang="vi-VN"/>
                  <a:t>Q_3=170+\frac{150-124}{41}\cdot 5\approx 173{,}17</a:t>
                </a:r>
                <a:r>
                  <a:rPr sz="2100">
                    <a:solidFill>
                      <a:srgbClr val="1E293B"/>
                    </a:solidFill>
                    <a:latin typeface="Calibri"/>
                  </a:rPr>
                  <a:t> (km/h).</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4. MỐT – HĐ4 (SGK TR.66)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15</a:t>
            </a:r>
          </a:p>
        </p:txBody>
      </p:sp>
      <p:sp>
        <p:nvSpPr>
          <p:cNvPr id="7" name="TextBox 6"/>
          <p:cNvSpPr txBox="1"/>
          <p:nvPr/>
        </p:nvSpPr>
        <p:spPr>
          <a:xfrm>
            <a:off x="548640" y="1371600"/>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HĐ4.</a:t>
            </a:r>
            <a:r>
              <a:rPr sz="2000">
                <a:solidFill>
                  <a:srgbClr val="1E293B"/>
                </a:solidFill>
                <a:latin typeface="Calibri"/>
              </a:rPr>
              <a:t> Với số liệu Luyện tập 1 (thời gian xem ti vi): a) Có tìm được chính xác mốt của mẫu số liệu gốc không? b) Mốt thuộc nhóm nào là hợp lí nhất? Nên lấy số nào trong nhóm?</a:t>
            </a:r>
          </a:p>
        </p:txBody>
      </p:sp>
      <p:sp>
        <p:nvSpPr>
          <p:cNvPr id="8" name="s1_nen"/>
          <p:cNvSpPr/>
          <p:nvPr/>
        </p:nvSpPr>
        <p:spPr>
          <a:xfrm>
            <a:off x="548640" y="2569464"/>
            <a:ext cx="110642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06040"/>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Không. b) Nhóm </a:t>
                </a:r>
                <a14:m>
                  <m:oMath xmlns:m="http://schemas.openxmlformats.org/officeDocument/2006/math">
                    <m:r>
                      <a:rPr lang="vi-VN" sz="2000" b="0">
                        <a:solidFill>
                          <a:srgbClr val="1E293B"/>
                        </a:solidFill>
                        <a:latin typeface="Cambria Math" panose="02040503050406030204" pitchFamily="18" charset="0"/>
                      </a:rPr>
                      <m:t>[5;</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10)</m:t>
                    </m:r>
                  </m:oMath>
                </a14:m>
                <a:r>
                  <a:rPr sz="2000">
                    <a:solidFill>
                      <a:srgbClr val="1E293B"/>
                    </a:solidFill>
                    <a:latin typeface="Calibri"/>
                  </a:rPr>
                  <a:t> (tần số lớn nhất 16); lấy số lệch về phía nhóm kề có tần số lớn hơn: </a:t>
                </a:r>
                <a14:m>
                  <m:oMath xmlns:m="http://schemas.openxmlformats.org/officeDocument/2006/math">
                    <m:sSub>
                      <m:e>
                        <m:r>
                          <a:rPr lang="vi-VN" sz="2000" b="0">
                            <a:solidFill>
                              <a:srgbClr val="1E293B"/>
                            </a:solidFill>
                            <a:latin typeface="Cambria Math" panose="02040503050406030204" pitchFamily="18" charset="0"/>
                          </a:rPr>
                          <m:t>M</m:t>
                        </m:r>
                      </m:e>
                      <m:sub>
                        <m:r>
                          <a:rPr lang="vi-VN" sz="2000" b="0">
                            <a:solidFill>
                              <a:srgbClr val="1E293B"/>
                            </a:solidFill>
                            <a:latin typeface="Cambria Math" panose="02040503050406030204" pitchFamily="18" charset="0"/>
                          </a:rPr>
                          <m:t>o</m:t>
                        </m:r>
                      </m:sub>
                    </m:sSub>
                    <m:r>
                      <a:rPr lang="vi-VN" sz="2000" b="0">
                        <a:solidFill>
                          <a:srgbClr val="1E293B"/>
                        </a:solidFill>
                        <a:latin typeface="Cambria Math" panose="02040503050406030204" pitchFamily="18" charset="0"/>
                      </a:rPr>
                      <m:t>=5+</m:t>
                    </m:r>
                    <m:f>
                      <m:fPr>
                        <m:type m:val="bar"/>
                      </m:fPr>
                      <m:num>
                        <m:r>
                          <a:rPr lang="vi-VN" sz="2000" b="0">
                            <a:solidFill>
                              <a:srgbClr val="1E293B"/>
                            </a:solidFill>
                            <a:latin typeface="Cambria Math" panose="02040503050406030204" pitchFamily="18" charset="0"/>
                          </a:rPr>
                          <m:t>16−8</m:t>
                        </m:r>
                      </m:num>
                      <m:den>
                        <m:d>
                          <m:dPr>
                            <m:sepChr m:val=""/>
                          </m:dPr>
                          <m:e>
                            <m:r>
                              <a:rPr lang="vi-VN" sz="2000" b="0">
                                <a:solidFill>
                                  <a:srgbClr val="1E293B"/>
                                </a:solidFill>
                                <a:latin typeface="Cambria Math" panose="02040503050406030204" pitchFamily="18" charset="0"/>
                              </a:rPr>
                              <m:t>16</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16</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m:t>
                            </m:r>
                          </m:e>
                        </m:d>
                      </m:den>
                    </m:f>
                    <m:r>
                      <a:rPr lang="vi-VN" sz="2000" b="0">
                        <a:solidFill>
                          <a:srgbClr val="1E293B"/>
                        </a:solidFill>
                        <a:latin typeface="Cambria Math" panose="02040503050406030204" pitchFamily="18" charset="0"/>
                      </a:rPr>
                      <m:t>·5=7</m:t>
                    </m:r>
                  </m:oMath>
                </a14:m>
                <a:r>
                  <a:rPr sz="2000">
                    <a:solidFill>
                      <a:srgbClr val="1E293B"/>
                    </a:solidFill>
                    <a:latin typeface="Calibri"/>
                  </a:rPr>
                  <a:t> (giờ).</a:t>
                </a:r>
              </a:p>
            </p:txBody>
          </p:sp>
        </mc:Choice>
        <mc:Fallback>
          <p:sp>
            <p:nvSpPr>
              <p:cNvPr id="9" name="TextBox 8"/>
              <p:cNvSpPr txBox="1"/>
              <p:nvPr/>
            </p:nvSpPr>
            <p:spPr>
              <a:xfrm>
                <a:off x="713232" y="2606040"/>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Không. b) Nhóm </a:t>
                </a:r>
                <a:r>
                  <a:rPr lang="vi-VN"/>
                  <a:t>[5;\ 10)</a:t>
                </a:r>
                <a:r>
                  <a:rPr sz="2000">
                    <a:solidFill>
                      <a:srgbClr val="1E293B"/>
                    </a:solidFill>
                    <a:latin typeface="Calibri"/>
                  </a:rPr>
                  <a:t> (tần số lớn nhất 16); lấy số lệch về phía nhóm kề có tần số lớn hơn: </a:t>
                </a:r>
                <a:r>
                  <a:rPr lang="vi-VN"/>
                  <a:t>M_o=5+\frac{16-8}{(16-8)+(16-4)}\cdot 5=7</a:t>
                </a:r>
                <a:r>
                  <a:rPr sz="2000">
                    <a:solidFill>
                      <a:srgbClr val="1E293B"/>
                    </a:solidFill>
                    <a:latin typeface="Calibri"/>
                  </a:rPr>
                  <a:t> (giờ).</a:t>
                </a:r>
              </a:p>
            </p:txBody>
          </p:sp>
        </mc:Fallback>
      </mc:AlternateContent>
      <p:sp>
        <p:nvSpPr>
          <p:cNvPr id="10" name="s2_nen"/>
          <p:cNvSpPr/>
          <p:nvPr/>
        </p:nvSpPr>
        <p:spPr>
          <a:xfrm>
            <a:off x="548640" y="3691128"/>
            <a:ext cx="11064240" cy="243230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727704"/>
                <a:ext cx="10735056" cy="2359152"/>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Bước 1.</a:t>
                </a:r>
                <a:r>
                  <a:rPr sz="2000">
                    <a:solidFill>
                      <a:srgbClr val="1E293B"/>
                    </a:solidFill>
                    <a:latin typeface="Calibri"/>
                  </a:rPr>
                  <a:t> Xác định nhóm có tần số lớn nhất (nhóm chứa mốt), giả sử là nhóm </a:t>
                </a:r>
                <a14:m>
                  <m:oMath xmlns:m="http://schemas.openxmlformats.org/officeDocument/2006/math">
                    <m:r>
                      <a:rPr lang="vi-VN" sz="2000" b="0">
                        <a:solidFill>
                          <a:srgbClr val="1E293B"/>
                        </a:solidFill>
                        <a:latin typeface="Cambria Math" panose="02040503050406030204" pitchFamily="18" charset="0"/>
                      </a:rPr>
                      <m:t>j</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t>
                    </m:r>
                    <m:sSub>
                      <m:e>
                        <m:r>
                          <a:rPr lang="vi-VN" sz="2000" b="0">
                            <a:solidFill>
                              <a:srgbClr val="1E293B"/>
                            </a:solidFill>
                            <a:latin typeface="Cambria Math" panose="02040503050406030204" pitchFamily="18" charset="0"/>
                          </a:rPr>
                          <m:t>a</m:t>
                        </m:r>
                      </m:e>
                      <m:sub>
                        <m:r>
                          <a:rPr lang="vi-VN" sz="2000" b="0">
                            <a:solidFill>
                              <a:srgbClr val="1E293B"/>
                            </a:solidFill>
                            <a:latin typeface="Cambria Math" panose="02040503050406030204" pitchFamily="18" charset="0"/>
                          </a:rPr>
                          <m:t>j</m:t>
                        </m:r>
                      </m:sub>
                    </m:sSub>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sSub>
                      <m:e>
                        <m:r>
                          <a:rPr lang="vi-VN" sz="2000" b="0">
                            <a:solidFill>
                              <a:srgbClr val="1E293B"/>
                            </a:solidFill>
                            <a:latin typeface="Cambria Math" panose="02040503050406030204" pitchFamily="18" charset="0"/>
                          </a:rPr>
                          <m:t>a</m:t>
                        </m:r>
                      </m:e>
                      <m:sub>
                        <m:r>
                          <a:rPr lang="vi-VN" sz="2000" b="0">
                            <a:solidFill>
                              <a:srgbClr val="1E293B"/>
                            </a:solidFill>
                            <a:latin typeface="Cambria Math" panose="02040503050406030204" pitchFamily="18" charset="0"/>
                          </a:rPr>
                          <m:t>j+1</m:t>
                        </m:r>
                      </m:sub>
                    </m:sSub>
                    <m:r>
                      <a:rPr lang="vi-VN" sz="2000" b="0">
                        <a:solidFill>
                          <a:srgbClr val="1E293B"/>
                        </a:solidFill>
                        <a:latin typeface="Cambria Math" panose="02040503050406030204" pitchFamily="18" charset="0"/>
                      </a:rPr>
                      <m:t>)</m:t>
                    </m:r>
                  </m:oMath>
                </a14:m>
                <a:r>
                  <a:rPr sz="2000">
                    <a:solidFill>
                      <a:srgbClr val="1E293B"/>
                    </a:solidFill>
                    <a:latin typeface="Calibri"/>
                  </a:rPr>
                  <a:t>.</a:t>
                </a:r>
              </a:p>
              <a:p>
                <a:pPr algn="l">
                  <a:spcAft>
                    <a:spcPts val="800"/>
                  </a:spcAft>
                </a:pPr>
                <a:r>
                  <a:rPr sz="2000" b="1">
                    <a:solidFill>
                      <a:srgbClr val="1E293B"/>
                    </a:solidFill>
                    <a:latin typeface="Calibri"/>
                  </a:rPr>
                  <a:t>Bước 2.</a:t>
                </a:r>
                <a:r>
                  <a:rPr sz="2000">
                    <a:solidFill>
                      <a:srgbClr val="1E293B"/>
                    </a:solidFill>
                    <a:latin typeface="Calibri"/>
                  </a:rPr>
                  <a:t> </a:t>
                </a:r>
                <a14:m>
                  <m:oMath xmlns:m="http://schemas.openxmlformats.org/officeDocument/2006/math">
                    <m:sSub>
                      <m:e>
                        <m:r>
                          <a:rPr lang="vi-VN" sz="2000" b="0">
                            <a:solidFill>
                              <a:srgbClr val="1E293B"/>
                            </a:solidFill>
                            <a:latin typeface="Cambria Math" panose="02040503050406030204" pitchFamily="18" charset="0"/>
                          </a:rPr>
                          <m:t>M</m:t>
                        </m:r>
                      </m:e>
                      <m:sub>
                        <m:r>
                          <a:rPr lang="vi-VN" sz="2000" b="0">
                            <a:solidFill>
                              <a:srgbClr val="1E293B"/>
                            </a:solidFill>
                            <a:latin typeface="Cambria Math" panose="02040503050406030204" pitchFamily="18" charset="0"/>
                          </a:rPr>
                          <m:t>o</m:t>
                        </m:r>
                      </m:sub>
                    </m:sSub>
                    <m:r>
                      <a:rPr lang="vi-VN" sz="2000" b="0">
                        <a:solidFill>
                          <a:srgbClr val="1E293B"/>
                        </a:solidFill>
                        <a:latin typeface="Cambria Math" panose="02040503050406030204" pitchFamily="18" charset="0"/>
                      </a:rPr>
                      <m:t>=</m:t>
                    </m:r>
                    <m:sSub>
                      <m:e>
                        <m:r>
                          <a:rPr lang="vi-VN" sz="2000" b="0">
                            <a:solidFill>
                              <a:srgbClr val="1E293B"/>
                            </a:solidFill>
                            <a:latin typeface="Cambria Math" panose="02040503050406030204" pitchFamily="18" charset="0"/>
                          </a:rPr>
                          <m:t>a</m:t>
                        </m:r>
                      </m:e>
                      <m:sub>
                        <m:r>
                          <a:rPr lang="vi-VN" sz="2000" b="0">
                            <a:solidFill>
                              <a:srgbClr val="1E293B"/>
                            </a:solidFill>
                            <a:latin typeface="Cambria Math" panose="02040503050406030204" pitchFamily="18" charset="0"/>
                          </a:rPr>
                          <m:t>j</m:t>
                        </m:r>
                      </m:sub>
                    </m:sSub>
                    <m:r>
                      <a:rPr lang="vi-VN" sz="2000" b="0">
                        <a:solidFill>
                          <a:srgbClr val="1E293B"/>
                        </a:solidFill>
                        <a:latin typeface="Cambria Math" panose="02040503050406030204" pitchFamily="18" charset="0"/>
                      </a:rPr>
                      <m:t>+</m:t>
                    </m:r>
                    <m:f>
                      <m:fPr>
                        <m:type m:val="bar"/>
                      </m:fPr>
                      <m:num>
                        <m:sSub>
                          <m:e>
                            <m:r>
                              <a:rPr lang="vi-VN" sz="2000" b="0">
                                <a:solidFill>
                                  <a:srgbClr val="1E293B"/>
                                </a:solidFill>
                                <a:latin typeface="Cambria Math" panose="02040503050406030204" pitchFamily="18" charset="0"/>
                              </a:rPr>
                              <m:t>m</m:t>
                            </m:r>
                          </m:e>
                          <m:sub>
                            <m:r>
                              <a:rPr lang="vi-VN" sz="2000" b="0">
                                <a:solidFill>
                                  <a:srgbClr val="1E293B"/>
                                </a:solidFill>
                                <a:latin typeface="Cambria Math" panose="02040503050406030204" pitchFamily="18" charset="0"/>
                              </a:rPr>
                              <m:t>j</m:t>
                            </m:r>
                          </m:sub>
                        </m:sSub>
                        <m:r>
                          <a:rPr lang="vi-VN" sz="2000" b="0">
                            <a:solidFill>
                              <a:srgbClr val="1E293B"/>
                            </a:solidFill>
                            <a:latin typeface="Cambria Math" panose="02040503050406030204" pitchFamily="18" charset="0"/>
                          </a:rPr>
                          <m:t>−</m:t>
                        </m:r>
                        <m:sSub>
                          <m:e>
                            <m:r>
                              <a:rPr lang="vi-VN" sz="2000" b="0">
                                <a:solidFill>
                                  <a:srgbClr val="1E293B"/>
                                </a:solidFill>
                                <a:latin typeface="Cambria Math" panose="02040503050406030204" pitchFamily="18" charset="0"/>
                              </a:rPr>
                              <m:t>m</m:t>
                            </m:r>
                          </m:e>
                          <m:sub>
                            <m:r>
                              <a:rPr lang="vi-VN" sz="2000" b="0">
                                <a:solidFill>
                                  <a:srgbClr val="1E293B"/>
                                </a:solidFill>
                                <a:latin typeface="Cambria Math" panose="02040503050406030204" pitchFamily="18" charset="0"/>
                              </a:rPr>
                              <m:t>j−1</m:t>
                            </m:r>
                          </m:sub>
                        </m:sSub>
                      </m:num>
                      <m:den>
                        <m:d>
                          <m:dPr>
                            <m:sepChr m:val=""/>
                          </m:dPr>
                          <m:e>
                            <m:sSub>
                              <m:e>
                                <m:r>
                                  <a:rPr lang="vi-VN" sz="2000" b="0">
                                    <a:solidFill>
                                      <a:srgbClr val="1E293B"/>
                                    </a:solidFill>
                                    <a:latin typeface="Cambria Math" panose="02040503050406030204" pitchFamily="18" charset="0"/>
                                  </a:rPr>
                                  <m:t>m</m:t>
                                </m:r>
                              </m:e>
                              <m:sub>
                                <m:r>
                                  <a:rPr lang="vi-VN" sz="2000" b="0">
                                    <a:solidFill>
                                      <a:srgbClr val="1E293B"/>
                                    </a:solidFill>
                                    <a:latin typeface="Cambria Math" panose="02040503050406030204" pitchFamily="18" charset="0"/>
                                  </a:rPr>
                                  <m:t>j</m:t>
                                </m:r>
                              </m:sub>
                            </m:sSub>
                            <m:r>
                              <a:rPr lang="vi-VN" sz="2000" b="0">
                                <a:solidFill>
                                  <a:srgbClr val="1E293B"/>
                                </a:solidFill>
                                <a:latin typeface="Cambria Math" panose="02040503050406030204" pitchFamily="18" charset="0"/>
                              </a:rPr>
                              <m:t>−</m:t>
                            </m:r>
                            <m:sSub>
                              <m:e>
                                <m:r>
                                  <a:rPr lang="vi-VN" sz="2000" b="0">
                                    <a:solidFill>
                                      <a:srgbClr val="1E293B"/>
                                    </a:solidFill>
                                    <a:latin typeface="Cambria Math" panose="02040503050406030204" pitchFamily="18" charset="0"/>
                                  </a:rPr>
                                  <m:t>m</m:t>
                                </m:r>
                              </m:e>
                              <m:sub>
                                <m:r>
                                  <a:rPr lang="vi-VN" sz="2000" b="0">
                                    <a:solidFill>
                                      <a:srgbClr val="1E293B"/>
                                    </a:solidFill>
                                    <a:latin typeface="Cambria Math" panose="02040503050406030204" pitchFamily="18" charset="0"/>
                                  </a:rPr>
                                  <m:t>j−1</m:t>
                                </m:r>
                              </m:sub>
                            </m:sSub>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sSub>
                              <m:e>
                                <m:r>
                                  <a:rPr lang="vi-VN" sz="2000" b="0">
                                    <a:solidFill>
                                      <a:srgbClr val="1E293B"/>
                                    </a:solidFill>
                                    <a:latin typeface="Cambria Math" panose="02040503050406030204" pitchFamily="18" charset="0"/>
                                  </a:rPr>
                                  <m:t>m</m:t>
                                </m:r>
                              </m:e>
                              <m:sub>
                                <m:r>
                                  <a:rPr lang="vi-VN" sz="2000" b="0">
                                    <a:solidFill>
                                      <a:srgbClr val="1E293B"/>
                                    </a:solidFill>
                                    <a:latin typeface="Cambria Math" panose="02040503050406030204" pitchFamily="18" charset="0"/>
                                  </a:rPr>
                                  <m:t>j</m:t>
                                </m:r>
                              </m:sub>
                            </m:sSub>
                            <m:r>
                              <a:rPr lang="vi-VN" sz="2000" b="0">
                                <a:solidFill>
                                  <a:srgbClr val="1E293B"/>
                                </a:solidFill>
                                <a:latin typeface="Cambria Math" panose="02040503050406030204" pitchFamily="18" charset="0"/>
                              </a:rPr>
                              <m:t>−</m:t>
                            </m:r>
                            <m:sSub>
                              <m:e>
                                <m:r>
                                  <a:rPr lang="vi-VN" sz="2000" b="0">
                                    <a:solidFill>
                                      <a:srgbClr val="1E293B"/>
                                    </a:solidFill>
                                    <a:latin typeface="Cambria Math" panose="02040503050406030204" pitchFamily="18" charset="0"/>
                                  </a:rPr>
                                  <m:t>m</m:t>
                                </m:r>
                              </m:e>
                              <m:sub>
                                <m:r>
                                  <a:rPr lang="vi-VN" sz="2000" b="0">
                                    <a:solidFill>
                                      <a:srgbClr val="1E293B"/>
                                    </a:solidFill>
                                    <a:latin typeface="Cambria Math" panose="02040503050406030204" pitchFamily="18" charset="0"/>
                                  </a:rPr>
                                  <m:t>j+1</m:t>
                                </m:r>
                              </m:sub>
                            </m:sSub>
                          </m:e>
                        </m:d>
                      </m:den>
                    </m:f>
                    <m:r>
                      <a:rPr lang="vi-VN" sz="2000" b="0">
                        <a:solidFill>
                          <a:srgbClr val="1E293B"/>
                        </a:solidFill>
                        <a:latin typeface="Cambria Math" panose="02040503050406030204" pitchFamily="18" charset="0"/>
                      </a:rPr>
                      <m:t>·h</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h</m:t>
                    </m:r>
                  </m:oMath>
                </a14:m>
                <a:r>
                  <a:rPr sz="2000">
                    <a:solidFill>
                      <a:srgbClr val="1E293B"/>
                    </a:solidFill>
                    <a:latin typeface="Calibri"/>
                  </a:rPr>
                  <a:t> là độ dài nhóm (quy ước </a:t>
                </a:r>
                <a14:m>
                  <m:oMath xmlns:m="http://schemas.openxmlformats.org/officeDocument/2006/math">
                    <m:sSub>
                      <m:e>
                        <m:r>
                          <a:rPr lang="vi-VN" sz="2000" b="0">
                            <a:solidFill>
                              <a:srgbClr val="1E293B"/>
                            </a:solidFill>
                            <a:latin typeface="Cambria Math" panose="02040503050406030204" pitchFamily="18" charset="0"/>
                          </a:rPr>
                          <m:t>m</m:t>
                        </m:r>
                      </m:e>
                      <m:sub>
                        <m:r>
                          <a:rPr lang="vi-VN" sz="2000" b="0">
                            <a:solidFill>
                              <a:srgbClr val="1E293B"/>
                            </a:solidFill>
                            <a:latin typeface="Cambria Math" panose="02040503050406030204" pitchFamily="18" charset="0"/>
                          </a:rPr>
                          <m:t>0</m:t>
                        </m:r>
                      </m:sub>
                    </m:sSub>
                    <m:r>
                      <a:rPr lang="vi-VN" sz="2000" b="0">
                        <a:solidFill>
                          <a:srgbClr val="1E293B"/>
                        </a:solidFill>
                        <a:latin typeface="Cambria Math" panose="02040503050406030204" pitchFamily="18" charset="0"/>
                      </a:rPr>
                      <m:t>=</m:t>
                    </m:r>
                    <m:sSub>
                      <m:e>
                        <m:r>
                          <a:rPr lang="vi-VN" sz="2000" b="0">
                            <a:solidFill>
                              <a:srgbClr val="1E293B"/>
                            </a:solidFill>
                            <a:latin typeface="Cambria Math" panose="02040503050406030204" pitchFamily="18" charset="0"/>
                          </a:rPr>
                          <m:t>m</m:t>
                        </m:r>
                      </m:e>
                      <m:sub>
                        <m:r>
                          <a:rPr lang="vi-VN" sz="2000" b="0">
                            <a:solidFill>
                              <a:srgbClr val="1E293B"/>
                            </a:solidFill>
                            <a:latin typeface="Cambria Math" panose="02040503050406030204" pitchFamily="18" charset="0"/>
                          </a:rPr>
                          <m:t>k+1</m:t>
                        </m:r>
                      </m:sub>
                    </m:sSub>
                    <m:r>
                      <a:rPr lang="vi-VN" sz="2000" b="0">
                        <a:solidFill>
                          <a:srgbClr val="1E293B"/>
                        </a:solidFill>
                        <a:latin typeface="Cambria Math" panose="02040503050406030204" pitchFamily="18" charset="0"/>
                      </a:rPr>
                      <m:t>=0</m:t>
                    </m:r>
                  </m:oMath>
                </a14:m>
                <a:r>
                  <a:rPr sz="2000">
                    <a:solidFill>
                      <a:srgbClr val="1E293B"/>
                    </a:solidFill>
                    <a:latin typeface="Calibri"/>
                  </a:rPr>
                  <a:t>).</a:t>
                </a:r>
              </a:p>
              <a:p>
                <a:pPr algn="l">
                  <a:spcAft>
                    <a:spcPts val="800"/>
                  </a:spcAft>
                </a:pPr>
                <a:r>
                  <a:rPr sz="2000" b="1">
                    <a:solidFill>
                      <a:srgbClr val="64748B"/>
                    </a:solidFill>
                    <a:latin typeface="Calibri"/>
                  </a:rPr>
                  <a:t>Lưu ý.</a:t>
                </a:r>
                <a:r>
                  <a:rPr sz="2000">
                    <a:solidFill>
                      <a:srgbClr val="64748B"/>
                    </a:solidFill>
                    <a:latin typeface="Calibri"/>
                  </a:rPr>
                  <a:t> Chỉ định nghĩa mốt cho mẫu có các nhóm cùng độ dài; mẫu có thể không có mốt hoặc có nhiều hơn một mốt.</a:t>
                </a:r>
              </a:p>
            </p:txBody>
          </p:sp>
        </mc:Choice>
        <mc:Fallback>
          <p:sp>
            <p:nvSpPr>
              <p:cNvPr id="11" name="TextBox 10"/>
              <p:cNvSpPr txBox="1"/>
              <p:nvPr/>
            </p:nvSpPr>
            <p:spPr>
              <a:xfrm>
                <a:off x="713232" y="3727704"/>
                <a:ext cx="10735056" cy="2359152"/>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Bước 1.</a:t>
                </a:r>
                <a:r>
                  <a:rPr sz="2000">
                    <a:solidFill>
                      <a:srgbClr val="1E293B"/>
                    </a:solidFill>
                    <a:latin typeface="Calibri"/>
                  </a:rPr>
                  <a:t> Xác định nhóm có tần số lớn nhất (nhóm chứa mốt), giả sử là nhóm </a:t>
                </a:r>
                <a:r>
                  <a:rPr lang="vi-VN"/>
                  <a:t>j</a:t>
                </a:r>
                <a:r>
                  <a:rPr sz="2000">
                    <a:solidFill>
                      <a:srgbClr val="1E293B"/>
                    </a:solidFill>
                    <a:latin typeface="Calibri"/>
                  </a:rPr>
                  <a:t>: </a:t>
                </a:r>
                <a:r>
                  <a:rPr lang="vi-VN"/>
                  <a:t>[a_j;\ a_{j+1})</a:t>
                </a:r>
                <a:r>
                  <a:rPr sz="2000">
                    <a:solidFill>
                      <a:srgbClr val="1E293B"/>
                    </a:solidFill>
                    <a:latin typeface="Calibri"/>
                  </a:rPr>
                  <a:t>.</a:t>
                </a:r>
              </a:p>
              <a:p>
                <a:pPr algn="l">
                  <a:spcAft>
                    <a:spcPts val="800"/>
                  </a:spcAft>
                </a:pPr>
                <a:r>
                  <a:rPr sz="2000" b="1">
                    <a:solidFill>
                      <a:srgbClr val="1E293B"/>
                    </a:solidFill>
                    <a:latin typeface="Calibri"/>
                  </a:rPr>
                  <a:t>Bước 2.</a:t>
                </a:r>
                <a:r>
                  <a:rPr sz="2000">
                    <a:solidFill>
                      <a:srgbClr val="1E293B"/>
                    </a:solidFill>
                    <a:latin typeface="Calibri"/>
                  </a:rPr>
                  <a:t> </a:t>
                </a:r>
                <a:r>
                  <a:rPr lang="vi-VN"/>
                  <a:t>M_o=a_j+\frac{m_j-m_{j-1}}{(m_j-m_{j-1})+(m_j-m_{j+1})}\cdot h</a:t>
                </a:r>
                <a:r>
                  <a:rPr sz="2000">
                    <a:solidFill>
                      <a:srgbClr val="1E293B"/>
                    </a:solidFill>
                    <a:latin typeface="Calibri"/>
                  </a:rPr>
                  <a:t>, </a:t>
                </a:r>
                <a:r>
                  <a:rPr lang="vi-VN"/>
                  <a:t>h</a:t>
                </a:r>
                <a:r>
                  <a:rPr sz="2000">
                    <a:solidFill>
                      <a:srgbClr val="1E293B"/>
                    </a:solidFill>
                    <a:latin typeface="Calibri"/>
                  </a:rPr>
                  <a:t> là độ dài nhóm (quy ước </a:t>
                </a:r>
                <a:r>
                  <a:rPr lang="vi-VN"/>
                  <a:t>m_0=m_{k+1}=0</a:t>
                </a:r>
                <a:r>
                  <a:rPr sz="2000">
                    <a:solidFill>
                      <a:srgbClr val="1E293B"/>
                    </a:solidFill>
                    <a:latin typeface="Calibri"/>
                  </a:rPr>
                  <a:t>).</a:t>
                </a:r>
              </a:p>
              <a:p>
                <a:pPr algn="l">
                  <a:spcAft>
                    <a:spcPts val="800"/>
                  </a:spcAft>
                </a:pPr>
                <a:r>
                  <a:rPr sz="2000" b="1">
                    <a:solidFill>
                      <a:srgbClr val="64748B"/>
                    </a:solidFill>
                    <a:latin typeface="Calibri"/>
                  </a:rPr>
                  <a:t>Lưu ý.</a:t>
                </a:r>
                <a:r>
                  <a:rPr sz="2000">
                    <a:solidFill>
                      <a:srgbClr val="64748B"/>
                    </a:solidFill>
                    <a:latin typeface="Calibri"/>
                  </a:rPr>
                  <a:t> Chỉ định nghĩa mốt cho mẫu có các nhóm cùng độ dài; mẫu có thể không có mốt hoặc có nhiều hơn một mốt.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4 – LUYỆN TẬP 4 (SGK TR.66)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16</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4.</a:t>
                </a:r>
                <a:r>
                  <a:rPr sz="2100">
                    <a:solidFill>
                      <a:srgbClr val="1E293B"/>
                    </a:solidFill>
                    <a:latin typeface="Calibri"/>
                  </a:rPr>
                  <a:t> Chiều cao (cm) của 50 học sinh lớp 11A: </a:t>
                </a:r>
                <a14:m>
                  <m:oMath xmlns:m="http://schemas.openxmlformats.org/officeDocument/2006/math">
                    <m:r>
                      <a:rPr lang="vi-VN" sz="2100" b="0">
                        <a:solidFill>
                          <a:srgbClr val="1E293B"/>
                        </a:solidFill>
                        <a:latin typeface="Cambria Math" panose="02040503050406030204" pitchFamily="18" charset="0"/>
                      </a:rPr>
                      <m:t>[145;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150)</m:t>
                    </m:r>
                  </m:oMath>
                </a14:m>
                <a:r>
                  <a:rPr sz="2100">
                    <a:solidFill>
                      <a:srgbClr val="1E293B"/>
                    </a:solidFill>
                    <a:latin typeface="Calibri"/>
                  </a:rPr>
                  <a:t>: 7; </a:t>
                </a:r>
                <a14:m>
                  <m:oMath xmlns:m="http://schemas.openxmlformats.org/officeDocument/2006/math">
                    <m:r>
                      <a:rPr lang="vi-VN" sz="2100" b="0">
                        <a:solidFill>
                          <a:srgbClr val="1E293B"/>
                        </a:solidFill>
                        <a:latin typeface="Cambria Math" panose="02040503050406030204" pitchFamily="18" charset="0"/>
                      </a:rPr>
                      <m:t>[150;</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155)</m:t>
                    </m:r>
                  </m:oMath>
                </a14:m>
                <a:r>
                  <a:rPr sz="2100">
                    <a:solidFill>
                      <a:srgbClr val="1E293B"/>
                    </a:solidFill>
                    <a:latin typeface="Calibri"/>
                  </a:rPr>
                  <a:t>: 14; </a:t>
                </a:r>
                <a14:m>
                  <m:oMath xmlns:m="http://schemas.openxmlformats.org/officeDocument/2006/math">
                    <m:r>
                      <a:rPr lang="vi-VN" sz="2100" b="0">
                        <a:solidFill>
                          <a:srgbClr val="1E293B"/>
                        </a:solidFill>
                        <a:latin typeface="Cambria Math" panose="02040503050406030204" pitchFamily="18" charset="0"/>
                      </a:rPr>
                      <m:t>[155;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160)</m:t>
                    </m:r>
                  </m:oMath>
                </a14:m>
                <a:r>
                  <a:rPr sz="2100">
                    <a:solidFill>
                      <a:srgbClr val="1E293B"/>
                    </a:solidFill>
                    <a:latin typeface="Calibri"/>
                  </a:rPr>
                  <a:t>: 10; </a:t>
                </a:r>
                <a14:m>
                  <m:oMath xmlns:m="http://schemas.openxmlformats.org/officeDocument/2006/math">
                    <m:r>
                      <a:rPr lang="vi-VN" sz="2100" b="0">
                        <a:solidFill>
                          <a:srgbClr val="1E293B"/>
                        </a:solidFill>
                        <a:latin typeface="Cambria Math" panose="02040503050406030204" pitchFamily="18" charset="0"/>
                      </a:rPr>
                      <m:t>[160;</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165)</m:t>
                    </m:r>
                  </m:oMath>
                </a14:m>
                <a:r>
                  <a:rPr sz="2100">
                    <a:solidFill>
                      <a:srgbClr val="1E293B"/>
                    </a:solidFill>
                    <a:latin typeface="Calibri"/>
                  </a:rPr>
                  <a:t>: 10; </a:t>
                </a:r>
                <a14:m>
                  <m:oMath xmlns:m="http://schemas.openxmlformats.org/officeDocument/2006/math">
                    <m:r>
                      <a:rPr lang="vi-VN" sz="2100" b="0">
                        <a:solidFill>
                          <a:srgbClr val="1E293B"/>
                        </a:solidFill>
                        <a:latin typeface="Cambria Math" panose="02040503050406030204" pitchFamily="18" charset="0"/>
                      </a:rPr>
                      <m:t>[165;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170)</m:t>
                    </m:r>
                  </m:oMath>
                </a14:m>
                <a:r>
                  <a:rPr sz="2100">
                    <a:solidFill>
                      <a:srgbClr val="1E293B"/>
                    </a:solidFill>
                    <a:latin typeface="Calibri"/>
                  </a:rPr>
                  <a:t>: 9. Tính mốt; kết luận gì?</a:t>
                </a:r>
              </a:p>
            </p:txBody>
          </p:sp>
        </mc:Choice>
        <mc:Fallback>
          <p:sp>
            <p:nvSpPr>
              <p:cNvPr id="7" name="TextBox 6"/>
              <p:cNvSpPr txBox="1"/>
              <p:nvPr/>
            </p:nvSpPr>
            <p:spPr>
              <a:xfrm>
                <a:off x="548640" y="146304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4.</a:t>
                </a:r>
                <a:r>
                  <a:rPr sz="2100">
                    <a:solidFill>
                      <a:srgbClr val="1E293B"/>
                    </a:solidFill>
                    <a:latin typeface="Calibri"/>
                  </a:rPr>
                  <a:t> Chiều cao (cm) của 50 học sinh lớp 11A: </a:t>
                </a:r>
                <a:r>
                  <a:rPr lang="vi-VN"/>
                  <a:t>[145;\ 150)</a:t>
                </a:r>
                <a:r>
                  <a:rPr sz="2100">
                    <a:solidFill>
                      <a:srgbClr val="1E293B"/>
                    </a:solidFill>
                    <a:latin typeface="Calibri"/>
                  </a:rPr>
                  <a:t>: 7; </a:t>
                </a:r>
                <a:r>
                  <a:rPr lang="vi-VN"/>
                  <a:t>[150;\ 155)</a:t>
                </a:r>
                <a:r>
                  <a:rPr sz="2100">
                    <a:solidFill>
                      <a:srgbClr val="1E293B"/>
                    </a:solidFill>
                    <a:latin typeface="Calibri"/>
                  </a:rPr>
                  <a:t>: 14; </a:t>
                </a:r>
                <a:r>
                  <a:rPr lang="vi-VN"/>
                  <a:t>[155;\ 160)</a:t>
                </a:r>
                <a:r>
                  <a:rPr sz="2100">
                    <a:solidFill>
                      <a:srgbClr val="1E293B"/>
                    </a:solidFill>
                    <a:latin typeface="Calibri"/>
                  </a:rPr>
                  <a:t>: 10; </a:t>
                </a:r>
                <a:r>
                  <a:rPr lang="vi-VN"/>
                  <a:t>[160;\ 165)</a:t>
                </a:r>
                <a:r>
                  <a:rPr sz="2100">
                    <a:solidFill>
                      <a:srgbClr val="1E293B"/>
                    </a:solidFill>
                    <a:latin typeface="Calibri"/>
                  </a:rPr>
                  <a:t>: 10; </a:t>
                </a:r>
                <a:r>
                  <a:rPr lang="vi-VN"/>
                  <a:t>[165;\ 170)</a:t>
                </a:r>
                <a:r>
                  <a:rPr sz="2100">
                    <a:solidFill>
                      <a:srgbClr val="1E293B"/>
                    </a:solidFill>
                    <a:latin typeface="Calibri"/>
                  </a:rPr>
                  <a:t>: 9. Tính mốt; kết luận gì?</a:t>
                </a:r>
              </a:p>
            </p:txBody>
          </p:sp>
        </mc:Fallback>
      </mc:AlternateContent>
      <p:sp>
        <p:nvSpPr>
          <p:cNvPr id="8" name="s1_nen"/>
          <p:cNvSpPr/>
          <p:nvPr/>
        </p:nvSpPr>
        <p:spPr>
          <a:xfrm>
            <a:off x="548640" y="2414015"/>
            <a:ext cx="11064240" cy="104927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50591"/>
                <a:ext cx="1073505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Nhóm chứa mốt </a:t>
                </a:r>
                <a14:m>
                  <m:oMath xmlns:m="http://schemas.openxmlformats.org/officeDocument/2006/math">
                    <m:r>
                      <a:rPr lang="vi-VN" sz="2100" b="0">
                        <a:solidFill>
                          <a:srgbClr val="1E293B"/>
                        </a:solidFill>
                        <a:latin typeface="Cambria Math" panose="02040503050406030204" pitchFamily="18" charset="0"/>
                      </a:rPr>
                      <m:t>[150;</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155)</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o</m:t>
                        </m:r>
                      </m:sub>
                    </m:sSub>
                    <m:r>
                      <a:rPr lang="vi-VN" sz="2100" b="0">
                        <a:solidFill>
                          <a:srgbClr val="1E293B"/>
                        </a:solidFill>
                        <a:latin typeface="Cambria Math" panose="02040503050406030204" pitchFamily="18" charset="0"/>
                      </a:rPr>
                      <m:t>=150+</m:t>
                    </m:r>
                    <m:f>
                      <m:fPr>
                        <m:type m:val="bar"/>
                      </m:fPr>
                      <m:num>
                        <m:r>
                          <a:rPr lang="vi-VN" sz="2100" b="0">
                            <a:solidFill>
                              <a:srgbClr val="1E293B"/>
                            </a:solidFill>
                            <a:latin typeface="Cambria Math" panose="02040503050406030204" pitchFamily="18" charset="0"/>
                          </a:rPr>
                          <m:t>14−7</m:t>
                        </m:r>
                      </m:num>
                      <m:den>
                        <m:d>
                          <m:dPr>
                            <m:sepChr m:val=""/>
                          </m:dPr>
                          <m:e>
                            <m:r>
                              <a:rPr lang="vi-VN" sz="2100" b="0">
                                <a:solidFill>
                                  <a:srgbClr val="1E293B"/>
                                </a:solidFill>
                                <a:latin typeface="Cambria Math" panose="02040503050406030204" pitchFamily="18" charset="0"/>
                              </a:rPr>
                              <m:t>14</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14</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10</m:t>
                            </m:r>
                          </m:e>
                        </m:d>
                      </m:den>
                    </m:f>
                    <m:r>
                      <a:rPr lang="vi-VN" sz="2100" b="0">
                        <a:solidFill>
                          <a:srgbClr val="1E293B"/>
                        </a:solidFill>
                        <a:latin typeface="Cambria Math" panose="02040503050406030204" pitchFamily="18" charset="0"/>
                      </a:rPr>
                      <m:t>·5≈153</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18</m:t>
                    </m:r>
                  </m:oMath>
                </a14:m>
                <a:r>
                  <a:rPr sz="2100">
                    <a:solidFill>
                      <a:srgbClr val="1E293B"/>
                    </a:solidFill>
                    <a:latin typeface="Calibri"/>
                  </a:rPr>
                  <a:t> – học sinh cao khoảng 153,18 cm là nhiều nhất.</a:t>
                </a:r>
              </a:p>
            </p:txBody>
          </p:sp>
        </mc:Choice>
        <mc:Fallback>
          <p:sp>
            <p:nvSpPr>
              <p:cNvPr id="9" name="TextBox 8"/>
              <p:cNvSpPr txBox="1"/>
              <p:nvPr/>
            </p:nvSpPr>
            <p:spPr>
              <a:xfrm>
                <a:off x="713232" y="2450591"/>
                <a:ext cx="1073505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Nhóm chứa mốt </a:t>
                </a:r>
                <a:r>
                  <a:rPr lang="vi-VN"/>
                  <a:t>[150;\ 155)</a:t>
                </a:r>
                <a:r>
                  <a:rPr sz="2100">
                    <a:solidFill>
                      <a:srgbClr val="1E293B"/>
                    </a:solidFill>
                    <a:latin typeface="Calibri"/>
                  </a:rPr>
                  <a:t>: </a:t>
                </a:r>
                <a:r>
                  <a:rPr lang="vi-VN"/>
                  <a:t>M_o=150+\frac{14-7}{(14-7)+(14-10)}\cdot 5\approx 153{,}18</a:t>
                </a:r>
                <a:r>
                  <a:rPr sz="2100">
                    <a:solidFill>
                      <a:srgbClr val="1E293B"/>
                    </a:solidFill>
                    <a:latin typeface="Calibri"/>
                  </a:rPr>
                  <a:t> – học sinh cao khoảng 153,18 cm là nhiều nhất.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600449"/>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4.</a:t>
                </a:r>
                <a:r>
                  <a:rPr sz="2100">
                    <a:solidFill>
                      <a:srgbClr val="1E293B"/>
                    </a:solidFill>
                    <a:latin typeface="Calibri"/>
                  </a:rPr>
                  <a:t> Thời gian (phút) hoàn thành câu hỏi: </a:t>
                </a:r>
                <a14:m>
                  <m:oMath xmlns:m="http://schemas.openxmlformats.org/officeDocument/2006/math">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2; </a:t>
                </a:r>
                <a14:m>
                  <m:oMath xmlns:m="http://schemas.openxmlformats.org/officeDocument/2006/math">
                    <m:r>
                      <a:rPr lang="vi-VN" sz="2100" b="0">
                        <a:solidFill>
                          <a:srgbClr val="1E293B"/>
                        </a:solidFill>
                        <a:latin typeface="Cambria Math" panose="02040503050406030204" pitchFamily="18" charset="0"/>
                      </a:rPr>
                      <m:t>[10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10; </a:t>
                </a:r>
                <a14:m>
                  <m:oMath xmlns:m="http://schemas.openxmlformats.org/officeDocument/2006/math">
                    <m:r>
                      <a:rPr lang="vi-VN" sz="2100" b="0">
                        <a:solidFill>
                          <a:srgbClr val="1E293B"/>
                        </a:solidFill>
                        <a:latin typeface="Cambria Math" panose="02040503050406030204" pitchFamily="18" charset="0"/>
                      </a:rPr>
                      <m:t>[20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30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6; </a:t>
                </a:r>
                <a14:m>
                  <m:oMath xmlns:m="http://schemas.openxmlformats.org/officeDocument/2006/math">
                    <m:r>
                      <a:rPr lang="vi-VN" sz="2100" b="0">
                        <a:solidFill>
                          <a:srgbClr val="1E293B"/>
                        </a:solidFill>
                        <a:latin typeface="Cambria Math" panose="02040503050406030204" pitchFamily="18" charset="0"/>
                      </a:rPr>
                      <m:t>[30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40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4; </a:t>
                </a:r>
                <a14:m>
                  <m:oMath xmlns:m="http://schemas.openxmlformats.org/officeDocument/2006/math">
                    <m:r>
                      <a:rPr lang="vi-VN" sz="2100" b="0">
                        <a:solidFill>
                          <a:srgbClr val="1E293B"/>
                        </a:solidFill>
                        <a:latin typeface="Cambria Math" panose="02040503050406030204" pitchFamily="18" charset="0"/>
                      </a:rPr>
                      <m:t>[40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50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3. Tìm mốt.</a:t>
                </a:r>
              </a:p>
            </p:txBody>
          </p:sp>
        </mc:Choice>
        <mc:Fallback>
          <p:sp>
            <p:nvSpPr>
              <p:cNvPr id="10" name="TextBox 9"/>
              <p:cNvSpPr txBox="1"/>
              <p:nvPr/>
            </p:nvSpPr>
            <p:spPr>
              <a:xfrm>
                <a:off x="548640" y="3600449"/>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4.</a:t>
                </a:r>
                <a:r>
                  <a:rPr sz="2100">
                    <a:solidFill>
                      <a:srgbClr val="1E293B"/>
                    </a:solidFill>
                    <a:latin typeface="Calibri"/>
                  </a:rPr>
                  <a:t> Thời gian (phút) hoàn thành câu hỏi: </a:t>
                </a:r>
                <a:r>
                  <a:rPr lang="vi-VN"/>
                  <a:t>[0{,}5;\ 10{,}5)</a:t>
                </a:r>
                <a:r>
                  <a:rPr sz="2100">
                    <a:solidFill>
                      <a:srgbClr val="1E293B"/>
                    </a:solidFill>
                    <a:latin typeface="Calibri"/>
                  </a:rPr>
                  <a:t>: 2; </a:t>
                </a:r>
                <a:r>
                  <a:rPr lang="vi-VN"/>
                  <a:t>[10{,}5;\ 20{,}5)</a:t>
                </a:r>
                <a:r>
                  <a:rPr sz="2100">
                    <a:solidFill>
                      <a:srgbClr val="1E293B"/>
                    </a:solidFill>
                    <a:latin typeface="Calibri"/>
                  </a:rPr>
                  <a:t>: 10; </a:t>
                </a:r>
                <a:r>
                  <a:rPr lang="vi-VN"/>
                  <a:t>[20{,}5;\ 30{,}5)</a:t>
                </a:r>
                <a:r>
                  <a:rPr sz="2100">
                    <a:solidFill>
                      <a:srgbClr val="1E293B"/>
                    </a:solidFill>
                    <a:latin typeface="Calibri"/>
                  </a:rPr>
                  <a:t>: 6; </a:t>
                </a:r>
                <a:r>
                  <a:rPr lang="vi-VN"/>
                  <a:t>[30{,}5;\ 40{,}5)</a:t>
                </a:r>
                <a:r>
                  <a:rPr sz="2100">
                    <a:solidFill>
                      <a:srgbClr val="1E293B"/>
                    </a:solidFill>
                    <a:latin typeface="Calibri"/>
                  </a:rPr>
                  <a:t>: 4; </a:t>
                </a:r>
                <a:r>
                  <a:rPr lang="vi-VN"/>
                  <a:t>[40{,}5;\ 50{,}5)</a:t>
                </a:r>
                <a:r>
                  <a:rPr sz="2100">
                    <a:solidFill>
                      <a:srgbClr val="1E293B"/>
                    </a:solidFill>
                    <a:latin typeface="Calibri"/>
                  </a:rPr>
                  <a:t>: 3. Tìm mốt.</a:t>
                </a:r>
              </a:p>
            </p:txBody>
          </p:sp>
        </mc:Fallback>
      </mc:AlternateContent>
      <p:sp>
        <p:nvSpPr>
          <p:cNvPr id="11" name="s3_nen"/>
          <p:cNvSpPr/>
          <p:nvPr/>
        </p:nvSpPr>
        <p:spPr>
          <a:xfrm>
            <a:off x="548640" y="4551425"/>
            <a:ext cx="11064240" cy="72923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588001"/>
                <a:ext cx="1073505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Nhóm </a:t>
                </a:r>
                <a14:m>
                  <m:oMath xmlns:m="http://schemas.openxmlformats.org/officeDocument/2006/math">
                    <m:r>
                      <a:rPr lang="vi-VN" sz="2100" b="0">
                        <a:solidFill>
                          <a:srgbClr val="1E293B"/>
                        </a:solidFill>
                        <a:latin typeface="Cambria Math" panose="02040503050406030204" pitchFamily="18" charset="0"/>
                      </a:rPr>
                      <m:t>[10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o</m:t>
                        </m:r>
                      </m:sub>
                    </m:sSub>
                    <m:r>
                      <a:rPr lang="vi-VN" sz="2100" b="0">
                        <a:solidFill>
                          <a:srgbClr val="1E293B"/>
                        </a:solidFill>
                        <a:latin typeface="Cambria Math" panose="02040503050406030204" pitchFamily="18" charset="0"/>
                      </a:rPr>
                      <m:t>=10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f>
                      <m:fPr>
                        <m:type m:val="bar"/>
                      </m:fPr>
                      <m:num>
                        <m:r>
                          <a:rPr lang="vi-VN" sz="2100" b="0">
                            <a:solidFill>
                              <a:srgbClr val="1E293B"/>
                            </a:solidFill>
                            <a:latin typeface="Cambria Math" panose="02040503050406030204" pitchFamily="18" charset="0"/>
                          </a:rPr>
                          <m:t>10−2</m:t>
                        </m:r>
                      </m:num>
                      <m:den>
                        <m:d>
                          <m:dPr>
                            <m:sepChr m:val=""/>
                          </m:dPr>
                          <m:e>
                            <m:r>
                              <a:rPr lang="vi-VN" sz="2100" b="0">
                                <a:solidFill>
                                  <a:srgbClr val="1E293B"/>
                                </a:solidFill>
                                <a:latin typeface="Cambria Math" panose="02040503050406030204" pitchFamily="18" charset="0"/>
                              </a:rPr>
                              <m:t>10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6</m:t>
                            </m:r>
                          </m:e>
                        </m:d>
                      </m:den>
                    </m:f>
                    <m:r>
                      <a:rPr lang="vi-VN" sz="2100" b="0">
                        <a:solidFill>
                          <a:srgbClr val="1E293B"/>
                        </a:solidFill>
                        <a:latin typeface="Cambria Math" panose="02040503050406030204" pitchFamily="18" charset="0"/>
                      </a:rPr>
                      <m:t>·10≈17</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17</m:t>
                    </m:r>
                  </m:oMath>
                </a14:m>
                <a:r>
                  <a:rPr sz="2100">
                    <a:solidFill>
                      <a:srgbClr val="1E293B"/>
                    </a:solidFill>
                    <a:latin typeface="Calibri"/>
                  </a:rPr>
                  <a:t> (phút).</a:t>
                </a:r>
              </a:p>
            </p:txBody>
          </p:sp>
        </mc:Choice>
        <mc:Fallback>
          <p:sp>
            <p:nvSpPr>
              <p:cNvPr id="12" name="TextBox 11"/>
              <p:cNvSpPr txBox="1"/>
              <p:nvPr/>
            </p:nvSpPr>
            <p:spPr>
              <a:xfrm>
                <a:off x="713232" y="4588001"/>
                <a:ext cx="1073505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Nhóm </a:t>
                </a:r>
                <a:r>
                  <a:rPr lang="vi-VN"/>
                  <a:t>[10{,}5;\ 20{,}5)</a:t>
                </a:r>
                <a:r>
                  <a:rPr sz="2100">
                    <a:solidFill>
                      <a:srgbClr val="1E293B"/>
                    </a:solidFill>
                    <a:latin typeface="Calibri"/>
                  </a:rPr>
                  <a:t>: </a:t>
                </a:r>
                <a:r>
                  <a:rPr lang="vi-VN"/>
                  <a:t>M_o=10{,}5+\frac{10-2}{(10-2)+(10-6)}\cdot 10\approx 17{,}17</a:t>
                </a:r>
                <a:r>
                  <a:rPr sz="2100">
                    <a:solidFill>
                      <a:srgbClr val="1E293B"/>
                    </a:solidFill>
                    <a:latin typeface="Calibri"/>
                  </a:rPr>
                  <a:t> (phút).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 GIẢI TÌNH HUỐNG MỞ ĐẦU (SGK TR.66)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17</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Vận dụng.</a:t>
            </a:r>
            <a:r>
              <a:rPr sz="2000">
                <a:solidFill>
                  <a:srgbClr val="1E293B"/>
                </a:solidFill>
                <a:latin typeface="Calibri"/>
              </a:rPr>
              <a:t> Tính các số đặc trưng cho mẫu số liệu Bảng 3.1 và giải thích ý nghĩa.</a:t>
            </a:r>
          </a:p>
        </p:txBody>
      </p:sp>
      <p:sp>
        <p:nvSpPr>
          <p:cNvPr id="8" name="Rounded Rectangle 7"/>
          <p:cNvSpPr/>
          <p:nvPr/>
        </p:nvSpPr>
        <p:spPr>
          <a:xfrm>
            <a:off x="1463040" y="1828800"/>
            <a:ext cx="1801368"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27632" y="1865376"/>
            <a:ext cx="1472184"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Số tiền (nghìn đồng)</a:t>
            </a:r>
          </a:p>
        </p:txBody>
      </p:sp>
      <p:sp>
        <p:nvSpPr>
          <p:cNvPr id="10" name="Rounded Rectangle 9"/>
          <p:cNvSpPr/>
          <p:nvPr/>
        </p:nvSpPr>
        <p:spPr>
          <a:xfrm>
            <a:off x="3310128" y="1828800"/>
            <a:ext cx="1801368"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1865376"/>
            <a:ext cx="1472184"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[0; 30)</a:t>
            </a:r>
          </a:p>
        </p:txBody>
      </p:sp>
      <p:sp>
        <p:nvSpPr>
          <p:cNvPr id="12" name="Rounded Rectangle 11"/>
          <p:cNvSpPr/>
          <p:nvPr/>
        </p:nvSpPr>
        <p:spPr>
          <a:xfrm>
            <a:off x="5157216" y="1828800"/>
            <a:ext cx="1801368"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1808" y="1865376"/>
            <a:ext cx="1472184"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[30; 60)</a:t>
            </a:r>
          </a:p>
        </p:txBody>
      </p:sp>
      <p:sp>
        <p:nvSpPr>
          <p:cNvPr id="14" name="Rounded Rectangle 13"/>
          <p:cNvSpPr/>
          <p:nvPr/>
        </p:nvSpPr>
        <p:spPr>
          <a:xfrm>
            <a:off x="7004304" y="1828800"/>
            <a:ext cx="1801368"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8896" y="1865376"/>
            <a:ext cx="1472184"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[60; 90)</a:t>
            </a:r>
          </a:p>
        </p:txBody>
      </p:sp>
      <p:sp>
        <p:nvSpPr>
          <p:cNvPr id="16" name="Rounded Rectangle 15"/>
          <p:cNvSpPr/>
          <p:nvPr/>
        </p:nvSpPr>
        <p:spPr>
          <a:xfrm>
            <a:off x="8851392" y="1828800"/>
            <a:ext cx="1801368"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15984" y="1865376"/>
            <a:ext cx="1472184"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[90; 120)</a:t>
            </a:r>
          </a:p>
        </p:txBody>
      </p:sp>
      <p:sp>
        <p:nvSpPr>
          <p:cNvPr id="18" name="Rounded Rectangle 17"/>
          <p:cNvSpPr/>
          <p:nvPr/>
        </p:nvSpPr>
        <p:spPr>
          <a:xfrm>
            <a:off x="1463040" y="2313432"/>
            <a:ext cx="1801368" cy="4389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27632" y="2350008"/>
            <a:ext cx="1472184"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Số khách hàng</a:t>
            </a:r>
          </a:p>
        </p:txBody>
      </p:sp>
      <p:sp>
        <p:nvSpPr>
          <p:cNvPr id="20" name="Rounded Rectangle 19"/>
          <p:cNvSpPr/>
          <p:nvPr/>
        </p:nvSpPr>
        <p:spPr>
          <a:xfrm>
            <a:off x="3310128" y="2313432"/>
            <a:ext cx="1801368"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0" y="2350008"/>
            <a:ext cx="1472184"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3</a:t>
            </a:r>
          </a:p>
        </p:txBody>
      </p:sp>
      <p:sp>
        <p:nvSpPr>
          <p:cNvPr id="22" name="Rounded Rectangle 21"/>
          <p:cNvSpPr/>
          <p:nvPr/>
        </p:nvSpPr>
        <p:spPr>
          <a:xfrm>
            <a:off x="5157216" y="2313432"/>
            <a:ext cx="1801368"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21808" y="2350008"/>
            <a:ext cx="1472184"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15</a:t>
            </a:r>
          </a:p>
        </p:txBody>
      </p:sp>
      <p:sp>
        <p:nvSpPr>
          <p:cNvPr id="24" name="Rounded Rectangle 23"/>
          <p:cNvSpPr/>
          <p:nvPr/>
        </p:nvSpPr>
        <p:spPr>
          <a:xfrm>
            <a:off x="7004304" y="2313432"/>
            <a:ext cx="1801368"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8896" y="2350008"/>
            <a:ext cx="1472184"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10</a:t>
            </a:r>
          </a:p>
        </p:txBody>
      </p:sp>
      <p:sp>
        <p:nvSpPr>
          <p:cNvPr id="26" name="Rounded Rectangle 25"/>
          <p:cNvSpPr/>
          <p:nvPr/>
        </p:nvSpPr>
        <p:spPr>
          <a:xfrm>
            <a:off x="8851392" y="2313432"/>
            <a:ext cx="1801368" cy="43891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15984" y="2350008"/>
            <a:ext cx="1472184" cy="365759"/>
          </a:xfrm>
          <a:prstGeom prst="rect">
            <a:avLst/>
          </a:prstGeom>
          <a:noFill/>
        </p:spPr>
        <p:txBody>
          <a:bodyPr wrap="square" anchor="ctr" lIns="45720" rIns="45720">
            <a:spAutoFit/>
          </a:bodyPr>
          <a:lstStyle/>
          <a:p>
            <a:pPr algn="ctr">
              <a:spcAft>
                <a:spcPts val="800"/>
              </a:spcAft>
            </a:pPr>
            <a:r>
              <a:rPr sz="1700">
                <a:solidFill>
                  <a:srgbClr val="1E293B"/>
                </a:solidFill>
                <a:latin typeface="Calibri"/>
              </a:rPr>
              <a:t>7</a:t>
            </a:r>
          </a:p>
        </p:txBody>
      </p:sp>
      <p:sp>
        <p:nvSpPr>
          <p:cNvPr id="28" name="s1_nen"/>
          <p:cNvSpPr/>
          <p:nvPr/>
        </p:nvSpPr>
        <p:spPr>
          <a:xfrm>
            <a:off x="548640" y="2889504"/>
            <a:ext cx="11064240" cy="97459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9" name="s1_chu"/>
              <p:cNvSpPr txBox="1"/>
              <p:nvPr/>
            </p:nvSpPr>
            <p:spPr>
              <a:xfrm>
                <a:off x="713232" y="2926080"/>
                <a:ext cx="10735056" cy="901446"/>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n=35</m:t>
                    </m:r>
                  </m:oMath>
                </a14:m>
                <a:r>
                  <a:rPr sz="1900">
                    <a:solidFill>
                      <a:srgbClr val="1E293B"/>
                    </a:solidFill>
                    <a:latin typeface="Calibri"/>
                  </a:rPr>
                  <a:t>: </a:t>
                </a:r>
                <a14:m>
                  <m:oMath xmlns:m="http://schemas.openxmlformats.org/officeDocument/2006/math">
                    <m:acc>
                      <m:accPr>
                        <m:chr m:val="―"/>
                      </m:accPr>
                      <m:e>
                        <m:r>
                          <a:rPr lang="vi-VN" sz="1900" b="0">
                            <a:solidFill>
                              <a:srgbClr val="1E293B"/>
                            </a:solidFill>
                            <a:latin typeface="Cambria Math" panose="02040503050406030204" pitchFamily="18" charset="0"/>
                          </a:rPr>
                          <m:t>x</m:t>
                        </m:r>
                      </m:e>
                    </m:acc>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3·15+15·45+10·75+7·105</m:t>
                        </m:r>
                      </m:num>
                      <m:den>
                        <m:r>
                          <a:rPr lang="vi-VN" sz="1900" b="0">
                            <a:solidFill>
                              <a:srgbClr val="1E293B"/>
                            </a:solidFill>
                            <a:latin typeface="Cambria Math" panose="02040503050406030204" pitchFamily="18" charset="0"/>
                          </a:rPr>
                          <m:t>35</m:t>
                        </m:r>
                      </m:den>
                    </m:f>
                    <m:r>
                      <a:rPr lang="vi-VN" sz="1900" b="0">
                        <a:solidFill>
                          <a:srgbClr val="1E293B"/>
                        </a:solidFill>
                        <a:latin typeface="Cambria Math" panose="02040503050406030204" pitchFamily="18" charset="0"/>
                      </a:rPr>
                      <m:t>=63</m:t>
                    </m:r>
                  </m:oMath>
                </a14:m>
                <a:r>
                  <a:rPr sz="1900">
                    <a:solidFill>
                      <a:srgbClr val="1E293B"/>
                    </a:solidFill>
                    <a:latin typeface="Calibri"/>
                  </a:rPr>
                  <a:t> nghìn đồng – trung bình mỗi khách mua khoảng 63 nghìn đồng.</a:t>
                </a:r>
              </a:p>
            </p:txBody>
          </p:sp>
        </mc:Choice>
        <mc:Fallback>
          <p:sp>
            <p:nvSpPr>
              <p:cNvPr id="29" name="TextBox 28"/>
              <p:cNvSpPr txBox="1"/>
              <p:nvPr/>
            </p:nvSpPr>
            <p:spPr>
              <a:xfrm>
                <a:off x="713232" y="2926080"/>
                <a:ext cx="10735056" cy="901446"/>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n=35</a:t>
                </a:r>
                <a:r>
                  <a:rPr sz="1900">
                    <a:solidFill>
                      <a:srgbClr val="1E293B"/>
                    </a:solidFill>
                    <a:latin typeface="Calibri"/>
                  </a:rPr>
                  <a:t>: </a:t>
                </a:r>
                <a:r>
                  <a:rPr lang="vi-VN"/>
                  <a:t>\overline{x}=\frac{3\cdot 15+15\cdot 45+10\cdot 75+7\cdot 105}{35}=63</a:t>
                </a:r>
                <a:r>
                  <a:rPr sz="1900">
                    <a:solidFill>
                      <a:srgbClr val="1E293B"/>
                    </a:solidFill>
                    <a:latin typeface="Calibri"/>
                  </a:rPr>
                  <a:t> nghìn đồng – trung bình mỗi khách mua khoảng 63 nghìn đồng.</a:t>
                </a:r>
              </a:p>
            </p:txBody>
          </p:sp>
        </mc:Fallback>
      </mc:AlternateContent>
      <p:sp>
        <p:nvSpPr>
          <p:cNvPr id="30" name="s2_nen"/>
          <p:cNvSpPr/>
          <p:nvPr/>
        </p:nvSpPr>
        <p:spPr>
          <a:xfrm>
            <a:off x="548640" y="3937254"/>
            <a:ext cx="11064240" cy="152476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1" name="s2_chu"/>
              <p:cNvSpPr txBox="1"/>
              <p:nvPr/>
            </p:nvSpPr>
            <p:spPr>
              <a:xfrm>
                <a:off x="713232" y="3973830"/>
                <a:ext cx="10735056" cy="1451610"/>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M</m:t>
                        </m:r>
                      </m:e>
                      <m:sub>
                        <m:r>
                          <a:rPr lang="vi-VN" sz="1900" b="0">
                            <a:solidFill>
                              <a:srgbClr val="1E293B"/>
                            </a:solidFill>
                            <a:latin typeface="Cambria Math" panose="02040503050406030204" pitchFamily="18" charset="0"/>
                          </a:rPr>
                          <m:t>e</m:t>
                        </m:r>
                      </m:sub>
                    </m:sSub>
                    <m:r>
                      <a:rPr lang="vi-VN" sz="1900" b="0">
                        <a:solidFill>
                          <a:srgbClr val="1E293B"/>
                        </a:solidFill>
                        <a:latin typeface="Cambria Math" panose="02040503050406030204" pitchFamily="18" charset="0"/>
                      </a:rPr>
                      <m:t>=30+</m:t>
                    </m:r>
                    <m:f>
                      <m:fPr>
                        <m:type m:val="bar"/>
                      </m:fPr>
                      <m:num>
                        <m:r>
                          <a:rPr lang="vi-VN" sz="1900" b="0">
                            <a:solidFill>
                              <a:srgbClr val="1E293B"/>
                            </a:solidFill>
                            <a:latin typeface="Cambria Math" panose="02040503050406030204" pitchFamily="18" charset="0"/>
                          </a:rPr>
                          <m:t>17</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5−3</m:t>
                        </m:r>
                      </m:num>
                      <m:den>
                        <m:r>
                          <a:rPr lang="vi-VN" sz="1900" b="0">
                            <a:solidFill>
                              <a:srgbClr val="1E293B"/>
                            </a:solidFill>
                            <a:latin typeface="Cambria Math" panose="02040503050406030204" pitchFamily="18" charset="0"/>
                          </a:rPr>
                          <m:t>15</m:t>
                        </m:r>
                      </m:den>
                    </m:f>
                    <m:r>
                      <a:rPr lang="vi-VN" sz="1900" b="0">
                        <a:solidFill>
                          <a:srgbClr val="1E293B"/>
                        </a:solidFill>
                        <a:latin typeface="Cambria Math" panose="02040503050406030204" pitchFamily="18" charset="0"/>
                      </a:rPr>
                      <m:t>·30=59</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Q</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=30+</m:t>
                    </m:r>
                    <m:f>
                      <m:fPr>
                        <m:type m:val="bar"/>
                      </m:fPr>
                      <m:num>
                        <m:r>
                          <a:rPr lang="vi-VN" sz="1900" b="0">
                            <a:solidFill>
                              <a:srgbClr val="1E293B"/>
                            </a:solidFill>
                            <a:latin typeface="Cambria Math" panose="02040503050406030204" pitchFamily="18" charset="0"/>
                          </a:rPr>
                          <m:t>8</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75−3</m:t>
                        </m:r>
                      </m:num>
                      <m:den>
                        <m:r>
                          <a:rPr lang="vi-VN" sz="1900" b="0">
                            <a:solidFill>
                              <a:srgbClr val="1E293B"/>
                            </a:solidFill>
                            <a:latin typeface="Cambria Math" panose="02040503050406030204" pitchFamily="18" charset="0"/>
                          </a:rPr>
                          <m:t>15</m:t>
                        </m:r>
                      </m:den>
                    </m:f>
                    <m:r>
                      <a:rPr lang="vi-VN" sz="1900" b="0">
                        <a:solidFill>
                          <a:srgbClr val="1E293B"/>
                        </a:solidFill>
                        <a:latin typeface="Cambria Math" panose="02040503050406030204" pitchFamily="18" charset="0"/>
                      </a:rPr>
                      <m:t>·30=41</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Q</m:t>
                        </m:r>
                      </m:e>
                      <m:sub>
                        <m:r>
                          <a:rPr lang="vi-VN" sz="1900" b="0">
                            <a:solidFill>
                              <a:srgbClr val="1E293B"/>
                            </a:solidFill>
                            <a:latin typeface="Cambria Math" panose="02040503050406030204" pitchFamily="18" charset="0"/>
                          </a:rPr>
                          <m:t>3</m:t>
                        </m:r>
                      </m:sub>
                    </m:sSub>
                    <m:r>
                      <a:rPr lang="vi-VN" sz="1900" b="0">
                        <a:solidFill>
                          <a:srgbClr val="1E293B"/>
                        </a:solidFill>
                        <a:latin typeface="Cambria Math" panose="02040503050406030204" pitchFamily="18" charset="0"/>
                      </a:rPr>
                      <m:t>=60+</m:t>
                    </m:r>
                    <m:f>
                      <m:fPr>
                        <m:type m:val="bar"/>
                      </m:fPr>
                      <m:num>
                        <m:r>
                          <a:rPr lang="vi-VN" sz="1900" b="0">
                            <a:solidFill>
                              <a:srgbClr val="1E293B"/>
                            </a:solidFill>
                            <a:latin typeface="Cambria Math" panose="02040503050406030204" pitchFamily="18" charset="0"/>
                          </a:rPr>
                          <m:t>26</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25−18</m:t>
                        </m:r>
                      </m:num>
                      <m:den>
                        <m:r>
                          <a:rPr lang="vi-VN" sz="1900" b="0">
                            <a:solidFill>
                              <a:srgbClr val="1E293B"/>
                            </a:solidFill>
                            <a:latin typeface="Cambria Math" panose="02040503050406030204" pitchFamily="18" charset="0"/>
                          </a:rPr>
                          <m:t>10</m:t>
                        </m:r>
                      </m:den>
                    </m:f>
                    <m:r>
                      <a:rPr lang="vi-VN" sz="1900" b="0">
                        <a:solidFill>
                          <a:srgbClr val="1E293B"/>
                        </a:solidFill>
                        <a:latin typeface="Cambria Math" panose="02040503050406030204" pitchFamily="18" charset="0"/>
                      </a:rPr>
                      <m:t>·30=84</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75</m:t>
                    </m:r>
                  </m:oMath>
                </a14:m>
                <a:r>
                  <a:rPr sz="1900">
                    <a:solidFill>
                      <a:srgbClr val="1E293B"/>
                    </a:solidFill>
                    <a:latin typeface="Calibri"/>
                  </a:rPr>
                  <a:t>: một nửa số khách mua dưới 59 nghìn; 25% mua dưới 41,5 nghìn; 25% mua từ 84,75 nghìn trở lên.</a:t>
                </a:r>
              </a:p>
            </p:txBody>
          </p:sp>
        </mc:Choice>
        <mc:Fallback>
          <p:sp>
            <p:nvSpPr>
              <p:cNvPr id="31" name="TextBox 30"/>
              <p:cNvSpPr txBox="1"/>
              <p:nvPr/>
            </p:nvSpPr>
            <p:spPr>
              <a:xfrm>
                <a:off x="713232" y="3973830"/>
                <a:ext cx="10735056" cy="1451610"/>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M_e=30+\frac{17{,}5-3}{15}\cdot 30=59</a:t>
                </a:r>
                <a:r>
                  <a:rPr sz="1900">
                    <a:solidFill>
                      <a:srgbClr val="1E293B"/>
                    </a:solidFill>
                    <a:latin typeface="Calibri"/>
                  </a:rPr>
                  <a:t>; </a:t>
                </a:r>
                <a:r>
                  <a:rPr lang="vi-VN"/>
                  <a:t>Q_1=30+\frac{8{,}75-3}{15}\cdot 30=41{,}5</a:t>
                </a:r>
                <a:r>
                  <a:rPr sz="1900">
                    <a:solidFill>
                      <a:srgbClr val="1E293B"/>
                    </a:solidFill>
                    <a:latin typeface="Calibri"/>
                  </a:rPr>
                  <a:t>; </a:t>
                </a:r>
                <a:r>
                  <a:rPr lang="vi-VN"/>
                  <a:t>Q_3=60+\frac{26{,}25-18}{10}\cdot 30=84{,}75</a:t>
                </a:r>
                <a:r>
                  <a:rPr sz="1900">
                    <a:solidFill>
                      <a:srgbClr val="1E293B"/>
                    </a:solidFill>
                    <a:latin typeface="Calibri"/>
                  </a:rPr>
                  <a:t>: một nửa số khách mua dưới 59 nghìn; 25% mua dưới 41,5 nghìn; 25% mua từ 84,75 nghìn trở lên.</a:t>
                </a:r>
              </a:p>
            </p:txBody>
          </p:sp>
        </mc:Fallback>
      </mc:AlternateContent>
      <p:sp>
        <p:nvSpPr>
          <p:cNvPr id="32" name="s3_nen"/>
          <p:cNvSpPr/>
          <p:nvPr/>
        </p:nvSpPr>
        <p:spPr>
          <a:xfrm>
            <a:off x="548640" y="5535168"/>
            <a:ext cx="11064240" cy="97459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3" name="s3_chu"/>
              <p:cNvSpPr txBox="1"/>
              <p:nvPr/>
            </p:nvSpPr>
            <p:spPr>
              <a:xfrm>
                <a:off x="713232" y="5571744"/>
                <a:ext cx="10735056" cy="901446"/>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M</m:t>
                        </m:r>
                      </m:e>
                      <m:sub>
                        <m:r>
                          <a:rPr lang="vi-VN" sz="1900" b="0">
                            <a:solidFill>
                              <a:srgbClr val="1E293B"/>
                            </a:solidFill>
                            <a:latin typeface="Cambria Math" panose="02040503050406030204" pitchFamily="18" charset="0"/>
                          </a:rPr>
                          <m:t>o</m:t>
                        </m:r>
                      </m:sub>
                    </m:sSub>
                    <m:r>
                      <a:rPr lang="vi-VN" sz="1900" b="0">
                        <a:solidFill>
                          <a:srgbClr val="1E293B"/>
                        </a:solidFill>
                        <a:latin typeface="Cambria Math" panose="02040503050406030204" pitchFamily="18" charset="0"/>
                      </a:rPr>
                      <m:t>=30+</m:t>
                    </m:r>
                    <m:f>
                      <m:fPr>
                        <m:type m:val="bar"/>
                      </m:fPr>
                      <m:num>
                        <m:r>
                          <a:rPr lang="vi-VN" sz="1900" b="0">
                            <a:solidFill>
                              <a:srgbClr val="1E293B"/>
                            </a:solidFill>
                            <a:latin typeface="Cambria Math" panose="02040503050406030204" pitchFamily="18" charset="0"/>
                          </a:rPr>
                          <m:t>15−3</m:t>
                        </m:r>
                      </m:num>
                      <m:den>
                        <m:d>
                          <m:dPr>
                            <m:sepChr m:val=""/>
                          </m:dPr>
                          <m:e>
                            <m:r>
                              <a:rPr lang="vi-VN" sz="1900" b="0">
                                <a:solidFill>
                                  <a:srgbClr val="1E293B"/>
                                </a:solidFill>
                                <a:latin typeface="Cambria Math" panose="02040503050406030204" pitchFamily="18" charset="0"/>
                              </a:rPr>
                              <m:t>15</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3</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15</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10</m:t>
                            </m:r>
                          </m:e>
                        </m:d>
                      </m:den>
                    </m:f>
                    <m:r>
                      <a:rPr lang="vi-VN" sz="1900" b="0">
                        <a:solidFill>
                          <a:srgbClr val="1E293B"/>
                        </a:solidFill>
                        <a:latin typeface="Cambria Math" panose="02040503050406030204" pitchFamily="18" charset="0"/>
                      </a:rPr>
                      <m:t>·30≈51</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18</m:t>
                    </m:r>
                  </m:oMath>
                </a14:m>
                <a:r>
                  <a:rPr sz="1900">
                    <a:solidFill>
                      <a:srgbClr val="1E293B"/>
                    </a:solidFill>
                    <a:latin typeface="Calibri"/>
                  </a:rPr>
                  <a:t> – số tiền khách hay mua nhất khoảng 51 nghìn đồng.</a:t>
                </a:r>
              </a:p>
            </p:txBody>
          </p:sp>
        </mc:Choice>
        <mc:Fallback>
          <p:sp>
            <p:nvSpPr>
              <p:cNvPr id="33" name="TextBox 32"/>
              <p:cNvSpPr txBox="1"/>
              <p:nvPr/>
            </p:nvSpPr>
            <p:spPr>
              <a:xfrm>
                <a:off x="713232" y="5571744"/>
                <a:ext cx="10735056" cy="901446"/>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M_o=30+\frac{15-3}{(15-3)+(15-10)}\cdot 30\approx 51{,}18</a:t>
                </a:r>
                <a:r>
                  <a:rPr sz="1900">
                    <a:solidFill>
                      <a:srgbClr val="1E293B"/>
                    </a:solidFill>
                    <a:latin typeface="Calibri"/>
                  </a:rPr>
                  <a:t> – số tiền khách hay mua nhất khoảng 51 nghìn đồng.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EM CÓ BIẾT? – TỨ PHÂN VỊ BẰNG GEOGEBRA (SGK TR.68)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18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217920" cy="4572000"/>
              </a:xfrm>
              <a:prstGeom prst="rect">
                <a:avLst/>
              </a:prstGeom>
              <a:noFill/>
            </p:spPr>
            <p:txBody>
              <a:bodyPr wrap="square" anchor="t" lIns="45720" rIns="45720">
                <a:spAutoFit/>
              </a:bodyPr>
              <a:lstStyle/>
              <a:p>
                <a:pPr algn="l">
                  <a:spcAft>
                    <a:spcPts val="800"/>
                  </a:spcAft>
                </a:pPr>
                <a:r>
                  <a:rPr sz="1900">
                    <a:solidFill>
                      <a:srgbClr val="1E293B"/>
                    </a:solidFill>
                    <a:latin typeface="Calibri"/>
                  </a:rPr>
                  <a:t>Bước 1. Lập bảng tần số tích luỹ </a:t>
                </a:r>
                <a14:m>
                  <m:oMath xmlns:m="http://schemas.openxmlformats.org/officeDocument/2006/math">
                    <m:sSub>
                      <m:e>
                        <m:r>
                          <a:rPr lang="vi-VN" sz="1900" b="0">
                            <a:solidFill>
                              <a:srgbClr val="1E293B"/>
                            </a:solidFill>
                            <a:latin typeface="Cambria Math" panose="02040503050406030204" pitchFamily="18" charset="0"/>
                          </a:rPr>
                          <m:t>c</m:t>
                        </m:r>
                      </m:e>
                      <m:sub>
                        <m:r>
                          <a:rPr lang="vi-VN" sz="1900" b="0">
                            <a:solidFill>
                              <a:srgbClr val="1E293B"/>
                            </a:solidFill>
                            <a:latin typeface="Cambria Math" panose="02040503050406030204" pitchFamily="18" charset="0"/>
                          </a:rPr>
                          <m:t>i</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m</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m</m:t>
                        </m:r>
                      </m:e>
                      <m:sub>
                        <m:r>
                          <a:rPr lang="vi-VN" sz="1900" b="0">
                            <a:solidFill>
                              <a:srgbClr val="1E293B"/>
                            </a:solidFill>
                            <a:latin typeface="Cambria Math" panose="02040503050406030204" pitchFamily="18" charset="0"/>
                          </a:rPr>
                          <m:t>i−1</m:t>
                        </m:r>
                      </m:sub>
                    </m:sSub>
                  </m:oMath>
                </a14:m>
                <a:r>
                  <a:rPr sz="1900">
                    <a:solidFill>
                      <a:srgbClr val="1E293B"/>
                    </a:solidFill>
                    <a:latin typeface="Calibri"/>
                  </a:rPr>
                  <a:t>. Bước 2. Nối các điểm </a:t>
                </a:r>
                <a14:m>
                  <m:oMath xmlns:m="http://schemas.openxmlformats.org/officeDocument/2006/math">
                    <m:sSub>
                      <m:e>
                        <m:r>
                          <a:rPr lang="vi-VN" sz="1900" b="0">
                            <a:solidFill>
                              <a:srgbClr val="1E293B"/>
                            </a:solidFill>
                            <a:latin typeface="Cambria Math" panose="02040503050406030204" pitchFamily="18" charset="0"/>
                          </a:rPr>
                          <m:t>M</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M</m:t>
                        </m:r>
                      </m:e>
                      <m:sub>
                        <m:r>
                          <a:rPr lang="vi-VN" sz="1900" b="0">
                            <a:solidFill>
                              <a:srgbClr val="1E293B"/>
                            </a:solidFill>
                            <a:latin typeface="Cambria Math" panose="02040503050406030204" pitchFamily="18" charset="0"/>
                          </a:rPr>
                          <m:t>2</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2</m:t>
                        </m:r>
                      </m:sub>
                    </m:sSub>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sSub>
                      <m:e>
                        <m:r>
                          <a:rPr lang="vi-VN" sz="1900" b="0">
                            <a:solidFill>
                              <a:srgbClr val="1E293B"/>
                            </a:solidFill>
                            <a:latin typeface="Cambria Math" panose="02040503050406030204" pitchFamily="18" charset="0"/>
                          </a:rPr>
                          <m:t>c</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m:t>
                    </m:r>
                  </m:oMath>
                </a14:m>
                <a:r>
                  <a:rPr sz="1900">
                    <a:solidFill>
                      <a:srgbClr val="1E293B"/>
                    </a:solidFill>
                    <a:latin typeface="Calibri"/>
                  </a:rPr>
                  <a:t>, …, </a:t>
                </a:r>
                <a14:m>
                  <m:oMath xmlns:m="http://schemas.openxmlformats.org/officeDocument/2006/math">
                    <m:sSub>
                      <m:e>
                        <m:r>
                          <a:rPr lang="vi-VN" sz="1900" b="0">
                            <a:solidFill>
                              <a:srgbClr val="1E293B"/>
                            </a:solidFill>
                            <a:latin typeface="Cambria Math" panose="02040503050406030204" pitchFamily="18" charset="0"/>
                          </a:rPr>
                          <m:t>M</m:t>
                        </m:r>
                      </m:e>
                      <m:sub>
                        <m:r>
                          <a:rPr lang="vi-VN" sz="1900" b="0">
                            <a:solidFill>
                              <a:srgbClr val="1E293B"/>
                            </a:solidFill>
                            <a:latin typeface="Cambria Math" panose="02040503050406030204" pitchFamily="18" charset="0"/>
                          </a:rPr>
                          <m:t>k+1</m:t>
                        </m:r>
                      </m:sub>
                    </m:sSub>
                    <m:r>
                      <a:rPr lang="vi-VN" sz="1900" b="0">
                        <a:solidFill>
                          <a:srgbClr val="1E293B"/>
                        </a:solidFill>
                        <a:latin typeface="Cambria Math" panose="02040503050406030204" pitchFamily="18" charset="0"/>
                      </a:rPr>
                      <m:t>(</m:t>
                    </m:r>
                    <m:sSub>
                      <m:e>
                        <m:r>
                          <a:rPr lang="vi-VN" sz="1900" b="0">
                            <a:solidFill>
                              <a:srgbClr val="1E293B"/>
                            </a:solidFill>
                            <a:latin typeface="Cambria Math" panose="02040503050406030204" pitchFamily="18" charset="0"/>
                          </a:rPr>
                          <m:t>a</m:t>
                        </m:r>
                      </m:e>
                      <m:sub>
                        <m:r>
                          <a:rPr lang="vi-VN" sz="1900" b="0">
                            <a:solidFill>
                              <a:srgbClr val="1E293B"/>
                            </a:solidFill>
                            <a:latin typeface="Cambria Math" panose="02040503050406030204" pitchFamily="18" charset="0"/>
                          </a:rPr>
                          <m:t>k+1</m:t>
                        </m:r>
                      </m:sub>
                    </m:sSub>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sSub>
                      <m:e>
                        <m:r>
                          <a:rPr lang="vi-VN" sz="1900" b="0">
                            <a:solidFill>
                              <a:srgbClr val="1E293B"/>
                            </a:solidFill>
                            <a:latin typeface="Cambria Math" panose="02040503050406030204" pitchFamily="18" charset="0"/>
                          </a:rPr>
                          <m:t>c</m:t>
                        </m:r>
                      </m:e>
                      <m:sub>
                        <m:r>
                          <a:rPr lang="vi-VN" sz="1900" b="0">
                            <a:solidFill>
                              <a:srgbClr val="1E293B"/>
                            </a:solidFill>
                            <a:latin typeface="Cambria Math" panose="02040503050406030204" pitchFamily="18" charset="0"/>
                          </a:rPr>
                          <m:t>k</m:t>
                        </m:r>
                      </m:sub>
                    </m:sSub>
                    <m:r>
                      <a:rPr lang="vi-VN" sz="1900" b="0">
                        <a:solidFill>
                          <a:srgbClr val="1E293B"/>
                        </a:solidFill>
                        <a:latin typeface="Cambria Math" panose="02040503050406030204" pitchFamily="18" charset="0"/>
                      </a:rPr>
                      <m:t>)</m:t>
                    </m:r>
                  </m:oMath>
                </a14:m>
                <a:r>
                  <a:rPr sz="1900">
                    <a:solidFill>
                      <a:srgbClr val="1E293B"/>
                    </a:solidFill>
                    <a:latin typeface="Calibri"/>
                  </a:rPr>
                  <a:t>. Bước 3. Đường thẳng qua </a:t>
                </a:r>
                <a14:m>
                  <m:oMath xmlns:m="http://schemas.openxmlformats.org/officeDocument/2006/math">
                    <m:d>
                      <m:dPr>
                        <m:sepChr m:val=""/>
                      </m:dPr>
                      <m:e>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f>
                          <m:fPr>
                            <m:type m:val="bar"/>
                          </m:fPr>
                          <m:num>
                            <m:r>
                              <a:rPr lang="vi-VN" sz="1900" b="0">
                                <a:solidFill>
                                  <a:srgbClr val="1E293B"/>
                                </a:solidFill>
                                <a:latin typeface="Cambria Math" panose="02040503050406030204" pitchFamily="18" charset="0"/>
                              </a:rPr>
                              <m:t>n</m:t>
                            </m:r>
                          </m:num>
                          <m:den>
                            <m:r>
                              <a:rPr lang="vi-VN" sz="1900" b="0">
                                <a:solidFill>
                                  <a:srgbClr val="1E293B"/>
                                </a:solidFill>
                                <a:latin typeface="Cambria Math" panose="02040503050406030204" pitchFamily="18" charset="0"/>
                              </a:rPr>
                              <m:t>4</m:t>
                            </m:r>
                          </m:den>
                        </m:f>
                      </m:e>
                    </m:d>
                  </m:oMath>
                </a14:m>
                <a:r>
                  <a:rPr sz="1900">
                    <a:solidFill>
                      <a:srgbClr val="1E293B"/>
                    </a:solidFill>
                    <a:latin typeface="Calibri"/>
                  </a:rPr>
                  <a:t>, </a:t>
                </a:r>
                <a14:m>
                  <m:oMath xmlns:m="http://schemas.openxmlformats.org/officeDocument/2006/math">
                    <m:d>
                      <m:dPr>
                        <m:sepChr m:val=""/>
                      </m:dPr>
                      <m:e>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f>
                          <m:fPr>
                            <m:type m:val="bar"/>
                          </m:fPr>
                          <m:num>
                            <m:r>
                              <a:rPr lang="vi-VN" sz="1900" b="0">
                                <a:solidFill>
                                  <a:srgbClr val="1E293B"/>
                                </a:solidFill>
                                <a:latin typeface="Cambria Math" panose="02040503050406030204" pitchFamily="18" charset="0"/>
                              </a:rPr>
                              <m:t>n</m:t>
                            </m:r>
                          </m:num>
                          <m:den>
                            <m:r>
                              <a:rPr lang="vi-VN" sz="1900" b="0">
                                <a:solidFill>
                                  <a:srgbClr val="1E293B"/>
                                </a:solidFill>
                                <a:latin typeface="Cambria Math" panose="02040503050406030204" pitchFamily="18" charset="0"/>
                              </a:rPr>
                              <m:t>2</m:t>
                            </m:r>
                          </m:den>
                        </m:f>
                      </m:e>
                    </m:d>
                  </m:oMath>
                </a14:m>
                <a:r>
                  <a:rPr sz="1900">
                    <a:solidFill>
                      <a:srgbClr val="1E293B"/>
                    </a:solidFill>
                    <a:latin typeface="Calibri"/>
                  </a:rPr>
                  <a:t>, </a:t>
                </a:r>
                <a14:m>
                  <m:oMath xmlns:m="http://schemas.openxmlformats.org/officeDocument/2006/math">
                    <m:d>
                      <m:dPr>
                        <m:sepChr m:val=""/>
                      </m:dPr>
                      <m:e>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f>
                          <m:fPr>
                            <m:type m:val="bar"/>
                          </m:fPr>
                          <m:num>
                            <m:r>
                              <a:rPr lang="vi-VN" sz="1900" b="0">
                                <a:solidFill>
                                  <a:srgbClr val="1E293B"/>
                                </a:solidFill>
                                <a:latin typeface="Cambria Math" panose="02040503050406030204" pitchFamily="18" charset="0"/>
                              </a:rPr>
                              <m:t>3n</m:t>
                            </m:r>
                          </m:num>
                          <m:den>
                            <m:r>
                              <a:rPr lang="vi-VN" sz="1900" b="0">
                                <a:solidFill>
                                  <a:srgbClr val="1E293B"/>
                                </a:solidFill>
                                <a:latin typeface="Cambria Math" panose="02040503050406030204" pitchFamily="18" charset="0"/>
                              </a:rPr>
                              <m:t>4</m:t>
                            </m:r>
                          </m:den>
                        </m:f>
                      </m:e>
                    </m:d>
                  </m:oMath>
                </a14:m>
                <a:r>
                  <a:rPr sz="1900">
                    <a:solidFill>
                      <a:srgbClr val="1E293B"/>
                    </a:solidFill>
                    <a:latin typeface="Calibri"/>
                  </a:rPr>
                  <a:t> song song với </a:t>
                </a:r>
                <a14:m>
                  <m:oMath xmlns:m="http://schemas.openxmlformats.org/officeDocument/2006/math">
                    <m:r>
                      <a:rPr lang="vi-VN" sz="1900" b="0">
                        <a:solidFill>
                          <a:srgbClr val="1E293B"/>
                        </a:solidFill>
                        <a:latin typeface="Cambria Math" panose="02040503050406030204" pitchFamily="18" charset="0"/>
                      </a:rPr>
                      <m:t>Ox</m:t>
                    </m:r>
                  </m:oMath>
                </a14:m>
                <a:r>
                  <a:rPr sz="1900">
                    <a:solidFill>
                      <a:srgbClr val="1E293B"/>
                    </a:solidFill>
                    <a:latin typeface="Calibri"/>
                  </a:rPr>
                  <a:t> cắt đồ thị tại điểm có hoành độ </a:t>
                </a:r>
                <a14:m>
                  <m:oMath xmlns:m="http://schemas.openxmlformats.org/officeDocument/2006/math">
                    <m:sSub>
                      <m:e>
                        <m:r>
                          <a:rPr lang="vi-VN" sz="1900" b="0">
                            <a:solidFill>
                              <a:srgbClr val="1E293B"/>
                            </a:solidFill>
                            <a:latin typeface="Cambria Math" panose="02040503050406030204" pitchFamily="18" charset="0"/>
                          </a:rPr>
                          <m:t>Q</m:t>
                        </m:r>
                      </m:e>
                      <m:sub>
                        <m:r>
                          <a:rPr lang="vi-VN" sz="1900" b="0">
                            <a:solidFill>
                              <a:srgbClr val="1E293B"/>
                            </a:solidFill>
                            <a:latin typeface="Cambria Math" panose="02040503050406030204" pitchFamily="18" charset="0"/>
                          </a:rPr>
                          <m:t>1</m:t>
                        </m:r>
                      </m:sub>
                    </m:sSub>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Q</m:t>
                        </m:r>
                      </m:e>
                      <m:sub>
                        <m:r>
                          <a:rPr lang="vi-VN" sz="1900" b="0">
                            <a:solidFill>
                              <a:srgbClr val="1E293B"/>
                            </a:solidFill>
                            <a:latin typeface="Cambria Math" panose="02040503050406030204" pitchFamily="18" charset="0"/>
                          </a:rPr>
                          <m:t>2</m:t>
                        </m:r>
                      </m:sub>
                    </m:sSub>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Q</m:t>
                        </m:r>
                      </m:e>
                      <m:sub>
                        <m:r>
                          <a:rPr lang="vi-VN" sz="1900" b="0">
                            <a:solidFill>
                              <a:srgbClr val="1E293B"/>
                            </a:solidFill>
                            <a:latin typeface="Cambria Math" panose="02040503050406030204" pitchFamily="18" charset="0"/>
                          </a:rPr>
                          <m:t>3</m:t>
                        </m:r>
                      </m:sub>
                    </m:sSub>
                  </m:oMath>
                </a14:m>
                <a:r>
                  <a:rPr sz="1900">
                    <a:solidFill>
                      <a:srgbClr val="1E293B"/>
                    </a:solidFill>
                    <a:latin typeface="Calibri"/>
                  </a:rPr>
                  <a:t>.</a:t>
                </a:r>
              </a:p>
            </p:txBody>
          </p:sp>
        </mc:Choice>
        <mc:Fallback>
          <p:sp>
            <p:nvSpPr>
              <p:cNvPr id="7" name="TextBox 6"/>
              <p:cNvSpPr txBox="1"/>
              <p:nvPr/>
            </p:nvSpPr>
            <p:spPr>
              <a:xfrm>
                <a:off x="548640" y="1371600"/>
                <a:ext cx="6217920" cy="4572000"/>
              </a:xfrm>
              <a:prstGeom prst="rect">
                <a:avLst/>
              </a:prstGeom>
              <a:noFill/>
            </p:spPr>
            <p:txBody>
              <a:bodyPr wrap="square" anchor="t" lIns="45720" rIns="45720">
                <a:spAutoFit/>
              </a:bodyPr>
              <a:lstStyle/>
              <a:p>
                <a:pPr algn="l">
                  <a:spcAft>
                    <a:spcPts val="800"/>
                  </a:spcAft>
                </a:pPr>
                <a:r>
                  <a:rPr sz="1900">
                    <a:solidFill>
                      <a:srgbClr val="1E293B"/>
                    </a:solidFill>
                    <a:latin typeface="Calibri"/>
                  </a:rPr>
                  <a:t>Bước 1. Lập bảng tần số tích luỹ </a:t>
                </a:r>
                <a:r>
                  <a:rPr lang="vi-VN"/>
                  <a:t>c_i=m_1+\ldots+m_{i-1}</a:t>
                </a:r>
                <a:r>
                  <a:rPr sz="1900">
                    <a:solidFill>
                      <a:srgbClr val="1E293B"/>
                    </a:solidFill>
                    <a:latin typeface="Calibri"/>
                  </a:rPr>
                  <a:t>. Bước 2. Nối các điểm </a:t>
                </a:r>
                <a:r>
                  <a:rPr lang="vi-VN"/>
                  <a:t>M_1(a_1;\ 0)</a:t>
                </a:r>
                <a:r>
                  <a:rPr sz="1900">
                    <a:solidFill>
                      <a:srgbClr val="1E293B"/>
                    </a:solidFill>
                    <a:latin typeface="Calibri"/>
                  </a:rPr>
                  <a:t>, </a:t>
                </a:r>
                <a:r>
                  <a:rPr lang="vi-VN"/>
                  <a:t>M_2(a_2;\ c_1)</a:t>
                </a:r>
                <a:r>
                  <a:rPr sz="1900">
                    <a:solidFill>
                      <a:srgbClr val="1E293B"/>
                    </a:solidFill>
                    <a:latin typeface="Calibri"/>
                  </a:rPr>
                  <a:t>, …, </a:t>
                </a:r>
                <a:r>
                  <a:rPr lang="vi-VN"/>
                  <a:t>M_{k+1}(a_{k+1};\ c_k)</a:t>
                </a:r>
                <a:r>
                  <a:rPr sz="1900">
                    <a:solidFill>
                      <a:srgbClr val="1E293B"/>
                    </a:solidFill>
                    <a:latin typeface="Calibri"/>
                  </a:rPr>
                  <a:t>. Bước 3. Đường thẳng qua </a:t>
                </a:r>
                <a:r>
                  <a:rPr lang="vi-VN"/>
                  <a:t>\left(0;\ \frac{n}{4}\right)</a:t>
                </a:r>
                <a:r>
                  <a:rPr sz="1900">
                    <a:solidFill>
                      <a:srgbClr val="1E293B"/>
                    </a:solidFill>
                    <a:latin typeface="Calibri"/>
                  </a:rPr>
                  <a:t>, </a:t>
                </a:r>
                <a:r>
                  <a:rPr lang="vi-VN"/>
                  <a:t>\left(0;\ \frac{n}{2}\right)</a:t>
                </a:r>
                <a:r>
                  <a:rPr sz="1900">
                    <a:solidFill>
                      <a:srgbClr val="1E293B"/>
                    </a:solidFill>
                    <a:latin typeface="Calibri"/>
                  </a:rPr>
                  <a:t>, </a:t>
                </a:r>
                <a:r>
                  <a:rPr lang="vi-VN"/>
                  <a:t>\left(0;\ \frac{3n}{4}\right)</a:t>
                </a:r>
                <a:r>
                  <a:rPr sz="1900">
                    <a:solidFill>
                      <a:srgbClr val="1E293B"/>
                    </a:solidFill>
                    <a:latin typeface="Calibri"/>
                  </a:rPr>
                  <a:t> song song với </a:t>
                </a:r>
                <a:r>
                  <a:rPr lang="vi-VN"/>
                  <a:t>Ox</a:t>
                </a:r>
                <a:r>
                  <a:rPr sz="1900">
                    <a:solidFill>
                      <a:srgbClr val="1E293B"/>
                    </a:solidFill>
                    <a:latin typeface="Calibri"/>
                  </a:rPr>
                  <a:t> cắt đồ thị tại điểm có hoành độ </a:t>
                </a:r>
                <a:r>
                  <a:rPr lang="vi-VN"/>
                  <a:t>Q_1</a:t>
                </a:r>
                <a:r>
                  <a:rPr sz="1900">
                    <a:solidFill>
                      <a:srgbClr val="1E293B"/>
                    </a:solidFill>
                    <a:latin typeface="Calibri"/>
                  </a:rPr>
                  <a:t>, </a:t>
                </a:r>
                <a:r>
                  <a:rPr lang="vi-VN"/>
                  <a:t>Q_2</a:t>
                </a:r>
                <a:r>
                  <a:rPr sz="1900">
                    <a:solidFill>
                      <a:srgbClr val="1E293B"/>
                    </a:solidFill>
                    <a:latin typeface="Calibri"/>
                  </a:rPr>
                  <a:t>, </a:t>
                </a:r>
                <a:r>
                  <a:rPr lang="vi-VN"/>
                  <a:t>Q_3</a:t>
                </a:r>
                <a:r>
                  <a:rPr sz="1900">
                    <a:solidFill>
                      <a:srgbClr val="1E293B"/>
                    </a:solidFill>
                    <a:latin typeface="Calibri"/>
                  </a:rPr>
                  <a:t>.</a:t>
                </a:r>
              </a:p>
            </p:txBody>
          </p:sp>
        </mc:Fallback>
      </mc:AlternateContent>
      <p:pic>
        <p:nvPicPr>
          <p:cNvPr id="8" name="Picture 7" descr="b9_h31.png"/>
          <p:cNvPicPr>
            <a:picLocks noChangeAspect="1"/>
          </p:cNvPicPr>
          <p:nvPr/>
        </p:nvPicPr>
        <p:blipFill>
          <a:blip r:embed="rId3"/>
          <a:stretch>
            <a:fillRect/>
          </a:stretch>
        </p:blipFill>
        <p:spPr>
          <a:xfrm>
            <a:off x="6949440" y="1485828"/>
            <a:ext cx="4754880" cy="3337704"/>
          </a:xfrm>
          <a:prstGeom prst="rect">
            <a:avLst/>
          </a:prstGeom>
        </p:spPr>
      </p:pic>
      <p:sp>
        <p:nvSpPr>
          <p:cNvPr id="9" name="TextBox 8"/>
          <p:cNvSpPr txBox="1"/>
          <p:nvPr/>
        </p:nvSpPr>
        <p:spPr>
          <a:xfrm>
            <a:off x="6949440" y="4864608"/>
            <a:ext cx="47548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3.4 – 3.7 (SGK TR.67)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19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22375"/>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3.4.</a:t>
                </a:r>
                <a:r>
                  <a:rPr sz="1800">
                    <a:solidFill>
                      <a:srgbClr val="1E293B"/>
                    </a:solidFill>
                    <a:latin typeface="Calibri"/>
                  </a:rPr>
                  <a:t> Quãng đường của 40 công nhân: ghép nhóm </a:t>
                </a:r>
                <a14:m>
                  <m:oMath xmlns:m="http://schemas.openxmlformats.org/officeDocument/2006/math">
                    <m:r>
                      <a:rPr lang="vi-VN" sz="1800" b="0">
                        <a:solidFill>
                          <a:srgbClr val="1E293B"/>
                        </a:solidFill>
                        <a:latin typeface="Cambria Math" panose="02040503050406030204" pitchFamily="18" charset="0"/>
                      </a:rPr>
                      <m:t>[0;</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5)</m:t>
                    </m:r>
                  </m:oMath>
                </a14:m>
                <a:r>
                  <a:rPr sz="1800">
                    <a:solidFill>
                      <a:srgbClr val="1E293B"/>
                    </a:solidFill>
                    <a:latin typeface="Calibri"/>
                  </a:rPr>
                  <a:t>, …; trung bình không ghép nhóm, ghép nhóm; nhóm chứa mốt. </a:t>
                </a:r>
                <a:r>
                  <a:rPr sz="1800" b="1">
                    <a:solidFill>
                      <a:srgbClr val="1E293B"/>
                    </a:solidFill>
                    <a:latin typeface="Calibri"/>
                  </a:rPr>
                  <a:t>3.5.</a:t>
                </a:r>
                <a:r>
                  <a:rPr sz="1800">
                    <a:solidFill>
                      <a:srgbClr val="1E293B"/>
                    </a:solidFill>
                    <a:latin typeface="Calibri"/>
                  </a:rPr>
                  <a:t> Tuổi thọ 50 bình ắc quy: mốt, ý nghĩa; tuổi thọ trung bình.</a:t>
                </a:r>
              </a:p>
            </p:txBody>
          </p:sp>
        </mc:Choice>
        <mc:Fallback>
          <p:sp>
            <p:nvSpPr>
              <p:cNvPr id="7" name="TextBox 6"/>
              <p:cNvSpPr txBox="1"/>
              <p:nvPr/>
            </p:nvSpPr>
            <p:spPr>
              <a:xfrm>
                <a:off x="548640" y="1371600"/>
                <a:ext cx="11064240" cy="722375"/>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3.4.</a:t>
                </a:r>
                <a:r>
                  <a:rPr sz="1800">
                    <a:solidFill>
                      <a:srgbClr val="1E293B"/>
                    </a:solidFill>
                    <a:latin typeface="Calibri"/>
                  </a:rPr>
                  <a:t> Quãng đường của 40 công nhân: ghép nhóm </a:t>
                </a:r>
                <a:r>
                  <a:rPr lang="vi-VN"/>
                  <a:t>[0;\ 5)</a:t>
                </a:r>
                <a:r>
                  <a:rPr sz="1800">
                    <a:solidFill>
                      <a:srgbClr val="1E293B"/>
                    </a:solidFill>
                    <a:latin typeface="Calibri"/>
                  </a:rPr>
                  <a:t>, …; trung bình không ghép nhóm, ghép nhóm; nhóm chứa mốt. </a:t>
                </a:r>
                <a:r>
                  <a:rPr sz="1800" b="1">
                    <a:solidFill>
                      <a:srgbClr val="1E293B"/>
                    </a:solidFill>
                    <a:latin typeface="Calibri"/>
                  </a:rPr>
                  <a:t>3.5.</a:t>
                </a:r>
                <a:r>
                  <a:rPr sz="1800">
                    <a:solidFill>
                      <a:srgbClr val="1E293B"/>
                    </a:solidFill>
                    <a:latin typeface="Calibri"/>
                  </a:rPr>
                  <a:t> Tuổi thọ 50 bình ắc quy: mốt, ý nghĩa; tuổi thọ trung bình.</a:t>
                </a:r>
              </a:p>
            </p:txBody>
          </p:sp>
        </mc:Fallback>
      </mc:AlternateContent>
      <p:sp>
        <p:nvSpPr>
          <p:cNvPr id="8" name="s1_nen"/>
          <p:cNvSpPr/>
          <p:nvPr/>
        </p:nvSpPr>
        <p:spPr>
          <a:xfrm>
            <a:off x="548640" y="2157984"/>
            <a:ext cx="11064240" cy="8138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94560"/>
                <a:ext cx="10735056" cy="74066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3.4. Tần số 5; 11; 11; 9; 1; 1; 2; </a:t>
                </a:r>
                <a14:m>
                  <m:oMath xmlns:m="http://schemas.openxmlformats.org/officeDocument/2006/math">
                    <m:acc>
                      <m:accPr>
                        <m:chr m:val="―"/>
                      </m:accPr>
                      <m:e>
                        <m:r>
                          <a:rPr lang="vi-VN" sz="1800" b="0">
                            <a:solidFill>
                              <a:srgbClr val="1E293B"/>
                            </a:solidFill>
                            <a:latin typeface="Cambria Math" panose="02040503050406030204" pitchFamily="18" charset="0"/>
                          </a:rPr>
                          <m:t>x</m:t>
                        </m:r>
                      </m:e>
                    </m:acc>
                    <m:r>
                      <a:rPr lang="vi-VN" sz="1800" b="0">
                        <a:solidFill>
                          <a:srgbClr val="1E293B"/>
                        </a:solidFill>
                        <a:latin typeface="Cambria Math" panose="02040503050406030204" pitchFamily="18" charset="0"/>
                      </a:rPr>
                      <m:t>=11</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9</m:t>
                    </m:r>
                  </m:oMath>
                </a14:m>
                <a:r>
                  <a:rPr sz="1800">
                    <a:solidFill>
                      <a:srgbClr val="1E293B"/>
                    </a:solidFill>
                    <a:latin typeface="Calibri"/>
                  </a:rPr>
                  <a:t> km (số liệu gốc – chính xác hơn) và </a:t>
                </a:r>
                <a14:m>
                  <m:oMath xmlns:m="http://schemas.openxmlformats.org/officeDocument/2006/math">
                    <m:r>
                      <a:rPr lang="vi-VN" sz="1800" b="0">
                        <a:solidFill>
                          <a:srgbClr val="1E293B"/>
                        </a:solidFill>
                        <a:latin typeface="Cambria Math" panose="02040503050406030204" pitchFamily="18" charset="0"/>
                      </a:rPr>
                      <m:t>12</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625</m:t>
                    </m:r>
                  </m:oMath>
                </a14:m>
                <a:r>
                  <a:rPr sz="1800">
                    <a:solidFill>
                      <a:srgbClr val="1E293B"/>
                    </a:solidFill>
                    <a:latin typeface="Calibri"/>
                  </a:rPr>
                  <a:t> km; hai nhóm </a:t>
                </a:r>
                <a14:m>
                  <m:oMath xmlns:m="http://schemas.openxmlformats.org/officeDocument/2006/math">
                    <m:r>
                      <a:rPr lang="vi-VN" sz="1800" b="0">
                        <a:solidFill>
                          <a:srgbClr val="1E293B"/>
                        </a:solidFill>
                        <a:latin typeface="Cambria Math" panose="02040503050406030204" pitchFamily="18" charset="0"/>
                      </a:rPr>
                      <m:t>[5;</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10)</m:t>
                    </m:r>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[10;</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15)</m:t>
                    </m:r>
                  </m:oMath>
                </a14:m>
                <a:r>
                  <a:rPr sz="1800">
                    <a:solidFill>
                      <a:srgbClr val="1E293B"/>
                    </a:solidFill>
                    <a:latin typeface="Calibri"/>
                  </a:rPr>
                  <a:t> cùng chứa mốt. 3.5. </a:t>
                </a:r>
                <a14:m>
                  <m:oMath xmlns:m="http://schemas.openxmlformats.org/officeDocument/2006/math">
                    <m:sSub>
                      <m:e>
                        <m:r>
                          <a:rPr lang="vi-VN" sz="1800" b="0">
                            <a:solidFill>
                              <a:srgbClr val="1E293B"/>
                            </a:solidFill>
                            <a:latin typeface="Cambria Math" panose="02040503050406030204" pitchFamily="18" charset="0"/>
                          </a:rPr>
                          <m:t>M</m:t>
                        </m:r>
                      </m:e>
                      <m:sub>
                        <m:r>
                          <a:rPr lang="vi-VN" sz="1800" b="0">
                            <a:solidFill>
                              <a:srgbClr val="1E293B"/>
                            </a:solidFill>
                            <a:latin typeface="Cambria Math" panose="02040503050406030204" pitchFamily="18" charset="0"/>
                          </a:rPr>
                          <m:t>o</m:t>
                        </m:r>
                      </m:sub>
                    </m:sSub>
                    <m:r>
                      <a:rPr lang="vi-VN" sz="1800" b="0">
                        <a:solidFill>
                          <a:srgbClr val="1E293B"/>
                        </a:solidFill>
                        <a:latin typeface="Cambria Math" panose="02040503050406030204" pitchFamily="18" charset="0"/>
                      </a:rPr>
                      <m:t>=3</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3125</m:t>
                    </m:r>
                  </m:oMath>
                </a14:m>
                <a:r>
                  <a:rPr sz="1800">
                    <a:solidFill>
                      <a:srgbClr val="1E293B"/>
                    </a:solidFill>
                    <a:latin typeface="Calibri"/>
                  </a:rPr>
                  <a:t> năm; </a:t>
                </a:r>
                <a14:m>
                  <m:oMath xmlns:m="http://schemas.openxmlformats.org/officeDocument/2006/math">
                    <m:acc>
                      <m:accPr>
                        <m:chr m:val="―"/>
                      </m:accPr>
                      <m:e>
                        <m:r>
                          <a:rPr lang="vi-VN" sz="1800" b="0">
                            <a:solidFill>
                              <a:srgbClr val="1E293B"/>
                            </a:solidFill>
                            <a:latin typeface="Cambria Math" panose="02040503050406030204" pitchFamily="18" charset="0"/>
                          </a:rPr>
                          <m:t>x</m:t>
                        </m:r>
                      </m:e>
                    </m:acc>
                    <m:r>
                      <a:rPr lang="vi-VN" sz="1800" b="0">
                        <a:solidFill>
                          <a:srgbClr val="1E293B"/>
                        </a:solidFill>
                        <a:latin typeface="Cambria Math" panose="02040503050406030204" pitchFamily="18" charset="0"/>
                      </a:rPr>
                      <m:t>=3</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48</m:t>
                    </m:r>
                  </m:oMath>
                </a14:m>
                <a:r>
                  <a:rPr sz="1800">
                    <a:solidFill>
                      <a:srgbClr val="1E293B"/>
                    </a:solidFill>
                    <a:latin typeface="Calibri"/>
                  </a:rPr>
                  <a:t> năm.</a:t>
                </a:r>
              </a:p>
            </p:txBody>
          </p:sp>
        </mc:Choice>
        <mc:Fallback>
          <p:sp>
            <p:nvSpPr>
              <p:cNvPr id="9" name="TextBox 8"/>
              <p:cNvSpPr txBox="1"/>
              <p:nvPr/>
            </p:nvSpPr>
            <p:spPr>
              <a:xfrm>
                <a:off x="713232" y="2194560"/>
                <a:ext cx="10735056" cy="74066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3.4. Tần số 5; 11; 11; 9; 1; 1; 2; </a:t>
                </a:r>
                <a:r>
                  <a:rPr lang="vi-VN"/>
                  <a:t>\overline{x}=11{,}9</a:t>
                </a:r>
                <a:r>
                  <a:rPr sz="1800">
                    <a:solidFill>
                      <a:srgbClr val="1E293B"/>
                    </a:solidFill>
                    <a:latin typeface="Calibri"/>
                  </a:rPr>
                  <a:t> km (số liệu gốc – chính xác hơn) và </a:t>
                </a:r>
                <a:r>
                  <a:rPr lang="vi-VN"/>
                  <a:t>12{,}625</a:t>
                </a:r>
                <a:r>
                  <a:rPr sz="1800">
                    <a:solidFill>
                      <a:srgbClr val="1E293B"/>
                    </a:solidFill>
                    <a:latin typeface="Calibri"/>
                  </a:rPr>
                  <a:t> km; hai nhóm </a:t>
                </a:r>
                <a:r>
                  <a:rPr lang="vi-VN"/>
                  <a:t>[5;\ 10)</a:t>
                </a:r>
                <a:r>
                  <a:rPr sz="1800">
                    <a:solidFill>
                      <a:srgbClr val="1E293B"/>
                    </a:solidFill>
                    <a:latin typeface="Calibri"/>
                  </a:rPr>
                  <a:t>, </a:t>
                </a:r>
                <a:r>
                  <a:rPr lang="vi-VN"/>
                  <a:t>[10;\ 15)</a:t>
                </a:r>
                <a:r>
                  <a:rPr sz="1800">
                    <a:solidFill>
                      <a:srgbClr val="1E293B"/>
                    </a:solidFill>
                    <a:latin typeface="Calibri"/>
                  </a:rPr>
                  <a:t> cùng chứa mốt. 3.5. </a:t>
                </a:r>
                <a:r>
                  <a:rPr lang="vi-VN"/>
                  <a:t>M_o=3{,}3125</a:t>
                </a:r>
                <a:r>
                  <a:rPr sz="1800">
                    <a:solidFill>
                      <a:srgbClr val="1E293B"/>
                    </a:solidFill>
                    <a:latin typeface="Calibri"/>
                  </a:rPr>
                  <a:t> năm; </a:t>
                </a:r>
                <a:r>
                  <a:rPr lang="vi-VN"/>
                  <a:t>\overline{x}=3{,}48</a:t>
                </a:r>
                <a:r>
                  <a:rPr sz="1800">
                    <a:solidFill>
                      <a:srgbClr val="1E293B"/>
                    </a:solidFill>
                    <a:latin typeface="Calibri"/>
                  </a:rPr>
                  <a:t> năm.</a:t>
                </a:r>
              </a:p>
            </p:txBody>
          </p:sp>
        </mc:Fallback>
      </mc:AlternateContent>
      <p:sp>
        <p:nvSpPr>
          <p:cNvPr id="10" name="s2_chu"/>
          <p:cNvSpPr txBox="1"/>
          <p:nvPr/>
        </p:nvSpPr>
        <p:spPr>
          <a:xfrm>
            <a:off x="548640" y="3035808"/>
            <a:ext cx="11064240" cy="722375"/>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3.6.</a:t>
            </a:r>
            <a:r>
              <a:rPr sz="1800">
                <a:solidFill>
                  <a:srgbClr val="1E293B"/>
                </a:solidFill>
                <a:latin typeface="Calibri"/>
              </a:rPr>
              <a:t> Điểm thi 60 thí sinh (0 – 9, …, 90 – 99): hiệu chỉnh; tứ phân vị, ý nghĩa. </a:t>
            </a:r>
            <a:r>
              <a:rPr sz="1800" b="1">
                <a:solidFill>
                  <a:srgbClr val="1E293B"/>
                </a:solidFill>
                <a:latin typeface="Calibri"/>
              </a:rPr>
              <a:t>3.7.</a:t>
            </a:r>
            <a:r>
              <a:rPr sz="1800">
                <a:solidFill>
                  <a:srgbClr val="1E293B"/>
                </a:solidFill>
                <a:latin typeface="Calibri"/>
              </a:rPr>
              <a:t> Thời gian ngủ của nam, nữ khối 11: so sánh trung bình; 75% HS ngủ ít nhất bao nhiêu giờ?</a:t>
            </a:r>
          </a:p>
        </p:txBody>
      </p:sp>
      <p:sp>
        <p:nvSpPr>
          <p:cNvPr id="11" name="s3_nen"/>
          <p:cNvSpPr/>
          <p:nvPr/>
        </p:nvSpPr>
        <p:spPr>
          <a:xfrm>
            <a:off x="548640" y="3822191"/>
            <a:ext cx="11064240" cy="8138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3858768"/>
                <a:ext cx="10735056" cy="74066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3.6. </a:t>
                </a:r>
                <a14:m>
                  <m:oMath xmlns:m="http://schemas.openxmlformats.org/officeDocument/2006/math">
                    <m:r>
                      <a:rPr lang="vi-VN" sz="1800" b="0">
                        <a:solidFill>
                          <a:srgbClr val="1E293B"/>
                        </a:solidFill>
                        <a:latin typeface="Cambria Math" panose="02040503050406030204" pitchFamily="18" charset="0"/>
                      </a:rPr>
                      <m:t>[−0</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5;</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9</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5)</m:t>
                    </m:r>
                  </m:oMath>
                </a14:m>
                <a:r>
                  <a:rPr sz="1800">
                    <a:solidFill>
                      <a:srgbClr val="1E293B"/>
                    </a:solidFill>
                    <a:latin typeface="Calibri"/>
                  </a:rPr>
                  <a:t>, …; </a:t>
                </a:r>
                <a14:m>
                  <m:oMath xmlns:m="http://schemas.openxmlformats.org/officeDocument/2006/math">
                    <m:sSub>
                      <m:e>
                        <m:r>
                          <a:rPr lang="vi-VN" sz="1800" b="0">
                            <a:solidFill>
                              <a:srgbClr val="1E293B"/>
                            </a:solidFill>
                            <a:latin typeface="Cambria Math" panose="02040503050406030204" pitchFamily="18" charset="0"/>
                          </a:rPr>
                          <m:t>Q</m:t>
                        </m:r>
                      </m:e>
                      <m:sub>
                        <m:r>
                          <a:rPr lang="vi-VN" sz="1800" b="0">
                            <a:solidFill>
                              <a:srgbClr val="1E293B"/>
                            </a:solidFill>
                            <a:latin typeface="Cambria Math" panose="02040503050406030204" pitchFamily="18" charset="0"/>
                          </a:rPr>
                          <m:t>1</m:t>
                        </m:r>
                      </m:sub>
                    </m:sSub>
                    <m:r>
                      <a:rPr lang="vi-VN" sz="1800" b="0">
                        <a:solidFill>
                          <a:srgbClr val="1E293B"/>
                        </a:solidFill>
                        <a:latin typeface="Cambria Math" panose="02040503050406030204" pitchFamily="18" charset="0"/>
                      </a:rPr>
                      <m:t>≈40</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83</m:t>
                    </m:r>
                  </m:oMath>
                </a14:m>
                <a:r>
                  <a:rPr sz="1800">
                    <a:solidFill>
                      <a:srgbClr val="1E293B"/>
                    </a:solidFill>
                    <a:latin typeface="Calibri"/>
                  </a:rPr>
                  <a:t>; </a:t>
                </a:r>
                <a14:m>
                  <m:oMath xmlns:m="http://schemas.openxmlformats.org/officeDocument/2006/math">
                    <m:sSub>
                      <m:e>
                        <m:r>
                          <a:rPr lang="vi-VN" sz="1800" b="0">
                            <a:solidFill>
                              <a:srgbClr val="1E293B"/>
                            </a:solidFill>
                            <a:latin typeface="Cambria Math" panose="02040503050406030204" pitchFamily="18" charset="0"/>
                          </a:rPr>
                          <m:t>Q</m:t>
                        </m:r>
                      </m:e>
                      <m:sub>
                        <m:r>
                          <a:rPr lang="vi-VN" sz="1800" b="0">
                            <a:solidFill>
                              <a:srgbClr val="1E293B"/>
                            </a:solidFill>
                            <a:latin typeface="Cambria Math" panose="02040503050406030204" pitchFamily="18" charset="0"/>
                          </a:rPr>
                          <m:t>2</m:t>
                        </m:r>
                      </m:sub>
                    </m:sSub>
                    <m:r>
                      <a:rPr lang="vi-VN" sz="1800" b="0">
                        <a:solidFill>
                          <a:srgbClr val="1E293B"/>
                        </a:solidFill>
                        <a:latin typeface="Cambria Math" panose="02040503050406030204" pitchFamily="18" charset="0"/>
                      </a:rPr>
                      <m:t>≈51</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17</m:t>
                    </m:r>
                  </m:oMath>
                </a14:m>
                <a:r>
                  <a:rPr sz="1800">
                    <a:solidFill>
                      <a:srgbClr val="1E293B"/>
                    </a:solidFill>
                    <a:latin typeface="Calibri"/>
                  </a:rPr>
                  <a:t>; </a:t>
                </a:r>
                <a14:m>
                  <m:oMath xmlns:m="http://schemas.openxmlformats.org/officeDocument/2006/math">
                    <m:sSub>
                      <m:e>
                        <m:r>
                          <a:rPr lang="vi-VN" sz="1800" b="0">
                            <a:solidFill>
                              <a:srgbClr val="1E293B"/>
                            </a:solidFill>
                            <a:latin typeface="Cambria Math" panose="02040503050406030204" pitchFamily="18" charset="0"/>
                          </a:rPr>
                          <m:t>Q</m:t>
                        </m:r>
                      </m:e>
                      <m:sub>
                        <m:r>
                          <a:rPr lang="vi-VN" sz="1800" b="0">
                            <a:solidFill>
                              <a:srgbClr val="1E293B"/>
                            </a:solidFill>
                            <a:latin typeface="Cambria Math" panose="02040503050406030204" pitchFamily="18" charset="0"/>
                          </a:rPr>
                          <m:t>3</m:t>
                        </m:r>
                      </m:sub>
                    </m:sSub>
                    <m:r>
                      <a:rPr lang="vi-VN" sz="1800" b="0">
                        <a:solidFill>
                          <a:srgbClr val="1E293B"/>
                        </a:solidFill>
                        <a:latin typeface="Cambria Math" panose="02040503050406030204" pitchFamily="18" charset="0"/>
                      </a:rPr>
                      <m:t>=64</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5</m:t>
                    </m:r>
                  </m:oMath>
                </a14:m>
                <a:r>
                  <a:rPr sz="1800">
                    <a:solidFill>
                      <a:srgbClr val="1E293B"/>
                    </a:solidFill>
                    <a:latin typeface="Calibri"/>
                  </a:rPr>
                  <a:t>. 3.7. Nam </a:t>
                </a:r>
                <a14:m>
                  <m:oMath xmlns:m="http://schemas.openxmlformats.org/officeDocument/2006/math">
                    <m:r>
                      <a:rPr lang="vi-VN" sz="1800" b="0">
                        <a:solidFill>
                          <a:srgbClr val="1E293B"/>
                        </a:solidFill>
                        <a:latin typeface="Cambria Math" panose="02040503050406030204" pitchFamily="18" charset="0"/>
                      </a:rPr>
                      <m:t>≈6</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52</m:t>
                    </m:r>
                  </m:oMath>
                </a14:m>
                <a:r>
                  <a:rPr sz="1800">
                    <a:solidFill>
                      <a:srgbClr val="1E293B"/>
                    </a:solidFill>
                    <a:latin typeface="Calibri"/>
                  </a:rPr>
                  <a:t> giờ, nữ </a:t>
                </a:r>
                <a14:m>
                  <m:oMath xmlns:m="http://schemas.openxmlformats.org/officeDocument/2006/math">
                    <m:r>
                      <a:rPr lang="vi-VN" sz="1800" b="0">
                        <a:solidFill>
                          <a:srgbClr val="1E293B"/>
                        </a:solidFill>
                        <a:latin typeface="Cambria Math" panose="02040503050406030204" pitchFamily="18" charset="0"/>
                      </a:rPr>
                      <m:t>≈6</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77</m:t>
                    </m:r>
                  </m:oMath>
                </a14:m>
                <a:r>
                  <a:rPr sz="1800">
                    <a:solidFill>
                      <a:srgbClr val="1E293B"/>
                    </a:solidFill>
                    <a:latin typeface="Calibri"/>
                  </a:rPr>
                  <a:t> giờ; gộp: </a:t>
                </a:r>
                <a14:m>
                  <m:oMath xmlns:m="http://schemas.openxmlformats.org/officeDocument/2006/math">
                    <m:sSub>
                      <m:e>
                        <m:r>
                          <a:rPr lang="vi-VN" sz="1800" b="0">
                            <a:solidFill>
                              <a:srgbClr val="1E293B"/>
                            </a:solidFill>
                            <a:latin typeface="Cambria Math" panose="02040503050406030204" pitchFamily="18" charset="0"/>
                          </a:rPr>
                          <m:t>Q</m:t>
                        </m:r>
                      </m:e>
                      <m:sub>
                        <m:r>
                          <a:rPr lang="vi-VN" sz="1800" b="0">
                            <a:solidFill>
                              <a:srgbClr val="1E293B"/>
                            </a:solidFill>
                            <a:latin typeface="Cambria Math" panose="02040503050406030204" pitchFamily="18" charset="0"/>
                          </a:rPr>
                          <m:t>1</m:t>
                        </m:r>
                      </m:sub>
                    </m:sSub>
                    <m:r>
                      <a:rPr lang="vi-VN" sz="1800" b="0">
                        <a:solidFill>
                          <a:srgbClr val="1E293B"/>
                        </a:solidFill>
                        <a:latin typeface="Cambria Math" panose="02040503050406030204" pitchFamily="18" charset="0"/>
                      </a:rPr>
                      <m:t>≈5</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64</m:t>
                    </m:r>
                  </m:oMath>
                </a14:m>
                <a:r>
                  <a:rPr sz="1800">
                    <a:solidFill>
                      <a:srgbClr val="1E293B"/>
                    </a:solidFill>
                    <a:latin typeface="Calibri"/>
                  </a:rPr>
                  <a:t> giờ.</a:t>
                </a:r>
              </a:p>
            </p:txBody>
          </p:sp>
        </mc:Choice>
        <mc:Fallback>
          <p:sp>
            <p:nvSpPr>
              <p:cNvPr id="12" name="TextBox 11"/>
              <p:cNvSpPr txBox="1"/>
              <p:nvPr/>
            </p:nvSpPr>
            <p:spPr>
              <a:xfrm>
                <a:off x="713232" y="3858768"/>
                <a:ext cx="10735056" cy="74066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3.6. </a:t>
                </a:r>
                <a:r>
                  <a:rPr lang="vi-VN"/>
                  <a:t>[-0{,}5;\ 9{,}5)</a:t>
                </a:r>
                <a:r>
                  <a:rPr sz="1800">
                    <a:solidFill>
                      <a:srgbClr val="1E293B"/>
                    </a:solidFill>
                    <a:latin typeface="Calibri"/>
                  </a:rPr>
                  <a:t>, …; </a:t>
                </a:r>
                <a:r>
                  <a:rPr lang="vi-VN"/>
                  <a:t>Q_1\approx 40{,}83</a:t>
                </a:r>
                <a:r>
                  <a:rPr sz="1800">
                    <a:solidFill>
                      <a:srgbClr val="1E293B"/>
                    </a:solidFill>
                    <a:latin typeface="Calibri"/>
                  </a:rPr>
                  <a:t>; </a:t>
                </a:r>
                <a:r>
                  <a:rPr lang="vi-VN"/>
                  <a:t>Q_2\approx 51{,}17</a:t>
                </a:r>
                <a:r>
                  <a:rPr sz="1800">
                    <a:solidFill>
                      <a:srgbClr val="1E293B"/>
                    </a:solidFill>
                    <a:latin typeface="Calibri"/>
                  </a:rPr>
                  <a:t>; </a:t>
                </a:r>
                <a:r>
                  <a:rPr lang="vi-VN"/>
                  <a:t>Q_3=64{,}5</a:t>
                </a:r>
                <a:r>
                  <a:rPr sz="1800">
                    <a:solidFill>
                      <a:srgbClr val="1E293B"/>
                    </a:solidFill>
                    <a:latin typeface="Calibri"/>
                  </a:rPr>
                  <a:t>. 3.7. Nam </a:t>
                </a:r>
                <a:r>
                  <a:rPr lang="vi-VN"/>
                  <a:t>\approx 6{,}52</a:t>
                </a:r>
                <a:r>
                  <a:rPr sz="1800">
                    <a:solidFill>
                      <a:srgbClr val="1E293B"/>
                    </a:solidFill>
                    <a:latin typeface="Calibri"/>
                  </a:rPr>
                  <a:t> giờ, nữ </a:t>
                </a:r>
                <a:r>
                  <a:rPr lang="vi-VN"/>
                  <a:t>\approx 6{,}77</a:t>
                </a:r>
                <a:r>
                  <a:rPr sz="1800">
                    <a:solidFill>
                      <a:srgbClr val="1E293B"/>
                    </a:solidFill>
                    <a:latin typeface="Calibri"/>
                  </a:rPr>
                  <a:t> giờ; gộp: </a:t>
                </a:r>
                <a:r>
                  <a:rPr lang="vi-VN"/>
                  <a:t>Q_1\approx 5{,}64</a:t>
                </a:r>
                <a:r>
                  <a:rPr sz="1800">
                    <a:solidFill>
                      <a:srgbClr val="1E293B"/>
                    </a:solidFill>
                    <a:latin typeface="Calibri"/>
                  </a:rPr>
                  <a:t> giờ.</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20</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21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Giá trị đại diện của nhóm </a:t>
                </a:r>
                <a14:m>
                  <m:oMath xmlns:m="http://schemas.openxmlformats.org/officeDocument/2006/math">
                    <m:r>
                      <a:rPr lang="vi-VN" sz="2600" b="0">
                        <a:solidFill>
                          <a:srgbClr val="1E293B"/>
                        </a:solidFill>
                        <a:latin typeface="Cambria Math" panose="02040503050406030204" pitchFamily="18" charset="0"/>
                      </a:rPr>
                      <m:t>[20;</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30)</m:t>
                    </m:r>
                  </m:oMath>
                </a14:m>
                <a:r>
                  <a:rPr sz="2600">
                    <a:solidFill>
                      <a:srgbClr val="1E293B"/>
                    </a:solidFill>
                    <a:latin typeface="Calibri"/>
                  </a:rPr>
                  <a:t> là</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Giá trị đại diện của nhóm </a:t>
                </a:r>
                <a:r>
                  <a:rPr lang="vi-VN"/>
                  <a:t>[20;\ 30)</a:t>
                </a:r>
                <a:r>
                  <a:rPr sz="2600">
                    <a:solidFill>
                      <a:srgbClr val="1E293B"/>
                    </a:solidFill>
                    <a:latin typeface="Calibri"/>
                  </a:rPr>
                  <a:t>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20</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20</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25</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25</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30</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30</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10</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10</a:t>
                </a:r>
              </a:p>
            </p:txBody>
          </p:sp>
        </mc:Fallback>
      </mc:AlternateContent>
      <p:sp>
        <p:nvSpPr>
          <p:cNvPr id="16" name="s1_nen"/>
          <p:cNvSpPr/>
          <p:nvPr/>
        </p:nvSpPr>
        <p:spPr>
          <a:xfrm>
            <a:off x="548640" y="4617720"/>
            <a:ext cx="11064240" cy="75133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678179"/>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f>
                      <m:fPr>
                        <m:type m:val="bar"/>
                      </m:fPr>
                      <m:num>
                        <m:r>
                          <a:rPr lang="vi-VN" sz="2200" b="0">
                            <a:solidFill>
                              <a:srgbClr val="1E293B"/>
                            </a:solidFill>
                            <a:latin typeface="Cambria Math" panose="02040503050406030204" pitchFamily="18" charset="0"/>
                          </a:rPr>
                          <m:t>20+30</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=25</m:t>
                    </m:r>
                  </m:oMath>
                </a14:m>
                <a:r>
                  <a:rPr sz="2200">
                    <a:solidFill>
                      <a:srgbClr val="1E293B"/>
                    </a:solidFill>
                    <a:latin typeface="Calibri"/>
                  </a:rPr>
                  <a:t>.</a:t>
                </a:r>
              </a:p>
            </p:txBody>
          </p:sp>
        </mc:Choice>
        <mc:Fallback>
          <p:sp>
            <p:nvSpPr>
              <p:cNvPr id="17" name="TextBox 16"/>
              <p:cNvSpPr txBox="1"/>
              <p:nvPr/>
            </p:nvSpPr>
            <p:spPr>
              <a:xfrm>
                <a:off x="713232" y="4654296"/>
                <a:ext cx="10735056" cy="678179"/>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\frac{20+30}{2}=25</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22</a:t>
            </a:r>
          </a:p>
        </p:txBody>
      </p:sp>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Mẫu số liệu tiền mua xăng (Bảng 3.1). Xét tính đúng, sai:</a:t>
            </a:r>
          </a:p>
        </p:txBody>
      </p:sp>
      <mc:AlternateContent xmlns:mc="http://schemas.openxmlformats.org/markup-compatibility/2006">
        <mc:Choice xmlns:a14="http://schemas.microsoft.com/office/drawing/2010/main" Requires="a14">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Cỡ mẫu </a:t>
                </a:r>
                <a14:m>
                  <m:oMath xmlns:m="http://schemas.openxmlformats.org/officeDocument/2006/math">
                    <m:r>
                      <a:rPr lang="vi-VN" sz="2300" b="0">
                        <a:solidFill>
                          <a:srgbClr val="1E293B"/>
                        </a:solidFill>
                        <a:latin typeface="Cambria Math" panose="02040503050406030204" pitchFamily="18" charset="0"/>
                      </a:rPr>
                      <m:t>n=35</m:t>
                    </m:r>
                  </m:oMath>
                </a14:m>
                <a:r>
                  <a:rPr sz="2300">
                    <a:solidFill>
                      <a:srgbClr val="1E293B"/>
                    </a:solidFill>
                    <a:latin typeface="Calibri"/>
                  </a:rPr>
                  <a:t>.</a:t>
                </a:r>
              </a:p>
            </p:txBody>
          </p:sp>
        </mc:Choice>
        <mc:Fallback>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Cỡ mẫu </a:t>
                </a:r>
                <a:r>
                  <a:rPr lang="vi-VN"/>
                  <a:t>n=35</a:t>
                </a:r>
                <a:r>
                  <a:rPr sz="2300">
                    <a:solidFill>
                      <a:srgbClr val="1E293B"/>
                    </a:solidFill>
                    <a:latin typeface="Calibri"/>
                  </a:rPr>
                  <a:t>.</a:t>
                </a:r>
              </a:p>
            </p:txBody>
          </p:sp>
        </mc:Fallback>
      </mc:AlternateContent>
      <p:sp>
        <p:nvSpPr>
          <p:cNvPr id="9" name="s1_nen"/>
          <p:cNvSpPr/>
          <p:nvPr/>
        </p:nvSpPr>
        <p:spPr>
          <a:xfrm>
            <a:off x="8412480" y="1975104"/>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011680"/>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Nhóm chứa trung vị là </a:t>
                </a:r>
                <a14:m>
                  <m:oMath xmlns:m="http://schemas.openxmlformats.org/officeDocument/2006/math">
                    <m:r>
                      <a:rPr lang="vi-VN" sz="2300" b="0">
                        <a:solidFill>
                          <a:srgbClr val="1E293B"/>
                        </a:solidFill>
                        <a:latin typeface="Cambria Math" panose="02040503050406030204" pitchFamily="18" charset="0"/>
                      </a:rPr>
                      <m:t>[60;</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90)</m:t>
                    </m:r>
                  </m:oMath>
                </a14:m>
                <a:r>
                  <a:rPr sz="2300">
                    <a:solidFill>
                      <a:srgbClr val="1E293B"/>
                    </a:solidFill>
                    <a:latin typeface="Calibri"/>
                  </a:rPr>
                  <a:t>.</a:t>
                </a:r>
              </a:p>
            </p:txBody>
          </p:sp>
        </mc:Choice>
        <mc:Fallback>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Nhóm chứa trung vị là </a:t>
                </a:r>
                <a:r>
                  <a:rPr lang="vi-VN"/>
                  <a:t>[60;\ 90)</a:t>
                </a:r>
                <a:r>
                  <a:rPr sz="2300">
                    <a:solidFill>
                      <a:srgbClr val="1E293B"/>
                    </a:solidFill>
                    <a:latin typeface="Calibri"/>
                  </a:rPr>
                  <a:t>.</a:t>
                </a:r>
              </a:p>
            </p:txBody>
          </p:sp>
        </mc:Fallback>
      </mc:AlternateContent>
      <p:sp>
        <p:nvSpPr>
          <p:cNvPr id="12" name="s2_nen"/>
          <p:cNvSpPr/>
          <p:nvPr/>
        </p:nvSpPr>
        <p:spPr>
          <a:xfrm>
            <a:off x="8412480" y="2962656"/>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577072" y="2999232"/>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([30; 60))</a:t>
            </a:r>
          </a:p>
        </p:txBody>
      </p:sp>
      <p:sp>
        <p:nvSpPr>
          <p:cNvPr id="14" name="TextBox 13"/>
          <p:cNvSpPr txBox="1"/>
          <p:nvPr/>
        </p:nvSpPr>
        <p:spPr>
          <a:xfrm>
            <a:off x="548640" y="3977639"/>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c) Số trung bình bằng 63 nghìn đồng.</a:t>
            </a:r>
          </a:p>
        </p:txBody>
      </p:sp>
      <p:sp>
        <p:nvSpPr>
          <p:cNvPr id="15" name="s3_nen"/>
          <p:cNvSpPr/>
          <p:nvPr/>
        </p:nvSpPr>
        <p:spPr>
          <a:xfrm>
            <a:off x="8412480" y="3950207"/>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3986783"/>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7" name="TextBox 16"/>
              <p:cNvSpPr txBox="1"/>
              <p:nvPr/>
            </p:nvSpPr>
            <p:spPr>
              <a:xfrm>
                <a:off x="548640" y="4965192"/>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d) Nhóm chứa mốt là </a:t>
                </a:r>
                <a14:m>
                  <m:oMath xmlns:m="http://schemas.openxmlformats.org/officeDocument/2006/math">
                    <m:r>
                      <a:rPr lang="vi-VN" sz="2300" b="0">
                        <a:solidFill>
                          <a:srgbClr val="1E293B"/>
                        </a:solidFill>
                        <a:latin typeface="Cambria Math" panose="02040503050406030204" pitchFamily="18" charset="0"/>
                      </a:rPr>
                      <m:t>[30;</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60)</m:t>
                    </m:r>
                  </m:oMath>
                </a14:m>
                <a:r>
                  <a:rPr sz="2300">
                    <a:solidFill>
                      <a:srgbClr val="1E293B"/>
                    </a:solidFill>
                    <a:latin typeface="Calibri"/>
                  </a:rPr>
                  <a:t>.</a:t>
                </a:r>
              </a:p>
            </p:txBody>
          </p:sp>
        </mc:Choice>
        <mc:Fallback>
          <p:sp>
            <p:nvSpPr>
              <p:cNvPr id="17" name="TextBox 16"/>
              <p:cNvSpPr txBox="1"/>
              <p:nvPr/>
            </p:nvSpPr>
            <p:spPr>
              <a:xfrm>
                <a:off x="548640" y="4965192"/>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d) Nhóm chứa mốt là </a:t>
                </a:r>
                <a:r>
                  <a:rPr lang="vi-VN"/>
                  <a:t>[30;\ 60)</a:t>
                </a:r>
                <a:r>
                  <a:rPr sz="2300">
                    <a:solidFill>
                      <a:srgbClr val="1E293B"/>
                    </a:solidFill>
                    <a:latin typeface="Calibri"/>
                  </a:rPr>
                  <a:t>.</a:t>
                </a:r>
              </a:p>
            </p:txBody>
          </p:sp>
        </mc:Fallback>
      </mc:AlternateContent>
      <p:sp>
        <p:nvSpPr>
          <p:cNvPr id="18" name="s4_nen"/>
          <p:cNvSpPr/>
          <p:nvPr/>
        </p:nvSpPr>
        <p:spPr>
          <a:xfrm>
            <a:off x="8412480" y="4937759"/>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577072" y="4974336"/>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23</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Năng suất cà phê (tạ/ha) của 20 hộ: </a:t>
                </a:r>
                <a14:m>
                  <m:oMath xmlns:m="http://schemas.openxmlformats.org/officeDocument/2006/math">
                    <m:r>
                      <a:rPr lang="vi-VN" sz="2600" b="0">
                        <a:solidFill>
                          <a:srgbClr val="1E293B"/>
                        </a:solidFill>
                        <a:latin typeface="Cambria Math" panose="02040503050406030204" pitchFamily="18" charset="0"/>
                      </a:rPr>
                      <m:t>[20;</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25)</m:t>
                    </m:r>
                  </m:oMath>
                </a14:m>
                <a:r>
                  <a:rPr sz="2600">
                    <a:solidFill>
                      <a:srgbClr val="1E293B"/>
                    </a:solidFill>
                    <a:latin typeface="Calibri"/>
                  </a:rPr>
                  <a:t>: 4; </a:t>
                </a:r>
                <a14:m>
                  <m:oMath xmlns:m="http://schemas.openxmlformats.org/officeDocument/2006/math">
                    <m:r>
                      <a:rPr lang="vi-VN" sz="2600" b="0">
                        <a:solidFill>
                          <a:srgbClr val="1E293B"/>
                        </a:solidFill>
                        <a:latin typeface="Cambria Math" panose="02040503050406030204" pitchFamily="18" charset="0"/>
                      </a:rPr>
                      <m:t>[25;</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30)</m:t>
                    </m:r>
                  </m:oMath>
                </a14:m>
                <a:r>
                  <a:rPr sz="2600">
                    <a:solidFill>
                      <a:srgbClr val="1E293B"/>
                    </a:solidFill>
                    <a:latin typeface="Calibri"/>
                  </a:rPr>
                  <a:t>: 10; </a:t>
                </a:r>
                <a14:m>
                  <m:oMath xmlns:m="http://schemas.openxmlformats.org/officeDocument/2006/math">
                    <m:r>
                      <a:rPr lang="vi-VN" sz="2600" b="0">
                        <a:solidFill>
                          <a:srgbClr val="1E293B"/>
                        </a:solidFill>
                        <a:latin typeface="Cambria Math" panose="02040503050406030204" pitchFamily="18" charset="0"/>
                      </a:rPr>
                      <m:t>[30;</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35)</m:t>
                    </m:r>
                  </m:oMath>
                </a14:m>
                <a:r>
                  <a:rPr sz="2600">
                    <a:solidFill>
                      <a:srgbClr val="1E293B"/>
                    </a:solidFill>
                    <a:latin typeface="Calibri"/>
                  </a:rPr>
                  <a:t>: 6. Tính năng suất trung bình (tạ/ha).</a:t>
                </a:r>
              </a:p>
            </p:txBody>
          </p:sp>
        </mc:Choice>
        <mc:Fallback>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Năng suất cà phê (tạ/ha) của 20 hộ: </a:t>
                </a:r>
                <a:r>
                  <a:rPr lang="vi-VN"/>
                  <a:t>[20;\ 25)</a:t>
                </a:r>
                <a:r>
                  <a:rPr sz="2600">
                    <a:solidFill>
                      <a:srgbClr val="1E293B"/>
                    </a:solidFill>
                    <a:latin typeface="Calibri"/>
                  </a:rPr>
                  <a:t>: 4; </a:t>
                </a:r>
                <a:r>
                  <a:rPr lang="vi-VN"/>
                  <a:t>[25;\ 30)</a:t>
                </a:r>
                <a:r>
                  <a:rPr sz="2600">
                    <a:solidFill>
                      <a:srgbClr val="1E293B"/>
                    </a:solidFill>
                    <a:latin typeface="Calibri"/>
                  </a:rPr>
                  <a:t>: 10; </a:t>
                </a:r>
                <a:r>
                  <a:rPr lang="vi-VN"/>
                  <a:t>[30;\ 35)</a:t>
                </a:r>
                <a:r>
                  <a:rPr sz="2600">
                    <a:solidFill>
                      <a:srgbClr val="1E293B"/>
                    </a:solidFill>
                    <a:latin typeface="Calibri"/>
                  </a:rPr>
                  <a:t>: 6. Tính năng suất trung bình (tạ/ha).</a:t>
                </a:r>
              </a:p>
            </p:txBody>
          </p:sp>
        </mc:Fallback>
      </mc:AlternateContent>
      <p:sp>
        <p:nvSpPr>
          <p:cNvPr id="8" name="s1_nen"/>
          <p:cNvSpPr/>
          <p:nvPr/>
        </p:nvSpPr>
        <p:spPr>
          <a:xfrm>
            <a:off x="548640" y="3931920"/>
            <a:ext cx="11064240" cy="79552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28.</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x</m:t>
                        </m:r>
                      </m:e>
                    </m:acc>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4·22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5+10·27</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5+6·32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num>
                      <m:den>
                        <m:r>
                          <a:rPr lang="vi-VN" sz="2400" b="0">
                            <a:solidFill>
                              <a:srgbClr val="1E293B"/>
                            </a:solidFill>
                            <a:latin typeface="Cambria Math" panose="02040503050406030204" pitchFamily="18" charset="0"/>
                          </a:rPr>
                          <m:t>20</m:t>
                        </m:r>
                      </m:den>
                    </m:f>
                    <m:r>
                      <a:rPr lang="vi-VN" sz="2400" b="0">
                        <a:solidFill>
                          <a:srgbClr val="1E293B"/>
                        </a:solidFill>
                        <a:latin typeface="Cambria Math" panose="02040503050406030204" pitchFamily="18" charset="0"/>
                      </a:rPr>
                      <m:t>=28</m:t>
                    </m:r>
                  </m:oMath>
                </a14:m>
                <a:r>
                  <a:rPr sz="2400">
                    <a:solidFill>
                      <a:srgbClr val="1E293B"/>
                    </a:solidFill>
                    <a:latin typeface="Calibri"/>
                  </a:rPr>
                  <a:t> tạ/ha.</a:t>
                </a:r>
              </a:p>
            </p:txBody>
          </p:sp>
        </mc:Choice>
        <mc:Fallback>
          <p:sp>
            <p:nvSpPr>
              <p:cNvPr id="9" name="TextBox 8"/>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28.</a:t>
                </a:r>
                <a:r>
                  <a:rPr sz="2400">
                    <a:solidFill>
                      <a:srgbClr val="1E293B"/>
                    </a:solidFill>
                    <a:latin typeface="Calibri"/>
                  </a:rPr>
                  <a:t> </a:t>
                </a:r>
                <a:r>
                  <a:rPr lang="vi-VN"/>
                  <a:t>\overline{x}=\frac{4\cdot 22{,}5+10\cdot 27{,}5+6\cdot 32{,}5}{20}=28</a:t>
                </a:r>
                <a:r>
                  <a:rPr sz="2400">
                    <a:solidFill>
                      <a:srgbClr val="1E293B"/>
                    </a:solidFill>
                    <a:latin typeface="Calibri"/>
                  </a:rPr>
                  <a:t> tạ/ha.</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24</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https://trangtu66.github.io/Taode_thi_online/cc_bai9_t11.html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3.4 – 3.7.</a:t>
            </a:r>
          </a:p>
          <a:p>
            <a:pPr algn="l" marL="365760" indent="-365760">
              <a:spcAft>
                <a:spcPts val="800"/>
              </a:spcAft>
              <a:buClr>
                <a:srgbClr val="1E40AF"/>
              </a:buClr>
              <a:buFont typeface="Arial"/>
              <a:buChar char="•"/>
            </a:pPr>
            <a:r>
              <a:rPr sz="2200">
                <a:solidFill>
                  <a:srgbClr val="1E293B"/>
                </a:solidFill>
                <a:latin typeface="Calibri"/>
              </a:rPr>
              <a:t>Nhóm: "Năng suất cà phê của xã em" – tính các số đặc trưng trên Google Sheets.</a:t>
            </a:r>
          </a:p>
          <a:p>
            <a:pPr algn="l" marL="365760" indent="-365760">
              <a:spcAft>
                <a:spcPts val="800"/>
              </a:spcAft>
              <a:buClr>
                <a:srgbClr val="1E40AF"/>
              </a:buClr>
              <a:buFont typeface="Arial"/>
              <a:buChar char="•"/>
            </a:pPr>
            <a:r>
              <a:rPr sz="2200">
                <a:solidFill>
                  <a:srgbClr val="1E293B"/>
                </a:solidFill>
                <a:latin typeface="Calibri"/>
              </a:rPr>
              <a:t>Ôn Chương III, chuẩn bị </a:t>
            </a:r>
            <a:r>
              <a:rPr sz="2200" b="1">
                <a:solidFill>
                  <a:srgbClr val="1E293B"/>
                </a:solidFill>
                <a:latin typeface="Calibri"/>
              </a:rPr>
              <a:t>Bài tập cuối chương III</a:t>
            </a:r>
            <a:r>
              <a:rPr sz="2200">
                <a:solidFill>
                  <a:srgbClr val="1E293B"/>
                </a:solidFill>
                <a:latin typeface="Calibri"/>
              </a:rPr>
              <a:t> (SGK tr.69).</a:t>
            </a:r>
          </a:p>
        </p:txBody>
      </p:sp>
      <p:pic>
        <p:nvPicPr>
          <p:cNvPr id="8" name="Picture 7" descr="QR_CungCo_Bai9_Toan11.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25</a:t>
            </a:r>
          </a:p>
        </p:txBody>
      </p:sp>
      <p:pic>
        <p:nvPicPr>
          <p:cNvPr id="7" name="Picture 6" descr="SoDoTuDuy_TOAN11_Bai9_CacSoDacTrungDoXuTheTrungTam_T19-20.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26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Dùng đầu mút trái thay cho giá trị đại diện khi tính trung bình.</a:t>
                </a:r>
              </a:p>
              <a:p>
                <a:pPr algn="l" marL="365760" indent="-365760">
                  <a:spcAft>
                    <a:spcPts val="800"/>
                  </a:spcAft>
                  <a:buClr>
                    <a:srgbClr val="1E40AF"/>
                  </a:buClr>
                  <a:buFont typeface="Arial"/>
                  <a:buChar char="•"/>
                </a:pPr>
                <a:r>
                  <a:rPr sz="2100">
                    <a:solidFill>
                      <a:srgbClr val="1E293B"/>
                    </a:solidFill>
                    <a:latin typeface="Calibri"/>
                  </a:rPr>
                  <a:t>Xác định sai nhóm chứa trung vị/tứ phân vị (phải dùng tần số tích luỹ).</a:t>
                </a:r>
              </a:p>
              <a:p>
                <a:pPr algn="l" marL="365760" indent="-365760">
                  <a:spcAft>
                    <a:spcPts val="800"/>
                  </a:spcAft>
                  <a:buClr>
                    <a:srgbClr val="1E40AF"/>
                  </a:buClr>
                  <a:buFont typeface="Arial"/>
                  <a:buChar char="•"/>
                </a:pPr>
                <a:r>
                  <a:rPr sz="2100">
                    <a:solidFill>
                      <a:srgbClr val="1E293B"/>
                    </a:solidFill>
                    <a:latin typeface="Calibri"/>
                  </a:rPr>
                  <a:t>Công thức mốt: nhầm </a:t>
                </a:r>
                <a14:m>
                  <m:oMath xmlns:m="http://schemas.openxmlformats.org/officeDocument/2006/math">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j−1</m:t>
                        </m:r>
                      </m:sub>
                    </m:sSub>
                  </m:oMath>
                </a14:m>
                <a:r>
                  <a:rPr sz="2100">
                    <a:solidFill>
                      <a:srgbClr val="1E293B"/>
                    </a:solidFill>
                    <a:latin typeface="Calibri"/>
                  </a:rPr>
                  <a:t>, </a:t>
                </a:r>
                <a14:m>
                  <m:oMath xmlns:m="http://schemas.openxmlformats.org/officeDocument/2006/math">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j+1</m:t>
                        </m:r>
                      </m:sub>
                    </m:sSub>
                  </m:oMath>
                </a14:m>
                <a:r>
                  <a:rPr sz="2100">
                    <a:solidFill>
                      <a:srgbClr val="1E293B"/>
                    </a:solidFill>
                    <a:latin typeface="Calibri"/>
                  </a:rPr>
                  <a:t>; quên quy ước </a:t>
                </a:r>
                <a14:m>
                  <m:oMath xmlns:m="http://schemas.openxmlformats.org/officeDocument/2006/math">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0</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m</m:t>
                        </m:r>
                      </m:e>
                      <m:sub>
                        <m:r>
                          <a:rPr lang="vi-VN" sz="2100" b="0">
                            <a:solidFill>
                              <a:srgbClr val="1E293B"/>
                            </a:solidFill>
                            <a:latin typeface="Cambria Math" panose="02040503050406030204" pitchFamily="18" charset="0"/>
                          </a:rPr>
                          <m:t>k+1</m:t>
                        </m:r>
                      </m:sub>
                    </m:sSub>
                    <m:r>
                      <a:rPr lang="vi-VN" sz="2100" b="0">
                        <a:solidFill>
                          <a:srgbClr val="1E293B"/>
                        </a:solidFill>
                        <a:latin typeface="Cambria Math" panose="02040503050406030204" pitchFamily="18" charset="0"/>
                      </a:rPr>
                      <m:t>=0</m:t>
                    </m:r>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Quên hiệu chỉnh số liệu rời rạc </a:t>
                </a:r>
                <a14:m>
                  <m:oMath xmlns:m="http://schemas.openxmlformats.org/officeDocument/2006/math">
                    <m:sSub>
                      <m:e>
                        <m:r>
                          <a:rPr lang="vi-VN" sz="2100" b="0">
                            <a:solidFill>
                              <a:srgbClr val="1E293B"/>
                            </a:solidFill>
                            <a:latin typeface="Cambria Math" panose="02040503050406030204" pitchFamily="18" charset="0"/>
                          </a:rPr>
                          <m:t>k</m:t>
                        </m:r>
                      </m:e>
                      <m:sub>
                        <m:r>
                          <a:rPr lang="vi-VN" sz="2100" b="0">
                            <a:solidFill>
                              <a:srgbClr val="1E293B"/>
                            </a:solidFill>
                            <a:latin typeface="Cambria Math" panose="02040503050406030204" pitchFamily="18" charset="0"/>
                          </a:rPr>
                          <m:t>1</m:t>
                        </m:r>
                      </m:sub>
                    </m:sSub>
                  </m:oMath>
                </a14:m>
                <a:r>
                  <a:rPr sz="2100">
                    <a:solidFill>
                      <a:srgbClr val="1E293B"/>
                    </a:solidFill>
                    <a:latin typeface="Calibri"/>
                  </a:rPr>
                  <a:t> – </a:t>
                </a:r>
                <a14:m>
                  <m:oMath xmlns:m="http://schemas.openxmlformats.org/officeDocument/2006/math">
                    <m:sSub>
                      <m:e>
                        <m:r>
                          <a:rPr lang="vi-VN" sz="2100" b="0">
                            <a:solidFill>
                              <a:srgbClr val="1E293B"/>
                            </a:solidFill>
                            <a:latin typeface="Cambria Math" panose="02040503050406030204" pitchFamily="18" charset="0"/>
                          </a:rPr>
                          <m:t>k</m:t>
                        </m:r>
                      </m:e>
                      <m:sub>
                        <m:r>
                          <a:rPr lang="vi-VN" sz="2100" b="0">
                            <a:solidFill>
                              <a:srgbClr val="1E293B"/>
                            </a:solidFill>
                            <a:latin typeface="Cambria Math" panose="02040503050406030204" pitchFamily="18" charset="0"/>
                          </a:rPr>
                          <m:t>2</m:t>
                        </m:r>
                      </m:sub>
                    </m:sSub>
                  </m:oMath>
                </a14:m>
                <a:r>
                  <a:rPr sz="2100">
                    <a:solidFill>
                      <a:srgbClr val="1E293B"/>
                    </a:solidFill>
                    <a:latin typeface="Calibri"/>
                  </a:rPr>
                  <a:t> (Bài 3.6).</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Dùng đầu mút trái thay cho giá trị đại diện khi tính trung bình.</a:t>
                </a:r>
              </a:p>
              <a:p>
                <a:pPr algn="l" marL="365760" indent="-365760">
                  <a:spcAft>
                    <a:spcPts val="800"/>
                  </a:spcAft>
                  <a:buClr>
                    <a:srgbClr val="1E40AF"/>
                  </a:buClr>
                  <a:buFont typeface="Arial"/>
                  <a:buChar char="•"/>
                </a:pPr>
                <a:r>
                  <a:rPr sz="2100">
                    <a:solidFill>
                      <a:srgbClr val="1E293B"/>
                    </a:solidFill>
                    <a:latin typeface="Calibri"/>
                  </a:rPr>
                  <a:t>Xác định sai nhóm chứa trung vị/tứ phân vị (phải dùng tần số tích luỹ).</a:t>
                </a:r>
              </a:p>
              <a:p>
                <a:pPr algn="l" marL="365760" indent="-365760">
                  <a:spcAft>
                    <a:spcPts val="800"/>
                  </a:spcAft>
                  <a:buClr>
                    <a:srgbClr val="1E40AF"/>
                  </a:buClr>
                  <a:buFont typeface="Arial"/>
                  <a:buChar char="•"/>
                </a:pPr>
                <a:r>
                  <a:rPr sz="2100">
                    <a:solidFill>
                      <a:srgbClr val="1E293B"/>
                    </a:solidFill>
                    <a:latin typeface="Calibri"/>
                  </a:rPr>
                  <a:t>Công thức mốt: nhầm </a:t>
                </a:r>
                <a:r>
                  <a:rPr lang="vi-VN"/>
                  <a:t>m_{j-1}</a:t>
                </a:r>
                <a:r>
                  <a:rPr sz="2100">
                    <a:solidFill>
                      <a:srgbClr val="1E293B"/>
                    </a:solidFill>
                    <a:latin typeface="Calibri"/>
                  </a:rPr>
                  <a:t>, </a:t>
                </a:r>
                <a:r>
                  <a:rPr lang="vi-VN"/>
                  <a:t>m_{j+1}</a:t>
                </a:r>
                <a:r>
                  <a:rPr sz="2100">
                    <a:solidFill>
                      <a:srgbClr val="1E293B"/>
                    </a:solidFill>
                    <a:latin typeface="Calibri"/>
                  </a:rPr>
                  <a:t>; quên quy ước </a:t>
                </a:r>
                <a:r>
                  <a:rPr lang="vi-VN"/>
                  <a:t>m_0=m_{k+1}=0</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Quên hiệu chỉnh số liệu rời rạc </a:t>
                </a:r>
                <a:r>
                  <a:rPr lang="vi-VN"/>
                  <a:t>k_1</a:t>
                </a:r>
                <a:r>
                  <a:rPr sz="2100">
                    <a:solidFill>
                      <a:srgbClr val="1E293B"/>
                    </a:solidFill>
                    <a:latin typeface="Calibri"/>
                  </a:rPr>
                  <a:t> – </a:t>
                </a:r>
                <a:r>
                  <a:rPr lang="vi-VN"/>
                  <a:t>k_2</a:t>
                </a:r>
                <a:r>
                  <a:rPr sz="2100">
                    <a:solidFill>
                      <a:srgbClr val="1E293B"/>
                    </a:solidFill>
                    <a:latin typeface="Calibri"/>
                  </a:rPr>
                  <a:t> (Bài 3.6).</a:t>
                </a: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9. Các số đặc trưng đo xu thế trung tâm – Toán 11          27</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bảng công thức in sẵn; Ví dụ 1, LT1, LT4.</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LT2, LT3, Vận dụng, Bài 3.6, 3.7; GeoGebra (Em có biết).</a:t>
            </a:r>
          </a:p>
          <a:p>
            <a:pPr algn="l" marL="365760" indent="-365760">
              <a:spcAft>
                <a:spcPts val="800"/>
              </a:spcAft>
              <a:buClr>
                <a:srgbClr val="1E40AF"/>
              </a:buClr>
              <a:buFont typeface="Arial"/>
              <a:buChar char="•"/>
            </a:pPr>
            <a:r>
              <a:rPr sz="2000">
                <a:solidFill>
                  <a:srgbClr val="1E293B"/>
                </a:solidFill>
                <a:latin typeface="Calibri"/>
              </a:rPr>
              <a:t>Khối 11 không có HS khuyết tật.</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máy tính cầm tay, phiếu số liệu 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