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Bìa. Đáp án, lời giải hiện theo click. Nút GeoGebra mở trang online (cần Internet).</a:t>
            </a:r>
          </a:p>
          <a:p>
            <a:r>
              <a:t>Khối 11 năm học 2026 – 2027 không có HS khuyết tật; vẫn ghi đủ chữ trên slide để HS tự đọc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Yêu cầu cần đạt lấy từ khung 'Kiến thức, kĩ năng' SGK tr.22.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để HS nắm lộ trình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1 (45'): Khởi động 5' – HĐ1, định nghĩa, Ví dụ 1, LT1: 8' – HĐ2, chẵn lẻ, Ví dụ 2, LT2: 9' – HĐ3, tuần hoàn, Ví dụ 3, LT3: 8' – HĐ4, y = sin x, Ví dụ 4, LT4: 8' – Vận dụng 1: 5' – Tổng kết 2'.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video mở đầu (ảnh thật, lồng tiếng, phụ đề – không nói đáp án), HS quét QR xem lại. 5'. HS dự đoán. Giải ở Vận dụng 1 cùng tiết (chu kì T = 2π/ω).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HĐ1: HS điền nhanh (click 1). Chốt khung định nghĩa (click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1: click 1. LT1: HS làm 2', click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HĐ2 – 3'. Click 1. Chốt khung (click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2: click 1. LT2: HS làm 2', click 2. Nhấn mạnh: kiểm tra đủ hai điều kiện.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HĐ3: click 1. Chốt khung (click 2). Câu hỏi hàm hằng: click 3. Nhận xét (click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3: click 1. Chú ý T = 2π/|ω|. LT3: HS làm 2', click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HĐ4: hàm số lẻ; bảng giá trị (click 1). Chiếu Hình 1.14. Chốt khung (click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4: đọc đồ thị (click 1). LT4: click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5'. Click 1, 2. Liên hệ: tập thở đúng cách, tốt cho sức khoẻ.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Trang 2: đồ thị luồng khí hô hấp (Vận dụng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Click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2 (45'): HĐ5, y = cos x 6' – Ví dụ 5, LT5: 5' – Vận dụng 2: 5' – HĐ6, y = tan x, Ví dụ 6, LT6: 8' – HĐ7, y = cot x, Ví dụ 7, LT7: 8' – Rung chuông vàng 9' – Củng cố 4'.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HĐ5: hàm số chẵn (click 1). Hình 1.15. Chốt khung (click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5: click 1. LT5: click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5'. Click 1, 2 (đối chiếu KHBD).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HĐ6: click 1. Hình 1.16. Chốt khung (click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Đọc đồ thị Hình 1.16. Ví dụ 6: click 1. LT6: click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HĐ7: click 1. Hình 1.17. Chốt khung (click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Đọc đồ thị Hình 1.17. Ví dụ 7: click 1. LT7: click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Đáp số để HS tự đối chiếu (đối chiếu KHBD; đã kiểm tra).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HS một bảng con. Mỗi câu 30 giây (Đ/S, trả lời ngắn, thực tế: 60 giây). Sai rời sàn thi; có thể 'cứu trợ' 1 lần. Cấu trúc 5 câu theo đề thi từ 2025: nhiều lựa chọn, Đúng/Sai, trả lời ngắn, thực tế. Đáp án đã kiểm tra bằng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 A: nhân thay vì chia.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1–4. S – Đ – Đ –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quét QR làm bài củng cố online ở nhà. Đáp án chỉ mở khi GV cho phép.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Củng cố cuối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rangtu66.github.io/Taode_thi_online/mon/toan/video/lop11/VIDEO_MoDau_TOAN11_Bai3_HamSoLuongGiac.mp4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trangtu66.github.io/Taode_thi_online/GGB_T11_Bai3_1_SinCos.html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hyperlink" Target="https://trangtu66.github.io/Taode_thi_online/cc_bai3_t11.html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CD34D"/>
                </a:solidFill>
                <a:latin typeface="Cambria"/>
              </a:rPr>
              <a:t>CHƯƠNG I. HÀM SỐ LƯỢNG GIÁC VÀ PHƯƠNG TRÌNH LƯỢNG GIÁC</a:t>
            </a:r>
          </a:p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BÀI 3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HÀM SỐ LƯỢNG GIÁC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2 tiết: T6 – T7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291388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53896"/>
                <a:ext cx="10735056" cy="284073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Yêu cầu cần đạt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(SGK tr.22)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Nhận biết hàm số chẵn, hàm số lẻ, hàm số tuần hoàn và đặc trưng hình học của đồ thị.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Nhận biết các hàm số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vẽ đồ thị; giải thích tập xác định, tập giá trị, tính chẵn, lẻ, tuần hoàn, chu kì, khoảng đồng biến, nghịch biến dựa vào đồ thị.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Giải quyết một số vấn đề thực tiễn gắn với hàm số lượng giác.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53896"/>
                <a:ext cx="10735056" cy="284073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Yêu cầu cần đạt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(SGK tr.22)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Nhận biết hàm số chẵn, hàm số lẻ, hàm số tuần hoàn và đặc trưng hình học của đồ thị.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Nhận biết các hàm số </a:t>
                </a:r>
                <a:r>
                  <a:rPr lang="vi-VN"/>
                  <a:t>y=\sin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y=\cos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y=\tan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y=\cot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vẽ đồ thị; giải thích tập xác định, tập giá trị, tính chẵn, lẻ, tuần hoàn, chu kì, khoảng đồng biến, nghịch biến dựa vào đồ thị.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Giải quyết một số vấn đề thực tiễn gắn với hàm số lượng giác.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48640" y="4559808"/>
            <a:ext cx="11064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Năng lực toán học:</a:t>
            </a:r>
            <a:r>
              <a:rPr sz="2200">
                <a:solidFill>
                  <a:srgbClr val="1E293B"/>
                </a:solidFill>
                <a:latin typeface="Calibri"/>
              </a:rPr>
              <a:t> tư duy và lập luận; mô hình hoá (hô hấp, dao động điều hoà, sóng biển); giải quyết vấn đề; sử dụng công cụ (GeoGebra).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Phẩm chất:</a:t>
            </a:r>
            <a:r>
              <a:rPr sz="2200">
                <a:solidFill>
                  <a:srgbClr val="1E293B"/>
                </a:solidFill>
                <a:latin typeface="Calibri"/>
              </a:rPr>
              <a:t> chăm chỉ, trung thực, trách nhiệm.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LỘ TRÌNH 2 TIẾT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920240" y="1645920"/>
                <a:ext cx="6035040" cy="7315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1. Định nghĩa. 2. Hàm số chẵn, lẻ, tuần hoàn. 3. Hàm số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Vận dụng 1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1920240" y="1645920"/>
                <a:ext cx="6035040" cy="7315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1. Định nghĩa. 2. Hàm số chẵn, lẻ, tuần hoàn. 3. Hàm số </a:t>
                </a:r>
                <a:r>
                  <a:rPr lang="vi-VN"/>
                  <a:t>y=\sin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Vận dụng 1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8046720" y="164592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Đúng hay sai? · GeoGebra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8775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920240" y="2606040"/>
                <a:ext cx="6035040" cy="7315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4.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Vận dụng 2. 5.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6.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bài tập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1920240" y="2606040"/>
                <a:ext cx="6035040" cy="7315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4. </a:t>
                </a:r>
                <a:r>
                  <a:rPr lang="vi-VN"/>
                  <a:t>y=\cos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Vận dụng 2. 5. </a:t>
                </a:r>
                <a:r>
                  <a:rPr lang="vi-VN"/>
                  <a:t>y=\tan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6. </a:t>
                </a:r>
                <a:r>
                  <a:rPr lang="vi-VN"/>
                  <a:t>y=\cot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bài tập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8046720" y="260604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Rung chuông vàng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1 (T6)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Hàm số lượng giác. Hàm số chẵn, lẻ, tuần hoàn. Hàm số y = sin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Nhận biết định nghĩa, tính chẵn lẻ, tuần hoàn của các hàm số lượng giác.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Vẽ đồ thị, nêu tính chất của hàm số y = sin 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 – NHỊP THỞ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Giả sử vận tốc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(lít/giây) của luồng khí trong một chu kì hô hấp (thời gian từ lúc bắt đầu một nhịp thở đến lúc bắt đầu nhịp thở tiếp theo) của một người ở trạng thái nghỉ ngơi được cho bởi công thức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v=0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85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trong đó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thời gian (giây).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Hãy tìm thời gian của một chu kì hô hấp đầy đủ và số chu kì hô hấp trong một phút của người đó.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(SGK Toán 11 tập một, tr.22)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Giả sử vận tốc </a:t>
                </a:r>
                <a:r>
                  <a:rPr lang="vi-VN"/>
                  <a:t>v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(lít/giây) của luồng khí trong một chu kì hô hấp (thời gian từ lúc bắt đầu một nhịp thở đến lúc bắt đầu nhịp thở tiếp theo) của một người ở trạng thái nghỉ ngơi được cho bởi công thức </a:t>
                </a:r>
                <a:r>
                  <a:rPr lang="vi-VN"/>
                  <a:t>v=0{,}85\sin\frac{\pi t}{3}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trong đó </a:t>
                </a:r>
                <a:r>
                  <a:rPr lang="vi-VN"/>
                  <a:t>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thời gian (giây).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Hãy tìm thời gian của một chu kì hô hấp đầy đủ và số chu kì hô hấp trong một phút của người đó.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(SGK Toán 11 tập một, tr.22)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349240"/>
            <a:ext cx="3931920" cy="6400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VIDEO MỞ ĐẦU</a:t>
            </a:r>
          </a:p>
        </p:txBody>
      </p:sp>
      <p:pic>
        <p:nvPicPr>
          <p:cNvPr id="9" name="Picture 8" descr="qr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074920"/>
            <a:ext cx="1188720" cy="1188720"/>
          </a:xfrm>
          <a:prstGeom prst="rect">
            <a:avLst/>
          </a:prstGeom>
        </p:spPr>
      </p:pic>
      <p:pic>
        <p:nvPicPr>
          <p:cNvPr id="10" name="Picture 9" descr="chayb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103120"/>
            <a:ext cx="43891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1. ĐỊNH NGHĨA HÀM SỐ LƯỢNG GIÁC (SGK TR.22 – 23)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8229600" cy="69494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HĐ1.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Hoàn thành bảng giá trị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tại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8229600" cy="69494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HĐ1.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Hoàn thành bảng giá trị </a:t>
                </a:r>
                <a:r>
                  <a:rPr lang="vi-VN"/>
                  <a:t>\sin x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\cos x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\tan x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\cot x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tại </a:t>
                </a:r>
                <a:r>
                  <a:rPr lang="vi-VN"/>
                  <a:t>x=\frac{\pi}{6};\ 0;\ -\frac{\pi}{2}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075687"/>
            <a:ext cx="8229600" cy="118414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112263"/>
                <a:ext cx="7900416" cy="11109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cot không xác định.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tan không xác định;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112263"/>
                <a:ext cx="7900416" cy="11109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\frac{\pi}{6}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\frac{1}{2};\ \frac{\sqrt{3}}{2};\ \frac{1}{\sqrt{3}};\ \sqrt{3}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lang="vi-VN"/>
                  <a:t>0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0;\ 1;\ 0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cot không xác định. </a:t>
                </a:r>
                <a:r>
                  <a:rPr lang="vi-VN"/>
                  <a:t>-\frac{\pi}{2}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-1;\ 0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tan không xác định; </a:t>
                </a:r>
                <a:r>
                  <a:rPr lang="vi-VN"/>
                  <a:t>0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314699"/>
            <a:ext cx="8229600" cy="220827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351275"/>
                <a:ext cx="7900416" cy="21351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Quy tắc đặt tương ứng mỗi số thực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với số thực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hàm số sin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với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hàm số côsin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 Tập xác định của hai hàm số là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hàm số tang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tập xác định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</m:t>
                    </m:r>
                    <m:d>
                      <m:dPr>
                        <m:begChr m:val="{"/>
                        <m:sepChr m:val=""/>
                        <m:endChr m:val="}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hàm số côtang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tập xác định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ℝ⧵{kπ∣k∈ℤ}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351275"/>
                <a:ext cx="7900416" cy="21351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Quy tắc đặt tương ứng mỗi số thực </a:t>
                </a:r>
                <a:r>
                  <a:rPr lang="vi-VN"/>
                  <a:t>x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với số thực </a:t>
                </a:r>
                <a:r>
                  <a:rPr lang="vi-VN"/>
                  <a:t>\sin x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hàm số sin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y=\sin x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với </a:t>
                </a:r>
                <a:r>
                  <a:rPr lang="vi-VN"/>
                  <a:t>\cos x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hàm số côsin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y=\cos x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 Tập xác định của hai hàm số là </a:t>
                </a:r>
                <a:r>
                  <a:rPr lang="vi-VN"/>
                  <a:t>\mathbb{R}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:r>
                  <a:rPr lang="vi-VN"/>
                  <a:t>y=\frac{\sin x}{\cos x}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hàm số tang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y=\tan x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tập xác định </a:t>
                </a:r>
                <a:r>
                  <a:rPr lang="vi-VN"/>
                  <a:t>\mathbb{R}\setminus\left\{\frac{\pi}{2}+k\pi\mid k\in\mathbb{Z}\right\}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:r>
                  <a:rPr lang="vi-VN"/>
                  <a:t>y=\frac{\cos x}{\sin x}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hàm số côtang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y=\cot x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tập xác định </a:t>
                </a:r>
                <a:r>
                  <a:rPr lang="vi-VN"/>
                  <a:t>\mathbb{R}\setminus\{k\pi\mid k\in\mathbb{Z}\}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2" name="Picture 11" descr="b3_dt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471863"/>
            <a:ext cx="2743200" cy="25426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1 – LUYỆN TẬP 1 (SGK TR.23)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70408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Ví dụ 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Tìm tập xác định của hàm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70408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Ví dụ 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Tìm tập xác định của hàm số </a:t>
                </a:r>
                <a:r>
                  <a:rPr lang="vi-VN"/>
                  <a:t>y=\frac{1}{\cos 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441448"/>
            <a:ext cx="11064240" cy="14904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478024"/>
                <a:ext cx="10735056" cy="14173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nghĩa khi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tức là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Tập xác định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</m:t>
                    </m:r>
                    <m:d>
                      <m:dPr>
                        <m:begChr m:val="{"/>
                        <m:sepChr m:val=""/>
                        <m:endChr m:val="}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478024"/>
                <a:ext cx="10735056" cy="14173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\frac{1}{\cos 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nghĩa khi </a:t>
                </a:r>
                <a:r>
                  <a:rPr lang="vi-VN"/>
                  <a:t>\cos x\ne 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tức là </a:t>
                </a:r>
                <a:r>
                  <a:rPr lang="vi-VN"/>
                  <a:t>x\ne\frac{\pi}{2}+k\pi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Tập xác định </a:t>
                </a:r>
                <a:r>
                  <a:rPr lang="vi-VN"/>
                  <a:t>\mathbb{R}\setminus\left\{\frac{\pi}{2}+k\pi\mid k\in\mathbb{Z}\right\}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4114800"/>
                <a:ext cx="11064240" cy="70408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Luyện tập 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Tìm tập xác định của hàm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4114800"/>
                <a:ext cx="11064240" cy="70408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Luyện tập 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Tìm tập xác định của hàm số </a:t>
                </a:r>
                <a:r>
                  <a:rPr lang="vi-VN"/>
                  <a:t>y=\frac{1}{\sin 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5001768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5038344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x≠0⇔x≠kπ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Tập xác định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D=ℝ⧵{kπ∣k∈ℤ}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5038344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\sin x\ne 0\Leftrightarrow x\ne k\pi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Tập xác định </a:t>
                </a:r>
                <a:r>
                  <a:rPr lang="vi-VN"/>
                  <a:t>D=\mathbb{R}\setminus\{k\pi\mid k\in\mathbb{Z}\}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2. HÀM SỐ CHẴN, HÀM SỐ LẺ – HĐ2 (SGK TR.23 – 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680960" cy="10881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g(x)=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a) Tìm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Chứng tỏ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f(−x)=f(x)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nhận xét tính đối xứng của đồ thị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c) Chứng tỏ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g(−x)=−g(x)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nhận xét đồ thị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y=g(x)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680960" cy="10881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</a:t>
                </a:r>
                <a:r>
                  <a:rPr lang="vi-VN"/>
                  <a:t>f(x)=x^2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g(x)=x^3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a) Tìm </a:t>
                </a:r>
                <a:r>
                  <a:rPr lang="vi-VN"/>
                  <a:t>D_f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D_g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Chứng tỏ </a:t>
                </a:r>
                <a:r>
                  <a:rPr lang="vi-VN"/>
                  <a:t>f(-x)=f(x)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nhận xét tính đối xứng của đồ thị </a:t>
                </a:r>
                <a:r>
                  <a:rPr lang="vi-VN"/>
                  <a:t>y=f(x)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c) Chứng tỏ </a:t>
                </a:r>
                <a:r>
                  <a:rPr lang="vi-VN"/>
                  <a:t>g(-x)=-g(x)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nhận xét đồ thị </a:t>
                </a:r>
                <a:r>
                  <a:rPr lang="vi-VN"/>
                  <a:t>y=g(x)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551176"/>
            <a:ext cx="7680960" cy="87477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87752"/>
                <a:ext cx="735177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=ℝ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Đồ thị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đối xứng qua trục tung. c) Đồ thị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đối xứng qua gốc toạ độ.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87752"/>
                <a:ext cx="735177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D_f=D_g=\mathbb{R}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Đồ thị </a:t>
                </a:r>
                <a:r>
                  <a:rPr lang="vi-VN"/>
                  <a:t>y=x^2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đối xứng qua trục tung. c) Đồ thị </a:t>
                </a:r>
                <a:r>
                  <a:rPr lang="vi-VN"/>
                  <a:t>y=x^3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đối xứng qua gốc toạ độ.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517392"/>
            <a:ext cx="7680960" cy="199034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553968"/>
                <a:ext cx="7351776" cy="191719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tập xác định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số chẵn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∀x∈D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thì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−x∈D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f(−x)=f(x)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Đồ thị nhận trục tung làm trục đối xứng.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số lẻ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∀x∈D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thì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−x∈D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f(−x)=−f(x)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Đồ thị nhận gốc toạ độ làm tâm đối xứng.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553968"/>
                <a:ext cx="7351776" cy="191719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:r>
                  <a:rPr lang="vi-VN"/>
                  <a:t>y=f(x)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tập xác định </a:t>
                </a:r>
                <a:r>
                  <a:rPr lang="vi-VN"/>
                  <a:t>D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số chẵn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\forall x\in D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thì </a:t>
                </a:r>
                <a:r>
                  <a:rPr lang="vi-VN"/>
                  <a:t>-x\in D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f(-x)=f(x)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Đồ thị nhận trục tung làm trục đối xứng.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số lẻ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\forall x\in D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thì </a:t>
                </a:r>
                <a:r>
                  <a:rPr lang="vi-VN"/>
                  <a:t>-x\in D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f(-x)=-f(x)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Đồ thị nhận gốc toạ độ làm tâm đối xứng.</a:t>
                </a:r>
              </a:p>
            </p:txBody>
          </p:sp>
        </mc:Fallback>
      </mc:AlternateContent>
      <p:pic>
        <p:nvPicPr>
          <p:cNvPr id="12" name="Picture 11" descr="b3_h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38306"/>
            <a:ext cx="3108958" cy="21012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2 – LUYỆN TẬP 2 (SGK TR.24)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Ví dụ 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Xét tính chẵn, lẻ của hàm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f(x)=x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Ví dụ 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Xét tính chẵn, lẻ của hàm số </a:t>
                </a:r>
                <a:r>
                  <a:rPr lang="vi-VN"/>
                  <a:t>f(x)=x\sin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276856"/>
            <a:ext cx="11064240" cy="9966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313432"/>
                <a:ext cx="10735056" cy="9235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D=ℝ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x∈D⇒−x∈D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f(−x)=(−x)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(−x)=x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x=f(x)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Vậy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hàm số chẵn.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313432"/>
                <a:ext cx="10735056" cy="9235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D=\mathbb{R}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x\in D\Rightarrow-x\in D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f(-x)=(-x)\sin(-x)=x\sin x=f(x)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Vậy </a:t>
                </a:r>
                <a:r>
                  <a:rPr lang="vi-VN"/>
                  <a:t>f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hàm số chẵn.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456432"/>
                <a:ext cx="11064240" cy="70408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Luyện tập 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Xét tính chẵn, lẻ của hàm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456432"/>
                <a:ext cx="11064240" cy="70408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Luyện tập 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Xét tính chẵn, lẻ của hàm số </a:t>
                </a:r>
                <a:r>
                  <a:rPr lang="vi-VN"/>
                  <a:t>g(x)=\frac{1}{x}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343400"/>
            <a:ext cx="11064240" cy="79552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379976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D=ℝ⧵{0}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∀x∈D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thì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−x∈D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g(−x)=−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=−g(x)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Vậy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hàm số lẻ.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379976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D=\mathbb{R}\setminus\{0\}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\forall x\in D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thì </a:t>
                </a:r>
                <a:r>
                  <a:rPr lang="vi-VN"/>
                  <a:t>-x\in D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g(-x)=-\frac{1}{x}=-g(x)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Vậy </a:t>
                </a:r>
                <a:r>
                  <a:rPr lang="vi-VN"/>
                  <a:t>g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hàm số lẻ.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HÀM SỐ TUẦN HOÀN – HĐ3 (SGK TR.24 – 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11064240" cy="7528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HĐ3.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So sánh: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(x+2π)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(x+2π)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(x+π)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(x+π)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11064240" cy="7528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HĐ3.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So sánh: a) </a:t>
                </a:r>
                <a:r>
                  <a:rPr lang="vi-VN"/>
                  <a:t>\sin(x+2\pi)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\sin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\cos(x+2\pi)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\cos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\tan(x+\pi)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\tan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d) </a:t>
                </a:r>
                <a:r>
                  <a:rPr lang="vi-VN"/>
                  <a:t>\cot(x+\pi)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\cot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142744"/>
            <a:ext cx="11064240" cy="554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1_chu"/>
          <p:cNvSpPr txBox="1"/>
          <p:nvPr/>
        </p:nvSpPr>
        <p:spPr>
          <a:xfrm>
            <a:off x="713232" y="2179320"/>
            <a:ext cx="10735056" cy="48158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>
                <a:solidFill>
                  <a:srgbClr val="1E293B"/>
                </a:solidFill>
                <a:latin typeface="Calibri"/>
              </a:rPr>
              <a:t>Các cặp đều bằng nhau.</a:t>
            </a:r>
          </a:p>
        </p:txBody>
      </p:sp>
      <p:sp>
        <p:nvSpPr>
          <p:cNvPr id="10" name="s2_nen"/>
          <p:cNvSpPr/>
          <p:nvPr/>
        </p:nvSpPr>
        <p:spPr>
          <a:xfrm>
            <a:off x="548640" y="2761487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2798063"/>
                <a:ext cx="10735056" cy="10607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có tập xác định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được gọi là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hàm số tuần hoàn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tồn tại số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T≠0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với mọi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i)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x+T∈D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x−T∈D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ii)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f(x+T)=f(x)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Số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dương nhỏ nhất thoả mãn các điều kiện trên (nếu có) được gọi là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chu kì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của hàm số tuần hoàn đó.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2798063"/>
                <a:ext cx="10735056" cy="10607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:r>
                  <a:rPr lang="vi-VN"/>
                  <a:t>y=f(x)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có tập xác định </a:t>
                </a:r>
                <a:r>
                  <a:rPr lang="vi-VN"/>
                  <a:t>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được gọi là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hàm số tuần hoàn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tồn tại số </a:t>
                </a:r>
                <a:r>
                  <a:rPr lang="vi-VN"/>
                  <a:t>T\ne 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với mọi </a:t>
                </a:r>
                <a:r>
                  <a:rPr lang="vi-VN"/>
                  <a:t>x\in 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i) </a:t>
                </a:r>
                <a:r>
                  <a:rPr lang="vi-VN"/>
                  <a:t>x+T\in 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x-T\in 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ii) </a:t>
                </a:r>
                <a:r>
                  <a:rPr lang="vi-VN"/>
                  <a:t>f(x+T)=f(x)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Số </a:t>
                </a:r>
                <a:r>
                  <a:rPr lang="vi-VN"/>
                  <a:t>T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dương nhỏ nhất thoả mãn các điều kiện trên (nếu có) được gọi là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chu kì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của hàm số tuần hoàn đó.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548640" y="3959352"/>
                <a:ext cx="11064240" cy="463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❓ Hàm số hằng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f(x)=c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có phải là hàm số tuần hoàn không? Nếu có, nó có chu kì không?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3959352"/>
                <a:ext cx="11064240" cy="463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❓ Hàm số hằng </a:t>
                </a:r>
                <a:r>
                  <a:rPr lang="vi-VN"/>
                  <a:t>f(x)=c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có phải là hàm số tuần hoàn không? Nếu có, nó có chu kì không?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4486656"/>
            <a:ext cx="11064240" cy="554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4523232"/>
                <a:ext cx="1073505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Có (mọi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T≠0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đều thoả mãn) nhưng không có chu kì vì không có số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dương nhỏ nhất.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4523232"/>
                <a:ext cx="1073505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Có (mọi </a:t>
                </a:r>
                <a:r>
                  <a:rPr lang="vi-VN"/>
                  <a:t>T\ne 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đều thoả mãn) nhưng không có chu kì vì không có số </a:t>
                </a:r>
                <a:r>
                  <a:rPr lang="vi-VN"/>
                  <a:t>T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dương nhỏ nhất.</a:t>
                </a:r>
              </a:p>
            </p:txBody>
          </p:sp>
        </mc:Fallback>
      </mc:AlternateContent>
      <p:sp>
        <p:nvSpPr>
          <p:cNvPr id="15" name="s5_nen"/>
          <p:cNvSpPr/>
          <p:nvPr/>
        </p:nvSpPr>
        <p:spPr>
          <a:xfrm>
            <a:off x="548640" y="5105400"/>
            <a:ext cx="11064240" cy="554735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s5_chu"/>
              <p:cNvSpPr txBox="1"/>
              <p:nvPr/>
            </p:nvSpPr>
            <p:spPr>
              <a:xfrm>
                <a:off x="713232" y="5141976"/>
                <a:ext cx="1073505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Nhận xét.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tuần hoàn với chu kì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tuần hoàn với chu kì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6" name="TextBox 15"/>
              <p:cNvSpPr txBox="1"/>
              <p:nvPr/>
            </p:nvSpPr>
            <p:spPr>
              <a:xfrm>
                <a:off x="713232" y="5141976"/>
                <a:ext cx="1073505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Nhận xét.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y=\sin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y=\cos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tuần hoàn với chu kì </a:t>
                </a:r>
                <a:r>
                  <a:rPr lang="vi-VN"/>
                  <a:t>2\pi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y=\tan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y=\cot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tuần hoàn với chu kì </a:t>
                </a:r>
                <a:r>
                  <a:rPr lang="vi-VN"/>
                  <a:t>\pi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3 – CHÚ Ý – LUYỆN TẬP 3 (SGK TR.25)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93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Xét tính tuần hoàn của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93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Xét tính tuần hoàn của hàm số </a:t>
                </a:r>
                <a:r>
                  <a:rPr lang="vi-VN"/>
                  <a:t>y=\sin 2x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1975104"/>
            <a:ext cx="11064240" cy="9052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011680"/>
                <a:ext cx="1073505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Tập xác định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với mọi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x±π∈ℝ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2(x+π)=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(2x+2π)=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Vậy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hàm số tuần hoàn.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011680"/>
                <a:ext cx="1073505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Tập xác định </a:t>
                </a:r>
                <a:r>
                  <a:rPr lang="vi-VN"/>
                  <a:t>\mathbb{R}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với mọi </a:t>
                </a:r>
                <a:r>
                  <a:rPr lang="vi-VN"/>
                  <a:t>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x\pm\pi\in\mathbb{R}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\sin 2(x+\pi)=\sin(2x+2\pi)=\sin 2x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Vậy </a:t>
                </a:r>
                <a:r>
                  <a:rPr lang="vi-VN"/>
                  <a:t>y=\sin 2x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hàm số tuần hoàn.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2990088"/>
            <a:ext cx="11064240" cy="104927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026664"/>
                <a:ext cx="10735056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Các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ωx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ωx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≠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những hàm số tuần hoàn với chu kì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026664"/>
                <a:ext cx="10735056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Các hàm số </a:t>
                </a:r>
                <a:r>
                  <a:rPr lang="vi-VN"/>
                  <a:t>y=A\sin\omega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y=A\cos\omega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(\omega\ne 0)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những hàm số tuần hoàn với chu kì </a:t>
                </a:r>
                <a:r>
                  <a:rPr lang="vi-VN"/>
                  <a:t>T=\frac{2\pi}{|\omega|}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548640" y="4149090"/>
                <a:ext cx="11064240" cy="493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Xét tính tuần hoàn của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4149090"/>
                <a:ext cx="11064240" cy="493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Xét tính tuần hoàn của hàm số </a:t>
                </a:r>
                <a:r>
                  <a:rPr lang="vi-VN"/>
                  <a:t>y=\tan 2x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4752594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4789170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D=ℝ⧵</m:t>
                    </m:r>
                    <m:d>
                      <m:dPr>
                        <m:begChr m:val="{"/>
                        <m:sepChr m:val="+"/>
                        <m:endChr m:val="}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kπ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∈D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sepChr m:val="+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(2x+π)=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tuần hoàn (chu kì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4789170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D=\mathbb{R}\setminus\left\{\frac{\pi}{4}+\frac{k\pi}{2}\right\}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x\pm\frac{\pi}{2}\in D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\tan 2\left(x+\frac{\pi}{2}\right)=\tan(2x+\pi)=\tan 2x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tuần hoàn (chu kì </a:t>
                </a:r>
                <a:r>
                  <a:rPr lang="vi-VN"/>
                  <a:t>\frac{\pi}{2}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3. ĐỒ THỊ VÀ TÍNH CHẤT CỦA HÀM SỐ y = sin x (SGK TR.25 – 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a) Xét tính chẵn, lẻ của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Lập bảng giá trị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nối các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M(x;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a) Xét tính chẵn, lẻ của </a:t>
                </a:r>
                <a:r>
                  <a:rPr lang="vi-VN"/>
                  <a:t>y=\sin 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Lập bảng giá trị trên </a:t>
                </a:r>
                <a:r>
                  <a:rPr lang="vi-VN"/>
                  <a:t>[-\pi;\ \pi]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nối các điểm </a:t>
                </a:r>
                <a:r>
                  <a:rPr lang="vi-VN"/>
                  <a:t>M(x;\ \sin 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164079"/>
            <a:ext cx="11064240" cy="12862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200655"/>
                <a:ext cx="10735056" cy="12131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(−x)=−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hàm số lẻ. 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(các giá trị với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âm đổi dấu).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200655"/>
                <a:ext cx="10735056" cy="12131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\sin(-x)=-\sin 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hàm số lẻ. b) </a:t>
                </a:r>
                <a:r>
                  <a:rPr lang="vi-VN"/>
                  <a:t>x=0;\ \frac{\pi}{4};\ \frac{\pi}{2};\ \frac{3\pi}{4};\ 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</a:t>
                </a:r>
                <a:r>
                  <a:rPr lang="vi-VN"/>
                  <a:t>\sin x=0;\ \frac{\sqrt{2}}{2};\ 1;\ \frac{\sqrt{2}}{2};\ 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(các giá trị với </a:t>
                </a:r>
                <a:r>
                  <a:rPr lang="vi-VN"/>
                  <a:t>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âm đổi dấu).</a:t>
                </a:r>
              </a:p>
            </p:txBody>
          </p:sp>
        </mc:Fallback>
      </mc:AlternateContent>
      <p:pic>
        <p:nvPicPr>
          <p:cNvPr id="10" name="Picture 9" descr="b3_h1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509" y="2880360"/>
            <a:ext cx="7098501" cy="1828800"/>
          </a:xfrm>
          <a:prstGeom prst="rect">
            <a:avLst/>
          </a:prstGeom>
        </p:spPr>
      </p:pic>
      <p:sp>
        <p:nvSpPr>
          <p:cNvPr id="11" name="s2_nen"/>
          <p:cNvSpPr/>
          <p:nvPr/>
        </p:nvSpPr>
        <p:spPr>
          <a:xfrm>
            <a:off x="548640" y="4754880"/>
            <a:ext cx="11064240" cy="145846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2_chu"/>
              <p:cNvSpPr txBox="1"/>
              <p:nvPr/>
            </p:nvSpPr>
            <p:spPr>
              <a:xfrm>
                <a:off x="713232" y="4791456"/>
                <a:ext cx="10735056" cy="138531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tập xác định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tập giá trị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hàm số lẻ, tuần hoàn chu kì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đồng biến trên mỗi khoảng </a:t>
                </a:r>
                <a14:m>
                  <m:oMath xmlns:m="http://schemas.openxmlformats.org/officeDocument/2006/math">
                    <m:d>
                      <m:dPr>
                        <m:sepChr m:val="+"/>
                      </m:dPr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nghịch biến trên mỗi khoảng </a:t>
                </a:r>
                <a14:m>
                  <m:oMath xmlns:m="http://schemas.openxmlformats.org/officeDocument/2006/math">
                    <m:d>
                      <m:dPr>
                        <m:sepChr m:val="+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k∈ℤ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đồ thị đối xứng qua gốc toạ độ, gọi là một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đường hình sin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791456"/>
                <a:ext cx="10735056" cy="138531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:r>
                  <a:rPr lang="vi-VN"/>
                  <a:t>y=\sin x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tập xác định </a:t>
                </a:r>
                <a:r>
                  <a:rPr lang="vi-VN"/>
                  <a:t>\mathbb{R}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tập giá trị </a:t>
                </a:r>
                <a:r>
                  <a:rPr lang="vi-VN"/>
                  <a:t>[-1;\ 1]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hàm số lẻ, tuần hoàn chu kì </a:t>
                </a:r>
                <a:r>
                  <a:rPr lang="vi-VN"/>
                  <a:t>2\pi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đồng biến trên mỗi khoảng </a:t>
                </a:r>
                <a:r>
                  <a:rPr lang="vi-VN"/>
                  <a:t>\left(-\frac{\pi}{2}+k2\pi;\ \frac{\pi}{2}+k2\pi\right)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nghịch biến trên mỗi khoảng </a:t>
                </a:r>
                <a:r>
                  <a:rPr lang="vi-VN"/>
                  <a:t>\left(\frac{\pi}{2}+k2\pi;\ \frac{3\pi}{2}+k2\pi\right)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k\in\mathbb{Z}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đồ thị đối xứng qua gốc toạ độ, gọi là một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đường hình sin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4 – LUYỆN TẬP 4 (SGK TR.26)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1460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Ví dụ 4.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Dùng Hình 1.14, xác định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</m:t>
                    </m:r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3π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a) bằng 0; b) dương.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1460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Ví dụ 4.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Dùng Hình 1.14, xác định </a:t>
                </a:r>
                <a:r>
                  <a:rPr lang="vi-VN"/>
                  <a:t>x\in\left[-\frac{\pi}{2};\ \frac{3\pi}{2}\right]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y=\sin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a) bằng 0; b) dương.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654808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691384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x∈(0;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(phần đồ thị nằm trên trục hoành).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691384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x=0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x=\pi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y&gt;0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x\in(0;\ \pi)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(phần đồ thị nằm trên trục hoành).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392424"/>
                <a:ext cx="11064240" cy="5090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Luyện tập 4.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Tìm tập giá trị của hàm số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392424"/>
                <a:ext cx="11064240" cy="5090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Luyện tập 4.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Tìm tập giá trị của hàm số </a:t>
                </a:r>
                <a:r>
                  <a:rPr lang="vi-VN"/>
                  <a:t>y=2\sin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03860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07517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−1≤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x≤1⇒−2≤2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x≤2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Tập giá trị là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07517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-1\le\sin x\le 1\Rightarrow-2\le 2\sin x\le 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Tập giá trị là </a:t>
                </a:r>
                <a:r>
                  <a:rPr lang="vi-VN"/>
                  <a:t>[-2;\ 2]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3" name="Picture 12" descr="b3_h1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714" y="4572000"/>
            <a:ext cx="6388651" cy="1645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VẬN DỤNG 1 – GIẢI TÌNH HUỐNG MỞ ĐẦU (SGK TR.26)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3830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 b="1">
                    <a:solidFill>
                      <a:srgbClr val="1E293B"/>
                    </a:solidFill>
                    <a:latin typeface="Calibri"/>
                  </a:rPr>
                  <a:t>Vận dụng 1.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v=0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85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 a) Giải bài toán ở tình huống mở đầu. b) Hít vào khi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v&gt;0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, thở ra khi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v&lt;0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 Trong khoảng từ 0 đến 5 giây, khi nào người đó hít vào? thở ra?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3830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 b="1">
                    <a:solidFill>
                      <a:srgbClr val="1E293B"/>
                    </a:solidFill>
                    <a:latin typeface="Calibri"/>
                  </a:rPr>
                  <a:t>Vận dụng 1.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v=0{,}85\sin\frac{\pi t}{3}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 a) Giải bài toán ở tình huống mở đầu. b) Hít vào khi </a:t>
                </a:r>
                <a:r>
                  <a:rPr lang="vi-VN"/>
                  <a:t>v&gt;0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, thở ra khi </a:t>
                </a:r>
                <a:r>
                  <a:rPr lang="vi-VN"/>
                  <a:t>v&lt;0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 Trong khoảng từ 0 đến 5 giây, khi nào người đó hít vào? thở ra?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028950"/>
            <a:ext cx="11064240" cy="12816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065526"/>
                <a:ext cx="10735056" cy="12085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Chu kì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f>
                          <m:fPr>
                            <m:type m:val="lin"/>
                          </m:fPr>
                          <m:num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(giây): một chu kì hô hấp kéo dài 6 giây; số chu kì trong một phút là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065526"/>
                <a:ext cx="10735056" cy="12085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Chu kì </a:t>
                </a:r>
                <a:r>
                  <a:rPr lang="vi-VN"/>
                  <a:t>T=\frac{2\pi}{\pi/3}=6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(giây): một chu kì hô hấp kéo dài 6 giây; số chu kì trong một phút là </a:t>
                </a:r>
                <a:r>
                  <a:rPr lang="vi-VN"/>
                  <a:t>\frac{60}{6}=10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4493514"/>
            <a:ext cx="11064240" cy="7734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4530090"/>
                <a:ext cx="10735056" cy="7002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v&gt;0⇔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&gt;0⇔0&lt;t&lt;3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: hít vào từ 0 đến 3 giây; thở ra từ 3 đến 5 giây.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4530090"/>
                <a:ext cx="10735056" cy="7002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v&gt;0\Leftrightarrow\sin\frac{\pi t}{3}&gt;0\Leftrightarrow 0&lt;t&lt;3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: hít vào từ 0 đến 3 giây; thở ra từ 3 đến 5 giây.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GEOGEBRA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GEOGEBRA – TỪ ĐƯỜNG TRÒN LƯỢNG GIÁC ĐẾN ĐỒ THỊ y = sin 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Kéo thanh trượt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điểm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chạy trên đường tròn lượng giác.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Điểm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chạy trên đồ thị – tung độ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luôn bằng nhau.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(nét đứt) để so sánh.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Kéo thanh trượt </a:t>
                </a:r>
                <a:r>
                  <a:rPr lang="vi-VN"/>
                  <a:t>x_0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điểm </a:t>
                </a:r>
                <a:r>
                  <a:rPr lang="vi-VN"/>
                  <a:t>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chạy trên đường tròn lượng giác.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Điểm </a:t>
                </a:r>
                <a:r>
                  <a:rPr lang="vi-VN"/>
                  <a:t>P(x_0;\ \sin x_0)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chạy trên đồ thị – tung độ </a:t>
                </a:r>
                <a:r>
                  <a:rPr lang="vi-VN"/>
                  <a:t>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P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luôn bằng nhau.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:r>
                  <a:rPr lang="vi-VN"/>
                  <a:t>y=\cos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(nét đứt) để so sánh.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074920"/>
            <a:ext cx="3840480" cy="6858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▶  MỞ GEOGEBRA</a:t>
            </a:r>
          </a:p>
        </p:txBody>
      </p:sp>
      <p:pic>
        <p:nvPicPr>
          <p:cNvPr id="9" name="Picture 8" descr="qr_ggb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72000"/>
            <a:ext cx="1325880" cy="1325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0644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Quét QR mở trên điện thoại. Kéo điểm để thay đổi hình.</a:t>
            </a:r>
          </a:p>
        </p:txBody>
      </p:sp>
      <p:pic>
        <p:nvPicPr>
          <p:cNvPr id="11" name="Picture 10" descr="b3_h1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079037"/>
            <a:ext cx="4846320" cy="12485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ĐÚNG HAY SAI?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64748B"/>
                </a:solidFill>
                <a:latin typeface="Calibri"/>
              </a:rPr>
              <a:t>📋 Cả lớp giơ thẻ Đ/S trong 15 giây mỗi câu.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18288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hàm số chẵn.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18288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Hàm số </a:t>
                </a:r>
                <a:r>
                  <a:rPr lang="vi-VN"/>
                  <a:t>y=\cos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hàm số chẵn.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8961120" y="1828800"/>
            <a:ext cx="2651759" cy="6858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961120" y="1883664"/>
            <a:ext cx="265175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48640" y="27432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hàm số chẵn.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48640" y="27432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Hàm số </a:t>
                </a:r>
                <a:r>
                  <a:rPr lang="vi-VN"/>
                  <a:t>y=x^2\sin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hàm số chẵn.</a:t>
                </a:r>
              </a:p>
            </p:txBody>
          </p:sp>
        </mc:Fallback>
      </mc:AlternateContent>
      <p:sp>
        <p:nvSpPr>
          <p:cNvPr id="12" name="s2_nen"/>
          <p:cNvSpPr/>
          <p:nvPr/>
        </p:nvSpPr>
        <p:spPr>
          <a:xfrm>
            <a:off x="8961120" y="2743200"/>
            <a:ext cx="2651759" cy="6858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961120" y="2798064"/>
            <a:ext cx="265175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SAI</a:t>
            </a:r>
            <a:r>
              <a:rPr sz="1700">
                <a:solidFill>
                  <a:srgbClr val="FFFFFF"/>
                </a:solidFill>
                <a:latin typeface="Calibri"/>
              </a:rPr>
              <a:t> (lẻ)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8640" y="36576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chu kì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48640" y="36576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Hàm số </a:t>
                </a:r>
                <a:r>
                  <a:rPr lang="vi-VN"/>
                  <a:t>y=\sin 3x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chu kì </a:t>
                </a:r>
                <a:r>
                  <a:rPr lang="vi-VN"/>
                  <a:t>\frac{2\pi}{3}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5" name="s3_nen"/>
          <p:cNvSpPr/>
          <p:nvPr/>
        </p:nvSpPr>
        <p:spPr>
          <a:xfrm>
            <a:off x="8961120" y="3657600"/>
            <a:ext cx="2651759" cy="6858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961120" y="3712463"/>
            <a:ext cx="265175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48640" y="45720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Tập giá trị của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548640" y="45720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Tập giá trị của </a:t>
                </a:r>
                <a:r>
                  <a:rPr lang="vi-VN"/>
                  <a:t>y=\sin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lang="vi-VN"/>
                  <a:t>\mathbb{R}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8" name="s4_nen"/>
          <p:cNvSpPr/>
          <p:nvPr/>
        </p:nvSpPr>
        <p:spPr>
          <a:xfrm>
            <a:off x="8961120" y="4572000"/>
            <a:ext cx="2651759" cy="6858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961120" y="4626864"/>
            <a:ext cx="265175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SAI</a:t>
            </a:r>
            <a:r>
              <a:rPr sz="1700">
                <a:solidFill>
                  <a:srgbClr val="FFFFFF"/>
                </a:solidFill>
                <a:latin typeface="Calibri"/>
              </a:rPr>
              <a:t> ([−1; 1])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TỔNG KẾT TIẾT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1857756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7846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Chẵn: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f(−x)=f(x)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(đối xứng qua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Oy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); lẻ: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f(−x)=−f(x)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(đối xứng qua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); kiểm tra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đối xứng.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D=ℝ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tập giá trị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lẻ, chu kì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ωx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có chu kì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7846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Chẵn: </a:t>
                </a:r>
                <a:r>
                  <a:rPr lang="vi-VN"/>
                  <a:t>f(-x)=f(x)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(đối xứng qua </a:t>
                </a:r>
                <a:r>
                  <a:rPr lang="vi-VN"/>
                  <a:t>Oy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); lẻ: </a:t>
                </a:r>
                <a:r>
                  <a:rPr lang="vi-VN"/>
                  <a:t>f(-x)=-f(x)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(đối xứng qua </a:t>
                </a:r>
                <a:r>
                  <a:rPr lang="vi-VN"/>
                  <a:t>O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); kiểm tra </a:t>
                </a:r>
                <a:r>
                  <a:rPr lang="vi-VN"/>
                  <a:t>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đối xứng.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y=\sin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D=\mathbb{R}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tập giá trị </a:t>
                </a:r>
                <a:r>
                  <a:rPr lang="vi-VN"/>
                  <a:t>[-1;\ 1]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lẻ, chu kì </a:t>
                </a:r>
                <a:r>
                  <a:rPr lang="vi-VN"/>
                  <a:t>2\pi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y=A\sin\omega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có chu kì </a:t>
                </a:r>
                <a:r>
                  <a:rPr lang="vi-VN"/>
                  <a:t>\frac{2\pi}{|\omega|}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48640" y="3549396"/>
            <a:ext cx="11064240" cy="1472184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85972"/>
            <a:ext cx="10735056" cy="1399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Làm Bài tập 1.14, 1.15 (SGK tr.30).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mục 4 – 6 (SGK tr.26 – 30).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2 (T7)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Đồ thị và tính chất của y = cos x, y = tan x, y = cot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Vẽ đồ thị, nêu tính chất của y = cos x, y = tan x, y = cot x.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Vận dụng vào dao động điều hoà, sóng biển.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4. ĐỒ THỊ VÀ TÍNH CHẤT CỦA HÀM SỐ y = cos x (SGK TR.26 – 27)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11064240" cy="4785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HĐ5.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a) Xét tính chẵn, lẻ của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Lập bảng giá trị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11064240" cy="4785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HĐ5.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a) Xét tính chẵn, lẻ của </a:t>
                </a:r>
                <a:r>
                  <a:rPr lang="vi-VN"/>
                  <a:t>y=\cos 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Lập bảng giá trị trên </a:t>
                </a:r>
                <a:r>
                  <a:rPr lang="vi-VN"/>
                  <a:t>[-\pi;\ \pi]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1859280"/>
            <a:ext cx="11064240" cy="12862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1895856"/>
                <a:ext cx="10735056" cy="12131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(−x)=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hàm số chẵn. 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(đối xứng với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âm).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1895856"/>
                <a:ext cx="10735056" cy="12131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\cos(-x)=\cos 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hàm số chẵn. b) </a:t>
                </a:r>
                <a:r>
                  <a:rPr lang="vi-VN"/>
                  <a:t>x=0;\ \frac{\pi}{4};\ \frac{\pi}{2};\ \frac{3\pi}{4};\ 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</a:t>
                </a:r>
                <a:r>
                  <a:rPr lang="vi-VN"/>
                  <a:t>\cos x=1;\ \frac{\sqrt{2}}{2};\ 0;\ -\frac{\sqrt{2}}{2};\ 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(đối xứng với </a:t>
                </a:r>
                <a:r>
                  <a:rPr lang="vi-VN"/>
                  <a:t>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âm).</a:t>
                </a:r>
              </a:p>
            </p:txBody>
          </p:sp>
        </mc:Fallback>
      </mc:AlternateContent>
      <p:pic>
        <p:nvPicPr>
          <p:cNvPr id="10" name="Picture 9" descr="b3_h1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789" y="2834640"/>
            <a:ext cx="7053942" cy="1828800"/>
          </a:xfrm>
          <a:prstGeom prst="rect">
            <a:avLst/>
          </a:prstGeom>
        </p:spPr>
      </p:pic>
      <p:sp>
        <p:nvSpPr>
          <p:cNvPr id="11" name="s2_nen"/>
          <p:cNvSpPr/>
          <p:nvPr/>
        </p:nvSpPr>
        <p:spPr>
          <a:xfrm>
            <a:off x="548640" y="4754880"/>
            <a:ext cx="11064240" cy="108813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2_chu"/>
              <p:cNvSpPr txBox="1"/>
              <p:nvPr/>
            </p:nvSpPr>
            <p:spPr>
              <a:xfrm>
                <a:off x="713232" y="4791456"/>
                <a:ext cx="10735056" cy="10149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tập xác định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tập giá trị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hàm số chẵn, tuần hoàn chu kì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đồng biến trên mỗi khoảng </a:t>
                </a:r>
                <a14:m>
                  <m:oMath xmlns:m="http://schemas.openxmlformats.org/officeDocument/2006/math">
                    <m:d>
                      <m:dPr>
                        <m:sepChr m:val="+"/>
                      </m:dPr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nghịch biến trên mỗi khoảng </a:t>
                </a:r>
                <a14:m>
                  <m:oMath xmlns:m="http://schemas.openxmlformats.org/officeDocument/2006/math">
                    <m:d>
                      <m:dPr>
                        <m:sepChr m:val="+"/>
                      </m:dPr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k∈ℤ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đồ thị là một đường hình sin đối xứng qua trục tung.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791456"/>
                <a:ext cx="10735056" cy="10149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:r>
                  <a:rPr lang="vi-VN"/>
                  <a:t>y=\cos x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tập xác định </a:t>
                </a:r>
                <a:r>
                  <a:rPr lang="vi-VN"/>
                  <a:t>\mathbb{R}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tập giá trị </a:t>
                </a:r>
                <a:r>
                  <a:rPr lang="vi-VN"/>
                  <a:t>[-1;\ 1]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hàm số chẵn, tuần hoàn chu kì </a:t>
                </a:r>
                <a:r>
                  <a:rPr lang="vi-VN"/>
                  <a:t>2\pi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đồng biến trên mỗi khoảng </a:t>
                </a:r>
                <a:r>
                  <a:rPr lang="vi-VN"/>
                  <a:t>(-\pi+k2\pi;\ k2\pi)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nghịch biến trên mỗi khoảng </a:t>
                </a:r>
                <a:r>
                  <a:rPr lang="vi-VN"/>
                  <a:t>(k2\pi;\ \pi+k2\pi)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k\in\mathbb{Z}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đồ thị là một đường hình sin đối xứng qua trục tung.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5 – LUYỆN TẬP 5 (SGK TR.27)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1018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5.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Dùng Hình 1.15, xác định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</m:t>
                    </m:r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a) bằng 0; b) âm. </a:t>
                </a: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5.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tập giá trị của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y=−3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1018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5.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Dùng Hình 1.15, xác định </a:t>
                </a:r>
                <a:r>
                  <a:rPr lang="vi-VN"/>
                  <a:t>x\in\left[-\frac{3\pi}{2};\ \frac{\pi}{2}\right]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y=\cos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a) bằng 0; b) âm. </a:t>
                </a: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5.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tập giá trị của </a:t>
                </a:r>
                <a:r>
                  <a:rPr lang="vi-VN"/>
                  <a:t>y=-3\cos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583180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619756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Ví dụ 5: 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y&lt;0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</m:t>
                    </m:r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619756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Ví dụ 5: a) </a:t>
                </a:r>
                <a:r>
                  <a:rPr lang="vi-VN"/>
                  <a:t>x=-\frac{3\pi}{2};\ -\frac{\pi}{2};\ \frac{\pi}{2}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y&lt;0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x\in\left(-\frac{3\pi}{2};\ -\frac{\pi}{2}\right)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710178"/>
            <a:ext cx="11064240" cy="58521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746754"/>
                <a:ext cx="107350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Luyện tập 5: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−1≤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x≤1⇒−3≤−3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x≤3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Tập giá trị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746754"/>
                <a:ext cx="107350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Luyện tập 5: </a:t>
                </a:r>
                <a:r>
                  <a:rPr lang="vi-VN"/>
                  <a:t>-1\le\cos x\le 1\Rightarrow-3\le-3\cos x\le 3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Tập giá trị </a:t>
                </a:r>
                <a:r>
                  <a:rPr lang="vi-VN"/>
                  <a:t>[-3;\ 3]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VẬN DỤNG 2 – DAO ĐỘNG ĐIỀU HOÀ (SGK TR.27)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13830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 b="1">
                    <a:solidFill>
                      <a:srgbClr val="1E293B"/>
                    </a:solidFill>
                    <a:latin typeface="Calibri"/>
                  </a:rPr>
                  <a:t>Vận dụng 2.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Vật dao động điều hoà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x(t)=A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(ωt+φ)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, chu kì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 Với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x(t)=−5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4πt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(cm): a) Xác định biên độ, pha ban đầu. b) Tính pha tại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t=2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giây; trong 2 giây vật thực hiện bao nhiêu dao động toàn phần?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13830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 b="1">
                    <a:solidFill>
                      <a:srgbClr val="1E293B"/>
                    </a:solidFill>
                    <a:latin typeface="Calibri"/>
                  </a:rPr>
                  <a:t>Vận dụng 2.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Vật dao động điều hoà </a:t>
                </a:r>
                <a:r>
                  <a:rPr lang="vi-VN"/>
                  <a:t>x(t)=A\cos(\omega t+\varphi)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, chu kì </a:t>
                </a:r>
                <a:r>
                  <a:rPr lang="vi-VN"/>
                  <a:t>T=\frac{2\pi}{\omega}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 Với </a:t>
                </a:r>
                <a:r>
                  <a:rPr lang="vi-VN"/>
                  <a:t>x(t)=-5\cos 4\pi t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(cm): a) Xác định biên độ, pha ban đầu. b) Tính pha tại </a:t>
                </a:r>
                <a:r>
                  <a:rPr lang="vi-VN"/>
                  <a:t>t=2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giây; trong 2 giây vật thực hiện bao nhiêu dao động toàn phần?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166110"/>
            <a:ext cx="11064240" cy="6156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202686"/>
                <a:ext cx="10735056" cy="5425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x(t)=5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(4πt+π)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: biên độ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A=5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cm, pha ban đầu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φ=π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202686"/>
                <a:ext cx="10735056" cy="5425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x(t)=5\cos(4\pi t+\pi)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: biên độ </a:t>
                </a:r>
                <a:r>
                  <a:rPr lang="vi-VN"/>
                  <a:t>A=5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cm, pha ban đầu </a:t>
                </a:r>
                <a:r>
                  <a:rPr lang="vi-VN"/>
                  <a:t>\varphi=\pi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4010406"/>
            <a:ext cx="11064240" cy="12816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4046982"/>
                <a:ext cx="10735056" cy="12085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Pha tại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t=2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4π·2+π=9π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 Chu kì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giây nên trong 2 giây vật thực hiện 4 dao động toàn phần.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4046982"/>
                <a:ext cx="10735056" cy="12085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Pha tại </a:t>
                </a:r>
                <a:r>
                  <a:rPr lang="vi-VN"/>
                  <a:t>t=2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4\pi\cdot 2+\pi=9\pi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 Chu kì </a:t>
                </a:r>
                <a:r>
                  <a:rPr lang="vi-VN"/>
                  <a:t>T=\frac{2\pi}{4\pi}=\frac{1}{2}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giây nên trong 2 giây vật thực hiện 4 dao động toàn phần.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5. ĐỒ THỊ VÀ TÍNH CHẤT CỦA HÀM SỐ y = tan x (SGK TR.28)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6949440" cy="11437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HĐ6.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a) Xét tính chẵn, lẻ của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Bảng giá trị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tại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6949440" cy="11437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HĐ6.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a) Xét tính chẵn, lẻ của </a:t>
                </a:r>
                <a:r>
                  <a:rPr lang="vi-VN"/>
                  <a:t>y=\tan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Bảng giá trị trên </a:t>
                </a:r>
                <a:r>
                  <a:rPr lang="vi-VN"/>
                  <a:t>\left(-\frac{\pi}{2};\ \frac{\pi}{2}\right)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tại </a:t>
                </a:r>
                <a:r>
                  <a:rPr lang="vi-VN"/>
                  <a:t>x=-\frac{\pi}{3};\ -\frac{\pi}{4};\ -\frac{\pi}{6};\ 0;\ \frac{\pi}{6};\ \frac{\pi}{4};\ \frac{\pi}{3}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542794"/>
            <a:ext cx="6949440" cy="8153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79370"/>
                <a:ext cx="6620255" cy="7421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Hàm số lẻ. b)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79370"/>
                <a:ext cx="6620255" cy="7421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Hàm số lẻ. b) </a:t>
                </a:r>
                <a:r>
                  <a:rPr lang="vi-VN"/>
                  <a:t>-\sqrt{3};\ -1;\ -\frac{1}{\sqrt{3}};\ 0;\ \frac{1}{\sqrt{3}};\ 1;\ \sqrt{3}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431286"/>
            <a:ext cx="6949440" cy="1814322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467862"/>
                <a:ext cx="6620255" cy="174117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tập xác định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</m:t>
                    </m:r>
                    <m:d>
                      <m:dPr>
                        <m:begChr m:val="{"/>
                        <m:sepChr m:val=""/>
                        <m:endChr m:val="}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tập giá trị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hàm số lẻ, tuần hoàn chu kì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đồng biến trên mỗi khoảng </a:t>
                </a:r>
                <a14:m>
                  <m:oMath xmlns:m="http://schemas.openxmlformats.org/officeDocument/2006/math">
                    <m:d>
                      <m:dPr>
                        <m:sepChr m:val="+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đồ thị đối xứng qua gốc toạ độ.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467862"/>
                <a:ext cx="6620255" cy="174117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:r>
                  <a:rPr lang="vi-VN"/>
                  <a:t>y=\tan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tập xác định </a:t>
                </a:r>
                <a:r>
                  <a:rPr lang="vi-VN"/>
                  <a:t>\mathbb{R}\setminus\left\{\frac{\pi}{2}+k\pi\mid k\in\mathbb{Z}\right\}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tập giá trị </a:t>
                </a:r>
                <a:r>
                  <a:rPr lang="vi-VN"/>
                  <a:t>\mathbb{R}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hàm số lẻ, tuần hoàn chu kì </a:t>
                </a:r>
                <a:r>
                  <a:rPr lang="vi-VN"/>
                  <a:t>\pi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đồng biến trên mỗi khoảng </a:t>
                </a:r>
                <a:r>
                  <a:rPr lang="vi-VN"/>
                  <a:t>\left(-\frac{\pi}{2}+k\pi;\ \frac{\pi}{2}+k\pi\right)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đồ thị đối xứng qua gốc toạ độ.</a:t>
                </a:r>
              </a:p>
            </p:txBody>
          </p:sp>
        </mc:Fallback>
      </mc:AlternateContent>
      <p:pic>
        <p:nvPicPr>
          <p:cNvPr id="12" name="Picture 11" descr="b3_h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859" y="1463040"/>
            <a:ext cx="4009561" cy="2377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6 – LUYỆN TẬP 6 (SGK TR.29)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69494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6.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xác định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a) bằng 0; b) dương.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69494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6.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\left[-\pi;\ \frac{3\pi}{2}\right]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xác định </a:t>
                </a:r>
                <a:r>
                  <a:rPr lang="vi-VN"/>
                  <a:t>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y=\tan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a) bằng 0; b) dương.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466594"/>
            <a:ext cx="69494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03170"/>
                <a:ext cx="6620255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x=−π;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</m:t>
                    </m:r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3170"/>
                <a:ext cx="6620255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x=-\pi;\ 0;\ 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x\in\left(-\pi;\ -\frac{\pi}{2}\right)\cup\left(0;\ \frac{\pi}{2}\right)\cup\left(\pi;\ \frac{3\pi}{2}\right)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621023"/>
                <a:ext cx="69494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6.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xác định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nhận giá trị âm.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621023"/>
                <a:ext cx="69494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6.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\left[-\pi;\ \frac{3\pi}{2}\right]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xác định </a:t>
                </a:r>
                <a:r>
                  <a:rPr lang="vi-VN"/>
                  <a:t>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y=\tan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nhận giá trị âm.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716018"/>
            <a:ext cx="6949440" cy="87325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752594"/>
                <a:ext cx="6620255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</m:t>
                    </m:r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752594"/>
                <a:ext cx="6620255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x\in\left(-\frac{\pi}{2};\ 0\right)\cup\left(\frac{\pi}{2};\ \pi\right)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3" name="Picture 12" descr="b3_h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859" y="1463040"/>
            <a:ext cx="4009561" cy="2377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6. ĐỒ THỊ VÀ TÍNH CHẤT CỦA HÀM SỐ y = cot x (SGK TR.29 – 30)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6949440" cy="11437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HĐ7.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a) Xét tính chẵn, lẻ của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Bảng giá trị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tại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6949440" cy="11437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HĐ7.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a) Xét tính chẵn, lẻ của </a:t>
                </a:r>
                <a:r>
                  <a:rPr lang="vi-VN"/>
                  <a:t>y=\cot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Bảng giá trị trên </a:t>
                </a:r>
                <a:r>
                  <a:rPr lang="vi-VN"/>
                  <a:t>(0;\ \pi)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tại </a:t>
                </a:r>
                <a:r>
                  <a:rPr lang="vi-VN"/>
                  <a:t>x=\frac{\pi}{6};\ \frac{\pi}{4};\ \frac{\pi}{3};\ \frac{\pi}{2};\ \frac{2\pi}{3};\ \frac{3\pi}{4};\ \frac{5\pi}{6}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542794"/>
            <a:ext cx="6949440" cy="8153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79370"/>
                <a:ext cx="6620255" cy="7421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Hàm số lẻ. 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79370"/>
                <a:ext cx="6620255" cy="7421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Hàm số lẻ. b) </a:t>
                </a:r>
                <a:r>
                  <a:rPr lang="vi-VN"/>
                  <a:t>\sqrt{3};\ 1;\ \frac{1}{\sqrt{3}};\ 0;\ -\frac{1}{\sqrt{3}};\ -1;\ -\sqrt{3}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431286"/>
            <a:ext cx="6949440" cy="142341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467862"/>
                <a:ext cx="6620255" cy="135026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tập xác định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ℝ⧵{kπ∣k∈ℤ}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tập giá trị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hàm số lẻ, tuần hoàn chu kì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nghịch biến trên mỗi khoảng </a:t>
                </a:r>
                <a14:m>
                  <m:oMath xmlns:m="http://schemas.openxmlformats.org/officeDocument/2006/math">
                    <m:d>
                      <m:dPr>
                        <m:sepChr m:val="+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đồ thị đối xứng qua gốc toạ độ.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467862"/>
                <a:ext cx="6620255" cy="135026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:r>
                  <a:rPr lang="vi-VN"/>
                  <a:t>y=\cot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tập xác định </a:t>
                </a:r>
                <a:r>
                  <a:rPr lang="vi-VN"/>
                  <a:t>\mathbb{R}\setminus\{k\pi\mid k\in\mathbb{Z}\}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tập giá trị </a:t>
                </a:r>
                <a:r>
                  <a:rPr lang="vi-VN"/>
                  <a:t>\mathbb{R}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hàm số lẻ, tuần hoàn chu kì </a:t>
                </a:r>
                <a:r>
                  <a:rPr lang="vi-VN"/>
                  <a:t>\pi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nghịch biến trên mỗi khoảng </a:t>
                </a:r>
                <a:r>
                  <a:rPr lang="vi-VN"/>
                  <a:t>(k\pi;\ \pi+k\pi)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đồ thị đối xứng qua gốc toạ độ.</a:t>
                </a:r>
              </a:p>
            </p:txBody>
          </p:sp>
        </mc:Fallback>
      </mc:AlternateContent>
      <p:pic>
        <p:nvPicPr>
          <p:cNvPr id="12" name="Picture 11" descr="b3_h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503880"/>
            <a:ext cx="4023359" cy="1929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7 – LUYỆN TẬP 7 (SGK TR.30)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69494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7.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xác định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a) bằng 0; b) âm.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69494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7.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\left[-\frac{\pi}{2};\ 2\pi\right]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xác định </a:t>
                </a:r>
                <a:r>
                  <a:rPr lang="vi-VN"/>
                  <a:t>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y=\cot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a) bằng 0; b) âm.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466594"/>
            <a:ext cx="6949440" cy="133731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03170"/>
                <a:ext cx="6620255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</m:t>
                    </m:r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3170"/>
                <a:ext cx="6620255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x=-\frac{\pi}{2};\ \frac{\pi}{2};\ \frac{3\pi}{2}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x\in\left(-\frac{\pi}{2};\ 0\right)\cup\left(\frac{\pi}{2};\ \pi\right)\cup\left(\frac{3\pi}{2};\ 2\pi\right)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941064"/>
                <a:ext cx="69494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7.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xác định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nhận giá trị dương.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941064"/>
                <a:ext cx="69494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7.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\left[-\frac{\pi}{2};\ 2\pi\right]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xác định </a:t>
                </a:r>
                <a:r>
                  <a:rPr lang="vi-VN"/>
                  <a:t>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y=\cot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nhận giá trị dương.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5036058"/>
            <a:ext cx="6949440" cy="87325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5072634"/>
                <a:ext cx="6620255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</m:t>
                    </m:r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5072634"/>
                <a:ext cx="6620255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x\in\left(0;\ \frac{\pi}{2}\right)\cup\left(\pi;\ \frac{3\pi}{2}\right)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3" name="Picture 12" descr="b3_h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503880"/>
            <a:ext cx="4023359" cy="1929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VỀ NHÀ 1.14 – 1.18 (SGK TR.30)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0134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1.14.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Tập xác định: a)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ad>
                      <m:radPr>
                        <m:degHide m:val="on"/>
                      </m:radPr>
                      <m:deg/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m:rPr>
                                <m:sty m:val="p"/>
                              </m:rP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sty m:val="p"/>
                              </m:rP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num>
                          <m:den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m:rPr>
                                <m:sty m:val="p"/>
                              </m:rP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sty m:val="p"/>
                              </m:rP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den>
                        </m:f>
                      </m:e>
                    </m:ra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1.15.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Tính chẵn lẻ: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2x+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0134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1.14.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Tập xác định: a) </a:t>
                </a:r>
                <a:r>
                  <a:rPr lang="vi-VN"/>
                  <a:t>y=\frac{1-\cos x}{\sin x}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y=\sqrt{\frac{1+\cos x}{2-\cos x}}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1.15.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Tính chẵn lẻ: a) </a:t>
                </a:r>
                <a:r>
                  <a:rPr lang="vi-VN"/>
                  <a:t>\sin 2x+\tan 2x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\cos x+\sin^2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\sin x\cos 2x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d) </a:t>
                </a:r>
                <a:r>
                  <a:rPr lang="vi-VN"/>
                  <a:t>\sin x+\cos 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449068"/>
            <a:ext cx="11064240" cy="110490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485644"/>
                <a:ext cx="10735056" cy="10317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1.14. a)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D=ℝ⧵{kπ}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D=ℝ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1.15. a) lẻ; b) chẵn; c) lẻ; d) không chẵn, không lẻ (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sepChr m:val="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485644"/>
                <a:ext cx="10735056" cy="10317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1.14. a) </a:t>
                </a:r>
                <a:r>
                  <a:rPr lang="vi-VN"/>
                  <a:t>D=\mathbb{R}\setminus\{k\pi\}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D=\mathbb{R}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1.15. a) lẻ; b) chẵn; c) lẻ; d) không chẵn, không lẻ (</a:t>
                </a:r>
                <a:r>
                  <a:rPr lang="vi-VN"/>
                  <a:t>f\left(\frac{\pi}{4}\right)=\sqrt{2}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f\left(-\frac{\pi}{4}\right)=0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617976"/>
                <a:ext cx="11064240" cy="10134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1.16.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Tập giá trị: a)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sepChr m:val="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rad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1.17.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Tìm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1.18.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Sóng biển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h(t)=90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(cm): a) chu kì; b) chiều cao của sóng.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617976"/>
                <a:ext cx="11064240" cy="10134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1.16.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Tập giá trị: a) </a:t>
                </a:r>
                <a:r>
                  <a:rPr lang="vi-VN"/>
                  <a:t>y=2\sin\left(x-\frac{\pi}{4}\right)-1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y=\sqrt{1+\cos x}-2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1.17.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Tìm </a:t>
                </a:r>
                <a:r>
                  <a:rPr lang="vi-VN"/>
                  <a:t>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\tan x=0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1.18.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Sóng biển </a:t>
                </a:r>
                <a:r>
                  <a:rPr lang="vi-VN"/>
                  <a:t>h(t)=90\cos\frac{\pi t}{10}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(cm): a) chu kì; b) chiều cao của sóng.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695444"/>
            <a:ext cx="11064240" cy="97459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732020"/>
                <a:ext cx="10735056" cy="9014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1.16. 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1.17.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x=kπ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1.18. a)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f>
                          <m:fPr>
                            <m:type m:val="lin"/>
                          </m:fPr>
                          <m:num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giây; b)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−90≤h≤90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chiều cao sóng 180 cm.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732020"/>
                <a:ext cx="10735056" cy="9014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1.16. a) </a:t>
                </a:r>
                <a:r>
                  <a:rPr lang="vi-VN"/>
                  <a:t>[-3;\ 1]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[-2;\ \sqrt{2}-2]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1.17. </a:t>
                </a:r>
                <a:r>
                  <a:rPr lang="vi-VN"/>
                  <a:t>x=k\pi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1.18. a) </a:t>
                </a:r>
                <a:r>
                  <a:rPr lang="vi-VN"/>
                  <a:t>T=\frac{2\pi}{\pi/10}=20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giây; b) </a:t>
                </a:r>
                <a:r>
                  <a:rPr lang="vi-VN"/>
                  <a:t>-90\le h\le 90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chiều cao sóng 180 cm.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RUNG CHUÔNG VÀNG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9418320" cy="2962656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591056"/>
            <a:ext cx="9089136" cy="2889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🔔 </a:t>
            </a:r>
            <a:r>
              <a:rPr sz="3000" b="1">
                <a:solidFill>
                  <a:srgbClr val="1E293B"/>
                </a:solidFill>
                <a:latin typeface="Calibri"/>
              </a:rPr>
              <a:t>Luật chơi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một bảng con – viết đáp án khi hết giờ.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nhiều lựa chọn: ghi A, B, C hoặc D (30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Đúng/Sai: ghi Đ hoặc S cho từng ý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trả lời ngắn, thực tế: ghi một số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Sai: rời sàn thi. Bạn trụ lại cuối cùng </a:t>
            </a:r>
            <a:r>
              <a:rPr sz="2400" b="1">
                <a:solidFill>
                  <a:srgbClr val="1E293B"/>
                </a:solidFill>
                <a:latin typeface="Calibri"/>
              </a:rPr>
              <a:t>rung chuông vàng</a:t>
            </a:r>
            <a:r>
              <a:rPr sz="2400">
                <a:solidFill>
                  <a:srgbClr val="1E293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1 (BIẾT)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Hàm số nào sau đây là hàm số chẵn?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y=\sin x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y=\tan x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y=\cos x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y=\cot x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(−x)=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\cos(-x)=\cos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2 (HIỂU)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29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Chu kì của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Chu kì của hàm số </a:t>
                </a:r>
                <a:r>
                  <a:rPr lang="vi-VN"/>
                  <a:t>y=\cos\frac{x}{2}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\pi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2\pi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4π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4\pi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\frac{\pi}{2}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f>
                          <m:fPr>
                            <m:type m:val="lin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T=\frac{2\pi}{1/2}=4\pi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3 (ĐÚNG/SAI)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:r>
                  <a:rPr lang="vi-VN"/>
                  <a:t>y=\tan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2002536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Tập xác định là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ℝ⧵{kπ}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2002536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Tập xác định là </a:t>
                </a:r>
                <a:r>
                  <a:rPr lang="vi-VN"/>
                  <a:t>\mathbb{R}\setminus\{k\pi\}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8412480" y="1975104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577072" y="2011680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  <a:r>
              <a:rPr sz="2100">
                <a:solidFill>
                  <a:srgbClr val="1E293B"/>
                </a:solidFill>
                <a:latin typeface="Calibri"/>
              </a:rPr>
              <a:t> (π/2 + kπ)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48640" y="299008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Hàm số tuần hoàn với chu kì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48640" y="299008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Hàm số tuần hoàn với chu kì </a:t>
                </a:r>
                <a:r>
                  <a:rPr lang="vi-VN"/>
                  <a:t>\pi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2_nen"/>
          <p:cNvSpPr/>
          <p:nvPr/>
        </p:nvSpPr>
        <p:spPr>
          <a:xfrm>
            <a:off x="8412480" y="2962656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577072" y="2999232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8640" y="3977639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Hàm số đồng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48640" y="3977639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Hàm số đồng biến trên </a:t>
                </a:r>
                <a:r>
                  <a:rPr lang="vi-VN"/>
                  <a:t>\left(-\frac{\pi}{2};\ \frac{\pi}{2}\right)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5" name="s3_nen"/>
          <p:cNvSpPr/>
          <p:nvPr/>
        </p:nvSpPr>
        <p:spPr>
          <a:xfrm>
            <a:off x="8412480" y="3950207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577072" y="3986783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48640" y="4965192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Tập giá trị là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548640" y="4965192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Tập giá trị là </a:t>
                </a:r>
                <a:r>
                  <a:rPr lang="vi-VN"/>
                  <a:t>[-1;\ 1]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8" name="s4_nen"/>
          <p:cNvSpPr/>
          <p:nvPr/>
        </p:nvSpPr>
        <p:spPr>
          <a:xfrm>
            <a:off x="8412480" y="4937759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577072" y="4974336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  <a:r>
              <a:rPr sz="2100">
                <a:solidFill>
                  <a:srgbClr val="1E293B"/>
                </a:solidFill>
                <a:latin typeface="Calibri"/>
              </a:rPr>
              <a:t> (ℝ)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4 (TRẢ LỜI NGẮN)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Tìm giá trị lớn nhất của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y=3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x−1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Tìm giá trị lớn nhất của hàm số </a:t>
                </a:r>
                <a:r>
                  <a:rPr lang="vi-VN"/>
                  <a:t>y=3\sin x-1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79552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x≤1⇒y≤2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đạt khi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\sin x\le 1\Rightarrow y\le 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đạt khi </a:t>
                </a:r>
                <a:r>
                  <a:rPr lang="vi-VN"/>
                  <a:t>x=\frac{\pi}{2}+k2\pi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5 (THỰC TẾ)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1445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Mực nước ở một cảng biển là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h(t)=3+2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(mét,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: giờ). Mực nước cao nhất là bao nhiêu mét?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1445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Mực nước ở một cảng biển là </a:t>
                </a:r>
                <a:r>
                  <a:rPr lang="vi-VN"/>
                  <a:t>h(t)=3+2\cos\frac{\pi t}{6}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(mét, </a:t>
                </a:r>
                <a:r>
                  <a:rPr lang="vi-VN"/>
                  <a:t>t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: giờ). Mực nước cao nhất là bao nhiêu mét?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79552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5.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≤1⇒h≤5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m (đạt khi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12;…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5.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\cos\frac{\pi t}{6}\le 1\Rightarrow h\le 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m (đạt khi </a:t>
                </a:r>
                <a:r>
                  <a:rPr lang="vi-VN"/>
                  <a:t>t=0;\ 12;\ldots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CỦNG CỐ TRỰC TUYẾN –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5895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Bài củng cố trực tuyến</a:t>
            </a:r>
            <a:r>
              <a:rPr sz="2200">
                <a:solidFill>
                  <a:srgbClr val="1E293B"/>
                </a:solidFill>
                <a:latin typeface="Calibri"/>
              </a:rPr>
              <a:t> – quét mã QR hoặc mở đường link: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https://trangtu66.github.io/Taode_thi_online/cc_bai3_t11.html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Hoàn thành Bài tập 1.14 – 1.18.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</a:t>
            </a:r>
            <a:r>
              <a:rPr sz="2200" b="1">
                <a:solidFill>
                  <a:srgbClr val="1E293B"/>
                </a:solidFill>
                <a:latin typeface="Calibri"/>
              </a:rPr>
              <a:t>Bài 4. Phương trình lượng giác cơ bản</a:t>
            </a:r>
            <a:r>
              <a:rPr sz="2200">
                <a:solidFill>
                  <a:srgbClr val="1E293B"/>
                </a:solidFill>
                <a:latin typeface="Calibri"/>
              </a:rPr>
              <a:t> (SGK tr.31).</a:t>
            </a:r>
          </a:p>
        </p:txBody>
      </p:sp>
      <p:pic>
        <p:nvPicPr>
          <p:cNvPr id="8" name="Picture 7" descr="QR_CungCo_Bai3_Toan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554480"/>
            <a:ext cx="3291840" cy="3291840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412480" y="5029200"/>
            <a:ext cx="3291840" cy="59436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MỞ BÀI CỦNG CỐ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SƠ ĐỒ TƯ DUY – BÀI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34</a:t>
            </a:r>
          </a:p>
        </p:txBody>
      </p:sp>
      <p:pic>
        <p:nvPicPr>
          <p:cNvPr id="7" name="Picture 6" descr="SoDoTuDuy_TOAN11_Bai3_HamSoLuongGiac_T6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9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1 – SAI LẦM THƯỜNG GẶP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35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Xét chẵn, lẻ mà quên kiểm tra tập xác định đối xứng.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Chu kì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ωx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lấy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2πω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thay vì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Nhầm tập xác định của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Đọc đồ thị sai khoảng (lấy cả điểm không xác định).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Xét chẵn, lẻ mà quên kiểm tra tập xác định đối xứng.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Chu kì </a:t>
                </a:r>
                <a:r>
                  <a:rPr lang="vi-VN"/>
                  <a:t>y=\sin\omega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lấy </a:t>
                </a:r>
                <a:r>
                  <a:rPr lang="vi-VN"/>
                  <a:t>2\pi\omega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thay vì </a:t>
                </a:r>
                <a:r>
                  <a:rPr lang="vi-VN"/>
                  <a:t>\frac{2\pi}{|\omega|}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Nhầm tập xác định của </a:t>
                </a:r>
                <a:r>
                  <a:rPr lang="vi-VN"/>
                  <a:t>\tan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\cot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Đọc đồ thị sai khoảng (lấy cả điểm không xác định).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2 – PHÂN HOÁ, DỰ PHÒNG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Hàm số lượng giác – Toán 11         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cần hỗ trợ:</a:t>
            </a:r>
            <a:r>
              <a:rPr sz="2000">
                <a:solidFill>
                  <a:srgbClr val="1E293B"/>
                </a:solidFill>
                <a:latin typeface="Calibri"/>
              </a:rPr>
              <a:t> bảng tóm tắt 4 hàm số in sẵn; Ví dụ 1, LT1, LT4, LT5.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khá, giỏi:</a:t>
            </a:r>
            <a:r>
              <a:rPr sz="2000">
                <a:solidFill>
                  <a:srgbClr val="1E293B"/>
                </a:solidFill>
                <a:latin typeface="Calibri"/>
              </a:rPr>
              <a:t> LT3, Bài 1.15d, 1.16, Vận dụng 2.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Khối 11 không có HS khuyết tật; HS yếu được hỗ trợ theo cặp.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Mất điện/mạng:</a:t>
            </a:r>
            <a:r>
              <a:rPr sz="2000">
                <a:solidFill>
                  <a:srgbClr val="1E293B"/>
                </a:solidFill>
                <a:latin typeface="Calibri"/>
              </a:rPr>
              <a:t> KHBD in, giấy kẻ ô vẽ đồ thị; máy tính cầm tay lập bảng giá trị.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