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Khối 11 năm học 2026 – 2027 không có HS khuyết tật; vẫn ghi đủ chữ trên slide để HS tự đọc lại.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tr.31.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4' – HĐ1, tương đương, Ví dụ 1, LT1, Chú ý 7' – HĐ2, sin x = m, khung 8' – Ví dụ 2, 3: 5' – Ví dụ 4: 4' – LT2: 4' – HĐ3, cos x = m, Ví dụ 5, 6: 7' – LT3, Vận dụng 4' – Tổng kết 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4'. HS dự đoán (thường 45°). Giải ở Ví dụ 4 cùng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HĐ1: click 1. Chốt khung (click 2). Ví dụ 1: click 3. LT1: click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HĐ2: click 1, 2. Chiếu Hình 1.20 (giao điểm đường thẳng y = 1/2 với đồ thị).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Chốt khung, Chú ý (đơn vị độ, trường hợp đặc biệt).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bày. Click 1–3. sin u = sin v ⇔ u = v + k2π hoặc u = π − v + k2π.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1–3. Quỹ đạo parabol (Vật lí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4'. Click 1, 2 (đã kiểm tra số).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HĐ3: click 1. Chốt khung, Chú ý (click 2,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5, 6: click 1, 2. LT3: HS làm, click 3,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1, 2 (đối chiếu KHBD). Theo usno.navy.mil.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HĐ4, tan x = m, Ví dụ 7, LT4: 9' – HĐ5, cot x = m, Ví dụ 8, LT5: 8' – Máy tính, Ví dụ 9, LT6: 8' – Bài tập 1.21, 1.22: 6' – Rung chuông vàng 10' – Củng cố 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HĐ4: Hình 1.24 (click 1).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7: click 1. LT4: click 2, 3. LT4b: đặt điều kiện cos 3x ≠ 0, cos 5x ≠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HĐ5: Hình 1.25 (click 1). Chốt khung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Ví dụ 8: click 1. LT5: click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GV thao tác mẫu Ví dụ 9 (bảng bấm phím SGK). LT6: HS bấm, đổi vở chấm chéo (click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Chữa nhanh, click hiện đáp án (đối chiếu KHBD; đã kiểm tra số).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Click hiện đáp án (đã kiểm tra số).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5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Nhiễu: tan, cot luôn có nghiệm.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 – S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1/VIDEO_MoDau_TOAN11_Bai4_PTLuongGiacCoBan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rangtu66.github.io/Taode_thi_online/GGB_T11_Bai4_1_SinM.html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hyperlink" Target="https://trangtu66.github.io/Taode_thi_online/cc_bai4_t11.html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HÀM SỐ LƯỢNG GIÁC VÀ PHƯƠNG TRÌNH LƯỢNG GIÁC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4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PHƯƠNG TRÌNH LƯỢNG GIÁC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2 tiết: T8 – T9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291388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284073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tr.31)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công thức nghiệm của phương trình lượng giác cơ bản bằng cách vận dụng đồ thị hàm số lượng giác tương ứng.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Tính nghiệm gần đúng của phương trình lượng giác cơ bản bằng máy tính cầm tay.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Giải phương trình lượng giác ở dạng vận dụng trực tiếp phương trình lượng giác cơ bản; giải quyết vấn đề thực tiễn gắn với phương trình lượng giác.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59808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(góc bắn đạn pháo, pha Mặt Trăng, dao động); giải quyết vấn đề; sử dụng công cụ (máy tính cầm tay, GeoGebra).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2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920240" y="164592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1. Phương trình tương đương. 2.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Ví dụ 4 (góc bắn). 3.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1920240" y="164592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1. Phương trình tương đương. 2. </a:t>
                </a:r>
                <a:r>
                  <a:rPr lang="vi-VN"/>
                  <a:t>\sin x=m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Ví dụ 4 (góc bắn). 3. </a:t>
                </a:r>
                <a:r>
                  <a:rPr lang="vi-VN"/>
                  <a:t>\cos x=m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Vận dụng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1920240" y="260604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4.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5.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6. Máy tính cầm tay; bài tập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1920240" y="2606040"/>
                <a:ext cx="6035040" cy="7315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4. </a:t>
                </a:r>
                <a:r>
                  <a:rPr lang="vi-VN"/>
                  <a:t>\tan x=m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5. </a:t>
                </a:r>
                <a:r>
                  <a:rPr lang="vi-VN"/>
                  <a:t>\cot x=m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6. Máy tính cầm tay; bài tập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(T8)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Phương trình tương đương. Phương trình sin x = m, cos x =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phương trình tương đương.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phương trình sin x = m, cos x =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GÓC BẮN ĐẠN PHÁO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quả đạn pháo được bắn ra khỏi nòng pháo với vận tốc ban đầu có độ lớn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đổi.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Tìm góc bắn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để quả đạn pháo bay xa nhất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bỏ qua sức cản của không khí và coi quả đạn pháo được bắn ra từ mặt đất.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tr.31)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583680" cy="38404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Một quả đạn pháo được bắn ra khỏi nòng pháo với vận tốc ban đầu có độ lớn </a:t>
                </a:r>
                <a:r>
                  <a:rPr lang="vi-VN"/>
                  <a:t>v_0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không đổi. 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Tìm góc bắn </a:t>
                </a:r>
                <a:r>
                  <a:rPr lang="vi-VN"/>
                  <a:t>\alpha</a:t>
                </a: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 để quả đạn pháo bay xa nhất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bỏ qua sức cản của không khí và coi quả đạn pháo được bắn ra từ mặt đất.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64748B"/>
                    </a:solidFill>
                    <a:latin typeface="Calibri"/>
                  </a:rPr>
                  <a:t>(SGK Toán 11 tập một, tr.31)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b4_h1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022160"/>
            <a:ext cx="4389120" cy="29051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0" y="5504688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1.18. Dàn pháo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KHÁI NIỆM PHƯƠNG TRÌNH TƯƠNG ĐƯƠNG (SGK TR.31 – 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4480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Tìm và so sánh tập nghiệm của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2x−4=0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(x−2)(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+1)=0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280160"/>
                <a:ext cx="11064240" cy="4480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Tìm và so sánh tập nghiệm của </a:t>
                </a:r>
                <a:r>
                  <a:rPr lang="vi-VN"/>
                  <a:t>2x-4=0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(x-2)(x^2+1)=0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764792"/>
            <a:ext cx="110642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801368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Cả hai có tập nghiệm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+1&gt;0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801368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Cả hai có tập nghiệm </a:t>
                </a:r>
                <a:r>
                  <a:rPr lang="vi-VN"/>
                  <a:t>\{2\}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x^2+1&gt;0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340864"/>
            <a:ext cx="11064240" cy="81381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377440"/>
                <a:ext cx="107350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Hai phương trình được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tương đương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khi chúng có cùng tập nghiệm. Kí hiệu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f(x)=0⇔g(x)=0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Hai phương trình vô nghiệm là tương đương.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377440"/>
                <a:ext cx="10735056" cy="7406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Hai phương trình được gọi là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tương đương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khi chúng có cùng tập nghiệm. Kí hiệu </a:t>
                </a:r>
                <a:r>
                  <a:rPr lang="vi-VN"/>
                  <a:t>f(x)=0\Leftrightarrow g(x)=0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Hai phương trình vô nghiệm là tương đương.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191256"/>
                <a:ext cx="11064240" cy="84581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2x+6=0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+6x+9=0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có tương đương không? 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Xét sự tương đương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191256"/>
                <a:ext cx="11064240" cy="845819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2x+6=0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x^2+6x+9=0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có tương đương không?  </a:t>
                </a:r>
                <a:r>
                  <a:rPr sz="1800" b="1">
                    <a:solidFill>
                      <a:srgbClr val="1E293B"/>
                    </a:solidFill>
                    <a:latin typeface="Calibri"/>
                  </a:rPr>
                  <a:t>Luyện tập 1.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Xét sự tương đương của </a:t>
                </a:r>
                <a:r>
                  <a:rPr lang="vi-VN"/>
                  <a:t>\frac{x-1}{x+1}=0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x^2-1=0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073652"/>
            <a:ext cx="110642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110228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Ví dụ 1: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={−3}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+6x+9=(x+3</m:t>
                    </m:r>
                    <m:sSup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18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={−3}</m:t>
                    </m:r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tương đương.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110228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Ví dụ 1: </a:t>
                </a:r>
                <a:r>
                  <a:rPr lang="vi-VN"/>
                  <a:t>S_1=\{-3\}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x^2+6x+9=(x+3)^2=0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S_2=\{-3\}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: tương đương.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4649724"/>
            <a:ext cx="11064240" cy="5394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4686300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Luyện tập 1: tập nghiệm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</m:dPr>
                      <m:e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8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800">
                    <a:solidFill>
                      <a:srgbClr val="1E293B"/>
                    </a:solidFill>
                    <a:latin typeface="Calibri"/>
                  </a:rPr>
                  <a:t> khác nhau: không tương đương.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4686300"/>
                <a:ext cx="10735056" cy="4663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800">
                    <a:solidFill>
                      <a:srgbClr val="1E293B"/>
                    </a:solidFill>
                    <a:latin typeface="Calibri"/>
                  </a:rPr>
                  <a:t>Luyện tập 1: tập nghiệm </a:t>
                </a:r>
                <a:r>
                  <a:rPr lang="vi-VN"/>
                  <a:t>\{1\}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\{-1;\ 1\}</a:t>
                </a:r>
                <a:r>
                  <a:rPr sz="1800">
                    <a:solidFill>
                      <a:srgbClr val="1E293B"/>
                    </a:solidFill>
                    <a:latin typeface="Calibri"/>
                  </a:rPr>
                  <a:t> khác nhau: không tương đương.</a:t>
                </a:r>
              </a:p>
            </p:txBody>
          </p:sp>
        </mc:Fallback>
      </mc:AlternateContent>
      <p:sp>
        <p:nvSpPr>
          <p:cNvPr id="17" name="s6_nen"/>
          <p:cNvSpPr/>
          <p:nvPr/>
        </p:nvSpPr>
        <p:spPr>
          <a:xfrm>
            <a:off x="548640" y="5225796"/>
            <a:ext cx="11064240" cy="108813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6_chu"/>
          <p:cNvSpPr txBox="1"/>
          <p:nvPr/>
        </p:nvSpPr>
        <p:spPr>
          <a:xfrm>
            <a:off x="713232" y="5262372"/>
            <a:ext cx="10735056" cy="101498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E293B"/>
                </a:solidFill>
                <a:latin typeface="Calibri"/>
              </a:rPr>
              <a:t>Chú ý.</a:t>
            </a:r>
            <a:r>
              <a:rPr sz="1800">
                <a:solidFill>
                  <a:srgbClr val="1E293B"/>
                </a:solidFill>
                <a:latin typeface="Calibri"/>
              </a:rPr>
              <a:t> Cộng (trừ) hai vế với cùng một số hoặc biểu thức; nhân (chia) hai vế với cùng một số khác 0 hoặc biểu thức luôn khác 0 (không làm thay đổi điều kiện) là các </a:t>
            </a:r>
            <a:r>
              <a:rPr sz="1800" b="1">
                <a:solidFill>
                  <a:srgbClr val="1E293B"/>
                </a:solidFill>
                <a:latin typeface="Calibri"/>
              </a:rPr>
              <a:t>phép biến đổi tương đương</a:t>
            </a:r>
            <a:r>
              <a:rPr sz="1800">
                <a:solidFill>
                  <a:srgbClr val="1E293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PHƯƠNG TRÌNH sin x = m – HĐ2 (SGK TR.32)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3304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a) Quan sát Hình 1.19, tìm các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nửa khoảng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Dựa vào tính tuần hoàn của hàm số sin, viết công thức nghiệm.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13304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a) Quan sát Hình 1.19, tìm các nghiệm của </a:t>
                </a:r>
                <a:r>
                  <a:rPr lang="vi-VN"/>
                  <a:t>\sin x=\frac{1}{2}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trong nửa khoảng </a:t>
                </a:r>
                <a:r>
                  <a:rPr lang="vi-VN"/>
                  <a:t>[0;\ 2\pi)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Dựa vào tính tuần hoàn của hàm số sin, viết công thức nghiệm.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793492"/>
            <a:ext cx="822960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830068"/>
                <a:ext cx="790041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830068"/>
                <a:ext cx="790041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x=\frac{\pi}{6}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x=\frac{5\pi}{6}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87140"/>
            <a:ext cx="822960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23716"/>
                <a:ext cx="790041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23716"/>
                <a:ext cx="790041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x=\frac{\pi}{6}+k2\pi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x=\frac{5\pi}{6}+k2\pi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4_h1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712317"/>
            <a:ext cx="2651760" cy="27932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CÔNG THỨC NGHIỆM CỦA PHƯƠNG TRÌNH sin x = m (SGK TR.32 – 33)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8</a:t>
            </a:r>
          </a:p>
        </p:txBody>
      </p:sp>
      <p:pic>
        <p:nvPicPr>
          <p:cNvPr id="7" name="Picture 6" descr="b4_h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614" y="1325880"/>
            <a:ext cx="4944291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2880360"/>
            <a:ext cx="11064240" cy="15544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916936"/>
                <a:ext cx="10735056" cy="14813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khi và chỉ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tồn tại duy nhất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Khi đó: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x=m⇔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916936"/>
                <a:ext cx="10735056" cy="148132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:r>
                  <a:rPr lang="vi-VN"/>
                  <a:t>\sin x=m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khi và chỉ khi </a:t>
                </a:r>
                <a:r>
                  <a:rPr lang="vi-VN"/>
                  <a:t>|m|\le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Khi </a:t>
                </a:r>
                <a:r>
                  <a:rPr lang="vi-VN"/>
                  <a:t>|m|\le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tồn tại duy nhất </a:t>
                </a:r>
                <a:r>
                  <a:rPr lang="vi-VN"/>
                  <a:t>\alpha\in\left[-\frac{\pi}{2};\ \frac{\pi}{2}\right]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:r>
                  <a:rPr lang="vi-VN"/>
                  <a:t>\sin\alpha=m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Khi đó: </a:t>
                </a:r>
                <a:r>
                  <a:rPr lang="vi-VN"/>
                  <a:t>\sin x=m\Leftrightarrow\sin x=\sin\alpha\Leftrightarrow x=\alpha+k2\pi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x=\pi-\alpha+k2\pi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548640" y="4544568"/>
            <a:ext cx="11064240" cy="114909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713232" y="4581144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x=0⇔x=kπ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581144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\sin x=\sin\alpha^\circ\Leftrightarrow x=\alpha^\circ+k360^\circ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x=180^\circ-\alpha^\circ+k360^\circ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\sin x=0\Leftrightarrow x=k\pi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\sin x=1\Leftrightarrow x=\frac{\pi}{2}+k2\pi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\sin x=-1\Leftrightarrow x=-\frac{\pi}{2}+k2\pi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2 – VÍ DỤ 3 (SGK TR.33)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107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10768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\sin x=-\frac{\sqrt{3}}{2}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\sin x=\frac{1}{3}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10968"/>
            <a:ext cx="11064240" cy="138836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47544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Gọi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</m:t>
                    </m:r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x=α+k2π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47544"/>
                <a:ext cx="10735056" cy="13152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 x=\sin\left(-\frac{\pi}{3}\right)\Leftrightarrow x=-\frac{\pi}{3}+k2\pi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x=\frac{4\pi}{3}+k2\pi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b) Gọi </a:t>
                </a:r>
                <a:r>
                  <a:rPr lang="vi-VN"/>
                  <a:t>\alpha\in\left[-\frac{\pi}{2};\ \frac{\pi}{2}\right]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\sin\alpha=\frac{1}{3}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x=\alpha+k2\pi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x=\pi-\alpha+k2\pi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936492"/>
                <a:ext cx="1106424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936492"/>
                <a:ext cx="11064240" cy="5090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Ví dụ 3.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Giải phương trình </a:t>
                </a:r>
                <a:r>
                  <a:rPr lang="vi-VN"/>
                  <a:t>\sin 2x=\sin(60^\circ-3x)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582668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619244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−3x+k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−(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−3x)+k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619244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2x=60^\circ-3x+k360^\circ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2x=180^\circ-(60^\circ-3x)+k360^\circ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5320284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5356860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72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−k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5356860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\Leftrightarrow x=12^\circ+k72^\circ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x=-120^\circ-k360^\circ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4 – GIẢI TÌNH HUỐNG MỞ ĐẦU (SGK TR.34)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Quỹ đạo quả đạn: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−g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e>
                            <m:r>
                              <m:rPr>
                                <m:sty m:val="p"/>
                              </m:rP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+x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6949440" cy="110185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Quỹ đạo quả đạn: </a:t>
                </a:r>
                <a:r>
                  <a:rPr lang="vi-VN"/>
                  <a:t>y=\frac{-g}{2v_0^2\cos^2\alpha}x^2+x\tan\alpha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Cho </a:t>
                </a:r>
                <a:r>
                  <a:rPr lang="vi-VN"/>
                  <a:t>y=0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x=\frac{v_0^2\sin 2\alpha}{g}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64892"/>
            <a:ext cx="69494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01468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Tầm xa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01468"/>
                <a:ext cx="6620255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Tầm xa </a:t>
                </a:r>
                <a:r>
                  <a:rPr lang="vi-VN"/>
                  <a:t>x=\frac{v_0^2\sin 2\alpha}{g}\le\frac{v_0^2}{g}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:r>
                  <a:rPr lang="vi-VN"/>
                  <a:t>\sin 2\alpha=1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529584"/>
            <a:ext cx="69494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566160"/>
                <a:ext cx="6620255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2α=1⇔α=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0≤α≤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566160"/>
                <a:ext cx="6620255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\sin 2\alpha=1\Leftrightarrow\alpha=\frac{\pi}{4}+k\pi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do </a:t>
                </a:r>
                <a:r>
                  <a:rPr lang="vi-VN"/>
                  <a:t>0\le\alpha\le\frac{\pi}{2}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nên </a:t>
                </a:r>
                <a:r>
                  <a:rPr lang="vi-VN"/>
                  <a:t>\alpha=\frac{\pi}{4}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638294"/>
            <a:ext cx="69494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674870"/>
                <a:ext cx="6620255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Quả đạn pháo bay xa nhất khi góc bắn bằng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674870"/>
                <a:ext cx="6620255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Quả đạn pháo bay xa nhất khi góc bắn bằng </a:t>
                </a:r>
                <a:r>
                  <a:rPr lang="vi-VN"/>
                  <a:t>45^\circ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4" name="Picture 13" descr="b4_v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735649"/>
            <a:ext cx="3840480" cy="25637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2 (SGK TR.34)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6819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Giải các phương trình: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3x=−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68199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Giải các phương trình: a) </a:t>
                </a:r>
                <a:r>
                  <a:rPr lang="vi-VN"/>
                  <a:t>\sin x=\frac{\sqrt{2}}{2}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\sin 3x=-\sin 5x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65070"/>
            <a:ext cx="11064240" cy="108889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01646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1646"/>
                <a:ext cx="10735056" cy="101574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\sin x=\sin\frac{\pi}{4}\Leftrightarrow x=\frac{\pi}{4}+k2\pi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x=\frac{3\pi}{4}+k2\pi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82568"/>
            <a:ext cx="11064240" cy="143941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19144"/>
                <a:ext cx="10735056" cy="136626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(−5x)⇔3x=−5x+k2π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3x=π+5x+k2π⇔x=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−kπ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Họ thứ hai nằm trong họ thứ nhất: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19144"/>
                <a:ext cx="10735056" cy="136626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\sin 3x=\sin(-5x)\Leftrightarrow 3x=-5x+k2\pi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3x=\pi+5x+k2\pi\Leftrightarrow x=\frac{k\pi}{4}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x=-\frac{\pi}{2}-k\pi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Họ thứ hai nằm trong họ thứ nhất: </a:t>
                </a:r>
                <a:r>
                  <a:rPr lang="vi-VN"/>
                  <a:t>x=\frac{k\pi}{4}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3. PHƯƠNG TRÌNH cos x = m (SGK TR.34 – 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trong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[−π;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(Hình 1.22a) và viết công thức nghiệm.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22960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HĐ3.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nghiệm của </a:t>
                </a:r>
                <a:r>
                  <a:rPr lang="vi-VN"/>
                  <a:t>\cos x=-\frac{1}{2}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trong </a:t>
                </a:r>
                <a:r>
                  <a:rPr lang="vi-VN"/>
                  <a:t>[-\pi;\ \pi)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(Hình 1.22a) và viết công thức nghiệm.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83536"/>
            <a:ext cx="822960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20112"/>
                <a:ext cx="790041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công thức nghiệm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20112"/>
                <a:ext cx="790041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x=\pm\frac{2\pi}{3}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công thức nghiệm </a:t>
                </a:r>
                <a:r>
                  <a:rPr lang="vi-VN"/>
                  <a:t>x=\pm\frac{2\pi}{3}+k2\pi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319272"/>
            <a:ext cx="8229600" cy="117957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55848"/>
                <a:ext cx="790041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khi và chỉ khi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|m|≤1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Khi đó tồn tại duy nhất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α∈[0;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π]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x=m⇔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x=−α+k2π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55848"/>
                <a:ext cx="7900416" cy="11064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:r>
                  <a:rPr lang="vi-VN"/>
                  <a:t>\cos x=m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khi và chỉ khi </a:t>
                </a:r>
                <a:r>
                  <a:rPr lang="vi-VN"/>
                  <a:t>|m|\le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Khi đó tồn tại duy nhất </a:t>
                </a:r>
                <a:r>
                  <a:rPr lang="vi-VN"/>
                  <a:t>\alpha\in[0;\ 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:r>
                  <a:rPr lang="vi-VN"/>
                  <a:t>\cos\alpha=m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\cos x=m\Leftrightarrow\cos x=\cos\alpha\Leftrightarrow x=\alpha+k2\pi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x=-\alpha+k2\pi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590288"/>
            <a:ext cx="8229600" cy="101193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626864"/>
                <a:ext cx="790041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x=1⇔x=k2π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x=−1⇔x=π+k2π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626864"/>
                <a:ext cx="7900416" cy="938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x=\cos\alpha^\circ\Leftrightarrow x=\pm\alpha^\circ+k360^\circ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\cos x=0\Leftrightarrow x=\frac{\pi}{2}+k\pi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x=1\Leftrightarrow x=k2\pi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x=-1\Leftrightarrow x=\pi+k2\pi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4" name="Picture 13" descr="b4_h122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527877"/>
            <a:ext cx="2743200" cy="25220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5 – VÍ DỤ 6 – LUYỆN TẬP 3 (SGK TR.35)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63779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a) </a:t>
                </a:r>
                <a:r>
                  <a:rPr lang="vi-VN"/>
                  <a:t>\cos x=-\frac{\sqrt{3}}{2}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 x=0{,}1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2x=\cos(45^\circ-x)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00834"/>
            <a:ext cx="11064240" cy="72923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13741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5: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α∈[0;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π]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x=±α+k2π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13741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5: a) </a:t>
                </a:r>
                <a:r>
                  <a:rPr lang="vi-VN"/>
                  <a:t>x=\pm\frac{5\pi}{6}+k2\pi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\alpha\in[0;\ \pi]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\cos\alpha=0{,}1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x=\pm\alpha+k2\pi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2921508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295808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6: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2x=±(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−x)+k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295808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Ví dụ 6: </a:t>
                </a:r>
                <a:r>
                  <a:rPr lang="vi-VN"/>
                  <a:t>2x=\pm(45^\circ-x)+k360^\circ\Leftrightarrow x=15^\circ+k120^\circ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x=-45^\circ+k360^\circ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598164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598164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2\cos x=-\sqrt{2}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 3x-\sin 5x=0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183380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21995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219956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 x=\cos\frac{3\pi}{4}\Leftrightarrow x=\pm\frac{3\pi}{4}+k2\pi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5148072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5184648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5184648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\cos 3x=\cos\left(\frac{\pi}{2}-5x\right)\Leftrightarrow x=\frac{\pi}{16}+\frac{k\pi}{4}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x=\frac{\pi}{4}+k\pi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– PHA CỦA MẶT TRĂNG (SGK TR.35 – 36)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315200" cy="191795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Khi góc giữa Mặt Trời, Trái Đất và Mặt Trăng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≤"/>
                      </m:dPr>
                      <m:e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e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360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tỉ lệ phần Mặt Trăng được chiếu sáng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Xác định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ứng với: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mới);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lưỡi liềm); c)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bán nguyệt); d)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tròn).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315200" cy="191795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Khi góc giữa Mặt Trời, Trái Đất và Mặt Trăng là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(0^\circ\le\alpha\le 360^\circ)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thì tỉ lệ phần Mặt Trăng được chiếu sáng là </a:t>
                </a:r>
                <a:r>
                  <a:rPr lang="vi-VN"/>
                  <a:t>F=\frac{1}{2}(1-\cos\alpha)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Xác định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ứng với: a) </a:t>
                </a:r>
                <a:r>
                  <a:rPr lang="vi-VN"/>
                  <a:t>F=0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mới); b) </a:t>
                </a:r>
                <a:r>
                  <a:rPr lang="vi-VN"/>
                  <a:t>F=0{,}25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lưỡi liềm); c) </a:t>
                </a:r>
                <a:r>
                  <a:rPr lang="vi-VN"/>
                  <a:t>F=0{,}5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bán nguyệt); d) </a:t>
                </a:r>
                <a:r>
                  <a:rPr lang="vi-VN"/>
                  <a:t>F=1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(trăng tròn).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380994"/>
            <a:ext cx="7315200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417570"/>
                <a:ext cx="698601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417570"/>
                <a:ext cx="698601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\cos\alpha=1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\alpha=0^\circ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360^\circ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\cos\alpha=\frac{1}{2}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\alpha=60^\circ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300^\circ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521708"/>
            <a:ext cx="731520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558284"/>
                <a:ext cx="698601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558284"/>
                <a:ext cx="698601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\cos\alpha=0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\alpha=90^\circ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270^\circ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d) </a:t>
                </a:r>
                <a:r>
                  <a:rPr lang="vi-VN"/>
                  <a:t>\cos\alpha=-1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\alpha=180^\circ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4_tra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598938"/>
            <a:ext cx="3474720" cy="11912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NGHIỆM CỦA sin x = 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đường thẳng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(cam) cắt 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Hoành độ các giao điểm là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|m|&gt;1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không có giao điểm – phương trình vô nghiệm. Trang 2: góc bắn xa nhất.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đường thẳng </a:t>
                </a:r>
                <a:r>
                  <a:rPr lang="vi-VN"/>
                  <a:t>y=m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(cam) cắt đồ thị </a:t>
                </a:r>
                <a:r>
                  <a:rPr lang="vi-VN"/>
                  <a:t>y=\sin 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Hoành độ các giao điểm là nghiệm của </a:t>
                </a:r>
                <a:r>
                  <a:rPr lang="vi-VN"/>
                  <a:t>\sin x=m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Khi </a:t>
                </a:r>
                <a:r>
                  <a:rPr lang="vi-VN"/>
                  <a:t>|m|&gt;1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không có giao điểm – phương trình vô nghiệm. Trang 2: góc bắn xa nhất.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b4_h1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986295"/>
            <a:ext cx="4846320" cy="14340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α⇔x=α+k2π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x=π−α+k2π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α⇔x=±α+k2π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(cần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|m|≤1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Đơn vị độ: thay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trộn lẫn độ và rađian.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\sin x=\sin\alpha\Leftrightarrow x=\alpha+k2\pi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x=\pi-\alpha+k2\pi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\cos x=\cos\alpha\Leftrightarrow x=\pm\alpha+k2\pi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(cần </a:t>
                </a:r>
                <a:r>
                  <a:rPr lang="vi-VN"/>
                  <a:t>|m|\le 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Đơn vị độ: thay </a:t>
                </a:r>
                <a:r>
                  <a:rPr lang="vi-VN"/>
                  <a:t>2\pi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:r>
                  <a:rPr lang="vi-VN"/>
                  <a:t>360^\circ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\pi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bằng </a:t>
                </a:r>
                <a:r>
                  <a:rPr lang="vi-VN"/>
                  <a:t>180^\circ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không trộn lẫn độ và rađian.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06324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1.19a, b; 1.20 (SGK tr.39).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4 – 6 (SGK tr.36 – 38); mang máy tính cầm tay.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(T9)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Phương trình tan x = m, cot x = m. Dùng máy tính cầm 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phương trình tan x = m, cot x = m.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góc khi biết giá trị lượng giác bằng máy tính cầm tay.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4. PHƯƠNG TRÌNH tan x = m (SGK TR.36)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18</a:t>
            </a:r>
          </a:p>
        </p:txBody>
      </p:sp>
      <p:pic>
        <p:nvPicPr>
          <p:cNvPr id="7" name="Picture 6" descr="b4_h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9124" y="1325880"/>
            <a:ext cx="5403272" cy="16001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9718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cắt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tại mấy điểm có hoành độ trong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? Viết công thức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971800"/>
                <a:ext cx="11064240" cy="10576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:r>
                  <a:rPr lang="vi-VN"/>
                  <a:t>y=1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cắt đồ thị </a:t>
                </a:r>
                <a:r>
                  <a:rPr lang="vi-VN"/>
                  <a:t>y=\tan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tại mấy điểm có hoành độ trong </a:t>
                </a:r>
                <a:r>
                  <a:rPr lang="vi-VN"/>
                  <a:t>\left(-\frac{\pi}{2};\ \frac{\pi}{2}\right)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? Viết công thức nghiệm của </a:t>
                </a:r>
                <a:r>
                  <a:rPr lang="vi-VN"/>
                  <a:t>\tan 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4120896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415747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Một điểm, hoành độ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nghiệm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415747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Một điểm, hoành độ </a:t>
                </a:r>
                <a:r>
                  <a:rPr lang="vi-VN"/>
                  <a:t>x=\frac{\pi}{4}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nghiệm </a:t>
                </a:r>
                <a:r>
                  <a:rPr lang="vi-VN"/>
                  <a:t>x=\frac{\pi}{4}+k\pi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5056631"/>
            <a:ext cx="11064240" cy="1149096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5093207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m∈ℝ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tồn tại duy nhất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</m:t>
                    </m:r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x=m⇔x=α+kπ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093207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:r>
                  <a:rPr lang="vi-VN"/>
                  <a:t>\tan x=m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với mọi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Với mọi </a:t>
                </a:r>
                <a:r>
                  <a:rPr lang="vi-VN"/>
                  <a:t>m\in\mathbb{R}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tồn tại duy nhất </a:t>
                </a:r>
                <a:r>
                  <a:rPr lang="vi-VN"/>
                  <a:t>\alpha\in\left(-\frac{\pi}{2};\ \frac{\pi}{2}\right)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:r>
                  <a:rPr lang="vi-VN"/>
                  <a:t>\tan\alpha=m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:r>
                  <a:rPr lang="vi-VN"/>
                  <a:t>\tan x=m\Leftrightarrow x=\alpha+k\pi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\tan x=\tan\alpha^\circ\Leftrightarrow x=\alpha^\circ+k180^\circ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7 – LUYỆN TẬP 4 (SGK TR.36)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7.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\tan x=-\sqrt{3}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 x=2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1956815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1993391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x=α+kπ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1993391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\tan x=\tan\left(-\frac{\pi}{3}\right)\Leftrightarrow x=-\frac{\pi}{3}+k\pi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\alpha\in\left(-\frac{\pi}{2};\ \frac{\pi}{2}\right)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\tan\alpha=2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x=\alpha+k\pi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065525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065525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\sqrt{3}\tan 2x=-1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 3x+\tan 5x=0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3650741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3687318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3687318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\tan 2x=\tan\left(-\frac{\pi}{6}\right)\Leftrightarrow x=-\frac{\pi}{12}+\frac{k\pi}{2}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759451"/>
            <a:ext cx="110642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796027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Điều kiện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3x≠0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5x≠0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(−5x)⇔x=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loại các giá trị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+mπ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(ứng với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chia 8 dư 4). Nghiệm: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k∈ℤ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chia 8 dư 4.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796027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b) Điều kiện </a:t>
                </a:r>
                <a:r>
                  <a:rPr lang="vi-VN"/>
                  <a:t>\cos 3x\ne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\cos 5x\ne 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\tan 3x=\tan(-5x)\Leftrightarrow x=\frac{k\pi}{8}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loại các giá trị </a:t>
                </a:r>
                <a:r>
                  <a:rPr lang="vi-VN"/>
                  <a:t>x=\frac{\pi}{2}+m\pi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(ứng với </a:t>
                </a:r>
                <a:r>
                  <a:rPr lang="vi-VN"/>
                  <a:t>k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chia 8 dư 4). Nghiệm: </a:t>
                </a:r>
                <a:r>
                  <a:rPr lang="vi-VN"/>
                  <a:t>x=\frac{k\pi}{8}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k\in\mathbb{Z}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k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không chia 8 dư 4.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5. PHƯƠNG TRÌNH cot x = m (SGK TR.37)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20</a:t>
            </a:r>
          </a:p>
        </p:txBody>
      </p:sp>
      <p:pic>
        <p:nvPicPr>
          <p:cNvPr id="7" name="Picture 6" descr="b4_h1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669" y="1325880"/>
            <a:ext cx="4650182" cy="18288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32004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cắt đồ thị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tại mấy điểm có hoành độ trong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? Viết công thức nghiệm của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320040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Đường thẳng </a:t>
                </a:r>
                <a:r>
                  <a:rPr lang="vi-VN"/>
                  <a:t>y=-1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cắt đồ thị </a:t>
                </a:r>
                <a:r>
                  <a:rPr lang="vi-VN"/>
                  <a:t>y=\cot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tại mấy điểm có hoành độ trong </a:t>
                </a:r>
                <a:r>
                  <a:rPr lang="vi-VN"/>
                  <a:t>(0;\ \pi)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? Viết công thức nghiệm của </a:t>
                </a:r>
                <a:r>
                  <a:rPr lang="vi-VN"/>
                  <a:t>\cot x=-1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548640" y="4075176"/>
            <a:ext cx="11064240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1_chu"/>
              <p:cNvSpPr txBox="1"/>
              <p:nvPr/>
            </p:nvSpPr>
            <p:spPr>
              <a:xfrm>
                <a:off x="713232" y="411175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Một điểm, hoành độ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nghiệm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713232" y="4111752"/>
                <a:ext cx="10735056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Một điểm, hoành độ </a:t>
                </a:r>
                <a:r>
                  <a:rPr lang="vi-VN"/>
                  <a:t>x=\frac{3\pi}{4}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nghiệm </a:t>
                </a:r>
                <a:r>
                  <a:rPr lang="vi-VN"/>
                  <a:t>x=\frac{3\pi}{4}+k\pi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2_nen"/>
          <p:cNvSpPr/>
          <p:nvPr/>
        </p:nvSpPr>
        <p:spPr>
          <a:xfrm>
            <a:off x="548640" y="5010912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2_chu"/>
              <p:cNvSpPr txBox="1"/>
              <p:nvPr/>
            </p:nvSpPr>
            <p:spPr>
              <a:xfrm>
                <a:off x="713232" y="504748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với mọi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Tồn tại duy nhất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α∈(0;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α=m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x=m⇔x=α+kπ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047488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Phương trình </a:t>
                </a:r>
                <a:r>
                  <a:rPr lang="vi-VN"/>
                  <a:t>\cot x=m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có nghiệm với mọi </a:t>
                </a:r>
                <a:r>
                  <a:rPr lang="vi-VN"/>
                  <a:t>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Tồn tại duy nhất </a:t>
                </a:r>
                <a:r>
                  <a:rPr lang="vi-VN"/>
                  <a:t>\alpha\in(0;\ \pi)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thoả mãn </a:t>
                </a:r>
                <a:r>
                  <a:rPr lang="vi-VN"/>
                  <a:t>\cot\alpha=m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khi đó </a:t>
                </a:r>
                <a:r>
                  <a:rPr lang="vi-VN"/>
                  <a:t>\cot x=m\Leftrightarrow x=\alpha+k\pi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\cot x=\cot\alpha^\circ\Leftrightarrow x=\alpha^\circ+k180^\circ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8 – LUYỆN TẬP 5 (SGK TR.37)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55448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Ví dụ 8.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\cot x=-\sqrt{3}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\cot x=5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76856"/>
            <a:ext cx="11064240" cy="96011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13432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α∈(0;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x=α+kπ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13432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\cot x=\cot\left(-\frac{\pi}{6}\right)\Leftrightarrow x=-\frac{\pi}{6}+k\pi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\alpha\in(0;\ \pi)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\cot\alpha=5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x=\alpha+k\pi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419856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x+1=0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419856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Luyện tập 5.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\cot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\sqrt{3}\cot x+1=0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142232"/>
            <a:ext cx="11064240" cy="112471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178808"/>
                <a:ext cx="10735056" cy="10515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178808"/>
                <a:ext cx="10735056" cy="10515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x=\frac{\pi}{4}+k\pi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\cot x=-\frac{1}{\sqrt{3}}=\cot\frac{2\pi}{3}\Leftrightarrow x=\frac{2\pi}{3}+k\pi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6. DÙNG MÁY TÍNH CẦM TAY TÌM GÓC (SGK TR.38)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9339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18608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Bước 1. Chọn đơn vị: SHIFT MODE 3 (độ, chữ D) hoặc SHIFT MODE 4 (rađian, chữ R). Bước 2. Ấn SHIFT và sin/cos/tan, nhập giá trị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ấn =.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Phím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kết quả trong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phím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kết quả trong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18608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Bước 1. Chọn đơn vị: SHIFT MODE 3 (độ, chữ D) hoặc SHIFT MODE 4 (rađian, chữ R). Bước 2. Ấn SHIFT và sin/cos/tan, nhập giá trị </a:t>
                </a:r>
                <a:r>
                  <a:rPr lang="vi-VN"/>
                  <a:t>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ấn =.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Phím </a:t>
                </a:r>
                <a:r>
                  <a:rPr lang="vi-VN"/>
                  <a:t>\sin^{-1}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\tan^{-1}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kết quả trong </a:t>
                </a:r>
                <a:r>
                  <a:rPr lang="vi-VN"/>
                  <a:t>\left(-\frac{\pi}{2};\ \frac{\pi}{2}\right)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phím </a:t>
                </a:r>
                <a:r>
                  <a:rPr lang="vi-VN"/>
                  <a:t>\cos^{-1}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kết quả trong </a:t>
                </a:r>
                <a:r>
                  <a:rPr lang="vi-VN"/>
                  <a:t>(0;\ \pi)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548640" y="3415284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9.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58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61873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3415284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9.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\sin\alpha=0{,}58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\alpha\approx 35^\circ 27'2''\approx 0{,}61873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4018788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số đo độ và rađian của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α=2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α=−6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4018788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Luyện tập 6.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số đo độ và rađian của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a) </a:t>
                </a:r>
                <a:r>
                  <a:rPr lang="vi-VN"/>
                  <a:t>\cos\alpha=-0{,}75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\tan\alpha=2{,}46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\cot\alpha=-6{,}18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942332"/>
            <a:ext cx="11064240" cy="1049274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97890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138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≈2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4189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67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52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1847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 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α≈−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≈−0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1604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978908"/>
                <a:ext cx="10735056" cy="97612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\alpha\approx 138^\circ 35'25''\approx 2{,}4189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 b) </a:t>
                </a:r>
                <a:r>
                  <a:rPr lang="vi-VN"/>
                  <a:t>\alpha\approx 67^\circ 52'41''\approx 1{,}1847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 c) </a:t>
                </a:r>
                <a:r>
                  <a:rPr lang="vi-VN"/>
                  <a:t>\tan\alpha=-\frac{1}{6{,}18}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\alpha\approx-9^\circ 11'29''\approx-0{,}1604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rad.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1.19 – 1.20 (SGK TR.39)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1.19.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sepChr m:val="+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  <m:e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e>
                    </m: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(2x−1)=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2583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1.19.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\sin x=\frac{\sqrt{3}}{2}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2\cos x=-\sqrt{2}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\sqrt{3}\tan\left(\frac{x}{2}+15^\circ\right)=1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\cot(2x-1)=\cot\frac{\pi}{5}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61438"/>
            <a:ext cx="1106424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98014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98014"/>
                <a:ext cx="1073505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x=\frac{\pi}{3}+k2\pi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x=\frac{2\pi}{3}+k2\pi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x=\pm\frac{3\pi}{4}+k2\pi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x=30^\circ+k360^\circ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x=\frac{1}{2}+\frac{\pi}{10}+\frac{k\pi}{2}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762756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1.20.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2x+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3x=−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762756"/>
                <a:ext cx="11064240" cy="493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1.20.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Giải: a) </a:t>
                </a:r>
                <a:r>
                  <a:rPr lang="vi-VN"/>
                  <a:t>\sin 2x+\cos 4x=0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\cos 3x=-\cos 7x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320540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357116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sepChr m:val="∈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357116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x=\frac{\pi}{4}+\frac{k\pi}{3}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x=\frac{\pi}{10}+\frac{k\pi}{5}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x=\frac{\pi}{4}+\frac{k\pi}{2}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(k\in\mathbb{Z})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1.21 – 1.22 (SGK TR.39)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Đạn pháo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m/s, góc bắn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g=9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m/s²: a) Tầm xa theo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Tìm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trúng mục tiêu cách 22 000 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Đạn pháo </a:t>
                </a:r>
                <a:r>
                  <a:rPr lang="vi-VN"/>
                  <a:t>v_0=500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m/s, góc bắn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g=9{,}8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m/s²: a) Tầm xa theo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Tìm </a:t>
                </a:r>
                <a:r>
                  <a:rPr lang="vi-VN"/>
                  <a:t>\alpha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để trúng mục tiêu cách 22 000 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49424"/>
            <a:ext cx="11064240" cy="119329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86000"/>
                <a:ext cx="1073505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2α=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000·9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500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8624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47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α≈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86000"/>
                <a:ext cx="10735056" cy="112014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L=\frac{v_0^2\sin 2\alpha}{g}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\sin 2\alpha=\frac{22\ 000\cdot 9{,}8}{500^2}=0{,}8624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\alpha\approx 29^\circ 47'37''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\alpha\approx 60^\circ 12'23''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506724"/>
                <a:ext cx="110642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Vật dao động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(cm, giây). Trong khoảng từ 0 đến 6 giây, vật đi qua vị trí cân bằng bao nhiêu lần?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506724"/>
                <a:ext cx="110642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1.22.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Vật dao động </a:t>
                </a:r>
                <a:r>
                  <a:rPr lang="vi-VN"/>
                  <a:t>x=2\cos\left(5t-\frac{\pi}{6}\right)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(cm, giây). Trong khoảng từ 0 đến 6 giây, vật đi qua vị trí cân bằng bao nhiêu lần?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528566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56514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x=0⇔5t−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+kπ⇔t=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kπ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k=0;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1;…;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9 lần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565142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x=0\Leftrightarrow 5t-\frac{\pi}{6}=\frac{\pi}{2}+k\pi\Leftrightarrow t=\frac{2\pi}{15}+\frac{k\pi}{5}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0\le t\le 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</a:t>
                </a:r>
                <a:r>
                  <a:rPr lang="vi-VN"/>
                  <a:t>k=0;\ 1;\ldots;\ 8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9 lần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Nghiệm của phương trình </a:t>
                </a:r>
                <a:r>
                  <a:rPr lang="vi-VN"/>
                  <a:t>\cos x=1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là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x=kπ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x=k\pi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x=k2π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x=k2\pi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x=\frac{\pi}{2}+k2\pi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x=π+k2π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x=\pi+k2\pi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1_chu"/>
          <p:cNvSpPr txBox="1"/>
          <p:nvPr/>
        </p:nvSpPr>
        <p:spPr>
          <a:xfrm>
            <a:off x="713232" y="4654296"/>
            <a:ext cx="10735056" cy="5273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Đáp án B.</a:t>
            </a:r>
            <a:r>
              <a:rPr sz="2200">
                <a:solidFill>
                  <a:srgbClr val="1E293B"/>
                </a:solidFill>
                <a:latin typeface="Calibri"/>
              </a:rPr>
              <a:t> Trường hợp đặc biệt.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5699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Phương trình nào sau đây vô nghiệm?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\sin x=0{,}9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026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\tan x=2\ 026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\cos x=\frac{\pi}{3}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x=−5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\cot x=-5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05&gt;1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\frac{\pi}{3}\approx 1{,}05&gt;1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04087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phương trình </a:t>
                </a:r>
                <a:r>
                  <a:rPr lang="vi-VN"/>
                  <a:t>\sin x=\frac{1}{2}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một nghiệm.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16712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x=\frac{\pi}{6}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một nghiệm.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213969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17627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3154680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một nghiệm.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3154680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x=\frac{\pi}{3}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một nghiệm.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3127248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3163824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48640" y="414223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Công thức nghiệm: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+k2π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48640" y="4142232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c) Công thức nghiệm: </a:t>
                </a:r>
                <a:r>
                  <a:rPr lang="vi-VN"/>
                  <a:t>x=\pm\frac{\pi}{6}+k2\pi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3_nen"/>
          <p:cNvSpPr/>
          <p:nvPr/>
        </p:nvSpPr>
        <p:spPr>
          <a:xfrm>
            <a:off x="8412480" y="4114800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415137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(π/6, 5π/6)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Trên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2π)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có đúng 2 nghiệm.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48640" y="5129784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d) Trên </a:t>
                </a:r>
                <a:r>
                  <a:rPr lang="vi-VN"/>
                  <a:t>[0;\ 2\pi)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có đúng 2 nghiệm.</a:t>
                </a:r>
              </a:p>
            </p:txBody>
          </p:sp>
        </mc:Fallback>
      </mc:AlternateContent>
      <p:sp>
        <p:nvSpPr>
          <p:cNvPr id="18" name="s4_nen"/>
          <p:cNvSpPr/>
          <p:nvPr/>
        </p:nvSpPr>
        <p:spPr>
          <a:xfrm>
            <a:off x="8412480" y="5102352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5138928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nghiệm dương nhỏ nhất (theo độ) của phương trình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nghiệm dương nhỏ nhất (theo độ) của phương trình </a:t>
                </a:r>
                <a:r>
                  <a:rPr lang="vi-VN"/>
                  <a:t>\tan x=\tan 200^\circ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996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+k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nghiệm dương nhỏ nhất ứng với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20.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x=200^\circ+k180^\circ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nghiệm dương nhỏ nhất ứng với </a:t>
                </a:r>
                <a:r>
                  <a:rPr lang="vi-VN"/>
                  <a:t>k=-1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x=20^\circ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Quả đạn bắn với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m/s,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g=10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m/s². Tầm xa lớn nhất là bao nhiêu mét?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Quả đạn bắn với </a:t>
                </a:r>
                <a:r>
                  <a:rPr lang="vi-VN"/>
                  <a:t>v_0=20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m/s, </a:t>
                </a:r>
                <a:r>
                  <a:rPr lang="vi-VN"/>
                  <a:t>g=10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m/s². Tầm xa lớn nhất là bao nhiêu mét?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960119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L=</m:t>
                    </m:r>
                    <m:f>
                      <m:fPr>
                        <m:type m:val="bar"/>
                      </m:fPr>
                      <m:num>
                        <m:sSub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  <m:sub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2α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 (khi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α=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886967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L=\frac{v_0^2\sin 2\alpha}{g}\le\frac{400}{10}=40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 (khi </a:t>
                </a:r>
                <a:r>
                  <a:rPr lang="vi-VN"/>
                  <a:t>\alpha=45^\circ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https://trangtu66.github.io/Taode_thi_online/cc_bai4_t11.html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1.19 – 1.22.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Ôn tập Chương I, làm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tập cuối chương I</a:t>
            </a:r>
            <a:r>
              <a:rPr sz="2200">
                <a:solidFill>
                  <a:srgbClr val="1E293B"/>
                </a:solidFill>
                <a:latin typeface="Calibri"/>
              </a:rPr>
              <a:t> (SGK tr.40 – 41).</a:t>
            </a:r>
          </a:p>
        </p:txBody>
      </p:sp>
      <p:pic>
        <p:nvPicPr>
          <p:cNvPr id="8" name="Picture 7" descr="QR_CungCo_Bai4_Toan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32</a:t>
            </a:r>
          </a:p>
        </p:txBody>
      </p:sp>
      <p:pic>
        <p:nvPicPr>
          <p:cNvPr id="7" name="Picture 6" descr="SoDoTuDuy_TOAN11_Bai4_PTLuongGiacCoBan_T8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nghiệm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dạng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x=±α+k2π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(nhầm với cos).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Dùng bước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k2π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tan, cot (đúng là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kπ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); quên điều kiện xác định khi có tan, cot.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Trộn lẫn độ và rađian trong cùng công thức nghiệm.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Giải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x=m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|m|&gt;1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vẫn ra nghiệm.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Viết nghiệm </a:t>
                </a:r>
                <a:r>
                  <a:rPr lang="vi-VN"/>
                  <a:t>\sin x=m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dạng </a:t>
                </a:r>
                <a:r>
                  <a:rPr lang="vi-VN"/>
                  <a:t>x=\pm\alpha+k2\pi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(nhầm với cos).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Dùng bước </a:t>
                </a:r>
                <a:r>
                  <a:rPr lang="vi-VN"/>
                  <a:t>k2\pi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cho tan, cot (đúng là </a:t>
                </a:r>
                <a:r>
                  <a:rPr lang="vi-VN"/>
                  <a:t>k\pi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); quên điều kiện xác định khi có tan, cot.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Trộn lẫn độ và rađian trong cùng công thức nghiệm.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Giải </a:t>
                </a:r>
                <a:r>
                  <a:rPr lang="vi-VN"/>
                  <a:t>\cos x=m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|m|&gt;1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vẫn ra nghiệm.</a:t>
                </a: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4. Phương trình lượng giác cơ bản – Toán 11         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bảng 4 công thức nghiệm in sẵn; Ví dụ 2a, 5a, LT2a, LT3a, LT5a.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LT2b, LT3b, LT4b, Bài 1.20 – 1.22.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Khối 11 không có HS khuyết tật; HS yếu được hỗ trợ theo cặp.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in; máy tính cầm tay thay GeoGebra.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