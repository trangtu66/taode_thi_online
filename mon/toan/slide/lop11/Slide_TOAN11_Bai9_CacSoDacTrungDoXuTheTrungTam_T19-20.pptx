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320" r:id="rId72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dự đoán (lấy điểm giữa nhóm…); GV chưa kết luận – giải ở phần Vận dụng.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trangtu66.github.io/Taode_thi_online/cc_bai9_t11.html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9. CÁC SỐ ĐẶC TRƯNG ĐO XU THẾ TRUNG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Các số đặc trưng đo xu thế trung tâm của mẫu số liệu ghép nhóm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0624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5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19, 20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1914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</a:t>
            </a:r>
            <a:r>
              <a:rPr sz="2400" b="1">
                <a:solidFill>
                  <a:srgbClr val="1E293B"/>
                </a:solidFill>
                <a:latin typeface="Calibri"/>
              </a:rPr>
              <a:t>số trung bình, trung vị, tứ phân vị, mốt</a:t>
            </a:r>
            <a:r>
              <a:rPr sz="2400">
                <a:solidFill>
                  <a:srgbClr val="1E293B"/>
                </a:solidFill>
                <a:latin typeface="Calibri"/>
              </a:rPr>
              <a:t> của mẫu số liệu ghép nhóm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Hiểu </a:t>
            </a:r>
            <a:r>
              <a:rPr sz="2400" b="1">
                <a:solidFill>
                  <a:srgbClr val="1E293B"/>
                </a:solidFill>
                <a:latin typeface="Calibri"/>
              </a:rPr>
              <a:t>ý nghĩa, vai trò</a:t>
            </a:r>
            <a:r>
              <a:rPr sz="2400">
                <a:solidFill>
                  <a:srgbClr val="1E293B"/>
                </a:solidFill>
                <a:latin typeface="Calibri"/>
              </a:rPr>
              <a:t> của các số đặc trưng trong thực tế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máy tính cầm tay, GeoGebra kiểm chứng kết quả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TIỀN MUA XĂNG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Cửa hàng chỉ còn mẫu số liệu ghép nhóm về số tiền bán xăng cho 35 khách hàng đi xe máy: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02408"/>
            <a:ext cx="960120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02408"/>
            <a:ext cx="9235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Làm thế nào ước lượng số trung bình, trung vị, tứ phân vị, mốt của mẫu số liệu gốc?</a:t>
            </a:r>
          </a:p>
        </p:txBody>
      </p:sp>
      <p:pic>
        <p:nvPicPr>
          <p:cNvPr id="10" name="Picture 9" descr="bang_x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5107"/>
            <a:ext cx="10698480" cy="14017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1. SỐ TRUNG BÌNH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(T19)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THỜI GIAN TỰ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242011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Khảo sát: Mỗi ngày em tự học bao nhiêu giờ? A. Dưới 1,5 giờ. B. Từ 1,5 đến dưới 3 giờ. C. Từ 3 đến dưới 4,5 giờ. D. Từ 4,5 giờ trở lên.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Lập bảng thống kê cho mẫu số liệu ghép nhóm thu được.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Có tính chính xác được thời gian tự học trung bình không?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cách nào tính gần đúng không?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THỜI GIAN TỰ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914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Bảng 4 nhóm A, B, C, D với số HS chọn tương ứng của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Không – không biết thời gian cụ thể của từng HS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Lấy một giá trị đại diện cho mỗi nhóm (trung điểm) rồi tính trung bình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14343"/>
            <a:ext cx="9601200" cy="93725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514343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Giá trị đại diện của nhóm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[a;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a+b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514343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Giá trị đại diện của nhóm </a:t>
                </a:r>
                <a:r>
                  <a:rPr lang="vi-VN"/>
                  <a:t>[a;\,b)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</a:t>
                </a:r>
                <a:r>
                  <a:rPr lang="vi-VN"/>
                  <a:t>\frac{a+b}{2}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SỐ TRUNG BÌNH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057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05740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Số trung bình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của mẫu số liệu ghép nhóm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bar>
                      <m:barPr>
                        <m:pos m:val="top"/>
                      </m:bar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cỡ mẫu và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i+1</m:t>
                            </m:r>
                          </m:sub>
                        </m:sSub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i=1,…,k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là giá trị đại diện của 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i+1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05740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Số trung bình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của mẫu số liệu ghép nhóm là </a:t>
                </a:r>
                <a:r>
                  <a:rPr lang="vi-VN"/>
                  <a:t>x̄=(m_1x_1+…+m_kx_k)/n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:r>
                  <a:rPr lang="vi-VN"/>
                  <a:t>n=m_1+…+m_k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là cỡ mẫu và </a:t>
                </a:r>
                <a:r>
                  <a:rPr lang="vi-VN"/>
                  <a:t>x_i=(a_i+a_(i+1))/2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(với </a:t>
                </a:r>
                <a:r>
                  <a:rPr lang="vi-VN"/>
                  <a:t>i=1,…,k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là giá trị đại diện của nhóm </a:t>
                </a:r>
                <a:r>
                  <a:rPr lang="vi-VN"/>
                  <a:t>[a_i; a_(i+1))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CHÚ Ý: SỐ LIỆU RỜI RẠC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-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∈ℕ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 gồm các giá trị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điểm thi 1-4, 5-7, 8-10 →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5;7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</a:t>
                </a:r>
                <a:r>
                  <a:rPr lang="vi-VN"/>
                  <a:t>k_1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- </a:t>
                </a:r>
                <a:r>
                  <a:rPr lang="vi-VN"/>
                  <a:t>k_2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k_1,\,k_2\in\mathbb{N}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 gồm các giá trị </a:t>
                </a:r>
                <a:r>
                  <a:rPr lang="vi-VN"/>
                  <a:t>k_1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k_1+1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k_2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điểm thi 1-4, 5-7, 8-10 → </a:t>
                </a:r>
                <a:r>
                  <a:rPr lang="vi-VN"/>
                  <a:t>[0{,}5;4{,}5)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[4{,}5;7{,}5)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[7{,}5;10]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612136"/>
            <a:ext cx="960120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Hiệu chỉnh nhóm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-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thành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−0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+0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trước khi tính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1188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Hiệu chỉnh nhóm </a:t>
                </a:r>
                <a:r>
                  <a:rPr lang="vi-VN"/>
                  <a:t>k_1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- </a:t>
                </a:r>
                <a:r>
                  <a:rPr lang="vi-VN"/>
                  <a:t>k_2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thành </a:t>
                </a:r>
                <a:r>
                  <a:rPr lang="vi-VN"/>
                  <a:t>[k_1-0{,}5;\,k_2+0{,}5)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trước khi tính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CÂN NẶNG LỚP 11D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5059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Tìm cân nặng trung bình của học sinh lớp 11D cho trong Bảng 3.5.</a:t>
            </a:r>
          </a:p>
        </p:txBody>
      </p:sp>
      <p:pic>
        <p:nvPicPr>
          <p:cNvPr id="8" name="Picture 7" descr="bang_v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38531"/>
            <a:ext cx="10698480" cy="8927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CÂN NẶNG LỚP 11D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5059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Giá trị đại diện là trung điểm mỗi nhóm;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n=42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5059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Giá trị đại diện là trung điểm mỗi nhóm; </a:t>
                </a:r>
                <a:r>
                  <a:rPr lang="vi-VN"/>
                  <a:t>n=42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106168"/>
            <a:ext cx="9601200" cy="13944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106168"/>
                <a:ext cx="9235440" cy="1394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10·43+7·48+16·53+4·58+2·63+3·68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≈51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(kg)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106168"/>
                <a:ext cx="9235440" cy="1394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\bar{x}=\frac{10\cdot 43+7\cdot 48+16\cdot 53+4\cdot 58+2\cdot 63+3\cdot 68}{42}\approx 51{,}81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(kg)</a:t>
                </a:r>
              </a:p>
            </p:txBody>
          </p:sp>
        </mc:Fallback>
      </mc:AlternateContent>
      <p:pic>
        <p:nvPicPr>
          <p:cNvPr id="10" name="Picture 9" descr="bang_vd1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4113"/>
            <a:ext cx="10698480" cy="1853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THỜI GIAN XEM TI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4081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Tính thời gian xem ti vi trung bình trong tuần trước của các bạn học sinh này.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Giá trị đại diện: 2,5; 7,5; 12,5; 17,5; 22,5</a:t>
            </a:r>
          </a:p>
        </p:txBody>
      </p:sp>
      <p:pic>
        <p:nvPicPr>
          <p:cNvPr id="8" name="Picture 7" descr="bang_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68255"/>
            <a:ext cx="10698480" cy="1335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THỜI GIAN XEM TI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n=8+16+4+2+2=32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8·2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5+16·7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5+4·12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5+2·17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5+2·22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n=8+16+4+2+2=32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\bar{x}=\frac{8\cdot 2{,}5+16\cdot 7{,}5+4\cdot 12{,}5+2\cdot 17{,}5+2\cdot 22{,}5}{32}=\frac{270}{32}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36499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36499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giờ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36499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\bar{x}\approx 8{,}44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giờ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CỦA SỐ TRUNG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18044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trung bình của mẫu ghép nhóm </a:t>
            </a:r>
            <a:r>
              <a:rPr sz="2400" b="1">
                <a:solidFill>
                  <a:srgbClr val="1E293B"/>
                </a:solidFill>
                <a:latin typeface="Calibri"/>
              </a:rPr>
              <a:t>xấp xỉ</a:t>
            </a:r>
            <a:r>
              <a:rPr sz="2400">
                <a:solidFill>
                  <a:srgbClr val="1E293B"/>
                </a:solidFill>
                <a:latin typeface="Calibri"/>
              </a:rPr>
              <a:t> số trung bình của mẫu số liệu gốc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Cho biết </a:t>
            </a:r>
            <a:r>
              <a:rPr sz="2400" b="1">
                <a:solidFill>
                  <a:srgbClr val="1E293B"/>
                </a:solidFill>
                <a:latin typeface="Calibri"/>
              </a:rPr>
              <a:t>vị trí trung tâm</a:t>
            </a:r>
            <a:r>
              <a:rPr sz="2400">
                <a:solidFill>
                  <a:srgbClr val="1E293B"/>
                </a:solidFill>
                <a:latin typeface="Calibri"/>
              </a:rPr>
              <a:t> của mẫu số liệu, dùng để </a:t>
            </a:r>
            <a:r>
              <a:rPr sz="2400" b="1">
                <a:solidFill>
                  <a:srgbClr val="1E293B"/>
                </a:solidFill>
                <a:latin typeface="Calibri"/>
              </a:rPr>
              <a:t>đại diện</a:t>
            </a:r>
            <a:r>
              <a:rPr sz="2400">
                <a:solidFill>
                  <a:srgbClr val="1E293B"/>
                </a:solidFill>
                <a:latin typeface="Calibri"/>
              </a:rPr>
              <a:t> cho mẫu số liệu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2. TRUNG VỊ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(T19)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HĐ2: CHIỀU CAO 21 CÂY NA GIỐNG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2984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Gọi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chiều cao các cây (sắp xếp tăng dần);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 Hỏi trung vị thuộc nhóm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2984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Gọi </a:t>
                </a:r>
                <a:r>
                  <a:rPr lang="vi-VN"/>
                  <a:t>x_1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x_{21}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chiều cao các cây (sắp xếp tăng dần); </a:t>
                </a:r>
                <a:r>
                  <a:rPr lang="vi-VN"/>
                  <a:t>x_1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x_3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[0;5)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x_{11}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[5;10)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 Hỏi trung vị thuộc nhóm nào?</a:t>
                </a:r>
              </a:p>
            </p:txBody>
          </p:sp>
        </mc:Fallback>
      </mc:AlternateContent>
      <p:pic>
        <p:nvPicPr>
          <p:cNvPr id="8" name="Picture 7" descr="bang_h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77237"/>
            <a:ext cx="10698480" cy="16078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HĐ2: CHIỀU CAO 21 CÂY NA GIỐNG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n=21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trung vị là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n=21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trung vị là </a:t>
                </a:r>
                <a:r>
                  <a:rPr lang="vi-VN"/>
                  <a:t>x_{11}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x_4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x_{11}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[5;10)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612136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Trung vị thuộc nhóm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Trung vị thuộc nhóm </a:t>
                </a:r>
                <a:r>
                  <a:rPr lang="vi-VN"/>
                  <a:t>[5;10)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TRUNG VỊ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5222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222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trung vị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của mẫu số liệu ghép nhóm (Bảng 3.2), ta làm như sau: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000" b="1" i="1">
                    <a:solidFill>
                      <a:srgbClr val="991B1B"/>
                    </a:solidFill>
                    <a:latin typeface="Calibri"/>
                  </a:rPr>
                  <a:t>Bước 1.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Xác định nhóm chứa trung vị. Giả sử đó là nhóm thứ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000" b="1" i="1">
                    <a:solidFill>
                      <a:srgbClr val="991B1B"/>
                    </a:solidFill>
                    <a:latin typeface="Calibri"/>
                  </a:rPr>
                  <a:t>Bước 2.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Trung vị là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e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p−1</m:t>
                            </m:r>
                          </m:sub>
                        </m:s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0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·(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là cỡ mẫu,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là tần số 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p=1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, ta quy ước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0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p−1</m:t>
                        </m:r>
                      </m:sub>
                    </m:sSub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5222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trung vị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của mẫu số liệu ghép nhóm (Bảng 3.2), ta làm như sau: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000" b="1" i="1">
                    <a:solidFill>
                      <a:srgbClr val="991B1B"/>
                    </a:solidFill>
                    <a:latin typeface="Calibri"/>
                  </a:rPr>
                  <a:t>Bước 1.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Xác định nhóm chứa trung vị. Giả sử đó là nhóm thứ </a:t>
                </a:r>
                <a:r>
                  <a:rPr lang="vi-VN"/>
                  <a:t>p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[a_p; a_(p+1))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000" b="1" i="1">
                    <a:solidFill>
                      <a:srgbClr val="991B1B"/>
                    </a:solidFill>
                    <a:latin typeface="Calibri"/>
                  </a:rPr>
                  <a:t>Bước 2.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Trung vị là </a:t>
                </a:r>
                <a:r>
                  <a:rPr lang="vi-VN"/>
                  <a:t>M_e=a_p+(n/2−(m_1+…+m_(p−1)))/m_p·(a_(p+1)−a_p)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:r>
                  <a:rPr lang="vi-VN"/>
                  <a:t>n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là cỡ mẫu, </a:t>
                </a:r>
                <a:r>
                  <a:rPr lang="vi-VN"/>
                  <a:t>m_p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là tần số nhóm </a:t>
                </a:r>
                <a:r>
                  <a:rPr lang="vi-VN"/>
                  <a:t>p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 Với </a:t>
                </a:r>
                <a:r>
                  <a:rPr lang="vi-VN"/>
                  <a:t>p=1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, ta quy ước </a:t>
                </a:r>
                <a:r>
                  <a:rPr lang="vi-VN"/>
                  <a:t>m_1+…+m_(p−1)=0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TRUY CẬP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4081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Thời gian (phút) truy cập Internet mỗi buổi tối của một số học sinh. Tính trung vị của mẫu số liệu ghép nhóm này.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Cỡ mẫu? Trung vị là trung bình của hai giá trị nào?</a:t>
            </a:r>
          </a:p>
        </p:txBody>
      </p:sp>
      <p:pic>
        <p:nvPicPr>
          <p:cNvPr id="8" name="Picture 7" descr="bang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27211"/>
            <a:ext cx="10698480" cy="10175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TRUY CẬP INTERNET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n=56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trung vị là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sub>
                        </m:s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sub>
                        </m:sSub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h=3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n=56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trung vị là </a:t>
                </a:r>
                <a:r>
                  <a:rPr lang="vi-VN"/>
                  <a:t>\frac{x_{28}+x_{29}}{2}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x_{28}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x_{29}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[15{,}5;\,18{,}5)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a_3=15{,}5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m_3=15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m_1+m_2=15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h=3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790444"/>
            <a:ext cx="9601200" cy="93725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=15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28−15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·3=18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M_e=15{,}5+\frac{28-15}{15}\cdot 3=18{,}1</a:t>
                </a:r>
              </a:p>
            </p:txBody>
          </p:sp>
        </mc:Fallback>
      </mc:AlternateContent>
      <p:pic>
        <p:nvPicPr>
          <p:cNvPr id="10" name="Picture 9" descr="bang_vd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50169"/>
            <a:ext cx="10698480" cy="10281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2: TỐC ĐỘ GIAO BÓNG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4081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Tốc độ bóng trong 200 lần giao bóng của một vận động viên quần vợt. Tính trung vị.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Lập bảng tần số tích luỹ</a:t>
            </a:r>
          </a:p>
        </p:txBody>
      </p:sp>
      <p:pic>
        <p:nvPicPr>
          <p:cNvPr id="8" name="Picture 7" descr="bang_l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44887"/>
            <a:ext cx="10698480" cy="9822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2: TỐC ĐỘ GIAO BÓNG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842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81&lt;100≤124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nhóm chứa trung vị là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[165;170)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842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\frac{n}{2}=100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81&lt;100\le 124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nhóm chứa trung vị là </a:t>
                </a:r>
                <a:r>
                  <a:rPr lang="vi-VN"/>
                  <a:t>[165;170)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84476"/>
            <a:ext cx="9601200" cy="93725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84476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=165+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100−81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·5≈167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(km/h)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84476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M_e=165+\frac{100-81}{43}\cdot 5\approx 167{,}21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(km/h)</a:t>
                </a:r>
              </a:p>
            </p:txBody>
          </p:sp>
        </mc:Fallback>
      </mc:AlternateContent>
      <p:pic>
        <p:nvPicPr>
          <p:cNvPr id="10" name="Picture 9" descr="bang_lt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20146"/>
            <a:ext cx="10698480" cy="9822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Ý NGHĨA CỦA TRUNG VỊ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10119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Trung vị của mẫu ghép nhóm </a:t>
            </a:r>
            <a:r>
              <a:rPr sz="2400" b="1">
                <a:solidFill>
                  <a:srgbClr val="1E293B"/>
                </a:solidFill>
                <a:latin typeface="Calibri"/>
              </a:rPr>
              <a:t>xấp xỉ</a:t>
            </a:r>
            <a:r>
              <a:rPr sz="2400">
                <a:solidFill>
                  <a:srgbClr val="1E293B"/>
                </a:solidFill>
                <a:latin typeface="Calibri"/>
              </a:rPr>
              <a:t> trung vị của mẫu số liệu gốc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Chia mẫu số liệu thành </a:t>
            </a:r>
            <a:r>
              <a:rPr sz="2400" b="1">
                <a:solidFill>
                  <a:srgbClr val="1E293B"/>
                </a:solidFill>
                <a:latin typeface="Calibri"/>
              </a:rPr>
              <a:t>hai phần</a:t>
            </a:r>
            <a:r>
              <a:rPr sz="2400">
                <a:solidFill>
                  <a:srgbClr val="1E293B"/>
                </a:solidFill>
                <a:latin typeface="Calibri"/>
              </a:rPr>
              <a:t>, mỗi phần chứa </a:t>
            </a:r>
            <a:r>
              <a:rPr sz="2400" b="1">
                <a:solidFill>
                  <a:srgbClr val="1E293B"/>
                </a:solidFill>
                <a:latin typeface="Calibri"/>
              </a:rPr>
              <a:t>50%</a:t>
            </a:r>
            <a:r>
              <a:rPr sz="2400">
                <a:solidFill>
                  <a:srgbClr val="1E293B"/>
                </a:solidFill>
                <a:latin typeface="Calibri"/>
              </a:rPr>
              <a:t> giá trị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12136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2136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Về nhà: Bài 3.4 (Phiếu số 2)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3. TỨ PHÂN VỊ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2 (T20)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HĐ3: NHÓM CHỨA Q₁, Q₃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Với mẫu số liệu ghép nhóm trong HĐ2 (21 cây na), cho biết tứ phân vị thứ nhất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tứ phân vị thứ ba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nhóm nào.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Có 25%, 75% số giá trị nhỏ hơn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Với mẫu số liệu ghép nhóm trong HĐ2 (21 cây na), cho biết tứ phân vị thứ nhất </a:t>
                </a:r>
                <a:r>
                  <a:rPr lang="vi-VN"/>
                  <a:t>Q_1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tứ phân vị thứ ba </a:t>
                </a:r>
                <a:r>
                  <a:rPr lang="vi-VN"/>
                  <a:t>Q_3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nhóm nào.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Có 25%, 75% số giá trị nhỏ hơn </a:t>
                </a:r>
                <a:r>
                  <a:rPr lang="vi-VN"/>
                  <a:t>Q_1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Q_3</a:t>
                </a:r>
              </a:p>
            </p:txBody>
          </p:sp>
        </mc:Fallback>
      </mc:AlternateContent>
      <p:pic>
        <p:nvPicPr>
          <p:cNvPr id="8" name="Picture 7" descr="bang_h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32101"/>
            <a:ext cx="10698480" cy="16078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HĐ3: NHÓM CHỨA Q₁, Q₃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[10;15)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Q_1=\frac{x_5+x_6}{2}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x_5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[5;10)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Q_3=\frac{x_{16}+x_{17}}{2}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x_{16}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x_{17}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[10;15)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968751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968751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[10;15)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968751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Q_1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thuộc </a:t>
                </a:r>
                <a:r>
                  <a:rPr lang="vi-VN"/>
                  <a:t>[5;10)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Q_3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thuộc </a:t>
                </a:r>
                <a:r>
                  <a:rPr lang="vi-VN"/>
                  <a:t>[10;15)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TỨ PHÂN VỊ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9088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nhất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của mẫu số liệu ghép nhóm, trước hết ta xác định nhóm chứa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giả sử đó là nhóm thứ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Khi đó,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p−1</m:t>
                            </m:r>
                          </m:sub>
                        </m:s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·(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088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nhất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</a:t>
                </a:r>
                <a:r>
                  <a:rPr lang="vi-VN"/>
                  <a:t>Q_1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của mẫu số liệu ghép nhóm, trước hết ta xác định nhóm chứa </a:t>
                </a:r>
                <a:r>
                  <a:rPr lang="vi-VN"/>
                  <a:t>Q_1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giả sử đó là nhóm thứ </a:t>
                </a:r>
                <a:r>
                  <a:rPr lang="vi-VN"/>
                  <a:t>p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[a_p; a_(p+1))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Khi đó, </a:t>
                </a:r>
                <a:r>
                  <a:rPr lang="vi-VN"/>
                  <a:t>Q_1=a_p+(n/4−(m_1+…+m_(p−1)))/m_p·(a_(p+1)−a_p)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TỨ PHÂN VỊ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74701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470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ba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trước hết ta xác định nhóm chứa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giả sử đó là nhóm thứ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Khi đó,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3n</m:t>
                            </m:r>
                          </m:num>
                          <m:den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p−1</m:t>
                            </m:r>
                          </m:sub>
                        </m:s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·(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trong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cỡ mẫu,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tần số 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ta quy ước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p−1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hai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chính là trung vị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74701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tính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ba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</a:t>
                </a:r>
                <a:r>
                  <a:rPr lang="vi-VN"/>
                  <a:t>Q_3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trước hết ta xác định nhóm chứa </a:t>
                </a:r>
                <a:r>
                  <a:rPr lang="vi-VN"/>
                  <a:t>Q_3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giả sử đó là nhóm thứ </a:t>
                </a:r>
                <a:r>
                  <a:rPr lang="vi-VN"/>
                  <a:t>p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[a_p; a_(p+1))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Khi đó, </a:t>
                </a:r>
                <a:r>
                  <a:rPr lang="vi-VN"/>
                  <a:t>Q_3=a_p+(3n/4−(m_1+…+m_(p−1)))/m_p·(a_(p+1)−a_p)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trong đó </a:t>
                </a:r>
                <a:r>
                  <a:rPr lang="vi-VN"/>
                  <a:t>n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cỡ mẫu, </a:t>
                </a:r>
                <a:r>
                  <a:rPr lang="vi-VN"/>
                  <a:t>m_p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tần số nhóm </a:t>
                </a:r>
                <a:r>
                  <a:rPr lang="vi-VN"/>
                  <a:t>p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với </a:t>
                </a:r>
                <a:r>
                  <a:rPr lang="vi-VN"/>
                  <a:t>p=1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ta quy ước </a:t>
                </a:r>
                <a:r>
                  <a:rPr lang="vi-VN"/>
                  <a:t>m_1+…+m_(p−1)=0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Tứ phân vị thứ hai </a:t>
                </a:r>
                <a:r>
                  <a:rPr lang="vi-VN"/>
                  <a:t>Q_2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chính là trung vị </a:t>
                </a:r>
                <a:r>
                  <a:rPr lang="vi-VN"/>
                  <a:t>M_e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Q₁, Q₃ CỦA VÍ DỤ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tứ phân vị thứ nhất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tứ phân vị thứ ba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của mẫu số liệu ghép nhóm cho trong Ví dụ 2.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3n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=42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tứ phân vị thứ nhất </a:t>
                </a:r>
                <a:r>
                  <a:rPr lang="vi-VN"/>
                  <a:t>Q_1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tứ phân vị thứ ba </a:t>
                </a:r>
                <a:r>
                  <a:rPr lang="vi-VN"/>
                  <a:t>Q_3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của mẫu số liệu ghép nhóm cho trong Ví dụ 2.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:r>
                  <a:rPr lang="vi-VN"/>
                  <a:t>\frac{n}{4}=14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\frac{3n}{4}=42</a:t>
                </a:r>
              </a:p>
            </p:txBody>
          </p:sp>
        </mc:Fallback>
      </mc:AlternateContent>
      <p:pic>
        <p:nvPicPr>
          <p:cNvPr id="8" name="Picture 7" descr="bang_v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05519"/>
            <a:ext cx="10698480" cy="101759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Q₁, Q₃ CỦA VÍ DỤ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2516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14−3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·3=15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42</m:t>
                            </m:r>
                          </m:sub>
                        </m:s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43</m:t>
                            </m:r>
                          </m:sub>
                        </m:sSub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42−30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·3=20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2516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Q_1=\frac{x_{14}+x_{15}}{2}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[12{,}5;\,15{,}5)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Q_1=12{,}5+\frac{14-3}{12}\cdot 3=15{,}25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Q_3=\frac{x_{42}+x_{43}}{2}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[18{,}5;\,21{,}5)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Q_3=18{,}5+\frac{42-30}{24}\cdot 3=20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325368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325368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=15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325368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Q_1=15{,}25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Q_3=20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3: TỨ PHÂN VỊ GIAO BÓNG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tứ phân vị thứ nhất và tứ phân vị thứ ba cho mẫu số liệu ghép nhóm ở Luyện tập 2.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3n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tứ phân vị thứ nhất và tứ phân vị thứ ba cho mẫu số liệu ghép nhóm ở Luyện tập 2.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:r>
                  <a:rPr lang="vi-VN"/>
                  <a:t>\frac{n}{4}=50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\frac{3n}{4}=150</a:t>
                </a:r>
              </a:p>
            </p:txBody>
          </p:sp>
        </mc:Fallback>
      </mc:AlternateContent>
      <p:pic>
        <p:nvPicPr>
          <p:cNvPr id="8" name="Picture 7" descr="bang_lt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23195"/>
            <a:ext cx="10698480" cy="98224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3: TỨ PHÂN VỊ GIAO BÓNG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46&lt;50≤81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=160+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50−46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·5≈160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124&lt;150≤165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=170+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150−124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·5≈173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3685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46&lt;50\le 81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Q_1=160+\frac{50-46}{35}\cdot 5\approx 160{,}57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124&lt;150\le 165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Q_3=170+\frac{150-124}{41}\cdot 5\approx 173{,}17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968751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968751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≈160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km/h;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≈173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km/h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968751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Q_1\approx 160{,}57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km/h; </a:t>
                </a:r>
                <a:r>
                  <a:rPr lang="vi-VN"/>
                  <a:t>Q_3\approx 173{,}17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km/h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EM CÓ BIẾT? GEOGEBRA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32</a:t>
            </a:r>
          </a:p>
        </p:txBody>
      </p:sp>
      <p:pic>
        <p:nvPicPr>
          <p:cNvPr id="6" name="Picture 5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09" y="1417320"/>
            <a:ext cx="601190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Đồ thị tần số tích luỹ (Ví dụ 2): Q₁ = 15,25; Q₂ = 18,1; Q₃ = 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4. MỐT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2 (T20)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MỐT THỜI GIAN XEM TI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9141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Với số liệu trong Luyện tập 1: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Có tìm được chính xác mốt của mẫu số liệu gốc không?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Mốt thuộc nhóm nào là hợp lí nhất? Nên lấy số nào để ước lượng mốt?</a:t>
            </a:r>
          </a:p>
        </p:txBody>
      </p:sp>
      <p:pic>
        <p:nvPicPr>
          <p:cNvPr id="8" name="Picture 7" descr="bang_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21239"/>
            <a:ext cx="10698480" cy="13355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MỐT THỜI GIAN XEM TI VI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Không – không biết từng giá trị cụ thể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Nhóm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tần số lớn nhất (16)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0119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Không – không biết từng giá trị cụ thể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Nhóm </a:t>
                </a:r>
                <a:r>
                  <a:rPr lang="vi-VN"/>
                  <a:t>[5;10)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tần số lớn nhất (16)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612136"/>
            <a:ext cx="9601200" cy="93725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Ước lượng: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16−8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·5=7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(giờ)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612136"/>
                <a:ext cx="9235440" cy="93725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Ước lượng: </a:t>
                </a:r>
                <a:r>
                  <a:rPr lang="vi-VN"/>
                  <a:t>M_o=5+\frac{16-8}{(16-8)+(16-4)}\cdot 5=7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(giờ)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950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tìm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mốt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của mẫu số liệu ghép nhóm (Bảng 3.2), ta thực hiện theo các bước sau: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 i="1">
                    <a:solidFill>
                      <a:srgbClr val="991B1B"/>
                    </a:solidFill>
                    <a:latin typeface="Calibri"/>
                  </a:rPr>
                  <a:t>Bước 1.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Xác định nhóm có tần số lớn nhất (gọi là nhóm chứa mốt), giả sử là 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j+1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9507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Để tìm 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mốt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của mẫu số liệu ghép nhóm (Bảng 3.2), ta thực hiện theo các bước sau: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 i="1">
                    <a:solidFill>
                      <a:srgbClr val="991B1B"/>
                    </a:solidFill>
                    <a:latin typeface="Calibri"/>
                  </a:rPr>
                  <a:t>Bước 1.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Xác định nhóm có tần số lớn nhất (gọi là nhóm chứa mốt), giả sử là nhóm </a:t>
                </a:r>
                <a:r>
                  <a:rPr lang="vi-VN"/>
                  <a:t>j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[a_j; a_(j+1))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MỐT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7202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7202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 i="1">
                    <a:solidFill>
                      <a:srgbClr val="991B1B"/>
                    </a:solidFill>
                    <a:latin typeface="Calibri"/>
                  </a:rPr>
                  <a:t>Bước 2.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Mốt được xác định là: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j−1</m:t>
                            </m:r>
                          </m:sub>
                        </m:sSub>
                      </m:num>
                      <m:den>
                        <m:d>
                          <m:dPr>
                            <m:sepChr m:val=""/>
                          </m:dPr>
                          <m:e>
                            <m:sSub>
                              <m:e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j−1</m:t>
                                </m:r>
                              </m:sub>
                            </m:s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  <m:sub>
                                <m:r>
                                  <a:rPr lang="vi-VN" sz="22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j+1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·h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tần số của 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(quy ước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k+1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 và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độ dài của nhóm.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17202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 i="1">
                    <a:solidFill>
                      <a:srgbClr val="991B1B"/>
                    </a:solidFill>
                    <a:latin typeface="Calibri"/>
                  </a:rPr>
                  <a:t>Bước 2.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Mốt được xác định là: </a:t>
                </a:r>
                <a:r>
                  <a:rPr lang="vi-VN"/>
                  <a:t>M_o=a_j+(m_j−m_(j−1))/((m_j−m_(j−1))+(m_j−m_(j+1)))·h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trong đó </a:t>
                </a:r>
                <a:r>
                  <a:rPr lang="vi-VN"/>
                  <a:t>m_j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tần số của nhóm </a:t>
                </a:r>
                <a:r>
                  <a:rPr lang="vi-VN"/>
                  <a:t>j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(quy ước </a:t>
                </a:r>
                <a:r>
                  <a:rPr lang="vi-VN"/>
                  <a:t>m_0=m_(k+1)=0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) và </a:t>
                </a:r>
                <a:r>
                  <a:rPr lang="vi-VN"/>
                  <a:t>h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là độ dài của nhóm.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LƯU Ý VỀ MỐT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01193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định nghĩa mốt cho mẫu ghép nhóm có </a:t>
            </a:r>
            <a:r>
              <a:rPr sz="2400" b="1">
                <a:solidFill>
                  <a:srgbClr val="1E293B"/>
                </a:solidFill>
                <a:latin typeface="Calibri"/>
              </a:rPr>
              <a:t>độ dài các nhóm bằng nhau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mẫu có thể </a:t>
            </a:r>
            <a:r>
              <a:rPr sz="2400" b="1">
                <a:solidFill>
                  <a:srgbClr val="1E293B"/>
                </a:solidFill>
                <a:latin typeface="Calibri"/>
              </a:rPr>
              <a:t>không có mốt</a:t>
            </a:r>
            <a:r>
              <a:rPr sz="2400">
                <a:solidFill>
                  <a:srgbClr val="1E293B"/>
                </a:solidFill>
                <a:latin typeface="Calibri"/>
              </a:rPr>
              <a:t> hoặc </a:t>
            </a:r>
            <a:r>
              <a:rPr sz="2400" b="1">
                <a:solidFill>
                  <a:srgbClr val="1E293B"/>
                </a:solidFill>
                <a:latin typeface="Calibri"/>
              </a:rPr>
              <a:t>nhiều hơn một mốt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12136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2136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Tần số các nhóm bằng nhau thì mẫu không có mốt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CHIỀU CAO LỚP 11A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4081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Tính mốt của mẫu số liệu ghép nhóm về chiều cao (cm) của 50 học sinh lớp 11A. Có thể kết luận gì?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Nhóm nào có tần số lớn nhất?</a:t>
            </a:r>
          </a:p>
        </p:txBody>
      </p:sp>
      <p:pic>
        <p:nvPicPr>
          <p:cNvPr id="8" name="Picture 7" descr="bang_v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1989"/>
            <a:ext cx="10698480" cy="11480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CHIỀU CAO LỚP 11A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chứa mốt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[150;155)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j=2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h=5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=150+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14−7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·5≈153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chứa mốt </a:t>
                </a:r>
                <a:r>
                  <a:rPr lang="vi-VN"/>
                  <a:t>[150;155)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j=2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a_2=150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m_2=14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m_1=7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m_3=10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h=5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M_o=150+\frac{14-7}{(14-7)+(14-10)}\cdot 5\approx 153{,}18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79044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90444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Số học sinh cao khoảng 153,18 cm là nhiều nhất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4: THỜI GIAN LÀM CÂU HỎI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Tìm mốt của mẫu số liệu ghép nhóm về thời gian (phút) học sinh hoàn thành một câu hỏi thi.</a:t>
            </a:r>
          </a:p>
        </p:txBody>
      </p:sp>
      <p:pic>
        <p:nvPicPr>
          <p:cNvPr id="8" name="Picture 7" descr="bang_l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74227"/>
            <a:ext cx="10698480" cy="101759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4: THỜI GIAN LÀM CÂU HỎI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chứa mốt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5;20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h=10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10−2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Nhóm chứa mốt </a:t>
                </a:r>
                <a:r>
                  <a:rPr lang="vi-VN"/>
                  <a:t>[10{,}5;20{,}5)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m_1=2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m_2=10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m_3=6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h=10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M_o=10{,}5+\frac{10-2}{(10-2)+(10-6)}\cdot 10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79044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≈17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(phút)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M_o\approx 17{,}17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(phút)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Phiếu học tập số 2 – Bài tập phân hoá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3.4: QUÃNG ĐƯỜNG ĐI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Quãng đường (km) của 40 công nhân: 5 3 10 20 25 11 13 7 12 31 19 10 12 17 18 11 32 17 16 2 7 9 7 8 3 5 12 15 18 3 12 14 2 9 6 15 15 7 6 12.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Ghép nhóm độ rộng bằng nhau, khoảng đầu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[0;5)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tìm giá trị đại diện.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Tính số trung bình mẫu không ghép nhóm, ghép nhóm. Giá trị nào chính xác hơn?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Xác định nhóm chứa mốt.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Quãng đường (km) của 40 công nhân: 5 3 10 20 25 11 13 7 12 31 19 10 12 17 18 11 32 17 16 2 7 9 7 8 3 5 12 15 18 3 12 14 2 9 6 15 15 7 6 12.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Ghép nhóm độ rộng bằng nhau, khoảng đầu </a:t>
                </a:r>
                <a:r>
                  <a:rPr lang="vi-VN"/>
                  <a:t>[0;5)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tìm giá trị đại diện.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Tính số trung bình mẫu không ghép nhóm, ghép nhóm. Giá trị nào chính xác hơn?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Xác định nhóm chứa mốt.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3.4: QUÃNG ĐƯỜNG ĐI LÀM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3601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Đại diện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…;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Không ghép nhóm: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476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ghép nhóm: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chính xác hơn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3601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Đại diện </a:t>
                </a:r>
                <a:r>
                  <a:rPr lang="vi-VN"/>
                  <a:t>2{,}5;\,7{,}5;\,\ldots;\,32{,}5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Không ghép nhóm: </a:t>
                </a:r>
                <a:r>
                  <a:rPr lang="vi-VN"/>
                  <a:t>\frac{476}{40}=11{,}9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ghép nhóm: </a:t>
                </a:r>
                <a:r>
                  <a:rPr lang="vi-VN"/>
                  <a:t>\frac{505}{40}=12{,}625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11{,}9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chính xác hơn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[5;10)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[10;15)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tần số lớn nhất 11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29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[5;10)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[10;15)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tần số lớn nhất 11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073148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Hai nhóm chứa mốt; công thức đều cho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073148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Hai nhóm chứa mốt; công thức đều cho </a:t>
                </a:r>
                <a:r>
                  <a:rPr lang="vi-VN"/>
                  <a:t>M_o=10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Fallback>
      </mc:AlternateContent>
      <p:pic>
        <p:nvPicPr>
          <p:cNvPr id="10" name="Picture 9" descr="bang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79810"/>
            <a:ext cx="10698480" cy="100774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3.5: TUỔI THỌ ẮC QUY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Tuổi thọ (năm) của 50 bình ắc quy ô tô. a) Xác định mốt và giải thích ý nghĩa. b) Tính tuổi thọ trung bình.</a:t>
            </a:r>
          </a:p>
        </p:txBody>
      </p:sp>
      <p:pic>
        <p:nvPicPr>
          <p:cNvPr id="8" name="Picture 7" descr="bang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18501"/>
            <a:ext cx="10698480" cy="112904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3.5: TUỔI THỌ ẮC QUY (MỨC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431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Nhóm chứa mốt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[3;3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14−9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5=3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4·2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25+9·2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75+14·3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25+11·3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75+7·4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25+5·4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431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Nhóm chứa mốt </a:t>
                </a:r>
                <a:r>
                  <a:rPr lang="vi-VN"/>
                  <a:t>[3;3{,}5)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M_o=3+\frac{14-9}{(14-9)+(14-11)}\cdot 0{,}5=3{,}3125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\bar{x}=\frac{4\cdot 2{,}25+9\cdot 2{,}75+14\cdot 3{,}25+11\cdot 3{,}75+7\cdot 4{,}25+5\cdot 4{,}75}{50}=\frac{174}{50}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543300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543300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≈3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năm (nhiều bình nhất);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năm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543300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M_o\approx 3{,}31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năm (nhiều bình nhất); </a:t>
                </a:r>
                <a:r>
                  <a:rPr lang="vi-VN"/>
                  <a:t>\bar{x}=3{,}48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năm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3.6: ĐIỂM THI TOÁN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Điểm thi Toán (thang 100, làm tròn đến 1) của 60 thí sinh. a) Hiệu chỉnh về dạng Bảng 3.2. b) Tìm các tứ phân vị, giải thích ý nghĩa.</a:t>
            </a:r>
          </a:p>
        </p:txBody>
      </p:sp>
      <p:pic>
        <p:nvPicPr>
          <p:cNvPr id="8" name="Picture 7" descr="bang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1194"/>
            <a:ext cx="10698480" cy="10036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3.6: ĐIỂM THI TOÁN (MỨC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0934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[−0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…,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[89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5;99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15−13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·10≈40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0934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[-0{,}5;9{,}5)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[9{,}5;19{,}5)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…, </a:t>
                </a:r>
                <a:r>
                  <a:rPr lang="vi-VN"/>
                  <a:t>[89{,}5;99{,}5)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Q_1=39{,}5+\frac{15-13}{15}\cdot 10\approx 40{,}83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3.6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79984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30−28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·10≈51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45−40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·10=64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79984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Q_2=49{,}5+\frac{30-28}{12}\cdot 10\approx 51{,}17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Q_3=59{,}5+\frac{45-40}{10}\cdot 10=64{,}5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400045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0045"/>
            <a:ext cx="923544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Khoảng 25%, 50%, 75% thí sinh dưới 40,83; 51,17; 64,5 điểm</a:t>
            </a:r>
          </a:p>
        </p:txBody>
      </p:sp>
      <p:pic>
        <p:nvPicPr>
          <p:cNvPr id="10" name="Picture 9" descr="bang_3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77009"/>
            <a:ext cx="10698480" cy="94024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3.7: THỜI GIAN NGỦ (MỨC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Thời gian ngủ (giờ) một buổi tối của học sinh khối 11. a) So sánh thời gian ngủ trung bình của nam và nữ. b) 75% học sinh khối 11 ngủ ít nhất bao nhiêu giờ?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Câu b: 75% ngủ ít nhất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giờ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Thời gian ngủ (giờ) một buổi tối của học sinh khối 11. a) So sánh thời gian ngủ trung bình của nam và nữ. b) 75% học sinh khối 11 ngủ ít nhất bao nhiêu giờ?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Câu b: 75% ngủ ít nhất </a:t>
                </a:r>
                <a:r>
                  <a:rPr lang="vi-VN"/>
                  <a:t>Q_1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giờ</a:t>
                </a:r>
              </a:p>
            </p:txBody>
          </p:sp>
        </mc:Fallback>
      </mc:AlternateContent>
      <p:pic>
        <p:nvPicPr>
          <p:cNvPr id="8" name="Picture 7" descr="bang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57100"/>
            <a:ext cx="10698480" cy="215405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3.7: THỜI GIAN NGỦ (MỨC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Nam: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293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≈6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nữ: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277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≈6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nữ ngủ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Gộp: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10;18;23;20;15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n=86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10&lt;21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5≤28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Nam: </a:t>
                </a:r>
                <a:r>
                  <a:rPr lang="vi-VN"/>
                  <a:t>\bar{x}=\frac{293{,}5}{45}\approx 6{,}52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nữ: </a:t>
                </a:r>
                <a:r>
                  <a:rPr lang="vi-VN"/>
                  <a:t>\bar{x}=\frac{277{,}5}{41}\approx 6{,}77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nữ ngủ nhiều hơn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Gộp: </a:t>
                </a:r>
                <a:r>
                  <a:rPr lang="vi-VN"/>
                  <a:t>10;18;23;20;15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n=86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\frac{n}{4}=21{,}5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10&lt;21{,}5\le 28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3.7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5−10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·1≈5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Q_1=5+\frac{21{,}5-10}{18}\cdot 1\approx 5{,}64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6597"/>
            <a:ext cx="923544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75% học sinh ngủ ít nhất khoảng 5,64 giờ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SỐ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7451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Đề: Luyện tập 1 (thời gian xem ti vi). Chatbot AI trả lời: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"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bar>
                      <m:barPr>
                        <m:pos m:val="top"/>
                      </m:bar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8·0+16·5+4·10+2·15+2·20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giờ."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AI dùng giá trị nào làm đại diện cho mỗi nhóm?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7451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Đề: Luyện tập 1 (thời gian xem ti vi). Chatbot AI trả lời: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"</a:t>
                </a:r>
                <a:r>
                  <a:rPr lang="vi-VN"/>
                  <a:t>x̄=(8·0+16·5+4·10+2·15+2·20)/32=190/32≈5,94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giờ."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AI dùng giá trị nào làm đại diện cho mỗi nhóm?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SỐ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Sai: dùng đầu mút trái thay cho giá trị đại diện (trung điểm)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902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Sai: dùng đầu mút trái thay cho giá trị đại diện (trung điểm)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Đúng: </a:t>
                </a:r>
                <a:r>
                  <a:rPr lang="vi-VN"/>
                  <a:t>\bar{x}=\frac{270}{32}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79044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giờ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790444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\bar{x}\approx 8{,}44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giờ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SỐ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88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Đề: Ví dụ 2 – trung vị thời gian truy cập Internet. Chatbot AI trả lời: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"Nhóm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5;21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tần số lớn nhất (24) nên chứa trung vị: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28−30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·3=18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."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Nhóm chứa trung vị xác định theo tiêu chí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88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Đề: Ví dụ 2 – trung vị thời gian truy cập Internet. Chatbot AI trả lời: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"Nhóm </a:t>
                </a:r>
                <a:r>
                  <a:rPr lang="vi-VN"/>
                  <a:t>[18,5;21,5)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tần số lớn nhất (24) nên chứa trung vị: </a:t>
                </a:r>
                <a:r>
                  <a:rPr lang="vi-VN"/>
                  <a:t>M_e=18,5+(28−30)/24·3=18,25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."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Nhóm chứa trung vị xác định theo tiêu chí nào?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SỐ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Sai: nhầm nhóm chứa trung vị với nhóm chứa mốt (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28−30&lt;0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dấu hiệu sai)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15&lt;28≤30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nhóm chứa trung vị là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5;18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Sai: nhầm nhóm chứa trung vị với nhóm chứa mốt (</a:t>
                </a:r>
                <a:r>
                  <a:rPr lang="vi-VN"/>
                  <a:t>28-30&lt;0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dấu hiệu sai)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15&lt;28\le 30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nhóm chứa trung vị là </a:t>
                </a:r>
                <a:r>
                  <a:rPr lang="vi-VN"/>
                  <a:t>[15{,}5;18{,}5)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008376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008376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008376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M_e=18{,}1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GIẢI BÀI TOÁN MỞ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9022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>
                <a:solidFill>
                  <a:srgbClr val="1E293B"/>
                </a:solidFill>
                <a:latin typeface="Calibri"/>
              </a:rPr>
              <a:t>Tính các số đặc trưng cho mẫu số liệu trong Bảng 3.1 (tiền mua xăng của 35 khách hàng) và giải thích ý nghĩa.</a:t>
            </a:r>
          </a:p>
        </p:txBody>
      </p:sp>
      <p:pic>
        <p:nvPicPr>
          <p:cNvPr id="8" name="Picture 7" descr="bang_x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82167"/>
            <a:ext cx="10698480" cy="140171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GIẢI BÀI TOÁN MỞ ĐẦU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3·15+15·45+10·75+7·105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=63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5−3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·30=59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75−3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·30=41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25−18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·30=84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726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\bar{x}=\frac{3\cdot 15+15\cdot 45+10\cdot 75+7\cdot 105}{35}=63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M_e=30+\frac{17{,}5-3}{15}\cdot 30=59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Q_1=30+\frac{8{,}75-3}{15}\cdot 30=41{,}5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Q_3=60+\frac{26{,}25-18}{10}\cdot 30=84{,}75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=30+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15−3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·30≈51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M_o=30+\frac{15-3}{(15-3)+(15-10)}\cdot 30\approx 51{,}18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36597"/>
            <a:ext cx="9235440" cy="1112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Trung bình mỗi khách mua 63 nghìn đồng; một nửa số khách mua dưới 59 nghìn đồng; hay mua nhất khoảng 51 nghìn đồng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Năng suất cà phê của xã em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dùng bảng ghép nhóm năng suất (tạ/ha) đã thu thập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</a:t>
                </a:r>
                <a14:m>
                  <m:oMath xmlns:m="http://schemas.openxmlformats.org/officeDocument/2006/math">
                    <m:bar>
                      <m:barPr>
                        <m:pos m:val="top"/>
                      </m:bar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Google Sheets; nêu ý nghĩa từng số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Năng suất cà phê của xã em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dùng bảng ghép nhóm năng suất (tạ/ha) đã thu thập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</a:t>
                </a:r>
                <a:r>
                  <a:rPr lang="vi-VN"/>
                  <a:t>\bar{x}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M_e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Q_1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Q_3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M_o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Google Sheets; nêu ý nghĩa từng số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404616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04616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Nộp 3–5 slide kèm Nhật ký sử dụng AI trong 1 tuần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CỦNG CỐ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63</a:t>
            </a:r>
          </a:p>
        </p:txBody>
      </p:sp>
      <p:pic>
        <p:nvPicPr>
          <p:cNvPr id="6" name="Picture 5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18" y="1417320"/>
            <a:ext cx="773508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Nêu nội dung từng nhánh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9. Các số đặc trưng đo xu thế trung tâm          64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9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trangtu66.github.io/Taode_thi_online/cc_bai9_t11.html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4349389" y="242316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3501902" y="1971812"/>
            <a:ext cx="847487" cy="451348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10287" y="1768815"/>
            <a:ext cx="3091614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x̄ = (m₁x₁ + … + mₖxₖ) : 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089812" y="2423160"/>
            <a:ext cx="1259577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376" y="2220163"/>
            <a:ext cx="226743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xᵢ = (aᵢ + aᵢ₊₁) : 2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295857" y="2423160"/>
            <a:ext cx="1053532" cy="451347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16331" y="2671511"/>
            <a:ext cx="2679525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Đại diện cho mẫu số liệu</a:t>
            </a:r>
          </a:p>
        </p:txBody>
      </p:sp>
      <p:sp>
        <p:nvSpPr>
          <p:cNvPr id="10" name="Oval 9"/>
          <p:cNvSpPr/>
          <p:nvPr/>
        </p:nvSpPr>
        <p:spPr>
          <a:xfrm>
            <a:off x="3344449" y="2183587"/>
            <a:ext cx="2009879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Số trung bình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5847" y="242316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842305" y="1679204"/>
            <a:ext cx="1053532" cy="743956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895837" y="1476207"/>
            <a:ext cx="2679525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B1: nhóm p chứa trung vị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842305" y="2276856"/>
            <a:ext cx="1069382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911687" y="1927555"/>
            <a:ext cx="2647826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Mₑ: dùng n/2 và tần số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tích luỹ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42305" y="2423160"/>
            <a:ext cx="1105043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947348" y="2671511"/>
            <a:ext cx="2576502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Chia mẫu thành hai phần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50%</a:t>
            </a:r>
          </a:p>
        </p:txBody>
      </p:sp>
      <p:sp>
        <p:nvSpPr>
          <p:cNvPr id="18" name="Oval 17"/>
          <p:cNvSpPr/>
          <p:nvPr/>
        </p:nvSpPr>
        <p:spPr>
          <a:xfrm>
            <a:off x="6976049" y="2183587"/>
            <a:ext cx="1732511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Trung vị Mₑ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349389" y="3840480"/>
            <a:ext cx="1746458" cy="1417320"/>
          </a:xfrm>
          <a:prstGeom prst="line">
            <a:avLst/>
          </a:prstGeom>
          <a:ln w="44450">
            <a:solidFill>
              <a:srgbClr val="A41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192834" y="4660148"/>
            <a:ext cx="1156555" cy="597652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9354" y="4310847"/>
            <a:ext cx="2473480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Q₁: dùng n/4; Q₃: dùng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3n/4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447903" y="5257800"/>
            <a:ext cx="1901486" cy="0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464285" y="5054803"/>
            <a:ext cx="983618" cy="405993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Q₂ = Mₑ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141323" y="5257800"/>
            <a:ext cx="1208066" cy="597651"/>
          </a:xfrm>
          <a:prstGeom prst="line">
            <a:avLst/>
          </a:prstGeom>
          <a:ln w="15875">
            <a:solidFill>
              <a:srgbClr val="8B0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0865" y="5506151"/>
            <a:ext cx="2370458" cy="698601"/>
          </a:xfrm>
          <a:prstGeom prst="ellipse">
            <a:avLst/>
          </a:prstGeom>
          <a:solidFill>
            <a:srgbClr val="FFF1F3"/>
          </a:solidFill>
          <a:ln w="15875">
            <a:solidFill>
              <a:srgbClr val="8B0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Chia mẫu thành 4 phần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25%</a:t>
            </a:r>
          </a:p>
        </p:txBody>
      </p:sp>
      <p:sp>
        <p:nvSpPr>
          <p:cNvPr id="26" name="Oval 25"/>
          <p:cNvSpPr/>
          <p:nvPr/>
        </p:nvSpPr>
        <p:spPr>
          <a:xfrm>
            <a:off x="3552475" y="5018227"/>
            <a:ext cx="1593827" cy="479145"/>
          </a:xfrm>
          <a:prstGeom prst="ellipse">
            <a:avLst/>
          </a:prstGeom>
          <a:gradFill rotWithShape="1">
            <a:gsLst>
              <a:gs pos="0">
                <a:srgbClr val="A4133C"/>
              </a:gs>
              <a:gs pos="100000">
                <a:srgbClr val="5C0017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Tứ phân vị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" y="3840480"/>
            <a:ext cx="1746458" cy="1417320"/>
          </a:xfrm>
          <a:prstGeom prst="line">
            <a:avLst/>
          </a:prstGeom>
          <a:ln w="4445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42305" y="4513844"/>
            <a:ext cx="1105043" cy="743956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47348" y="4310847"/>
            <a:ext cx="2576502" cy="405993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Nhóm có tần số lớn nhất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842305" y="5111496"/>
            <a:ext cx="1013908" cy="146304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856213" y="4762195"/>
            <a:ext cx="2758773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Mₒ: dùng mⱼ₋₁, mⱼ, mⱼ₊₁</a:t>
            </a:r>
          </a:p>
          <a:p>
            <a:pPr algn="ctr"/>
            <a:r>
              <a:rPr sz="1200" b="1">
                <a:solidFill>
                  <a:srgbClr val="8B0000"/>
                </a:solidFill>
                <a:latin typeface="Calibri"/>
              </a:rPr>
              <a:t>và 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42305" y="5257800"/>
            <a:ext cx="1053532" cy="597651"/>
          </a:xfrm>
          <a:prstGeom prst="line">
            <a:avLst/>
          </a:prstGeom>
          <a:ln w="15875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95837" y="5506151"/>
            <a:ext cx="2679525" cy="698601"/>
          </a:xfrm>
          <a:prstGeom prst="ellipse">
            <a:avLst/>
          </a:prstGeom>
          <a:solidFill>
            <a:srgbClr val="EEF3FC"/>
          </a:solidFill>
          <a:ln w="15875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Chỉ xét khi các nhóm dài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Calibri"/>
              </a:rPr>
              <a:t>bằng nhau</a:t>
            </a:r>
          </a:p>
        </p:txBody>
      </p:sp>
      <p:sp>
        <p:nvSpPr>
          <p:cNvPr id="34" name="Oval 33"/>
          <p:cNvSpPr/>
          <p:nvPr/>
        </p:nvSpPr>
        <p:spPr>
          <a:xfrm>
            <a:off x="7322759" y="5018227"/>
            <a:ext cx="1039091" cy="479145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Mốt Mₒ</a:t>
            </a:r>
          </a:p>
        </p:txBody>
      </p:sp>
      <p:sp>
        <p:nvSpPr>
          <p:cNvPr id="35" name="Oval 34"/>
          <p:cNvSpPr/>
          <p:nvPr/>
        </p:nvSpPr>
        <p:spPr>
          <a:xfrm>
            <a:off x="4813539" y="3161995"/>
            <a:ext cx="2564615" cy="1356969"/>
          </a:xfrm>
          <a:prstGeom prst="ellipse">
            <a:avLst/>
          </a:prstGeom>
          <a:gradFill rotWithShape="1">
            <a:gsLst>
              <a:gs pos="0">
                <a:srgbClr val="0B3D91"/>
              </a:gs>
              <a:gs pos="100000">
                <a:srgbClr val="001233"/>
              </a:gs>
            </a:gsLst>
            <a:lin scaled="0" ang="16200000"/>
          </a:gradFill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9 SỐ ĐẶC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TRƯNG ĐO XU THẾ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TRUNG TÂM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