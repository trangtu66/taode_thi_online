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rangtu66.github.io/Taode_thi_online/cc_cd1bai4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PHÉP QUAY VÀ PHÉP ĐỐI XỨNG TÂM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1. Phép biến hình phẳng – Bài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7 – 8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TTT – Trường THPT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phép quay: tâm, góc quay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phép đối xứng tâm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Nắm tính chất bảo toàn khoảng cách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Tọa độ ảnh qua Q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(O, ±90°)</a:t>
            </a:r>
            <a:r>
              <a:rPr sz="2600">
                <a:solidFill>
                  <a:srgbClr val="1E293B"/>
                </a:solidFill>
                <a:latin typeface="Calibri"/>
              </a:rPr>
              <a:t>, Đ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hình có tâm đối xứng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Thiết kế hoa văn quay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BÀN ĂN XOAY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Bàn ăn xoay quanh tâm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Điểm nào đứng yên khi xoay?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Khoảng cách đĩa – tâm có đổi?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Cơ sở toán học nào?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20292"/>
            <a:ext cx="4389120" cy="3794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PHÉP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O: tâm quay;  α: góc quay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α &gt; 0: ngược chiều kim đồng hồ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Góc quay 0: phép đồng nhất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OM′ = OM  và  (OM, OM′) = α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Kí hiệu: Q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(O, α)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85453"/>
            <a:ext cx="4389120" cy="38643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(O, π/2)</a:t>
            </a:r>
            <a:r>
              <a:rPr sz="2400">
                <a:solidFill>
                  <a:srgbClr val="1E293B"/>
                </a:solidFill>
                <a:latin typeface="Calibri"/>
              </a:rPr>
              <a:t>: A ↦ 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(O, −π/2)</a:t>
            </a:r>
            <a:r>
              <a:rPr sz="2400">
                <a:solidFill>
                  <a:srgbClr val="1E293B"/>
                </a:solidFill>
                <a:latin typeface="Calibri"/>
              </a:rPr>
              <a:t>: A ↦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(O, π)</a:t>
            </a:r>
            <a:r>
              <a:rPr sz="2400">
                <a:solidFill>
                  <a:srgbClr val="1E293B"/>
                </a:solidFill>
                <a:latin typeface="Calibri"/>
              </a:rPr>
              <a:t>: A ↦ 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Luyện tập 1: Q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(A, 60°)</a:t>
            </a:r>
            <a:r>
              <a:rPr sz="2400" b="1">
                <a:solidFill>
                  <a:srgbClr val="991B1B"/>
                </a:solidFill>
                <a:latin typeface="Calibri"/>
              </a:rPr>
              <a:t>: B ↦ C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532" y="1463040"/>
            <a:ext cx="432733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THỨC TỌA ĐỘ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chứng: Rotate(M, 90°, O)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Bài 1.14: (x − 2)² + y² = 1 ↦ x² + (y − 2)²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(O, 90°)</a:t>
            </a:r>
            <a:r>
              <a:rPr sz="2400" b="1">
                <a:solidFill>
                  <a:srgbClr val="991B1B"/>
                </a:solidFill>
                <a:latin typeface="Calibri"/>
              </a:rPr>
              <a:t>: M(x; y) ↦ M′(−y; x)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(O, −90°)</a:t>
            </a:r>
            <a:r>
              <a:rPr sz="2400" b="1">
                <a:solidFill>
                  <a:srgbClr val="991B1B"/>
                </a:solidFill>
                <a:latin typeface="Calibri"/>
              </a:rPr>
              <a:t>: M(x; y) ↦ M′(y; −x)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TÍNH CHẤT CỦA PHÉP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Đoạn thẳng, tam giác ↦ hình bằng nó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tròn ↦ đường tròn cùng bán kính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2: Q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(O, 120°)</a:t>
            </a:r>
            <a:r>
              <a:rPr sz="2400">
                <a:solidFill>
                  <a:srgbClr val="1E293B"/>
                </a:solidFill>
                <a:latin typeface="Calibri"/>
              </a:rPr>
              <a:t> biến ΔABC thành chính nó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Bảo toàn khoảng cách: M′N′ = MN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516872"/>
            <a:ext cx="4389120" cy="46014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BÀN XOAY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 ↦ O: tâm đứng 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(O; R) ↦ (O; R): mặt bàn không dời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Đĩa đổi chỗ, khoảng cách không đổi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Bàn xoay là một phép quay tâm O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20292"/>
            <a:ext cx="4389120" cy="37946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PHÉP ĐỐI XỨNG TÂM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thẳng ↦ song song hoặc trùng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I</a:t>
            </a:r>
            <a:r>
              <a:rPr sz="2400">
                <a:solidFill>
                  <a:srgbClr val="1E293B"/>
                </a:solidFill>
                <a:latin typeface="Calibri"/>
              </a:rPr>
              <a:t>, I(a; b): M ↦ M′(2a − x; 2b − y)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O</a:t>
            </a:r>
            <a:r>
              <a:rPr sz="2400">
                <a:solidFill>
                  <a:srgbClr val="1E293B"/>
                </a:solidFill>
                <a:latin typeface="Calibri"/>
              </a:rPr>
              <a:t>: M(x; y) ↦ M′(−x; −y)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O là trung điểm của MM′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O</a:t>
            </a:r>
            <a:r>
              <a:rPr sz="2400" b="1">
                <a:solidFill>
                  <a:srgbClr val="991B1B"/>
                </a:solidFill>
                <a:latin typeface="Calibri"/>
              </a:rPr>
              <a:t> = Q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(O, π)</a:t>
            </a:r>
          </a:p>
        </p:txBody>
      </p:sp>
      <p:pic>
        <p:nvPicPr>
          <p:cNvPr id="9" name="Picture 8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835524"/>
            <a:ext cx="4389120" cy="19641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Δ: x + 3y − 2 = 0,   tâm I(1; 2)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A(2; 0) ↦ A′(0; 4);   B(−1; 1) ↦ B′(3; 3)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3: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O</a:t>
            </a:r>
            <a:r>
              <a:rPr sz="2400">
                <a:solidFill>
                  <a:srgbClr val="1E293B"/>
                </a:solidFill>
                <a:latin typeface="Calibri"/>
              </a:rPr>
              <a:t>(AB) = 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Δ′: x + 3y − 12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CÓ TÂM ĐỐI XỨNG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Nhận O làm tâm đối xứng: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Quay 180° biến nửa A thành B: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Chia 4 phần giống nhau: sai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Hình 6 cánh: quay góc k·60°</a:t>
            </a:r>
          </a:p>
        </p:txBody>
      </p:sp>
      <p:pic>
        <p:nvPicPr>
          <p:cNvPr id="9" name="Picture 8" descr="rId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786" y="1463040"/>
            <a:ext cx="4214828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M′ là trung điểm của IM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Q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(O, 90°)</a:t>
            </a:r>
            <a:r>
              <a:rPr sz="2400">
                <a:solidFill>
                  <a:srgbClr val="1E293B"/>
                </a:solidFill>
                <a:latin typeface="Calibri"/>
              </a:rPr>
              <a:t> quay cùng chiều kim đồng hồ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Đúng: M′(2·1 − 3; 2·2 + 1) = (−1; 5)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dương: ngược chiều ⇒ A′(0; 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HOA VĂN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118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Tìm hoa văn trống đồng Đông Sơn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Vẽ cánh, dùng Rotate(cánh, 360°/n, O)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 = 3; 4; 5; 6: khi nào có tâm đối xứng?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Bàn xoay: A(40; 0), B(0; 30)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Tìm vị trí sau ¼ vòng, ½ vòng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Nộp tệp GeoGebra, Nhật ký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14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464295" y="2043450"/>
            <a:ext cx="1874593" cy="627512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148346" y="1867849"/>
            <a:ext cx="1315949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Tâm O, góc α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596375" y="2570251"/>
            <a:ext cx="1742513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16266" y="2293940"/>
            <a:ext cx="158010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OM = OM', (OM,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OM') = α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635999" y="2670962"/>
            <a:ext cx="1702889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6642" y="2921452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Quay 90°: (x; y)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↦ (−y; x)</a:t>
            </a:r>
          </a:p>
        </p:txBody>
      </p:sp>
      <p:sp>
        <p:nvSpPr>
          <p:cNvPr id="13" name="Oval 12"/>
          <p:cNvSpPr/>
          <p:nvPr/>
        </p:nvSpPr>
        <p:spPr>
          <a:xfrm>
            <a:off x="3571948" y="2427575"/>
            <a:ext cx="1533881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Phép quay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15646" y="2043450"/>
            <a:ext cx="1745815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461461" y="176713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I là trung điểm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MM'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5646" y="2670962"/>
            <a:ext cx="1874593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590239" y="2394651"/>
            <a:ext cx="1315949" cy="754044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(x; y) ↦ (2a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− x; 2b −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y)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15646" y="2670962"/>
            <a:ext cx="1702889" cy="728223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18535" y="3223585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= phép quay 180°</a:t>
            </a:r>
          </a:p>
        </p:txBody>
      </p:sp>
      <p:sp>
        <p:nvSpPr>
          <p:cNvPr id="21" name="Oval 20"/>
          <p:cNvSpPr/>
          <p:nvPr/>
        </p:nvSpPr>
        <p:spPr>
          <a:xfrm>
            <a:off x="6740679" y="2427575"/>
            <a:ext cx="1949933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Đối xứng tâm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635999" y="4510374"/>
            <a:ext cx="1702889" cy="728223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76642" y="4334774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Là phép dời hình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550147" y="5137886"/>
            <a:ext cx="1788741" cy="10071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62494" y="4760864"/>
            <a:ext cx="1487653" cy="754044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Q(O, α) ∘ Q(O,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β) = Q(O, α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+ β)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593073" y="5238597"/>
            <a:ext cx="1745815" cy="627512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19568" y="558979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Hình có tâm đối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xứng</a:t>
            </a:r>
          </a:p>
        </p:txBody>
      </p:sp>
      <p:sp>
        <p:nvSpPr>
          <p:cNvPr id="29" name="Oval 28"/>
          <p:cNvSpPr/>
          <p:nvPr/>
        </p:nvSpPr>
        <p:spPr>
          <a:xfrm>
            <a:off x="3571948" y="4995210"/>
            <a:ext cx="1533881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Tính chất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715646" y="4812507"/>
            <a:ext cx="1617037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332683" y="4636907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Cánh quạt, tua bin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15646" y="5238597"/>
            <a:ext cx="1617037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332683" y="5062997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Bánh răng, đồng hồ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15646" y="5238597"/>
            <a:ext cx="1659963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375609" y="5489087"/>
            <a:ext cx="1745209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Hoa văn xoay tròn</a:t>
            </a:r>
          </a:p>
        </p:txBody>
      </p:sp>
      <p:sp>
        <p:nvSpPr>
          <p:cNvPr id="37" name="Oval 36"/>
          <p:cNvSpPr/>
          <p:nvPr/>
        </p:nvSpPr>
        <p:spPr>
          <a:xfrm>
            <a:off x="7018047" y="4995210"/>
            <a:ext cx="1395197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Ứng dụng</a:t>
            </a:r>
          </a:p>
        </p:txBody>
      </p:sp>
      <p:sp>
        <p:nvSpPr>
          <p:cNvPr id="38" name="Oval 37"/>
          <p:cNvSpPr/>
          <p:nvPr/>
        </p:nvSpPr>
        <p:spPr>
          <a:xfrm>
            <a:off x="4862765" y="2892148"/>
            <a:ext cx="2329003" cy="2125263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CHUYÊN ĐỀ 1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– BÀI 4: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PHÉP QUAY VÀ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PHÉP ĐỐI XỨNG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TÂM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4. Phép quay và phép đối xứng tâm        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4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trangtu66.github.io/Taode_thi_online/cc_cd1bai4_t11.html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