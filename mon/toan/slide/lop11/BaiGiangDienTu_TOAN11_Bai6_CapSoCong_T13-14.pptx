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mở trang online (cần Internet).</a:t>
            </a:r>
          </a:p>
          <a:p>
            <a:r>
              <a:t>Khối 11 năm học 2026 – 2027 không có HS khuyết tật; vẫn ghi đủ chữ trên slide để HS tự đọc lại.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tr.48.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5' – HĐ1, định nghĩa, câu hỏi 8' – Ví dụ 1, 2, LT1: 10' – HĐ2, số hạng tổng quát 6' – Ví dụ 3, 4: 8' – LT2: 4' – Tổng kết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video mở đầu (ảnh thật, lồng tiếng, phụ đề – không nói đáp án), HS quét QR xem lại. 5'. HS dự đoán, có thể cộng tay. Giải ở Ví dụ 5 (Tiết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click 1. Chốt khung (click 2). Câu hỏi: click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1–3. Để chứng minh (u_n) là cấp số cộng: chứng minh u_n − u_{n−1} không đổi.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HĐ2: click 1. Chốt khung (click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Click 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HĐ3, khung, Chú ý 8' – Ví dụ 5, 6: 8' – Vận dụng 4' – Góc công nghệ 4' – Bài tập 2.11 – 2.14: 8' – Rung chuông vàng 9' – Củng cố 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HĐ3: viết S_n xuôi, ngược rồi cộng (click 1). Chốt khung (click 2). Gauss tính 1 + 2 + … + 100.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5 giải tình huống mở đầu (click 1). Ví dụ 6: click 2, 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Vận dụng: click 1. Góc công nghệ: GV thao tác SHIFT → x (Σ) trên máy tính.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hiện đáp án (đối chiếu KHBD; đã kiểm tra).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hiện đáp án.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5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A: dùng 20d.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1–4. Đ – Đ – Đ – 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 Kể chuyện cậu bé Gauss.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gtu66.github.io/Taode_thi_online/mon/toan/video/lop11/VIDEO_MoDau_TOAN11_Bai6_CapSoCong.mp4" TargetMode="External"/><Relationship Id="rId4" Type="http://schemas.openxmlformats.org/officeDocument/2006/relationships/image" Target="../media/image1.png"/><Relationship Id="rId5"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hyperlink" Target="https://trangtu66.github.io/Taode_thi_online/cc_bai6_t11.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000" b="1">
                <a:solidFill>
                  <a:srgbClr val="FCD34D"/>
                </a:solidFill>
                <a:latin typeface="Cambria"/>
              </a:rPr>
              <a:t>CHƯƠNG II. DÃY SỐ. CẤP SỐ CỘNG VÀ CẤP SỐ NHÂN</a:t>
            </a:r>
          </a:p>
          <a:p>
            <a:pPr>
              <a:spcAft>
                <a:spcPts val="600"/>
              </a:spcAft>
            </a:pPr>
            <a:r>
              <a:rPr sz="3000" b="1">
                <a:solidFill>
                  <a:srgbClr val="FFFFFF"/>
                </a:solidFill>
                <a:latin typeface="Cambria"/>
              </a:rPr>
              <a:t>BÀI 6</a:t>
            </a:r>
          </a:p>
          <a:p>
            <a:pPr>
              <a:spcAft>
                <a:spcPts val="600"/>
              </a:spcAft>
            </a:pPr>
            <a:r>
              <a:rPr sz="4000" b="1">
                <a:solidFill>
                  <a:srgbClr val="FFFFFF"/>
                </a:solidFill>
                <a:latin typeface="Cambria"/>
              </a:rPr>
              <a:t>CẤP SỐ CỘNG</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2 tiết: T13 – T14</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2</a:t>
            </a:r>
          </a:p>
        </p:txBody>
      </p:sp>
      <p:sp>
        <p:nvSpPr>
          <p:cNvPr id="7" name="Rounded Rectangle 6"/>
          <p:cNvSpPr/>
          <p:nvPr/>
        </p:nvSpPr>
        <p:spPr>
          <a:xfrm>
            <a:off x="548640" y="1417320"/>
            <a:ext cx="11064240" cy="224332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53896"/>
                <a:ext cx="10735056" cy="217017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tr.48)</a:t>
                </a:r>
              </a:p>
              <a:p>
                <a:pPr algn="l" marL="365760" indent="-365760">
                  <a:spcAft>
                    <a:spcPts val="800"/>
                  </a:spcAft>
                  <a:buClr>
                    <a:srgbClr val="1E40AF"/>
                  </a:buClr>
                  <a:buFont typeface="Arial"/>
                  <a:buChar char="•"/>
                </a:pPr>
                <a:r>
                  <a:rPr sz="2200">
                    <a:solidFill>
                      <a:srgbClr val="1E293B"/>
                    </a:solidFill>
                    <a:latin typeface="Calibri"/>
                  </a:rPr>
                  <a:t>Nhận biết một dãy số là cấp số cộng.</a:t>
                </a:r>
              </a:p>
              <a:p>
                <a:pPr algn="l" marL="365760" indent="-365760">
                  <a:spcAft>
                    <a:spcPts val="800"/>
                  </a:spcAft>
                  <a:buClr>
                    <a:srgbClr val="1E40AF"/>
                  </a:buClr>
                  <a:buFont typeface="Arial"/>
                  <a:buChar char="•"/>
                </a:pPr>
                <a:r>
                  <a:rPr sz="2200">
                    <a:solidFill>
                      <a:srgbClr val="1E293B"/>
                    </a:solidFill>
                    <a:latin typeface="Calibri"/>
                  </a:rPr>
                  <a:t>Giải thích công thức xác định số hạng tổng quát của cấp số cộng.</a:t>
                </a:r>
              </a:p>
              <a:p>
                <a:pPr algn="l" marL="365760" indent="-365760">
                  <a:spcAft>
                    <a:spcPts val="800"/>
                  </a:spcAft>
                  <a:buClr>
                    <a:srgbClr val="1E40AF"/>
                  </a:buClr>
                  <a:buFont typeface="Arial"/>
                  <a:buChar char="•"/>
                </a:pPr>
                <a:r>
                  <a:rPr sz="2200">
                    <a:solidFill>
                      <a:srgbClr val="1E293B"/>
                    </a:solidFill>
                    <a:latin typeface="Calibri"/>
                  </a:rPr>
                  <a:t>Tính tổng của </a:t>
                </a:r>
                <a14:m>
                  <m:oMath xmlns:m="http://schemas.openxmlformats.org/officeDocument/2006/math">
                    <m:r>
                      <a:rPr lang="vi-VN" sz="2200" b="0">
                        <a:solidFill>
                          <a:srgbClr val="1E293B"/>
                        </a:solidFill>
                        <a:latin typeface="Cambria Math" panose="02040503050406030204" pitchFamily="18" charset="0"/>
                      </a:rPr>
                      <m:t>n</m:t>
                    </m:r>
                  </m:oMath>
                </a14:m>
                <a:r>
                  <a:rPr sz="2200">
                    <a:solidFill>
                      <a:srgbClr val="1E293B"/>
                    </a:solidFill>
                    <a:latin typeface="Calibri"/>
                  </a:rPr>
                  <a:t> số hạng đầu của cấp số cộng; giải quyết một số vấn đề thực tiễn gắn với cấp số cộng.</a:t>
                </a:r>
              </a:p>
            </p:txBody>
          </p:sp>
        </mc:Choice>
        <mc:Fallback>
          <p:sp>
            <p:nvSpPr>
              <p:cNvPr id="8" name="TextBox 7"/>
              <p:cNvSpPr txBox="1"/>
              <p:nvPr/>
            </p:nvSpPr>
            <p:spPr>
              <a:xfrm>
                <a:off x="713232" y="1453896"/>
                <a:ext cx="10735056" cy="217017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tr.48)</a:t>
                </a:r>
              </a:p>
              <a:p>
                <a:pPr algn="l" marL="365760" indent="-365760">
                  <a:spcAft>
                    <a:spcPts val="800"/>
                  </a:spcAft>
                  <a:buClr>
                    <a:srgbClr val="1E40AF"/>
                  </a:buClr>
                  <a:buFont typeface="Arial"/>
                  <a:buChar char="•"/>
                </a:pPr>
                <a:r>
                  <a:rPr sz="2200">
                    <a:solidFill>
                      <a:srgbClr val="1E293B"/>
                    </a:solidFill>
                    <a:latin typeface="Calibri"/>
                  </a:rPr>
                  <a:t>Nhận biết một dãy số là cấp số cộng.</a:t>
                </a:r>
              </a:p>
              <a:p>
                <a:pPr algn="l" marL="365760" indent="-365760">
                  <a:spcAft>
                    <a:spcPts val="800"/>
                  </a:spcAft>
                  <a:buClr>
                    <a:srgbClr val="1E40AF"/>
                  </a:buClr>
                  <a:buFont typeface="Arial"/>
                  <a:buChar char="•"/>
                </a:pPr>
                <a:r>
                  <a:rPr sz="2200">
                    <a:solidFill>
                      <a:srgbClr val="1E293B"/>
                    </a:solidFill>
                    <a:latin typeface="Calibri"/>
                  </a:rPr>
                  <a:t>Giải thích công thức xác định số hạng tổng quát của cấp số cộng.</a:t>
                </a:r>
              </a:p>
              <a:p>
                <a:pPr algn="l" marL="365760" indent="-365760">
                  <a:spcAft>
                    <a:spcPts val="800"/>
                  </a:spcAft>
                  <a:buClr>
                    <a:srgbClr val="1E40AF"/>
                  </a:buClr>
                  <a:buFont typeface="Arial"/>
                  <a:buChar char="•"/>
                </a:pPr>
                <a:r>
                  <a:rPr sz="2200">
                    <a:solidFill>
                      <a:srgbClr val="1E293B"/>
                    </a:solidFill>
                    <a:latin typeface="Calibri"/>
                  </a:rPr>
                  <a:t>Tính tổng của </a:t>
                </a:r>
                <a:r>
                  <a:rPr lang="vi-VN"/>
                  <a:t>n</a:t>
                </a:r>
                <a:r>
                  <a:rPr sz="2200">
                    <a:solidFill>
                      <a:srgbClr val="1E293B"/>
                    </a:solidFill>
                    <a:latin typeface="Calibri"/>
                  </a:rPr>
                  <a:t> số hạng đầu của cấp số cộng; giải quyết một số vấn đề thực tiễn gắn với cấp số cộng.</a:t>
                </a:r>
              </a:p>
            </p:txBody>
          </p:sp>
        </mc:Fallback>
      </mc:AlternateContent>
      <p:sp>
        <p:nvSpPr>
          <p:cNvPr id="9" name="TextBox 8"/>
          <p:cNvSpPr txBox="1"/>
          <p:nvPr/>
        </p:nvSpPr>
        <p:spPr>
          <a:xfrm>
            <a:off x="548640" y="3889248"/>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mô hình hoá (ghế nhà hát, lương, khấu hao); giải quyết vấn đề; sử dụng công cụ (máy tính cầm tay – kí hiệu Σ).</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trách nhiệm.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2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T13</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Định nghĩa. 2. Số hạng tổng quát</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Ai nhanh hơn</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T14</a:t>
            </a:r>
          </a:p>
        </p:txBody>
      </p:sp>
      <mc:AlternateContent xmlns:mc="http://schemas.openxmlformats.org/markup-compatibility/2006">
        <mc:Choice xmlns:a14="http://schemas.microsoft.com/office/drawing/2010/main" Requires="a14">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3. Tổng </a:t>
                </a:r>
                <a14:m>
                  <m:oMath xmlns:m="http://schemas.openxmlformats.org/officeDocument/2006/math">
                    <m:r>
                      <a:rPr lang="vi-VN" sz="2200" b="0">
                        <a:solidFill>
                          <a:srgbClr val="1E293B"/>
                        </a:solidFill>
                        <a:latin typeface="Cambria Math" panose="02040503050406030204" pitchFamily="18" charset="0"/>
                      </a:rPr>
                      <m:t>n</m:t>
                    </m:r>
                  </m:oMath>
                </a14:m>
                <a:r>
                  <a:rPr sz="2200">
                    <a:solidFill>
                      <a:srgbClr val="1E293B"/>
                    </a:solidFill>
                    <a:latin typeface="Calibri"/>
                  </a:rPr>
                  <a:t> số hạng đầu; Vận dụng; Góc công nghệ; bài tập</a:t>
                </a:r>
              </a:p>
            </p:txBody>
          </p:sp>
        </mc:Choice>
        <mc:Fallback>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3. Tổng </a:t>
                </a:r>
                <a:r>
                  <a:rPr lang="vi-VN"/>
                  <a:t>n</a:t>
                </a:r>
                <a:r>
                  <a:rPr sz="2200">
                    <a:solidFill>
                      <a:srgbClr val="1E293B"/>
                    </a:solidFill>
                    <a:latin typeface="Calibri"/>
                  </a:rPr>
                  <a:t> số hạng đầu; Vận dụng; Góc công nghệ; bài tập</a:t>
                </a:r>
              </a:p>
            </p:txBody>
          </p:sp>
        </mc:Fallback>
      </mc:AlternateContent>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Rung chuông vàng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(T13)</a:t>
            </a:r>
          </a:p>
          <a:p>
            <a:pPr>
              <a:spcAft>
                <a:spcPts val="600"/>
              </a:spcAft>
            </a:pPr>
            <a:r>
              <a:rPr sz="4000" b="1">
                <a:solidFill>
                  <a:srgbClr val="FFFFFF"/>
                </a:solidFill>
                <a:latin typeface="Cambria"/>
              </a:rPr>
              <a:t>Định nghĩa. Số hạng tổng quát của cấp số cộng</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cấp số cộng, công sai.</a:t>
            </a:r>
          </a:p>
          <a:p>
            <a:pPr algn="l">
              <a:spcAft>
                <a:spcPts val="800"/>
              </a:spcAft>
            </a:pPr>
            <a:r>
              <a:rPr sz="2200">
                <a:solidFill>
                  <a:srgbClr val="E0E7FF"/>
                </a:solidFill>
                <a:latin typeface="Calibri"/>
              </a:rPr>
              <a:t>• Xác định số hạng tổng quát u_n = u_1+(n-1)d.</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GHẾ TRONG NHÀ HÁT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5</a:t>
            </a:r>
          </a:p>
        </p:txBody>
      </p:sp>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nhà hát có 25 hàng ghế với 16 ghế ở hàng thứ nhất, 18 ghế ở hàng thứ hai, 20 ghế ở hàng thứ ba và cứ tiếp tục theo quy luật đó, tức là hàng sau nhiều hơn hàng liền trước nó 2 ghế. </a:t>
            </a:r>
            <a:r>
              <a:rPr sz="2200" b="1">
                <a:solidFill>
                  <a:srgbClr val="1E293B"/>
                </a:solidFill>
                <a:latin typeface="Calibri"/>
              </a:rPr>
              <a:t>Tính tổng số ghế của nhà hát đó.</a:t>
            </a:r>
          </a:p>
          <a:p>
            <a:pPr algn="l">
              <a:spcAft>
                <a:spcPts val="800"/>
              </a:spcAft>
            </a:pPr>
            <a:r>
              <a:rPr sz="2000">
                <a:solidFill>
                  <a:srgbClr val="64748B"/>
                </a:solidFill>
                <a:latin typeface="Calibri"/>
              </a:rPr>
              <a:t>(SGK Toán 11 tập một, tr.48)</a:t>
            </a:r>
          </a:p>
        </p:txBody>
      </p:sp>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nhahat.jpg"/>
          <p:cNvPicPr>
            <a:picLocks noChangeAspect="1"/>
          </p:cNvPicPr>
          <p:nvPr/>
        </p:nvPicPr>
        <p:blipFill>
          <a:blip r:embed="rId5"/>
          <a:stretch>
            <a:fillRect/>
          </a:stretch>
        </p:blipFill>
        <p:spPr>
          <a:xfrm>
            <a:off x="7315200" y="2011680"/>
            <a:ext cx="4389120" cy="29260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ĐỊNH NGHĨA – HĐ1 (SGK TR.48)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HĐ1.</a:t>
                </a:r>
                <a:r>
                  <a:rPr sz="2100">
                    <a:solidFill>
                      <a:srgbClr val="1E293B"/>
                    </a:solidFill>
                    <a:latin typeface="Calibri"/>
                  </a:rPr>
                  <a:t> Dãy số </a:t>
                </a:r>
                <a14:m>
                  <m:oMath xmlns:m="http://schemas.openxmlformats.org/officeDocument/2006/math">
                    <m:d>
                      <m:dPr>
                        <m:sepChr m:val=""/>
                      </m:dPr>
                      <m:e>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e>
                    </m:d>
                  </m:oMath>
                </a14:m>
                <a:r>
                  <a:rPr sz="2100">
                    <a:solidFill>
                      <a:srgbClr val="1E293B"/>
                    </a:solidFill>
                    <a:latin typeface="Calibri"/>
                  </a:rPr>
                  <a:t> gồm tất cả các số tự nhiên lẻ, tăng dần. a) Viết năm số hạng đầu. b) Dự đoán công thức biểu diễn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oMath>
                </a14:m>
                <a:r>
                  <a:rPr sz="2100">
                    <a:solidFill>
                      <a:srgbClr val="1E293B"/>
                    </a:solidFill>
                    <a:latin typeface="Calibri"/>
                  </a:rPr>
                  <a:t> theo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n−1</m:t>
                        </m:r>
                      </m:sub>
                    </m:sSub>
                  </m:oMath>
                </a14:m>
                <a:r>
                  <a:rPr sz="2100">
                    <a:solidFill>
                      <a:srgbClr val="1E293B"/>
                    </a:solidFill>
                    <a:latin typeface="Calibri"/>
                  </a:rPr>
                  <a:t>.</a:t>
                </a:r>
              </a:p>
            </p:txBody>
          </p:sp>
        </mc:Choice>
        <mc:Fallback>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HĐ1.</a:t>
                </a:r>
                <a:r>
                  <a:rPr sz="2100">
                    <a:solidFill>
                      <a:srgbClr val="1E293B"/>
                    </a:solidFill>
                    <a:latin typeface="Calibri"/>
                  </a:rPr>
                  <a:t> Dãy số </a:t>
                </a:r>
                <a:r>
                  <a:rPr lang="vi-VN"/>
                  <a:t>(u_n)</a:t>
                </a:r>
                <a:r>
                  <a:rPr sz="2100">
                    <a:solidFill>
                      <a:srgbClr val="1E293B"/>
                    </a:solidFill>
                    <a:latin typeface="Calibri"/>
                  </a:rPr>
                  <a:t> gồm tất cả các số tự nhiên lẻ, tăng dần. a) Viết năm số hạng đầu. b) Dự đoán công thức biểu diễn </a:t>
                </a:r>
                <a:r>
                  <a:rPr lang="vi-VN"/>
                  <a:t>u_n</a:t>
                </a:r>
                <a:r>
                  <a:rPr sz="2100">
                    <a:solidFill>
                      <a:srgbClr val="1E293B"/>
                    </a:solidFill>
                    <a:latin typeface="Calibri"/>
                  </a:rPr>
                  <a:t> theo </a:t>
                </a:r>
                <a:r>
                  <a:rPr lang="vi-VN"/>
                  <a:t>u_{n-1}</a:t>
                </a:r>
                <a:r>
                  <a:rPr sz="2100">
                    <a:solidFill>
                      <a:srgbClr val="1E293B"/>
                    </a:solidFill>
                    <a:latin typeface="Calibri"/>
                  </a:rPr>
                  <a:t>.</a:t>
                </a:r>
              </a:p>
            </p:txBody>
          </p:sp>
        </mc:Fallback>
      </mc:AlternateContent>
      <p:sp>
        <p:nvSpPr>
          <p:cNvPr id="8" name="s1_nen"/>
          <p:cNvSpPr/>
          <p:nvPr/>
        </p:nvSpPr>
        <p:spPr>
          <a:xfrm>
            <a:off x="548640" y="2295144"/>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3172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r>
                      <a:rPr lang="vi-VN" sz="2100" b="0">
                        <a:solidFill>
                          <a:srgbClr val="1E293B"/>
                        </a:solidFill>
                        <a:latin typeface="Cambria Math" panose="02040503050406030204" pitchFamily="18" charset="0"/>
                      </a:rPr>
                      <m:t>1,</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3,</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7,</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9</m:t>
                    </m:r>
                  </m:oMath>
                </a14:m>
                <a:r>
                  <a:rPr sz="2100">
                    <a:solidFill>
                      <a:srgbClr val="1E293B"/>
                    </a:solidFill>
                    <a:latin typeface="Calibri"/>
                  </a:rPr>
                  <a:t>. b)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n−1</m:t>
                        </m:r>
                      </m:sub>
                    </m:sSub>
                    <m:r>
                      <a:rPr lang="vi-VN" sz="2100" b="0">
                        <a:solidFill>
                          <a:srgbClr val="1E293B"/>
                        </a:solidFill>
                        <a:latin typeface="Cambria Math" panose="02040503050406030204" pitchFamily="18" charset="0"/>
                      </a:rPr>
                      <m:t>+2</m:t>
                    </m:r>
                  </m:oMath>
                </a14:m>
                <a:r>
                  <a:rPr sz="2100">
                    <a:solidFill>
                      <a:srgbClr val="1E293B"/>
                    </a:solidFill>
                    <a:latin typeface="Calibri"/>
                  </a:rPr>
                  <a:t> </a:t>
                </a:r>
                <a14:m>
                  <m:oMath xmlns:m="http://schemas.openxmlformats.org/officeDocument/2006/math">
                    <m:d>
                      <m:dPr>
                        <m:sepChr m:val="≥"/>
                      </m:dPr>
                      <m:e>
                        <m:r>
                          <a:rPr lang="vi-VN" sz="2100" b="0">
                            <a:solidFill>
                              <a:srgbClr val="1E293B"/>
                            </a:solidFill>
                            <a:latin typeface="Cambria Math" panose="02040503050406030204" pitchFamily="18" charset="0"/>
                          </a:rPr>
                          <m:t>n</m:t>
                        </m:r>
                      </m:e>
                      <m:e>
                        <m:r>
                          <a:rPr lang="vi-VN" sz="2100" b="0">
                            <a:solidFill>
                              <a:srgbClr val="1E293B"/>
                            </a:solidFill>
                            <a:latin typeface="Cambria Math" panose="02040503050406030204" pitchFamily="18" charset="0"/>
                          </a:rPr>
                          <m:t>2</m:t>
                        </m:r>
                      </m:e>
                    </m:d>
                  </m:oMath>
                </a14:m>
                <a:r>
                  <a:rPr sz="2100">
                    <a:solidFill>
                      <a:srgbClr val="1E293B"/>
                    </a:solidFill>
                    <a:latin typeface="Calibri"/>
                  </a:rPr>
                  <a:t>.</a:t>
                </a:r>
              </a:p>
            </p:txBody>
          </p:sp>
        </mc:Choice>
        <mc:Fallback>
          <p:sp>
            <p:nvSpPr>
              <p:cNvPr id="9" name="TextBox 8"/>
              <p:cNvSpPr txBox="1"/>
              <p:nvPr/>
            </p:nvSpPr>
            <p:spPr>
              <a:xfrm>
                <a:off x="713232" y="233172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1,\ 3,\ 5,\ 7,\ 9</a:t>
                </a:r>
                <a:r>
                  <a:rPr sz="2100">
                    <a:solidFill>
                      <a:srgbClr val="1E293B"/>
                    </a:solidFill>
                    <a:latin typeface="Calibri"/>
                  </a:rPr>
                  <a:t>. b) </a:t>
                </a:r>
                <a:r>
                  <a:rPr lang="vi-VN"/>
                  <a:t>u_n=u_{n-1}+2</a:t>
                </a:r>
                <a:r>
                  <a:rPr sz="2100">
                    <a:solidFill>
                      <a:srgbClr val="1E293B"/>
                    </a:solidFill>
                    <a:latin typeface="Calibri"/>
                  </a:rPr>
                  <a:t> </a:t>
                </a:r>
                <a:r>
                  <a:rPr lang="vi-VN"/>
                  <a:t>(n\ge 2)</a:t>
                </a:r>
                <a:r>
                  <a:rPr sz="2100">
                    <a:solidFill>
                      <a:srgbClr val="1E293B"/>
                    </a:solidFill>
                    <a:latin typeface="Calibri"/>
                  </a:rPr>
                  <a:t>.</a:t>
                </a:r>
              </a:p>
            </p:txBody>
          </p:sp>
        </mc:Fallback>
      </mc:AlternateContent>
      <p:sp>
        <p:nvSpPr>
          <p:cNvPr id="10" name="s2_nen"/>
          <p:cNvSpPr/>
          <p:nvPr/>
        </p:nvSpPr>
        <p:spPr>
          <a:xfrm>
            <a:off x="548640" y="2990087"/>
            <a:ext cx="11064240" cy="154533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026663"/>
                <a:ext cx="10735056" cy="1472184"/>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Cấp số cộng</a:t>
                </a:r>
                <a:r>
                  <a:rPr sz="2100">
                    <a:solidFill>
                      <a:srgbClr val="1E293B"/>
                    </a:solidFill>
                    <a:latin typeface="Calibri"/>
                  </a:rPr>
                  <a:t> là một dãy số (hữu hạn hay vô hạn), trong đó kể từ số hạng thứ hai, mỗi số hạng đều bằng số hạng đứng ngay trước nó cộng với một số không đổi </a:t>
                </a:r>
                <a14:m>
                  <m:oMath xmlns:m="http://schemas.openxmlformats.org/officeDocument/2006/math">
                    <m:r>
                      <a:rPr lang="vi-VN" sz="2100" b="0">
                        <a:solidFill>
                          <a:srgbClr val="1E293B"/>
                        </a:solidFill>
                        <a:latin typeface="Cambria Math" panose="02040503050406030204" pitchFamily="18" charset="0"/>
                      </a:rPr>
                      <m:t>d</m:t>
                    </m:r>
                  </m:oMath>
                </a14:m>
                <a:r>
                  <a:rPr sz="2100">
                    <a:solidFill>
                      <a:srgbClr val="1E293B"/>
                    </a:solidFill>
                    <a:latin typeface="Calibri"/>
                  </a:rPr>
                  <a:t>. Số </a:t>
                </a:r>
                <a14:m>
                  <m:oMath xmlns:m="http://schemas.openxmlformats.org/officeDocument/2006/math">
                    <m:r>
                      <a:rPr lang="vi-VN" sz="2100" b="0">
                        <a:solidFill>
                          <a:srgbClr val="1E293B"/>
                        </a:solidFill>
                        <a:latin typeface="Cambria Math" panose="02040503050406030204" pitchFamily="18" charset="0"/>
                      </a:rPr>
                      <m:t>d</m:t>
                    </m:r>
                  </m:oMath>
                </a14:m>
                <a:r>
                  <a:rPr sz="2100">
                    <a:solidFill>
                      <a:srgbClr val="1E293B"/>
                    </a:solidFill>
                    <a:latin typeface="Calibri"/>
                  </a:rPr>
                  <a:t> được gọi là </a:t>
                </a:r>
                <a:r>
                  <a:rPr sz="2100" b="1">
                    <a:solidFill>
                      <a:srgbClr val="1E293B"/>
                    </a:solidFill>
                    <a:latin typeface="Calibri"/>
                  </a:rPr>
                  <a:t>công sai</a:t>
                </a:r>
                <a:r>
                  <a:rPr sz="2100">
                    <a:solidFill>
                      <a:srgbClr val="1E293B"/>
                    </a:solidFill>
                    <a:latin typeface="Calibri"/>
                  </a:rPr>
                  <a:t> của cấp số cộng. Cấp số cộng </a:t>
                </a:r>
                <a14:m>
                  <m:oMath xmlns:m="http://schemas.openxmlformats.org/officeDocument/2006/math">
                    <m:d>
                      <m:dPr>
                        <m:sepChr m:val=""/>
                      </m:dPr>
                      <m:e>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e>
                    </m:d>
                  </m:oMath>
                </a14:m>
                <a:r>
                  <a:rPr sz="2100">
                    <a:solidFill>
                      <a:srgbClr val="1E293B"/>
                    </a:solidFill>
                    <a:latin typeface="Calibri"/>
                  </a:rPr>
                  <a:t> với công sai </a:t>
                </a:r>
                <a14:m>
                  <m:oMath xmlns:m="http://schemas.openxmlformats.org/officeDocument/2006/math">
                    <m:r>
                      <a:rPr lang="vi-VN" sz="2100" b="0">
                        <a:solidFill>
                          <a:srgbClr val="1E293B"/>
                        </a:solidFill>
                        <a:latin typeface="Cambria Math" panose="02040503050406030204" pitchFamily="18" charset="0"/>
                      </a:rPr>
                      <m:t>d</m:t>
                    </m:r>
                  </m:oMath>
                </a14:m>
                <a:r>
                  <a:rPr sz="2100">
                    <a:solidFill>
                      <a:srgbClr val="1E293B"/>
                    </a:solidFill>
                    <a:latin typeface="Calibri"/>
                  </a:rPr>
                  <a:t> được cho bởi hệ thức truy hồi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n−1</m:t>
                        </m:r>
                      </m:sub>
                    </m:sSub>
                    <m:r>
                      <a:rPr lang="vi-VN" sz="2100" b="0">
                        <a:solidFill>
                          <a:srgbClr val="1E293B"/>
                        </a:solidFill>
                        <a:latin typeface="Cambria Math" panose="02040503050406030204" pitchFamily="18" charset="0"/>
                      </a:rPr>
                      <m:t>+d</m:t>
                    </m:r>
                  </m:oMath>
                </a14:m>
                <a:r>
                  <a:rPr sz="2100">
                    <a:solidFill>
                      <a:srgbClr val="1E293B"/>
                    </a:solidFill>
                    <a:latin typeface="Calibri"/>
                  </a:rPr>
                  <a:t> với </a:t>
                </a:r>
                <a14:m>
                  <m:oMath xmlns:m="http://schemas.openxmlformats.org/officeDocument/2006/math">
                    <m:r>
                      <a:rPr lang="vi-VN" sz="2100" b="0">
                        <a:solidFill>
                          <a:srgbClr val="1E293B"/>
                        </a:solidFill>
                        <a:latin typeface="Cambria Math" panose="02040503050406030204" pitchFamily="18" charset="0"/>
                      </a:rPr>
                      <m:t>n≥2</m:t>
                    </m:r>
                  </m:oMath>
                </a14:m>
                <a:r>
                  <a:rPr sz="2100">
                    <a:solidFill>
                      <a:srgbClr val="1E293B"/>
                    </a:solidFill>
                    <a:latin typeface="Calibri"/>
                  </a:rPr>
                  <a:t>.</a:t>
                </a:r>
              </a:p>
            </p:txBody>
          </p:sp>
        </mc:Choice>
        <mc:Fallback>
          <p:sp>
            <p:nvSpPr>
              <p:cNvPr id="11" name="TextBox 10"/>
              <p:cNvSpPr txBox="1"/>
              <p:nvPr/>
            </p:nvSpPr>
            <p:spPr>
              <a:xfrm>
                <a:off x="713232" y="3026663"/>
                <a:ext cx="10735056" cy="1472184"/>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Cấp số cộng</a:t>
                </a:r>
                <a:r>
                  <a:rPr sz="2100">
                    <a:solidFill>
                      <a:srgbClr val="1E293B"/>
                    </a:solidFill>
                    <a:latin typeface="Calibri"/>
                  </a:rPr>
                  <a:t> là một dãy số (hữu hạn hay vô hạn), trong đó kể từ số hạng thứ hai, mỗi số hạng đều bằng số hạng đứng ngay trước nó cộng với một số không đổi </a:t>
                </a:r>
                <a:r>
                  <a:rPr lang="vi-VN"/>
                  <a:t>d</a:t>
                </a:r>
                <a:r>
                  <a:rPr sz="2100">
                    <a:solidFill>
                      <a:srgbClr val="1E293B"/>
                    </a:solidFill>
                    <a:latin typeface="Calibri"/>
                  </a:rPr>
                  <a:t>. Số </a:t>
                </a:r>
                <a:r>
                  <a:rPr lang="vi-VN"/>
                  <a:t>d</a:t>
                </a:r>
                <a:r>
                  <a:rPr sz="2100">
                    <a:solidFill>
                      <a:srgbClr val="1E293B"/>
                    </a:solidFill>
                    <a:latin typeface="Calibri"/>
                  </a:rPr>
                  <a:t> được gọi là </a:t>
                </a:r>
                <a:r>
                  <a:rPr sz="2100" b="1">
                    <a:solidFill>
                      <a:srgbClr val="1E293B"/>
                    </a:solidFill>
                    <a:latin typeface="Calibri"/>
                  </a:rPr>
                  <a:t>công sai</a:t>
                </a:r>
                <a:r>
                  <a:rPr sz="2100">
                    <a:solidFill>
                      <a:srgbClr val="1E293B"/>
                    </a:solidFill>
                    <a:latin typeface="Calibri"/>
                  </a:rPr>
                  <a:t> của cấp số cộng. Cấp số cộng </a:t>
                </a:r>
                <a:r>
                  <a:rPr lang="vi-VN"/>
                  <a:t>(u_n)</a:t>
                </a:r>
                <a:r>
                  <a:rPr sz="2100">
                    <a:solidFill>
                      <a:srgbClr val="1E293B"/>
                    </a:solidFill>
                    <a:latin typeface="Calibri"/>
                  </a:rPr>
                  <a:t> với công sai </a:t>
                </a:r>
                <a:r>
                  <a:rPr lang="vi-VN"/>
                  <a:t>d</a:t>
                </a:r>
                <a:r>
                  <a:rPr sz="2100">
                    <a:solidFill>
                      <a:srgbClr val="1E293B"/>
                    </a:solidFill>
                    <a:latin typeface="Calibri"/>
                  </a:rPr>
                  <a:t> được cho bởi hệ thức truy hồi </a:t>
                </a:r>
                <a:r>
                  <a:rPr lang="vi-VN"/>
                  <a:t>u_n=u_{n-1}+d</a:t>
                </a:r>
                <a:r>
                  <a:rPr sz="2100">
                    <a:solidFill>
                      <a:srgbClr val="1E293B"/>
                    </a:solidFill>
                    <a:latin typeface="Calibri"/>
                  </a:rPr>
                  <a:t> với </a:t>
                </a:r>
                <a:r>
                  <a:rPr lang="vi-VN"/>
                  <a:t>n\ge 2</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4645152"/>
                <a:ext cx="11064240" cy="493775"/>
              </a:xfrm>
              <a:prstGeom prst="rect">
                <a:avLst/>
              </a:prstGeom>
              <a:noFill/>
            </p:spPr>
            <p:txBody>
              <a:bodyPr wrap="square" anchor="t" lIns="45720" rIns="45720">
                <a:spAutoFit/>
              </a:bodyPr>
              <a:lstStyle/>
              <a:p>
                <a:pPr algn="l">
                  <a:spcAft>
                    <a:spcPts val="800"/>
                  </a:spcAft>
                </a:pPr>
                <a:r>
                  <a:rPr sz="2100">
                    <a:solidFill>
                      <a:srgbClr val="1E293B"/>
                    </a:solidFill>
                    <a:latin typeface="Calibri"/>
                  </a:rPr>
                  <a:t>❓ Dãy số không đổi </a:t>
                </a:r>
                <a14:m>
                  <m:oMath xmlns:m="http://schemas.openxmlformats.org/officeDocument/2006/math">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a,…</m:t>
                    </m:r>
                  </m:oMath>
                </a14:m>
                <a:r>
                  <a:rPr sz="2100">
                    <a:solidFill>
                      <a:srgbClr val="1E293B"/>
                    </a:solidFill>
                    <a:latin typeface="Calibri"/>
                  </a:rPr>
                  <a:t> có phải là một cấp số cộng không?</a:t>
                </a:r>
              </a:p>
            </p:txBody>
          </p:sp>
        </mc:Choice>
        <mc:Fallback>
          <p:sp>
            <p:nvSpPr>
              <p:cNvPr id="12" name="TextBox 11"/>
              <p:cNvSpPr txBox="1"/>
              <p:nvPr/>
            </p:nvSpPr>
            <p:spPr>
              <a:xfrm>
                <a:off x="548640" y="4645152"/>
                <a:ext cx="11064240" cy="493775"/>
              </a:xfrm>
              <a:prstGeom prst="rect">
                <a:avLst/>
              </a:prstGeom>
              <a:noFill/>
            </p:spPr>
            <p:txBody>
              <a:bodyPr wrap="square" anchor="t" lIns="45720" rIns="45720">
                <a:spAutoFit/>
              </a:bodyPr>
              <a:lstStyle/>
              <a:p>
                <a:pPr algn="l">
                  <a:spcAft>
                    <a:spcPts val="800"/>
                  </a:spcAft>
                </a:pPr>
                <a:r>
                  <a:rPr sz="2100">
                    <a:solidFill>
                      <a:srgbClr val="1E293B"/>
                    </a:solidFill>
                    <a:latin typeface="Calibri"/>
                  </a:rPr>
                  <a:t>❓ Dãy số không đổi </a:t>
                </a:r>
                <a:r>
                  <a:rPr lang="vi-VN"/>
                  <a:t>a,\ a,\ a,\ldots</a:t>
                </a:r>
                <a:r>
                  <a:rPr sz="2100">
                    <a:solidFill>
                      <a:srgbClr val="1E293B"/>
                    </a:solidFill>
                    <a:latin typeface="Calibri"/>
                  </a:rPr>
                  <a:t> có phải là một cấp số cộng không?</a:t>
                </a:r>
              </a:p>
            </p:txBody>
          </p:sp>
        </mc:Fallback>
      </mc:AlternateContent>
      <p:sp>
        <p:nvSpPr>
          <p:cNvPr id="13" name="s4_nen"/>
          <p:cNvSpPr/>
          <p:nvPr/>
        </p:nvSpPr>
        <p:spPr>
          <a:xfrm>
            <a:off x="548640" y="5248656"/>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285232"/>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Có – cấp số cộng với công sai </a:t>
                </a:r>
                <a14:m>
                  <m:oMath xmlns:m="http://schemas.openxmlformats.org/officeDocument/2006/math">
                    <m:r>
                      <a:rPr lang="vi-VN" sz="2100" b="0">
                        <a:solidFill>
                          <a:srgbClr val="1E293B"/>
                        </a:solidFill>
                        <a:latin typeface="Cambria Math" panose="02040503050406030204" pitchFamily="18" charset="0"/>
                      </a:rPr>
                      <m:t>d=0</m:t>
                    </m:r>
                  </m:oMath>
                </a14:m>
                <a:r>
                  <a:rPr sz="2100">
                    <a:solidFill>
                      <a:srgbClr val="1E293B"/>
                    </a:solidFill>
                    <a:latin typeface="Calibri"/>
                  </a:rPr>
                  <a:t>.</a:t>
                </a:r>
              </a:p>
            </p:txBody>
          </p:sp>
        </mc:Choice>
        <mc:Fallback>
          <p:sp>
            <p:nvSpPr>
              <p:cNvPr id="14" name="TextBox 13"/>
              <p:cNvSpPr txBox="1"/>
              <p:nvPr/>
            </p:nvSpPr>
            <p:spPr>
              <a:xfrm>
                <a:off x="713232" y="5285232"/>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Có – cấp số cộng với công sai </a:t>
                </a:r>
                <a:r>
                  <a:rPr lang="vi-VN"/>
                  <a:t>d=0</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 VÍ DỤ 2 – LUYỆN TẬP 1 (SGK TR.48 – 49)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7</a:t>
            </a:r>
          </a:p>
        </p:txBody>
      </p:sp>
      <mc:AlternateContent xmlns:mc="http://schemas.openxmlformats.org/markup-compatibility/2006">
        <mc:Choice xmlns:a14="http://schemas.microsoft.com/office/drawing/2010/main" Requires="a14">
          <p:sp>
            <p:nvSpPr>
              <p:cNvPr id="7" name="TextBox 6"/>
              <p:cNvSpPr txBox="1"/>
              <p:nvPr/>
            </p:nvSpPr>
            <p:spPr>
              <a:xfrm>
                <a:off x="548640" y="1554480"/>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1.</a:t>
                </a:r>
                <a:r>
                  <a:rPr sz="2300">
                    <a:solidFill>
                      <a:srgbClr val="1E293B"/>
                    </a:solidFill>
                    <a:latin typeface="Calibri"/>
                  </a:rPr>
                  <a:t> Cấp số cộng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=2</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d=3</m:t>
                    </m:r>
                  </m:oMath>
                </a14:m>
                <a:r>
                  <a:rPr sz="2300">
                    <a:solidFill>
                      <a:srgbClr val="1E293B"/>
                    </a:solidFill>
                    <a:latin typeface="Calibri"/>
                  </a:rPr>
                  <a:t>: viết năm số hạng đầu.  </a:t>
                </a:r>
                <a:r>
                  <a:rPr sz="2300" b="1">
                    <a:solidFill>
                      <a:srgbClr val="1E293B"/>
                    </a:solidFill>
                    <a:latin typeface="Calibri"/>
                  </a:rPr>
                  <a:t>Ví dụ 2.</a:t>
                </a:r>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r>
                      <a:rPr lang="vi-VN" sz="2300" b="0">
                        <a:solidFill>
                          <a:srgbClr val="1E293B"/>
                        </a:solidFill>
                        <a:latin typeface="Cambria Math" panose="02040503050406030204" pitchFamily="18" charset="0"/>
                      </a:rPr>
                      <m:t>=5n−1</m:t>
                    </m:r>
                  </m:oMath>
                </a14:m>
                <a:r>
                  <a:rPr sz="2300">
                    <a:solidFill>
                      <a:srgbClr val="1E293B"/>
                    </a:solidFill>
                    <a:latin typeface="Calibri"/>
                  </a:rPr>
                  <a:t>: chứng minh là cấp số cộng; tìm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d</m:t>
                    </m:r>
                  </m:oMath>
                </a14:m>
                <a:r>
                  <a:rPr sz="2300">
                    <a:solidFill>
                      <a:srgbClr val="1E293B"/>
                    </a:solidFill>
                    <a:latin typeface="Calibri"/>
                  </a:rPr>
                  <a:t>.</a:t>
                </a:r>
              </a:p>
            </p:txBody>
          </p:sp>
        </mc:Choice>
        <mc:Fallback>
          <p:sp>
            <p:nvSpPr>
              <p:cNvPr id="7" name="TextBox 6"/>
              <p:cNvSpPr txBox="1"/>
              <p:nvPr/>
            </p:nvSpPr>
            <p:spPr>
              <a:xfrm>
                <a:off x="548640" y="1554480"/>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1.</a:t>
                </a:r>
                <a:r>
                  <a:rPr sz="2300">
                    <a:solidFill>
                      <a:srgbClr val="1E293B"/>
                    </a:solidFill>
                    <a:latin typeface="Calibri"/>
                  </a:rPr>
                  <a:t> Cấp số cộng </a:t>
                </a:r>
                <a:r>
                  <a:rPr lang="vi-VN"/>
                  <a:t>u_1=2</a:t>
                </a:r>
                <a:r>
                  <a:rPr sz="2300">
                    <a:solidFill>
                      <a:srgbClr val="1E293B"/>
                    </a:solidFill>
                    <a:latin typeface="Calibri"/>
                  </a:rPr>
                  <a:t>, </a:t>
                </a:r>
                <a:r>
                  <a:rPr lang="vi-VN"/>
                  <a:t>d=3</a:t>
                </a:r>
                <a:r>
                  <a:rPr sz="2300">
                    <a:solidFill>
                      <a:srgbClr val="1E293B"/>
                    </a:solidFill>
                    <a:latin typeface="Calibri"/>
                  </a:rPr>
                  <a:t>: viết năm số hạng đầu.  </a:t>
                </a:r>
                <a:r>
                  <a:rPr sz="2300" b="1">
                    <a:solidFill>
                      <a:srgbClr val="1E293B"/>
                    </a:solidFill>
                    <a:latin typeface="Calibri"/>
                  </a:rPr>
                  <a:t>Ví dụ 2.</a:t>
                </a:r>
                <a:r>
                  <a:rPr sz="2300">
                    <a:solidFill>
                      <a:srgbClr val="1E293B"/>
                    </a:solidFill>
                    <a:latin typeface="Calibri"/>
                  </a:rPr>
                  <a:t> </a:t>
                </a:r>
                <a:r>
                  <a:rPr lang="vi-VN"/>
                  <a:t>u_n=5n-1</a:t>
                </a:r>
                <a:r>
                  <a:rPr sz="2300">
                    <a:solidFill>
                      <a:srgbClr val="1E293B"/>
                    </a:solidFill>
                    <a:latin typeface="Calibri"/>
                  </a:rPr>
                  <a:t>: chứng minh là cấp số cộng; tìm </a:t>
                </a:r>
                <a:r>
                  <a:rPr lang="vi-VN"/>
                  <a:t>u_1</a:t>
                </a:r>
                <a:r>
                  <a:rPr sz="2300">
                    <a:solidFill>
                      <a:srgbClr val="1E293B"/>
                    </a:solidFill>
                    <a:latin typeface="Calibri"/>
                  </a:rPr>
                  <a:t>, </a:t>
                </a:r>
                <a:r>
                  <a:rPr lang="vi-VN"/>
                  <a:t>d</a:t>
                </a:r>
                <a:r>
                  <a:rPr sz="2300">
                    <a:solidFill>
                      <a:srgbClr val="1E293B"/>
                    </a:solidFill>
                    <a:latin typeface="Calibri"/>
                  </a:rPr>
                  <a:t>.</a:t>
                </a:r>
              </a:p>
            </p:txBody>
          </p:sp>
        </mc:Fallback>
      </mc:AlternateContent>
      <p:sp>
        <p:nvSpPr>
          <p:cNvPr id="8" name="s1_nen"/>
          <p:cNvSpPr/>
          <p:nvPr/>
        </p:nvSpPr>
        <p:spPr>
          <a:xfrm>
            <a:off x="548640" y="2612136"/>
            <a:ext cx="11064240" cy="9662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48712"/>
                <a:ext cx="1073505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Ví dụ 1: </a:t>
                </a:r>
                <a14:m>
                  <m:oMath xmlns:m="http://schemas.openxmlformats.org/officeDocument/2006/math">
                    <m:r>
                      <a:rPr lang="vi-VN" sz="2300" b="0">
                        <a:solidFill>
                          <a:srgbClr val="1E293B"/>
                        </a:solidFill>
                        <a:latin typeface="Cambria Math" panose="02040503050406030204" pitchFamily="18" charset="0"/>
                      </a:rPr>
                      <m:t>2,</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5,</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8,</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11,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14</m:t>
                    </m:r>
                  </m:oMath>
                </a14:m>
                <a:r>
                  <a:rPr sz="2300">
                    <a:solidFill>
                      <a:srgbClr val="1E293B"/>
                    </a:solidFill>
                    <a:latin typeface="Calibri"/>
                  </a:rPr>
                  <a:t>. Ví dụ 2: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n−1</m:t>
                        </m:r>
                      </m:sub>
                    </m:sSub>
                    <m:r>
                      <a:rPr lang="vi-VN" sz="2300" b="0">
                        <a:solidFill>
                          <a:srgbClr val="1E293B"/>
                        </a:solidFill>
                        <a:latin typeface="Cambria Math" panose="02040503050406030204" pitchFamily="18" charset="0"/>
                      </a:rPr>
                      <m:t>=(5n−1)−[5(n−1)−1]=5</m:t>
                    </m:r>
                  </m:oMath>
                </a14:m>
                <a:r>
                  <a:rPr sz="2300">
                    <a:solidFill>
                      <a:srgbClr val="1E293B"/>
                    </a:solidFill>
                    <a:latin typeface="Calibri"/>
                  </a:rPr>
                  <a:t> với mọi </a:t>
                </a:r>
                <a14:m>
                  <m:oMath xmlns:m="http://schemas.openxmlformats.org/officeDocument/2006/math">
                    <m:r>
                      <a:rPr lang="vi-VN" sz="2300" b="0">
                        <a:solidFill>
                          <a:srgbClr val="1E293B"/>
                        </a:solidFill>
                        <a:latin typeface="Cambria Math" panose="02040503050406030204" pitchFamily="18" charset="0"/>
                      </a:rPr>
                      <m:t>n≥2</m:t>
                    </m:r>
                  </m:oMath>
                </a14:m>
                <a:r>
                  <a:rPr sz="2300">
                    <a:solidFill>
                      <a:srgbClr val="1E293B"/>
                    </a:solidFill>
                    <a:latin typeface="Calibri"/>
                  </a:rPr>
                  <a:t>: cấp số cộng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=4</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d=5</m:t>
                    </m:r>
                  </m:oMath>
                </a14:m>
                <a:r>
                  <a:rPr sz="2300">
                    <a:solidFill>
                      <a:srgbClr val="1E293B"/>
                    </a:solidFill>
                    <a:latin typeface="Calibri"/>
                  </a:rPr>
                  <a:t>.</a:t>
                </a:r>
              </a:p>
            </p:txBody>
          </p:sp>
        </mc:Choice>
        <mc:Fallback>
          <p:sp>
            <p:nvSpPr>
              <p:cNvPr id="9" name="TextBox 8"/>
              <p:cNvSpPr txBox="1"/>
              <p:nvPr/>
            </p:nvSpPr>
            <p:spPr>
              <a:xfrm>
                <a:off x="713232" y="2648712"/>
                <a:ext cx="1073505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Ví dụ 1: </a:t>
                </a:r>
                <a:r>
                  <a:rPr lang="vi-VN"/>
                  <a:t>2,\ 5,\ 8,\ 11,\ 14</a:t>
                </a:r>
                <a:r>
                  <a:rPr sz="2300">
                    <a:solidFill>
                      <a:srgbClr val="1E293B"/>
                    </a:solidFill>
                    <a:latin typeface="Calibri"/>
                  </a:rPr>
                  <a:t>. Ví dụ 2: </a:t>
                </a:r>
                <a:r>
                  <a:rPr lang="vi-VN"/>
                  <a:t>u_n-u_{n-1}=(5n-1)-[5(n-1)-1]=5</a:t>
                </a:r>
                <a:r>
                  <a:rPr sz="2300">
                    <a:solidFill>
                      <a:srgbClr val="1E293B"/>
                    </a:solidFill>
                    <a:latin typeface="Calibri"/>
                  </a:rPr>
                  <a:t> với mọi </a:t>
                </a:r>
                <a:r>
                  <a:rPr lang="vi-VN"/>
                  <a:t>n\ge 2</a:t>
                </a:r>
                <a:r>
                  <a:rPr sz="2300">
                    <a:solidFill>
                      <a:srgbClr val="1E293B"/>
                    </a:solidFill>
                    <a:latin typeface="Calibri"/>
                  </a:rPr>
                  <a:t>: cấp số cộng </a:t>
                </a:r>
                <a:r>
                  <a:rPr lang="vi-VN"/>
                  <a:t>u_1=4</a:t>
                </a:r>
                <a:r>
                  <a:rPr sz="2300">
                    <a:solidFill>
                      <a:srgbClr val="1E293B"/>
                    </a:solidFill>
                    <a:latin typeface="Calibri"/>
                  </a:rPr>
                  <a:t>, </a:t>
                </a:r>
                <a:r>
                  <a:rPr lang="vi-VN"/>
                  <a:t>d=5</a:t>
                </a:r>
                <a:r>
                  <a:rPr sz="23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761232"/>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1.</a:t>
                </a:r>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r>
                      <a:rPr lang="vi-VN" sz="2300" b="0">
                        <a:solidFill>
                          <a:srgbClr val="1E293B"/>
                        </a:solidFill>
                        <a:latin typeface="Cambria Math" panose="02040503050406030204" pitchFamily="18" charset="0"/>
                      </a:rPr>
                      <m:t>=−2n+3</m:t>
                    </m:r>
                  </m:oMath>
                </a14:m>
                <a:r>
                  <a:rPr sz="2300">
                    <a:solidFill>
                      <a:srgbClr val="1E293B"/>
                    </a:solidFill>
                    <a:latin typeface="Calibri"/>
                  </a:rPr>
                  <a:t>: chứng minh </a:t>
                </a:r>
                <a14:m>
                  <m:oMath xmlns:m="http://schemas.openxmlformats.org/officeDocument/2006/math">
                    <m:d>
                      <m:dPr>
                        <m:sepChr m:val=""/>
                      </m:dPr>
                      <m:e>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e>
                    </m:d>
                  </m:oMath>
                </a14:m>
                <a:r>
                  <a:rPr sz="2300">
                    <a:solidFill>
                      <a:srgbClr val="1E293B"/>
                    </a:solidFill>
                    <a:latin typeface="Calibri"/>
                  </a:rPr>
                  <a:t> là cấp số cộng; xác định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d</m:t>
                    </m:r>
                  </m:oMath>
                </a14:m>
                <a:r>
                  <a:rPr sz="2300">
                    <a:solidFill>
                      <a:srgbClr val="1E293B"/>
                    </a:solidFill>
                    <a:latin typeface="Calibri"/>
                  </a:rPr>
                  <a:t>.</a:t>
                </a:r>
              </a:p>
            </p:txBody>
          </p:sp>
        </mc:Choice>
        <mc:Fallback>
          <p:sp>
            <p:nvSpPr>
              <p:cNvPr id="10" name="TextBox 9"/>
              <p:cNvSpPr txBox="1"/>
              <p:nvPr/>
            </p:nvSpPr>
            <p:spPr>
              <a:xfrm>
                <a:off x="548640" y="3761232"/>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1.</a:t>
                </a:r>
                <a:r>
                  <a:rPr sz="2300">
                    <a:solidFill>
                      <a:srgbClr val="1E293B"/>
                    </a:solidFill>
                    <a:latin typeface="Calibri"/>
                  </a:rPr>
                  <a:t> </a:t>
                </a:r>
                <a:r>
                  <a:rPr lang="vi-VN"/>
                  <a:t>u_n=-2n+3</a:t>
                </a:r>
                <a:r>
                  <a:rPr sz="2300">
                    <a:solidFill>
                      <a:srgbClr val="1E293B"/>
                    </a:solidFill>
                    <a:latin typeface="Calibri"/>
                  </a:rPr>
                  <a:t>: chứng minh </a:t>
                </a:r>
                <a:r>
                  <a:rPr lang="vi-VN"/>
                  <a:t>(u_n)</a:t>
                </a:r>
                <a:r>
                  <a:rPr sz="2300">
                    <a:solidFill>
                      <a:srgbClr val="1E293B"/>
                    </a:solidFill>
                    <a:latin typeface="Calibri"/>
                  </a:rPr>
                  <a:t> là cấp số cộng; xác định </a:t>
                </a:r>
                <a:r>
                  <a:rPr lang="vi-VN"/>
                  <a:t>u_1</a:t>
                </a:r>
                <a:r>
                  <a:rPr sz="2300">
                    <a:solidFill>
                      <a:srgbClr val="1E293B"/>
                    </a:solidFill>
                    <a:latin typeface="Calibri"/>
                  </a:rPr>
                  <a:t>, </a:t>
                </a:r>
                <a:r>
                  <a:rPr lang="vi-VN"/>
                  <a:t>d</a:t>
                </a:r>
                <a:r>
                  <a:rPr sz="2300">
                    <a:solidFill>
                      <a:srgbClr val="1E293B"/>
                    </a:solidFill>
                    <a:latin typeface="Calibri"/>
                  </a:rPr>
                  <a:t>.</a:t>
                </a:r>
              </a:p>
            </p:txBody>
          </p:sp>
        </mc:Fallback>
      </mc:AlternateContent>
      <p:sp>
        <p:nvSpPr>
          <p:cNvPr id="11" name="s3_nen"/>
          <p:cNvSpPr/>
          <p:nvPr/>
        </p:nvSpPr>
        <p:spPr>
          <a:xfrm>
            <a:off x="548640" y="4818888"/>
            <a:ext cx="11064240" cy="9662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855464"/>
                <a:ext cx="1073505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n−1</m:t>
                        </m:r>
                      </m:sub>
                    </m:sSub>
                    <m:r>
                      <a:rPr lang="vi-VN" sz="2300" b="0">
                        <a:solidFill>
                          <a:srgbClr val="1E293B"/>
                        </a:solidFill>
                        <a:latin typeface="Cambria Math" panose="02040503050406030204" pitchFamily="18" charset="0"/>
                      </a:rPr>
                      <m:t>=(−2n+3)−[−2(n−1)+3]=−2</m:t>
                    </m:r>
                  </m:oMath>
                </a14:m>
                <a:r>
                  <a:rPr sz="2300">
                    <a:solidFill>
                      <a:srgbClr val="1E293B"/>
                    </a:solidFill>
                    <a:latin typeface="Calibri"/>
                  </a:rPr>
                  <a:t> với mọi </a:t>
                </a:r>
                <a14:m>
                  <m:oMath xmlns:m="http://schemas.openxmlformats.org/officeDocument/2006/math">
                    <m:r>
                      <a:rPr lang="vi-VN" sz="2300" b="0">
                        <a:solidFill>
                          <a:srgbClr val="1E293B"/>
                        </a:solidFill>
                        <a:latin typeface="Cambria Math" panose="02040503050406030204" pitchFamily="18" charset="0"/>
                      </a:rPr>
                      <m:t>n≥2</m:t>
                    </m:r>
                  </m:oMath>
                </a14:m>
                <a:r>
                  <a:rPr sz="2300">
                    <a:solidFill>
                      <a:srgbClr val="1E293B"/>
                    </a:solidFill>
                    <a:latin typeface="Calibri"/>
                  </a:rPr>
                  <a:t>: cấp số cộng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=1</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d=−2</m:t>
                    </m:r>
                  </m:oMath>
                </a14:m>
                <a:r>
                  <a:rPr sz="2300">
                    <a:solidFill>
                      <a:srgbClr val="1E293B"/>
                    </a:solidFill>
                    <a:latin typeface="Calibri"/>
                  </a:rPr>
                  <a:t>.</a:t>
                </a:r>
              </a:p>
            </p:txBody>
          </p:sp>
        </mc:Choice>
        <mc:Fallback>
          <p:sp>
            <p:nvSpPr>
              <p:cNvPr id="12" name="TextBox 11"/>
              <p:cNvSpPr txBox="1"/>
              <p:nvPr/>
            </p:nvSpPr>
            <p:spPr>
              <a:xfrm>
                <a:off x="713232" y="4855464"/>
                <a:ext cx="1073505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u_n-u_{n-1}=(-2n+3)-[-2(n-1)+3]=-2</a:t>
                </a:r>
                <a:r>
                  <a:rPr sz="2300">
                    <a:solidFill>
                      <a:srgbClr val="1E293B"/>
                    </a:solidFill>
                    <a:latin typeface="Calibri"/>
                  </a:rPr>
                  <a:t> với mọi </a:t>
                </a:r>
                <a:r>
                  <a:rPr lang="vi-VN"/>
                  <a:t>n\ge 2</a:t>
                </a:r>
                <a:r>
                  <a:rPr sz="2300">
                    <a:solidFill>
                      <a:srgbClr val="1E293B"/>
                    </a:solidFill>
                    <a:latin typeface="Calibri"/>
                  </a:rPr>
                  <a:t>: cấp số cộng </a:t>
                </a:r>
                <a:r>
                  <a:rPr lang="vi-VN"/>
                  <a:t>u_1=1</a:t>
                </a:r>
                <a:r>
                  <a:rPr sz="2300">
                    <a:solidFill>
                      <a:srgbClr val="1E293B"/>
                    </a:solidFill>
                    <a:latin typeface="Calibri"/>
                  </a:rPr>
                  <a:t>, </a:t>
                </a:r>
                <a:r>
                  <a:rPr lang="vi-VN"/>
                  <a:t>d=-2</a:t>
                </a:r>
                <a:r>
                  <a:rPr sz="23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SỐ HẠNG TỔNG QUÁT – HĐ2 (SGK TR.49)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8</a:t>
            </a:r>
          </a:p>
        </p:txBody>
      </p:sp>
      <mc:AlternateContent xmlns:mc="http://schemas.openxmlformats.org/markup-compatibility/2006">
        <mc:Choice xmlns:a14="http://schemas.microsoft.com/office/drawing/2010/main" Requires="a14">
          <p:sp>
            <p:nvSpPr>
              <p:cNvPr id="7" name="TextBox 6"/>
              <p:cNvSpPr txBox="1"/>
              <p:nvPr/>
            </p:nvSpPr>
            <p:spPr>
              <a:xfrm>
                <a:off x="548640" y="1645920"/>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HĐ2.</a:t>
                </a:r>
                <a:r>
                  <a:rPr sz="2300">
                    <a:solidFill>
                      <a:srgbClr val="1E293B"/>
                    </a:solidFill>
                    <a:latin typeface="Calibri"/>
                  </a:rPr>
                  <a:t> Cấp số cộng </a:t>
                </a:r>
                <a14:m>
                  <m:oMath xmlns:m="http://schemas.openxmlformats.org/officeDocument/2006/math">
                    <m:d>
                      <m:dPr>
                        <m:sepChr m:val=""/>
                      </m:dPr>
                      <m:e>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e>
                    </m:d>
                  </m:oMath>
                </a14:m>
                <a:r>
                  <a:rPr sz="2300">
                    <a:solidFill>
                      <a:srgbClr val="1E293B"/>
                    </a:solidFill>
                    <a:latin typeface="Calibri"/>
                  </a:rPr>
                  <a:t> có số hạng đầu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oMath>
                </a14:m>
                <a:r>
                  <a:rPr sz="2300">
                    <a:solidFill>
                      <a:srgbClr val="1E293B"/>
                    </a:solidFill>
                    <a:latin typeface="Calibri"/>
                  </a:rPr>
                  <a:t>, công sai </a:t>
                </a:r>
                <a14:m>
                  <m:oMath xmlns:m="http://schemas.openxmlformats.org/officeDocument/2006/math">
                    <m:r>
                      <a:rPr lang="vi-VN" sz="2300" b="0">
                        <a:solidFill>
                          <a:srgbClr val="1E293B"/>
                        </a:solidFill>
                        <a:latin typeface="Cambria Math" panose="02040503050406030204" pitchFamily="18" charset="0"/>
                      </a:rPr>
                      <m:t>d</m:t>
                    </m:r>
                  </m:oMath>
                </a14:m>
                <a:r>
                  <a:rPr sz="2300">
                    <a:solidFill>
                      <a:srgbClr val="1E293B"/>
                    </a:solidFill>
                    <a:latin typeface="Calibri"/>
                  </a:rPr>
                  <a:t>. a) Tính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2</m:t>
                        </m:r>
                      </m:sub>
                    </m:sSub>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3</m:t>
                        </m:r>
                      </m:sub>
                    </m:sSub>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4</m:t>
                        </m:r>
                      </m:sub>
                    </m:sSub>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5</m:t>
                        </m:r>
                      </m:sub>
                    </m:sSub>
                  </m:oMath>
                </a14:m>
                <a:r>
                  <a:rPr sz="2300">
                    <a:solidFill>
                      <a:srgbClr val="1E293B"/>
                    </a:solidFill>
                    <a:latin typeface="Calibri"/>
                  </a:rPr>
                  <a:t> theo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oMath>
                </a14:m>
                <a:r>
                  <a:rPr sz="2300">
                    <a:solidFill>
                      <a:srgbClr val="1E293B"/>
                    </a:solidFill>
                    <a:latin typeface="Calibri"/>
                  </a:rPr>
                  <a:t> và </a:t>
                </a:r>
                <a14:m>
                  <m:oMath xmlns:m="http://schemas.openxmlformats.org/officeDocument/2006/math">
                    <m:r>
                      <a:rPr lang="vi-VN" sz="2300" b="0">
                        <a:solidFill>
                          <a:srgbClr val="1E293B"/>
                        </a:solidFill>
                        <a:latin typeface="Cambria Math" panose="02040503050406030204" pitchFamily="18" charset="0"/>
                      </a:rPr>
                      <m:t>d</m:t>
                    </m:r>
                  </m:oMath>
                </a14:m>
                <a:r>
                  <a:rPr sz="2300">
                    <a:solidFill>
                      <a:srgbClr val="1E293B"/>
                    </a:solidFill>
                    <a:latin typeface="Calibri"/>
                  </a:rPr>
                  <a:t>. b) Dự đoán công thức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oMath>
                </a14:m>
                <a:r>
                  <a:rPr sz="2300">
                    <a:solidFill>
                      <a:srgbClr val="1E293B"/>
                    </a:solidFill>
                    <a:latin typeface="Calibri"/>
                  </a:rPr>
                  <a:t> theo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oMath>
                </a14:m>
                <a:r>
                  <a:rPr sz="2300">
                    <a:solidFill>
                      <a:srgbClr val="1E293B"/>
                    </a:solidFill>
                    <a:latin typeface="Calibri"/>
                  </a:rPr>
                  <a:t> và </a:t>
                </a:r>
                <a14:m>
                  <m:oMath xmlns:m="http://schemas.openxmlformats.org/officeDocument/2006/math">
                    <m:r>
                      <a:rPr lang="vi-VN" sz="2300" b="0">
                        <a:solidFill>
                          <a:srgbClr val="1E293B"/>
                        </a:solidFill>
                        <a:latin typeface="Cambria Math" panose="02040503050406030204" pitchFamily="18" charset="0"/>
                      </a:rPr>
                      <m:t>d</m:t>
                    </m:r>
                  </m:oMath>
                </a14:m>
                <a:r>
                  <a:rPr sz="2300">
                    <a:solidFill>
                      <a:srgbClr val="1E293B"/>
                    </a:solidFill>
                    <a:latin typeface="Calibri"/>
                  </a:rPr>
                  <a:t>.</a:t>
                </a:r>
              </a:p>
            </p:txBody>
          </p:sp>
        </mc:Choice>
        <mc:Fallback>
          <p:sp>
            <p:nvSpPr>
              <p:cNvPr id="7" name="TextBox 6"/>
              <p:cNvSpPr txBox="1"/>
              <p:nvPr/>
            </p:nvSpPr>
            <p:spPr>
              <a:xfrm>
                <a:off x="548640" y="1645920"/>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HĐ2.</a:t>
                </a:r>
                <a:r>
                  <a:rPr sz="2300">
                    <a:solidFill>
                      <a:srgbClr val="1E293B"/>
                    </a:solidFill>
                    <a:latin typeface="Calibri"/>
                  </a:rPr>
                  <a:t> Cấp số cộng </a:t>
                </a:r>
                <a:r>
                  <a:rPr lang="vi-VN"/>
                  <a:t>(u_n)</a:t>
                </a:r>
                <a:r>
                  <a:rPr sz="2300">
                    <a:solidFill>
                      <a:srgbClr val="1E293B"/>
                    </a:solidFill>
                    <a:latin typeface="Calibri"/>
                  </a:rPr>
                  <a:t> có số hạng đầu </a:t>
                </a:r>
                <a:r>
                  <a:rPr lang="vi-VN"/>
                  <a:t>u_1</a:t>
                </a:r>
                <a:r>
                  <a:rPr sz="2300">
                    <a:solidFill>
                      <a:srgbClr val="1E293B"/>
                    </a:solidFill>
                    <a:latin typeface="Calibri"/>
                  </a:rPr>
                  <a:t>, công sai </a:t>
                </a:r>
                <a:r>
                  <a:rPr lang="vi-VN"/>
                  <a:t>d</a:t>
                </a:r>
                <a:r>
                  <a:rPr sz="2300">
                    <a:solidFill>
                      <a:srgbClr val="1E293B"/>
                    </a:solidFill>
                    <a:latin typeface="Calibri"/>
                  </a:rPr>
                  <a:t>. a) Tính </a:t>
                </a:r>
                <a:r>
                  <a:rPr lang="vi-VN"/>
                  <a:t>u_2,\ u_3,\ u_4,\ u_5</a:t>
                </a:r>
                <a:r>
                  <a:rPr sz="2300">
                    <a:solidFill>
                      <a:srgbClr val="1E293B"/>
                    </a:solidFill>
                    <a:latin typeface="Calibri"/>
                  </a:rPr>
                  <a:t> theo </a:t>
                </a:r>
                <a:r>
                  <a:rPr lang="vi-VN"/>
                  <a:t>u_1</a:t>
                </a:r>
                <a:r>
                  <a:rPr sz="2300">
                    <a:solidFill>
                      <a:srgbClr val="1E293B"/>
                    </a:solidFill>
                    <a:latin typeface="Calibri"/>
                  </a:rPr>
                  <a:t> và </a:t>
                </a:r>
                <a:r>
                  <a:rPr lang="vi-VN"/>
                  <a:t>d</a:t>
                </a:r>
                <a:r>
                  <a:rPr sz="2300">
                    <a:solidFill>
                      <a:srgbClr val="1E293B"/>
                    </a:solidFill>
                    <a:latin typeface="Calibri"/>
                  </a:rPr>
                  <a:t>. b) Dự đoán công thức </a:t>
                </a:r>
                <a:r>
                  <a:rPr lang="vi-VN"/>
                  <a:t>u_n</a:t>
                </a:r>
                <a:r>
                  <a:rPr sz="2300">
                    <a:solidFill>
                      <a:srgbClr val="1E293B"/>
                    </a:solidFill>
                    <a:latin typeface="Calibri"/>
                  </a:rPr>
                  <a:t> theo </a:t>
                </a:r>
                <a:r>
                  <a:rPr lang="vi-VN"/>
                  <a:t>u_1</a:t>
                </a:r>
                <a:r>
                  <a:rPr sz="2300">
                    <a:solidFill>
                      <a:srgbClr val="1E293B"/>
                    </a:solidFill>
                    <a:latin typeface="Calibri"/>
                  </a:rPr>
                  <a:t> và </a:t>
                </a:r>
                <a:r>
                  <a:rPr lang="vi-VN"/>
                  <a:t>d</a:t>
                </a:r>
                <a:r>
                  <a:rPr sz="2300">
                    <a:solidFill>
                      <a:srgbClr val="1E293B"/>
                    </a:solidFill>
                    <a:latin typeface="Calibri"/>
                  </a:rPr>
                  <a:t>.</a:t>
                </a:r>
              </a:p>
            </p:txBody>
          </p:sp>
        </mc:Fallback>
      </mc:AlternateContent>
      <p:sp>
        <p:nvSpPr>
          <p:cNvPr id="8" name="s1_nen"/>
          <p:cNvSpPr/>
          <p:nvPr/>
        </p:nvSpPr>
        <p:spPr>
          <a:xfrm>
            <a:off x="548640" y="2749296"/>
            <a:ext cx="11064240" cy="615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85872"/>
                <a:ext cx="10735056" cy="542543"/>
              </a:xfrm>
              <a:prstGeom prst="rect">
                <a:avLst/>
              </a:prstGeom>
              <a:noFill/>
            </p:spPr>
            <p:txBody>
              <a:bodyPr wrap="square" anchor="ctr" lIns="45720" rIns="45720">
                <a:spAutoFit/>
              </a:bodyPr>
              <a:lstStyle/>
              <a:p>
                <a:pPr algn="l">
                  <a:spcAft>
                    <a:spcPts val="800"/>
                  </a:spcAft>
                </a:pPr>
                <a:r>
                  <a:rPr sz="2300">
                    <a:solidFill>
                      <a:srgbClr val="1E293B"/>
                    </a:solidFill>
                    <a:latin typeface="Calibri"/>
                  </a:rPr>
                  <a:t>a)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2</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+d</m:t>
                    </m:r>
                  </m:oMath>
                </a14:m>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3</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+2d</m:t>
                    </m:r>
                  </m:oMath>
                </a14:m>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4</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+3d</m:t>
                    </m:r>
                  </m:oMath>
                </a14:m>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5</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+4d</m:t>
                    </m:r>
                  </m:oMath>
                </a14:m>
                <a:r>
                  <a:rPr sz="2300">
                    <a:solidFill>
                      <a:srgbClr val="1E293B"/>
                    </a:solidFill>
                    <a:latin typeface="Calibri"/>
                  </a:rPr>
                  <a:t>. b)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+(n−1)d</m:t>
                    </m:r>
                  </m:oMath>
                </a14:m>
                <a:r>
                  <a:rPr sz="2300">
                    <a:solidFill>
                      <a:srgbClr val="1E293B"/>
                    </a:solidFill>
                    <a:latin typeface="Calibri"/>
                  </a:rPr>
                  <a:t>.</a:t>
                </a:r>
              </a:p>
            </p:txBody>
          </p:sp>
        </mc:Choice>
        <mc:Fallback>
          <p:sp>
            <p:nvSpPr>
              <p:cNvPr id="9" name="TextBox 8"/>
              <p:cNvSpPr txBox="1"/>
              <p:nvPr/>
            </p:nvSpPr>
            <p:spPr>
              <a:xfrm>
                <a:off x="713232" y="2785872"/>
                <a:ext cx="10735056" cy="542543"/>
              </a:xfrm>
              <a:prstGeom prst="rect">
                <a:avLst/>
              </a:prstGeom>
              <a:noFill/>
            </p:spPr>
            <p:txBody>
              <a:bodyPr wrap="square" anchor="ctr" lIns="45720" rIns="45720">
                <a:spAutoFit/>
              </a:bodyPr>
              <a:lstStyle/>
              <a:p>
                <a:pPr algn="l">
                  <a:spcAft>
                    <a:spcPts val="800"/>
                  </a:spcAft>
                </a:pPr>
                <a:r>
                  <a:rPr sz="2300">
                    <a:solidFill>
                      <a:srgbClr val="1E293B"/>
                    </a:solidFill>
                    <a:latin typeface="Calibri"/>
                  </a:rPr>
                  <a:t>a) </a:t>
                </a:r>
                <a:r>
                  <a:rPr lang="vi-VN"/>
                  <a:t>u_2=u_1+d</a:t>
                </a:r>
                <a:r>
                  <a:rPr sz="2300">
                    <a:solidFill>
                      <a:srgbClr val="1E293B"/>
                    </a:solidFill>
                    <a:latin typeface="Calibri"/>
                  </a:rPr>
                  <a:t>, </a:t>
                </a:r>
                <a:r>
                  <a:rPr lang="vi-VN"/>
                  <a:t>u_3=u_1+2d</a:t>
                </a:r>
                <a:r>
                  <a:rPr sz="2300">
                    <a:solidFill>
                      <a:srgbClr val="1E293B"/>
                    </a:solidFill>
                    <a:latin typeface="Calibri"/>
                  </a:rPr>
                  <a:t>, </a:t>
                </a:r>
                <a:r>
                  <a:rPr lang="vi-VN"/>
                  <a:t>u_4=u_1+3d</a:t>
                </a:r>
                <a:r>
                  <a:rPr sz="2300">
                    <a:solidFill>
                      <a:srgbClr val="1E293B"/>
                    </a:solidFill>
                    <a:latin typeface="Calibri"/>
                  </a:rPr>
                  <a:t>, </a:t>
                </a:r>
                <a:r>
                  <a:rPr lang="vi-VN"/>
                  <a:t>u_5=u_1+4d</a:t>
                </a:r>
                <a:r>
                  <a:rPr sz="2300">
                    <a:solidFill>
                      <a:srgbClr val="1E293B"/>
                    </a:solidFill>
                    <a:latin typeface="Calibri"/>
                  </a:rPr>
                  <a:t>. b) </a:t>
                </a:r>
                <a:r>
                  <a:rPr lang="vi-VN"/>
                  <a:t>u_n=u_1+(n-1)d</a:t>
                </a:r>
                <a:r>
                  <a:rPr sz="2300">
                    <a:solidFill>
                      <a:srgbClr val="1E293B"/>
                    </a:solidFill>
                    <a:latin typeface="Calibri"/>
                  </a:rPr>
                  <a:t>.</a:t>
                </a:r>
              </a:p>
            </p:txBody>
          </p:sp>
        </mc:Fallback>
      </mc:AlternateContent>
      <p:sp>
        <p:nvSpPr>
          <p:cNvPr id="10" name="s2_nen"/>
          <p:cNvSpPr/>
          <p:nvPr/>
        </p:nvSpPr>
        <p:spPr>
          <a:xfrm>
            <a:off x="548640" y="3593592"/>
            <a:ext cx="11064240" cy="96621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630168"/>
                <a:ext cx="10735056" cy="893064"/>
              </a:xfrm>
              <a:prstGeom prst="rect">
                <a:avLst/>
              </a:prstGeom>
              <a:noFill/>
            </p:spPr>
            <p:txBody>
              <a:bodyPr wrap="square" anchor="ctr" lIns="45720" rIns="45720">
                <a:spAutoFit/>
              </a:bodyPr>
              <a:lstStyle/>
              <a:p>
                <a:pPr algn="l">
                  <a:spcAft>
                    <a:spcPts val="800"/>
                  </a:spcAft>
                </a:pPr>
                <a:r>
                  <a:rPr sz="2600">
                    <a:solidFill>
                      <a:srgbClr val="1E293B"/>
                    </a:solidFill>
                    <a:latin typeface="Calibri"/>
                  </a:rPr>
                  <a:t>Nếu cấp số cộng </a:t>
                </a:r>
                <a14:m>
                  <m:oMath xmlns:m="http://schemas.openxmlformats.org/officeDocument/2006/math">
                    <m:d>
                      <m:dPr>
                        <m:sepChr m:val=""/>
                      </m:dPr>
                      <m:e>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n</m:t>
                            </m:r>
                          </m:sub>
                        </m:sSub>
                      </m:e>
                    </m:d>
                  </m:oMath>
                </a14:m>
                <a:r>
                  <a:rPr sz="2600">
                    <a:solidFill>
                      <a:srgbClr val="1E293B"/>
                    </a:solidFill>
                    <a:latin typeface="Calibri"/>
                  </a:rPr>
                  <a:t> có số hạng đầu </a:t>
                </a:r>
                <a14:m>
                  <m:oMath xmlns:m="http://schemas.openxmlformats.org/officeDocument/2006/math">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1</m:t>
                        </m:r>
                      </m:sub>
                    </m:sSub>
                  </m:oMath>
                </a14:m>
                <a:r>
                  <a:rPr sz="2600">
                    <a:solidFill>
                      <a:srgbClr val="1E293B"/>
                    </a:solidFill>
                    <a:latin typeface="Calibri"/>
                  </a:rPr>
                  <a:t> và công sai </a:t>
                </a:r>
                <a14:m>
                  <m:oMath xmlns:m="http://schemas.openxmlformats.org/officeDocument/2006/math">
                    <m:r>
                      <a:rPr lang="vi-VN" sz="2600" b="0">
                        <a:solidFill>
                          <a:srgbClr val="1E293B"/>
                        </a:solidFill>
                        <a:latin typeface="Cambria Math" panose="02040503050406030204" pitchFamily="18" charset="0"/>
                      </a:rPr>
                      <m:t>d</m:t>
                    </m:r>
                  </m:oMath>
                </a14:m>
                <a:r>
                  <a:rPr sz="2600">
                    <a:solidFill>
                      <a:srgbClr val="1E293B"/>
                    </a:solidFill>
                    <a:latin typeface="Calibri"/>
                  </a:rPr>
                  <a:t> thì </a:t>
                </a:r>
                <a:r>
                  <a:rPr sz="2600" b="1">
                    <a:solidFill>
                      <a:srgbClr val="1E293B"/>
                    </a:solidFill>
                    <a:latin typeface="Calibri"/>
                  </a:rPr>
                  <a:t>số hạng tổng quát</a:t>
                </a:r>
                <a:r>
                  <a:rPr sz="2600">
                    <a:solidFill>
                      <a:srgbClr val="1E293B"/>
                    </a:solidFill>
                    <a:latin typeface="Calibri"/>
                  </a:rPr>
                  <a:t> </a:t>
                </a:r>
                <a14:m>
                  <m:oMath xmlns:m="http://schemas.openxmlformats.org/officeDocument/2006/math">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n</m:t>
                        </m:r>
                      </m:sub>
                    </m:sSub>
                  </m:oMath>
                </a14:m>
                <a:r>
                  <a:rPr sz="2600">
                    <a:solidFill>
                      <a:srgbClr val="1E293B"/>
                    </a:solidFill>
                    <a:latin typeface="Calibri"/>
                  </a:rPr>
                  <a:t> của nó được xác định theo công thức </a:t>
                </a:r>
                <a14:m>
                  <m:oMath xmlns:m="http://schemas.openxmlformats.org/officeDocument/2006/math">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n</m:t>
                        </m:r>
                      </m:sub>
                    </m:sSub>
                    <m:r>
                      <a:rPr lang="vi-VN" sz="2600" b="0">
                        <a:solidFill>
                          <a:srgbClr val="1E293B"/>
                        </a:solidFill>
                        <a:latin typeface="Cambria Math" panose="02040503050406030204" pitchFamily="18" charset="0"/>
                      </a:rPr>
                      <m:t>=</m:t>
                    </m:r>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1</m:t>
                        </m:r>
                      </m:sub>
                    </m:sSub>
                    <m:r>
                      <a:rPr lang="vi-VN" sz="2600" b="0">
                        <a:solidFill>
                          <a:srgbClr val="1E293B"/>
                        </a:solidFill>
                        <a:latin typeface="Cambria Math" panose="02040503050406030204" pitchFamily="18" charset="0"/>
                      </a:rPr>
                      <m:t>+(n−1)d</m:t>
                    </m:r>
                  </m:oMath>
                </a14:m>
                <a:r>
                  <a:rPr sz="2600">
                    <a:solidFill>
                      <a:srgbClr val="1E293B"/>
                    </a:solidFill>
                    <a:latin typeface="Calibri"/>
                  </a:rPr>
                  <a:t>.</a:t>
                </a:r>
              </a:p>
            </p:txBody>
          </p:sp>
        </mc:Choice>
        <mc:Fallback>
          <p:sp>
            <p:nvSpPr>
              <p:cNvPr id="11" name="TextBox 10"/>
              <p:cNvSpPr txBox="1"/>
              <p:nvPr/>
            </p:nvSpPr>
            <p:spPr>
              <a:xfrm>
                <a:off x="713232" y="3630168"/>
                <a:ext cx="10735056" cy="893064"/>
              </a:xfrm>
              <a:prstGeom prst="rect">
                <a:avLst/>
              </a:prstGeom>
              <a:noFill/>
            </p:spPr>
            <p:txBody>
              <a:bodyPr wrap="square" anchor="ctr" lIns="45720" rIns="45720">
                <a:spAutoFit/>
              </a:bodyPr>
              <a:lstStyle/>
              <a:p>
                <a:pPr algn="l">
                  <a:spcAft>
                    <a:spcPts val="800"/>
                  </a:spcAft>
                </a:pPr>
                <a:r>
                  <a:rPr sz="2600">
                    <a:solidFill>
                      <a:srgbClr val="1E293B"/>
                    </a:solidFill>
                    <a:latin typeface="Calibri"/>
                  </a:rPr>
                  <a:t>Nếu cấp số cộng </a:t>
                </a:r>
                <a:r>
                  <a:rPr lang="vi-VN"/>
                  <a:t>(u_n)</a:t>
                </a:r>
                <a:r>
                  <a:rPr sz="2600">
                    <a:solidFill>
                      <a:srgbClr val="1E293B"/>
                    </a:solidFill>
                    <a:latin typeface="Calibri"/>
                  </a:rPr>
                  <a:t> có số hạng đầu </a:t>
                </a:r>
                <a:r>
                  <a:rPr lang="vi-VN"/>
                  <a:t>u_1</a:t>
                </a:r>
                <a:r>
                  <a:rPr sz="2600">
                    <a:solidFill>
                      <a:srgbClr val="1E293B"/>
                    </a:solidFill>
                    <a:latin typeface="Calibri"/>
                  </a:rPr>
                  <a:t> và công sai </a:t>
                </a:r>
                <a:r>
                  <a:rPr lang="vi-VN"/>
                  <a:t>d</a:t>
                </a:r>
                <a:r>
                  <a:rPr sz="2600">
                    <a:solidFill>
                      <a:srgbClr val="1E293B"/>
                    </a:solidFill>
                    <a:latin typeface="Calibri"/>
                  </a:rPr>
                  <a:t> thì </a:t>
                </a:r>
                <a:r>
                  <a:rPr sz="2600" b="1">
                    <a:solidFill>
                      <a:srgbClr val="1E293B"/>
                    </a:solidFill>
                    <a:latin typeface="Calibri"/>
                  </a:rPr>
                  <a:t>số hạng tổng quát</a:t>
                </a:r>
                <a:r>
                  <a:rPr sz="2600">
                    <a:solidFill>
                      <a:srgbClr val="1E293B"/>
                    </a:solidFill>
                    <a:latin typeface="Calibri"/>
                  </a:rPr>
                  <a:t> </a:t>
                </a:r>
                <a:r>
                  <a:rPr lang="vi-VN"/>
                  <a:t>u_n</a:t>
                </a:r>
                <a:r>
                  <a:rPr sz="2600">
                    <a:solidFill>
                      <a:srgbClr val="1E293B"/>
                    </a:solidFill>
                    <a:latin typeface="Calibri"/>
                  </a:rPr>
                  <a:t> của nó được xác định theo công thức </a:t>
                </a:r>
                <a:r>
                  <a:rPr lang="vi-VN"/>
                  <a:t>u_n=u_1+(n-1)d</a:t>
                </a:r>
                <a:r>
                  <a:rPr sz="26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 VÍ DỤ 4 – LUYỆN TẬP 2 (SGK TR.49)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9</a:t>
            </a:r>
          </a:p>
        </p:txBody>
      </p:sp>
      <mc:AlternateContent xmlns:mc="http://schemas.openxmlformats.org/markup-compatibility/2006">
        <mc:Choice xmlns:a14="http://schemas.microsoft.com/office/drawing/2010/main" Requires="a14">
          <p:sp>
            <p:nvSpPr>
              <p:cNvPr id="7" name="TextBox 6"/>
              <p:cNvSpPr txBox="1"/>
              <p:nvPr/>
            </p:nvSpPr>
            <p:spPr>
              <a:xfrm>
                <a:off x="548640" y="155448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3.</a:t>
                </a:r>
                <a:r>
                  <a:rPr sz="2200">
                    <a:solidFill>
                      <a:srgbClr val="1E293B"/>
                    </a:solidFill>
                    <a:latin typeface="Calibri"/>
                  </a:rPr>
                  <a:t> Năm số hạng đầu và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oMath>
                </a14:m>
                <a:r>
                  <a:rPr sz="2200">
                    <a:solidFill>
                      <a:srgbClr val="1E293B"/>
                    </a:solidFill>
                    <a:latin typeface="Calibri"/>
                  </a:rPr>
                  <a:t> của cấp số cộng </a:t>
                </a:r>
                <a14:m>
                  <m:oMath xmlns:m="http://schemas.openxmlformats.org/officeDocument/2006/math">
                    <m:r>
                      <a:rPr lang="vi-VN" sz="2200" b="0">
                        <a:solidFill>
                          <a:srgbClr val="1E293B"/>
                        </a:solidFill>
                        <a:latin typeface="Cambria Math" panose="02040503050406030204" pitchFamily="18" charset="0"/>
                      </a:rPr>
                      <m:t>10,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5,…</m:t>
                    </m:r>
                  </m:oMath>
                </a14:m>
                <a:r>
                  <a:rPr sz="2200">
                    <a:solidFill>
                      <a:srgbClr val="1E293B"/>
                    </a:solidFill>
                    <a:latin typeface="Calibri"/>
                  </a:rPr>
                  <a:t>  </a:t>
                </a:r>
                <a:r>
                  <a:rPr sz="2200" b="1">
                    <a:solidFill>
                      <a:srgbClr val="1E293B"/>
                    </a:solidFill>
                    <a:latin typeface="Calibri"/>
                  </a:rPr>
                  <a:t>Ví dụ 4.</a:t>
                </a:r>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m:t>
                        </m:r>
                      </m:sub>
                    </m:sSub>
                    <m:r>
                      <a:rPr lang="vi-VN" sz="2200" b="0">
                        <a:solidFill>
                          <a:srgbClr val="1E293B"/>
                        </a:solidFill>
                        <a:latin typeface="Cambria Math" panose="02040503050406030204" pitchFamily="18" charset="0"/>
                      </a:rPr>
                      <m:t>=48</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18</m:t>
                        </m:r>
                      </m:sub>
                    </m:sSub>
                    <m:r>
                      <a:rPr lang="vi-VN" sz="2200" b="0">
                        <a:solidFill>
                          <a:srgbClr val="1E293B"/>
                        </a:solidFill>
                        <a:latin typeface="Cambria Math" panose="02040503050406030204" pitchFamily="18" charset="0"/>
                      </a:rPr>
                      <m:t>=88</m:t>
                    </m:r>
                  </m:oMath>
                </a14:m>
                <a:r>
                  <a:rPr sz="2200">
                    <a:solidFill>
                      <a:srgbClr val="1E293B"/>
                    </a:solidFill>
                    <a:latin typeface="Calibri"/>
                  </a:rPr>
                  <a:t>. Tìm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oMath>
                </a14:m>
                <a:r>
                  <a:rPr sz="2200">
                    <a:solidFill>
                      <a:srgbClr val="1E293B"/>
                    </a:solidFill>
                    <a:latin typeface="Calibri"/>
                  </a:rPr>
                  <a:t>.</a:t>
                </a:r>
              </a:p>
            </p:txBody>
          </p:sp>
        </mc:Choice>
        <mc:Fallback>
          <p:sp>
            <p:nvSpPr>
              <p:cNvPr id="7" name="TextBox 6"/>
              <p:cNvSpPr txBox="1"/>
              <p:nvPr/>
            </p:nvSpPr>
            <p:spPr>
              <a:xfrm>
                <a:off x="548640" y="155448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3.</a:t>
                </a:r>
                <a:r>
                  <a:rPr sz="2200">
                    <a:solidFill>
                      <a:srgbClr val="1E293B"/>
                    </a:solidFill>
                    <a:latin typeface="Calibri"/>
                  </a:rPr>
                  <a:t> Năm số hạng đầu và </a:t>
                </a:r>
                <a:r>
                  <a:rPr lang="vi-VN"/>
                  <a:t>u_{100}</a:t>
                </a:r>
                <a:r>
                  <a:rPr sz="2200">
                    <a:solidFill>
                      <a:srgbClr val="1E293B"/>
                    </a:solidFill>
                    <a:latin typeface="Calibri"/>
                  </a:rPr>
                  <a:t> của cấp số cộng </a:t>
                </a:r>
                <a:r>
                  <a:rPr lang="vi-VN"/>
                  <a:t>10,\ 5,\ldots</a:t>
                </a:r>
                <a:r>
                  <a:rPr sz="2200">
                    <a:solidFill>
                      <a:srgbClr val="1E293B"/>
                    </a:solidFill>
                    <a:latin typeface="Calibri"/>
                  </a:rPr>
                  <a:t>  </a:t>
                </a:r>
                <a:r>
                  <a:rPr sz="2200" b="1">
                    <a:solidFill>
                      <a:srgbClr val="1E293B"/>
                    </a:solidFill>
                    <a:latin typeface="Calibri"/>
                  </a:rPr>
                  <a:t>Ví dụ 4.</a:t>
                </a:r>
                <a:r>
                  <a:rPr sz="2200">
                    <a:solidFill>
                      <a:srgbClr val="1E293B"/>
                    </a:solidFill>
                    <a:latin typeface="Calibri"/>
                  </a:rPr>
                  <a:t> </a:t>
                </a:r>
                <a:r>
                  <a:rPr lang="vi-VN"/>
                  <a:t>u_{10}=48</a:t>
                </a:r>
                <a:r>
                  <a:rPr sz="2200">
                    <a:solidFill>
                      <a:srgbClr val="1E293B"/>
                    </a:solidFill>
                    <a:latin typeface="Calibri"/>
                  </a:rPr>
                  <a:t>, </a:t>
                </a:r>
                <a:r>
                  <a:rPr lang="vi-VN"/>
                  <a:t>u_{18}=88</a:t>
                </a:r>
                <a:r>
                  <a:rPr sz="2200">
                    <a:solidFill>
                      <a:srgbClr val="1E293B"/>
                    </a:solidFill>
                    <a:latin typeface="Calibri"/>
                  </a:rPr>
                  <a:t>. Tìm </a:t>
                </a:r>
                <a:r>
                  <a:rPr lang="vi-VN"/>
                  <a:t>u_{100}</a:t>
                </a:r>
                <a:r>
                  <a:rPr sz="2200">
                    <a:solidFill>
                      <a:srgbClr val="1E293B"/>
                    </a:solidFill>
                    <a:latin typeface="Calibri"/>
                  </a:rPr>
                  <a:t>.</a:t>
                </a:r>
              </a:p>
            </p:txBody>
          </p:sp>
        </mc:Fallback>
      </mc:AlternateContent>
      <p:sp>
        <p:nvSpPr>
          <p:cNvPr id="8" name="s1_nen"/>
          <p:cNvSpPr/>
          <p:nvPr/>
        </p:nvSpPr>
        <p:spPr>
          <a:xfrm>
            <a:off x="548640" y="2535936"/>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7251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Ví dụ 3: </a:t>
                </a:r>
                <a14:m>
                  <m:oMath xmlns:m="http://schemas.openxmlformats.org/officeDocument/2006/math">
                    <m:r>
                      <a:rPr lang="vi-VN" sz="2200" b="0">
                        <a:solidFill>
                          <a:srgbClr val="1E293B"/>
                        </a:solidFill>
                        <a:latin typeface="Cambria Math" panose="02040503050406030204" pitchFamily="18" charset="0"/>
                      </a:rPr>
                      <m:t>d=−5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10,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−10</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=10+99·(−5)=−485</m:t>
                    </m:r>
                  </m:oMath>
                </a14:m>
                <a:r>
                  <a:rPr sz="2200">
                    <a:solidFill>
                      <a:srgbClr val="1E293B"/>
                    </a:solidFill>
                    <a:latin typeface="Calibri"/>
                  </a:rPr>
                  <a:t>.</a:t>
                </a:r>
              </a:p>
            </p:txBody>
          </p:sp>
        </mc:Choice>
        <mc:Fallback>
          <p:sp>
            <p:nvSpPr>
              <p:cNvPr id="9" name="TextBox 8"/>
              <p:cNvSpPr txBox="1"/>
              <p:nvPr/>
            </p:nvSpPr>
            <p:spPr>
              <a:xfrm>
                <a:off x="713232" y="257251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Ví dụ 3: </a:t>
                </a:r>
                <a:r>
                  <a:rPr lang="vi-VN"/>
                  <a:t>d=-5</a:t>
                </a:r>
                <a:r>
                  <a:rPr sz="2200">
                    <a:solidFill>
                      <a:srgbClr val="1E293B"/>
                    </a:solidFill>
                    <a:latin typeface="Calibri"/>
                  </a:rPr>
                  <a:t>; </a:t>
                </a:r>
                <a:r>
                  <a:rPr lang="vi-VN"/>
                  <a:t>10,\ 5,\ 0,\ -5,\ -10</a:t>
                </a:r>
                <a:r>
                  <a:rPr sz="2200">
                    <a:solidFill>
                      <a:srgbClr val="1E293B"/>
                    </a:solidFill>
                    <a:latin typeface="Calibri"/>
                  </a:rPr>
                  <a:t>; </a:t>
                </a:r>
                <a:r>
                  <a:rPr lang="vi-VN"/>
                  <a:t>u_{100}=10+99\cdot(-5)=-485</a:t>
                </a:r>
                <a:r>
                  <a:rPr sz="2200">
                    <a:solidFill>
                      <a:srgbClr val="1E293B"/>
                    </a:solidFill>
                    <a:latin typeface="Calibri"/>
                  </a:rPr>
                  <a:t>.</a:t>
                </a:r>
              </a:p>
            </p:txBody>
          </p:sp>
        </mc:Fallback>
      </mc:AlternateContent>
      <p:sp>
        <p:nvSpPr>
          <p:cNvPr id="10" name="s2_nen"/>
          <p:cNvSpPr/>
          <p:nvPr/>
        </p:nvSpPr>
        <p:spPr>
          <a:xfrm>
            <a:off x="548640" y="3273552"/>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310128"/>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Ví dụ 4: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+9d=48</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+17d=88⇒</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=3</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d=5</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=3+99·5=498</m:t>
                    </m:r>
                  </m:oMath>
                </a14:m>
                <a:r>
                  <a:rPr sz="2200">
                    <a:solidFill>
                      <a:srgbClr val="1E293B"/>
                    </a:solidFill>
                    <a:latin typeface="Calibri"/>
                  </a:rPr>
                  <a:t>.</a:t>
                </a:r>
              </a:p>
            </p:txBody>
          </p:sp>
        </mc:Choice>
        <mc:Fallback>
          <p:sp>
            <p:nvSpPr>
              <p:cNvPr id="11" name="TextBox 10"/>
              <p:cNvSpPr txBox="1"/>
              <p:nvPr/>
            </p:nvSpPr>
            <p:spPr>
              <a:xfrm>
                <a:off x="713232" y="3310128"/>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Ví dụ 4: </a:t>
                </a:r>
                <a:r>
                  <a:rPr lang="vi-VN"/>
                  <a:t>u_1+9d=48</a:t>
                </a:r>
                <a:r>
                  <a:rPr sz="2200">
                    <a:solidFill>
                      <a:srgbClr val="1E293B"/>
                    </a:solidFill>
                    <a:latin typeface="Calibri"/>
                  </a:rPr>
                  <a:t>, </a:t>
                </a:r>
                <a:r>
                  <a:rPr lang="vi-VN"/>
                  <a:t>u_1+17d=88\Rightarrow u_1=3</a:t>
                </a:r>
                <a:r>
                  <a:rPr sz="2200">
                    <a:solidFill>
                      <a:srgbClr val="1E293B"/>
                    </a:solidFill>
                    <a:latin typeface="Calibri"/>
                  </a:rPr>
                  <a:t>, </a:t>
                </a:r>
                <a:r>
                  <a:rPr lang="vi-VN"/>
                  <a:t>d=5</a:t>
                </a:r>
                <a:r>
                  <a:rPr sz="2200">
                    <a:solidFill>
                      <a:srgbClr val="1E293B"/>
                    </a:solidFill>
                    <a:latin typeface="Calibri"/>
                  </a:rPr>
                  <a:t>; </a:t>
                </a:r>
                <a:r>
                  <a:rPr lang="vi-VN"/>
                  <a:t>u_{100}=3+99\cdot 5=498</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4011168"/>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2.</a:t>
                </a:r>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=4n−3</m:t>
                    </m:r>
                  </m:oMath>
                </a14:m>
                <a:r>
                  <a:rPr sz="2200">
                    <a:solidFill>
                      <a:srgbClr val="1E293B"/>
                    </a:solidFill>
                    <a:latin typeface="Calibri"/>
                  </a:rPr>
                  <a:t>: chứng minh là cấp số cộng, xác định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m:t>
                    </m:r>
                  </m:oMath>
                </a14:m>
                <a:r>
                  <a:rPr sz="2200">
                    <a:solidFill>
                      <a:srgbClr val="1E293B"/>
                    </a:solidFill>
                    <a:latin typeface="Calibri"/>
                  </a:rPr>
                  <a:t> và viết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+(n−1)d</m:t>
                    </m:r>
                  </m:oMath>
                </a14:m>
                <a:r>
                  <a:rPr sz="2200">
                    <a:solidFill>
                      <a:srgbClr val="1E293B"/>
                    </a:solidFill>
                    <a:latin typeface="Calibri"/>
                  </a:rPr>
                  <a:t>.</a:t>
                </a:r>
              </a:p>
            </p:txBody>
          </p:sp>
        </mc:Choice>
        <mc:Fallback>
          <p:sp>
            <p:nvSpPr>
              <p:cNvPr id="12" name="TextBox 11"/>
              <p:cNvSpPr txBox="1"/>
              <p:nvPr/>
            </p:nvSpPr>
            <p:spPr>
              <a:xfrm>
                <a:off x="548640" y="4011168"/>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2.</a:t>
                </a:r>
                <a:r>
                  <a:rPr sz="2200">
                    <a:solidFill>
                      <a:srgbClr val="1E293B"/>
                    </a:solidFill>
                    <a:latin typeface="Calibri"/>
                  </a:rPr>
                  <a:t> </a:t>
                </a:r>
                <a:r>
                  <a:rPr lang="vi-VN"/>
                  <a:t>u_n=4n-3</a:t>
                </a:r>
                <a:r>
                  <a:rPr sz="2200">
                    <a:solidFill>
                      <a:srgbClr val="1E293B"/>
                    </a:solidFill>
                    <a:latin typeface="Calibri"/>
                  </a:rPr>
                  <a:t>: chứng minh là cấp số cộng, xác định </a:t>
                </a:r>
                <a:r>
                  <a:rPr lang="vi-VN"/>
                  <a:t>u_1</a:t>
                </a:r>
                <a:r>
                  <a:rPr sz="2200">
                    <a:solidFill>
                      <a:srgbClr val="1E293B"/>
                    </a:solidFill>
                    <a:latin typeface="Calibri"/>
                  </a:rPr>
                  <a:t>, </a:t>
                </a:r>
                <a:r>
                  <a:rPr lang="vi-VN"/>
                  <a:t>d</a:t>
                </a:r>
                <a:r>
                  <a:rPr sz="2200">
                    <a:solidFill>
                      <a:srgbClr val="1E293B"/>
                    </a:solidFill>
                    <a:latin typeface="Calibri"/>
                  </a:rPr>
                  <a:t> và viết </a:t>
                </a:r>
                <a:r>
                  <a:rPr lang="vi-VN"/>
                  <a:t>u_n=u_1+(n-1)d</a:t>
                </a:r>
                <a:r>
                  <a:rPr sz="2200">
                    <a:solidFill>
                      <a:srgbClr val="1E293B"/>
                    </a:solidFill>
                    <a:latin typeface="Calibri"/>
                  </a:rPr>
                  <a:t>.</a:t>
                </a:r>
              </a:p>
            </p:txBody>
          </p:sp>
        </mc:Fallback>
      </mc:AlternateContent>
      <p:sp>
        <p:nvSpPr>
          <p:cNvPr id="13" name="s4_nen"/>
          <p:cNvSpPr/>
          <p:nvPr/>
        </p:nvSpPr>
        <p:spPr>
          <a:xfrm>
            <a:off x="548640" y="4992624"/>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029200"/>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=4</m:t>
                    </m:r>
                  </m:oMath>
                </a14:m>
                <a:r>
                  <a:rPr sz="2200">
                    <a:solidFill>
                      <a:srgbClr val="1E293B"/>
                    </a:solidFill>
                    <a:latin typeface="Calibri"/>
                  </a:rPr>
                  <a:t>: cấp số cộng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=1</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d=4</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=1+(n−1)·4</m:t>
                    </m:r>
                  </m:oMath>
                </a14:m>
                <a:r>
                  <a:rPr sz="2200">
                    <a:solidFill>
                      <a:srgbClr val="1E293B"/>
                    </a:solidFill>
                    <a:latin typeface="Calibri"/>
                  </a:rPr>
                  <a:t>.</a:t>
                </a:r>
              </a:p>
            </p:txBody>
          </p:sp>
        </mc:Choice>
        <mc:Fallback>
          <p:sp>
            <p:nvSpPr>
              <p:cNvPr id="14" name="TextBox 13"/>
              <p:cNvSpPr txBox="1"/>
              <p:nvPr/>
            </p:nvSpPr>
            <p:spPr>
              <a:xfrm>
                <a:off x="713232" y="5029200"/>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u_n-u_{n-1}=4</a:t>
                </a:r>
                <a:r>
                  <a:rPr sz="2200">
                    <a:solidFill>
                      <a:srgbClr val="1E293B"/>
                    </a:solidFill>
                    <a:latin typeface="Calibri"/>
                  </a:rPr>
                  <a:t>: cấp số cộng </a:t>
                </a:r>
                <a:r>
                  <a:rPr lang="vi-VN"/>
                  <a:t>u_1=1</a:t>
                </a:r>
                <a:r>
                  <a:rPr sz="2200">
                    <a:solidFill>
                      <a:srgbClr val="1E293B"/>
                    </a:solidFill>
                    <a:latin typeface="Calibri"/>
                  </a:rPr>
                  <a:t>, </a:t>
                </a:r>
                <a:r>
                  <a:rPr lang="vi-VN"/>
                  <a:t>d=4</a:t>
                </a:r>
                <a:r>
                  <a:rPr sz="2200">
                    <a:solidFill>
                      <a:srgbClr val="1E293B"/>
                    </a:solidFill>
                    <a:latin typeface="Calibri"/>
                  </a:rPr>
                  <a:t>; </a:t>
                </a:r>
                <a:r>
                  <a:rPr lang="vi-VN"/>
                  <a:t>u_n=1+(n-1)\cdot 4</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AI NHANH HƠN?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10</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Từng cặp ghi đáp án lên bảng con. Mỗi câu 20 giây.</a:t>
            </a:r>
          </a:p>
        </p:txBody>
      </p:sp>
      <mc:AlternateContent xmlns:mc="http://schemas.openxmlformats.org/markup-compatibility/2006">
        <mc:Choice xmlns:a14="http://schemas.microsoft.com/office/drawing/2010/main" Requires="a14">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Cấp số cộng </a:t>
                </a:r>
                <a14:m>
                  <m:oMath xmlns:m="http://schemas.openxmlformats.org/officeDocument/2006/math">
                    <m:r>
                      <a:rPr lang="vi-VN" sz="2200" b="0">
                        <a:solidFill>
                          <a:srgbClr val="1E293B"/>
                        </a:solidFill>
                        <a:latin typeface="Cambria Math" panose="02040503050406030204" pitchFamily="18" charset="0"/>
                      </a:rPr>
                      <m:t>3,</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7,</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11,…</m:t>
                    </m:r>
                  </m:oMath>
                </a14:m>
                <a:r>
                  <a:rPr sz="2200">
                    <a:solidFill>
                      <a:srgbClr val="1E293B"/>
                    </a:solidFill>
                    <a:latin typeface="Calibri"/>
                  </a:rPr>
                  <a:t>:</a:t>
                </a:r>
              </a:p>
            </p:txBody>
          </p:sp>
        </mc:Choice>
        <mc:Fallback>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Cấp số cộng </a:t>
                </a:r>
                <a:r>
                  <a:rPr lang="vi-VN"/>
                  <a:t>3,\ 7,\ 11,\ldots</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68879"/>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Công sai </a:t>
                </a:r>
                <a14:m>
                  <m:oMath xmlns:m="http://schemas.openxmlformats.org/officeDocument/2006/math">
                    <m:r>
                      <a:rPr lang="vi-VN" sz="2400" b="0">
                        <a:solidFill>
                          <a:srgbClr val="1E293B"/>
                        </a:solidFill>
                        <a:latin typeface="Cambria Math" panose="02040503050406030204" pitchFamily="18" charset="0"/>
                      </a:rPr>
                      <m:t>d=</m:t>
                    </m:r>
                  </m:oMath>
                </a14:m>
                <a:r>
                  <a:rPr sz="2400">
                    <a:solidFill>
                      <a:srgbClr val="1E293B"/>
                    </a:solidFill>
                    <a:latin typeface="Calibri"/>
                  </a:rPr>
                  <a:t>?</a:t>
                </a:r>
              </a:p>
            </p:txBody>
          </p:sp>
        </mc:Choice>
        <mc:Fallback>
          <p:sp>
            <p:nvSpPr>
              <p:cNvPr id="9" name="TextBox 8"/>
              <p:cNvSpPr txBox="1"/>
              <p:nvPr/>
            </p:nvSpPr>
            <p:spPr>
              <a:xfrm>
                <a:off x="548640" y="2468879"/>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Công sai </a:t>
                </a:r>
                <a:r>
                  <a:rPr lang="vi-VN"/>
                  <a:t>d=</a:t>
                </a:r>
                <a:r>
                  <a:rPr sz="2400">
                    <a:solidFill>
                      <a:srgbClr val="1E293B"/>
                    </a:solidFill>
                    <a:latin typeface="Calibri"/>
                  </a:rPr>
                  <a:t>?</a:t>
                </a:r>
              </a:p>
            </p:txBody>
          </p:sp>
        </mc:Fallback>
      </mc:AlternateContent>
      <p:sp>
        <p:nvSpPr>
          <p:cNvPr id="10" name="s1_nen"/>
          <p:cNvSpPr/>
          <p:nvPr/>
        </p:nvSpPr>
        <p:spPr>
          <a:xfrm>
            <a:off x="5029200" y="242316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5193792" y="245973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4</m:t>
                    </m:r>
                  </m:oMath>
                </a14:m>
              </a:p>
            </p:txBody>
          </p:sp>
        </mc:Choice>
        <mc:Fallback>
          <p:sp>
            <p:nvSpPr>
              <p:cNvPr id="11" name="TextBox 10"/>
              <p:cNvSpPr txBox="1"/>
              <p:nvPr/>
            </p:nvSpPr>
            <p:spPr>
              <a:xfrm>
                <a:off x="5193792" y="245973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4</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3417570"/>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oMath>
                </a14:m>
                <a:r>
                  <a:rPr sz="2400">
                    <a:solidFill>
                      <a:srgbClr val="1E293B"/>
                    </a:solidFill>
                    <a:latin typeface="Calibri"/>
                  </a:rPr>
                  <a:t>?</a:t>
                </a:r>
              </a:p>
            </p:txBody>
          </p:sp>
        </mc:Choice>
        <mc:Fallback>
          <p:sp>
            <p:nvSpPr>
              <p:cNvPr id="12" name="TextBox 11"/>
              <p:cNvSpPr txBox="1"/>
              <p:nvPr/>
            </p:nvSpPr>
            <p:spPr>
              <a:xfrm>
                <a:off x="548640" y="3417570"/>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r>
                  <a:rPr lang="vi-VN"/>
                  <a:t>u_{10}=</a:t>
                </a:r>
                <a:r>
                  <a:rPr sz="2400">
                    <a:solidFill>
                      <a:srgbClr val="1E293B"/>
                    </a:solidFill>
                    <a:latin typeface="Calibri"/>
                  </a:rPr>
                  <a:t>?</a:t>
                </a:r>
              </a:p>
            </p:txBody>
          </p:sp>
        </mc:Fallback>
      </mc:AlternateContent>
      <p:sp>
        <p:nvSpPr>
          <p:cNvPr id="13" name="s2_nen"/>
          <p:cNvSpPr/>
          <p:nvPr/>
        </p:nvSpPr>
        <p:spPr>
          <a:xfrm>
            <a:off x="5029200" y="337185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2_chu"/>
              <p:cNvSpPr txBox="1"/>
              <p:nvPr/>
            </p:nvSpPr>
            <p:spPr>
              <a:xfrm>
                <a:off x="5193792" y="340842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39</m:t>
                    </m:r>
                  </m:oMath>
                </a14:m>
              </a:p>
            </p:txBody>
          </p:sp>
        </mc:Choice>
        <mc:Fallback>
          <p:sp>
            <p:nvSpPr>
              <p:cNvPr id="14" name="TextBox 13"/>
              <p:cNvSpPr txBox="1"/>
              <p:nvPr/>
            </p:nvSpPr>
            <p:spPr>
              <a:xfrm>
                <a:off x="5193792" y="340842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39</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548640" y="4366259"/>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oMath>
                </a14:m>
                <a:r>
                  <a:rPr sz="2400">
                    <a:solidFill>
                      <a:srgbClr val="1E293B"/>
                    </a:solidFill>
                    <a:latin typeface="Calibri"/>
                  </a:rPr>
                  <a:t>?</a:t>
                </a:r>
              </a:p>
            </p:txBody>
          </p:sp>
        </mc:Choice>
        <mc:Fallback>
          <p:sp>
            <p:nvSpPr>
              <p:cNvPr id="15" name="TextBox 14"/>
              <p:cNvSpPr txBox="1"/>
              <p:nvPr/>
            </p:nvSpPr>
            <p:spPr>
              <a:xfrm>
                <a:off x="548640" y="4366259"/>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r>
                  <a:rPr lang="vi-VN"/>
                  <a:t>u_n=</a:t>
                </a:r>
                <a:r>
                  <a:rPr sz="2400">
                    <a:solidFill>
                      <a:srgbClr val="1E293B"/>
                    </a:solidFill>
                    <a:latin typeface="Calibri"/>
                  </a:rPr>
                  <a:t>?</a:t>
                </a:r>
              </a:p>
            </p:txBody>
          </p:sp>
        </mc:Fallback>
      </mc:AlternateContent>
      <p:sp>
        <p:nvSpPr>
          <p:cNvPr id="16" name="s3_nen"/>
          <p:cNvSpPr/>
          <p:nvPr/>
        </p:nvSpPr>
        <p:spPr>
          <a:xfrm>
            <a:off x="5029200" y="432054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3_chu"/>
              <p:cNvSpPr txBox="1"/>
              <p:nvPr/>
            </p:nvSpPr>
            <p:spPr>
              <a:xfrm>
                <a:off x="5193792" y="435711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4n−1</m:t>
                    </m:r>
                  </m:oMath>
                </a14:m>
              </a:p>
            </p:txBody>
          </p:sp>
        </mc:Choice>
        <mc:Fallback>
          <p:sp>
            <p:nvSpPr>
              <p:cNvPr id="17" name="TextBox 16"/>
              <p:cNvSpPr txBox="1"/>
              <p:nvPr/>
            </p:nvSpPr>
            <p:spPr>
              <a:xfrm>
                <a:off x="5193792" y="435711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4n-1</a:t>
                </a:r>
              </a:p>
            </p:txBody>
          </p:sp>
        </mc:Fallback>
      </mc:AlternateContent>
      <p:sp>
        <p:nvSpPr>
          <p:cNvPr id="18" name="TextBox 17"/>
          <p:cNvSpPr txBox="1"/>
          <p:nvPr/>
        </p:nvSpPr>
        <p:spPr>
          <a:xfrm>
            <a:off x="548640" y="5314950"/>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Số 99 là số hạng thứ?</a:t>
            </a:r>
          </a:p>
        </p:txBody>
      </p:sp>
      <p:sp>
        <p:nvSpPr>
          <p:cNvPr id="19" name="s4_nen"/>
          <p:cNvSpPr/>
          <p:nvPr/>
        </p:nvSpPr>
        <p:spPr>
          <a:xfrm>
            <a:off x="5029200" y="526923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0" name="s4_chu"/>
              <p:cNvSpPr txBox="1"/>
              <p:nvPr/>
            </p:nvSpPr>
            <p:spPr>
              <a:xfrm>
                <a:off x="5193792" y="530580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25</m:t>
                    </m:r>
                  </m:oMath>
                </a14:m>
              </a:p>
            </p:txBody>
          </p:sp>
        </mc:Choice>
        <mc:Fallback>
          <p:sp>
            <p:nvSpPr>
              <p:cNvPr id="20" name="TextBox 19"/>
              <p:cNvSpPr txBox="1"/>
              <p:nvPr/>
            </p:nvSpPr>
            <p:spPr>
              <a:xfrm>
                <a:off x="5193792" y="530580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25</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11</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Cấp số cộng: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+d</m:t>
                    </m:r>
                  </m:oMath>
                </a14:m>
                <a:r>
                  <a:rPr sz="2200">
                    <a:solidFill>
                      <a:srgbClr val="1E293B"/>
                    </a:solidFill>
                    <a:latin typeface="Calibri"/>
                  </a:rPr>
                  <a:t> </a:t>
                </a:r>
                <a14:m>
                  <m:oMath xmlns:m="http://schemas.openxmlformats.org/officeDocument/2006/math">
                    <m:d>
                      <m:dPr>
                        <m:sepChr m:val="≥"/>
                      </m:dPr>
                      <m:e>
                        <m:r>
                          <a:rPr lang="vi-VN" sz="2200" b="0">
                            <a:solidFill>
                              <a:srgbClr val="1E293B"/>
                            </a:solidFill>
                            <a:latin typeface="Cambria Math" panose="02040503050406030204" pitchFamily="18" charset="0"/>
                          </a:rPr>
                          <m:t>n</m:t>
                        </m:r>
                      </m:e>
                      <m:e>
                        <m:r>
                          <a:rPr lang="vi-VN" sz="2200" b="0">
                            <a:solidFill>
                              <a:srgbClr val="1E293B"/>
                            </a:solidFill>
                            <a:latin typeface="Cambria Math" panose="02040503050406030204" pitchFamily="18" charset="0"/>
                          </a:rPr>
                          <m:t>2</m:t>
                        </m:r>
                      </m:e>
                    </m:d>
                  </m:oMath>
                </a14:m>
                <a:r>
                  <a:rPr sz="2200">
                    <a:solidFill>
                      <a:srgbClr val="1E293B"/>
                    </a:solidFill>
                    <a:latin typeface="Calibri"/>
                  </a:rPr>
                  <a:t>; chứng minh: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oMath>
                </a14:m>
                <a:r>
                  <a:rPr sz="2200">
                    <a:solidFill>
                      <a:srgbClr val="1E293B"/>
                    </a:solidFill>
                    <a:latin typeface="Calibri"/>
                  </a:rPr>
                  <a:t> không đổi.</a:t>
                </a:r>
              </a:p>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+(n−1)d</m:t>
                    </m:r>
                  </m:oMath>
                </a14:m>
                <a:r>
                  <a:rPr sz="2200">
                    <a:solidFill>
                      <a:srgbClr val="1E293B"/>
                    </a:solidFill>
                    <a:latin typeface="Calibri"/>
                  </a:rPr>
                  <a:t>.</a:t>
                </a:r>
              </a:p>
            </p:txBody>
          </p:sp>
        </mc:Choice>
        <mc:Fallback>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Cấp số cộng: </a:t>
                </a:r>
                <a:r>
                  <a:rPr lang="vi-VN"/>
                  <a:t>u_n=u_{n-1}+d</a:t>
                </a:r>
                <a:r>
                  <a:rPr sz="2200">
                    <a:solidFill>
                      <a:srgbClr val="1E293B"/>
                    </a:solidFill>
                    <a:latin typeface="Calibri"/>
                  </a:rPr>
                  <a:t> </a:t>
                </a:r>
                <a:r>
                  <a:rPr lang="vi-VN"/>
                  <a:t>(n\ge 2)</a:t>
                </a:r>
                <a:r>
                  <a:rPr sz="2200">
                    <a:solidFill>
                      <a:srgbClr val="1E293B"/>
                    </a:solidFill>
                    <a:latin typeface="Calibri"/>
                  </a:rPr>
                  <a:t>; chứng minh: </a:t>
                </a:r>
                <a:r>
                  <a:rPr lang="vi-VN"/>
                  <a:t>u_n-u_{n-1}</a:t>
                </a:r>
                <a:r>
                  <a:rPr sz="2200">
                    <a:solidFill>
                      <a:srgbClr val="1E293B"/>
                    </a:solidFill>
                    <a:latin typeface="Calibri"/>
                  </a:rPr>
                  <a:t> không đổi.</a:t>
                </a:r>
              </a:p>
              <a:p>
                <a:pPr algn="l" marL="365760" indent="-365760">
                  <a:spcAft>
                    <a:spcPts val="800"/>
                  </a:spcAft>
                  <a:buClr>
                    <a:srgbClr val="1E40AF"/>
                  </a:buClr>
                  <a:buFont typeface="Arial"/>
                  <a:buChar char="•"/>
                </a:pPr>
                <a:r>
                  <a:rPr lang="vi-VN"/>
                  <a:t>u_n=u_1+(n-1)d</a:t>
                </a:r>
                <a:r>
                  <a:rPr sz="2200">
                    <a:solidFill>
                      <a:srgbClr val="1E293B"/>
                    </a:solidFill>
                    <a:latin typeface="Calibri"/>
                  </a:rPr>
                  <a:t>.</a:t>
                </a:r>
              </a:p>
            </p:txBody>
          </p:sp>
        </mc:Fallback>
      </mc:AlternateContent>
      <p:sp>
        <p:nvSpPr>
          <p:cNvPr id="9" name="Rounded Rectangle 8"/>
          <p:cNvSpPr/>
          <p:nvPr/>
        </p:nvSpPr>
        <p:spPr>
          <a:xfrm>
            <a:off x="548640" y="272796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6453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2.8, 2.9, 2.10 (SGK tr.51).</a:t>
            </a:r>
          </a:p>
          <a:p>
            <a:pPr algn="l" marL="365760" indent="-365760">
              <a:spcAft>
                <a:spcPts val="800"/>
              </a:spcAft>
              <a:buClr>
                <a:srgbClr val="1E40AF"/>
              </a:buClr>
              <a:buFont typeface="Arial"/>
              <a:buChar char="•"/>
            </a:pPr>
            <a:r>
              <a:rPr sz="2200">
                <a:solidFill>
                  <a:srgbClr val="1E293B"/>
                </a:solidFill>
                <a:latin typeface="Calibri"/>
              </a:rPr>
              <a:t>Đọc trước mục 3 (SGK tr.50).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(T14)</a:t>
            </a:r>
          </a:p>
          <a:p>
            <a:pPr>
              <a:spcAft>
                <a:spcPts val="600"/>
              </a:spcAft>
            </a:pPr>
            <a:r>
              <a:rPr sz="4000" b="1">
                <a:solidFill>
                  <a:srgbClr val="FFFFFF"/>
                </a:solidFill>
                <a:latin typeface="Cambria"/>
              </a:rPr>
              <a:t>Tổng n số hạng đầu của một cấp số cộng</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Tính tổng n số hạng đầu của cấp số cộng.</a:t>
            </a:r>
          </a:p>
          <a:p>
            <a:pPr algn="l">
              <a:spcAft>
                <a:spcPts val="800"/>
              </a:spcAft>
            </a:pPr>
            <a:r>
              <a:rPr sz="2200">
                <a:solidFill>
                  <a:srgbClr val="E0E7FF"/>
                </a:solidFill>
                <a:latin typeface="Calibri"/>
              </a:rPr>
              <a:t>• Giải bài toán thực tiễn gắn với cấp số cộng.</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3. TỔNG n SỐ HẠNG ĐẦU – HĐ3 (SGK TR.50)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13</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HĐ3.</a:t>
                </a:r>
                <a:r>
                  <a:rPr sz="2200">
                    <a:solidFill>
                      <a:srgbClr val="1E293B"/>
                    </a:solidFill>
                    <a:latin typeface="Calibri"/>
                  </a:rPr>
                  <a:t> Cho cấp số cộng </a:t>
                </a:r>
                <a14:m>
                  <m:oMath xmlns:m="http://schemas.openxmlformats.org/officeDocument/2006/math">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a) Biểu diễn mỗi số hạng theo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m:t>
                    </m:r>
                  </m:oMath>
                </a14:m>
                <a:r>
                  <a:rPr sz="2200">
                    <a:solidFill>
                      <a:srgbClr val="1E293B"/>
                    </a:solidFill>
                    <a:latin typeface="Calibri"/>
                  </a:rPr>
                  <a:t>. b) Viết </a:t>
                </a:r>
                <a14:m>
                  <m:oMath xmlns:m="http://schemas.openxmlformats.org/officeDocument/2006/math">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theo thứ tự ngược lại. c) Cộng hai đẳng thức để tính </a:t>
                </a:r>
                <a14:m>
                  <m:oMath xmlns:m="http://schemas.openxmlformats.org/officeDocument/2006/math">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a:t>
                </a:r>
              </a:p>
            </p:txBody>
          </p:sp>
        </mc:Choice>
        <mc:Fallback>
          <p:sp>
            <p:nvSpPr>
              <p:cNvPr id="7" name="TextBox 6"/>
              <p:cNvSpPr txBox="1"/>
              <p:nvPr/>
            </p:nvSpPr>
            <p:spPr>
              <a:xfrm>
                <a:off x="548640" y="146304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HĐ3.</a:t>
                </a:r>
                <a:r>
                  <a:rPr sz="2200">
                    <a:solidFill>
                      <a:srgbClr val="1E293B"/>
                    </a:solidFill>
                    <a:latin typeface="Calibri"/>
                  </a:rPr>
                  <a:t> Cho cấp số cộng </a:t>
                </a:r>
                <a:r>
                  <a:rPr lang="vi-VN"/>
                  <a:t>(u_n)</a:t>
                </a:r>
                <a:r>
                  <a:rPr sz="2200">
                    <a:solidFill>
                      <a:srgbClr val="1E293B"/>
                    </a:solidFill>
                    <a:latin typeface="Calibri"/>
                  </a:rPr>
                  <a:t>, </a:t>
                </a:r>
                <a:r>
                  <a:rPr lang="vi-VN"/>
                  <a:t>S_n=u_1+u_2+\ldots+u_n</a:t>
                </a:r>
                <a:r>
                  <a:rPr sz="2200">
                    <a:solidFill>
                      <a:srgbClr val="1E293B"/>
                    </a:solidFill>
                    <a:latin typeface="Calibri"/>
                  </a:rPr>
                  <a:t>. a) Biểu diễn mỗi số hạng theo </a:t>
                </a:r>
                <a:r>
                  <a:rPr lang="vi-VN"/>
                  <a:t>u_1</a:t>
                </a:r>
                <a:r>
                  <a:rPr sz="2200">
                    <a:solidFill>
                      <a:srgbClr val="1E293B"/>
                    </a:solidFill>
                    <a:latin typeface="Calibri"/>
                  </a:rPr>
                  <a:t>, </a:t>
                </a:r>
                <a:r>
                  <a:rPr lang="vi-VN"/>
                  <a:t>d</a:t>
                </a:r>
                <a:r>
                  <a:rPr sz="2200">
                    <a:solidFill>
                      <a:srgbClr val="1E293B"/>
                    </a:solidFill>
                    <a:latin typeface="Calibri"/>
                  </a:rPr>
                  <a:t>. b) Viết </a:t>
                </a:r>
                <a:r>
                  <a:rPr lang="vi-VN"/>
                  <a:t>S_n</a:t>
                </a:r>
                <a:r>
                  <a:rPr sz="2200">
                    <a:solidFill>
                      <a:srgbClr val="1E293B"/>
                    </a:solidFill>
                    <a:latin typeface="Calibri"/>
                  </a:rPr>
                  <a:t> theo thứ tự ngược lại. c) Cộng hai đẳng thức để tính </a:t>
                </a:r>
                <a:r>
                  <a:rPr lang="vi-VN"/>
                  <a:t>S_n</a:t>
                </a:r>
                <a:r>
                  <a:rPr sz="2200">
                    <a:solidFill>
                      <a:srgbClr val="1E293B"/>
                    </a:solidFill>
                    <a:latin typeface="Calibri"/>
                  </a:rPr>
                  <a:t>.</a:t>
                </a:r>
              </a:p>
            </p:txBody>
          </p:sp>
        </mc:Fallback>
      </mc:AlternateContent>
      <p:sp>
        <p:nvSpPr>
          <p:cNvPr id="8" name="s1_nen"/>
          <p:cNvSpPr/>
          <p:nvPr/>
        </p:nvSpPr>
        <p:spPr>
          <a:xfrm>
            <a:off x="548640" y="2490216"/>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2679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Mỗi cặp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k</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n+1−k</m:t>
                        </m:r>
                      </m:sub>
                    </m:sSub>
                    <m:r>
                      <a:rPr lang="vi-VN" sz="2200" b="0">
                        <a:solidFill>
                          <a:srgbClr val="1E293B"/>
                        </a:solidFill>
                        <a:latin typeface="Cambria Math" panose="02040503050406030204" pitchFamily="18" charset="0"/>
                      </a:rPr>
                      <m:t>=2</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+(n−1)d</m:t>
                    </m:r>
                  </m:oMath>
                </a14:m>
                <a:r>
                  <a:rPr sz="2200">
                    <a:solidFill>
                      <a:srgbClr val="1E293B"/>
                    </a:solidFill>
                    <a:latin typeface="Calibri"/>
                  </a:rPr>
                  <a:t>; có </a:t>
                </a:r>
                <a14:m>
                  <m:oMath xmlns:m="http://schemas.openxmlformats.org/officeDocument/2006/math">
                    <m:r>
                      <a:rPr lang="vi-VN" sz="2200" b="0">
                        <a:solidFill>
                          <a:srgbClr val="1E293B"/>
                        </a:solidFill>
                        <a:latin typeface="Cambria Math" panose="02040503050406030204" pitchFamily="18" charset="0"/>
                      </a:rPr>
                      <m:t>n</m:t>
                    </m:r>
                  </m:oMath>
                </a14:m>
                <a:r>
                  <a:rPr sz="2200">
                    <a:solidFill>
                      <a:srgbClr val="1E293B"/>
                    </a:solidFill>
                    <a:latin typeface="Calibri"/>
                  </a:rPr>
                  <a:t> cặp: </a:t>
                </a:r>
                <a14:m>
                  <m:oMath xmlns:m="http://schemas.openxmlformats.org/officeDocument/2006/math">
                    <m:r>
                      <a:rPr lang="vi-VN" sz="2200" b="0">
                        <a:solidFill>
                          <a:srgbClr val="1E293B"/>
                        </a:solidFill>
                        <a:latin typeface="Cambria Math" panose="02040503050406030204" pitchFamily="18" charset="0"/>
                      </a:rPr>
                      <m:t>2</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=n[2</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+(n−1)d]</m:t>
                    </m:r>
                  </m:oMath>
                </a14:m>
                <a:r>
                  <a:rPr sz="2200">
                    <a:solidFill>
                      <a:srgbClr val="1E293B"/>
                    </a:solidFill>
                    <a:latin typeface="Calibri"/>
                  </a:rPr>
                  <a:t>.</a:t>
                </a:r>
              </a:p>
            </p:txBody>
          </p:sp>
        </mc:Choice>
        <mc:Fallback>
          <p:sp>
            <p:nvSpPr>
              <p:cNvPr id="9" name="TextBox 8"/>
              <p:cNvSpPr txBox="1"/>
              <p:nvPr/>
            </p:nvSpPr>
            <p:spPr>
              <a:xfrm>
                <a:off x="713232" y="252679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Mỗi cặp </a:t>
                </a:r>
                <a:r>
                  <a:rPr lang="vi-VN"/>
                  <a:t>u_k+u_{n+1-k}=2u_1+(n-1)d</a:t>
                </a:r>
                <a:r>
                  <a:rPr sz="2200">
                    <a:solidFill>
                      <a:srgbClr val="1E293B"/>
                    </a:solidFill>
                    <a:latin typeface="Calibri"/>
                  </a:rPr>
                  <a:t>; có </a:t>
                </a:r>
                <a:r>
                  <a:rPr lang="vi-VN"/>
                  <a:t>n</a:t>
                </a:r>
                <a:r>
                  <a:rPr sz="2200">
                    <a:solidFill>
                      <a:srgbClr val="1E293B"/>
                    </a:solidFill>
                    <a:latin typeface="Calibri"/>
                  </a:rPr>
                  <a:t> cặp: </a:t>
                </a:r>
                <a:r>
                  <a:rPr lang="vi-VN"/>
                  <a:t>2S_n=n[2u_1+(n-1)d]</a:t>
                </a:r>
                <a:r>
                  <a:rPr sz="2200">
                    <a:solidFill>
                      <a:srgbClr val="1E293B"/>
                    </a:solidFill>
                    <a:latin typeface="Calibri"/>
                  </a:rPr>
                  <a:t>.</a:t>
                </a:r>
              </a:p>
            </p:txBody>
          </p:sp>
        </mc:Fallback>
      </mc:AlternateContent>
      <p:sp>
        <p:nvSpPr>
          <p:cNvPr id="10" name="s2_nen"/>
          <p:cNvSpPr/>
          <p:nvPr/>
        </p:nvSpPr>
        <p:spPr>
          <a:xfrm>
            <a:off x="548640" y="3273552"/>
            <a:ext cx="11064240" cy="10866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310128"/>
                <a:ext cx="10735056" cy="1013460"/>
              </a:xfrm>
              <a:prstGeom prst="rect">
                <a:avLst/>
              </a:prstGeom>
              <a:noFill/>
            </p:spPr>
            <p:txBody>
              <a:bodyPr wrap="square" anchor="ctr" lIns="45720" rIns="45720">
                <a:spAutoFit/>
              </a:bodyPr>
              <a:lstStyle/>
              <a:p>
                <a:pPr algn="l">
                  <a:spcAft>
                    <a:spcPts val="800"/>
                  </a:spcAft>
                </a:pPr>
                <a:r>
                  <a:rPr sz="2400">
                    <a:solidFill>
                      <a:srgbClr val="1E293B"/>
                    </a:solidFill>
                    <a:latin typeface="Calibri"/>
                  </a:rPr>
                  <a:t>Cho cấp số cộng </a:t>
                </a:r>
                <a14:m>
                  <m:oMath xmlns:m="http://schemas.openxmlformats.org/officeDocument/2006/math">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công sai </a:t>
                </a:r>
                <a14:m>
                  <m:oMath xmlns:m="http://schemas.openxmlformats.org/officeDocument/2006/math">
                    <m:r>
                      <a:rPr lang="vi-VN" sz="2400" b="0">
                        <a:solidFill>
                          <a:srgbClr val="1E293B"/>
                        </a:solidFill>
                        <a:latin typeface="Cambria Math" panose="02040503050406030204" pitchFamily="18" charset="0"/>
                      </a:rPr>
                      <m:t>d</m:t>
                    </m:r>
                  </m:oMath>
                </a14:m>
                <a:r>
                  <a:rPr sz="2400">
                    <a:solidFill>
                      <a:srgbClr val="1E293B"/>
                    </a:solidFill>
                    <a:latin typeface="Calibri"/>
                  </a:rPr>
                  <a:t>. Đặt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Khi đó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+(n−1)d]</m:t>
                    </m:r>
                  </m:oMath>
                </a14:m>
                <a:r>
                  <a:rPr sz="2400">
                    <a:solidFill>
                      <a:srgbClr val="1E293B"/>
                    </a:solidFill>
                    <a:latin typeface="Calibri"/>
                  </a:rPr>
                  <a:t>.</a:t>
                </a:r>
              </a:p>
            </p:txBody>
          </p:sp>
        </mc:Choice>
        <mc:Fallback>
          <p:sp>
            <p:nvSpPr>
              <p:cNvPr id="11" name="TextBox 10"/>
              <p:cNvSpPr txBox="1"/>
              <p:nvPr/>
            </p:nvSpPr>
            <p:spPr>
              <a:xfrm>
                <a:off x="713232" y="3310128"/>
                <a:ext cx="10735056" cy="1013460"/>
              </a:xfrm>
              <a:prstGeom prst="rect">
                <a:avLst/>
              </a:prstGeom>
              <a:noFill/>
            </p:spPr>
            <p:txBody>
              <a:bodyPr wrap="square" anchor="ctr" lIns="45720" rIns="45720">
                <a:spAutoFit/>
              </a:bodyPr>
              <a:lstStyle/>
              <a:p>
                <a:pPr algn="l">
                  <a:spcAft>
                    <a:spcPts val="800"/>
                  </a:spcAft>
                </a:pPr>
                <a:r>
                  <a:rPr sz="2400">
                    <a:solidFill>
                      <a:srgbClr val="1E293B"/>
                    </a:solidFill>
                    <a:latin typeface="Calibri"/>
                  </a:rPr>
                  <a:t>Cho cấp số cộng </a:t>
                </a:r>
                <a:r>
                  <a:rPr lang="vi-VN"/>
                  <a:t>(u_n)</a:t>
                </a:r>
                <a:r>
                  <a:rPr sz="2400">
                    <a:solidFill>
                      <a:srgbClr val="1E293B"/>
                    </a:solidFill>
                    <a:latin typeface="Calibri"/>
                  </a:rPr>
                  <a:t> với công sai </a:t>
                </a:r>
                <a:r>
                  <a:rPr lang="vi-VN"/>
                  <a:t>d</a:t>
                </a:r>
                <a:r>
                  <a:rPr sz="2400">
                    <a:solidFill>
                      <a:srgbClr val="1E293B"/>
                    </a:solidFill>
                    <a:latin typeface="Calibri"/>
                  </a:rPr>
                  <a:t>. Đặt </a:t>
                </a:r>
                <a:r>
                  <a:rPr lang="vi-VN"/>
                  <a:t>S_n=u_1+u_2+\ldots+u_n</a:t>
                </a:r>
                <a:r>
                  <a:rPr sz="2400">
                    <a:solidFill>
                      <a:srgbClr val="1E293B"/>
                    </a:solidFill>
                    <a:latin typeface="Calibri"/>
                  </a:rPr>
                  <a:t>. Khi đó </a:t>
                </a:r>
                <a:r>
                  <a:rPr lang="vi-VN"/>
                  <a:t>S_n=\frac{n}{2}[2u_1+(n-1)d]</a:t>
                </a:r>
                <a:r>
                  <a:rPr sz="2400">
                    <a:solidFill>
                      <a:srgbClr val="1E293B"/>
                    </a:solidFill>
                    <a:latin typeface="Calibri"/>
                  </a:rPr>
                  <a:t>.</a:t>
                </a:r>
              </a:p>
            </p:txBody>
          </p:sp>
        </mc:Fallback>
      </mc:AlternateContent>
      <p:sp>
        <p:nvSpPr>
          <p:cNvPr id="12" name="s3_nen"/>
          <p:cNvSpPr/>
          <p:nvPr/>
        </p:nvSpPr>
        <p:spPr>
          <a:xfrm>
            <a:off x="548640" y="4543044"/>
            <a:ext cx="11064240" cy="751331"/>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579620"/>
                <a:ext cx="10735056" cy="678179"/>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Chú ý.</a:t>
                </a:r>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a:t>
                </a:r>
              </a:p>
            </p:txBody>
          </p:sp>
        </mc:Choice>
        <mc:Fallback>
          <p:sp>
            <p:nvSpPr>
              <p:cNvPr id="13" name="TextBox 12"/>
              <p:cNvSpPr txBox="1"/>
              <p:nvPr/>
            </p:nvSpPr>
            <p:spPr>
              <a:xfrm>
                <a:off x="713232" y="4579620"/>
                <a:ext cx="10735056" cy="678179"/>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Chú ý.</a:t>
                </a:r>
                <a:r>
                  <a:rPr sz="2400">
                    <a:solidFill>
                      <a:srgbClr val="1E293B"/>
                    </a:solidFill>
                    <a:latin typeface="Calibri"/>
                  </a:rPr>
                  <a:t> </a:t>
                </a:r>
                <a:r>
                  <a:rPr lang="vi-VN"/>
                  <a:t>S_n=\frac{n(u_1+u_n)}{2}</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5 – VÍ DỤ 6 (SGK TR.50)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14</a:t>
            </a:r>
          </a:p>
        </p:txBody>
      </p:sp>
      <p:sp>
        <p:nvSpPr>
          <p:cNvPr id="7" name="TextBox 6"/>
          <p:cNvSpPr txBox="1"/>
          <p:nvPr/>
        </p:nvSpPr>
        <p:spPr>
          <a:xfrm>
            <a:off x="548640" y="1554480"/>
            <a:ext cx="11064240" cy="52425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5.</a:t>
            </a:r>
            <a:r>
              <a:rPr sz="2300">
                <a:solidFill>
                  <a:srgbClr val="1E293B"/>
                </a:solidFill>
                <a:latin typeface="Calibri"/>
              </a:rPr>
              <a:t> Giải bài toán ở tình huống mở đầu (25 hàng; 16, 18, 20,… ghế).</a:t>
            </a:r>
          </a:p>
        </p:txBody>
      </p:sp>
      <p:sp>
        <p:nvSpPr>
          <p:cNvPr id="8" name="s1_nen"/>
          <p:cNvSpPr/>
          <p:nvPr/>
        </p:nvSpPr>
        <p:spPr>
          <a:xfrm>
            <a:off x="548640" y="2215896"/>
            <a:ext cx="11064240" cy="112395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2472"/>
                <a:ext cx="10735056" cy="1050798"/>
              </a:xfrm>
              <a:prstGeom prst="rect">
                <a:avLst/>
              </a:prstGeom>
              <a:noFill/>
            </p:spPr>
            <p:txBody>
              <a:bodyPr wrap="square" anchor="ctr" lIns="45720" rIns="45720">
                <a:spAutoFit/>
              </a:bodyPr>
              <a:lstStyle/>
              <a:p>
                <a:pPr algn="l">
                  <a:spcAft>
                    <a:spcPts val="800"/>
                  </a:spcAft>
                </a:pPr>
                <a:r>
                  <a:rPr sz="2300">
                    <a:solidFill>
                      <a:srgbClr val="1E293B"/>
                    </a:solidFill>
                    <a:latin typeface="Calibri"/>
                  </a:rPr>
                  <a:t>Số ghế mỗi hàng lập thành cấp số cộng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=16</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d=2</m:t>
                    </m:r>
                  </m:oMath>
                </a14:m>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S</m:t>
                        </m:r>
                      </m:e>
                      <m:sub>
                        <m:r>
                          <a:rPr lang="vi-VN" sz="2300" b="0">
                            <a:solidFill>
                              <a:srgbClr val="1E293B"/>
                            </a:solidFill>
                            <a:latin typeface="Cambria Math" panose="02040503050406030204" pitchFamily="18" charset="0"/>
                          </a:rPr>
                          <m:t>25</m:t>
                        </m:r>
                      </m:sub>
                    </m:sSub>
                    <m:r>
                      <a:rPr lang="vi-VN" sz="2300" b="0">
                        <a:solidFill>
                          <a:srgbClr val="1E293B"/>
                        </a:solidFill>
                        <a:latin typeface="Cambria Math" panose="02040503050406030204" pitchFamily="18" charset="0"/>
                      </a:rPr>
                      <m:t>=</m:t>
                    </m:r>
                    <m:f>
                      <m:fPr>
                        <m:type m:val="bar"/>
                      </m:fPr>
                      <m:num>
                        <m:r>
                          <a:rPr lang="vi-VN" sz="2300" b="0">
                            <a:solidFill>
                              <a:srgbClr val="1E293B"/>
                            </a:solidFill>
                            <a:latin typeface="Cambria Math" panose="02040503050406030204" pitchFamily="18" charset="0"/>
                          </a:rPr>
                          <m:t>25</m:t>
                        </m:r>
                      </m:num>
                      <m:den>
                        <m:r>
                          <a:rPr lang="vi-VN" sz="2300" b="0">
                            <a:solidFill>
                              <a:srgbClr val="1E293B"/>
                            </a:solidFill>
                            <a:latin typeface="Cambria Math" panose="02040503050406030204" pitchFamily="18" charset="0"/>
                          </a:rPr>
                          <m:t>2</m:t>
                        </m:r>
                      </m:den>
                    </m:f>
                    <m:r>
                      <a:rPr lang="vi-VN" sz="2300" b="0">
                        <a:solidFill>
                          <a:srgbClr val="1E293B"/>
                        </a:solidFill>
                        <a:latin typeface="Cambria Math" panose="02040503050406030204" pitchFamily="18" charset="0"/>
                      </a:rPr>
                      <m:t>[2·16+24·2]=1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000</m:t>
                    </m:r>
                  </m:oMath>
                </a14:m>
                <a:r>
                  <a:rPr sz="2300">
                    <a:solidFill>
                      <a:srgbClr val="1E293B"/>
                    </a:solidFill>
                    <a:latin typeface="Calibri"/>
                  </a:rPr>
                  <a:t>. Nhà hát có 1 000 ghế.</a:t>
                </a:r>
              </a:p>
            </p:txBody>
          </p:sp>
        </mc:Choice>
        <mc:Fallback>
          <p:sp>
            <p:nvSpPr>
              <p:cNvPr id="9" name="TextBox 8"/>
              <p:cNvSpPr txBox="1"/>
              <p:nvPr/>
            </p:nvSpPr>
            <p:spPr>
              <a:xfrm>
                <a:off x="713232" y="2252472"/>
                <a:ext cx="10735056" cy="1050798"/>
              </a:xfrm>
              <a:prstGeom prst="rect">
                <a:avLst/>
              </a:prstGeom>
              <a:noFill/>
            </p:spPr>
            <p:txBody>
              <a:bodyPr wrap="square" anchor="ctr" lIns="45720" rIns="45720">
                <a:spAutoFit/>
              </a:bodyPr>
              <a:lstStyle/>
              <a:p>
                <a:pPr algn="l">
                  <a:spcAft>
                    <a:spcPts val="800"/>
                  </a:spcAft>
                </a:pPr>
                <a:r>
                  <a:rPr sz="2300">
                    <a:solidFill>
                      <a:srgbClr val="1E293B"/>
                    </a:solidFill>
                    <a:latin typeface="Calibri"/>
                  </a:rPr>
                  <a:t>Số ghế mỗi hàng lập thành cấp số cộng </a:t>
                </a:r>
                <a:r>
                  <a:rPr lang="vi-VN"/>
                  <a:t>u_1=16</a:t>
                </a:r>
                <a:r>
                  <a:rPr sz="2300">
                    <a:solidFill>
                      <a:srgbClr val="1E293B"/>
                    </a:solidFill>
                    <a:latin typeface="Calibri"/>
                  </a:rPr>
                  <a:t>, </a:t>
                </a:r>
                <a:r>
                  <a:rPr lang="vi-VN"/>
                  <a:t>d=2</a:t>
                </a:r>
                <a:r>
                  <a:rPr sz="2300">
                    <a:solidFill>
                      <a:srgbClr val="1E293B"/>
                    </a:solidFill>
                    <a:latin typeface="Calibri"/>
                  </a:rPr>
                  <a:t>: </a:t>
                </a:r>
                <a:r>
                  <a:rPr lang="vi-VN"/>
                  <a:t>S_{25}=\frac{25}{2}[2\cdot 16+24\cdot 2]=1\ 000</a:t>
                </a:r>
                <a:r>
                  <a:rPr sz="2300">
                    <a:solidFill>
                      <a:srgbClr val="1E293B"/>
                    </a:solidFill>
                    <a:latin typeface="Calibri"/>
                  </a:rPr>
                  <a:t>. Nhà hát có 1 000 ghế.</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477006"/>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6.</a:t>
                </a:r>
                <a:r>
                  <a:rPr sz="2300">
                    <a:solidFill>
                      <a:srgbClr val="1E293B"/>
                    </a:solidFill>
                    <a:latin typeface="Calibri"/>
                  </a:rPr>
                  <a:t> Cần lấy tổng của bao nhiêu số hạng đầu của cấp số cộng </a:t>
                </a:r>
                <a14:m>
                  <m:oMath xmlns:m="http://schemas.openxmlformats.org/officeDocument/2006/math">
                    <m:r>
                      <a:rPr lang="vi-VN" sz="2300" b="0">
                        <a:solidFill>
                          <a:srgbClr val="1E293B"/>
                        </a:solidFill>
                        <a:latin typeface="Cambria Math" panose="02040503050406030204" pitchFamily="18" charset="0"/>
                      </a:rPr>
                      <m:t>2,</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5,</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8,…</m:t>
                    </m:r>
                  </m:oMath>
                </a14:m>
                <a:r>
                  <a:rPr sz="2300">
                    <a:solidFill>
                      <a:srgbClr val="1E293B"/>
                    </a:solidFill>
                    <a:latin typeface="Calibri"/>
                  </a:rPr>
                  <a:t> để được 345?</a:t>
                </a:r>
              </a:p>
            </p:txBody>
          </p:sp>
        </mc:Choice>
        <mc:Fallback>
          <p:sp>
            <p:nvSpPr>
              <p:cNvPr id="10" name="TextBox 9"/>
              <p:cNvSpPr txBox="1"/>
              <p:nvPr/>
            </p:nvSpPr>
            <p:spPr>
              <a:xfrm>
                <a:off x="548640" y="3477006"/>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6.</a:t>
                </a:r>
                <a:r>
                  <a:rPr sz="2300">
                    <a:solidFill>
                      <a:srgbClr val="1E293B"/>
                    </a:solidFill>
                    <a:latin typeface="Calibri"/>
                  </a:rPr>
                  <a:t> Cần lấy tổng của bao nhiêu số hạng đầu của cấp số cộng </a:t>
                </a:r>
                <a:r>
                  <a:rPr lang="vi-VN"/>
                  <a:t>2,\ 5,\ 8,\ldots</a:t>
                </a:r>
                <a:r>
                  <a:rPr sz="2300">
                    <a:solidFill>
                      <a:srgbClr val="1E293B"/>
                    </a:solidFill>
                    <a:latin typeface="Calibri"/>
                  </a:rPr>
                  <a:t> để được 345?</a:t>
                </a:r>
              </a:p>
            </p:txBody>
          </p:sp>
        </mc:Fallback>
      </mc:AlternateContent>
      <p:sp>
        <p:nvSpPr>
          <p:cNvPr id="11" name="s3_nen"/>
          <p:cNvSpPr/>
          <p:nvPr/>
        </p:nvSpPr>
        <p:spPr>
          <a:xfrm>
            <a:off x="548640" y="4488942"/>
            <a:ext cx="11064240" cy="93116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525518"/>
                <a:ext cx="10735056" cy="858011"/>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=2</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d=3</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345=</m:t>
                    </m:r>
                    <m:f>
                      <m:fPr>
                        <m:type m:val="bar"/>
                      </m:fPr>
                      <m:num>
                        <m:r>
                          <a:rPr lang="vi-VN" sz="2300" b="0">
                            <a:solidFill>
                              <a:srgbClr val="1E293B"/>
                            </a:solidFill>
                            <a:latin typeface="Cambria Math" panose="02040503050406030204" pitchFamily="18" charset="0"/>
                          </a:rPr>
                          <m:t>n</m:t>
                        </m:r>
                      </m:num>
                      <m:den>
                        <m:r>
                          <a:rPr lang="vi-VN" sz="2300" b="0">
                            <a:solidFill>
                              <a:srgbClr val="1E293B"/>
                            </a:solidFill>
                            <a:latin typeface="Cambria Math" panose="02040503050406030204" pitchFamily="18" charset="0"/>
                          </a:rPr>
                          <m:t>2</m:t>
                        </m:r>
                      </m:den>
                    </m:f>
                    <m:r>
                      <a:rPr lang="vi-VN" sz="2300" b="0">
                        <a:solidFill>
                          <a:srgbClr val="1E293B"/>
                        </a:solidFill>
                        <a:latin typeface="Cambria Math" panose="02040503050406030204" pitchFamily="18" charset="0"/>
                      </a:rPr>
                      <m:t>[4+3(n−1)]=</m:t>
                    </m:r>
                    <m:f>
                      <m:fPr>
                        <m:type m:val="bar"/>
                      </m:fPr>
                      <m:num>
                        <m:r>
                          <a:rPr lang="vi-VN" sz="2300" b="0">
                            <a:solidFill>
                              <a:srgbClr val="1E293B"/>
                            </a:solidFill>
                            <a:latin typeface="Cambria Math" panose="02040503050406030204" pitchFamily="18" charset="0"/>
                          </a:rPr>
                          <m:t>n</m:t>
                        </m:r>
                      </m:num>
                      <m:den>
                        <m:r>
                          <a:rPr lang="vi-VN" sz="2300" b="0">
                            <a:solidFill>
                              <a:srgbClr val="1E293B"/>
                            </a:solidFill>
                            <a:latin typeface="Cambria Math" panose="02040503050406030204" pitchFamily="18" charset="0"/>
                          </a:rPr>
                          <m:t>2</m:t>
                        </m:r>
                      </m:den>
                    </m:f>
                    <m:r>
                      <a:rPr lang="vi-VN" sz="2300" b="0">
                        <a:solidFill>
                          <a:srgbClr val="1E293B"/>
                        </a:solidFill>
                        <a:latin typeface="Cambria Math" panose="02040503050406030204" pitchFamily="18" charset="0"/>
                      </a:rPr>
                      <m:t>(3n+1)⇒3</m:t>
                    </m:r>
                    <m:sSup>
                      <m:e>
                        <m:r>
                          <a:rPr lang="vi-VN" sz="2300" b="0">
                            <a:solidFill>
                              <a:srgbClr val="1E293B"/>
                            </a:solidFill>
                            <a:latin typeface="Cambria Math" panose="02040503050406030204" pitchFamily="18" charset="0"/>
                          </a:rPr>
                          <m:t>n</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+n−690=0</m:t>
                    </m:r>
                  </m:oMath>
                </a14:m>
                <a:r>
                  <a:rPr sz="2300">
                    <a:solidFill>
                      <a:srgbClr val="1E293B"/>
                    </a:solidFill>
                    <a:latin typeface="Calibri"/>
                  </a:rPr>
                  <a:t>.</a:t>
                </a:r>
              </a:p>
            </p:txBody>
          </p:sp>
        </mc:Choice>
        <mc:Fallback>
          <p:sp>
            <p:nvSpPr>
              <p:cNvPr id="12" name="TextBox 11"/>
              <p:cNvSpPr txBox="1"/>
              <p:nvPr/>
            </p:nvSpPr>
            <p:spPr>
              <a:xfrm>
                <a:off x="713232" y="4525518"/>
                <a:ext cx="10735056" cy="858011"/>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u_1=2</a:t>
                </a:r>
                <a:r>
                  <a:rPr sz="2300">
                    <a:solidFill>
                      <a:srgbClr val="1E293B"/>
                    </a:solidFill>
                    <a:latin typeface="Calibri"/>
                  </a:rPr>
                  <a:t>, </a:t>
                </a:r>
                <a:r>
                  <a:rPr lang="vi-VN"/>
                  <a:t>d=3</a:t>
                </a:r>
                <a:r>
                  <a:rPr sz="2300">
                    <a:solidFill>
                      <a:srgbClr val="1E293B"/>
                    </a:solidFill>
                    <a:latin typeface="Calibri"/>
                  </a:rPr>
                  <a:t>: </a:t>
                </a:r>
                <a:r>
                  <a:rPr lang="vi-VN"/>
                  <a:t>345=\frac{n}{2}[4+3(n-1)]=\frac{n}{2}(3n+1)\Rightarrow 3n^2+n-690=0</a:t>
                </a:r>
                <a:r>
                  <a:rPr sz="2300">
                    <a:solidFill>
                      <a:srgbClr val="1E293B"/>
                    </a:solidFill>
                    <a:latin typeface="Calibri"/>
                  </a:rPr>
                  <a:t>.</a:t>
                </a:r>
              </a:p>
            </p:txBody>
          </p:sp>
        </mc:Fallback>
      </mc:AlternateContent>
      <p:sp>
        <p:nvSpPr>
          <p:cNvPr id="13" name="s4_nen"/>
          <p:cNvSpPr/>
          <p:nvPr/>
        </p:nvSpPr>
        <p:spPr>
          <a:xfrm>
            <a:off x="548640" y="5557266"/>
            <a:ext cx="11064240" cy="7734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593842"/>
                <a:ext cx="10735056" cy="700278"/>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n=15</m:t>
                    </m:r>
                  </m:oMath>
                </a14:m>
                <a:r>
                  <a:rPr sz="2300">
                    <a:solidFill>
                      <a:srgbClr val="1E293B"/>
                    </a:solidFill>
                    <a:latin typeface="Calibri"/>
                  </a:rPr>
                  <a:t> (loại </a:t>
                </a:r>
                <a14:m>
                  <m:oMath xmlns:m="http://schemas.openxmlformats.org/officeDocument/2006/math">
                    <m:r>
                      <a:rPr lang="vi-VN" sz="2300" b="0">
                        <a:solidFill>
                          <a:srgbClr val="1E293B"/>
                        </a:solidFill>
                        <a:latin typeface="Cambria Math" panose="02040503050406030204" pitchFamily="18" charset="0"/>
                      </a:rPr>
                      <m:t>n=−</m:t>
                    </m:r>
                    <m:f>
                      <m:fPr>
                        <m:type m:val="bar"/>
                      </m:fPr>
                      <m:num>
                        <m:r>
                          <a:rPr lang="vi-VN" sz="2300" b="0">
                            <a:solidFill>
                              <a:srgbClr val="1E293B"/>
                            </a:solidFill>
                            <a:latin typeface="Cambria Math" panose="02040503050406030204" pitchFamily="18" charset="0"/>
                          </a:rPr>
                          <m:t>230</m:t>
                        </m:r>
                      </m:num>
                      <m:den>
                        <m:r>
                          <a:rPr lang="vi-VN" sz="2300" b="0">
                            <a:solidFill>
                              <a:srgbClr val="1E293B"/>
                            </a:solidFill>
                            <a:latin typeface="Cambria Math" panose="02040503050406030204" pitchFamily="18" charset="0"/>
                          </a:rPr>
                          <m:t>15</m:t>
                        </m:r>
                      </m:den>
                    </m:f>
                  </m:oMath>
                </a14:m>
                <a:r>
                  <a:rPr sz="2300">
                    <a:solidFill>
                      <a:srgbClr val="1E293B"/>
                    </a:solidFill>
                    <a:latin typeface="Calibri"/>
                  </a:rPr>
                  <a:t>). Phải lấy tổng 15 số hạng đầu.</a:t>
                </a:r>
              </a:p>
            </p:txBody>
          </p:sp>
        </mc:Choice>
        <mc:Fallback>
          <p:sp>
            <p:nvSpPr>
              <p:cNvPr id="14" name="TextBox 13"/>
              <p:cNvSpPr txBox="1"/>
              <p:nvPr/>
            </p:nvSpPr>
            <p:spPr>
              <a:xfrm>
                <a:off x="713232" y="5593842"/>
                <a:ext cx="10735056" cy="700278"/>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n=15</a:t>
                </a:r>
                <a:r>
                  <a:rPr sz="2300">
                    <a:solidFill>
                      <a:srgbClr val="1E293B"/>
                    </a:solidFill>
                    <a:latin typeface="Calibri"/>
                  </a:rPr>
                  <a:t> (loại </a:t>
                </a:r>
                <a:r>
                  <a:rPr lang="vi-VN"/>
                  <a:t>n=-\frac{230}{15}</a:t>
                </a:r>
                <a:r>
                  <a:rPr sz="2300">
                    <a:solidFill>
                      <a:srgbClr val="1E293B"/>
                    </a:solidFill>
                    <a:latin typeface="Calibri"/>
                  </a:rPr>
                  <a:t>). Phải lấy tổng 15 số hạng đầu.</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 GÓC CÔNG NGHỆ (SGK TR.50 – 51)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15</a:t>
            </a:r>
          </a:p>
        </p:txBody>
      </p:sp>
      <p:sp>
        <p:nvSpPr>
          <p:cNvPr id="7" name="TextBox 6"/>
          <p:cNvSpPr txBox="1"/>
          <p:nvPr/>
        </p:nvSpPr>
        <p:spPr>
          <a:xfrm>
            <a:off x="548640" y="155448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Vận dụng.</a:t>
            </a:r>
            <a:r>
              <a:rPr sz="2200">
                <a:solidFill>
                  <a:srgbClr val="1E293B"/>
                </a:solidFill>
                <a:latin typeface="Calibri"/>
              </a:rPr>
              <a:t> Anh Nam có lương khởi điểm 100 triệu đồng một năm, mỗi năm tăng thêm 20 triệu đồng. Tính tổng số tiền lương anh Nam nhận được sau 10 năm.</a:t>
            </a:r>
          </a:p>
        </p:txBody>
      </p:sp>
      <p:sp>
        <p:nvSpPr>
          <p:cNvPr id="8" name="s1_nen"/>
          <p:cNvSpPr/>
          <p:nvPr/>
        </p:nvSpPr>
        <p:spPr>
          <a:xfrm>
            <a:off x="548640" y="2581656"/>
            <a:ext cx="11064240" cy="75133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18232"/>
                <a:ext cx="1073505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Cấp số cộng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=100</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d=20</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10</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10</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[200+9·20]=1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900</m:t>
                    </m:r>
                  </m:oMath>
                </a14:m>
                <a:r>
                  <a:rPr sz="2200">
                    <a:solidFill>
                      <a:srgbClr val="1E293B"/>
                    </a:solidFill>
                    <a:latin typeface="Calibri"/>
                  </a:rPr>
                  <a:t> (triệu đồng).</a:t>
                </a:r>
              </a:p>
            </p:txBody>
          </p:sp>
        </mc:Choice>
        <mc:Fallback>
          <p:sp>
            <p:nvSpPr>
              <p:cNvPr id="9" name="TextBox 8"/>
              <p:cNvSpPr txBox="1"/>
              <p:nvPr/>
            </p:nvSpPr>
            <p:spPr>
              <a:xfrm>
                <a:off x="713232" y="2618232"/>
                <a:ext cx="1073505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Cấp số cộng </a:t>
                </a:r>
                <a:r>
                  <a:rPr lang="vi-VN"/>
                  <a:t>u_1=100</a:t>
                </a:r>
                <a:r>
                  <a:rPr sz="2200">
                    <a:solidFill>
                      <a:srgbClr val="1E293B"/>
                    </a:solidFill>
                    <a:latin typeface="Calibri"/>
                  </a:rPr>
                  <a:t>, </a:t>
                </a:r>
                <a:r>
                  <a:rPr lang="vi-VN"/>
                  <a:t>d=20</a:t>
                </a:r>
                <a:r>
                  <a:rPr sz="2200">
                    <a:solidFill>
                      <a:srgbClr val="1E293B"/>
                    </a:solidFill>
                    <a:latin typeface="Calibri"/>
                  </a:rPr>
                  <a:t>: </a:t>
                </a:r>
                <a:r>
                  <a:rPr lang="vi-VN"/>
                  <a:t>S_{10}=\frac{10}{2}[200+9\cdot 20]=1\ 900</a:t>
                </a:r>
                <a:r>
                  <a:rPr sz="2200">
                    <a:solidFill>
                      <a:srgbClr val="1E293B"/>
                    </a:solidFill>
                    <a:latin typeface="Calibri"/>
                  </a:rPr>
                  <a:t> (triệu đồng).</a:t>
                </a:r>
              </a:p>
            </p:txBody>
          </p:sp>
        </mc:Fallback>
      </mc:AlternateContent>
      <p:sp>
        <p:nvSpPr>
          <p:cNvPr id="10" name="s2_nen"/>
          <p:cNvSpPr/>
          <p:nvPr/>
        </p:nvSpPr>
        <p:spPr>
          <a:xfrm>
            <a:off x="548640" y="3515868"/>
            <a:ext cx="11064240" cy="127101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552444"/>
                <a:ext cx="10735056" cy="119786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Góc công nghệ.</a:t>
                </a:r>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nary>
                      <m:naryPr>
                        <m:chr m:val="∑"/>
                        <m:limLoc m:val="subSup"/>
                        <m:grow m:val="1"/>
                        <m:subHide m:val="off"/>
                        <m:supHide m:val="off"/>
                      </m:naryPr>
                      <m:sub>
                        <m:r>
                          <a:rPr lang="vi-VN" sz="2200" b="0">
                            <a:solidFill>
                              <a:srgbClr val="1E293B"/>
                            </a:solidFill>
                            <a:latin typeface="Cambria Math" panose="02040503050406030204" pitchFamily="18" charset="0"/>
                          </a:rPr>
                          <m:t>k=1</m:t>
                        </m:r>
                      </m:sub>
                      <m:sup>
                        <m:r>
                          <a:rPr lang="vi-VN" sz="2200" b="0">
                            <a:solidFill>
                              <a:srgbClr val="1E293B"/>
                            </a:solidFill>
                            <a:latin typeface="Cambria Math" panose="02040503050406030204" pitchFamily="18" charset="0"/>
                          </a:rPr>
                          <m:t>n</m:t>
                        </m:r>
                      </m:sup>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k</m:t>
                            </m:r>
                          </m:sub>
                        </m:sSub>
                      </m:e>
                    </m:nary>
                  </m:oMath>
                </a14:m>
                <a:r>
                  <a:rPr sz="2200">
                    <a:solidFill>
                      <a:srgbClr val="1E293B"/>
                    </a:solidFill>
                    <a:latin typeface="Calibri"/>
                  </a:rPr>
                  <a:t> (đọc là xích ma). Máy tính cầm tay: SHIFT →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để nhập </a:t>
                </a:r>
                <a14:m>
                  <m:oMath xmlns:m="http://schemas.openxmlformats.org/officeDocument/2006/math">
                    <m:r>
                      <a:rPr lang="vi-VN" sz="2200" b="0">
                        <a:solidFill>
                          <a:srgbClr val="1E293B"/>
                        </a:solidFill>
                        <a:latin typeface="Cambria Math" panose="02040503050406030204" pitchFamily="18" charset="0"/>
                      </a:rPr>
                      <m:t>Σ</m:t>
                    </m:r>
                  </m:oMath>
                </a14:m>
                <a:r>
                  <a:rPr sz="2200">
                    <a:solidFill>
                      <a:srgbClr val="1E293B"/>
                    </a:solidFill>
                    <a:latin typeface="Calibri"/>
                  </a:rPr>
                  <a:t>, nhập </a:t>
                </a:r>
                <a14:m>
                  <m:oMath xmlns:m="http://schemas.openxmlformats.org/officeDocument/2006/math">
                    <m:r>
                      <a:rPr lang="vi-VN" sz="2200" b="0">
                        <a:solidFill>
                          <a:srgbClr val="1E293B"/>
                        </a:solidFill>
                        <a:latin typeface="Cambria Math" panose="02040503050406030204" pitchFamily="18" charset="0"/>
                      </a:rPr>
                      <m:t>3x+1</m:t>
                    </m:r>
                  </m:oMath>
                </a14:m>
                <a:r>
                  <a:rPr sz="2200">
                    <a:solidFill>
                      <a:srgbClr val="1E293B"/>
                    </a:solidFill>
                    <a:latin typeface="Calibri"/>
                  </a:rPr>
                  <a:t>, cận dưới 1, cận trên 35, ấn = được </a:t>
                </a:r>
                <a14:m>
                  <m:oMath xmlns:m="http://schemas.openxmlformats.org/officeDocument/2006/math">
                    <m:nary>
                      <m:naryPr>
                        <m:chr m:val="∑"/>
                        <m:limLoc m:val="subSup"/>
                        <m:grow m:val="1"/>
                        <m:subHide m:val="off"/>
                        <m:supHide m:val="off"/>
                      </m:naryPr>
                      <m:sub>
                        <m:r>
                          <a:rPr lang="vi-VN" sz="2200" b="0">
                            <a:solidFill>
                              <a:srgbClr val="1E293B"/>
                            </a:solidFill>
                            <a:latin typeface="Cambria Math" panose="02040503050406030204" pitchFamily="18" charset="0"/>
                          </a:rPr>
                          <m:t>k=1</m:t>
                        </m:r>
                      </m:sub>
                      <m:sup>
                        <m:r>
                          <a:rPr lang="vi-VN" sz="2200" b="0">
                            <a:solidFill>
                              <a:srgbClr val="1E293B"/>
                            </a:solidFill>
                            <a:latin typeface="Cambria Math" panose="02040503050406030204" pitchFamily="18" charset="0"/>
                          </a:rPr>
                          <m:t>35</m:t>
                        </m:r>
                      </m:sup>
                      <m:e>
                        <m:r>
                          <a:rPr lang="vi-VN" sz="2200" b="0">
                            <a:solidFill>
                              <a:srgbClr val="1E293B"/>
                            </a:solidFill>
                            <a:latin typeface="Cambria Math" panose="02040503050406030204" pitchFamily="18" charset="0"/>
                          </a:rPr>
                          <m:t>(3k+1)=1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925</m:t>
                        </m:r>
                      </m:e>
                    </m:nary>
                  </m:oMath>
                </a14:m>
                <a:r>
                  <a:rPr sz="2200">
                    <a:solidFill>
                      <a:srgbClr val="1E293B"/>
                    </a:solidFill>
                    <a:latin typeface="Calibri"/>
                  </a:rPr>
                  <a:t>.</a:t>
                </a:r>
              </a:p>
            </p:txBody>
          </p:sp>
        </mc:Choice>
        <mc:Fallback>
          <p:sp>
            <p:nvSpPr>
              <p:cNvPr id="11" name="TextBox 10"/>
              <p:cNvSpPr txBox="1"/>
              <p:nvPr/>
            </p:nvSpPr>
            <p:spPr>
              <a:xfrm>
                <a:off x="713232" y="3552444"/>
                <a:ext cx="10735056" cy="119786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Góc công nghệ.</a:t>
                </a:r>
                <a:r>
                  <a:rPr sz="2200">
                    <a:solidFill>
                      <a:srgbClr val="1E293B"/>
                    </a:solidFill>
                    <a:latin typeface="Calibri"/>
                  </a:rPr>
                  <a:t> </a:t>
                </a:r>
                <a:r>
                  <a:rPr lang="vi-VN"/>
                  <a:t>S_n=\sum_{k=1}^{n}u_k</a:t>
                </a:r>
                <a:r>
                  <a:rPr sz="2200">
                    <a:solidFill>
                      <a:srgbClr val="1E293B"/>
                    </a:solidFill>
                    <a:latin typeface="Calibri"/>
                  </a:rPr>
                  <a:t> (đọc là xích ma). Máy tính cầm tay: SHIFT → </a:t>
                </a:r>
                <a:r>
                  <a:rPr lang="vi-VN"/>
                  <a:t>x</a:t>
                </a:r>
                <a:r>
                  <a:rPr sz="2200">
                    <a:solidFill>
                      <a:srgbClr val="1E293B"/>
                    </a:solidFill>
                    <a:latin typeface="Calibri"/>
                  </a:rPr>
                  <a:t> để nhập </a:t>
                </a:r>
                <a:r>
                  <a:rPr lang="vi-VN"/>
                  <a:t>\Sigma</a:t>
                </a:r>
                <a:r>
                  <a:rPr sz="2200">
                    <a:solidFill>
                      <a:srgbClr val="1E293B"/>
                    </a:solidFill>
                    <a:latin typeface="Calibri"/>
                  </a:rPr>
                  <a:t>, nhập </a:t>
                </a:r>
                <a:r>
                  <a:rPr lang="vi-VN"/>
                  <a:t>3x+1</a:t>
                </a:r>
                <a:r>
                  <a:rPr sz="2200">
                    <a:solidFill>
                      <a:srgbClr val="1E293B"/>
                    </a:solidFill>
                    <a:latin typeface="Calibri"/>
                  </a:rPr>
                  <a:t>, cận dưới 1, cận trên 35, ấn = được </a:t>
                </a:r>
                <a:r>
                  <a:rPr lang="vi-VN"/>
                  <a:t>\sum_{k=1}^{35}(3k+1)=1\ 925</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2.8 – 2.11 (SGK TR.51)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16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2.8.</a:t>
                </a:r>
                <a:r>
                  <a:rPr sz="1900">
                    <a:solidFill>
                      <a:srgbClr val="1E293B"/>
                    </a:solidFill>
                    <a:latin typeface="Calibri"/>
                  </a:rPr>
                  <a:t> Công sai,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5</m:t>
                        </m:r>
                      </m:sub>
                    </m:sSub>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100</m:t>
                        </m:r>
                      </m:sub>
                    </m:sSub>
                  </m:oMath>
                </a14:m>
                <a:r>
                  <a:rPr sz="1900">
                    <a:solidFill>
                      <a:srgbClr val="1E293B"/>
                    </a:solidFill>
                    <a:latin typeface="Calibri"/>
                  </a:rPr>
                  <a:t>: a) </a:t>
                </a:r>
                <a14:m>
                  <m:oMath xmlns:m="http://schemas.openxmlformats.org/officeDocument/2006/math">
                    <m:r>
                      <a:rPr lang="vi-VN" sz="1900" b="0">
                        <a:solidFill>
                          <a:srgbClr val="1E293B"/>
                        </a:solidFill>
                        <a:latin typeface="Cambria Math" panose="02040503050406030204" pitchFamily="18" charset="0"/>
                      </a:rPr>
                      <m:t>4,</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9,</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14,</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19,…</m:t>
                    </m:r>
                  </m:oMath>
                </a14:m>
                <a:r>
                  <a:rPr sz="1900">
                    <a:solidFill>
                      <a:srgbClr val="1E293B"/>
                    </a:solidFill>
                    <a:latin typeface="Calibri"/>
                  </a:rPr>
                  <a:t>; b) </a:t>
                </a:r>
                <a14:m>
                  <m:oMath xmlns:m="http://schemas.openxmlformats.org/officeDocument/2006/math">
                    <m:r>
                      <a:rPr lang="vi-VN" sz="1900" b="0">
                        <a:solidFill>
                          <a:srgbClr val="1E293B"/>
                        </a:solidFill>
                        <a:latin typeface="Cambria Math" panose="02040503050406030204" pitchFamily="18" charset="0"/>
                      </a:rPr>
                      <m:t>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−5,…</m:t>
                    </m:r>
                  </m:oMath>
                </a14:m>
                <a:r>
                  <a:rPr sz="1900">
                    <a:solidFill>
                      <a:srgbClr val="1E293B"/>
                    </a:solidFill>
                    <a:latin typeface="Calibri"/>
                  </a:rPr>
                  <a:t> </a:t>
                </a:r>
                <a:r>
                  <a:rPr sz="1900" b="1">
                    <a:solidFill>
                      <a:srgbClr val="1E293B"/>
                    </a:solidFill>
                    <a:latin typeface="Calibri"/>
                  </a:rPr>
                  <a:t>2.9.</a:t>
                </a:r>
                <a:r>
                  <a:rPr sz="1900">
                    <a:solidFill>
                      <a:srgbClr val="1E293B"/>
                    </a:solidFill>
                    <a:latin typeface="Calibri"/>
                  </a:rPr>
                  <a:t> Cấp số cộng? a)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=3+5n</m:t>
                    </m:r>
                  </m:oMath>
                </a14:m>
                <a:r>
                  <a:rPr sz="1900">
                    <a:solidFill>
                      <a:srgbClr val="1E293B"/>
                    </a:solidFill>
                    <a:latin typeface="Calibri"/>
                  </a:rPr>
                  <a:t>; b)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=6n−4</m:t>
                    </m:r>
                  </m:oMath>
                </a14:m>
                <a:r>
                  <a:rPr sz="1900">
                    <a:solidFill>
                      <a:srgbClr val="1E293B"/>
                    </a:solidFill>
                    <a:latin typeface="Calibri"/>
                  </a:rPr>
                  <a:t>; c)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=2</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n−1</m:t>
                        </m:r>
                      </m:sub>
                    </m:sSub>
                    <m:r>
                      <a:rPr lang="vi-VN" sz="1900" b="0">
                        <a:solidFill>
                          <a:srgbClr val="1E293B"/>
                        </a:solidFill>
                        <a:latin typeface="Cambria Math" panose="02040503050406030204" pitchFamily="18" charset="0"/>
                      </a:rPr>
                      <m:t>+n</m:t>
                    </m:r>
                  </m:oMath>
                </a14:m>
                <a:r>
                  <a:rPr sz="1900">
                    <a:solidFill>
                      <a:srgbClr val="1E293B"/>
                    </a:solidFill>
                    <a:latin typeface="Calibri"/>
                  </a:rPr>
                  <a:t>; d)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=2</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n−1</m:t>
                        </m:r>
                      </m:sub>
                    </m:sSub>
                    <m:r>
                      <a:rPr lang="vi-VN" sz="1900" b="0">
                        <a:solidFill>
                          <a:srgbClr val="1E293B"/>
                        </a:solidFill>
                        <a:latin typeface="Cambria Math" panose="02040503050406030204" pitchFamily="18" charset="0"/>
                      </a:rPr>
                      <m:t>+3</m:t>
                    </m:r>
                  </m:oMath>
                </a14:m>
                <a:r>
                  <a:rPr sz="1900">
                    <a:solidFill>
                      <a:srgbClr val="1E293B"/>
                    </a:solidFill>
                    <a:latin typeface="Calibri"/>
                  </a:rPr>
                  <a:t>.</a:t>
                </a:r>
              </a:p>
            </p:txBody>
          </p:sp>
        </mc:Choice>
        <mc:Fallback>
          <p:sp>
            <p:nvSpPr>
              <p:cNvPr id="7" name="TextBox 6"/>
              <p:cNvSpPr txBox="1"/>
              <p:nvPr/>
            </p:nvSpPr>
            <p:spPr>
              <a:xfrm>
                <a:off x="548640" y="1371600"/>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2.8.</a:t>
                </a:r>
                <a:r>
                  <a:rPr sz="1900">
                    <a:solidFill>
                      <a:srgbClr val="1E293B"/>
                    </a:solidFill>
                    <a:latin typeface="Calibri"/>
                  </a:rPr>
                  <a:t> Công sai, </a:t>
                </a:r>
                <a:r>
                  <a:rPr lang="vi-VN"/>
                  <a:t>u_5</a:t>
                </a:r>
                <a:r>
                  <a:rPr sz="1900">
                    <a:solidFill>
                      <a:srgbClr val="1E293B"/>
                    </a:solidFill>
                    <a:latin typeface="Calibri"/>
                  </a:rPr>
                  <a:t>, </a:t>
                </a:r>
                <a:r>
                  <a:rPr lang="vi-VN"/>
                  <a:t>u_n</a:t>
                </a:r>
                <a:r>
                  <a:rPr sz="1900">
                    <a:solidFill>
                      <a:srgbClr val="1E293B"/>
                    </a:solidFill>
                    <a:latin typeface="Calibri"/>
                  </a:rPr>
                  <a:t>, </a:t>
                </a:r>
                <a:r>
                  <a:rPr lang="vi-VN"/>
                  <a:t>u_{100}</a:t>
                </a:r>
                <a:r>
                  <a:rPr sz="1900">
                    <a:solidFill>
                      <a:srgbClr val="1E293B"/>
                    </a:solidFill>
                    <a:latin typeface="Calibri"/>
                  </a:rPr>
                  <a:t>: a) </a:t>
                </a:r>
                <a:r>
                  <a:rPr lang="vi-VN"/>
                  <a:t>4,\ 9,\ 14,\ 19,\ldots</a:t>
                </a:r>
                <a:r>
                  <a:rPr sz="1900">
                    <a:solidFill>
                      <a:srgbClr val="1E293B"/>
                    </a:solidFill>
                    <a:latin typeface="Calibri"/>
                  </a:rPr>
                  <a:t>; b) </a:t>
                </a:r>
                <a:r>
                  <a:rPr lang="vi-VN"/>
                  <a:t>1,\ -1,\ -3,\ -5,\ldots</a:t>
                </a:r>
                <a:r>
                  <a:rPr sz="1900">
                    <a:solidFill>
                      <a:srgbClr val="1E293B"/>
                    </a:solidFill>
                    <a:latin typeface="Calibri"/>
                  </a:rPr>
                  <a:t> </a:t>
                </a:r>
                <a:r>
                  <a:rPr sz="1900" b="1">
                    <a:solidFill>
                      <a:srgbClr val="1E293B"/>
                    </a:solidFill>
                    <a:latin typeface="Calibri"/>
                  </a:rPr>
                  <a:t>2.9.</a:t>
                </a:r>
                <a:r>
                  <a:rPr sz="1900">
                    <a:solidFill>
                      <a:srgbClr val="1E293B"/>
                    </a:solidFill>
                    <a:latin typeface="Calibri"/>
                  </a:rPr>
                  <a:t> Cấp số cộng? a) </a:t>
                </a:r>
                <a:r>
                  <a:rPr lang="vi-VN"/>
                  <a:t>u_n=3+5n</a:t>
                </a:r>
                <a:r>
                  <a:rPr sz="1900">
                    <a:solidFill>
                      <a:srgbClr val="1E293B"/>
                    </a:solidFill>
                    <a:latin typeface="Calibri"/>
                  </a:rPr>
                  <a:t>; b) </a:t>
                </a:r>
                <a:r>
                  <a:rPr lang="vi-VN"/>
                  <a:t>u_n=6n-4</a:t>
                </a:r>
                <a:r>
                  <a:rPr sz="1900">
                    <a:solidFill>
                      <a:srgbClr val="1E293B"/>
                    </a:solidFill>
                    <a:latin typeface="Calibri"/>
                  </a:rPr>
                  <a:t>; c) </a:t>
                </a:r>
                <a:r>
                  <a:rPr lang="vi-VN"/>
                  <a:t>u_1=2</a:t>
                </a:r>
                <a:r>
                  <a:rPr sz="1900">
                    <a:solidFill>
                      <a:srgbClr val="1E293B"/>
                    </a:solidFill>
                    <a:latin typeface="Calibri"/>
                  </a:rPr>
                  <a:t>, </a:t>
                </a:r>
                <a:r>
                  <a:rPr lang="vi-VN"/>
                  <a:t>u_n=u_{n-1}+n</a:t>
                </a:r>
                <a:r>
                  <a:rPr sz="1900">
                    <a:solidFill>
                      <a:srgbClr val="1E293B"/>
                    </a:solidFill>
                    <a:latin typeface="Calibri"/>
                  </a:rPr>
                  <a:t>; d) </a:t>
                </a:r>
                <a:r>
                  <a:rPr lang="vi-VN"/>
                  <a:t>u_1=2</a:t>
                </a:r>
                <a:r>
                  <a:rPr sz="1900">
                    <a:solidFill>
                      <a:srgbClr val="1E293B"/>
                    </a:solidFill>
                    <a:latin typeface="Calibri"/>
                  </a:rPr>
                  <a:t>, </a:t>
                </a:r>
                <a:r>
                  <a:rPr lang="vi-VN"/>
                  <a:t>u_n=u_{n-1}+3</a:t>
                </a:r>
                <a:r>
                  <a:rPr sz="1900">
                    <a:solidFill>
                      <a:srgbClr val="1E293B"/>
                    </a:solidFill>
                    <a:latin typeface="Calibri"/>
                  </a:rPr>
                  <a:t>.</a:t>
                </a:r>
              </a:p>
            </p:txBody>
          </p:sp>
        </mc:Fallback>
      </mc:AlternateContent>
      <p:sp>
        <p:nvSpPr>
          <p:cNvPr id="8" name="s1_nen"/>
          <p:cNvSpPr/>
          <p:nvPr/>
        </p:nvSpPr>
        <p:spPr>
          <a:xfrm>
            <a:off x="548640" y="2188464"/>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2504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2.8. a) </a:t>
                </a:r>
                <a14:m>
                  <m:oMath xmlns:m="http://schemas.openxmlformats.org/officeDocument/2006/math">
                    <m:r>
                      <a:rPr lang="vi-VN" sz="1900" b="0">
                        <a:solidFill>
                          <a:srgbClr val="1E293B"/>
                        </a:solidFill>
                        <a:latin typeface="Cambria Math" panose="02040503050406030204" pitchFamily="18" charset="0"/>
                      </a:rPr>
                      <m:t>d=5</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5</m:t>
                        </m:r>
                      </m:sub>
                    </m:sSub>
                    <m:r>
                      <a:rPr lang="vi-VN" sz="1900" b="0">
                        <a:solidFill>
                          <a:srgbClr val="1E293B"/>
                        </a:solidFill>
                        <a:latin typeface="Cambria Math" panose="02040503050406030204" pitchFamily="18" charset="0"/>
                      </a:rPr>
                      <m:t>=24</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=5n−1</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100</m:t>
                        </m:r>
                      </m:sub>
                    </m:sSub>
                    <m:r>
                      <a:rPr lang="vi-VN" sz="1900" b="0">
                        <a:solidFill>
                          <a:srgbClr val="1E293B"/>
                        </a:solidFill>
                        <a:latin typeface="Cambria Math" panose="02040503050406030204" pitchFamily="18" charset="0"/>
                      </a:rPr>
                      <m:t>=499</m:t>
                    </m:r>
                  </m:oMath>
                </a14:m>
                <a:r>
                  <a:rPr sz="1900">
                    <a:solidFill>
                      <a:srgbClr val="1E293B"/>
                    </a:solidFill>
                    <a:latin typeface="Calibri"/>
                  </a:rPr>
                  <a:t>. b) </a:t>
                </a:r>
                <a14:m>
                  <m:oMath xmlns:m="http://schemas.openxmlformats.org/officeDocument/2006/math">
                    <m:r>
                      <a:rPr lang="vi-VN" sz="1900" b="0">
                        <a:solidFill>
                          <a:srgbClr val="1E293B"/>
                        </a:solidFill>
                        <a:latin typeface="Cambria Math" panose="02040503050406030204" pitchFamily="18" charset="0"/>
                      </a:rPr>
                      <m:t>d=−2</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5</m:t>
                        </m:r>
                      </m:sub>
                    </m:sSub>
                    <m:r>
                      <a:rPr lang="vi-VN" sz="1900" b="0">
                        <a:solidFill>
                          <a:srgbClr val="1E293B"/>
                        </a:solidFill>
                        <a:latin typeface="Cambria Math" panose="02040503050406030204" pitchFamily="18" charset="0"/>
                      </a:rPr>
                      <m:t>=−7</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=3−2n</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100</m:t>
                        </m:r>
                      </m:sub>
                    </m:sSub>
                    <m:r>
                      <a:rPr lang="vi-VN" sz="1900" b="0">
                        <a:solidFill>
                          <a:srgbClr val="1E293B"/>
                        </a:solidFill>
                        <a:latin typeface="Cambria Math" panose="02040503050406030204" pitchFamily="18" charset="0"/>
                      </a:rPr>
                      <m:t>=−197</m:t>
                    </m:r>
                  </m:oMath>
                </a14:m>
                <a:r>
                  <a:rPr sz="1900">
                    <a:solidFill>
                      <a:srgbClr val="1E293B"/>
                    </a:solidFill>
                    <a:latin typeface="Calibri"/>
                  </a:rPr>
                  <a:t>. 2.9. a) </a:t>
                </a:r>
                <a14:m>
                  <m:oMath xmlns:m="http://schemas.openxmlformats.org/officeDocument/2006/math">
                    <m:r>
                      <a:rPr lang="vi-VN" sz="1900" b="0">
                        <a:solidFill>
                          <a:srgbClr val="1E293B"/>
                        </a:solidFill>
                        <a:latin typeface="Cambria Math" panose="02040503050406030204" pitchFamily="18" charset="0"/>
                      </a:rPr>
                      <m:t>d=5</m:t>
                    </m:r>
                  </m:oMath>
                </a14:m>
                <a:r>
                  <a:rPr sz="1900">
                    <a:solidFill>
                      <a:srgbClr val="1E293B"/>
                    </a:solidFill>
                    <a:latin typeface="Calibri"/>
                  </a:rPr>
                  <a:t>; b) </a:t>
                </a:r>
                <a14:m>
                  <m:oMath xmlns:m="http://schemas.openxmlformats.org/officeDocument/2006/math">
                    <m:r>
                      <a:rPr lang="vi-VN" sz="1900" b="0">
                        <a:solidFill>
                          <a:srgbClr val="1E293B"/>
                        </a:solidFill>
                        <a:latin typeface="Cambria Math" panose="02040503050406030204" pitchFamily="18" charset="0"/>
                      </a:rPr>
                      <m:t>d=6</m:t>
                    </m:r>
                  </m:oMath>
                </a14:m>
                <a:r>
                  <a:rPr sz="1900">
                    <a:solidFill>
                      <a:srgbClr val="1E293B"/>
                    </a:solidFill>
                    <a:latin typeface="Calibri"/>
                  </a:rPr>
                  <a:t>; c) không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n−1</m:t>
                        </m:r>
                      </m:sub>
                    </m:sSub>
                    <m:r>
                      <a:rPr lang="vi-VN" sz="1900" b="0">
                        <a:solidFill>
                          <a:srgbClr val="1E293B"/>
                        </a:solidFill>
                        <a:latin typeface="Cambria Math" panose="02040503050406030204" pitchFamily="18" charset="0"/>
                      </a:rPr>
                      <m:t>=n</m:t>
                    </m:r>
                  </m:oMath>
                </a14:m>
                <a:r>
                  <a:rPr sz="1900">
                    <a:solidFill>
                      <a:srgbClr val="1E293B"/>
                    </a:solidFill>
                    <a:latin typeface="Calibri"/>
                  </a:rPr>
                  <a:t> thay đổi); d) </a:t>
                </a:r>
                <a14:m>
                  <m:oMath xmlns:m="http://schemas.openxmlformats.org/officeDocument/2006/math">
                    <m:r>
                      <a:rPr lang="vi-VN" sz="1900" b="0">
                        <a:solidFill>
                          <a:srgbClr val="1E293B"/>
                        </a:solidFill>
                        <a:latin typeface="Cambria Math" panose="02040503050406030204" pitchFamily="18" charset="0"/>
                      </a:rPr>
                      <m:t>d=3</m:t>
                    </m:r>
                  </m:oMath>
                </a14:m>
                <a:r>
                  <a:rPr sz="1900">
                    <a:solidFill>
                      <a:srgbClr val="1E293B"/>
                    </a:solidFill>
                    <a:latin typeface="Calibri"/>
                  </a:rPr>
                  <a:t>.</a:t>
                </a:r>
              </a:p>
            </p:txBody>
          </p:sp>
        </mc:Choice>
        <mc:Fallback>
          <p:sp>
            <p:nvSpPr>
              <p:cNvPr id="9" name="TextBox 8"/>
              <p:cNvSpPr txBox="1"/>
              <p:nvPr/>
            </p:nvSpPr>
            <p:spPr>
              <a:xfrm>
                <a:off x="713232" y="2225040"/>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2.8. a) </a:t>
                </a:r>
                <a:r>
                  <a:rPr lang="vi-VN"/>
                  <a:t>d=5</a:t>
                </a:r>
                <a:r>
                  <a:rPr sz="1900">
                    <a:solidFill>
                      <a:srgbClr val="1E293B"/>
                    </a:solidFill>
                    <a:latin typeface="Calibri"/>
                  </a:rPr>
                  <a:t>, </a:t>
                </a:r>
                <a:r>
                  <a:rPr lang="vi-VN"/>
                  <a:t>u_5=24</a:t>
                </a:r>
                <a:r>
                  <a:rPr sz="1900">
                    <a:solidFill>
                      <a:srgbClr val="1E293B"/>
                    </a:solidFill>
                    <a:latin typeface="Calibri"/>
                  </a:rPr>
                  <a:t>, </a:t>
                </a:r>
                <a:r>
                  <a:rPr lang="vi-VN"/>
                  <a:t>u_n=5n-1</a:t>
                </a:r>
                <a:r>
                  <a:rPr sz="1900">
                    <a:solidFill>
                      <a:srgbClr val="1E293B"/>
                    </a:solidFill>
                    <a:latin typeface="Calibri"/>
                  </a:rPr>
                  <a:t>, </a:t>
                </a:r>
                <a:r>
                  <a:rPr lang="vi-VN"/>
                  <a:t>u_{100}=499</a:t>
                </a:r>
                <a:r>
                  <a:rPr sz="1900">
                    <a:solidFill>
                      <a:srgbClr val="1E293B"/>
                    </a:solidFill>
                    <a:latin typeface="Calibri"/>
                  </a:rPr>
                  <a:t>. b) </a:t>
                </a:r>
                <a:r>
                  <a:rPr lang="vi-VN"/>
                  <a:t>d=-2</a:t>
                </a:r>
                <a:r>
                  <a:rPr sz="1900">
                    <a:solidFill>
                      <a:srgbClr val="1E293B"/>
                    </a:solidFill>
                    <a:latin typeface="Calibri"/>
                  </a:rPr>
                  <a:t>, </a:t>
                </a:r>
                <a:r>
                  <a:rPr lang="vi-VN"/>
                  <a:t>u_5=-7</a:t>
                </a:r>
                <a:r>
                  <a:rPr sz="1900">
                    <a:solidFill>
                      <a:srgbClr val="1E293B"/>
                    </a:solidFill>
                    <a:latin typeface="Calibri"/>
                  </a:rPr>
                  <a:t>, </a:t>
                </a:r>
                <a:r>
                  <a:rPr lang="vi-VN"/>
                  <a:t>u_n=3-2n</a:t>
                </a:r>
                <a:r>
                  <a:rPr sz="1900">
                    <a:solidFill>
                      <a:srgbClr val="1E293B"/>
                    </a:solidFill>
                    <a:latin typeface="Calibri"/>
                  </a:rPr>
                  <a:t>, </a:t>
                </a:r>
                <a:r>
                  <a:rPr lang="vi-VN"/>
                  <a:t>u_{100}=-197</a:t>
                </a:r>
                <a:r>
                  <a:rPr sz="1900">
                    <a:solidFill>
                      <a:srgbClr val="1E293B"/>
                    </a:solidFill>
                    <a:latin typeface="Calibri"/>
                  </a:rPr>
                  <a:t>. 2.9. a) </a:t>
                </a:r>
                <a:r>
                  <a:rPr lang="vi-VN"/>
                  <a:t>d=5</a:t>
                </a:r>
                <a:r>
                  <a:rPr sz="1900">
                    <a:solidFill>
                      <a:srgbClr val="1E293B"/>
                    </a:solidFill>
                    <a:latin typeface="Calibri"/>
                  </a:rPr>
                  <a:t>; b) </a:t>
                </a:r>
                <a:r>
                  <a:rPr lang="vi-VN"/>
                  <a:t>d=6</a:t>
                </a:r>
                <a:r>
                  <a:rPr sz="1900">
                    <a:solidFill>
                      <a:srgbClr val="1E293B"/>
                    </a:solidFill>
                    <a:latin typeface="Calibri"/>
                  </a:rPr>
                  <a:t>; c) không (</a:t>
                </a:r>
                <a:r>
                  <a:rPr lang="vi-VN"/>
                  <a:t>u_n-u_{n-1}=n</a:t>
                </a:r>
                <a:r>
                  <a:rPr sz="1900">
                    <a:solidFill>
                      <a:srgbClr val="1E293B"/>
                    </a:solidFill>
                    <a:latin typeface="Calibri"/>
                  </a:rPr>
                  <a:t> thay đổi); d) </a:t>
                </a:r>
                <a:r>
                  <a:rPr lang="vi-VN"/>
                  <a:t>d=3</a:t>
                </a:r>
                <a:r>
                  <a:rPr sz="19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096768"/>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2.10.</a:t>
                </a:r>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5</m:t>
                        </m:r>
                      </m:sub>
                    </m:sSub>
                    <m:r>
                      <a:rPr lang="vi-VN" sz="1900" b="0">
                        <a:solidFill>
                          <a:srgbClr val="1E293B"/>
                        </a:solidFill>
                        <a:latin typeface="Cambria Math" panose="02040503050406030204" pitchFamily="18" charset="0"/>
                      </a:rPr>
                      <m:t>=18</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12</m:t>
                        </m:r>
                      </m:sub>
                    </m:sSub>
                    <m:r>
                      <a:rPr lang="vi-VN" sz="1900" b="0">
                        <a:solidFill>
                          <a:srgbClr val="1E293B"/>
                        </a:solidFill>
                        <a:latin typeface="Cambria Math" panose="02040503050406030204" pitchFamily="18" charset="0"/>
                      </a:rPr>
                      <m:t>=32</m:t>
                    </m:r>
                  </m:oMath>
                </a14:m>
                <a:r>
                  <a:rPr sz="1900">
                    <a:solidFill>
                      <a:srgbClr val="1E293B"/>
                    </a:solidFill>
                    <a:latin typeface="Calibri"/>
                  </a:rPr>
                  <a:t>: tìm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50</m:t>
                        </m:r>
                      </m:sub>
                    </m:sSub>
                  </m:oMath>
                </a14:m>
                <a:r>
                  <a:rPr sz="1900">
                    <a:solidFill>
                      <a:srgbClr val="1E293B"/>
                    </a:solidFill>
                    <a:latin typeface="Calibri"/>
                  </a:rPr>
                  <a:t>. </a:t>
                </a:r>
                <a:r>
                  <a:rPr sz="1900" b="1">
                    <a:solidFill>
                      <a:srgbClr val="1E293B"/>
                    </a:solidFill>
                    <a:latin typeface="Calibri"/>
                  </a:rPr>
                  <a:t>2.11.</a:t>
                </a:r>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=5</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d=2</m:t>
                    </m:r>
                  </m:oMath>
                </a14:m>
                <a:r>
                  <a:rPr sz="1900">
                    <a:solidFill>
                      <a:srgbClr val="1E293B"/>
                    </a:solidFill>
                    <a:latin typeface="Calibri"/>
                  </a:rPr>
                  <a:t>: tổng bao nhiêu số hạng đầu bằng 2 700?</a:t>
                </a:r>
              </a:p>
            </p:txBody>
          </p:sp>
        </mc:Choice>
        <mc:Fallback>
          <p:sp>
            <p:nvSpPr>
              <p:cNvPr id="10" name="TextBox 9"/>
              <p:cNvSpPr txBox="1"/>
              <p:nvPr/>
            </p:nvSpPr>
            <p:spPr>
              <a:xfrm>
                <a:off x="548640" y="3096768"/>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2.10.</a:t>
                </a:r>
                <a:r>
                  <a:rPr sz="1900">
                    <a:solidFill>
                      <a:srgbClr val="1E293B"/>
                    </a:solidFill>
                    <a:latin typeface="Calibri"/>
                  </a:rPr>
                  <a:t> </a:t>
                </a:r>
                <a:r>
                  <a:rPr lang="vi-VN"/>
                  <a:t>u_5=18</a:t>
                </a:r>
                <a:r>
                  <a:rPr sz="1900">
                    <a:solidFill>
                      <a:srgbClr val="1E293B"/>
                    </a:solidFill>
                    <a:latin typeface="Calibri"/>
                  </a:rPr>
                  <a:t>, </a:t>
                </a:r>
                <a:r>
                  <a:rPr lang="vi-VN"/>
                  <a:t>u_{12}=32</a:t>
                </a:r>
                <a:r>
                  <a:rPr sz="1900">
                    <a:solidFill>
                      <a:srgbClr val="1E293B"/>
                    </a:solidFill>
                    <a:latin typeface="Calibri"/>
                  </a:rPr>
                  <a:t>: tìm </a:t>
                </a:r>
                <a:r>
                  <a:rPr lang="vi-VN"/>
                  <a:t>u_{50}</a:t>
                </a:r>
                <a:r>
                  <a:rPr sz="1900">
                    <a:solidFill>
                      <a:srgbClr val="1E293B"/>
                    </a:solidFill>
                    <a:latin typeface="Calibri"/>
                  </a:rPr>
                  <a:t>. </a:t>
                </a:r>
                <a:r>
                  <a:rPr sz="1900" b="1">
                    <a:solidFill>
                      <a:srgbClr val="1E293B"/>
                    </a:solidFill>
                    <a:latin typeface="Calibri"/>
                  </a:rPr>
                  <a:t>2.11.</a:t>
                </a:r>
                <a:r>
                  <a:rPr sz="1900">
                    <a:solidFill>
                      <a:srgbClr val="1E293B"/>
                    </a:solidFill>
                    <a:latin typeface="Calibri"/>
                  </a:rPr>
                  <a:t> </a:t>
                </a:r>
                <a:r>
                  <a:rPr lang="vi-VN"/>
                  <a:t>u_1=5</a:t>
                </a:r>
                <a:r>
                  <a:rPr sz="1900">
                    <a:solidFill>
                      <a:srgbClr val="1E293B"/>
                    </a:solidFill>
                    <a:latin typeface="Calibri"/>
                  </a:rPr>
                  <a:t>, </a:t>
                </a:r>
                <a:r>
                  <a:rPr lang="vi-VN"/>
                  <a:t>d=2</a:t>
                </a:r>
                <a:r>
                  <a:rPr sz="1900">
                    <a:solidFill>
                      <a:srgbClr val="1E293B"/>
                    </a:solidFill>
                    <a:latin typeface="Calibri"/>
                  </a:rPr>
                  <a:t>: tổng bao nhiêu số hạng đầu bằng 2 700?</a:t>
                </a:r>
              </a:p>
            </p:txBody>
          </p:sp>
        </mc:Fallback>
      </mc:AlternateContent>
      <p:sp>
        <p:nvSpPr>
          <p:cNvPr id="11" name="s3_nen"/>
          <p:cNvSpPr/>
          <p:nvPr/>
        </p:nvSpPr>
        <p:spPr>
          <a:xfrm>
            <a:off x="548640" y="3913632"/>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3950208"/>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2.10. </a:t>
                </a:r>
                <a14:m>
                  <m:oMath xmlns:m="http://schemas.openxmlformats.org/officeDocument/2006/math">
                    <m:r>
                      <a:rPr lang="vi-VN" sz="1900" b="0">
                        <a:solidFill>
                          <a:srgbClr val="1E293B"/>
                        </a:solidFill>
                        <a:latin typeface="Cambria Math" panose="02040503050406030204" pitchFamily="18" charset="0"/>
                      </a:rPr>
                      <m:t>d=2</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=10</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50</m:t>
                        </m:r>
                      </m:sub>
                    </m:sSub>
                    <m:r>
                      <a:rPr lang="vi-VN" sz="1900" b="0">
                        <a:solidFill>
                          <a:srgbClr val="1E293B"/>
                        </a:solidFill>
                        <a:latin typeface="Cambria Math" panose="02040503050406030204" pitchFamily="18" charset="0"/>
                      </a:rPr>
                      <m:t>=108</m:t>
                    </m:r>
                  </m:oMath>
                </a14:m>
                <a:r>
                  <a:rPr sz="1900">
                    <a:solidFill>
                      <a:srgbClr val="1E293B"/>
                    </a:solidFill>
                    <a:latin typeface="Calibri"/>
                  </a:rPr>
                  <a:t>. 2.11. </a:t>
                </a:r>
                <a14:m>
                  <m:oMath xmlns:m="http://schemas.openxmlformats.org/officeDocument/2006/math">
                    <m:r>
                      <a:rPr lang="vi-VN" sz="1900" b="0">
                        <a:solidFill>
                          <a:srgbClr val="1E293B"/>
                        </a:solidFill>
                        <a:latin typeface="Cambria Math" panose="02040503050406030204" pitchFamily="18" charset="0"/>
                      </a:rPr>
                      <m:t>n(n+4)=2</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700⇒n=50</m:t>
                    </m:r>
                  </m:oMath>
                </a14:m>
                <a:r>
                  <a:rPr sz="1900">
                    <a:solidFill>
                      <a:srgbClr val="1E293B"/>
                    </a:solidFill>
                    <a:latin typeface="Calibri"/>
                  </a:rPr>
                  <a:t>.</a:t>
                </a:r>
              </a:p>
            </p:txBody>
          </p:sp>
        </mc:Choice>
        <mc:Fallback>
          <p:sp>
            <p:nvSpPr>
              <p:cNvPr id="12" name="TextBox 11"/>
              <p:cNvSpPr txBox="1"/>
              <p:nvPr/>
            </p:nvSpPr>
            <p:spPr>
              <a:xfrm>
                <a:off x="713232" y="3950208"/>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2.10. </a:t>
                </a:r>
                <a:r>
                  <a:rPr lang="vi-VN"/>
                  <a:t>d=2</a:t>
                </a:r>
                <a:r>
                  <a:rPr sz="1900">
                    <a:solidFill>
                      <a:srgbClr val="1E293B"/>
                    </a:solidFill>
                    <a:latin typeface="Calibri"/>
                  </a:rPr>
                  <a:t>, </a:t>
                </a:r>
                <a:r>
                  <a:rPr lang="vi-VN"/>
                  <a:t>u_1=10</a:t>
                </a:r>
                <a:r>
                  <a:rPr sz="1900">
                    <a:solidFill>
                      <a:srgbClr val="1E293B"/>
                    </a:solidFill>
                    <a:latin typeface="Calibri"/>
                  </a:rPr>
                  <a:t>, </a:t>
                </a:r>
                <a:r>
                  <a:rPr lang="vi-VN"/>
                  <a:t>u_{50}=108</a:t>
                </a:r>
                <a:r>
                  <a:rPr sz="1900">
                    <a:solidFill>
                      <a:srgbClr val="1E293B"/>
                    </a:solidFill>
                    <a:latin typeface="Calibri"/>
                  </a:rPr>
                  <a:t>. 2.11. </a:t>
                </a:r>
                <a:r>
                  <a:rPr lang="vi-VN"/>
                  <a:t>n(n+4)=2\ 700\Rightarrow n=50</a:t>
                </a:r>
                <a:r>
                  <a:rPr sz="19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BÀI TẬP 2.12 – 2.14 (SGK TR.51)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17</a:t>
            </a:r>
          </a:p>
        </p:txBody>
      </p:sp>
      <p:sp>
        <p:nvSpPr>
          <p:cNvPr id="7" name="TextBox 6"/>
          <p:cNvSpPr txBox="1"/>
          <p:nvPr/>
        </p:nvSpPr>
        <p:spPr>
          <a:xfrm>
            <a:off x="548640" y="1371600"/>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2.12.</a:t>
            </a:r>
            <a:r>
              <a:rPr sz="2000">
                <a:solidFill>
                  <a:srgbClr val="1E293B"/>
                </a:solidFill>
                <a:latin typeface="Calibri"/>
              </a:rPr>
              <a:t> Xe ô tô mua 680 triệu đồng, mỗi năm giảm 55 triệu đồng. Giá trị sau 5 năm? </a:t>
            </a:r>
            <a:r>
              <a:rPr sz="2000" b="1">
                <a:solidFill>
                  <a:srgbClr val="1E293B"/>
                </a:solidFill>
                <a:latin typeface="Calibri"/>
              </a:rPr>
              <a:t>2.13.</a:t>
            </a:r>
            <a:r>
              <a:rPr sz="2000">
                <a:solidFill>
                  <a:srgbClr val="1E293B"/>
                </a:solidFill>
                <a:latin typeface="Calibri"/>
              </a:rPr>
              <a:t> Hội trường: hàng 1 có 15 ghế, mỗi hàng sau nhiều hơn 3 ghế; sức chứa ít nhất 870 ghế. Tối thiểu bao nhiêu hàng?</a:t>
            </a:r>
          </a:p>
        </p:txBody>
      </p:sp>
      <p:sp>
        <p:nvSpPr>
          <p:cNvPr id="8" name="s1_nen"/>
          <p:cNvSpPr/>
          <p:nvPr/>
        </p:nvSpPr>
        <p:spPr>
          <a:xfrm>
            <a:off x="548640" y="2523744"/>
            <a:ext cx="110642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60320"/>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2.12. </a:t>
                </a:r>
                <a14:m>
                  <m:oMath xmlns:m="http://schemas.openxmlformats.org/officeDocument/2006/math">
                    <m:r>
                      <a:rPr lang="vi-VN" sz="2000" b="0">
                        <a:solidFill>
                          <a:srgbClr val="1E293B"/>
                        </a:solidFill>
                        <a:latin typeface="Cambria Math" panose="02040503050406030204" pitchFamily="18" charset="0"/>
                      </a:rPr>
                      <m:t>680−5·55=405</m:t>
                    </m:r>
                  </m:oMath>
                </a14:m>
                <a:r>
                  <a:rPr sz="2000">
                    <a:solidFill>
                      <a:srgbClr val="1E293B"/>
                    </a:solidFill>
                    <a:latin typeface="Calibri"/>
                  </a:rPr>
                  <a:t> triệu đồng. 2.13. </a:t>
                </a:r>
                <a14:m>
                  <m:oMath xmlns:m="http://schemas.openxmlformats.org/officeDocument/2006/math">
                    <m:f>
                      <m:fPr>
                        <m:type m:val="bar"/>
                      </m:fPr>
                      <m:num>
                        <m:r>
                          <a:rPr lang="vi-VN" sz="2000" b="0">
                            <a:solidFill>
                              <a:srgbClr val="1E293B"/>
                            </a:solidFill>
                            <a:latin typeface="Cambria Math" panose="02040503050406030204" pitchFamily="18" charset="0"/>
                          </a:rPr>
                          <m:t>n</m:t>
                        </m:r>
                      </m:num>
                      <m:den>
                        <m:r>
                          <a:rPr lang="vi-VN" sz="2000" b="0">
                            <a:solidFill>
                              <a:srgbClr val="1E293B"/>
                            </a:solidFill>
                            <a:latin typeface="Cambria Math" panose="02040503050406030204" pitchFamily="18" charset="0"/>
                          </a:rPr>
                          <m:t>2</m:t>
                        </m:r>
                      </m:den>
                    </m:f>
                    <m:r>
                      <a:rPr lang="vi-VN" sz="2000" b="0">
                        <a:solidFill>
                          <a:srgbClr val="1E293B"/>
                        </a:solidFill>
                        <a:latin typeface="Cambria Math" panose="02040503050406030204" pitchFamily="18" charset="0"/>
                      </a:rPr>
                      <m:t>[30+3(n−1)]≥870⇔</m:t>
                    </m:r>
                    <m:sSup>
                      <m:e>
                        <m:r>
                          <a:rPr lang="vi-VN" sz="2000" b="0">
                            <a:solidFill>
                              <a:srgbClr val="1E293B"/>
                            </a:solidFill>
                            <a:latin typeface="Cambria Math" panose="02040503050406030204" pitchFamily="18" charset="0"/>
                          </a:rPr>
                          <m:t>n</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+9n−580≥0⇔n≥20</m:t>
                    </m:r>
                  </m:oMath>
                </a14:m>
                <a:r>
                  <a:rPr sz="2000">
                    <a:solidFill>
                      <a:srgbClr val="1E293B"/>
                    </a:solidFill>
                    <a:latin typeface="Calibri"/>
                  </a:rPr>
                  <a:t>: tối thiểu 20 hàng.</a:t>
                </a:r>
              </a:p>
            </p:txBody>
          </p:sp>
        </mc:Choice>
        <mc:Fallback>
          <p:sp>
            <p:nvSpPr>
              <p:cNvPr id="9" name="TextBox 8"/>
              <p:cNvSpPr txBox="1"/>
              <p:nvPr/>
            </p:nvSpPr>
            <p:spPr>
              <a:xfrm>
                <a:off x="713232" y="2560320"/>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2.12. </a:t>
                </a:r>
                <a:r>
                  <a:rPr lang="vi-VN"/>
                  <a:t>680-5\cdot 55=405</a:t>
                </a:r>
                <a:r>
                  <a:rPr sz="2000">
                    <a:solidFill>
                      <a:srgbClr val="1E293B"/>
                    </a:solidFill>
                    <a:latin typeface="Calibri"/>
                  </a:rPr>
                  <a:t> triệu đồng. 2.13. </a:t>
                </a:r>
                <a:r>
                  <a:rPr lang="vi-VN"/>
                  <a:t>\frac{n}{2}[30+3(n-1)]\ge 870\Leftrightarrow n^2+9n-580\ge 0\Leftrightarrow n\ge 20</a:t>
                </a:r>
                <a:r>
                  <a:rPr sz="2000">
                    <a:solidFill>
                      <a:srgbClr val="1E293B"/>
                    </a:solidFill>
                    <a:latin typeface="Calibri"/>
                  </a:rPr>
                  <a:t>: tối thiểu 20 hàng.</a:t>
                </a:r>
              </a:p>
            </p:txBody>
          </p:sp>
        </mc:Fallback>
      </mc:AlternateContent>
      <p:sp>
        <p:nvSpPr>
          <p:cNvPr id="10" name="s2_chu"/>
          <p:cNvSpPr txBox="1"/>
          <p:nvPr/>
        </p:nvSpPr>
        <p:spPr>
          <a:xfrm>
            <a:off x="548640" y="3599688"/>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2.14.</a:t>
            </a:r>
            <a:r>
              <a:rPr sz="2000">
                <a:solidFill>
                  <a:srgbClr val="1E293B"/>
                </a:solidFill>
                <a:latin typeface="Calibri"/>
              </a:rPr>
              <a:t> Năm 2020 dân số 1,2 triệu người, mỗi năm tăng 30 nghìn người. Ước tính dân số năm 2030.</a:t>
            </a:r>
          </a:p>
        </p:txBody>
      </p:sp>
      <p:sp>
        <p:nvSpPr>
          <p:cNvPr id="11" name="s3_nen"/>
          <p:cNvSpPr/>
          <p:nvPr/>
        </p:nvSpPr>
        <p:spPr>
          <a:xfrm>
            <a:off x="548640" y="4447032"/>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483608"/>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2.14. </a:t>
                </a:r>
                <a14:m>
                  <m:oMath xmlns:m="http://schemas.openxmlformats.org/officeDocument/2006/math">
                    <m:sSub>
                      <m:e>
                        <m:r>
                          <a:rPr lang="vi-VN" sz="2000" b="0">
                            <a:solidFill>
                              <a:srgbClr val="1E293B"/>
                            </a:solidFill>
                            <a:latin typeface="Cambria Math" panose="02040503050406030204" pitchFamily="18" charset="0"/>
                          </a:rPr>
                          <m:t>u</m:t>
                        </m:r>
                      </m:e>
                      <m:sub>
                        <m:r>
                          <a:rPr lang="vi-VN" sz="2000" b="0">
                            <a:solidFill>
                              <a:srgbClr val="1E293B"/>
                            </a:solidFill>
                            <a:latin typeface="Cambria Math" panose="02040503050406030204" pitchFamily="18" charset="0"/>
                          </a:rPr>
                          <m:t>1</m:t>
                        </m:r>
                      </m:sub>
                    </m:sSub>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d=0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03</m:t>
                    </m:r>
                  </m:oMath>
                </a14:m>
                <a:r>
                  <a:rPr sz="2000">
                    <a:solidFill>
                      <a:srgbClr val="1E293B"/>
                    </a:solidFill>
                    <a:latin typeface="Calibri"/>
                  </a:rPr>
                  <a:t>: năm 2030 là </a:t>
                </a:r>
                <a14:m>
                  <m:oMath xmlns:m="http://schemas.openxmlformats.org/officeDocument/2006/math">
                    <m:sSub>
                      <m:e>
                        <m:r>
                          <a:rPr lang="vi-VN" sz="2000" b="0">
                            <a:solidFill>
                              <a:srgbClr val="1E293B"/>
                            </a:solidFill>
                            <a:latin typeface="Cambria Math" panose="02040503050406030204" pitchFamily="18" charset="0"/>
                          </a:rPr>
                          <m:t>u</m:t>
                        </m:r>
                      </m:e>
                      <m:sub>
                        <m:r>
                          <a:rPr lang="vi-VN" sz="2000" b="0">
                            <a:solidFill>
                              <a:srgbClr val="1E293B"/>
                            </a:solidFill>
                            <a:latin typeface="Cambria Math" panose="02040503050406030204" pitchFamily="18" charset="0"/>
                          </a:rPr>
                          <m:t>11</m:t>
                        </m:r>
                      </m:sub>
                    </m:sSub>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2+10·0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03=1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oMath>
                </a14:m>
                <a:r>
                  <a:rPr sz="2000">
                    <a:solidFill>
                      <a:srgbClr val="1E293B"/>
                    </a:solidFill>
                    <a:latin typeface="Calibri"/>
                  </a:rPr>
                  <a:t> triệu người.</a:t>
                </a:r>
              </a:p>
            </p:txBody>
          </p:sp>
        </mc:Choice>
        <mc:Fallback>
          <p:sp>
            <p:nvSpPr>
              <p:cNvPr id="12" name="TextBox 11"/>
              <p:cNvSpPr txBox="1"/>
              <p:nvPr/>
            </p:nvSpPr>
            <p:spPr>
              <a:xfrm>
                <a:off x="713232" y="4483608"/>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2.14. </a:t>
                </a:r>
                <a:r>
                  <a:rPr lang="vi-VN"/>
                  <a:t>u_1=1{,}2</a:t>
                </a:r>
                <a:r>
                  <a:rPr sz="2000">
                    <a:solidFill>
                      <a:srgbClr val="1E293B"/>
                    </a:solidFill>
                    <a:latin typeface="Calibri"/>
                  </a:rPr>
                  <a:t>, </a:t>
                </a:r>
                <a:r>
                  <a:rPr lang="vi-VN"/>
                  <a:t>d=0{,}03</a:t>
                </a:r>
                <a:r>
                  <a:rPr sz="2000">
                    <a:solidFill>
                      <a:srgbClr val="1E293B"/>
                    </a:solidFill>
                    <a:latin typeface="Calibri"/>
                  </a:rPr>
                  <a:t>: năm 2030 là </a:t>
                </a:r>
                <a:r>
                  <a:rPr lang="vi-VN"/>
                  <a:t>u_{11}=1{,}2+10\cdot 0{,}03=1{,}5</a:t>
                </a:r>
                <a:r>
                  <a:rPr sz="2000">
                    <a:solidFill>
                      <a:srgbClr val="1E293B"/>
                    </a:solidFill>
                    <a:latin typeface="Calibri"/>
                  </a:rPr>
                  <a:t> triệu người.</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18</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19</a:t>
            </a:r>
          </a:p>
        </p:txBody>
      </p:sp>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Dãy số nào sau đây là cấp số cộng?</a:t>
            </a:r>
          </a:p>
        </p:txBody>
      </p:sp>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1,\ 2,\ 4,\ 8</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10</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 3,\ 6,\ 10</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5,\ 2,\ -1,\ -4</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1,\ -1,\ 1,\ -1</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Công sai </a:t>
                </a:r>
                <a14:m>
                  <m:oMath xmlns:m="http://schemas.openxmlformats.org/officeDocument/2006/math">
                    <m:r>
                      <a:rPr lang="vi-VN" sz="2200" b="0">
                        <a:solidFill>
                          <a:srgbClr val="1E293B"/>
                        </a:solidFill>
                        <a:latin typeface="Cambria Math" panose="02040503050406030204" pitchFamily="18" charset="0"/>
                      </a:rPr>
                      <m:t>d=−3</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Công sai </a:t>
                </a:r>
                <a:r>
                  <a:rPr lang="vi-VN"/>
                  <a:t>d=-3</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20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Cấp số cộng có </a:t>
                </a:r>
                <a14:m>
                  <m:oMath xmlns:m="http://schemas.openxmlformats.org/officeDocument/2006/math">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1</m:t>
                        </m:r>
                      </m:sub>
                    </m:sSub>
                    <m:r>
                      <a:rPr lang="vi-VN" sz="2600" b="0">
                        <a:solidFill>
                          <a:srgbClr val="1E293B"/>
                        </a:solidFill>
                        <a:latin typeface="Cambria Math" panose="02040503050406030204" pitchFamily="18" charset="0"/>
                      </a:rPr>
                      <m:t>=−3</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d=4</m:t>
                    </m:r>
                  </m:oMath>
                </a14:m>
                <a:r>
                  <a:rPr sz="2600">
                    <a:solidFill>
                      <a:srgbClr val="1E293B"/>
                    </a:solidFill>
                    <a:latin typeface="Calibri"/>
                  </a:rPr>
                  <a:t>. Số hạng </a:t>
                </a:r>
                <a14:m>
                  <m:oMath xmlns:m="http://schemas.openxmlformats.org/officeDocument/2006/math">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20</m:t>
                        </m:r>
                      </m:sub>
                    </m:sSub>
                  </m:oMath>
                </a14:m>
                <a:r>
                  <a:rPr sz="2600">
                    <a:solidFill>
                      <a:srgbClr val="1E293B"/>
                    </a:solidFill>
                    <a:latin typeface="Calibri"/>
                  </a:rPr>
                  <a:t> bằng</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Cấp số cộng có </a:t>
                </a:r>
                <a:r>
                  <a:rPr lang="vi-VN"/>
                  <a:t>u_1=-3</a:t>
                </a:r>
                <a:r>
                  <a:rPr sz="2600">
                    <a:solidFill>
                      <a:srgbClr val="1E293B"/>
                    </a:solidFill>
                    <a:latin typeface="Calibri"/>
                  </a:rPr>
                  <a:t>, </a:t>
                </a:r>
                <a:r>
                  <a:rPr lang="vi-VN"/>
                  <a:t>d=4</a:t>
                </a:r>
                <a:r>
                  <a:rPr sz="2600">
                    <a:solidFill>
                      <a:srgbClr val="1E293B"/>
                    </a:solidFill>
                    <a:latin typeface="Calibri"/>
                  </a:rPr>
                  <a:t>. Số hạng </a:t>
                </a:r>
                <a:r>
                  <a:rPr lang="vi-VN"/>
                  <a:t>u_{20}</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77</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77</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73</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73</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80</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80</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−79</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-79</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20</m:t>
                        </m:r>
                      </m:sub>
                    </m:sSub>
                    <m:r>
                      <a:rPr lang="vi-VN" sz="2200" b="0">
                        <a:solidFill>
                          <a:srgbClr val="1E293B"/>
                        </a:solidFill>
                        <a:latin typeface="Cambria Math" panose="02040503050406030204" pitchFamily="18" charset="0"/>
                      </a:rPr>
                      <m:t>=−3+19·4=73</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u_{20}=-3+19\cdot 4=73</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21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cộng </a:t>
                </a:r>
                <a14:m>
                  <m:oMath xmlns:m="http://schemas.openxmlformats.org/officeDocument/2006/math">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10,…</m:t>
                    </m:r>
                  </m:oMath>
                </a14:m>
                <a:r>
                  <a:rPr sz="2400">
                    <a:solidFill>
                      <a:srgbClr val="1E293B"/>
                    </a:solidFill>
                    <a:latin typeface="Calibri"/>
                  </a:rPr>
                  <a:t> Xét tính đúng, sai:</a:t>
                </a:r>
              </a:p>
            </p:txBody>
          </p:sp>
        </mc:Choice>
        <mc:Fallback>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cộng </a:t>
                </a:r>
                <a:r>
                  <a:rPr lang="vi-VN"/>
                  <a:t>2,\ 6,\ 10,\ldots</a:t>
                </a:r>
                <a:r>
                  <a:rPr sz="2400">
                    <a:solidFill>
                      <a:srgbClr val="1E293B"/>
                    </a:solidFill>
                    <a:latin typeface="Calibri"/>
                  </a:rPr>
                  <a:t> Xét tính đúng, sai:</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Công sai </a:t>
                </a:r>
                <a14:m>
                  <m:oMath xmlns:m="http://schemas.openxmlformats.org/officeDocument/2006/math">
                    <m:r>
                      <a:rPr lang="vi-VN" sz="2300" b="0">
                        <a:solidFill>
                          <a:srgbClr val="1E293B"/>
                        </a:solidFill>
                        <a:latin typeface="Cambria Math" panose="02040503050406030204" pitchFamily="18" charset="0"/>
                      </a:rPr>
                      <m:t>d=4</m:t>
                    </m:r>
                  </m:oMath>
                </a14:m>
                <a:r>
                  <a:rPr sz="2300">
                    <a:solidFill>
                      <a:srgbClr val="1E293B"/>
                    </a:solidFill>
                    <a:latin typeface="Calibri"/>
                  </a:rPr>
                  <a:t>.</a:t>
                </a:r>
              </a:p>
            </p:txBody>
          </p:sp>
        </mc:Choice>
        <mc:Fallback>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Công sai </a:t>
                </a:r>
                <a:r>
                  <a:rPr lang="vi-VN"/>
                  <a:t>d=4</a:t>
                </a:r>
                <a:r>
                  <a:rPr sz="2300">
                    <a:solidFill>
                      <a:srgbClr val="1E293B"/>
                    </a:solidFill>
                    <a:latin typeface="Calibri"/>
                  </a:rPr>
                  <a:t>.</a:t>
                </a:r>
              </a:p>
            </p:txBody>
          </p:sp>
        </mc:Fallback>
      </mc:AlternateContent>
      <p:sp>
        <p:nvSpPr>
          <p:cNvPr id="9" name="s1_nen"/>
          <p:cNvSpPr/>
          <p:nvPr/>
        </p:nvSpPr>
        <p:spPr>
          <a:xfrm>
            <a:off x="8412480" y="1975104"/>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011680"/>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r>
                      <a:rPr lang="vi-VN" sz="2300" b="0">
                        <a:solidFill>
                          <a:srgbClr val="1E293B"/>
                        </a:solidFill>
                        <a:latin typeface="Cambria Math" panose="02040503050406030204" pitchFamily="18" charset="0"/>
                      </a:rPr>
                      <m:t>=4n−2</m:t>
                    </m:r>
                  </m:oMath>
                </a14:m>
                <a:r>
                  <a:rPr sz="2300">
                    <a:solidFill>
                      <a:srgbClr val="1E293B"/>
                    </a:solidFill>
                    <a:latin typeface="Calibri"/>
                  </a:rPr>
                  <a:t>.</a:t>
                </a:r>
              </a:p>
            </p:txBody>
          </p:sp>
        </mc:Choice>
        <mc:Fallback>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a:t>
                </a:r>
                <a:r>
                  <a:rPr lang="vi-VN"/>
                  <a:t>u_n=4n-2</a:t>
                </a:r>
                <a:r>
                  <a:rPr sz="2300">
                    <a:solidFill>
                      <a:srgbClr val="1E293B"/>
                    </a:solidFill>
                    <a:latin typeface="Calibri"/>
                  </a:rPr>
                  <a:t>.</a:t>
                </a:r>
              </a:p>
            </p:txBody>
          </p:sp>
        </mc:Fallback>
      </mc:AlternateContent>
      <p:sp>
        <p:nvSpPr>
          <p:cNvPr id="12" name="s2_nen"/>
          <p:cNvSpPr/>
          <p:nvPr/>
        </p:nvSpPr>
        <p:spPr>
          <a:xfrm>
            <a:off x="8412480" y="2962656"/>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577072" y="2999232"/>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4" name="TextBox 13"/>
              <p:cNvSpPr txBox="1"/>
              <p:nvPr/>
            </p:nvSpPr>
            <p:spPr>
              <a:xfrm>
                <a:off x="548640" y="3977639"/>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c) </a:t>
                </a:r>
                <a14:m>
                  <m:oMath xmlns:m="http://schemas.openxmlformats.org/officeDocument/2006/math">
                    <m:sSub>
                      <m:e>
                        <m:r>
                          <a:rPr lang="vi-VN" sz="2300" b="0">
                            <a:solidFill>
                              <a:srgbClr val="1E293B"/>
                            </a:solidFill>
                            <a:latin typeface="Cambria Math" panose="02040503050406030204" pitchFamily="18" charset="0"/>
                          </a:rPr>
                          <m:t>S</m:t>
                        </m:r>
                      </m:e>
                      <m:sub>
                        <m:r>
                          <a:rPr lang="vi-VN" sz="2300" b="0">
                            <a:solidFill>
                              <a:srgbClr val="1E293B"/>
                            </a:solidFill>
                            <a:latin typeface="Cambria Math" panose="02040503050406030204" pitchFamily="18" charset="0"/>
                          </a:rPr>
                          <m:t>10</m:t>
                        </m:r>
                      </m:sub>
                    </m:sSub>
                    <m:r>
                      <a:rPr lang="vi-VN" sz="2300" b="0">
                        <a:solidFill>
                          <a:srgbClr val="1E293B"/>
                        </a:solidFill>
                        <a:latin typeface="Cambria Math" panose="02040503050406030204" pitchFamily="18" charset="0"/>
                      </a:rPr>
                      <m:t>=200</m:t>
                    </m:r>
                  </m:oMath>
                </a14:m>
                <a:r>
                  <a:rPr sz="2300">
                    <a:solidFill>
                      <a:srgbClr val="1E293B"/>
                    </a:solidFill>
                    <a:latin typeface="Calibri"/>
                  </a:rPr>
                  <a:t>.</a:t>
                </a:r>
              </a:p>
            </p:txBody>
          </p:sp>
        </mc:Choice>
        <mc:Fallback>
          <p:sp>
            <p:nvSpPr>
              <p:cNvPr id="14" name="TextBox 13"/>
              <p:cNvSpPr txBox="1"/>
              <p:nvPr/>
            </p:nvSpPr>
            <p:spPr>
              <a:xfrm>
                <a:off x="548640" y="3977639"/>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c) </a:t>
                </a:r>
                <a:r>
                  <a:rPr lang="vi-VN"/>
                  <a:t>S_{10}=200</a:t>
                </a:r>
                <a:r>
                  <a:rPr sz="2300">
                    <a:solidFill>
                      <a:srgbClr val="1E293B"/>
                    </a:solidFill>
                    <a:latin typeface="Calibri"/>
                  </a:rPr>
                  <a:t>.</a:t>
                </a:r>
              </a:p>
            </p:txBody>
          </p:sp>
        </mc:Fallback>
      </mc:AlternateContent>
      <p:sp>
        <p:nvSpPr>
          <p:cNvPr id="15" name="s3_nen"/>
          <p:cNvSpPr/>
          <p:nvPr/>
        </p:nvSpPr>
        <p:spPr>
          <a:xfrm>
            <a:off x="8412480" y="3950207"/>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3986783"/>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p:sp>
        <p:nvSpPr>
          <p:cNvPr id="17" name="TextBox 16"/>
          <p:cNvSpPr txBox="1"/>
          <p:nvPr/>
        </p:nvSpPr>
        <p:spPr>
          <a:xfrm>
            <a:off x="548640" y="4965192"/>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d) Số 100 là một số hạng của dãy.</a:t>
            </a:r>
          </a:p>
        </p:txBody>
      </p:sp>
      <p:sp>
        <p:nvSpPr>
          <p:cNvPr id="18" name="s4_nen"/>
          <p:cNvSpPr/>
          <p:nvPr/>
        </p:nvSpPr>
        <p:spPr>
          <a:xfrm>
            <a:off x="8412480" y="4937759"/>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577072" y="4974336"/>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(4n − 2 = 100 vô nghiệm nguyên)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4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22</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tổng </a:t>
                </a:r>
                <a14:m>
                  <m:oMath xmlns:m="http://schemas.openxmlformats.org/officeDocument/2006/math">
                    <m:r>
                      <a:rPr lang="vi-VN" sz="2600" b="0">
                        <a:solidFill>
                          <a:srgbClr val="1E293B"/>
                        </a:solidFill>
                        <a:latin typeface="Cambria Math" panose="02040503050406030204" pitchFamily="18" charset="0"/>
                      </a:rPr>
                      <m:t>1+2+3+…+100</m:t>
                    </m:r>
                  </m:oMath>
                </a14:m>
                <a:r>
                  <a:rPr sz="2600">
                    <a:solidFill>
                      <a:srgbClr val="1E293B"/>
                    </a:solidFill>
                    <a:latin typeface="Calibri"/>
                  </a:rPr>
                  <a:t>.</a:t>
                </a:r>
              </a:p>
            </p:txBody>
          </p:sp>
        </mc:Choice>
        <mc:Fallback>
          <p:sp>
            <p:nvSpPr>
              <p:cNvPr id="7" name="TextBox 6"/>
              <p:cNvSpPr txBox="1"/>
              <p:nvPr/>
            </p:nvSpPr>
            <p:spPr>
              <a:xfrm>
                <a:off x="548640" y="146304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tổng </a:t>
                </a:r>
                <a:r>
                  <a:rPr lang="vi-VN"/>
                  <a:t>1+2+3+\ldots+100</a:t>
                </a:r>
                <a:r>
                  <a:rPr sz="2600">
                    <a:solidFill>
                      <a:srgbClr val="1E293B"/>
                    </a:solidFill>
                    <a:latin typeface="Calibri"/>
                  </a:rPr>
                  <a:t>.</a:t>
                </a:r>
              </a:p>
            </p:txBody>
          </p:sp>
        </mc:Fallback>
      </mc:AlternateContent>
      <p:sp>
        <p:nvSpPr>
          <p:cNvPr id="8" name="s1_nen"/>
          <p:cNvSpPr/>
          <p:nvPr/>
        </p:nvSpPr>
        <p:spPr>
          <a:xfrm>
            <a:off x="548640" y="3931920"/>
            <a:ext cx="11064240" cy="79552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5050.</a:t>
                </a:r>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100(1+100)</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050</m:t>
                    </m:r>
                  </m:oMath>
                </a14:m>
                <a:r>
                  <a:rPr sz="2400">
                    <a:solidFill>
                      <a:srgbClr val="1E293B"/>
                    </a:solidFill>
                    <a:latin typeface="Calibri"/>
                  </a:rPr>
                  <a:t>.</a:t>
                </a:r>
              </a:p>
            </p:txBody>
          </p:sp>
        </mc:Choice>
        <mc:Fallback>
          <p:sp>
            <p:nvSpPr>
              <p:cNvPr id="9" name="TextBox 8"/>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5050.</a:t>
                </a:r>
                <a:r>
                  <a:rPr sz="2400">
                    <a:solidFill>
                      <a:srgbClr val="1E293B"/>
                    </a:solidFill>
                    <a:latin typeface="Calibri"/>
                  </a:rPr>
                  <a:t> </a:t>
                </a:r>
                <a:r>
                  <a:rPr lang="vi-VN"/>
                  <a:t>S_{100}=\frac{100(1+100)}{2}=5\ 050</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5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23</a:t>
            </a:r>
          </a:p>
        </p:txBody>
      </p:sp>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người trồng cà phê theo hàng: hàng đầu 20 cây, mỗi hàng sau nhiều hơn 2 cây; vườn có 15 hàng. Vườn có bao nhiêu cây?</a:t>
            </a:r>
          </a:p>
        </p:txBody>
      </p:sp>
      <p:sp>
        <p:nvSpPr>
          <p:cNvPr id="8" name="s1_nen"/>
          <p:cNvSpPr/>
          <p:nvPr/>
        </p:nvSpPr>
        <p:spPr>
          <a:xfrm>
            <a:off x="548640" y="3931920"/>
            <a:ext cx="11064240" cy="79552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510.</a:t>
                </a:r>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15</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15</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[40+14·2]=510</m:t>
                    </m:r>
                  </m:oMath>
                </a14:m>
                <a:r>
                  <a:rPr sz="2400">
                    <a:solidFill>
                      <a:srgbClr val="1E293B"/>
                    </a:solidFill>
                    <a:latin typeface="Calibri"/>
                  </a:rPr>
                  <a:t> cây.</a:t>
                </a:r>
              </a:p>
            </p:txBody>
          </p:sp>
        </mc:Choice>
        <mc:Fallback>
          <p:sp>
            <p:nvSpPr>
              <p:cNvPr id="9" name="TextBox 8"/>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510.</a:t>
                </a:r>
                <a:r>
                  <a:rPr sz="2400">
                    <a:solidFill>
                      <a:srgbClr val="1E293B"/>
                    </a:solidFill>
                    <a:latin typeface="Calibri"/>
                  </a:rPr>
                  <a:t> </a:t>
                </a:r>
                <a:r>
                  <a:rPr lang="vi-VN"/>
                  <a:t>S_{15}=\frac{15}{2}[40+14\cdot 2]=510</a:t>
                </a:r>
                <a:r>
                  <a:rPr sz="2400">
                    <a:solidFill>
                      <a:srgbClr val="1E293B"/>
                    </a:solidFill>
                    <a:latin typeface="Calibri"/>
                  </a:rPr>
                  <a:t> cây.</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24</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https://trangtu66.github.io/Taode_thi_online/cc_bai6_t11.html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2.8 – 2.14.</a:t>
            </a:r>
          </a:p>
          <a:p>
            <a:pPr algn="l" marL="365760" indent="-365760">
              <a:spcAft>
                <a:spcPts val="800"/>
              </a:spcAft>
              <a:buClr>
                <a:srgbClr val="1E40AF"/>
              </a:buClr>
              <a:buFont typeface="Arial"/>
              <a:buChar char="•"/>
            </a:pPr>
            <a:r>
              <a:rPr sz="2200">
                <a:solidFill>
                  <a:srgbClr val="1E293B"/>
                </a:solidFill>
                <a:latin typeface="Calibri"/>
              </a:rPr>
              <a:t>Đọc trước </a:t>
            </a:r>
            <a:r>
              <a:rPr sz="2200" b="1">
                <a:solidFill>
                  <a:srgbClr val="1E293B"/>
                </a:solidFill>
                <a:latin typeface="Calibri"/>
              </a:rPr>
              <a:t>Bài 7. Cấp số nhân</a:t>
            </a:r>
            <a:r>
              <a:rPr sz="2200">
                <a:solidFill>
                  <a:srgbClr val="1E293B"/>
                </a:solidFill>
                <a:latin typeface="Calibri"/>
              </a:rPr>
              <a:t> (SGK tr.52).</a:t>
            </a:r>
          </a:p>
        </p:txBody>
      </p:sp>
      <p:pic>
        <p:nvPicPr>
          <p:cNvPr id="8" name="Picture 7" descr="QR_CungCo_Bai6_Toan11.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25</a:t>
            </a:r>
          </a:p>
        </p:txBody>
      </p:sp>
      <p:pic>
        <p:nvPicPr>
          <p:cNvPr id="7" name="Picture 6" descr="SoDoTuDuy_TOAN11_Bai6_CapSoCong_T13-14.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26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Dùng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+nd</m:t>
                    </m:r>
                  </m:oMath>
                </a14:m>
                <a:r>
                  <a:rPr sz="2100">
                    <a:solidFill>
                      <a:srgbClr val="1E293B"/>
                    </a:solidFill>
                    <a:latin typeface="Calibri"/>
                  </a:rPr>
                  <a:t> (đúng là </a:t>
                </a:r>
                <a14:m>
                  <m:oMath xmlns:m="http://schemas.openxmlformats.org/officeDocument/2006/math">
                    <m:r>
                      <a:rPr lang="vi-VN" sz="2100" b="0">
                        <a:solidFill>
                          <a:srgbClr val="1E293B"/>
                        </a:solidFill>
                        <a:latin typeface="Cambria Math" panose="02040503050406030204" pitchFamily="18" charset="0"/>
                      </a:rPr>
                      <m:t>(n−1)d</m:t>
                    </m:r>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Kết luận cấp số cộng chỉ từ 3 số hạng đầu.</a:t>
                </a:r>
              </a:p>
              <a:p>
                <a:pPr algn="l" marL="365760" indent="-365760">
                  <a:spcAft>
                    <a:spcPts val="800"/>
                  </a:spcAft>
                  <a:buClr>
                    <a:srgbClr val="1E40AF"/>
                  </a:buClr>
                  <a:buFont typeface="Arial"/>
                  <a:buChar char="•"/>
                </a:pPr>
                <a:r>
                  <a:rPr sz="2100">
                    <a:solidFill>
                      <a:srgbClr val="1E293B"/>
                    </a:solidFill>
                    <a:latin typeface="Calibri"/>
                  </a:rPr>
                  <a:t>Bài 2.13: giải bất phương trình bậc hai sai chiều, quên điều kiện </a:t>
                </a:r>
                <a14:m>
                  <m:oMath xmlns:m="http://schemas.openxmlformats.org/officeDocument/2006/math">
                    <m:r>
                      <a:rPr lang="vi-VN" sz="2100" b="0">
                        <a:solidFill>
                          <a:srgbClr val="1E293B"/>
                        </a:solidFill>
                        <a:latin typeface="Cambria Math" panose="02040503050406030204" pitchFamily="18" charset="0"/>
                      </a:rPr>
                      <m:t>n</m:t>
                    </m:r>
                  </m:oMath>
                </a14:m>
                <a:r>
                  <a:rPr sz="2100">
                    <a:solidFill>
                      <a:srgbClr val="1E293B"/>
                    </a:solidFill>
                    <a:latin typeface="Calibri"/>
                  </a:rPr>
                  <a:t> nguyên dương.</a:t>
                </a:r>
              </a:p>
              <a:p>
                <a:pPr algn="l" marL="365760" indent="-365760">
                  <a:spcAft>
                    <a:spcPts val="800"/>
                  </a:spcAft>
                  <a:buClr>
                    <a:srgbClr val="1E40AF"/>
                  </a:buClr>
                  <a:buFont typeface="Arial"/>
                  <a:buChar char="•"/>
                </a:pPr>
                <a:r>
                  <a:rPr sz="2100">
                    <a:solidFill>
                      <a:srgbClr val="1E293B"/>
                    </a:solidFill>
                    <a:latin typeface="Calibri"/>
                  </a:rPr>
                  <a:t>Bài 2.14: lấy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10</m:t>
                        </m:r>
                      </m:sub>
                    </m:sSub>
                  </m:oMath>
                </a14:m>
                <a:r>
                  <a:rPr sz="2100">
                    <a:solidFill>
                      <a:srgbClr val="1E293B"/>
                    </a:solidFill>
                    <a:latin typeface="Calibri"/>
                  </a:rPr>
                  <a:t> thay vì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11</m:t>
                        </m:r>
                      </m:sub>
                    </m:sSub>
                  </m:oMath>
                </a14:m>
                <a:r>
                  <a:rPr sz="2100">
                    <a:solidFill>
                      <a:srgbClr val="1E293B"/>
                    </a:solidFill>
                    <a:latin typeface="Calibri"/>
                  </a:rPr>
                  <a:t> (năm 2020 là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1</m:t>
                        </m:r>
                      </m:sub>
                    </m:sSub>
                  </m:oMath>
                </a14:m>
                <a:r>
                  <a:rPr sz="2100">
                    <a:solidFill>
                      <a:srgbClr val="1E293B"/>
                    </a:solidFill>
                    <a:latin typeface="Calibri"/>
                  </a:rPr>
                  <a:t>).</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Dùng </a:t>
                </a:r>
                <a:r>
                  <a:rPr lang="vi-VN"/>
                  <a:t>u_n=u_1+nd</a:t>
                </a:r>
                <a:r>
                  <a:rPr sz="2100">
                    <a:solidFill>
                      <a:srgbClr val="1E293B"/>
                    </a:solidFill>
                    <a:latin typeface="Calibri"/>
                  </a:rPr>
                  <a:t> (đúng là </a:t>
                </a:r>
                <a:r>
                  <a:rPr lang="vi-VN"/>
                  <a:t>(n-1)d</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Kết luận cấp số cộng chỉ từ 3 số hạng đầu.</a:t>
                </a:r>
              </a:p>
              <a:p>
                <a:pPr algn="l" marL="365760" indent="-365760">
                  <a:spcAft>
                    <a:spcPts val="800"/>
                  </a:spcAft>
                  <a:buClr>
                    <a:srgbClr val="1E40AF"/>
                  </a:buClr>
                  <a:buFont typeface="Arial"/>
                  <a:buChar char="•"/>
                </a:pPr>
                <a:r>
                  <a:rPr sz="2100">
                    <a:solidFill>
                      <a:srgbClr val="1E293B"/>
                    </a:solidFill>
                    <a:latin typeface="Calibri"/>
                  </a:rPr>
                  <a:t>Bài 2.13: giải bất phương trình bậc hai sai chiều, quên điều kiện </a:t>
                </a:r>
                <a:r>
                  <a:rPr lang="vi-VN"/>
                  <a:t>n</a:t>
                </a:r>
                <a:r>
                  <a:rPr sz="2100">
                    <a:solidFill>
                      <a:srgbClr val="1E293B"/>
                    </a:solidFill>
                    <a:latin typeface="Calibri"/>
                  </a:rPr>
                  <a:t> nguyên dương.</a:t>
                </a:r>
              </a:p>
              <a:p>
                <a:pPr algn="l" marL="365760" indent="-365760">
                  <a:spcAft>
                    <a:spcPts val="800"/>
                  </a:spcAft>
                  <a:buClr>
                    <a:srgbClr val="1E40AF"/>
                  </a:buClr>
                  <a:buFont typeface="Arial"/>
                  <a:buChar char="•"/>
                </a:pPr>
                <a:r>
                  <a:rPr sz="2100">
                    <a:solidFill>
                      <a:srgbClr val="1E293B"/>
                    </a:solidFill>
                    <a:latin typeface="Calibri"/>
                  </a:rPr>
                  <a:t>Bài 2.14: lấy </a:t>
                </a:r>
                <a:r>
                  <a:rPr lang="vi-VN"/>
                  <a:t>u_{10}</a:t>
                </a:r>
                <a:r>
                  <a:rPr sz="2100">
                    <a:solidFill>
                      <a:srgbClr val="1E293B"/>
                    </a:solidFill>
                    <a:latin typeface="Calibri"/>
                  </a:rPr>
                  <a:t> thay vì </a:t>
                </a:r>
                <a:r>
                  <a:rPr lang="vi-VN"/>
                  <a:t>u_{11}</a:t>
                </a:r>
                <a:r>
                  <a:rPr sz="2100">
                    <a:solidFill>
                      <a:srgbClr val="1E293B"/>
                    </a:solidFill>
                    <a:latin typeface="Calibri"/>
                  </a:rPr>
                  <a:t> (năm 2020 là </a:t>
                </a:r>
                <a:r>
                  <a:rPr lang="vi-VN"/>
                  <a:t>u_1</a:t>
                </a:r>
                <a:r>
                  <a:rPr sz="2100">
                    <a:solidFill>
                      <a:srgbClr val="1E293B"/>
                    </a:solidFill>
                    <a:latin typeface="Calibri"/>
                  </a:rPr>
                  <a:t>).</a:t>
                </a: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Cấp số cộng – Toán 11          27</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HĐ1, HĐ2, Ví dụ 1, 3, Bài 2.8.</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Ví dụ 6, Bài 2.11, 2.13; tính tổng bằng máy tính (Σ).</a:t>
            </a:r>
          </a:p>
          <a:p>
            <a:pPr algn="l" marL="365760" indent="-365760">
              <a:spcAft>
                <a:spcPts val="800"/>
              </a:spcAft>
              <a:buClr>
                <a:srgbClr val="1E40AF"/>
              </a:buClr>
              <a:buFont typeface="Arial"/>
              <a:buChar char="•"/>
            </a:pPr>
            <a:r>
              <a:rPr sz="2000">
                <a:solidFill>
                  <a:srgbClr val="1E293B"/>
                </a:solidFill>
                <a:latin typeface="Calibri"/>
              </a:rPr>
              <a:t>Khối 11 không có HS khuyết tật.</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máy tính cầm tay.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