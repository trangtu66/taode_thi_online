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Bìa. Đáp án, lời giải hiện theo click. Nút GeoGebra mở trang online (cần Internet).</a:t>
            </a:r>
          </a:p>
          <a:p>
            <a:r>
              <a:t>Khối 11 năm học 2026 – 2027 không có HS khuyết tật; vẫn ghi đủ chữ trên slide để HS tự đọc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Yêu cầu cần đạt lấy từ khung 'Kiến thức, kĩ năng' SGK tr.69.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video mở đầu (ảnh thật, lồng tiếng, phụ đề – không nói đáp án), HS quét QR xem lại. 4'. Các nhóm chuẩn bị trả lời nhanh.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4'. HS nhắc lại trước khi GV hiện từng khung.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8'. Đáp án: C B B B C (SGV).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15'. Chữa bài: HS trình bày, click hiện đáp án (đối chiếu KHBD, SGV; đã kiểm tra bằng Python).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HS một bảng con. Mỗi câu 30 giây (Đ/S, trả lời ngắn, thực tế: 60 giây). Sai rời sàn thi; có thể 'cứu trợ' 1 lần. Cấu trúc 3 câu theo đề thi từ 2025: nhiều lựa chọn, Đúng/Sai, trả lời ngắn, thực tế. Đáp án đã kiểm tra bằng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HS quét QR làm bài củng cố online ở nhà. Đáp án chỉ mở khi GV cho phép.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Củng cố cuối chương.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rangtu66.github.io/Taode_thi_online/mon/toan/video/lop11/VIDEO_MoDau_TOAN11_BaiTapCuoiChuong3.mp4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hyperlink" Target="https://trangtu66.github.io/Taode_thi_online/cc_chuong3_t11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CD34D"/>
                </a:solidFill>
                <a:latin typeface="Cambria"/>
              </a:rPr>
              <a:t>CHƯƠNG III. CÁC SỐ ĐẶC TRƯNG ĐO XU THẾ TRUNG TÂM CỦA MẪU SỐ LIỆU GHÉP NHÓM</a:t>
            </a:r>
          </a:p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ÔN TẬP CHƯƠNG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BÀI TẬP CUỐI CHƯƠNG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1 tiết: T21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III – Toán 11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180746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53896"/>
            <a:ext cx="10735056" cy="1734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Yêu cầu cần đạt</a:t>
            </a:r>
            <a:r>
              <a:rPr sz="2200">
                <a:solidFill>
                  <a:srgbClr val="1E293B"/>
                </a:solidFill>
                <a:latin typeface="Calibri"/>
              </a:rPr>
              <a:t> (SGK tr.69)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Hệ thống kiến thức Chương III: mẫu số liệu ghép nhóm; số trung bình, trung vị, tứ phân vị, mốt.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Giải các bài tập tổng hợp (Bài 3.8 – 3.15).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53384"/>
            <a:ext cx="110642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Năng lực toán học:</a:t>
            </a:r>
            <a:r>
              <a:rPr sz="2200">
                <a:solidFill>
                  <a:srgbClr val="1E293B"/>
                </a:solidFill>
                <a:latin typeface="Calibri"/>
              </a:rPr>
              <a:t> tư duy và lập luận; mô hình hoá (thể dục, dân số, tuổi thọ ong, xếp hạng đại học); giải quyết vấn đề; sử dụng công cụ (máy tính cầm tay, bảng tính).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Phẩm chất:</a:t>
            </a:r>
            <a:r>
              <a:rPr sz="2200">
                <a:solidFill>
                  <a:srgbClr val="1E293B"/>
                </a:solidFill>
                <a:latin typeface="Calibri"/>
              </a:rPr>
              <a:t> chăm chỉ, trung thực, trách nhiệm.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KHỞI ĐỘNG – ÔN TẬP CHƯƠNG III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III – Toán 11     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58368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Chương III giúp chúng ta đọc, ghép nhóm số liệu và ước lượng các số đặc trưng khi chỉ có số liệu ghép nhóm. </a:t>
            </a:r>
            <a:r>
              <a:rPr sz="2200" b="1">
                <a:solidFill>
                  <a:srgbClr val="1E293B"/>
                </a:solidFill>
                <a:latin typeface="Calibri"/>
              </a:rPr>
              <a:t>Trước khi luyện tập, em hãy nhớ lại:</a:t>
            </a:r>
            <a:r>
              <a:rPr sz="2200">
                <a:solidFill>
                  <a:srgbClr val="1E293B"/>
                </a:solidFill>
                <a:latin typeface="Calibri"/>
              </a:rPr>
              <a:t> cách ghép nhóm, đọc bảng tần số ghép nhóm; công thức số trung bình, trung vị, tứ phân vị, mốt.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(Video mở đầu – Bài tập cuối chương III)</a:t>
            </a:r>
          </a:p>
        </p:txBody>
      </p:sp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349240"/>
            <a:ext cx="3931920" cy="6400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VIDEO MỞ ĐẦU</a:t>
            </a:r>
          </a:p>
        </p:txBody>
      </p:sp>
      <p:pic>
        <p:nvPicPr>
          <p:cNvPr id="9" name="Picture 8" descr="qr_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074920"/>
            <a:ext cx="1188720" cy="1188720"/>
          </a:xfrm>
          <a:prstGeom prst="rect">
            <a:avLst/>
          </a:prstGeom>
        </p:spPr>
      </p:pic>
      <p:pic>
        <p:nvPicPr>
          <p:cNvPr id="10" name="Picture 9" descr="xa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240280"/>
            <a:ext cx="438912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5504688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Ảnh: Wikimedia Commons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HỆ THỐNG KIẾN THỨC CHƯƠNG III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III – Toán 11        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873251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Giá trị đại diện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i+1</m:t>
                            </m:r>
                          </m:sub>
                        </m:sSub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―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Giá trị đại diện </a:t>
                </a:r>
                <a:r>
                  <a:rPr lang="vi-VN"/>
                  <a:t>x_i=\frac{a_i+a_{i+1}}{2}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\overline{x}=\frac{m_1x_1+\ldots+m_kx_k}{n}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548640" y="2519172"/>
            <a:ext cx="11064240" cy="133731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1_chu"/>
              <p:cNvSpPr txBox="1"/>
              <p:nvPr/>
            </p:nvSpPr>
            <p:spPr>
              <a:xfrm>
                <a:off x="713232" y="2555748"/>
                <a:ext cx="10735056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Nhóm chứa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có khoảng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r·n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giá trị nhỏ hơn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(dùng tần số tích luỹ).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rn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−(</m:t>
                        </m:r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p−1</m:t>
                            </m:r>
                          </m:sub>
                        </m:s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·(</m:t>
                    </m:r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p+1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13232" y="2555748"/>
                <a:ext cx="10735056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Nhóm chứa </a:t>
                </a:r>
                <a:r>
                  <a:rPr lang="vi-VN"/>
                  <a:t>Q_r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có khoảng </a:t>
                </a:r>
                <a:r>
                  <a:rPr lang="vi-VN"/>
                  <a:t>\frac{r\cdot n}{4}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giá trị nhỏ hơn </a:t>
                </a:r>
                <a:r>
                  <a:rPr lang="vi-VN"/>
                  <a:t>Q_r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(dùng tần số tích luỹ). </a:t>
                </a:r>
                <a:r>
                  <a:rPr lang="vi-VN"/>
                  <a:t>Q_r=a_p+\frac{\frac{rn}{4}-(m_1+\ldots+m_{p-1})}{m_p}\cdot(a_{p+1}-a_p)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Q_2=M_e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2_nen"/>
          <p:cNvSpPr/>
          <p:nvPr/>
        </p:nvSpPr>
        <p:spPr>
          <a:xfrm>
            <a:off x="548640" y="4039362"/>
            <a:ext cx="11064240" cy="1049274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2_chu"/>
              <p:cNvSpPr txBox="1"/>
              <p:nvPr/>
            </p:nvSpPr>
            <p:spPr>
              <a:xfrm>
                <a:off x="713232" y="4075938"/>
                <a:ext cx="10735056" cy="97612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Mốt: nhóm có tần số lớn nhất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j+1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j−1</m:t>
                            </m:r>
                          </m:sub>
                        </m:sSub>
                      </m:num>
                      <m:den>
                        <m:d>
                          <m:dPr>
                            <m:sepChr m:val=""/>
                          </m:dPr>
                          <m:e>
                            <m:sSub>
                              <m:e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j−1</m:t>
                                </m:r>
                              </m:sub>
                            </m:s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e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j+1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·h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075938"/>
                <a:ext cx="10735056" cy="97612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Mốt: nhóm có tần số lớn nhất </a:t>
                </a:r>
                <a:r>
                  <a:rPr lang="vi-VN"/>
                  <a:t>[a_j;\ a_{j+1})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M_o=a_j+\frac{m_j-m_{j-1}}{(m_j-m_{j-1})+(m_j-m_{j+1})}\cdot h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TRẮC NGHIỆM SGK (3.8 – 3.12)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III – Toán 11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Thời gian tập thể dục trong ngày của học sinh khối 11 (Bảng 3.6):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798320" cy="4572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11095"/>
            <a:ext cx="1469135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Thời gian (phút)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2680" y="1874519"/>
            <a:ext cx="1798320" cy="4572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7272" y="1911095"/>
            <a:ext cx="1469135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[0; 20)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6720" y="1874519"/>
            <a:ext cx="1798320" cy="4572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1311" y="1911095"/>
            <a:ext cx="1469135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[20; 40)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59" y="1874519"/>
            <a:ext cx="1798320" cy="4572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1" y="1911095"/>
            <a:ext cx="1469135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[40; 60)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4799" y="1874519"/>
            <a:ext cx="1798320" cy="4572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9391" y="1911095"/>
            <a:ext cx="1469135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[60; 80)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68839" y="1874519"/>
            <a:ext cx="1798320" cy="4572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3431" y="1911095"/>
            <a:ext cx="1469135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[80; 100)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377439"/>
            <a:ext cx="1798320" cy="4572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414015"/>
            <a:ext cx="1469135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Số học sinh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92680" y="2377439"/>
            <a:ext cx="1798320" cy="45720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57272" y="2414015"/>
            <a:ext cx="1469135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6720" y="2377439"/>
            <a:ext cx="1798320" cy="45720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1311" y="2414015"/>
            <a:ext cx="1469135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59" y="2377439"/>
            <a:ext cx="1798320" cy="45720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1" y="2414015"/>
            <a:ext cx="1469135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12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24799" y="2377439"/>
            <a:ext cx="1798320" cy="45720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9391" y="2414015"/>
            <a:ext cx="1469135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68839" y="2377439"/>
            <a:ext cx="1798320" cy="45720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33431" y="2414015"/>
            <a:ext cx="1469135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" y="3154679"/>
            <a:ext cx="9418320" cy="600456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36192" y="3191256"/>
            <a:ext cx="9089136" cy="5273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🔔 Mỗi câu 30 giây; giơ thẻ A, B, C, D. Sai: rời sàn thi.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3.8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III – Toán 11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đại diện của nhóm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[20;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40)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đại diện của nhóm </a:t>
                </a:r>
                <a:r>
                  <a:rPr lang="vi-VN"/>
                  <a:t>[20;\ 40)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10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20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30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40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20+40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\frac{20+40}{2}=30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3.9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III – Toán 11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Mẫu số liệu ghép nhóm (Bảng 3.6) có số mốt là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0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2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3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1_chu"/>
          <p:cNvSpPr txBox="1"/>
          <p:nvPr/>
        </p:nvSpPr>
        <p:spPr>
          <a:xfrm>
            <a:off x="713232" y="4654296"/>
            <a:ext cx="10735056" cy="5273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Đáp án B.</a:t>
            </a:r>
            <a:r>
              <a:rPr sz="2200">
                <a:solidFill>
                  <a:srgbClr val="1E293B"/>
                </a:solidFill>
                <a:latin typeface="Calibri"/>
              </a:rPr>
              <a:t> Chỉ một nhóm có tần số lớn nhất (12).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3.10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III – Toán 11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Nhóm chứa mốt của mẫu số liệu này là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40)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[20;\ 40)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[40;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60)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[40;\ 60)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[60;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80)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[60;\ 80)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[80;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100)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[80;\ 100)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1_chu"/>
          <p:cNvSpPr txBox="1"/>
          <p:nvPr/>
        </p:nvSpPr>
        <p:spPr>
          <a:xfrm>
            <a:off x="713232" y="4654296"/>
            <a:ext cx="10735056" cy="5273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Đáp án B.</a:t>
            </a:r>
            <a:r>
              <a:rPr sz="2200">
                <a:solidFill>
                  <a:srgbClr val="1E293B"/>
                </a:solidFill>
                <a:latin typeface="Calibri"/>
              </a:rPr>
              <a:t> Tần số lớn nhất 12.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3.11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III – Toán 11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Nhóm chứa tứ phân vị thứ nhất là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20)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[0;\ 20)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40)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[20;\ 40)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[40;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60)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[40;\ 60)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[60;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80)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[60;\ 80)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n=42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tần số tích luỹ 5; 14.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n=42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\frac{n}{4}=10{,}5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tần số tích luỹ 5; 14.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3.12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III – Toán 11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Nhóm chứa trung vị là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20)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[0;\ 20)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40)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[20;\ 40)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[40;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60)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[40;\ 60)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[60;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80)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[60;\ 80)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tần số tích luỹ 14; 26.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\frac{n}{2}=21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tần số tích luỹ 14; 26.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3.13 – 3.15 (SGK TR.69)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III – Toán 11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9966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E293B"/>
                </a:solidFill>
                <a:latin typeface="Calibri"/>
              </a:rPr>
              <a:t>3.13.</a:t>
            </a:r>
            <a:r>
              <a:rPr sz="1800">
                <a:solidFill>
                  <a:srgbClr val="1E293B"/>
                </a:solidFill>
                <a:latin typeface="Calibri"/>
              </a:rPr>
              <a:t> Cơ cấu dân số Việt Nam năm 2020: dưới 5: 7,89; 5 – 14: 14,68; 15 – 24: 13,32; 25 – 64: 53,78; trên 65: 7,66 (triệu người). Chọn 80 là giá trị đại diện nhóm trên 65. Tính tuổi trung bình.</a:t>
            </a:r>
          </a:p>
        </p:txBody>
      </p:sp>
      <p:sp>
        <p:nvSpPr>
          <p:cNvPr id="8" name="s1_nen"/>
          <p:cNvSpPr/>
          <p:nvPr/>
        </p:nvSpPr>
        <p:spPr>
          <a:xfrm>
            <a:off x="548640" y="2322576"/>
            <a:ext cx="11064240" cy="81381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359152"/>
                <a:ext cx="10735056" cy="74066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Giá trị đại diện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(đã hiệu chỉnh nhóm rời rạc);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n=97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―"/>
                      </m:accPr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≈35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tuổi.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359152"/>
                <a:ext cx="10735056" cy="74066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Giá trị đại diện </a:t>
                </a:r>
                <a:r>
                  <a:rPr lang="vi-VN"/>
                  <a:t>2{,}5;\ 9{,}5;\ 19{,}5;\ 44{,}5;\ 80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(đã hiệu chỉnh nhóm rời rạc); </a:t>
                </a:r>
                <a:r>
                  <a:rPr lang="vi-VN"/>
                  <a:t>n=97{,}33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\overline{x}\approx 35{,}2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tuổi.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182111"/>
                <a:ext cx="11064240" cy="7223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3.14.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Tuổi thọ (ngày) của ong: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[0;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20)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5;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[20;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40)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12;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[40;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60)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23;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[60;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80)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31;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[80;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100)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29. Tìm mốt, ý nghĩa.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182111"/>
                <a:ext cx="11064240" cy="7223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3.14.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Tuổi thọ (ngày) của ong: </a:t>
                </a:r>
                <a:r>
                  <a:rPr lang="vi-VN"/>
                  <a:t>[0;\ 20)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5; </a:t>
                </a:r>
                <a:r>
                  <a:rPr lang="vi-VN"/>
                  <a:t>[20;\ 40)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12; </a:t>
                </a:r>
                <a:r>
                  <a:rPr lang="vi-VN"/>
                  <a:t>[40;\ 60)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23; </a:t>
                </a:r>
                <a:r>
                  <a:rPr lang="vi-VN"/>
                  <a:t>[60;\ 80)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31; </a:t>
                </a:r>
                <a:r>
                  <a:rPr lang="vi-VN"/>
                  <a:t>[80;\ 100)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29. Tìm mốt, ý nghĩa.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3950207"/>
            <a:ext cx="11064240" cy="662939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3986783"/>
                <a:ext cx="10735056" cy="58978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=60+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31−23</m:t>
                        </m:r>
                      </m:num>
                      <m:den>
                        <m:d>
                          <m:dPr>
                            <m:sepChr m:val=""/>
                          </m:dPr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e>
                        </m:d>
                      </m:den>
                    </m:f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·20=76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ong có tuổi thọ khoảng 76 ngày là nhiều nhất.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3986783"/>
                <a:ext cx="10735056" cy="58978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M_o=60+\frac{31-23}{(31-23)+(31-29)}\cdot 20=76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ong có tuổi thọ khoảng 76 ngày là nhiều nhất.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4_chu"/>
              <p:cNvSpPr txBox="1"/>
              <p:nvPr/>
            </p:nvSpPr>
            <p:spPr>
              <a:xfrm>
                <a:off x="548640" y="4658867"/>
                <a:ext cx="11064240" cy="7223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3.15.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Điểm chuẩn hoá chỉ số nghiên cứu: dưới 20: 4;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[20;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30)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19;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[30;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40)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6;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[40;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60)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2;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[60;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80)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3;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[80;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100)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1. Điểm ngưỡng để vào danh sách 25% trường tốt nhất?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548640" y="4658867"/>
                <a:ext cx="11064240" cy="7223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3.15.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Điểm chuẩn hoá chỉ số nghiên cứu: dưới 20: 4; </a:t>
                </a:r>
                <a:r>
                  <a:rPr lang="vi-VN"/>
                  <a:t>[20;\ 30)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19; </a:t>
                </a:r>
                <a:r>
                  <a:rPr lang="vi-VN"/>
                  <a:t>[30;\ 40)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6; </a:t>
                </a:r>
                <a:r>
                  <a:rPr lang="vi-VN"/>
                  <a:t>[40;\ 60)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2; </a:t>
                </a:r>
                <a:r>
                  <a:rPr lang="vi-VN"/>
                  <a:t>[60;\ 80)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3; </a:t>
                </a:r>
                <a:r>
                  <a:rPr lang="vi-VN"/>
                  <a:t>[80;\ 100)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1. Điểm ngưỡng để vào danh sách 25% trường tốt nhất?</a:t>
                </a:r>
              </a:p>
            </p:txBody>
          </p:sp>
        </mc:Fallback>
      </mc:AlternateContent>
      <p:sp>
        <p:nvSpPr>
          <p:cNvPr id="14" name="s5_nen"/>
          <p:cNvSpPr/>
          <p:nvPr/>
        </p:nvSpPr>
        <p:spPr>
          <a:xfrm>
            <a:off x="548640" y="5426963"/>
            <a:ext cx="11064240" cy="786383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s5_chu"/>
              <p:cNvSpPr txBox="1"/>
              <p:nvPr/>
            </p:nvSpPr>
            <p:spPr>
              <a:xfrm>
                <a:off x="713232" y="5463539"/>
                <a:ext cx="10735056" cy="713231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Cần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n=35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3n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=26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tích luỹ 4; 23; 29 nên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=30+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25−23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·10≈35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713232" y="5463539"/>
                <a:ext cx="10735056" cy="713231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Cần </a:t>
                </a:r>
                <a:r>
                  <a:rPr lang="vi-VN"/>
                  <a:t>Q_3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n=35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\frac{3n}{4}=26{,}25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tích luỹ 4; 23; 29 nên </a:t>
                </a:r>
                <a:r>
                  <a:rPr lang="vi-VN"/>
                  <a:t>Q_3=30+\frac{26{,}25-23}{6}\cdot 10\approx 35{,}42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RUNG CHUÔNG VÀNG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III – Toán 11        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54480"/>
            <a:ext cx="9418320" cy="2962656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591056"/>
            <a:ext cx="9089136" cy="2889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>
                <a:solidFill>
                  <a:srgbClr val="1E293B"/>
                </a:solidFill>
                <a:latin typeface="Calibri"/>
              </a:rPr>
              <a:t>🔔 </a:t>
            </a:r>
            <a:r>
              <a:rPr sz="3000" b="1">
                <a:solidFill>
                  <a:srgbClr val="1E293B"/>
                </a:solidFill>
                <a:latin typeface="Calibri"/>
              </a:rPr>
              <a:t>Luật chơi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một bảng con – viết đáp án khi hết giờ.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nhiều lựa chọn: ghi A, B, C hoặc D (30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Đúng/Sai: ghi Đ hoặc S cho từng ý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trả lời ngắn, thực tế: ghi một số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Sai: rời sàn thi. Bạn trụ lại cuối cùng </a:t>
            </a:r>
            <a:r>
              <a:rPr sz="2400" b="1">
                <a:solidFill>
                  <a:srgbClr val="1E293B"/>
                </a:solidFill>
                <a:latin typeface="Calibri"/>
              </a:rPr>
              <a:t>rung chuông vàng</a:t>
            </a:r>
            <a:r>
              <a:rPr sz="2400">
                <a:solidFill>
                  <a:srgbClr val="1E293B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THỬ THÁCH – CÂU 1 (ĐÚNG/SAI)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III – Toán 11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0525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Năng suất hồ tiêu (tạ/ha) của 30 hộ: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25)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4;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[25;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30)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9;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[30;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35)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12;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[35;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40)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5. Xét tính đúng, sai: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0525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Năng suất hồ tiêu (tạ/ha) của 30 hộ: </a:t>
                </a:r>
                <a:r>
                  <a:rPr lang="vi-VN"/>
                  <a:t>[20;\ 25)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4; </a:t>
                </a:r>
                <a:r>
                  <a:rPr lang="vi-VN"/>
                  <a:t>[25;\ 30)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9; </a:t>
                </a:r>
                <a:r>
                  <a:rPr lang="vi-VN"/>
                  <a:t>[30;\ 35)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12; </a:t>
                </a:r>
                <a:r>
                  <a:rPr lang="vi-VN"/>
                  <a:t>[35;\ 40)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5. Xét tính đúng, sai: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48640" y="2368296"/>
            <a:ext cx="7680960" cy="9166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a) Cỡ mẫu là 30.</a:t>
            </a:r>
          </a:p>
        </p:txBody>
      </p:sp>
      <p:sp>
        <p:nvSpPr>
          <p:cNvPr id="9" name="s1_nen"/>
          <p:cNvSpPr/>
          <p:nvPr/>
        </p:nvSpPr>
        <p:spPr>
          <a:xfrm>
            <a:off x="8412480" y="2340864"/>
            <a:ext cx="3200400" cy="77952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577072" y="2377440"/>
            <a:ext cx="2871216" cy="70637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48640" y="3330702"/>
                <a:ext cx="7680960" cy="91668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Nhóm chứa mốt là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[30;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35)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48640" y="3330702"/>
                <a:ext cx="7680960" cy="91668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Nhóm chứa mốt là </a:t>
                </a:r>
                <a:r>
                  <a:rPr lang="vi-VN"/>
                  <a:t>[30;\ 35)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2_nen"/>
          <p:cNvSpPr/>
          <p:nvPr/>
        </p:nvSpPr>
        <p:spPr>
          <a:xfrm>
            <a:off x="8412480" y="3303270"/>
            <a:ext cx="3200400" cy="77952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577072" y="3339846"/>
            <a:ext cx="2871216" cy="70637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48640" y="4293108"/>
                <a:ext cx="7680960" cy="91668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Nhóm chứa trung vị là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[25;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30)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548640" y="4293108"/>
                <a:ext cx="7680960" cy="91668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Nhóm chứa trung vị là </a:t>
                </a:r>
                <a:r>
                  <a:rPr lang="vi-VN"/>
                  <a:t>[25;\ 30)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5" name="s3_nen"/>
          <p:cNvSpPr/>
          <p:nvPr/>
        </p:nvSpPr>
        <p:spPr>
          <a:xfrm>
            <a:off x="8412480" y="4265676"/>
            <a:ext cx="3200400" cy="77952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577072" y="4302252"/>
            <a:ext cx="2871216" cy="70637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  <a:r>
              <a:rPr sz="2100">
                <a:solidFill>
                  <a:srgbClr val="1E293B"/>
                </a:solidFill>
                <a:latin typeface="Calibri"/>
              </a:rPr>
              <a:t> ([30; 35))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55514"/>
            <a:ext cx="7680960" cy="9166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d) Năng suất trung bình khoảng 30,5 tạ/ha.</a:t>
            </a:r>
          </a:p>
        </p:txBody>
      </p:sp>
      <p:sp>
        <p:nvSpPr>
          <p:cNvPr id="18" name="s4_nen"/>
          <p:cNvSpPr/>
          <p:nvPr/>
        </p:nvSpPr>
        <p:spPr>
          <a:xfrm>
            <a:off x="8412480" y="5228081"/>
            <a:ext cx="3200400" cy="77952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577072" y="5264657"/>
            <a:ext cx="2871216" cy="70637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THỬ THÁCH – CÂU 2 (TRẢ LỜI NGẮN)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III – Toán 11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Mẫu số liệu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[0;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: 4;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[10;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20)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: 10;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[20;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30)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: 6. Tính số trung bình.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Mẫu số liệu </a:t>
                </a:r>
                <a:r>
                  <a:rPr lang="vi-VN"/>
                  <a:t>[0;\ 10)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: 4; </a:t>
                </a:r>
                <a:r>
                  <a:rPr lang="vi-VN"/>
                  <a:t>[10;\ 20)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: 10; </a:t>
                </a:r>
                <a:r>
                  <a:rPr lang="vi-VN"/>
                  <a:t>[20;\ 30)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: 6. Tính số trung bình.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79552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72237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16.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―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4·5+10·15+6·25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72237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16.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\overline{x}=\frac{4\cdot 5+10\cdot 15+6\cdot 25}{20}=16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CỦNG CỐ TRỰC TUYẾN –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III – Toán 11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5895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Bài củng cố trực tuyến</a:t>
            </a:r>
            <a:r>
              <a:rPr sz="2200">
                <a:solidFill>
                  <a:srgbClr val="1E293B"/>
                </a:solidFill>
                <a:latin typeface="Calibri"/>
              </a:rPr>
              <a:t> – quét mã QR hoặc mở đường link: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https://trangtu66.github.io/Taode_thi_online/cc_chuong3_t11.html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Hoàn thiện Bài 3.13 – 3.15.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Ôn tập Chương I – III, chuẩn bị </a:t>
            </a:r>
            <a:r>
              <a:rPr sz="2200" b="1">
                <a:solidFill>
                  <a:srgbClr val="1E293B"/>
                </a:solidFill>
                <a:latin typeface="Calibri"/>
              </a:rPr>
              <a:t>Ôn tập giữa kì I</a:t>
            </a:r>
            <a:r>
              <a:rPr sz="2200">
                <a:solidFill>
                  <a:srgbClr val="1E293B"/>
                </a:solidFill>
                <a:latin typeface="Calibri"/>
              </a:rPr>
              <a:t> (T22 – T23).</a:t>
            </a:r>
          </a:p>
        </p:txBody>
      </p:sp>
      <p:pic>
        <p:nvPicPr>
          <p:cNvPr id="8" name="Picture 7" descr="QR_CungCo_Chuong3_Toan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554480"/>
            <a:ext cx="3291840" cy="3291840"/>
          </a:xfrm>
          <a:prstGeom prst="rect">
            <a:avLst/>
          </a:prstGeom>
        </p:spPr>
      </p:pic>
      <p:sp>
        <p:nvSpPr>
          <p:cNvPr id="9" name="Rounded Rectangle 8">
            <a:hlinkClick r:id="rId4"/>
          </p:cNvPr>
          <p:cNvSpPr/>
          <p:nvPr/>
        </p:nvSpPr>
        <p:spPr>
          <a:xfrm>
            <a:off x="8412480" y="5029200"/>
            <a:ext cx="3291840" cy="59436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MỞ BÀI CỦNG CỐ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SƠ ĐỒ TƯ DUY – CHƯƠNG III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III – Toán 11          16</a:t>
            </a:r>
          </a:p>
        </p:txBody>
      </p:sp>
      <p:pic>
        <p:nvPicPr>
          <p:cNvPr id="7" name="Picture 6" descr="SoDoTuDuy_TOAN11_BaiTapCuoiChuong3_T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9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1 – SAI LẦM THƯỜNG GẶP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III – Toán 11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Xác định nhóm chứa trung vị, tứ phân vị không dùng tần số tích luỹ.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3.13: quên hiệu chỉnh nhóm rời rạc.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3.15: dùng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thay vì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nhóm 25% tốt nhất.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Xác định nhóm chứa trung vị, tứ phân vị không dùng tần số tích luỹ.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3.13: quên hiệu chỉnh nhóm rời rạc.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3.15: dùng </a:t>
                </a:r>
                <a:r>
                  <a:rPr lang="vi-VN"/>
                  <a:t>Q_1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thay vì </a:t>
                </a:r>
                <a:r>
                  <a:rPr lang="vi-VN"/>
                  <a:t>Q_3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nhóm 25% tốt nhất.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2 – PHÂN HOÁ, DỰ PHÒNG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III – Toán 11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cần hỗ trợ:</a:t>
            </a:r>
            <a:r>
              <a:rPr sz="2000">
                <a:solidFill>
                  <a:srgbClr val="1E293B"/>
                </a:solidFill>
                <a:latin typeface="Calibri"/>
              </a:rPr>
              <a:t> 3.8 – 3.12, 3.14.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khá, giỏi:</a:t>
            </a:r>
            <a:r>
              <a:rPr sz="2000">
                <a:solidFill>
                  <a:srgbClr val="1E293B"/>
                </a:solidFill>
                <a:latin typeface="Calibri"/>
              </a:rPr>
              <a:t> 3.13, 3.15; tính bằng bảng tính.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Khối 11 không có HS khuyết tật.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Mất điện/mạng:</a:t>
            </a:r>
            <a:r>
              <a:rPr sz="2000">
                <a:solidFill>
                  <a:srgbClr val="1E293B"/>
                </a:solidFill>
                <a:latin typeface="Calibri"/>
              </a:rPr>
              <a:t> phiếu in, thẻ A/B/C/D.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