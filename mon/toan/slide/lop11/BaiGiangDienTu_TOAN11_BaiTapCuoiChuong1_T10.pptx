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Khối 11 năm học 2026 – 2027 không có HS khuyết tật; vẫn ghi đủ chữ trên slide để HS tự đọc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tr.40 – 41.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video mở đầu (ảnh thật, lồng tiếng, phụ đề – không nói đáp án), HS quét QR xem lại. 5'. Các nhóm chuẩn bị trả lời nhanh ở slide hệ thống kiến thức.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nhắc lại trước khi GV hiện từng khung.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12'. Mỗi câu 30 giây, giơ thẻ A/B/C/D. Đáp án: A B A C C C A B (đối chiếu KHBD, đã kiểm tra).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Chữa bài: HS trình bày, click hiện đáp án (đối chiếu KHBD, SGV tr.72 – 74;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6'. 1.34b: 2sin²x − 1 = −cos 2x. Chữa bài: HS trình bày, click hiện đáp án (đối chiếu KHBD, SGV tr.72 – 74;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6'. Chữa bài: HS trình bày, click hiện đáp án (đối chiếu KHBD, SGV tr.72 – 74; đã kiểm tra bằng Python). Liên hệ: đo huyết áp người thân.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HS một bảng con. Mỗi câu 30 giây (Đ/S, trả lời ngắn, thực tế: 60 giây). Sai rời sàn thi; có thể 'cứu trợ' 1 lần. Cấu trúc 4 câu theo đề thi từ 2025: nhiều lựa chọn, Đúng/Sai, trả lời ngắn,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 Đ – Đ – S – 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chương.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rangtu66.github.io/Taode_thi_online/mon/toan/video/lop11/VIDEO_MoDau_TOAN11_BaiTapCuoiChuong1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hyperlink" Target="https://trangtu66.github.io/Taode_thi_online/cc_chuong1_t11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CD34D"/>
                </a:solidFill>
                <a:latin typeface="Cambria"/>
              </a:rPr>
              <a:t>CHƯƠNG I. HÀM SỐ LƯỢNG GIÁC VÀ PHƯƠNG TRÌNH LƯỢNG GIÁC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ÔN TẬP CHƯƠNG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BÀI TẬP CUỐI CHƯƠNG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1 tiết: T10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80746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1734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tr.40 – 41)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Hệ thống kiến thức Chương I: góc lượng giác, giá trị lượng giác, công thức lượng giác, hàm số lượng giác, phương trình lượng giác cơ bản.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các bài tập tổng hợp (Bài 1.23 – 1.36).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53384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luận; mô hình hoá (huyết áp, khúc xạ ánh sáng); giải quyết vấn đề; sử dụng công cụ (máy tính cầm tay).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ÔN TẬP CHƯƠNG 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58368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Chương I giúp chúng ta mô tả các chuyển động quay và các hiện tượng tuần hoàn bằng lượng giác. </a:t>
            </a:r>
            <a:r>
              <a:rPr sz="2200" b="1">
                <a:solidFill>
                  <a:srgbClr val="1E293B"/>
                </a:solidFill>
                <a:latin typeface="Calibri"/>
              </a:rPr>
              <a:t>Trước khi luyện tập, em hãy nhớ lại:</a:t>
            </a:r>
            <a:r>
              <a:rPr sz="2200">
                <a:solidFill>
                  <a:srgbClr val="1E293B"/>
                </a:solidFill>
                <a:latin typeface="Calibri"/>
              </a:rPr>
              <a:t> đổi độ ↔ rađian, độ dài cung; công thức cộng, nhân đôi, biến đổi tích ↔ tổng; tập xác định, chu kì của các hàm số lượng giác; công thức nghiệm của các phương trình lượng giác cơ bản.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(Video mở đầu – Bài tập cuối chương I)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duqu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153983"/>
            <a:ext cx="4389120" cy="26414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504688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Ảnh: Wikimedia Commons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HỆ THỐNG KIẾN THỨC CHƯƠNG 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874775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08176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rad;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l=Rα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dấu theo góc phần tư; góc đối, bù, phụ, hơn kém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08176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180^\circ=\pi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rad; </a:t>
                </a:r>
                <a:r>
                  <a:rPr lang="vi-VN"/>
                  <a:t>l=R\alpha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lang="vi-VN"/>
                  <a:t>\sin^2\alpha+\cos^2\alpha=1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dấu theo góc phần tư; góc đối, bù, phụ, hơn kém </a:t>
                </a:r>
                <a:r>
                  <a:rPr lang="vi-VN"/>
                  <a:t>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548640" y="2356104"/>
            <a:ext cx="11064240" cy="56997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1_chu"/>
              <p:cNvSpPr txBox="1"/>
              <p:nvPr/>
            </p:nvSpPr>
            <p:spPr>
              <a:xfrm>
                <a:off x="713232" y="2392680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Công thức cộng;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a−1=1−2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biến đổi tích ↔ tổng.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2392680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Công thức cộng; </a:t>
                </a:r>
                <a:r>
                  <a:rPr lang="vi-VN"/>
                  <a:t>\sin 2a=2\sin a\cos 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 2a=2\cos^2 a-1=1-2\sin^2 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biến đổi tích ↔ tổng.</a:t>
                </a:r>
              </a:p>
            </p:txBody>
          </p:sp>
        </mc:Fallback>
      </mc:AlternateContent>
      <p:sp>
        <p:nvSpPr>
          <p:cNvPr id="11" name="s2_nen"/>
          <p:cNvSpPr/>
          <p:nvPr/>
        </p:nvSpPr>
        <p:spPr>
          <a:xfrm>
            <a:off x="548640" y="3035808"/>
            <a:ext cx="11064240" cy="874775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3072384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D=ℝ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chu kì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lẻ,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chẵn);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lẻ, chu kì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072384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y=\sin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y=\cos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D=\mathbb{R}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tập giá trị </a:t>
                </a:r>
                <a:r>
                  <a:rPr lang="vi-VN"/>
                  <a:t>[-1;\ 1]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chu kì </a:t>
                </a:r>
                <a:r>
                  <a:rPr lang="vi-VN"/>
                  <a:t>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\sin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lẻ, </a:t>
                </a:r>
                <a:r>
                  <a:rPr lang="vi-VN"/>
                  <a:t>\cos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chẵn); </a:t>
                </a:r>
                <a:r>
                  <a:rPr lang="vi-VN"/>
                  <a:t>y=\tan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y=\cot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lẻ, chu kì </a:t>
                </a:r>
                <a:r>
                  <a:rPr lang="vi-VN"/>
                  <a:t>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3_nen"/>
          <p:cNvSpPr/>
          <p:nvPr/>
        </p:nvSpPr>
        <p:spPr>
          <a:xfrm>
            <a:off x="548640" y="4020312"/>
            <a:ext cx="11064240" cy="56997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3_chu"/>
              <p:cNvSpPr txBox="1"/>
              <p:nvPr/>
            </p:nvSpPr>
            <p:spPr>
              <a:xfrm>
                <a:off x="713232" y="4056888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α⇔x=α+k2π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x=π−α+k2π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α⇔x=±α+k2π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α⇔x=α+kπ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α⇔x=α+kπ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056888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x=\sin\alpha\Leftrightarrow x=\alpha+k2\pi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x=\pi-\alpha+k2\pi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 x=\cos\alpha\Leftrightarrow x=\pm\alpha+k2\pi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\tan x=\tan\alpha\Leftrightarrow x=\alpha+k\pi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\cot x=\cot\alpha\Leftrightarrow x=\alpha+k\pi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TRẮC NGHIỆM SGK (1.23 – 1.30)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49631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423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bộ thẻ A, B, C,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câu 30 giây – hết giờ cùng giơ đáp 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 (được cứu trợ 1 lần).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8 câu trắc nghiệm SGK (Bài 1.23 – 1.30).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5011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Biểu diễn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β=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γ=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25π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17π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đường tròn lượng giác. Các góc nào có điểm biểu diễn trùng nhau?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5011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Biểu diễn </a:t>
                </a:r>
                <a:r>
                  <a:rPr lang="vi-VN"/>
                  <a:t>\alpha=-\frac{5\pi}{6}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\beta=\frac{\pi}{3}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\gamma=\frac{25\pi}{3}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\delta=\frac{17\pi}{6}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đường tròn lượng giác. Các góc nào có điểm biểu diễn trùng nhau?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9641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30007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0007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\beta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\gamma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9641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30007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β,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30007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\alpha,\ \beta,\ \gamma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9700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40065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β,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γ,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0065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\beta,\ \gamma,\ \delta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9700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40065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40065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\alpha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\beta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5113020"/>
            <a:ext cx="11064240" cy="10530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514959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γ=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+4·2π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α≡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δ≡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514959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\gamma=\frac{\pi}{3}+4\cdot 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\alpha\equiv\frac{7\pi}{6}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\delta\equiv\frac{5\pi}{6}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Khẳng định nào là </a:t>
            </a:r>
            <a:r>
              <a:rPr sz="2600" b="1">
                <a:solidFill>
                  <a:srgbClr val="1E293B"/>
                </a:solidFill>
                <a:latin typeface="Calibri"/>
              </a:rPr>
              <a:t>sai</a:t>
            </a:r>
            <a:r>
              <a:rPr sz="2600">
                <a:solidFill>
                  <a:srgbClr val="1E293B"/>
                </a:solidFill>
                <a:latin typeface="Calibri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(π−α)=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\sin(\pi-\alpha)=\sin\alpha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(π−α)=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\cos(\pi-\alpha)=\cos\alpha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(π+α)=−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\sin(\pi+\alpha)=-\sin\alpha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(π+α)=−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\cos(\pi+\alpha)=-\cos\alpha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(π−α)=−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\cos(\pi-\alpha)=-\cos\alpha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Khẳng định nào là </a:t>
            </a:r>
            <a:r>
              <a:rPr sz="2600" b="1">
                <a:solidFill>
                  <a:srgbClr val="1E293B"/>
                </a:solidFill>
                <a:latin typeface="Calibri"/>
              </a:rPr>
              <a:t>sai</a:t>
            </a:r>
            <a:r>
              <a:rPr sz="2600">
                <a:solidFill>
                  <a:srgbClr val="1E293B"/>
                </a:solidFill>
                <a:latin typeface="Calibri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\cos(a-b)=\cos a\cos b-\sin a\sin b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\sin(a-b)=\sin a\cos b-\cos a\sin b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\cos(a+b)=\cos a\cos b-\sin a\sin b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\sin(a+b)=\sin a\cos b+\cos a\sin b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b+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\cos(a-b)=\cos a\cos b+\sin a\sin 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Rút gọn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(a−b)−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được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Rút gọn </a:t>
                </a:r>
                <a:r>
                  <a:rPr lang="vi-VN"/>
                  <a:t>M=\cos(a+b)\cos(a-b)-\sin(a+b)\sin(a-b)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được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4a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M=\sin 4a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M=1-2\cos^2 a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M=1-2\sin^2 a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4a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M=\cos 4a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[(a+b)+(a−b)]=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M=\cos[(a+b)+(a-b)]=\cos 2a=1-2\sin^2 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Khẳng định nào là </a:t>
            </a:r>
            <a:r>
              <a:rPr sz="2600" b="1">
                <a:solidFill>
                  <a:srgbClr val="1E293B"/>
                </a:solidFill>
                <a:latin typeface="Calibri"/>
              </a:rPr>
              <a:t>sai</a:t>
            </a:r>
            <a:r>
              <a:rPr sz="2600">
                <a:solidFill>
                  <a:srgbClr val="1E293B"/>
                </a:solidFill>
                <a:latin typeface="Calibri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tập xác định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y=\cos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tập xác định </a:t>
                </a:r>
                <a:r>
                  <a:rPr lang="vi-VN"/>
                  <a:t>\mathbb{R}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tập giá trị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y=\cos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tập giá trị </a:t>
                </a:r>
                <a:r>
                  <a:rPr lang="vi-VN"/>
                  <a:t>[-1;\ 1]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hàm số lẻ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y=\cos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hàm số lẻ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tuần hoàn chu kì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y=\cos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tuần hoàn chu kì </a:t>
                </a:r>
                <a:r>
                  <a:rPr lang="vi-VN"/>
                  <a:t>2\pi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hàm số chẵn.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y=\cos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hàm số chẵn.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Hàm số nào là hàm tuần hoàn?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x+x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y=\tan x+x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y=x^2+1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y=\cot x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y=\frac{\sin x}{x}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(x+π)=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\cot(x+\pi)=\cot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445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cắt nhau tại bao nhiêu điểm có hoành độ thuộc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5π</m:t>
                            </m:r>
                          </m:num>
                          <m:den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445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:r>
                  <a:rPr lang="vi-VN"/>
                  <a:t>y=\sin x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y=\cos x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cắt nhau tại bao nhiêu điểm có hoành độ thuộc </a:t>
                </a:r>
                <a:r>
                  <a:rPr lang="vi-VN"/>
                  <a:t>\left[-2\pi;\ \frac{5\pi}{2}\right]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607564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644140"/>
            <a:ext cx="5111496" cy="7680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A.</a:t>
            </a:r>
            <a:r>
              <a:rPr sz="2400">
                <a:solidFill>
                  <a:srgbClr val="1E293B"/>
                </a:solidFill>
                <a:latin typeface="Calibri"/>
              </a:rPr>
              <a:t>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07564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2644140"/>
            <a:ext cx="5111496" cy="7680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B.</a:t>
            </a:r>
            <a:r>
              <a:rPr sz="2400">
                <a:solidFill>
                  <a:srgbClr val="1E293B"/>
                </a:solidFill>
                <a:latin typeface="Calibri"/>
              </a:rPr>
              <a:t>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3404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649980"/>
            <a:ext cx="5111496" cy="7680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C.</a:t>
            </a:r>
            <a:r>
              <a:rPr sz="2400">
                <a:solidFill>
                  <a:srgbClr val="1E293B"/>
                </a:solidFill>
                <a:latin typeface="Calibri"/>
              </a:rPr>
              <a:t>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3404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3649980"/>
            <a:ext cx="5111496" cy="7680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D.</a:t>
            </a:r>
            <a:r>
              <a:rPr sz="2400">
                <a:solidFill>
                  <a:srgbClr val="1E293B"/>
                </a:solidFill>
                <a:latin typeface="Calibri"/>
              </a:rPr>
              <a:t> 7</a:t>
            </a:r>
          </a:p>
        </p:txBody>
      </p:sp>
      <p:sp>
        <p:nvSpPr>
          <p:cNvPr id="16" name="s1_nen"/>
          <p:cNvSpPr/>
          <p:nvPr/>
        </p:nvSpPr>
        <p:spPr>
          <a:xfrm>
            <a:off x="548640" y="4756404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792980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thuộc đoạn khi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k=−2;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792980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 x=\cos x\Leftrightarrow x=\frac{\pi}{4}+k\pi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thuộc đoạn khi </a:t>
                </a:r>
                <a:r>
                  <a:rPr lang="vi-VN"/>
                  <a:t>k=-2;\ -1;\ 0;\ 1;\ 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BÀI 1.30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Tập xác định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Tập xác định của hàm số </a:t>
                </a:r>
                <a:r>
                  <a:rPr lang="vi-VN"/>
                  <a:t>y=\frac{\cos x}{\sin x-1}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ℝ⧵{k2π}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\mathbb{R}\setminus\{k2\pi\}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</m:t>
                    </m:r>
                    <m:d>
                      <m:dPr>
                        <m:begChr m:val="{"/>
                        <m:sepChr m:val="+"/>
                        <m:endChr m:val="}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\mathbb{R}\setminus\left\{\frac{\pi}{2}+k2\pi\right\}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</m:t>
                    </m:r>
                    <m:d>
                      <m:dPr>
                        <m:begChr m:val="{"/>
                        <m:sepChr m:val="+"/>
                        <m:endChr m:val="}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\mathbb{R}\setminus\left\{\frac{\pi}{2}+k\pi\right\}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ℝ⧵{kπ}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\mathbb{R}\setminus\{k\pi\}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x≠1⇔x≠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 x\ne 1\Leftrightarrow x\ne\frac{\pi}{2}+k2\pi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1.31 – 1.33 (SGK TR.41)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900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1.31.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&lt;α&lt;π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Tính: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+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+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900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1.31.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\frac{\pi}{2}&lt;\alpha&lt;\pi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\cos\alpha=-\frac{1}{\sqrt{3}}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Tính: a) </a:t>
                </a:r>
                <a:r>
                  <a:rPr lang="vi-VN"/>
                  <a:t>\sin\left(\alpha+\frac{\pi}{6}\right)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\cos\left(\alpha+\frac{\pi}{6}\right)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\sin\left(\alpha-\frac{\pi}{3}\right)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\cos\left(\alpha-\frac{\pi}{6}\right)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325623"/>
            <a:ext cx="11064240" cy="9814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62199"/>
                <a:ext cx="10735056" cy="908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62199"/>
                <a:ext cx="10735056" cy="908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\sin\alpha=\frac{\sqrt{6}}{3}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</a:t>
                </a:r>
                <a:r>
                  <a:rPr lang="vi-VN"/>
                  <a:t>\frac{3\sqrt{2}-\sqrt{3}}{6}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-\frac{3+\sqrt{6}}{6}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\frac{\sqrt{6}+3}{6}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\frac{\sqrt{6}-3}{6}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371087"/>
                <a:ext cx="110642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1.32.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Chứng minh: a) </a:t>
                </a:r>
                <a14:m>
                  <m:oMath xmlns:m="http://schemas.openxmlformats.org/officeDocument/2006/math">
                    <m:d>
                      <m:dPr>
                        <m:sepChr m:val=""/>
                        <m:endChr m:val=""/>
                      </m:dPr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2α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1.33.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Tập giá trị: 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371087"/>
                <a:ext cx="110642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1.32.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Chứng minh: a) </a:t>
                </a:r>
                <a:r>
                  <a:rPr lang="vi-VN"/>
                  <a:t>(\sin\alpha+\cos\alpha)^2=1+\sin 2\alpha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\cos^4\alpha-\sin^4\alpha=\cos 2\alpha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1.33.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Tập giá trị: a) </a:t>
                </a:r>
                <a:r>
                  <a:rPr lang="vi-VN"/>
                  <a:t>y=2\cos\left(2x-\frac{\pi}{3}\right)-1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y=\sin x+\cos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355591"/>
            <a:ext cx="11064240" cy="1011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392167"/>
                <a:ext cx="1073505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1.32. 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α+2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1.33. 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+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392167"/>
                <a:ext cx="1073505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1.32. a) </a:t>
                </a:r>
                <a:r>
                  <a:rPr lang="vi-VN"/>
                  <a:t>\sin^2\alpha+\cos^2\alpha+2\sin\alpha\cos\alpha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(\cos^2\alpha-\sin^2\alpha)(\cos^2\alpha+\sin^2\alpha)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1.33. a) </a:t>
                </a:r>
                <a:r>
                  <a:rPr lang="vi-VN"/>
                  <a:t>[-3;\ 1]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y=\sqrt{2}\sin\left(x+\frac{\pi}{4}\right)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[-\sqrt{2};\ \sqrt{2}]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1.34 (SGK TR.41)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16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1.34.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x−1+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sepChr m:val="+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16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1.34.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:r>
                  <a:rPr lang="vi-VN"/>
                  <a:t>\cos\left(3x-\frac{\pi}{4}\right)=-\frac{\sqrt{2}}{2}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2\sin^2 x-1+\cos 3x=0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\tan\left(2x+\frac{\pi}{5}\right)=\tan\left(x-\frac{\pi}{6}\right)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61844"/>
            <a:ext cx="11064240" cy="10530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98420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k2π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k2π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98420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3x-\frac{\pi}{4}=\pm\frac{3\pi}{4}+k2\pi\Leftrightarrow x=\frac{\pi}{3}+\frac{k2\pi}{3}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x=-\frac{\pi}{6}+\frac{k2\pi}{3}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752088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788664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2x⇔3x=±2x+k2π⇔x=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k2π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(họ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nằm trong họ này).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788664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\cos 3x=\cos 2x\Leftrightarrow 3x=\pm 2x+k2\pi\Leftrightarrow x=\frac{k2\pi}{5}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(họ </a:t>
                </a:r>
                <a:r>
                  <a:rPr lang="vi-VN"/>
                  <a:t>x=k2\pi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nằm trong họ này).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640580"/>
            <a:ext cx="11064240" cy="10530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67715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(thoả mãn điều kiện xác định)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67715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2x+\frac{\pi}{5}=x-\frac{\pi}{6}+k\pi\Leftrightarrow x=-\frac{11\pi}{30}+k\pi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(thoả mãn điều kiện xác định) </a:t>
                </a:r>
                <a:r>
                  <a:rPr lang="vi-VN"/>
                  <a:t>(k\in\mathbb{Z})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1.35 – 1.36 (SGK TR.41)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595360" cy="11338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1.35.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Huyết áp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p(t)=115+25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(160πt)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(mmHg,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phút). a) Chu kì. b) Số nhịp tim mỗi phút. c) Chỉ số huyết áp; so sánh với bình thường 120/80.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595360" cy="11338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1.35.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Huyết áp </a:t>
                </a:r>
                <a:r>
                  <a:rPr lang="vi-VN"/>
                  <a:t>p(t)=115+25\sin(160\pi 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(mmHg, </a:t>
                </a:r>
                <a:r>
                  <a:rPr lang="vi-VN"/>
                  <a:t>t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phút). a) Chu kì. b) Số nhịp tim mỗi phút. c) Chỉ số huyết áp; so sánh với bình thường 120/80.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615184"/>
            <a:ext cx="8595360" cy="119329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651760"/>
                <a:ext cx="8266176" cy="112014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160π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phút. b) 80 nhịp/phút. c) Lớn nhất 140, nhỏ nhất 90: chỉ số 140/90 – cao hơn bình thường.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651760"/>
                <a:ext cx="8266176" cy="112014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T=\frac{2\pi}{160\pi}=\frac{1}{80}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phút. b) 80 nhịp/phút. c) Lớn nhất 140, nhỏ nhất 90: chỉ số 140/90 – cao hơn bình thường.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918204"/>
                <a:ext cx="8595360" cy="11018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1.36.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Định luật khúc xạ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i=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(không khí),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(nước). Tính góc khúc xạ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918204"/>
                <a:ext cx="8595360" cy="11018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1.36.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Định luật khúc xạ </a:t>
                </a:r>
                <a:r>
                  <a:rPr lang="vi-VN"/>
                  <a:t>\frac{\sin i}{\sin r}=\frac{n_2}{n_1}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i=50^\circ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n_1=1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(không khí), </a:t>
                </a:r>
                <a:r>
                  <a:rPr lang="vi-VN"/>
                  <a:t>n_2=1{,}33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(nước). Tính góc khúc xạ </a:t>
                </a:r>
                <a:r>
                  <a:rPr lang="vi-VN"/>
                  <a:t>r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5129784"/>
            <a:ext cx="8595360" cy="729233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5166360"/>
                <a:ext cx="8266176" cy="65608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576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r≈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5166360"/>
                <a:ext cx="8266176" cy="65608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\sin r=\frac{\sin 50^\circ}{1{,}33}\approx 0{,}576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r\approx 35^\circ 10'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3" name="Picture 12" descr="c1_h1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668523"/>
            <a:ext cx="2377440" cy="26979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RUNG CHUÔNG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– viết đáp án khi hết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thi. 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THỬ THÁCH – CÂU 1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0698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guồng nước tưới cà phê quay đều; độ cao gầu nước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h(t)=2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5+2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(m,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giây).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0698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guồng nước tưới cà phê quay đều; độ cao gầu nước </a:t>
                </a:r>
                <a:r>
                  <a:rPr lang="vi-VN"/>
                  <a:t>h(t)=2{,}5+2\sin\frac{\pi t}{15}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(m, </a:t>
                </a:r>
                <a:r>
                  <a:rPr lang="vi-VN"/>
                  <a:t>t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giây). Xét tính đúng, sai: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48640" y="2532888"/>
            <a:ext cx="7680960" cy="87553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a) Chu kì quay là 30 giây.</a:t>
            </a:r>
          </a:p>
        </p:txBody>
      </p:sp>
      <p:sp>
        <p:nvSpPr>
          <p:cNvPr id="9" name="s1_nen"/>
          <p:cNvSpPr/>
          <p:nvPr/>
        </p:nvSpPr>
        <p:spPr>
          <a:xfrm>
            <a:off x="8412480" y="2505456"/>
            <a:ext cx="3200400" cy="73837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542032"/>
            <a:ext cx="2871216" cy="66522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4146"/>
            <a:ext cx="7680960" cy="87553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b) Gầu nước lên cao nhất 4,5 m.</a:t>
            </a:r>
          </a:p>
        </p:txBody>
      </p:sp>
      <p:sp>
        <p:nvSpPr>
          <p:cNvPr id="12" name="s2_nen"/>
          <p:cNvSpPr/>
          <p:nvPr/>
        </p:nvSpPr>
        <p:spPr>
          <a:xfrm>
            <a:off x="8412480" y="3426714"/>
            <a:ext cx="3200400" cy="73837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3463290"/>
            <a:ext cx="2871216" cy="66522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4375404"/>
                <a:ext cx="7680960" cy="87553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Lúc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, gầu ở độ cao 0,5 m.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4375404"/>
                <a:ext cx="7680960" cy="87553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Lúc </a:t>
                </a:r>
                <a:r>
                  <a:rPr lang="vi-VN"/>
                  <a:t>t=0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, gầu ở độ cao 0,5 m.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412480" y="4347972"/>
            <a:ext cx="3200400" cy="73837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4384548"/>
            <a:ext cx="2871216" cy="66522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(2,5 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96662"/>
            <a:ext cx="7680960" cy="87553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d) Gầu thấp nhất cách mặt nước 0,5 m.</a:t>
            </a:r>
          </a:p>
        </p:txBody>
      </p:sp>
      <p:sp>
        <p:nvSpPr>
          <p:cNvPr id="18" name="s4_nen"/>
          <p:cNvSpPr/>
          <p:nvPr/>
        </p:nvSpPr>
        <p:spPr>
          <a:xfrm>
            <a:off x="8412480" y="5269230"/>
            <a:ext cx="3200400" cy="73837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5305806"/>
            <a:ext cx="2871216" cy="66522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THỬ THÁCH – CÂU 2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Số nghiệm của phương trình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 bao nhiêu?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Số nghiệm của phương trình </a:t>
                </a:r>
                <a:r>
                  <a:rPr lang="vi-VN"/>
                  <a:t>2\cos x=1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2\pi]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 bao nhiêu?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112471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10515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trên đoạn: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10515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x=\pm\frac{\pi}{3}+k2\pi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trên đoạn: </a:t>
                </a:r>
                <a:r>
                  <a:rPr lang="vi-VN"/>
                  <a:t>\frac{\pi}{3}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\frac{5\pi}{3}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https://trangtu66.github.io/Taode_thi_online/cc_chuong1_t11.html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thiện Bài 1.31 – 1.36.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</a:t>
            </a:r>
            <a:r>
              <a:rPr sz="2200" b="1">
                <a:solidFill>
                  <a:srgbClr val="1E293B"/>
                </a:solidFill>
                <a:latin typeface="Calibri"/>
              </a:rPr>
              <a:t>Bài 5. Dãy số</a:t>
            </a:r>
            <a:r>
              <a:rPr sz="2200">
                <a:solidFill>
                  <a:srgbClr val="1E293B"/>
                </a:solidFill>
                <a:latin typeface="Calibri"/>
              </a:rPr>
              <a:t> (SGK tr.42).</a:t>
            </a:r>
          </a:p>
        </p:txBody>
      </p:sp>
      <p:pic>
        <p:nvPicPr>
          <p:cNvPr id="8" name="Picture 7" descr="QR_CungCo_Chuong1_Toa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CHƯƠNG 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21</a:t>
            </a:r>
          </a:p>
        </p:txBody>
      </p:sp>
      <p:pic>
        <p:nvPicPr>
          <p:cNvPr id="7" name="Picture 6" descr="SoDoTuDuy_TOAN11_BaiTapCuoiChuong1_T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1.23: không đưa góc về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trước khi so sánh.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1.29: đếm thiếu nghiệm ở hai đầu đoạn.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1.31: quên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α&gt;0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ở góc phần tư II.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1.34c: quên kiểm tra điều kiện xác định của tan.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1.23: không đưa góc về </a:t>
                </a:r>
                <a:r>
                  <a:rPr lang="vi-VN"/>
                  <a:t>[0;\ 2\pi)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trước khi so sánh.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1.29: đếm thiếu nghiệm ở hai đầu đoạn.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1.31: quên </a:t>
                </a:r>
                <a:r>
                  <a:rPr lang="vi-VN"/>
                  <a:t>\sin\alpha&gt;0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ở góc phần tư II.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1.34c: quên kiểm tra điều kiện xác định của tan.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tập cuối chương I – Toán 11    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1.24 – 1.28, 1.31a, 1.33a; bảng công thức in sẵn.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1.29, 1.34, 1.35, 1.36.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Khối 11 không có HS khuyết tật.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phiếu trắc nghiệm in, thẻ A/B/C/D.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