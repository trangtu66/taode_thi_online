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Bìa. Đáp án, lời giải hiện theo click. Nút GeoGebra mở trang online (cần Internet).</a:t>
            </a:r>
          </a:p>
          <a:p>
            <a:r>
              <a:t>Khối 11 năm học 2026 – 2027 không có HS khuyết tật; vẫn ghi đủ chữ trên slide để HS tự đọc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Yêu cầu cần đạt lấy từ khung 'Kiến thức, kĩ năng' SGK tr.56 – 57.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video mở đầu (ảnh thật, lồng tiếng, phụ đề – không nói đáp án), HS quét QR xem lại. 4'. Các nhóm chuẩn bị trả lời nhanh ở slide hệ thống kiến thức.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HS nhắc lại trước khi GV hiện từng khung.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8'. Mỗi câu 30 giây. Đáp án: C D A B C (đối chiếu KHBD).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8'. Chữa bài: HS trình bày, click hiện đáp án (đối chiếu KHBD; đã kiểm tra bằng Python).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10'. Chữa bài: HS trình bày, click hiện đáp án (đối chiếu KHBD; đã kiểm tra bằng Python).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HS một bảng con. Mỗi câu 30 giây (Đ/S, trả lời ngắn, thực tế: 60 giây). Sai rời sàn thi; có thể 'cứu trợ' 1 lần. Cấu trúc 3 câu theo đề thi từ 2025: nhiều lựa chọn, Đúng/Sai, trả lời ngắn, thực tế. Đáp án đã kiểm tra bằng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1–4. Đ – Đ – S – 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HS quét QR làm bài củng cố online ở nhà. Đáp án chỉ mở khi GV cho phép.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Củng cố cuối chương.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rangtu66.github.io/Taode_thi_online/mon/toan/video/lop11/VIDEO_MoDau_TOAN11_BaiTapCuoiChuong2.mp4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hyperlink" Target="https://trangtu66.github.io/Taode_thi_online/cc_chuong2_t11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CD34D"/>
                </a:solidFill>
                <a:latin typeface="Cambria"/>
              </a:rPr>
              <a:t>CHƯƠNG II. DÃY SỐ. CẤP SỐ CỘNG VÀ CẤP SỐ NHÂN</a:t>
            </a:r>
          </a:p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ÔN TẬP CHƯƠNG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BÀI TẬP CUỐI CHƯƠNG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1 tiết: T17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147218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53896"/>
            <a:ext cx="10735056" cy="1399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Yêu cầu cần đạt</a:t>
            </a:r>
            <a:r>
              <a:rPr sz="2200">
                <a:solidFill>
                  <a:srgbClr val="1E293B"/>
                </a:solidFill>
                <a:latin typeface="Calibri"/>
              </a:rPr>
              <a:t> (SGK tr.56 – 57)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Hệ thống kiến thức Chương II: dãy số, cấp số cộng, cấp số nhân.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Giải các bài tập tổng hợp (Bài 2.22 – 2.32).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18104"/>
            <a:ext cx="110642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Năng lực toán học:</a:t>
            </a:r>
            <a:r>
              <a:rPr sz="2200">
                <a:solidFill>
                  <a:srgbClr val="1E293B"/>
                </a:solidFill>
                <a:latin typeface="Calibri"/>
              </a:rPr>
              <a:t> tư duy và lập luận; mô hình hoá (đồng hồ, vi khuẩn, cầu thang, fractal); giải quyết vấn đề; sử dụng công cụ (máy tính cầm tay).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Phẩm chất:</a:t>
            </a:r>
            <a:r>
              <a:rPr sz="2200">
                <a:solidFill>
                  <a:srgbClr val="1E293B"/>
                </a:solidFill>
                <a:latin typeface="Calibri"/>
              </a:rPr>
              <a:t> chăm chỉ, trung thực, trách nhiệm.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KHỞI ĐỘNG – ÔN TẬP CHƯƠNG II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583680" cy="38404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Từ số cánh hoa, số hạt hướng dương đến lãi suất ngân hàng, dân số… dãy số có mặt ở khắp nơi.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Trước khi luyện tập, em hãy nhớ lại: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dãy số tăng, giảm, bị chặn; số hạng tổng quát và tổng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số hạng đầu của cấp số cộng, cấp số nhân.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(Video mở đầu – Bài tập cuối chương II)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583680" cy="38404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Từ số cánh hoa, số hạt hướng dương đến lãi suất ngân hàng, dân số… dãy số có mặt ở khắp nơi.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Trước khi luyện tập, em hãy nhớ lại: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dãy số tăng, giảm, bị chặn; số hạng tổng quát và tổng </a:t>
                </a:r>
                <a:r>
                  <a:rPr lang="vi-VN"/>
                  <a:t>n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số hạng đầu của cấp số cộng, cấp số nhân.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(Video mở đầu – Bài tập cuối chương II)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349240"/>
            <a:ext cx="3931920" cy="6400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VIDEO MỞ ĐẦU</a:t>
            </a:r>
          </a:p>
        </p:txBody>
      </p:sp>
      <p:pic>
        <p:nvPicPr>
          <p:cNvPr id="9" name="Picture 8" descr="qr_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074920"/>
            <a:ext cx="1188720" cy="1188720"/>
          </a:xfrm>
          <a:prstGeom prst="rect">
            <a:avLst/>
          </a:prstGeom>
        </p:spPr>
      </p:pic>
      <p:pic>
        <p:nvPicPr>
          <p:cNvPr id="10" name="Picture 9" descr="huongduo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943100"/>
            <a:ext cx="4389120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5504688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Ảnh: Wikimedia Commons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HỆ THỐNG KIẾN THỨC CHƯƠNG II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Dãy số: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tăng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giảm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bị chặn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m≤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≤M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n∈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Dãy số: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tăng </a:t>
                </a:r>
                <a:r>
                  <a:rPr lang="vi-VN"/>
                  <a:t>u_{n+1}&gt;u_n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giảm </a:t>
                </a:r>
                <a:r>
                  <a:rPr lang="vi-VN"/>
                  <a:t>u_{n+1}&lt;u_n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bị chặn </a:t>
                </a:r>
                <a:r>
                  <a:rPr lang="vi-VN"/>
                  <a:t>m\le u_n\le 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n\in\mathbb{N}^*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548640" y="2246376"/>
            <a:ext cx="11064240" cy="1388364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1_chu"/>
              <p:cNvSpPr txBox="1"/>
              <p:nvPr/>
            </p:nvSpPr>
            <p:spPr>
              <a:xfrm>
                <a:off x="713232" y="2282952"/>
                <a:ext cx="10735056" cy="131521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Cấp số cộng: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+d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+(n−1)d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+(n−1)d]=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n(</m:t>
                        </m:r>
                        <m:sSub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k−1</m:t>
                            </m:r>
                          </m:sub>
                        </m:s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k+1</m:t>
                            </m:r>
                          </m:sub>
                        </m:sSub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13232" y="2282952"/>
                <a:ext cx="10735056" cy="131521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Cấp số cộng: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u_n=u_{n-1}+d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u_n=u_1+(n-1)d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S_n=\frac{n}{2}[2u_1+(n-1)d]=\frac{n(u_1+u_n)}{2}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u_k=\frac{u_{k-1}+u_{k+1}}{2}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2_nen"/>
          <p:cNvSpPr/>
          <p:nvPr/>
        </p:nvSpPr>
        <p:spPr>
          <a:xfrm>
            <a:off x="548640" y="3817620"/>
            <a:ext cx="11064240" cy="1086612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2_chu"/>
              <p:cNvSpPr txBox="1"/>
              <p:nvPr/>
            </p:nvSpPr>
            <p:spPr>
              <a:xfrm>
                <a:off x="713232" y="3854196"/>
                <a:ext cx="10735056" cy="101346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Cấp số nhân: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·q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1−q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≠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k−1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k+1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3854196"/>
                <a:ext cx="10735056" cy="101346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Cấp số nhân: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u_n=u_{n-1}\cdot q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u_n=u_1q^{n-1}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S_n=\frac{u_1(1-q^n)}{1-q}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(q\ne 1)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u_k^2=u_{k-1}\cdot u_{k+1}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TRẮC NGHIỆM SGK (2.22 – 2.26)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54480"/>
            <a:ext cx="9418320" cy="2496312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591056"/>
            <a:ext cx="9089136" cy="2423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>
                <a:solidFill>
                  <a:srgbClr val="1E293B"/>
                </a:solidFill>
                <a:latin typeface="Calibri"/>
              </a:rPr>
              <a:t>🔔 </a:t>
            </a:r>
            <a:r>
              <a:rPr sz="3000" b="1">
                <a:solidFill>
                  <a:srgbClr val="1E293B"/>
                </a:solidFill>
                <a:latin typeface="Calibri"/>
              </a:rPr>
              <a:t>Luật chơi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một bộ thẻ A, B, C, 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câu 30 giây – hết giờ cùng giơ đáp án.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Sai: rời sàn thi (được cứu trợ 1 lần).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5 câu trắc nghiệm SGK (Bài 2.22 – 2.26).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2.22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Khẳng định nào sau đây là </a:t>
            </a:r>
            <a:r>
              <a:rPr sz="2600" b="1">
                <a:solidFill>
                  <a:srgbClr val="1E293B"/>
                </a:solidFill>
                <a:latin typeface="Calibri"/>
              </a:rPr>
              <a:t>sai</a:t>
            </a:r>
            <a:r>
              <a:rPr sz="2600">
                <a:solidFill>
                  <a:srgbClr val="1E293B"/>
                </a:solidFill>
                <a:latin typeface="Calibri"/>
              </a:rPr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505456"/>
            <a:ext cx="5111496" cy="7680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E293B"/>
                </a:solidFill>
                <a:latin typeface="Calibri"/>
              </a:rPr>
              <a:t>A.</a:t>
            </a:r>
            <a:r>
              <a:rPr sz="2400">
                <a:solidFill>
                  <a:srgbClr val="1E293B"/>
                </a:solidFill>
                <a:latin typeface="Calibri"/>
              </a:rPr>
              <a:t> Dãy số tăng thì bị chặn dưới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2505456"/>
            <a:ext cx="5111496" cy="7680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E293B"/>
                </a:solidFill>
                <a:latin typeface="Calibri"/>
              </a:rPr>
              <a:t>B.</a:t>
            </a:r>
            <a:r>
              <a:rPr sz="2400">
                <a:solidFill>
                  <a:srgbClr val="1E293B"/>
                </a:solidFill>
                <a:latin typeface="Calibri"/>
              </a:rPr>
              <a:t> Dãy số giảm thì bị chặn trên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511296"/>
            <a:ext cx="5111496" cy="7680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E293B"/>
                </a:solidFill>
                <a:latin typeface="Calibri"/>
              </a:rPr>
              <a:t>C.</a:t>
            </a:r>
            <a:r>
              <a:rPr sz="2400">
                <a:solidFill>
                  <a:srgbClr val="1E293B"/>
                </a:solidFill>
                <a:latin typeface="Calibri"/>
              </a:rPr>
              <a:t> Dãy số bị chặn thì phải tăng hoặc giảm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3511296"/>
            <a:ext cx="5111496" cy="7680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E293B"/>
                </a:solidFill>
                <a:latin typeface="Calibri"/>
              </a:rPr>
              <a:t>D.</a:t>
            </a:r>
            <a:r>
              <a:rPr sz="2400">
                <a:solidFill>
                  <a:srgbClr val="1E293B"/>
                </a:solidFill>
                <a:latin typeface="Calibri"/>
              </a:rPr>
              <a:t> Dãy số không đổi thì bị chặn</a:t>
            </a:r>
          </a:p>
        </p:txBody>
      </p:sp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Ví dụ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=(−1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bị chặn nhưng không tăng, không giảm.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Ví dụ </a:t>
                </a:r>
                <a:r>
                  <a:rPr lang="vi-VN"/>
                  <a:t>u_n=(-1)^n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bị chặn nhưng không tăng, không giảm.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2.23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5011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Dãy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(số hạng sau bằng một nửa số hạng liền trước). Công thức số hạng tổng quát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5011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Dãy số </a:t>
                </a:r>
                <a:r>
                  <a:rPr lang="vi-VN"/>
                  <a:t>1,\ \frac{1}{2},\ \frac{1}{4},\ \frac{1}{8},\ldots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(số hạng sau bằng một nửa số hạng liền trước). Công thức số hạng tổng quát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9641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30007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sepChr m:val=""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0007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u_n=\left(\frac{1}{2}\right)^n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9641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30007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n−1</m:t>
                            </m:r>
                          </m:sup>
                        </m:sSup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30007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u_n=\frac{(-1)^n}{2^{n-1}}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9700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40065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2n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40065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u_n=\frac{1}{2n}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9700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40065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sepChr m:val=""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40065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u_n=\left(\frac{1}{2}\right)^{n-1}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5113020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51495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Cấp số nhân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51495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Cấp số nhân </a:t>
                </a:r>
                <a:r>
                  <a:rPr lang="vi-VN"/>
                  <a:t>u_1=1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q=\frac{1}{2}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2.24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dãy số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=3n+6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Khẳng định nào đúng?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dãy số </a:t>
                </a:r>
                <a:r>
                  <a:rPr lang="vi-VN"/>
                  <a:t>u_n=3n+6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Khẳng định nào đúng?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Cấp số cộng,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d=3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Cấp số cộng, </a:t>
                </a:r>
                <a:r>
                  <a:rPr lang="vi-VN"/>
                  <a:t>d=3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Cấp số cộng,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d=6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Cấp số cộng, </a:t>
                </a:r>
                <a:r>
                  <a:rPr lang="vi-VN"/>
                  <a:t>d=6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Cấp số nhân,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q=3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Cấp số nhân, </a:t>
                </a:r>
                <a:r>
                  <a:rPr lang="vi-VN"/>
                  <a:t>q=3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Cấp số nhân,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q=6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Cấp số nhân, </a:t>
                </a:r>
                <a:r>
                  <a:rPr lang="vi-VN"/>
                  <a:t>q=6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u_n-u_{n-1}=3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2.25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Dãy số nào là cấp số nhân?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u_1=-1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u_{n+1}=u_n^2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u_1=-1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u_{n+1}=2u_n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u_1=-1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u_{n+1}=u_n+2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u_1=-1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u_{n+1}=u_n-2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q=2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2.26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Tổng 100 số hạng đầu của dãy số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=2n−1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Tổng 100 số hạng đầu của dãy số </a:t>
                </a:r>
                <a:r>
                  <a:rPr lang="vi-VN"/>
                  <a:t>u_n=2n-1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199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199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2^{100}-1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10\ 000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999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9\ 999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100(1+199)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S_{100}=\frac{100(1+199)}{2}=10\ 000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2.27 – 2.29 (SGK TR.57)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10881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2.27.</a:t>
            </a:r>
            <a:r>
              <a:rPr sz="2000">
                <a:solidFill>
                  <a:srgbClr val="1E293B"/>
                </a:solidFill>
                <a:latin typeface="Calibri"/>
              </a:rPr>
              <a:t> Từ 0 giờ đến 12 giờ trưa, đồng hồ quả lắc đánh bao nhiêu tiếng chuông (số tiếng bằng số giờ)? </a:t>
            </a:r>
            <a:r>
              <a:rPr sz="2000" b="1">
                <a:solidFill>
                  <a:srgbClr val="1E293B"/>
                </a:solidFill>
                <a:latin typeface="Calibri"/>
              </a:rPr>
              <a:t>2.28.</a:t>
            </a:r>
            <a:r>
              <a:rPr sz="2000">
                <a:solidFill>
                  <a:srgbClr val="1E293B"/>
                </a:solidFill>
                <a:latin typeface="Calibri"/>
              </a:rPr>
              <a:t> Tế bào E. Coli cứ 20 phút phân đôi một lần. Sau 24 giờ có bao nhiêu tế bào?</a:t>
            </a:r>
          </a:p>
        </p:txBody>
      </p:sp>
      <p:sp>
        <p:nvSpPr>
          <p:cNvPr id="8" name="s1_nen"/>
          <p:cNvSpPr/>
          <p:nvPr/>
        </p:nvSpPr>
        <p:spPr>
          <a:xfrm>
            <a:off x="548640" y="2523744"/>
            <a:ext cx="11064240" cy="87477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560320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2.27. Cấp số cộng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12 số hạng: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=78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tiếng. 2.28. 24 giờ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=72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chu kì 20 phút: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tế bào.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60320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2.27. Cấp số cộng </a:t>
                </a:r>
                <a:r>
                  <a:rPr lang="vi-VN"/>
                  <a:t>u_1=1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d=1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12 số hạng: </a:t>
                </a:r>
                <a:r>
                  <a:rPr lang="vi-VN"/>
                  <a:t>S_{12}=78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tiếng. 2.28. 24 giờ </a:t>
                </a:r>
                <a:r>
                  <a:rPr lang="vi-VN"/>
                  <a:t>=72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chu kì 20 phút: </a:t>
                </a:r>
                <a:r>
                  <a:rPr lang="vi-VN"/>
                  <a:t>2^{72}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tế bào.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462528"/>
                <a:ext cx="11064240" cy="9204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2.29.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Chứng minh: a) Cấp số cộng: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k−1</m:t>
                            </m:r>
                          </m:sub>
                        </m:s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k+1</m:t>
                            </m:r>
                          </m:sub>
                        </m:sSub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Cấp số nhân: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k−1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k+1</m:t>
                        </m:r>
                      </m:sub>
                    </m:sSub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≥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462528"/>
                <a:ext cx="11064240" cy="9204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2.29.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Chứng minh: a) Cấp số cộng: </a:t>
                </a:r>
                <a:r>
                  <a:rPr lang="vi-VN"/>
                  <a:t>u_k=\frac{u_{k-1}+u_{k+1}}{2}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Cấp số nhân: </a:t>
                </a:r>
                <a:r>
                  <a:rPr lang="vi-VN"/>
                  <a:t>u_k^2=u_{k-1}\cdot u_{k+1}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(k\ge 2)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447032"/>
            <a:ext cx="11064240" cy="1011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483608"/>
                <a:ext cx="10735056" cy="938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k−1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k+1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−d)+(</m:t>
                    </m:r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+d)=2</m:t>
                    </m:r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q≠0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k−1</m:t>
                        </m:r>
                      </m:sub>
                    </m:sSub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k+1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</m:t>
                    </m:r>
                    <m:sSub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hiển nhiên).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483608"/>
                <a:ext cx="10735056" cy="938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u_{k-1}+u_{k+1}=(u_k-d)+(u_k+d)=2u_k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q\ne 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u_{k-1}u_{k+1}=\frac{u_k}{q}\cdot u_kq=u_k^2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q=0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hiển nhiên).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2.30 – 2.32 (SGK TR.57)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7863840" cy="72237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E293B"/>
                </a:solidFill>
                <a:latin typeface="Calibri"/>
              </a:rPr>
              <a:t>2.30.</a:t>
            </a:r>
            <a:r>
              <a:rPr sz="1800">
                <a:solidFill>
                  <a:srgbClr val="1E293B"/>
                </a:solidFill>
                <a:latin typeface="Calibri"/>
              </a:rPr>
              <a:t> Ba số lập thành cấp số cộng, tổng bằng 21; cộng thêm lần lượt 2; 3; 9 thì được cấp số nhân. Tìm ba số.</a:t>
            </a:r>
          </a:p>
        </p:txBody>
      </p:sp>
      <p:sp>
        <p:nvSpPr>
          <p:cNvPr id="8" name="s1_nen"/>
          <p:cNvSpPr/>
          <p:nvPr/>
        </p:nvSpPr>
        <p:spPr>
          <a:xfrm>
            <a:off x="548640" y="2039112"/>
            <a:ext cx="7863840" cy="81381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075688"/>
                <a:ext cx="7534656" cy="74066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Ba số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14−x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(x+2)(23−x)=100⇔</m:t>
                    </m:r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−21x+54=0⇔x=3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x=18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bộ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18;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075688"/>
                <a:ext cx="7534656" cy="74066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Ba số </a:t>
                </a:r>
                <a:r>
                  <a:rPr lang="vi-VN"/>
                  <a:t>x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7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14-x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(x+2)(23-x)=100\Leftrightarrow x^2-21x+54=0\Leftrightarrow x=3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x=18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bộ </a:t>
                </a:r>
                <a:r>
                  <a:rPr lang="vi-VN"/>
                  <a:t>3;\ 7;\ 11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18;\ 7;\ -4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2889504"/>
                <a:ext cx="7863840" cy="7223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2.31.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Sàn tầng một cao hơn sân 0,5 m; cầu thang 25 bậc, mỗi bậc cao 16 cm. a) Độ cao bậc thứ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so với sân. b) Độ cao sàn tầng hai.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2889504"/>
                <a:ext cx="7863840" cy="7223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2.31.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Sàn tầng một cao hơn sân 0,5 m; cầu thang 25 bậc, mỗi bậc cao 16 cm. a) Độ cao bậc thứ </a:t>
                </a:r>
                <a:r>
                  <a:rPr lang="vi-VN"/>
                  <a:t>n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so với sân. b) Độ cao sàn tầng hai.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3648456"/>
            <a:ext cx="7863840" cy="53949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3685032"/>
                <a:ext cx="7534656" cy="4663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=50+16n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(cm),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1≤n≤25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=450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cm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m.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3685032"/>
                <a:ext cx="7534656" cy="4663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v_n=50+16n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(cm), </a:t>
                </a:r>
                <a:r>
                  <a:rPr lang="vi-VN"/>
                  <a:t>1\le n\le 25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v_{25}=450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cm </a:t>
                </a:r>
                <a:r>
                  <a:rPr lang="vi-VN"/>
                  <a:t>=4{,}5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m.</a:t>
                </a:r>
              </a:p>
            </p:txBody>
          </p:sp>
        </mc:Fallback>
      </mc:AlternateContent>
      <p:sp>
        <p:nvSpPr>
          <p:cNvPr id="13" name="s4_chu"/>
          <p:cNvSpPr txBox="1"/>
          <p:nvPr/>
        </p:nvSpPr>
        <p:spPr>
          <a:xfrm>
            <a:off x="548640" y="4224528"/>
            <a:ext cx="7863840" cy="72237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E293B"/>
                </a:solidFill>
                <a:latin typeface="Calibri"/>
              </a:rPr>
              <a:t>2.32.</a:t>
            </a:r>
            <a:r>
              <a:rPr sz="1800">
                <a:solidFill>
                  <a:srgbClr val="1E293B"/>
                </a:solidFill>
                <a:latin typeface="Calibri"/>
              </a:rPr>
              <a:t> Hình vuông cạnh 1 chia 9, tô xanh ô giữa; lặp lại 5 lần (Hình 2.1). Tổng diện tích tô xanh?</a:t>
            </a:r>
          </a:p>
        </p:txBody>
      </p:sp>
      <p:sp>
        <p:nvSpPr>
          <p:cNvPr id="14" name="s5_nen"/>
          <p:cNvSpPr/>
          <p:nvPr/>
        </p:nvSpPr>
        <p:spPr>
          <a:xfrm>
            <a:off x="548640" y="4983480"/>
            <a:ext cx="7863840" cy="90982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s5_chu"/>
              <p:cNvSpPr txBox="1"/>
              <p:nvPr/>
            </p:nvSpPr>
            <p:spPr>
              <a:xfrm>
                <a:off x="713232" y="5020056"/>
                <a:ext cx="7534656" cy="83667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Lần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tô thêm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d>
                          <m:dPr>
                            <m:sepChr m:val=""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vi-VN" sz="18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vi-VN" sz="18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k−1</m:t>
                        </m:r>
                      </m:sup>
                    </m:sSup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sSup>
                      <m:e>
                        <m:d>
                          <m:dPr>
                            <m:sepChr m:val=""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vi-VN" sz="18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vi-VN" sz="18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281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049</m:t>
                        </m:r>
                      </m:den>
                    </m:f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≈0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445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713232" y="5020056"/>
                <a:ext cx="7534656" cy="83667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Lần </a:t>
                </a:r>
                <a:r>
                  <a:rPr lang="vi-VN"/>
                  <a:t>k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tô thêm </a:t>
                </a:r>
                <a:r>
                  <a:rPr lang="vi-VN"/>
                  <a:t>\frac{1}{9}\left(\frac{8}{9}\right)^{k-1}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S_5=1-\left(\frac{8}{9}\right)^5=\frac{26\ 281}{59\ 049}\approx 0{,}445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6" name="Picture 15" descr="c2_h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64881"/>
            <a:ext cx="3108960" cy="106519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0" y="3310127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2.1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RUNG CHUÔNG VÀNG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54480"/>
            <a:ext cx="9418320" cy="2962656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591056"/>
            <a:ext cx="9089136" cy="2889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>
                <a:solidFill>
                  <a:srgbClr val="1E293B"/>
                </a:solidFill>
                <a:latin typeface="Calibri"/>
              </a:rPr>
              <a:t>🔔 </a:t>
            </a:r>
            <a:r>
              <a:rPr sz="3000" b="1">
                <a:solidFill>
                  <a:srgbClr val="1E293B"/>
                </a:solidFill>
                <a:latin typeface="Calibri"/>
              </a:rPr>
              <a:t>Luật chơi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một bảng con – viết đáp án khi hết giờ.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nhiều lựa chọn: ghi A, B, C hoặc D (30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Đúng/Sai: ghi Đ hoặc S cho từng ý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trả lời ngắn, thực tế: ghi một số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Sai: rời sàn thi. Bạn trụ lại cuối cùng </a:t>
            </a:r>
            <a:r>
              <a:rPr sz="2400" b="1">
                <a:solidFill>
                  <a:srgbClr val="1E293B"/>
                </a:solidFill>
                <a:latin typeface="Calibri"/>
              </a:rPr>
              <a:t>rung chuông vàng</a:t>
            </a:r>
            <a:r>
              <a:rPr sz="2400">
                <a:solidFill>
                  <a:srgbClr val="1E293B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THỬ THÁCH – CÂU 1 (ĐÚNG/SAI)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90525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Một vườn cà phê năm đầu thu 2 tấn, mỗi năm sau tăng 10% so với năm trước. Xét tính đúng, sai: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2368296"/>
                <a:ext cx="7680960" cy="91668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Sản lượng các năm lập thành cấp số nhân,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q=1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2368296"/>
                <a:ext cx="7680960" cy="91668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Sản lượng các năm lập thành cấp số nhân, </a:t>
                </a:r>
                <a:r>
                  <a:rPr lang="vi-VN"/>
                  <a:t>q=1{,}1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8412480" y="2340864"/>
            <a:ext cx="3200400" cy="77952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577072" y="2377440"/>
            <a:ext cx="2871216" cy="70637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0702"/>
            <a:ext cx="7680960" cy="9166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b) Năm thứ ba thu 2,42 tấn.</a:t>
            </a:r>
          </a:p>
        </p:txBody>
      </p:sp>
      <p:sp>
        <p:nvSpPr>
          <p:cNvPr id="12" name="s2_nen"/>
          <p:cNvSpPr/>
          <p:nvPr/>
        </p:nvSpPr>
        <p:spPr>
          <a:xfrm>
            <a:off x="8412480" y="3303270"/>
            <a:ext cx="3200400" cy="77952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577072" y="3339846"/>
            <a:ext cx="2871216" cy="70637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3108"/>
            <a:ext cx="7680960" cy="9166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c) Sản lượng các năm lập thành cấp số cộng.</a:t>
            </a:r>
          </a:p>
        </p:txBody>
      </p:sp>
      <p:sp>
        <p:nvSpPr>
          <p:cNvPr id="15" name="s3_nen"/>
          <p:cNvSpPr/>
          <p:nvPr/>
        </p:nvSpPr>
        <p:spPr>
          <a:xfrm>
            <a:off x="8412480" y="4265676"/>
            <a:ext cx="3200400" cy="77952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577072" y="4302252"/>
            <a:ext cx="2871216" cy="70637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55514"/>
            <a:ext cx="7680960" cy="9166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d) Tổng 3 năm đầu là 6,62 tấn.</a:t>
            </a:r>
          </a:p>
        </p:txBody>
      </p:sp>
      <p:sp>
        <p:nvSpPr>
          <p:cNvPr id="18" name="s4_nen"/>
          <p:cNvSpPr/>
          <p:nvPr/>
        </p:nvSpPr>
        <p:spPr>
          <a:xfrm>
            <a:off x="8412480" y="5228081"/>
            <a:ext cx="3200400" cy="77952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577072" y="5264657"/>
            <a:ext cx="2871216" cy="70637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THỬ THÁCH – CÂU 2 (TRẢ LỜI NGẮN)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Cấp số cộng có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=19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Tính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Cấp số cộng có </a:t>
                </a:r>
                <a:r>
                  <a:rPr lang="vi-VN"/>
                  <a:t>u_3=7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u_7=19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Tính </a:t>
                </a:r>
                <a:r>
                  <a:rPr lang="vi-VN"/>
                  <a:t>u_{10}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28.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4d=12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=1+27=28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28.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4d=12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d=3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u_1=1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u_{10}=1+27=28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CỦNG CỐ TRỰC TUYẾN –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5895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Bài củng cố trực tuyến</a:t>
            </a:r>
            <a:r>
              <a:rPr sz="2200">
                <a:solidFill>
                  <a:srgbClr val="1E293B"/>
                </a:solidFill>
                <a:latin typeface="Calibri"/>
              </a:rPr>
              <a:t> – quét mã QR hoặc mở đường link: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https://trangtu66.github.io/Taode_thi_online/cc_chuong2_t11.html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Hoàn thiện Bài 2.27 – 2.32.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Đọc trước </a:t>
            </a:r>
            <a:r>
              <a:rPr sz="2200" b="1">
                <a:solidFill>
                  <a:srgbClr val="1E293B"/>
                </a:solidFill>
                <a:latin typeface="Calibri"/>
              </a:rPr>
              <a:t>Bài 8. Mẫu số liệu ghép nhóm</a:t>
            </a:r>
            <a:r>
              <a:rPr sz="2200">
                <a:solidFill>
                  <a:srgbClr val="1E293B"/>
                </a:solidFill>
                <a:latin typeface="Calibri"/>
              </a:rPr>
              <a:t> (SGK tr.58).</a:t>
            </a:r>
          </a:p>
        </p:txBody>
      </p:sp>
      <p:pic>
        <p:nvPicPr>
          <p:cNvPr id="8" name="Picture 7" descr="QR_CungCo_Chuong2_Toan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554480"/>
            <a:ext cx="3291840" cy="3291840"/>
          </a:xfrm>
          <a:prstGeom prst="rect">
            <a:avLst/>
          </a:prstGeom>
        </p:spPr>
      </p:pic>
      <p:sp>
        <p:nvSpPr>
          <p:cNvPr id="9" name="Rounded Rectangle 8">
            <a:hlinkClick r:id="rId4"/>
          </p:cNvPr>
          <p:cNvSpPr/>
          <p:nvPr/>
        </p:nvSpPr>
        <p:spPr>
          <a:xfrm>
            <a:off x="8412480" y="5029200"/>
            <a:ext cx="3291840" cy="59436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MỞ BÀI CỦNG CỐ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SƠ ĐỒ TƯ DUY – CHƯƠNG II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17</a:t>
            </a:r>
          </a:p>
        </p:txBody>
      </p:sp>
      <p:pic>
        <p:nvPicPr>
          <p:cNvPr id="7" name="Picture 6" descr="SoDoTuDuy_TOAN11_BaiTapCuoiChuong2_T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9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1 – SAI LẦM THƯỜNG GẶP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2.22: cho rằng dãy bị chặn thì đơn điệu.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2.28: lấy 24 thay vì 72 chu kì; nhầm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2·72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2.30: đặt ẩn ba số chưa khéo (nên đặt số giữa bằng 7).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2.32: cộng nhầm diện tích các lần (mỗi lần tô thêm trên phần còn vàng).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2.22: cho rằng dãy bị chặn thì đơn điệu.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2.28: lấy 24 thay vì 72 chu kì; nhầm </a:t>
                </a:r>
                <a:r>
                  <a:rPr lang="vi-VN"/>
                  <a:t>2^{72}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2\cdot 72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2.30: đặt ẩn ba số chưa khéo (nên đặt số giữa bằng 7).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2.32: cộng nhầm diện tích các lần (mỗi lần tô thêm trên phần còn vàng).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2 – PHÂN HOÁ, DỰ PHÒNG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 – Toán 11    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cần hỗ trợ:</a:t>
            </a:r>
            <a:r>
              <a:rPr sz="2000">
                <a:solidFill>
                  <a:srgbClr val="1E293B"/>
                </a:solidFill>
                <a:latin typeface="Calibri"/>
              </a:rPr>
              <a:t> 2.22 – 2.26, 2.27, 2.31.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khá, giỏi:</a:t>
            </a:r>
            <a:r>
              <a:rPr sz="2000">
                <a:solidFill>
                  <a:srgbClr val="1E293B"/>
                </a:solidFill>
                <a:latin typeface="Calibri"/>
              </a:rPr>
              <a:t> 2.29, 2.30, 2.32.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Khối 11 không có HS khuyết tật.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Mất điện/mạng:</a:t>
            </a:r>
            <a:r>
              <a:rPr sz="2000">
                <a:solidFill>
                  <a:srgbClr val="1E293B"/>
                </a:solidFill>
                <a:latin typeface="Calibri"/>
              </a:rPr>
              <a:t> phiếu in, thẻ A/B/C/D.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