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3D, video mở trang online (cần Internet).</a:t>
            </a:r>
          </a:p>
          <a:p>
            <a:r>
              <a:t>Chuẩn bị: mô hình tứ diện, hình chóp (que tre + đất nặn), tấm bìa, sợi dây, rubik tam giác.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7' – Khái niệm mở đầu 12' – Tính chất thừa nhận (HĐ2 – HĐ5, VD1, VD2, LT1, LT2, VD1) 20' – Trò chơi 4'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Chiếu video mở đầu (0'52", phụ đề). Cho HS cầm hộp phấn, rubik; trả lời cặp đôi. Dẫn: hình học không gian nghiên cứu các hình như vậy – vào Bài 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SGK tr.71 – 4'. Câu hỏi (?): click 1. Nhấn mạnh: mặt phẳng không có bề dày, không có giới hạn.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(SGK tr.71) – 4'. Click 1: ví dụ của HS. Chốt khung kí hiệu (click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SGK tr.71 – 4'. HS vẽ hình chóp tam giác, hình lập phương vào vở (click 1: nhận xét nét khuất).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(SGK tr.72) – 3'. Click 1 đáp án HĐ2; khung tính chất 1; câu hỏi (?) click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(SGK tr.72) – 5'. HS thao tác với rubik tam giác. Click 1 đáp án; chốt hai khung; Nhận xét.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 click 1. Ví dụ 1 click 2. Luyện tập 1 click 3 – lưu ý tứ giác là hình phẳng.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Cặp đôi thảo luận. Click 1. Liên hệ: bàn bốn chân dễ bị cập kênh.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HĐ4 (SGK tr.73) – 3'. HS căng sợi dây trên mặt bàn. Click 1. Chốt tính chất 4 và kí hiệu.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2 click 1, 2. Luyện tập 2 click 3 (HS làm cá nhân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HĐ5 (SGK tr.73) – 3'. Click 1. Chốt tính chất 5, định nghĩa giao tuyến. Gợi ý: tìm hai điểm chung.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lật đáp án: S – Đ – Đ – S –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Ví dụ 3, LT3 + GeoGebra 10' – Cách xác định mặt phẳng (HĐ6, VD4, LT4, Vận dụng 2) 13' – Hình chóp, tứ diện (HĐ7, HĐ8, VD5, VD6, LT5, LT6) 15' – Trò chơi 4'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 2. Nhấn mạnh: dùng kết quả hình học phẳng (trọng tâm) trong mặt phẳng (ABC).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2'. Click 1. Sai lầm: không nhận ra (SBM) chính là (SAB).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Chiếu sau Ví dụ 3. Lệnh: M=Midpoint(A,B), N=Midpoint(A,C), G=(A+B+C)/3, Polygon(S,B,N), Polygon(S,C,M), Line(S,G).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HĐ6 (SGK tr.74) – 4'. Click 1. Chốt khung ba cách xác định; Chú ý kí hiệu mp(A, d), mp(a, 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4 click 1. Luyện tập 4: HS vẽ c, click 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Click 1. Liên hệ: cửa lớp học, cửa tủ.</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HĐ7 (SGK tr.75) – 4'. Click 1. Chốt khung định nghĩa; Chú ý tên gọi theo đáy.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5 click 1; Luyện tập 5 cả lớp trả lời (click 2). Dùng mô hình que tre.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HĐ8 (SGK tr.76) – 3'. Click 1. Chốt khung tứ diện, Nhận xét; tứ diện đều.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 2. Chốt phương pháp tìm giao điểm (click 3). Có thể mở GeoGebra trang 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cặp 3'. Click 1, 2 (theo SGV: kéo dài DE cắt BC).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Lệnh: M=Intersect(Line(B,E),Line(C,D)), N=Intersect(Line(B,F),Line(A,M)), P=Intersect(Line(D,E),Line(B,C)), K=Intersect(Line(D,F),Line(A,P)).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1–4. Câu 1: O = AC ∩ BD là điểm chung thứ hai.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Hộp quà 5' – Bài tập 4.1 – 4.6 (20') – Trạm kiểm chứng AI 5' – 4.7, 4.8: 5' – Rung chuông vàng 7' – Củng cố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a:t>
            </a:r>
          </a:p>
          <a:p>
            <a:r>
              <a:t>Các slide câu hỏi đang ẩn – chỉ mở được bằng cách bấm vào hộp.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từng bài: đề → click đáp án → đề sau… (đối chiếu SGV tr.121 – 122).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trình bày. Click 1, 2 (SGV tr.122, H.4.2).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Mức 3 (HS khá, giỏi). Click 1, 2. Tên điểm R, T theo SGV tr.122 (H.4.3).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2 (SGV tr.122, H.4.4). Nhấn mạnh vì sao NP không song song CD.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Nhóm lẻ: lời giải số 1; nhóm chẵn: lời giải số 2. Click 1, 2 hiện nhận xét. Nhắc ghi Nhật ký sử dụng AI (NLa, NLc, NLb).</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 2 (SGV: 4.7 tương tự Vận dụng 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8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D: nhầm với ba điểm thẳng hàng.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A: quên mặt đáy; D: nhầm với số cạnh.</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C, D: chỉ thấy một mặt phẳng chứa đường thẳng.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B: chỉ để ý M ∈ AB.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S – Đ – S. Ý d: O không thuộc AM.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Đã kiểm tra bằng Python: C(5,3) = 10.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Đã kiểm tra: 2·8 = 16.</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Liên hệ Vận dụng 1, Bài 4.7.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1/VIDEO_MoDau_TOAN11_Bai10_DuongThangMatPhang.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trangtu66.github.io/Taode_thi_online/GGB3D_T11_Bai10_1_GiaoTuyen.html" TargetMode="External"/><Relationship Id="rId4" Type="http://schemas.openxmlformats.org/officeDocument/2006/relationships/image" Target="../media/image16.png"/><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trangtu66.github.io/Taode_thi_online/GGB3D_T11_Bai10_2_GiaoDiem.html" TargetMode="External"/><Relationship Id="rId4" Type="http://schemas.openxmlformats.org/officeDocument/2006/relationships/image" Target="../media/image23.png"/><Relationship Id="rId5"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1.png"/><Relationship Id="rId4" Type="http://schemas.openxmlformats.org/officeDocument/2006/relationships/slide" Target="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slide" Target="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slide" Target="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1.png"/><Relationship Id="rId4" Type="http://schemas.openxmlformats.org/officeDocument/2006/relationships/slide" Target="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8.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0.png"/><Relationship Id="rId4" Type="http://schemas.openxmlformats.org/officeDocument/2006/relationships/hyperlink" Target="https://trangtu66.github.io/Taode_thi_online/cc_bai10_t11.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200" b="1">
                <a:solidFill>
                  <a:srgbClr val="FCD34D"/>
                </a:solidFill>
                <a:latin typeface="Cambria"/>
              </a:rPr>
              <a:t>CHƯƠNG IV. QUAN HỆ SONG SONG TRONG KHÔNG GIAN</a:t>
            </a:r>
          </a:p>
          <a:p>
            <a:pPr>
              <a:spcAft>
                <a:spcPts val="600"/>
              </a:spcAft>
            </a:pPr>
            <a:r>
              <a:rPr sz="3000" b="1">
                <a:solidFill>
                  <a:srgbClr val="FFFFFF"/>
                </a:solidFill>
                <a:latin typeface="Cambria"/>
              </a:rPr>
              <a:t>BÀI 10</a:t>
            </a:r>
          </a:p>
          <a:p>
            <a:pPr>
              <a:spcAft>
                <a:spcPts val="600"/>
              </a:spcAft>
            </a:pPr>
            <a:r>
              <a:rPr sz="3800" b="1">
                <a:solidFill>
                  <a:srgbClr val="FFFFFF"/>
                </a:solidFill>
                <a:latin typeface="Cambria"/>
              </a:rPr>
              <a:t>ĐƯỜNG THẲNG VÀ MẶT PHẲNG TRONG KHÔNG GIAN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Toán 11 – Kết nối tri thức với cuộc sống (SGK tập một, tr.70 – 77)</a:t>
            </a:r>
          </a:p>
          <a:p>
            <a:pPr algn="l">
              <a:spcAft>
                <a:spcPts val="800"/>
              </a:spcAft>
            </a:pPr>
            <a:r>
              <a:rPr sz="2200">
                <a:solidFill>
                  <a:srgbClr val="E0E7FF"/>
                </a:solidFill>
                <a:latin typeface="Calibri"/>
              </a:rPr>
              <a:t>3 tiết: T26 – T28</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a:t>
            </a:r>
          </a:p>
        </p:txBody>
      </p:sp>
      <p:sp>
        <p:nvSpPr>
          <p:cNvPr id="7" name="Rounded Rectangle 6"/>
          <p:cNvSpPr/>
          <p:nvPr/>
        </p:nvSpPr>
        <p:spPr>
          <a:xfrm>
            <a:off x="548640" y="1417320"/>
            <a:ext cx="11064240" cy="378561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371246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tr.70)</a:t>
            </a:r>
          </a:p>
          <a:p>
            <a:pPr algn="l" marL="365760" indent="-365760">
              <a:spcAft>
                <a:spcPts val="800"/>
              </a:spcAft>
              <a:buClr>
                <a:srgbClr val="1E40AF"/>
              </a:buClr>
              <a:buFont typeface="Arial"/>
              <a:buChar char="•"/>
            </a:pPr>
            <a:r>
              <a:rPr sz="2200">
                <a:solidFill>
                  <a:srgbClr val="1E293B"/>
                </a:solidFill>
                <a:latin typeface="Calibri"/>
              </a:rPr>
              <a:t>Nhận biết các quan hệ liên thuộc cơ bản giữa điểm, đường thẳng, mặt phẳng trong không gian.</a:t>
            </a:r>
          </a:p>
          <a:p>
            <a:pPr algn="l" marL="365760" indent="-365760">
              <a:spcAft>
                <a:spcPts val="800"/>
              </a:spcAft>
              <a:buClr>
                <a:srgbClr val="1E40AF"/>
              </a:buClr>
              <a:buFont typeface="Arial"/>
              <a:buChar char="•"/>
            </a:pPr>
            <a:r>
              <a:rPr sz="2200">
                <a:solidFill>
                  <a:srgbClr val="1E293B"/>
                </a:solidFill>
                <a:latin typeface="Calibri"/>
              </a:rPr>
              <a:t>Mô tả ba cách xác định mặt phẳng.</a:t>
            </a:r>
          </a:p>
          <a:p>
            <a:pPr algn="l" marL="365760" indent="-365760">
              <a:spcAft>
                <a:spcPts val="800"/>
              </a:spcAft>
              <a:buClr>
                <a:srgbClr val="1E40AF"/>
              </a:buClr>
              <a:buFont typeface="Arial"/>
              <a:buChar char="•"/>
            </a:pPr>
            <a:r>
              <a:rPr sz="2200">
                <a:solidFill>
                  <a:srgbClr val="1E293B"/>
                </a:solidFill>
                <a:latin typeface="Calibri"/>
              </a:rPr>
              <a:t>Xác định giao tuyến của hai mặt phẳng, giao điểm của đường thẳng và mặt phẳng.</a:t>
            </a:r>
          </a:p>
          <a:p>
            <a:pPr algn="l" marL="365760" indent="-365760">
              <a:spcAft>
                <a:spcPts val="800"/>
              </a:spcAft>
              <a:buClr>
                <a:srgbClr val="1E40AF"/>
              </a:buClr>
              <a:buFont typeface="Arial"/>
              <a:buChar char="•"/>
            </a:pPr>
            <a:r>
              <a:rPr sz="2200">
                <a:solidFill>
                  <a:srgbClr val="1E293B"/>
                </a:solidFill>
                <a:latin typeface="Calibri"/>
              </a:rPr>
              <a:t>Nhận biết hình chóp và hình tứ diện.</a:t>
            </a:r>
          </a:p>
          <a:p>
            <a:pPr algn="l" marL="365760" indent="-365760">
              <a:spcAft>
                <a:spcPts val="800"/>
              </a:spcAft>
              <a:buClr>
                <a:srgbClr val="1E40AF"/>
              </a:buClr>
              <a:buFont typeface="Arial"/>
              <a:buChar char="•"/>
            </a:pPr>
            <a:r>
              <a:rPr sz="2200">
                <a:solidFill>
                  <a:srgbClr val="1E293B"/>
                </a:solidFill>
                <a:latin typeface="Calibri"/>
              </a:rPr>
              <a:t>Mô tả một số hình ảnh trong thực tiễn có liên quan đến đường thẳng, mặt phẳng trong không gian.</a:t>
            </a:r>
          </a:p>
        </p:txBody>
      </p:sp>
      <p:sp>
        <p:nvSpPr>
          <p:cNvPr id="9" name="TextBox 8"/>
          <p:cNvSpPr txBox="1"/>
          <p:nvPr/>
        </p:nvSpPr>
        <p:spPr>
          <a:xfrm>
            <a:off x="548640" y="5431536"/>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lập luận (hai điểm chung → giao tuyến); mô hình hoá (giá ba chân, hít cửa); giao tiếp toán học; công cụ (GeoGebra 3D).</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3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T26</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Khái niệm mở đầu. 2. Các tính chất thừa nhận (HĐ1 – HĐ5)</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Đúng hay Sai?</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T27</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Ví dụ 3, LT3. 3. Cách xác định một mặt phẳng. 4. Hình chóp và hình tứ diện</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Điền nhanh · GeoGebra 3D</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4787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T28</a:t>
            </a:r>
          </a:p>
        </p:txBody>
      </p:sp>
      <p:sp>
        <p:nvSpPr>
          <p:cNvPr id="17" name="TextBox 16"/>
          <p:cNvSpPr txBox="1"/>
          <p:nvPr/>
        </p:nvSpPr>
        <p:spPr>
          <a:xfrm>
            <a:off x="1920240" y="356616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Luyện tập: Bài tập 4.1 – 4.8; Trạm kiểm chứng AI</a:t>
            </a:r>
          </a:p>
        </p:txBody>
      </p:sp>
      <p:sp>
        <p:nvSpPr>
          <p:cNvPr id="18" name="TextBox 17"/>
          <p:cNvSpPr txBox="1"/>
          <p:nvPr/>
        </p:nvSpPr>
        <p:spPr>
          <a:xfrm>
            <a:off x="8046720" y="356616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Hộp quà · 🔔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(T26)</a:t>
            </a:r>
          </a:p>
          <a:p>
            <a:pPr>
              <a:spcAft>
                <a:spcPts val="600"/>
              </a:spcAft>
            </a:pPr>
            <a:r>
              <a:rPr sz="4000" b="1">
                <a:solidFill>
                  <a:srgbClr val="FFFFFF"/>
                </a:solidFill>
                <a:latin typeface="Cambria"/>
              </a:rPr>
              <a:t>Khái niệm mở đầu. Các tính chất thừa nhận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mặt phẳng, điểm thuộc mặt phẳng; vẽ hình biểu diễn đúng quy ước.</a:t>
            </a:r>
          </a:p>
          <a:p>
            <a:pPr algn="l">
              <a:spcAft>
                <a:spcPts val="800"/>
              </a:spcAft>
            </a:pPr>
            <a:r>
              <a:rPr sz="2200">
                <a:solidFill>
                  <a:srgbClr val="E0E7FF"/>
                </a:solidFill>
                <a:latin typeface="Calibri"/>
              </a:rPr>
              <a:t>• Phát biểu, vận dụng các tính chất thừa nhận.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HÌNH HỌC QUANH TA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Các vật thể thường gặp như hộp phấn, cục tẩy, chặn giấy là các hình trong không gian. </a:t>
            </a:r>
            <a:r>
              <a:rPr sz="2200" b="1">
                <a:solidFill>
                  <a:srgbClr val="1E293B"/>
                </a:solidFill>
                <a:latin typeface="Calibri"/>
              </a:rPr>
              <a:t>Hộp phấn, viên rubik có những yếu tố nào giống hình phẳng (đỉnh, cạnh, mặt)? Mặt bàn có “dày” không, có “giới hạn” không?</a:t>
            </a:r>
          </a:p>
          <a:p>
            <a:pPr algn="l">
              <a:spcAft>
                <a:spcPts val="800"/>
              </a:spcAft>
            </a:pPr>
            <a:r>
              <a:rPr sz="2000">
                <a:solidFill>
                  <a:srgbClr val="64748B"/>
                </a:solidFill>
                <a:latin typeface="Calibri"/>
              </a:rPr>
              <a:t>(Giới thiệu Chương IV – SGK Toán 11 tập một, tr.70)</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p_cad.png"/>
          <p:cNvPicPr>
            <a:picLocks noChangeAspect="1"/>
          </p:cNvPicPr>
          <p:nvPr/>
        </p:nvPicPr>
        <p:blipFill>
          <a:blip r:embed="rId5"/>
          <a:stretch>
            <a:fillRect/>
          </a:stretch>
        </p:blipFill>
        <p:spPr>
          <a:xfrm>
            <a:off x="7315200" y="3045092"/>
            <a:ext cx="4389120" cy="859256"/>
          </a:xfrm>
          <a:prstGeom prst="rect">
            <a:avLst/>
          </a:prstGeom>
        </p:spPr>
      </p:pic>
      <p:sp>
        <p:nvSpPr>
          <p:cNvPr id="11" name="TextBox 10"/>
          <p:cNvSpPr txBox="1"/>
          <p:nvPr/>
        </p:nvSpPr>
        <p:spPr>
          <a:xfrm>
            <a:off x="7315200" y="5504688"/>
            <a:ext cx="43891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Vẽ kĩ thuật, in 3D, thiết kế CAD (SGK tr.70)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KHÁI NIỆM MỞ ĐẦU – MẶT PHẲNG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6</a:t>
            </a:r>
          </a:p>
        </p:txBody>
      </p:sp>
      <p:sp>
        <p:nvSpPr>
          <p:cNvPr id="7" name="TextBox 6"/>
          <p:cNvSpPr txBox="1"/>
          <p:nvPr/>
        </p:nvSpPr>
        <p:spPr>
          <a:xfrm>
            <a:off x="548640" y="2743200"/>
            <a:ext cx="1106424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Mặt bảng, màn hình máy tính hay mặt nước lúc tĩnh lặng là một số hình ảnh về một phần của </a:t>
            </a:r>
            <a:r>
              <a:rPr sz="2100" b="1">
                <a:solidFill>
                  <a:srgbClr val="1E293B"/>
                </a:solidFill>
                <a:latin typeface="Calibri"/>
              </a:rPr>
              <a:t>mặt phẳng</a:t>
            </a:r>
            <a:r>
              <a:rPr sz="2100">
                <a:solidFill>
                  <a:srgbClr val="1E293B"/>
                </a:solidFill>
                <a:latin typeface="Calibri"/>
              </a:rPr>
              <a:t>. Mặt phẳng không có bề dày và không có giới hạn.</a:t>
            </a:r>
          </a:p>
        </p:txBody>
      </p:sp>
      <p:sp>
        <p:nvSpPr>
          <p:cNvPr id="8" name="s1_nen"/>
          <p:cNvSpPr/>
          <p:nvPr/>
        </p:nvSpPr>
        <p:spPr>
          <a:xfrm>
            <a:off x="548640" y="3630168"/>
            <a:ext cx="11064240" cy="90525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666744"/>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Biểu diễn mặt phẳng bằng một hình bình hành (hoặc một góc), ghi tên ở một góc. Kí hiệu: chữ in hoa hoặc chữ Hy Lạp trong dấu ngoặc: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α</m:t>
                        </m:r>
                      </m:e>
                    </m:d>
                  </m:oMath>
                </a14:m>
                <a:r>
                  <a:rPr sz="2100">
                    <a:solidFill>
                      <a:srgbClr val="1E293B"/>
                    </a:solidFill>
                    <a:latin typeface="Calibri"/>
                  </a:rPr>
                  <a:t>.</a:t>
                </a:r>
              </a:p>
            </p:txBody>
          </p:sp>
        </mc:Choice>
        <mc:Fallback>
          <p:sp>
            <p:nvSpPr>
              <p:cNvPr id="9" name="TextBox 8"/>
              <p:cNvSpPr txBox="1"/>
              <p:nvPr/>
            </p:nvSpPr>
            <p:spPr>
              <a:xfrm>
                <a:off x="713232" y="3666744"/>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Biểu diễn mặt phẳng bằng một hình bình hành (hoặc một góc), ghi tên ở một góc. Kí hiệu: chữ in hoa hoặc chữ Hy Lạp trong dấu ngoặc: </a:t>
                </a:r>
                <a:r>
                  <a:rPr lang="vi-VN"/>
                  <a:t>(P)</a:t>
                </a:r>
                <a:r>
                  <a:rPr sz="2100">
                    <a:solidFill>
                      <a:srgbClr val="1E293B"/>
                    </a:solidFill>
                    <a:latin typeface="Calibri"/>
                  </a:rPr>
                  <a:t>, </a:t>
                </a:r>
                <a:r>
                  <a:rPr lang="vi-VN"/>
                  <a:t>(\alpha)</a:t>
                </a:r>
                <a:r>
                  <a:rPr sz="2100">
                    <a:solidFill>
                      <a:srgbClr val="1E293B"/>
                    </a:solidFill>
                    <a:latin typeface="Calibri"/>
                  </a:rPr>
                  <a:t>.</a:t>
                </a:r>
              </a:p>
            </p:txBody>
          </p:sp>
        </mc:Fallback>
      </mc:AlternateContent>
      <p:sp>
        <p:nvSpPr>
          <p:cNvPr id="10" name="s2_chu"/>
          <p:cNvSpPr txBox="1"/>
          <p:nvPr/>
        </p:nvSpPr>
        <p:spPr>
          <a:xfrm>
            <a:off x="548640" y="4608576"/>
            <a:ext cx="11064240" cy="493775"/>
          </a:xfrm>
          <a:prstGeom prst="rect">
            <a:avLst/>
          </a:prstGeom>
          <a:noFill/>
        </p:spPr>
        <p:txBody>
          <a:bodyPr wrap="square" anchor="t" lIns="45720" rIns="45720">
            <a:spAutoFit/>
          </a:bodyPr>
          <a:lstStyle/>
          <a:p>
            <a:pPr algn="l">
              <a:spcAft>
                <a:spcPts val="800"/>
              </a:spcAft>
            </a:pPr>
            <a:r>
              <a:rPr sz="2100">
                <a:solidFill>
                  <a:srgbClr val="1E293B"/>
                </a:solidFill>
                <a:latin typeface="Calibri"/>
              </a:rPr>
              <a:t>❓ Hãy tìm một số hình ảnh của mặt phẳng trong thực tế.</a:t>
            </a:r>
          </a:p>
        </p:txBody>
      </p:sp>
      <p:sp>
        <p:nvSpPr>
          <p:cNvPr id="11" name="s3_nen"/>
          <p:cNvSpPr/>
          <p:nvPr/>
        </p:nvSpPr>
        <p:spPr>
          <a:xfrm>
            <a:off x="548640" y="517550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3_chu"/>
          <p:cNvSpPr txBox="1"/>
          <p:nvPr/>
        </p:nvSpPr>
        <p:spPr>
          <a:xfrm>
            <a:off x="713232" y="521208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Mặt bàn, sàn nhà, mặt tường, trang giấy, mặt kính cửa sổ, mặt sân bóng…</a:t>
            </a:r>
          </a:p>
        </p:txBody>
      </p:sp>
      <p:pic>
        <p:nvPicPr>
          <p:cNvPr id="13" name="Picture 12" descr="p_matphang.png"/>
          <p:cNvPicPr>
            <a:picLocks noChangeAspect="1"/>
          </p:cNvPicPr>
          <p:nvPr/>
        </p:nvPicPr>
        <p:blipFill>
          <a:blip r:embed="rId3"/>
          <a:stretch>
            <a:fillRect/>
          </a:stretch>
        </p:blipFill>
        <p:spPr>
          <a:xfrm>
            <a:off x="2741603" y="1280160"/>
            <a:ext cx="6678314" cy="137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ĐIỂM THUỘC MẶT PHẲNG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7</a:t>
            </a:r>
          </a:p>
        </p:txBody>
      </p:sp>
      <p:sp>
        <p:nvSpPr>
          <p:cNvPr id="7" name="TextBox 6"/>
          <p:cNvSpPr txBox="1"/>
          <p:nvPr/>
        </p:nvSpPr>
        <p:spPr>
          <a:xfrm>
            <a:off x="548640" y="1371600"/>
            <a:ext cx="69494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Chấm phạt đền trên sân bóng đá cho ta hình ảnh về một điểm thuộc một mặt phẳng. Hãy tìm thêm các ví dụ khác cũng gợi cho ta hình ảnh đó.</a:t>
            </a:r>
          </a:p>
        </p:txBody>
      </p:sp>
      <p:sp>
        <p:nvSpPr>
          <p:cNvPr id="8" name="s1_nen"/>
          <p:cNvSpPr/>
          <p:nvPr/>
        </p:nvSpPr>
        <p:spPr>
          <a:xfrm>
            <a:off x="548640" y="2596896"/>
            <a:ext cx="69494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633472"/>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Vết mực trên trang giấy, chiếc đinh trên mặt tường, quân cờ trên bàn cờ…</a:t>
            </a:r>
          </a:p>
        </p:txBody>
      </p:sp>
      <p:sp>
        <p:nvSpPr>
          <p:cNvPr id="10" name="s2_nen"/>
          <p:cNvSpPr/>
          <p:nvPr/>
        </p:nvSpPr>
        <p:spPr>
          <a:xfrm>
            <a:off x="548640" y="3593591"/>
            <a:ext cx="6949440" cy="20665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30168"/>
                <a:ext cx="6620255" cy="199339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Điểm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a:t>
                </a:r>
                <a:r>
                  <a:rPr sz="2100" b="1">
                    <a:solidFill>
                      <a:srgbClr val="1E293B"/>
                    </a:solidFill>
                    <a:latin typeface="Calibri"/>
                  </a:rPr>
                  <a:t>thuộc</a:t>
                </a:r>
                <a:r>
                  <a:rPr sz="2100">
                    <a:solidFill>
                      <a:srgbClr val="1E293B"/>
                    </a:solidFill>
                    <a:latin typeface="Calibri"/>
                  </a:rPr>
                  <a:t> mặt phẳng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kí hiệu </a:t>
                </a:r>
                <a14:m>
                  <m:oMath xmlns:m="http://schemas.openxmlformats.org/officeDocument/2006/math">
                    <m:r>
                      <a:rPr lang="vi-VN" sz="2100" b="0">
                        <a:solidFill>
                          <a:srgbClr val="1E293B"/>
                        </a:solidFill>
                        <a:latin typeface="Cambria Math" panose="02040503050406030204" pitchFamily="18" charset="0"/>
                      </a:rPr>
                      <m:t>A∈(P)</m:t>
                    </m:r>
                  </m:oMath>
                </a14:m>
                <a:r>
                  <a:rPr sz="2100">
                    <a:solidFill>
                      <a:srgbClr val="1E293B"/>
                    </a:solidFill>
                    <a:latin typeface="Calibri"/>
                  </a:rPr>
                  <a:t>.</a:t>
                </a:r>
              </a:p>
              <a:p>
                <a:pPr algn="l">
                  <a:spcAft>
                    <a:spcPts val="800"/>
                  </a:spcAft>
                </a:pPr>
                <a:r>
                  <a:rPr sz="2100">
                    <a:solidFill>
                      <a:srgbClr val="1E293B"/>
                    </a:solidFill>
                    <a:latin typeface="Calibri"/>
                  </a:rPr>
                  <a:t>– Điểm </a:t>
                </a:r>
                <a14:m>
                  <m:oMath xmlns:m="http://schemas.openxmlformats.org/officeDocument/2006/math">
                    <m:r>
                      <a:rPr lang="vi-VN" sz="2100" b="0">
                        <a:solidFill>
                          <a:srgbClr val="1E293B"/>
                        </a:solidFill>
                        <a:latin typeface="Cambria Math" panose="02040503050406030204" pitchFamily="18" charset="0"/>
                      </a:rPr>
                      <m:t>B</m:t>
                    </m:r>
                  </m:oMath>
                </a14:m>
                <a:r>
                  <a:rPr sz="2100">
                    <a:solidFill>
                      <a:srgbClr val="1E293B"/>
                    </a:solidFill>
                    <a:latin typeface="Calibri"/>
                  </a:rPr>
                  <a:t> </a:t>
                </a:r>
                <a:r>
                  <a:rPr sz="2100" b="1">
                    <a:solidFill>
                      <a:srgbClr val="1E293B"/>
                    </a:solidFill>
                    <a:latin typeface="Calibri"/>
                  </a:rPr>
                  <a:t>không thuộc</a:t>
                </a:r>
                <a:r>
                  <a:rPr sz="2100">
                    <a:solidFill>
                      <a:srgbClr val="1E293B"/>
                    </a:solidFill>
                    <a:latin typeface="Calibri"/>
                  </a:rPr>
                  <a:t> mặt phẳng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kí hiệu </a:t>
                </a:r>
                <a14:m>
                  <m:oMath xmlns:m="http://schemas.openxmlformats.org/officeDocument/2006/math">
                    <m:r>
                      <a:rPr lang="vi-VN" sz="2100" b="0">
                        <a:solidFill>
                          <a:srgbClr val="1E293B"/>
                        </a:solidFill>
                        <a:latin typeface="Cambria Math" panose="02040503050406030204" pitchFamily="18" charset="0"/>
                      </a:rPr>
                      <m:t>B∉(P)</m:t>
                    </m:r>
                  </m:oMath>
                </a14:m>
                <a:r>
                  <a:rPr sz="2100">
                    <a:solidFill>
                      <a:srgbClr val="1E293B"/>
                    </a:solidFill>
                    <a:latin typeface="Calibri"/>
                  </a:rPr>
                  <a:t>.</a:t>
                </a:r>
              </a:p>
              <a:p>
                <a:pPr algn="l">
                  <a:spcAft>
                    <a:spcPts val="800"/>
                  </a:spcAft>
                </a:pPr>
                <a:r>
                  <a:rPr sz="2100">
                    <a:solidFill>
                      <a:srgbClr val="1E293B"/>
                    </a:solidFill>
                    <a:latin typeface="Calibri"/>
                  </a:rPr>
                  <a:t>Nếu </a:t>
                </a:r>
                <a14:m>
                  <m:oMath xmlns:m="http://schemas.openxmlformats.org/officeDocument/2006/math">
                    <m:r>
                      <a:rPr lang="vi-VN" sz="2100" b="0">
                        <a:solidFill>
                          <a:srgbClr val="1E293B"/>
                        </a:solidFill>
                        <a:latin typeface="Cambria Math" panose="02040503050406030204" pitchFamily="18" charset="0"/>
                      </a:rPr>
                      <m:t>A∈(P)</m:t>
                    </m:r>
                  </m:oMath>
                </a14:m>
                <a:r>
                  <a:rPr sz="2100">
                    <a:solidFill>
                      <a:srgbClr val="1E293B"/>
                    </a:solidFill>
                    <a:latin typeface="Calibri"/>
                  </a:rPr>
                  <a:t> ta còn nói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nằm trên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hoặc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chứa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hoặc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đi qua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a:t>
                </a:r>
              </a:p>
            </p:txBody>
          </p:sp>
        </mc:Choice>
        <mc:Fallback>
          <p:sp>
            <p:nvSpPr>
              <p:cNvPr id="11" name="TextBox 10"/>
              <p:cNvSpPr txBox="1"/>
              <p:nvPr/>
            </p:nvSpPr>
            <p:spPr>
              <a:xfrm>
                <a:off x="713232" y="3630168"/>
                <a:ext cx="6620255" cy="199339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Điểm </a:t>
                </a:r>
                <a:r>
                  <a:rPr lang="vi-VN"/>
                  <a:t>A</a:t>
                </a:r>
                <a:r>
                  <a:rPr sz="2100">
                    <a:solidFill>
                      <a:srgbClr val="1E293B"/>
                    </a:solidFill>
                    <a:latin typeface="Calibri"/>
                  </a:rPr>
                  <a:t> </a:t>
                </a:r>
                <a:r>
                  <a:rPr sz="2100" b="1">
                    <a:solidFill>
                      <a:srgbClr val="1E293B"/>
                    </a:solidFill>
                    <a:latin typeface="Calibri"/>
                  </a:rPr>
                  <a:t>thuộc</a:t>
                </a:r>
                <a:r>
                  <a:rPr sz="2100">
                    <a:solidFill>
                      <a:srgbClr val="1E293B"/>
                    </a:solidFill>
                    <a:latin typeface="Calibri"/>
                  </a:rPr>
                  <a:t> mặt phẳng </a:t>
                </a:r>
                <a:r>
                  <a:rPr lang="vi-VN"/>
                  <a:t>(P)</a:t>
                </a:r>
                <a:r>
                  <a:rPr sz="2100">
                    <a:solidFill>
                      <a:srgbClr val="1E293B"/>
                    </a:solidFill>
                    <a:latin typeface="Calibri"/>
                  </a:rPr>
                  <a:t>, kí hiệu </a:t>
                </a:r>
                <a:r>
                  <a:rPr lang="vi-VN"/>
                  <a:t>A\in (P)</a:t>
                </a:r>
                <a:r>
                  <a:rPr sz="2100">
                    <a:solidFill>
                      <a:srgbClr val="1E293B"/>
                    </a:solidFill>
                    <a:latin typeface="Calibri"/>
                  </a:rPr>
                  <a:t>.</a:t>
                </a:r>
              </a:p>
              <a:p>
                <a:pPr algn="l">
                  <a:spcAft>
                    <a:spcPts val="800"/>
                  </a:spcAft>
                </a:pPr>
                <a:r>
                  <a:rPr sz="2100">
                    <a:solidFill>
                      <a:srgbClr val="1E293B"/>
                    </a:solidFill>
                    <a:latin typeface="Calibri"/>
                  </a:rPr>
                  <a:t>– Điểm </a:t>
                </a:r>
                <a:r>
                  <a:rPr lang="vi-VN"/>
                  <a:t>B</a:t>
                </a:r>
                <a:r>
                  <a:rPr sz="2100">
                    <a:solidFill>
                      <a:srgbClr val="1E293B"/>
                    </a:solidFill>
                    <a:latin typeface="Calibri"/>
                  </a:rPr>
                  <a:t> </a:t>
                </a:r>
                <a:r>
                  <a:rPr sz="2100" b="1">
                    <a:solidFill>
                      <a:srgbClr val="1E293B"/>
                    </a:solidFill>
                    <a:latin typeface="Calibri"/>
                  </a:rPr>
                  <a:t>không thuộc</a:t>
                </a:r>
                <a:r>
                  <a:rPr sz="2100">
                    <a:solidFill>
                      <a:srgbClr val="1E293B"/>
                    </a:solidFill>
                    <a:latin typeface="Calibri"/>
                  </a:rPr>
                  <a:t> mặt phẳng </a:t>
                </a:r>
                <a:r>
                  <a:rPr lang="vi-VN"/>
                  <a:t>(P)</a:t>
                </a:r>
                <a:r>
                  <a:rPr sz="2100">
                    <a:solidFill>
                      <a:srgbClr val="1E293B"/>
                    </a:solidFill>
                    <a:latin typeface="Calibri"/>
                  </a:rPr>
                  <a:t>, kí hiệu </a:t>
                </a:r>
                <a:r>
                  <a:rPr lang="vi-VN"/>
                  <a:t>B\notin (P)</a:t>
                </a:r>
                <a:r>
                  <a:rPr sz="2100">
                    <a:solidFill>
                      <a:srgbClr val="1E293B"/>
                    </a:solidFill>
                    <a:latin typeface="Calibri"/>
                  </a:rPr>
                  <a:t>.</a:t>
                </a:r>
              </a:p>
              <a:p>
                <a:pPr algn="l">
                  <a:spcAft>
                    <a:spcPts val="800"/>
                  </a:spcAft>
                </a:pPr>
                <a:r>
                  <a:rPr sz="2100">
                    <a:solidFill>
                      <a:srgbClr val="1E293B"/>
                    </a:solidFill>
                    <a:latin typeface="Calibri"/>
                  </a:rPr>
                  <a:t>Nếu </a:t>
                </a:r>
                <a:r>
                  <a:rPr lang="vi-VN"/>
                  <a:t>A\in (P)</a:t>
                </a:r>
                <a:r>
                  <a:rPr sz="2100">
                    <a:solidFill>
                      <a:srgbClr val="1E293B"/>
                    </a:solidFill>
                    <a:latin typeface="Calibri"/>
                  </a:rPr>
                  <a:t> ta còn nói </a:t>
                </a:r>
                <a:r>
                  <a:rPr lang="vi-VN"/>
                  <a:t>A</a:t>
                </a:r>
                <a:r>
                  <a:rPr sz="2100">
                    <a:solidFill>
                      <a:srgbClr val="1E293B"/>
                    </a:solidFill>
                    <a:latin typeface="Calibri"/>
                  </a:rPr>
                  <a:t> nằm trên </a:t>
                </a:r>
                <a:r>
                  <a:rPr lang="vi-VN"/>
                  <a:t>(P)</a:t>
                </a:r>
                <a:r>
                  <a:rPr sz="2100">
                    <a:solidFill>
                      <a:srgbClr val="1E293B"/>
                    </a:solidFill>
                    <a:latin typeface="Calibri"/>
                  </a:rPr>
                  <a:t>, hoặc </a:t>
                </a:r>
                <a:r>
                  <a:rPr lang="vi-VN"/>
                  <a:t>(P)</a:t>
                </a:r>
                <a:r>
                  <a:rPr sz="2100">
                    <a:solidFill>
                      <a:srgbClr val="1E293B"/>
                    </a:solidFill>
                    <a:latin typeface="Calibri"/>
                  </a:rPr>
                  <a:t> chứa </a:t>
                </a:r>
                <a:r>
                  <a:rPr lang="vi-VN"/>
                  <a:t>A</a:t>
                </a:r>
                <a:r>
                  <a:rPr sz="2100">
                    <a:solidFill>
                      <a:srgbClr val="1E293B"/>
                    </a:solidFill>
                    <a:latin typeface="Calibri"/>
                  </a:rPr>
                  <a:t>, hoặc </a:t>
                </a:r>
                <a:r>
                  <a:rPr lang="vi-VN"/>
                  <a:t>(P)</a:t>
                </a:r>
                <a:r>
                  <a:rPr sz="2100">
                    <a:solidFill>
                      <a:srgbClr val="1E293B"/>
                    </a:solidFill>
                    <a:latin typeface="Calibri"/>
                  </a:rPr>
                  <a:t> đi qua </a:t>
                </a:r>
                <a:r>
                  <a:rPr lang="vi-VN"/>
                  <a:t>A</a:t>
                </a:r>
                <a:r>
                  <a:rPr sz="2100">
                    <a:solidFill>
                      <a:srgbClr val="1E293B"/>
                    </a:solidFill>
                    <a:latin typeface="Calibri"/>
                  </a:rPr>
                  <a:t>.</a:t>
                </a:r>
              </a:p>
            </p:txBody>
          </p:sp>
        </mc:Fallback>
      </mc:AlternateContent>
      <p:pic>
        <p:nvPicPr>
          <p:cNvPr id="12" name="Picture 11" descr="p_phatden.png"/>
          <p:cNvPicPr>
            <a:picLocks noChangeAspect="1"/>
          </p:cNvPicPr>
          <p:nvPr/>
        </p:nvPicPr>
        <p:blipFill>
          <a:blip r:embed="rId3"/>
          <a:stretch>
            <a:fillRect/>
          </a:stretch>
        </p:blipFill>
        <p:spPr>
          <a:xfrm>
            <a:off x="7795085" y="1371600"/>
            <a:ext cx="3886549" cy="2194560"/>
          </a:xfrm>
          <a:prstGeom prst="rect">
            <a:avLst/>
          </a:prstGeom>
        </p:spPr>
      </p:pic>
      <p:sp>
        <p:nvSpPr>
          <p:cNvPr id="13" name="TextBox 12"/>
          <p:cNvSpPr txBox="1"/>
          <p:nvPr/>
        </p:nvSpPr>
        <p:spPr>
          <a:xfrm>
            <a:off x="7772400" y="3584448"/>
            <a:ext cx="39319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H.4.2a</a:t>
            </a:r>
          </a:p>
        </p:txBody>
      </p:sp>
      <p:pic>
        <p:nvPicPr>
          <p:cNvPr id="14" name="Picture 13" descr="h42.png"/>
          <p:cNvPicPr>
            <a:picLocks noChangeAspect="1"/>
          </p:cNvPicPr>
          <p:nvPr/>
        </p:nvPicPr>
        <p:blipFill>
          <a:blip r:embed="rId4"/>
          <a:stretch>
            <a:fillRect/>
          </a:stretch>
        </p:blipFill>
        <p:spPr>
          <a:xfrm>
            <a:off x="8462009" y="4023360"/>
            <a:ext cx="2552700" cy="1828800"/>
          </a:xfrm>
          <a:prstGeom prst="rect">
            <a:avLst/>
          </a:prstGeom>
        </p:spPr>
      </p:pic>
      <p:sp>
        <p:nvSpPr>
          <p:cNvPr id="15" name="TextBox 14"/>
          <p:cNvSpPr txBox="1"/>
          <p:nvPr/>
        </p:nvSpPr>
        <p:spPr>
          <a:xfrm>
            <a:off x="7955279" y="5870448"/>
            <a:ext cx="35661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H.4.2b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HÌNH BIỂU DIỄN CỦA MỘT HÌNH KHÔNG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8</a:t>
            </a:r>
          </a:p>
        </p:txBody>
      </p:sp>
      <p:sp>
        <p:nvSpPr>
          <p:cNvPr id="7" name="TextBox 6"/>
          <p:cNvSpPr txBox="1"/>
          <p:nvPr/>
        </p:nvSpPr>
        <p:spPr>
          <a:xfrm>
            <a:off x="548640" y="1371600"/>
            <a:ext cx="7863840" cy="752855"/>
          </a:xfrm>
          <a:prstGeom prst="rect">
            <a:avLst/>
          </a:prstGeom>
          <a:noFill/>
        </p:spPr>
        <p:txBody>
          <a:bodyPr wrap="square" anchor="t" lIns="45720" rIns="45720">
            <a:spAutoFit/>
          </a:bodyPr>
          <a:lstStyle/>
          <a:p>
            <a:pPr algn="l">
              <a:spcAft>
                <a:spcPts val="800"/>
              </a:spcAft>
            </a:pPr>
            <a:r>
              <a:rPr sz="1900">
                <a:solidFill>
                  <a:srgbClr val="1E293B"/>
                </a:solidFill>
                <a:latin typeface="Calibri"/>
              </a:rPr>
              <a:t>Hình vẽ một hình không gian lên bảng, lên giấy gọi là </a:t>
            </a:r>
            <a:r>
              <a:rPr sz="1900" b="1">
                <a:solidFill>
                  <a:srgbClr val="1E293B"/>
                </a:solidFill>
                <a:latin typeface="Calibri"/>
              </a:rPr>
              <a:t>hình biểu diễn</a:t>
            </a:r>
            <a:r>
              <a:rPr sz="1900">
                <a:solidFill>
                  <a:srgbClr val="1E293B"/>
                </a:solidFill>
                <a:latin typeface="Calibri"/>
              </a:rPr>
              <a:t>. Quy tắc:</a:t>
            </a:r>
          </a:p>
        </p:txBody>
      </p:sp>
      <p:sp>
        <p:nvSpPr>
          <p:cNvPr id="8" name="s1_nen"/>
          <p:cNvSpPr/>
          <p:nvPr/>
        </p:nvSpPr>
        <p:spPr>
          <a:xfrm>
            <a:off x="548640" y="2179320"/>
            <a:ext cx="7863840" cy="288340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215896"/>
            <a:ext cx="7534656" cy="281025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Hình biểu diễn của đường thẳng là đường thẳng, của đoạn thẳng là đoạn thẳng.</a:t>
            </a:r>
          </a:p>
          <a:p>
            <a:pPr algn="l">
              <a:spcAft>
                <a:spcPts val="800"/>
              </a:spcAft>
            </a:pPr>
            <a:r>
              <a:rPr sz="1900">
                <a:solidFill>
                  <a:srgbClr val="1E293B"/>
                </a:solidFill>
                <a:latin typeface="Calibri"/>
              </a:rPr>
              <a:t>– Của hai đường thẳng song song là hai đường thẳng song song, của hai đường thẳng cắt nhau là hai đường thẳng cắt nhau.</a:t>
            </a:r>
          </a:p>
          <a:p>
            <a:pPr algn="l">
              <a:spcAft>
                <a:spcPts val="800"/>
              </a:spcAft>
            </a:pPr>
            <a:r>
              <a:rPr sz="1900">
                <a:solidFill>
                  <a:srgbClr val="1E293B"/>
                </a:solidFill>
                <a:latin typeface="Calibri"/>
              </a:rPr>
              <a:t>– Giữ nguyên quan hệ liên thuộc giữa điểm và đường thẳng.</a:t>
            </a:r>
          </a:p>
          <a:p>
            <a:pPr algn="l">
              <a:spcAft>
                <a:spcPts val="800"/>
              </a:spcAft>
            </a:pPr>
            <a:r>
              <a:rPr sz="1900">
                <a:solidFill>
                  <a:srgbClr val="1E293B"/>
                </a:solidFill>
                <a:latin typeface="Calibri"/>
              </a:rPr>
              <a:t>– Nét </a:t>
            </a:r>
            <a:r>
              <a:rPr sz="1900" b="1">
                <a:solidFill>
                  <a:srgbClr val="1E293B"/>
                </a:solidFill>
                <a:latin typeface="Calibri"/>
              </a:rPr>
              <a:t>liền</a:t>
            </a:r>
            <a:r>
              <a:rPr sz="1900">
                <a:solidFill>
                  <a:srgbClr val="1E293B"/>
                </a:solidFill>
                <a:latin typeface="Calibri"/>
              </a:rPr>
              <a:t> cho đường nhìn thấy, nét </a:t>
            </a:r>
            <a:r>
              <a:rPr sz="1900" b="1">
                <a:solidFill>
                  <a:srgbClr val="1E293B"/>
                </a:solidFill>
                <a:latin typeface="Calibri"/>
              </a:rPr>
              <a:t>đứt đoạn</a:t>
            </a:r>
            <a:r>
              <a:rPr sz="1900">
                <a:solidFill>
                  <a:srgbClr val="1E293B"/>
                </a:solidFill>
                <a:latin typeface="Calibri"/>
              </a:rPr>
              <a:t> cho đường bị che khuất.</a:t>
            </a:r>
          </a:p>
        </p:txBody>
      </p:sp>
      <p:sp>
        <p:nvSpPr>
          <p:cNvPr id="10" name="s2_nen"/>
          <p:cNvSpPr/>
          <p:nvPr/>
        </p:nvSpPr>
        <p:spPr>
          <a:xfrm>
            <a:off x="548640" y="5117592"/>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5154168"/>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Vẽ vào vở hình chóp tam giác và hình lập phương như H.4.3 – kiểm tra các cạnh khuất đã vẽ nét đứt chưa.</a:t>
            </a:r>
          </a:p>
        </p:txBody>
      </p:sp>
      <p:pic>
        <p:nvPicPr>
          <p:cNvPr id="12" name="Picture 11" descr="h43.png"/>
          <p:cNvPicPr>
            <a:picLocks noChangeAspect="1"/>
          </p:cNvPicPr>
          <p:nvPr/>
        </p:nvPicPr>
        <p:blipFill>
          <a:blip r:embed="rId3"/>
          <a:stretch>
            <a:fillRect/>
          </a:stretch>
        </p:blipFill>
        <p:spPr>
          <a:xfrm>
            <a:off x="8503920" y="2017413"/>
            <a:ext cx="3200400" cy="1451574"/>
          </a:xfrm>
          <a:prstGeom prst="rect">
            <a:avLst/>
          </a:prstGeom>
        </p:spPr>
      </p:pic>
      <p:sp>
        <p:nvSpPr>
          <p:cNvPr id="13" name="TextBox 12"/>
          <p:cNvSpPr txBox="1"/>
          <p:nvPr/>
        </p:nvSpPr>
        <p:spPr>
          <a:xfrm>
            <a:off x="8503920" y="3675887"/>
            <a:ext cx="32004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CÁC TÍNH CHẤT THỪA NHẬN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HĐ2.</a:t>
                </a:r>
                <a:r>
                  <a:rPr sz="2100">
                    <a:solidFill>
                      <a:srgbClr val="1E293B"/>
                    </a:solidFill>
                    <a:latin typeface="Calibri"/>
                  </a:rPr>
                  <a:t> Chiếc xà ngang đặt tựa lên hai điểm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của trụ nhảy thể hiện hình ảnh của một đường thẳng đi qua hai điểm đó. Có thể tìm được một đường thẳng khác cũng đi qua hai điểm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hay không?</a:t>
                </a:r>
              </a:p>
            </p:txBody>
          </p:sp>
        </mc:Choice>
        <mc:Fallback>
          <p:sp>
            <p:nvSpPr>
              <p:cNvPr id="7" name="TextBox 6"/>
              <p:cNvSpPr txBox="1"/>
              <p:nvPr/>
            </p:nvSpPr>
            <p:spPr>
              <a:xfrm>
                <a:off x="548640" y="1371600"/>
                <a:ext cx="786384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HĐ2.</a:t>
                </a:r>
                <a:r>
                  <a:rPr sz="2100">
                    <a:solidFill>
                      <a:srgbClr val="1E293B"/>
                    </a:solidFill>
                    <a:latin typeface="Calibri"/>
                  </a:rPr>
                  <a:t> Chiếc xà ngang đặt tựa lên hai điểm </a:t>
                </a:r>
                <a:r>
                  <a:rPr lang="vi-VN"/>
                  <a:t>A,\ B</a:t>
                </a:r>
                <a:r>
                  <a:rPr sz="2100">
                    <a:solidFill>
                      <a:srgbClr val="1E293B"/>
                    </a:solidFill>
                    <a:latin typeface="Calibri"/>
                  </a:rPr>
                  <a:t> của trụ nhảy thể hiện hình ảnh của một đường thẳng đi qua hai điểm đó. Có thể tìm được một đường thẳng khác cũng đi qua hai điểm </a:t>
                </a:r>
                <a:r>
                  <a:rPr lang="vi-VN"/>
                  <a:t>A,\ B</a:t>
                </a:r>
                <a:r>
                  <a:rPr sz="2100">
                    <a:solidFill>
                      <a:srgbClr val="1E293B"/>
                    </a:solidFill>
                    <a:latin typeface="Calibri"/>
                  </a:rPr>
                  <a:t> hay không?</a:t>
                </a:r>
              </a:p>
            </p:txBody>
          </p:sp>
        </mc:Fallback>
      </mc:AlternateContent>
      <p:sp>
        <p:nvSpPr>
          <p:cNvPr id="8" name="s1_nen"/>
          <p:cNvSpPr/>
          <p:nvPr/>
        </p:nvSpPr>
        <p:spPr>
          <a:xfrm>
            <a:off x="548640" y="2916936"/>
            <a:ext cx="78638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953512"/>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Không.</a:t>
            </a:r>
          </a:p>
        </p:txBody>
      </p:sp>
      <p:sp>
        <p:nvSpPr>
          <p:cNvPr id="10" name="s2_nen"/>
          <p:cNvSpPr/>
          <p:nvPr/>
        </p:nvSpPr>
        <p:spPr>
          <a:xfrm>
            <a:off x="548640" y="3593592"/>
            <a:ext cx="7863840" cy="90525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630168"/>
            <a:ext cx="75346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Tính chất 1.</a:t>
            </a:r>
            <a:r>
              <a:rPr sz="2100">
                <a:solidFill>
                  <a:srgbClr val="1E293B"/>
                </a:solidFill>
                <a:latin typeface="Calibri"/>
              </a:rPr>
              <a:t> Có một và chỉ một đường thẳng đi qua hai điểm phân biệt.</a:t>
            </a:r>
          </a:p>
        </p:txBody>
      </p:sp>
      <p:sp>
        <p:nvSpPr>
          <p:cNvPr id="12" name="s3_chu"/>
          <p:cNvSpPr txBox="1"/>
          <p:nvPr/>
        </p:nvSpPr>
        <p:spPr>
          <a:xfrm>
            <a:off x="548640" y="4590288"/>
            <a:ext cx="786384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 Có bao nhiêu đường thẳng đi qua hai điểm trong số ba điểm không thẳng hàng?</a:t>
            </a:r>
          </a:p>
        </p:txBody>
      </p:sp>
      <p:sp>
        <p:nvSpPr>
          <p:cNvPr id="13" name="s4_nen"/>
          <p:cNvSpPr/>
          <p:nvPr/>
        </p:nvSpPr>
        <p:spPr>
          <a:xfrm>
            <a:off x="548640" y="5495544"/>
            <a:ext cx="78638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532120"/>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3 đường thẳng: </a:t>
                </a:r>
                <a14:m>
                  <m:oMath xmlns:m="http://schemas.openxmlformats.org/officeDocument/2006/math">
                    <m:r>
                      <a:rPr lang="vi-VN" sz="2100" b="0">
                        <a:solidFill>
                          <a:srgbClr val="1E293B"/>
                        </a:solidFill>
                        <a:latin typeface="Cambria Math" panose="02040503050406030204" pitchFamily="18" charset="0"/>
                      </a:rPr>
                      <m:t>AB,</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BC,</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CA</m:t>
                    </m:r>
                  </m:oMath>
                </a14:m>
                <a:r>
                  <a:rPr sz="2100">
                    <a:solidFill>
                      <a:srgbClr val="1E293B"/>
                    </a:solidFill>
                    <a:latin typeface="Calibri"/>
                  </a:rPr>
                  <a:t>.</a:t>
                </a:r>
              </a:p>
            </p:txBody>
          </p:sp>
        </mc:Choice>
        <mc:Fallback>
          <p:sp>
            <p:nvSpPr>
              <p:cNvPr id="14" name="TextBox 13"/>
              <p:cNvSpPr txBox="1"/>
              <p:nvPr/>
            </p:nvSpPr>
            <p:spPr>
              <a:xfrm>
                <a:off x="713232" y="5532120"/>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3 đường thẳng: </a:t>
                </a:r>
                <a:r>
                  <a:rPr lang="vi-VN"/>
                  <a:t>AB,\ BC,\ CA</a:t>
                </a:r>
                <a:r>
                  <a:rPr sz="2100">
                    <a:solidFill>
                      <a:srgbClr val="1E293B"/>
                    </a:solidFill>
                    <a:latin typeface="Calibri"/>
                  </a:rPr>
                  <a:t>.</a:t>
                </a:r>
              </a:p>
            </p:txBody>
          </p:sp>
        </mc:Fallback>
      </mc:AlternateContent>
      <p:pic>
        <p:nvPicPr>
          <p:cNvPr id="15" name="Picture 14" descr="p_xangang.png"/>
          <p:cNvPicPr>
            <a:picLocks noChangeAspect="1"/>
          </p:cNvPicPr>
          <p:nvPr/>
        </p:nvPicPr>
        <p:blipFill>
          <a:blip r:embed="rId3"/>
          <a:stretch>
            <a:fillRect/>
          </a:stretch>
        </p:blipFill>
        <p:spPr>
          <a:xfrm>
            <a:off x="8778240" y="1552290"/>
            <a:ext cx="2743200" cy="23818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MẶT PHẲNG QUA BA ĐIỂM KHÔNG THẲNG HÀNG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10</a:t>
            </a:r>
          </a:p>
        </p:txBody>
      </p:sp>
      <p:sp>
        <p:nvSpPr>
          <p:cNvPr id="7" name="TextBox 6"/>
          <p:cNvSpPr txBox="1"/>
          <p:nvPr/>
        </p:nvSpPr>
        <p:spPr>
          <a:xfrm>
            <a:off x="548640" y="1371600"/>
            <a:ext cx="822960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HĐ3.</a:t>
            </a:r>
            <a:r>
              <a:rPr sz="2000">
                <a:solidFill>
                  <a:srgbClr val="1E293B"/>
                </a:solidFill>
                <a:latin typeface="Calibri"/>
              </a:rPr>
              <a:t> Khối rubik có bốn đỉnh, bốn mặt tam giác (H.4.4). a) Đặt khối rubik sao cho ba đỉnh của mặt màu đỏ đều nằm trên mặt bàn. Mặt màu đỏ có nằm trên mặt bàn không? b) Có thể đặt khối rubik sao cho bốn đỉnh của nó đều nằm trên mặt bàn hay không?</a:t>
            </a:r>
          </a:p>
        </p:txBody>
      </p:sp>
      <p:sp>
        <p:nvSpPr>
          <p:cNvPr id="8" name="s1_nen"/>
          <p:cNvSpPr/>
          <p:nvPr/>
        </p:nvSpPr>
        <p:spPr>
          <a:xfrm>
            <a:off x="548640" y="2837688"/>
            <a:ext cx="822960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874264"/>
            <a:ext cx="79004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Có. b) Không.</a:t>
            </a:r>
          </a:p>
        </p:txBody>
      </p:sp>
      <p:sp>
        <p:nvSpPr>
          <p:cNvPr id="10" name="s2_nen"/>
          <p:cNvSpPr/>
          <p:nvPr/>
        </p:nvSpPr>
        <p:spPr>
          <a:xfrm>
            <a:off x="548640" y="3480816"/>
            <a:ext cx="8229600" cy="15849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517392"/>
            <a:ext cx="7900416" cy="1511808"/>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Tính chất 2.</a:t>
            </a:r>
            <a:r>
              <a:rPr sz="2000">
                <a:solidFill>
                  <a:srgbClr val="1E293B"/>
                </a:solidFill>
                <a:latin typeface="Calibri"/>
              </a:rPr>
              <a:t> Có một và chỉ một mặt phẳng đi qua ba điểm không thẳng hàng.</a:t>
            </a:r>
          </a:p>
          <a:p>
            <a:pPr algn="l">
              <a:spcAft>
                <a:spcPts val="800"/>
              </a:spcAft>
            </a:pPr>
            <a:r>
              <a:rPr sz="2000" b="1">
                <a:solidFill>
                  <a:srgbClr val="1E293B"/>
                </a:solidFill>
                <a:latin typeface="Calibri"/>
              </a:rPr>
              <a:t>Tính chất 3.</a:t>
            </a:r>
            <a:r>
              <a:rPr sz="2000">
                <a:solidFill>
                  <a:srgbClr val="1E293B"/>
                </a:solidFill>
                <a:latin typeface="Calibri"/>
              </a:rPr>
              <a:t> Tồn tại bốn điểm không cùng thuộc một mặt phẳng.</a:t>
            </a:r>
          </a:p>
        </p:txBody>
      </p:sp>
      <mc:AlternateContent xmlns:mc="http://schemas.openxmlformats.org/markup-compatibility/2006">
        <mc:Choice xmlns:a14="http://schemas.microsoft.com/office/drawing/2010/main" Requires="a14">
          <p:sp>
            <p:nvSpPr>
              <p:cNvPr id="12" name="s3_chu"/>
              <p:cNvSpPr txBox="1"/>
              <p:nvPr/>
            </p:nvSpPr>
            <p:spPr>
              <a:xfrm>
                <a:off x="548640" y="5138928"/>
                <a:ext cx="822960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Mặt phẳng qua ba điểm không thẳng hàng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C</m:t>
                    </m:r>
                  </m:oMath>
                </a14:m>
                <a:r>
                  <a:rPr sz="2000">
                    <a:solidFill>
                      <a:srgbClr val="1E293B"/>
                    </a:solidFill>
                    <a:latin typeface="Calibri"/>
                  </a:rPr>
                  <a:t> kí hiệu </a:t>
                </a:r>
                <a14:m>
                  <m:oMath xmlns:m="http://schemas.openxmlformats.org/officeDocument/2006/math">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C</m:t>
                        </m:r>
                      </m:e>
                    </m:d>
                  </m:oMath>
                </a14:m>
                <a:r>
                  <a:rPr sz="2000">
                    <a:solidFill>
                      <a:srgbClr val="1E293B"/>
                    </a:solidFill>
                    <a:latin typeface="Calibri"/>
                  </a:rPr>
                  <a:t>. Các điểm cùng thuộc một mặt phẳng: </a:t>
                </a:r>
                <a:r>
                  <a:rPr sz="2000" b="1">
                    <a:solidFill>
                      <a:srgbClr val="1E293B"/>
                    </a:solidFill>
                    <a:latin typeface="Calibri"/>
                  </a:rPr>
                  <a:t>đồng phẳng</a:t>
                </a:r>
                <a:r>
                  <a:rPr sz="2000">
                    <a:solidFill>
                      <a:srgbClr val="1E293B"/>
                    </a:solidFill>
                    <a:latin typeface="Calibri"/>
                  </a:rPr>
                  <a:t>; không có mặt phẳng nào chứa chúng: </a:t>
                </a:r>
                <a:r>
                  <a:rPr sz="2000" b="1">
                    <a:solidFill>
                      <a:srgbClr val="1E293B"/>
                    </a:solidFill>
                    <a:latin typeface="Calibri"/>
                  </a:rPr>
                  <a:t>không đồng phẳng</a:t>
                </a:r>
                <a:r>
                  <a:rPr sz="2000">
                    <a:solidFill>
                      <a:srgbClr val="1E293B"/>
                    </a:solidFill>
                    <a:latin typeface="Calibri"/>
                  </a:rPr>
                  <a:t>.</a:t>
                </a:r>
              </a:p>
            </p:txBody>
          </p:sp>
        </mc:Choice>
        <mc:Fallback>
          <p:sp>
            <p:nvSpPr>
              <p:cNvPr id="12" name="TextBox 11"/>
              <p:cNvSpPr txBox="1"/>
              <p:nvPr/>
            </p:nvSpPr>
            <p:spPr>
              <a:xfrm>
                <a:off x="548640" y="5138928"/>
                <a:ext cx="822960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Mặt phẳng qua ba điểm không thẳng hàng </a:t>
                </a:r>
                <a:r>
                  <a:rPr lang="vi-VN"/>
                  <a:t>A,\ B,\ C</a:t>
                </a:r>
                <a:r>
                  <a:rPr sz="2000">
                    <a:solidFill>
                      <a:srgbClr val="1E293B"/>
                    </a:solidFill>
                    <a:latin typeface="Calibri"/>
                  </a:rPr>
                  <a:t> kí hiệu </a:t>
                </a:r>
                <a:r>
                  <a:rPr lang="vi-VN"/>
                  <a:t>(ABC)</a:t>
                </a:r>
                <a:r>
                  <a:rPr sz="2000">
                    <a:solidFill>
                      <a:srgbClr val="1E293B"/>
                    </a:solidFill>
                    <a:latin typeface="Calibri"/>
                  </a:rPr>
                  <a:t>. Các điểm cùng thuộc một mặt phẳng: </a:t>
                </a:r>
                <a:r>
                  <a:rPr sz="2000" b="1">
                    <a:solidFill>
                      <a:srgbClr val="1E293B"/>
                    </a:solidFill>
                    <a:latin typeface="Calibri"/>
                  </a:rPr>
                  <a:t>đồng phẳng</a:t>
                </a:r>
                <a:r>
                  <a:rPr sz="2000">
                    <a:solidFill>
                      <a:srgbClr val="1E293B"/>
                    </a:solidFill>
                    <a:latin typeface="Calibri"/>
                  </a:rPr>
                  <a:t>; không có mặt phẳng nào chứa chúng: </a:t>
                </a:r>
                <a:r>
                  <a:rPr sz="2000" b="1">
                    <a:solidFill>
                      <a:srgbClr val="1E293B"/>
                    </a:solidFill>
                    <a:latin typeface="Calibri"/>
                  </a:rPr>
                  <a:t>không đồng phẳng</a:t>
                </a:r>
                <a:r>
                  <a:rPr sz="2000">
                    <a:solidFill>
                      <a:srgbClr val="1E293B"/>
                    </a:solidFill>
                    <a:latin typeface="Calibri"/>
                  </a:rPr>
                  <a:t>.</a:t>
                </a:r>
              </a:p>
            </p:txBody>
          </p:sp>
        </mc:Fallback>
      </mc:AlternateContent>
      <p:pic>
        <p:nvPicPr>
          <p:cNvPr id="13" name="Picture 12" descr="p_rubik.png"/>
          <p:cNvPicPr>
            <a:picLocks noChangeAspect="1"/>
          </p:cNvPicPr>
          <p:nvPr/>
        </p:nvPicPr>
        <p:blipFill>
          <a:blip r:embed="rId3"/>
          <a:stretch>
            <a:fillRect/>
          </a:stretch>
        </p:blipFill>
        <p:spPr>
          <a:xfrm>
            <a:off x="9052560" y="1483914"/>
            <a:ext cx="2651760" cy="1878492"/>
          </a:xfrm>
          <a:prstGeom prst="rect">
            <a:avLst/>
          </a:prstGeom>
        </p:spPr>
      </p:pic>
      <p:sp>
        <p:nvSpPr>
          <p:cNvPr id="14" name="TextBox 13"/>
          <p:cNvSpPr txBox="1"/>
          <p:nvPr/>
        </p:nvSpPr>
        <p:spPr>
          <a:xfrm>
            <a:off x="9052560" y="3401568"/>
            <a:ext cx="26517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H.4.4</a:t>
            </a:r>
          </a:p>
        </p:txBody>
      </p:sp>
      <p:pic>
        <p:nvPicPr>
          <p:cNvPr id="15" name="Picture 14" descr="p_cuudinh.png"/>
          <p:cNvPicPr>
            <a:picLocks noChangeAspect="1"/>
          </p:cNvPicPr>
          <p:nvPr/>
        </p:nvPicPr>
        <p:blipFill>
          <a:blip r:embed="rId4"/>
          <a:stretch>
            <a:fillRect/>
          </a:stretch>
        </p:blipFill>
        <p:spPr>
          <a:xfrm>
            <a:off x="9074597" y="3840480"/>
            <a:ext cx="2607685" cy="1920240"/>
          </a:xfrm>
          <a:prstGeom prst="rect">
            <a:avLst/>
          </a:prstGeom>
        </p:spPr>
      </p:pic>
      <p:sp>
        <p:nvSpPr>
          <p:cNvPr id="16" name="TextBox 15"/>
          <p:cNvSpPr txBox="1"/>
          <p:nvPr/>
        </p:nvSpPr>
        <p:spPr>
          <a:xfrm>
            <a:off x="9052560" y="5779008"/>
            <a:ext cx="26517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Cửu đỉnh – cố đô Huế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LUYỆN TẬP 1 (SGK TR.72)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11</a:t>
            </a:r>
          </a:p>
        </p:txBody>
      </p:sp>
      <p:sp>
        <p:nvSpPr>
          <p:cNvPr id="7" name="TextBox 6"/>
          <p:cNvSpPr txBox="1"/>
          <p:nvPr/>
        </p:nvSpPr>
        <p:spPr>
          <a:xfrm>
            <a:off x="548640" y="1371600"/>
            <a:ext cx="8412480" cy="493775"/>
          </a:xfrm>
          <a:prstGeom prst="rect">
            <a:avLst/>
          </a:prstGeom>
          <a:noFill/>
        </p:spPr>
        <p:txBody>
          <a:bodyPr wrap="square" anchor="t" lIns="45720" rIns="45720">
            <a:spAutoFit/>
          </a:bodyPr>
          <a:lstStyle/>
          <a:p>
            <a:pPr algn="l">
              <a:spcAft>
                <a:spcPts val="800"/>
              </a:spcAft>
            </a:pPr>
            <a:r>
              <a:rPr sz="2100">
                <a:solidFill>
                  <a:srgbClr val="1E293B"/>
                </a:solidFill>
                <a:latin typeface="Calibri"/>
              </a:rPr>
              <a:t>❓ Có bao nhiêu mặt phẳng đi qua ba điểm thẳng hàng?</a:t>
            </a:r>
          </a:p>
        </p:txBody>
      </p:sp>
      <p:sp>
        <p:nvSpPr>
          <p:cNvPr id="8" name="s1_nen"/>
          <p:cNvSpPr/>
          <p:nvPr/>
        </p:nvSpPr>
        <p:spPr>
          <a:xfrm>
            <a:off x="548640" y="1938528"/>
            <a:ext cx="841248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1975104"/>
            <a:ext cx="808329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Vô số (mọi mặt phẳng chứa đường thẳng đi qua ba điểm đó).</a:t>
            </a:r>
          </a:p>
        </p:txBody>
      </p:sp>
      <mc:AlternateContent xmlns:mc="http://schemas.openxmlformats.org/markup-compatibility/2006">
        <mc:Choice xmlns:a14="http://schemas.microsoft.com/office/drawing/2010/main" Requires="a14">
          <p:sp>
            <p:nvSpPr>
              <p:cNvPr id="10" name="s2_chu"/>
              <p:cNvSpPr txBox="1"/>
              <p:nvPr/>
            </p:nvSpPr>
            <p:spPr>
              <a:xfrm>
                <a:off x="548640" y="2596896"/>
                <a:ext cx="841248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Cho bốn điểm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C,</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D</m:t>
                    </m:r>
                  </m:oMath>
                </a14:m>
                <a:r>
                  <a:rPr sz="2100">
                    <a:solidFill>
                      <a:srgbClr val="1E293B"/>
                    </a:solidFill>
                    <a:latin typeface="Calibri"/>
                  </a:rPr>
                  <a:t> không đồng phẳng (H.4.5). Có bao nhiêu mặt phẳng đi qua ba trong số bốn điểm đã cho?</a:t>
                </a:r>
              </a:p>
            </p:txBody>
          </p:sp>
        </mc:Choice>
        <mc:Fallback>
          <p:sp>
            <p:nvSpPr>
              <p:cNvPr id="10" name="TextBox 9"/>
              <p:cNvSpPr txBox="1"/>
              <p:nvPr/>
            </p:nvSpPr>
            <p:spPr>
              <a:xfrm>
                <a:off x="548640" y="2596896"/>
                <a:ext cx="841248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Cho bốn điểm </a:t>
                </a:r>
                <a:r>
                  <a:rPr lang="vi-VN"/>
                  <a:t>A,\ B,\ C,\ D</a:t>
                </a:r>
                <a:r>
                  <a:rPr sz="2100">
                    <a:solidFill>
                      <a:srgbClr val="1E293B"/>
                    </a:solidFill>
                    <a:latin typeface="Calibri"/>
                  </a:rPr>
                  <a:t> không đồng phẳng (H.4.5). Có bao nhiêu mặt phẳng đi qua ba trong số bốn điểm đã cho?</a:t>
                </a:r>
              </a:p>
            </p:txBody>
          </p:sp>
        </mc:Fallback>
      </mc:AlternateContent>
      <p:sp>
        <p:nvSpPr>
          <p:cNvPr id="11" name="s3_nen"/>
          <p:cNvSpPr/>
          <p:nvPr/>
        </p:nvSpPr>
        <p:spPr>
          <a:xfrm>
            <a:off x="548640" y="3483863"/>
            <a:ext cx="841248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520439"/>
                <a:ext cx="808329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4 mặt phẳng: </a:t>
                </a:r>
                <a14:m>
                  <m:oMath xmlns:m="http://schemas.openxmlformats.org/officeDocument/2006/math">
                    <m:d>
                      <m:dPr>
                        <m:sepChr m:val=""/>
                      </m:dPr>
                      <m:e>
                        <m:r>
                          <a:rPr lang="vi-VN" sz="2100" b="0">
                            <a:solidFill>
                              <a:srgbClr val="1E293B"/>
                            </a:solidFill>
                            <a:latin typeface="Cambria Math" panose="02040503050406030204" pitchFamily="18" charset="0"/>
                          </a:rPr>
                          <m:t>D</m:t>
                        </m:r>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D</m:t>
                        </m:r>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C</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D</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a:t>
                </a:r>
              </a:p>
            </p:txBody>
          </p:sp>
        </mc:Choice>
        <mc:Fallback>
          <p:sp>
            <p:nvSpPr>
              <p:cNvPr id="12" name="TextBox 11"/>
              <p:cNvSpPr txBox="1"/>
              <p:nvPr/>
            </p:nvSpPr>
            <p:spPr>
              <a:xfrm>
                <a:off x="713232" y="3520439"/>
                <a:ext cx="808329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4 mặt phẳng: </a:t>
                </a:r>
                <a:r>
                  <a:rPr lang="vi-VN"/>
                  <a:t>(DAB),\ (DAC),\ (DBC)</a:t>
                </a:r>
                <a:r>
                  <a:rPr sz="2100">
                    <a:solidFill>
                      <a:srgbClr val="1E293B"/>
                    </a:solidFill>
                    <a:latin typeface="Calibri"/>
                  </a:rPr>
                  <a:t> và </a:t>
                </a:r>
                <a:r>
                  <a:rPr lang="vi-VN"/>
                  <a:t>(ABC)</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3" name="s4_chu"/>
              <p:cNvSpPr txBox="1"/>
              <p:nvPr/>
            </p:nvSpPr>
            <p:spPr>
              <a:xfrm>
                <a:off x="548640" y="4142231"/>
                <a:ext cx="841248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tứ giác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Có bao nhiêu mặt phẳng đi qua ba trong số bốn đỉnh của tứ giác đó?</a:t>
                </a:r>
              </a:p>
            </p:txBody>
          </p:sp>
        </mc:Choice>
        <mc:Fallback>
          <p:sp>
            <p:nvSpPr>
              <p:cNvPr id="13" name="TextBox 12"/>
              <p:cNvSpPr txBox="1"/>
              <p:nvPr/>
            </p:nvSpPr>
            <p:spPr>
              <a:xfrm>
                <a:off x="548640" y="4142231"/>
                <a:ext cx="841248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tứ giác </a:t>
                </a:r>
                <a:r>
                  <a:rPr lang="vi-VN"/>
                  <a:t>ABCD</a:t>
                </a:r>
                <a:r>
                  <a:rPr sz="2100">
                    <a:solidFill>
                      <a:srgbClr val="1E293B"/>
                    </a:solidFill>
                    <a:latin typeface="Calibri"/>
                  </a:rPr>
                  <a:t>. Có bao nhiêu mặt phẳng đi qua ba trong số bốn đỉnh của tứ giác đó?</a:t>
                </a:r>
              </a:p>
            </p:txBody>
          </p:sp>
        </mc:Fallback>
      </mc:AlternateContent>
      <p:sp>
        <p:nvSpPr>
          <p:cNvPr id="14" name="s5_nen"/>
          <p:cNvSpPr/>
          <p:nvPr/>
        </p:nvSpPr>
        <p:spPr>
          <a:xfrm>
            <a:off x="548640" y="5029199"/>
            <a:ext cx="841248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5_chu"/>
              <p:cNvSpPr txBox="1"/>
              <p:nvPr/>
            </p:nvSpPr>
            <p:spPr>
              <a:xfrm>
                <a:off x="713232" y="5065775"/>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Tứ giác là hình phẳng nên bốn đỉnh đồng phẳng: chỉ có </a:t>
                </a:r>
                <a:r>
                  <a:rPr sz="2100" b="1">
                    <a:solidFill>
                      <a:srgbClr val="1E293B"/>
                    </a:solidFill>
                    <a:latin typeface="Calibri"/>
                  </a:rPr>
                  <a:t>1</a:t>
                </a:r>
                <a:r>
                  <a:rPr sz="2100">
                    <a:solidFill>
                      <a:srgbClr val="1E293B"/>
                    </a:solidFill>
                    <a:latin typeface="Calibri"/>
                  </a:rPr>
                  <a:t> mặt phẳng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r>
                          <a:rPr lang="vi-VN" sz="2100" b="0">
                            <a:solidFill>
                              <a:srgbClr val="1E293B"/>
                            </a:solidFill>
                            <a:latin typeface="Cambria Math" panose="02040503050406030204" pitchFamily="18" charset="0"/>
                          </a:rPr>
                          <m:t>D</m:t>
                        </m:r>
                      </m:e>
                    </m:d>
                  </m:oMath>
                </a14:m>
                <a:r>
                  <a:rPr sz="2100">
                    <a:solidFill>
                      <a:srgbClr val="1E293B"/>
                    </a:solidFill>
                    <a:latin typeface="Calibri"/>
                  </a:rPr>
                  <a:t>.</a:t>
                </a:r>
              </a:p>
            </p:txBody>
          </p:sp>
        </mc:Choice>
        <mc:Fallback>
          <p:sp>
            <p:nvSpPr>
              <p:cNvPr id="15" name="TextBox 14"/>
              <p:cNvSpPr txBox="1"/>
              <p:nvPr/>
            </p:nvSpPr>
            <p:spPr>
              <a:xfrm>
                <a:off x="713232" y="5065775"/>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Tứ giác là hình phẳng nên bốn đỉnh đồng phẳng: chỉ có </a:t>
                </a:r>
                <a:r>
                  <a:rPr sz="2100" b="1">
                    <a:solidFill>
                      <a:srgbClr val="1E293B"/>
                    </a:solidFill>
                    <a:latin typeface="Calibri"/>
                  </a:rPr>
                  <a:t>1</a:t>
                </a:r>
                <a:r>
                  <a:rPr sz="2100">
                    <a:solidFill>
                      <a:srgbClr val="1E293B"/>
                    </a:solidFill>
                    <a:latin typeface="Calibri"/>
                  </a:rPr>
                  <a:t> mặt phẳng </a:t>
                </a:r>
                <a:r>
                  <a:rPr lang="vi-VN"/>
                  <a:t>(ABCD)</a:t>
                </a:r>
                <a:r>
                  <a:rPr sz="2100">
                    <a:solidFill>
                      <a:srgbClr val="1E293B"/>
                    </a:solidFill>
                    <a:latin typeface="Calibri"/>
                  </a:rPr>
                  <a:t>.</a:t>
                </a:r>
              </a:p>
            </p:txBody>
          </p:sp>
        </mc:Fallback>
      </mc:AlternateContent>
      <p:pic>
        <p:nvPicPr>
          <p:cNvPr id="16" name="Picture 15" descr="h45.png"/>
          <p:cNvPicPr>
            <a:picLocks noChangeAspect="1"/>
          </p:cNvPicPr>
          <p:nvPr/>
        </p:nvPicPr>
        <p:blipFill>
          <a:blip r:embed="rId3"/>
          <a:stretch>
            <a:fillRect/>
          </a:stretch>
        </p:blipFill>
        <p:spPr>
          <a:xfrm>
            <a:off x="9149641" y="1554480"/>
            <a:ext cx="2549038" cy="2468880"/>
          </a:xfrm>
          <a:prstGeom prst="rect">
            <a:avLst/>
          </a:prstGeom>
        </p:spPr>
      </p:pic>
      <p:sp>
        <p:nvSpPr>
          <p:cNvPr id="17" name="TextBox 16"/>
          <p:cNvSpPr txBox="1"/>
          <p:nvPr/>
        </p:nvSpPr>
        <p:spPr>
          <a:xfrm>
            <a:off x="9144000" y="4041648"/>
            <a:ext cx="25603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1 – VÌ SAO CÓ BA CHÂN? (SGK TR.72)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12</a:t>
            </a:r>
          </a:p>
        </p:txBody>
      </p:sp>
      <p:pic>
        <p:nvPicPr>
          <p:cNvPr id="7" name="Picture 6" descr="p_bachan.png"/>
          <p:cNvPicPr>
            <a:picLocks noChangeAspect="1"/>
          </p:cNvPicPr>
          <p:nvPr/>
        </p:nvPicPr>
        <p:blipFill>
          <a:blip r:embed="rId3"/>
          <a:stretch>
            <a:fillRect/>
          </a:stretch>
        </p:blipFill>
        <p:spPr>
          <a:xfrm>
            <a:off x="1139455" y="1325880"/>
            <a:ext cx="9882610" cy="2743200"/>
          </a:xfrm>
          <a:prstGeom prst="rect">
            <a:avLst/>
          </a:prstGeom>
        </p:spPr>
      </p:pic>
      <p:sp>
        <p:nvSpPr>
          <p:cNvPr id="8" name="TextBox 7"/>
          <p:cNvSpPr txBox="1"/>
          <p:nvPr/>
        </p:nvSpPr>
        <p:spPr>
          <a:xfrm>
            <a:off x="548640" y="420624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Vận dụng 1.</a:t>
            </a:r>
            <a:r>
              <a:rPr sz="2100">
                <a:solidFill>
                  <a:srgbClr val="1E293B"/>
                </a:solidFill>
                <a:latin typeface="Calibri"/>
              </a:rPr>
              <a:t> Hãy giải thích tại sao trong thực tiễn có nhiều đồ vật được thiết kế gồm ba chân như chân đỡ máy ảnh, giá treo tranh, kiềng ba chân treo nồi,…</a:t>
            </a:r>
          </a:p>
        </p:txBody>
      </p:sp>
      <p:sp>
        <p:nvSpPr>
          <p:cNvPr id="9" name="s1_nen"/>
          <p:cNvSpPr/>
          <p:nvPr/>
        </p:nvSpPr>
        <p:spPr>
          <a:xfrm>
            <a:off x="548640" y="5111496"/>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713232" y="5148072"/>
            <a:ext cx="10735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Ba đầu chân là ba điểm không thẳng hàng nên luôn xác định duy nhất một mặt phẳng – cả ba chân luôn chạm mặt đỡ, đồ vật đứng vững, không bị cập kênh.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ĐƯỜNG THẲNG NẰM TRONG MẶT PHẲNG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13</a:t>
            </a:r>
          </a:p>
        </p:txBody>
      </p:sp>
      <p:sp>
        <p:nvSpPr>
          <p:cNvPr id="7" name="TextBox 6"/>
          <p:cNvSpPr txBox="1"/>
          <p:nvPr/>
        </p:nvSpPr>
        <p:spPr>
          <a:xfrm>
            <a:off x="548640" y="1371600"/>
            <a:ext cx="78638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HĐ4.</a:t>
            </a:r>
            <a:r>
              <a:rPr sz="2100">
                <a:solidFill>
                  <a:srgbClr val="1E293B"/>
                </a:solidFill>
                <a:latin typeface="Calibri"/>
              </a:rPr>
              <a:t> Căng một sợi dây sao cho hai đầu của sợi dây nằm trên mặt bàn. Khi đó, sợi dây có nằm trên mặt bàn hay không?</a:t>
            </a:r>
          </a:p>
        </p:txBody>
      </p:sp>
      <p:sp>
        <p:nvSpPr>
          <p:cNvPr id="8" name="s1_nen"/>
          <p:cNvSpPr/>
          <p:nvPr/>
        </p:nvSpPr>
        <p:spPr>
          <a:xfrm>
            <a:off x="548640" y="2596896"/>
            <a:ext cx="78638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633472"/>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a:t>
            </a:r>
          </a:p>
        </p:txBody>
      </p:sp>
      <p:sp>
        <p:nvSpPr>
          <p:cNvPr id="10" name="s2_nen"/>
          <p:cNvSpPr/>
          <p:nvPr/>
        </p:nvSpPr>
        <p:spPr>
          <a:xfrm>
            <a:off x="548640" y="3273551"/>
            <a:ext cx="7863840" cy="122529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310127"/>
            <a:ext cx="7534656" cy="1152144"/>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Tính chất 4.</a:t>
            </a:r>
            <a:r>
              <a:rPr sz="2100">
                <a:solidFill>
                  <a:srgbClr val="1E293B"/>
                </a:solidFill>
                <a:latin typeface="Calibri"/>
              </a:rPr>
              <a:t> Nếu một đường thẳng có hai điểm phân biệt thuộc một mặt phẳng thì tất cả các điểm của đường thẳng đều thuộc mặt phẳng đó.</a:t>
            </a:r>
          </a:p>
        </p:txBody>
      </p:sp>
      <mc:AlternateContent xmlns:mc="http://schemas.openxmlformats.org/markup-compatibility/2006">
        <mc:Choice xmlns:a14="http://schemas.microsoft.com/office/drawing/2010/main" Requires="a14">
          <p:sp>
            <p:nvSpPr>
              <p:cNvPr id="12" name="s3_chu"/>
              <p:cNvSpPr txBox="1"/>
              <p:nvPr/>
            </p:nvSpPr>
            <p:spPr>
              <a:xfrm>
                <a:off x="548640" y="4590288"/>
                <a:ext cx="78638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Mọi điểm của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đều thuộc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a:t>
                </a:r>
                <a:r>
                  <a:rPr sz="2100" b="1">
                    <a:solidFill>
                      <a:srgbClr val="1E293B"/>
                    </a:solidFill>
                    <a:latin typeface="Calibri"/>
                  </a:rPr>
                  <a:t>nằm trong</a:t>
                </a:r>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hoặc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a:t>
                </a:r>
                <a:r>
                  <a:rPr sz="2100" b="1">
                    <a:solidFill>
                      <a:srgbClr val="1E293B"/>
                    </a:solidFill>
                    <a:latin typeface="Calibri"/>
                  </a:rPr>
                  <a:t>chứa</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kí hiệu </a:t>
                </a:r>
                <a14:m>
                  <m:oMath xmlns:m="http://schemas.openxmlformats.org/officeDocument/2006/math">
                    <m:r>
                      <a:rPr lang="vi-VN" sz="2100" b="0">
                        <a:solidFill>
                          <a:srgbClr val="1E293B"/>
                        </a:solidFill>
                        <a:latin typeface="Cambria Math" panose="02040503050406030204" pitchFamily="18" charset="0"/>
                      </a:rPr>
                      <m:t>d⊂(P)</m:t>
                    </m:r>
                  </m:oMath>
                </a14:m>
                <a:r>
                  <a:rPr sz="2100">
                    <a:solidFill>
                      <a:srgbClr val="1E293B"/>
                    </a:solidFill>
                    <a:latin typeface="Calibri"/>
                  </a:rPr>
                  <a:t> hoặc </a:t>
                </a:r>
                <a14:m>
                  <m:oMath xmlns:m="http://schemas.openxmlformats.org/officeDocument/2006/math">
                    <m:r>
                      <a:rPr lang="vi-VN" sz="2100" b="0">
                        <a:solidFill>
                          <a:srgbClr val="1E293B"/>
                        </a:solidFill>
                        <a:latin typeface="Cambria Math" panose="02040503050406030204" pitchFamily="18" charset="0"/>
                      </a:rPr>
                      <m:t>(P)⊃d</m:t>
                    </m:r>
                  </m:oMath>
                </a14:m>
                <a:r>
                  <a:rPr sz="2100">
                    <a:solidFill>
                      <a:srgbClr val="1E293B"/>
                    </a:solidFill>
                    <a:latin typeface="Calibri"/>
                  </a:rPr>
                  <a:t>.</a:t>
                </a:r>
              </a:p>
            </p:txBody>
          </p:sp>
        </mc:Choice>
        <mc:Fallback>
          <p:sp>
            <p:nvSpPr>
              <p:cNvPr id="12" name="TextBox 11"/>
              <p:cNvSpPr txBox="1"/>
              <p:nvPr/>
            </p:nvSpPr>
            <p:spPr>
              <a:xfrm>
                <a:off x="548640" y="4590288"/>
                <a:ext cx="78638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Mọi điểm của </a:t>
                </a:r>
                <a:r>
                  <a:rPr lang="vi-VN"/>
                  <a:t>d</a:t>
                </a:r>
                <a:r>
                  <a:rPr sz="2100">
                    <a:solidFill>
                      <a:srgbClr val="1E293B"/>
                    </a:solidFill>
                    <a:latin typeface="Calibri"/>
                  </a:rPr>
                  <a:t> đều thuộc </a:t>
                </a:r>
                <a:r>
                  <a:rPr lang="vi-VN"/>
                  <a:t>(P)</a:t>
                </a:r>
                <a:r>
                  <a:rPr sz="2100">
                    <a:solidFill>
                      <a:srgbClr val="1E293B"/>
                    </a:solidFill>
                    <a:latin typeface="Calibri"/>
                  </a:rPr>
                  <a:t>: </a:t>
                </a:r>
                <a:r>
                  <a:rPr lang="vi-VN"/>
                  <a:t>d</a:t>
                </a:r>
                <a:r>
                  <a:rPr sz="2100">
                    <a:solidFill>
                      <a:srgbClr val="1E293B"/>
                    </a:solidFill>
                    <a:latin typeface="Calibri"/>
                  </a:rPr>
                  <a:t> </a:t>
                </a:r>
                <a:r>
                  <a:rPr sz="2100" b="1">
                    <a:solidFill>
                      <a:srgbClr val="1E293B"/>
                    </a:solidFill>
                    <a:latin typeface="Calibri"/>
                  </a:rPr>
                  <a:t>nằm trong</a:t>
                </a:r>
                <a:r>
                  <a:rPr sz="2100">
                    <a:solidFill>
                      <a:srgbClr val="1E293B"/>
                    </a:solidFill>
                    <a:latin typeface="Calibri"/>
                  </a:rPr>
                  <a:t> </a:t>
                </a:r>
                <a:r>
                  <a:rPr lang="vi-VN"/>
                  <a:t>(P)</a:t>
                </a:r>
                <a:r>
                  <a:rPr sz="2100">
                    <a:solidFill>
                      <a:srgbClr val="1E293B"/>
                    </a:solidFill>
                    <a:latin typeface="Calibri"/>
                  </a:rPr>
                  <a:t> hoặc </a:t>
                </a:r>
                <a:r>
                  <a:rPr lang="vi-VN"/>
                  <a:t>(P)</a:t>
                </a:r>
                <a:r>
                  <a:rPr sz="2100">
                    <a:solidFill>
                      <a:srgbClr val="1E293B"/>
                    </a:solidFill>
                    <a:latin typeface="Calibri"/>
                  </a:rPr>
                  <a:t> </a:t>
                </a:r>
                <a:r>
                  <a:rPr sz="2100" b="1">
                    <a:solidFill>
                      <a:srgbClr val="1E293B"/>
                    </a:solidFill>
                    <a:latin typeface="Calibri"/>
                  </a:rPr>
                  <a:t>chứa</a:t>
                </a:r>
                <a:r>
                  <a:rPr sz="2100">
                    <a:solidFill>
                      <a:srgbClr val="1E293B"/>
                    </a:solidFill>
                    <a:latin typeface="Calibri"/>
                  </a:rPr>
                  <a:t> </a:t>
                </a:r>
                <a:r>
                  <a:rPr lang="vi-VN"/>
                  <a:t>d</a:t>
                </a:r>
                <a:r>
                  <a:rPr sz="2100">
                    <a:solidFill>
                      <a:srgbClr val="1E293B"/>
                    </a:solidFill>
                    <a:latin typeface="Calibri"/>
                  </a:rPr>
                  <a:t>, kí hiệu </a:t>
                </a:r>
                <a:r>
                  <a:rPr lang="vi-VN"/>
                  <a:t>d\subset (P)</a:t>
                </a:r>
                <a:r>
                  <a:rPr sz="2100">
                    <a:solidFill>
                      <a:srgbClr val="1E293B"/>
                    </a:solidFill>
                    <a:latin typeface="Calibri"/>
                  </a:rPr>
                  <a:t> hoặc </a:t>
                </a:r>
                <a:r>
                  <a:rPr lang="vi-VN"/>
                  <a:t>(P)\supset d</a:t>
                </a:r>
                <a:r>
                  <a:rPr sz="2100">
                    <a:solidFill>
                      <a:srgbClr val="1E293B"/>
                    </a:solidFill>
                    <a:latin typeface="Calibri"/>
                  </a:rPr>
                  <a:t>.</a:t>
                </a:r>
              </a:p>
            </p:txBody>
          </p:sp>
        </mc:Fallback>
      </mc:AlternateContent>
      <p:pic>
        <p:nvPicPr>
          <p:cNvPr id="13" name="Picture 12" descr="p_soiday.png"/>
          <p:cNvPicPr>
            <a:picLocks noChangeAspect="1"/>
          </p:cNvPicPr>
          <p:nvPr/>
        </p:nvPicPr>
        <p:blipFill>
          <a:blip r:embed="rId3"/>
          <a:stretch>
            <a:fillRect/>
          </a:stretch>
        </p:blipFill>
        <p:spPr>
          <a:xfrm>
            <a:off x="8686800" y="1501329"/>
            <a:ext cx="3017520" cy="22094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 LUYỆN TẬP 2 (SGK TR.73)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41248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Cho tam giác </a:t>
                </a:r>
                <a14:m>
                  <m:oMath xmlns:m="http://schemas.openxmlformats.org/officeDocument/2006/math">
                    <m:r>
                      <a:rPr lang="vi-VN" sz="2100" b="0">
                        <a:solidFill>
                          <a:srgbClr val="1E293B"/>
                        </a:solidFill>
                        <a:latin typeface="Cambria Math" panose="02040503050406030204" pitchFamily="18" charset="0"/>
                      </a:rPr>
                      <m:t>ABC</m:t>
                    </m:r>
                  </m:oMath>
                </a14:m>
                <a:r>
                  <a:rPr sz="2100">
                    <a:solidFill>
                      <a:srgbClr val="1E293B"/>
                    </a:solidFill>
                    <a:latin typeface="Calibri"/>
                  </a:rPr>
                  <a:t> và một điểm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thuộc đường thẳng </a:t>
                </a:r>
                <a14:m>
                  <m:oMath xmlns:m="http://schemas.openxmlformats.org/officeDocument/2006/math">
                    <m:r>
                      <a:rPr lang="vi-VN" sz="2100" b="0">
                        <a:solidFill>
                          <a:srgbClr val="1E293B"/>
                        </a:solidFill>
                        <a:latin typeface="Cambria Math" panose="02040503050406030204" pitchFamily="18" charset="0"/>
                      </a:rPr>
                      <m:t>BC</m:t>
                    </m:r>
                  </m:oMath>
                </a14:m>
                <a:r>
                  <a:rPr sz="2100">
                    <a:solidFill>
                      <a:srgbClr val="1E293B"/>
                    </a:solidFill>
                    <a:latin typeface="Calibri"/>
                  </a:rPr>
                  <a:t> (H.4.6). a) Điểm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có thuộc mặt phẳng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hay không? b) Đường thẳng </a:t>
                </a:r>
                <a14:m>
                  <m:oMath xmlns:m="http://schemas.openxmlformats.org/officeDocument/2006/math">
                    <m:r>
                      <a:rPr lang="vi-VN" sz="2100" b="0">
                        <a:solidFill>
                          <a:srgbClr val="1E293B"/>
                        </a:solidFill>
                        <a:latin typeface="Cambria Math" panose="02040503050406030204" pitchFamily="18" charset="0"/>
                      </a:rPr>
                      <m:t>AM</m:t>
                    </m:r>
                  </m:oMath>
                </a14:m>
                <a:r>
                  <a:rPr sz="2100">
                    <a:solidFill>
                      <a:srgbClr val="1E293B"/>
                    </a:solidFill>
                    <a:latin typeface="Calibri"/>
                  </a:rPr>
                  <a:t> có nằm trong mặt phẳng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hay không?</a:t>
                </a:r>
              </a:p>
            </p:txBody>
          </p:sp>
        </mc:Choice>
        <mc:Fallback>
          <p:sp>
            <p:nvSpPr>
              <p:cNvPr id="7" name="TextBox 6"/>
              <p:cNvSpPr txBox="1"/>
              <p:nvPr/>
            </p:nvSpPr>
            <p:spPr>
              <a:xfrm>
                <a:off x="548640" y="1371600"/>
                <a:ext cx="841248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Cho tam giác </a:t>
                </a:r>
                <a:r>
                  <a:rPr lang="vi-VN"/>
                  <a:t>ABC</a:t>
                </a:r>
                <a:r>
                  <a:rPr sz="2100">
                    <a:solidFill>
                      <a:srgbClr val="1E293B"/>
                    </a:solidFill>
                    <a:latin typeface="Calibri"/>
                  </a:rPr>
                  <a:t> và một điểm </a:t>
                </a:r>
                <a:r>
                  <a:rPr lang="vi-VN"/>
                  <a:t>M</a:t>
                </a:r>
                <a:r>
                  <a:rPr sz="2100">
                    <a:solidFill>
                      <a:srgbClr val="1E293B"/>
                    </a:solidFill>
                    <a:latin typeface="Calibri"/>
                  </a:rPr>
                  <a:t> thuộc đường thẳng </a:t>
                </a:r>
                <a:r>
                  <a:rPr lang="vi-VN"/>
                  <a:t>BC</a:t>
                </a:r>
                <a:r>
                  <a:rPr sz="2100">
                    <a:solidFill>
                      <a:srgbClr val="1E293B"/>
                    </a:solidFill>
                    <a:latin typeface="Calibri"/>
                  </a:rPr>
                  <a:t> (H.4.6). a) Điểm </a:t>
                </a:r>
                <a:r>
                  <a:rPr lang="vi-VN"/>
                  <a:t>M</a:t>
                </a:r>
                <a:r>
                  <a:rPr sz="2100">
                    <a:solidFill>
                      <a:srgbClr val="1E293B"/>
                    </a:solidFill>
                    <a:latin typeface="Calibri"/>
                  </a:rPr>
                  <a:t> có thuộc mặt phẳng </a:t>
                </a:r>
                <a:r>
                  <a:rPr lang="vi-VN"/>
                  <a:t>(ABC)</a:t>
                </a:r>
                <a:r>
                  <a:rPr sz="2100">
                    <a:solidFill>
                      <a:srgbClr val="1E293B"/>
                    </a:solidFill>
                    <a:latin typeface="Calibri"/>
                  </a:rPr>
                  <a:t> hay không? b) Đường thẳng </a:t>
                </a:r>
                <a:r>
                  <a:rPr lang="vi-VN"/>
                  <a:t>AM</a:t>
                </a:r>
                <a:r>
                  <a:rPr sz="2100">
                    <a:solidFill>
                      <a:srgbClr val="1E293B"/>
                    </a:solidFill>
                    <a:latin typeface="Calibri"/>
                  </a:rPr>
                  <a:t> có nằm trong mặt phẳng </a:t>
                </a:r>
                <a:r>
                  <a:rPr lang="vi-VN"/>
                  <a:t>(ABC)</a:t>
                </a:r>
                <a:r>
                  <a:rPr sz="2100">
                    <a:solidFill>
                      <a:srgbClr val="1E293B"/>
                    </a:solidFill>
                    <a:latin typeface="Calibri"/>
                  </a:rPr>
                  <a:t> hay không?</a:t>
                </a:r>
              </a:p>
            </p:txBody>
          </p:sp>
        </mc:Fallback>
      </mc:AlternateContent>
      <p:sp>
        <p:nvSpPr>
          <p:cNvPr id="8" name="s1_nen"/>
          <p:cNvSpPr/>
          <p:nvPr/>
        </p:nvSpPr>
        <p:spPr>
          <a:xfrm>
            <a:off x="548640" y="2578608"/>
            <a:ext cx="841248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15184"/>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a:rPr lang="vi-VN" sz="2100" b="0">
                        <a:solidFill>
                          <a:srgbClr val="1E293B"/>
                        </a:solidFill>
                        <a:latin typeface="Cambria Math" panose="02040503050406030204" pitchFamily="18" charset="0"/>
                      </a:rPr>
                      <m:t>BC</m:t>
                    </m:r>
                  </m:oMath>
                </a14:m>
                <a:r>
                  <a:rPr sz="2100">
                    <a:solidFill>
                      <a:srgbClr val="1E293B"/>
                    </a:solidFill>
                    <a:latin typeface="Calibri"/>
                  </a:rPr>
                  <a:t> có hai điểm phân biệt </a:t>
                </a:r>
                <a14:m>
                  <m:oMath xmlns:m="http://schemas.openxmlformats.org/officeDocument/2006/math">
                    <m:r>
                      <a:rPr lang="vi-VN" sz="2100" b="0">
                        <a:solidFill>
                          <a:srgbClr val="1E293B"/>
                        </a:solidFill>
                        <a:latin typeface="Cambria Math" panose="02040503050406030204" pitchFamily="18" charset="0"/>
                      </a:rPr>
                      <m:t>B,</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C</m:t>
                    </m:r>
                  </m:oMath>
                </a14:m>
                <a:r>
                  <a:rPr sz="2100">
                    <a:solidFill>
                      <a:srgbClr val="1E293B"/>
                    </a:solidFill>
                    <a:latin typeface="Calibri"/>
                  </a:rPr>
                  <a:t> thuộc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BC⊂(ABC)</m:t>
                    </m:r>
                  </m:oMath>
                </a14:m>
                <a:r>
                  <a:rPr sz="2100">
                    <a:solidFill>
                      <a:srgbClr val="1E293B"/>
                    </a:solidFill>
                    <a:latin typeface="Calibri"/>
                  </a:rPr>
                  <a:t>. Vì </a:t>
                </a:r>
                <a14:m>
                  <m:oMath xmlns:m="http://schemas.openxmlformats.org/officeDocument/2006/math">
                    <m:r>
                      <a:rPr lang="vi-VN" sz="2100" b="0">
                        <a:solidFill>
                          <a:srgbClr val="1E293B"/>
                        </a:solidFill>
                        <a:latin typeface="Cambria Math" panose="02040503050406030204" pitchFamily="18" charset="0"/>
                      </a:rPr>
                      <m:t>M∈BC</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M∈(ABC)</m:t>
                    </m:r>
                  </m:oMath>
                </a14:m>
                <a:r>
                  <a:rPr sz="2100">
                    <a:solidFill>
                      <a:srgbClr val="1E293B"/>
                    </a:solidFill>
                    <a:latin typeface="Calibri"/>
                  </a:rPr>
                  <a:t>.</a:t>
                </a:r>
              </a:p>
            </p:txBody>
          </p:sp>
        </mc:Choice>
        <mc:Fallback>
          <p:sp>
            <p:nvSpPr>
              <p:cNvPr id="9" name="TextBox 8"/>
              <p:cNvSpPr txBox="1"/>
              <p:nvPr/>
            </p:nvSpPr>
            <p:spPr>
              <a:xfrm>
                <a:off x="713232" y="2615184"/>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BC</a:t>
                </a:r>
                <a:r>
                  <a:rPr sz="2100">
                    <a:solidFill>
                      <a:srgbClr val="1E293B"/>
                    </a:solidFill>
                    <a:latin typeface="Calibri"/>
                  </a:rPr>
                  <a:t> có hai điểm phân biệt </a:t>
                </a:r>
                <a:r>
                  <a:rPr lang="vi-VN"/>
                  <a:t>B,\ C</a:t>
                </a:r>
                <a:r>
                  <a:rPr sz="2100">
                    <a:solidFill>
                      <a:srgbClr val="1E293B"/>
                    </a:solidFill>
                    <a:latin typeface="Calibri"/>
                  </a:rPr>
                  <a:t> thuộc </a:t>
                </a:r>
                <a:r>
                  <a:rPr lang="vi-VN"/>
                  <a:t>(ABC)</a:t>
                </a:r>
                <a:r>
                  <a:rPr sz="2100">
                    <a:solidFill>
                      <a:srgbClr val="1E293B"/>
                    </a:solidFill>
                    <a:latin typeface="Calibri"/>
                  </a:rPr>
                  <a:t> nên </a:t>
                </a:r>
                <a:r>
                  <a:rPr lang="vi-VN"/>
                  <a:t>BC\subset (ABC)</a:t>
                </a:r>
                <a:r>
                  <a:rPr sz="2100">
                    <a:solidFill>
                      <a:srgbClr val="1E293B"/>
                    </a:solidFill>
                    <a:latin typeface="Calibri"/>
                  </a:rPr>
                  <a:t>. Vì </a:t>
                </a:r>
                <a:r>
                  <a:rPr lang="vi-VN"/>
                  <a:t>M\in BC</a:t>
                </a:r>
                <a:r>
                  <a:rPr sz="2100">
                    <a:solidFill>
                      <a:srgbClr val="1E293B"/>
                    </a:solidFill>
                    <a:latin typeface="Calibri"/>
                  </a:rPr>
                  <a:t> nên </a:t>
                </a:r>
                <a:r>
                  <a:rPr lang="vi-VN"/>
                  <a:t>M\in (ABC)</a:t>
                </a:r>
                <a:r>
                  <a:rPr sz="2100">
                    <a:solidFill>
                      <a:srgbClr val="1E293B"/>
                    </a:solidFill>
                    <a:latin typeface="Calibri"/>
                  </a:rPr>
                  <a:t>.</a:t>
                </a:r>
              </a:p>
            </p:txBody>
          </p:sp>
        </mc:Fallback>
      </mc:AlternateContent>
      <p:sp>
        <p:nvSpPr>
          <p:cNvPr id="10" name="s2_nen"/>
          <p:cNvSpPr/>
          <p:nvPr/>
        </p:nvSpPr>
        <p:spPr>
          <a:xfrm>
            <a:off x="548640" y="3557016"/>
            <a:ext cx="841248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93592"/>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r>
                      <a:rPr lang="vi-VN" sz="2100" b="0">
                        <a:solidFill>
                          <a:srgbClr val="1E293B"/>
                        </a:solidFill>
                        <a:latin typeface="Cambria Math" panose="02040503050406030204" pitchFamily="18" charset="0"/>
                      </a:rPr>
                      <m:t>AM</m:t>
                    </m:r>
                  </m:oMath>
                </a14:m>
                <a:r>
                  <a:rPr sz="2100">
                    <a:solidFill>
                      <a:srgbClr val="1E293B"/>
                    </a:solidFill>
                    <a:latin typeface="Calibri"/>
                  </a:rPr>
                  <a:t> có hai điểm phân biệt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m:t>
                    </m:r>
                  </m:oMath>
                </a14:m>
                <a:r>
                  <a:rPr sz="2100">
                    <a:solidFill>
                      <a:srgbClr val="1E293B"/>
                    </a:solidFill>
                    <a:latin typeface="Calibri"/>
                  </a:rPr>
                  <a:t> thuộc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AM⊂(ABC)</m:t>
                    </m:r>
                  </m:oMath>
                </a14:m>
                <a:r>
                  <a:rPr sz="2100">
                    <a:solidFill>
                      <a:srgbClr val="1E293B"/>
                    </a:solidFill>
                    <a:latin typeface="Calibri"/>
                  </a:rPr>
                  <a:t>.</a:t>
                </a:r>
              </a:p>
            </p:txBody>
          </p:sp>
        </mc:Choice>
        <mc:Fallback>
          <p:sp>
            <p:nvSpPr>
              <p:cNvPr id="11" name="TextBox 10"/>
              <p:cNvSpPr txBox="1"/>
              <p:nvPr/>
            </p:nvSpPr>
            <p:spPr>
              <a:xfrm>
                <a:off x="713232" y="3593592"/>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AM</a:t>
                </a:r>
                <a:r>
                  <a:rPr sz="2100">
                    <a:solidFill>
                      <a:srgbClr val="1E293B"/>
                    </a:solidFill>
                    <a:latin typeface="Calibri"/>
                  </a:rPr>
                  <a:t> có hai điểm phân biệt </a:t>
                </a:r>
                <a:r>
                  <a:rPr lang="vi-VN"/>
                  <a:t>A,\ M</a:t>
                </a:r>
                <a:r>
                  <a:rPr sz="2100">
                    <a:solidFill>
                      <a:srgbClr val="1E293B"/>
                    </a:solidFill>
                    <a:latin typeface="Calibri"/>
                  </a:rPr>
                  <a:t> thuộc </a:t>
                </a:r>
                <a:r>
                  <a:rPr lang="vi-VN"/>
                  <a:t>(ABC)</a:t>
                </a:r>
                <a:r>
                  <a:rPr sz="2100">
                    <a:solidFill>
                      <a:srgbClr val="1E293B"/>
                    </a:solidFill>
                    <a:latin typeface="Calibri"/>
                  </a:rPr>
                  <a:t> nên </a:t>
                </a:r>
                <a:r>
                  <a:rPr lang="vi-VN"/>
                  <a:t>AM\subset (ABC)</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535424"/>
                <a:ext cx="841248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Trong Ví dụ 2, lấy điểm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thuộc đường thẳng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sao cho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khác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Đường thẳng </a:t>
                </a:r>
                <a14:m>
                  <m:oMath xmlns:m="http://schemas.openxmlformats.org/officeDocument/2006/math">
                    <m:r>
                      <a:rPr lang="vi-VN" sz="2100" b="0">
                        <a:solidFill>
                          <a:srgbClr val="1E293B"/>
                        </a:solidFill>
                        <a:latin typeface="Cambria Math" panose="02040503050406030204" pitchFamily="18" charset="0"/>
                      </a:rPr>
                      <m:t>MN</m:t>
                    </m:r>
                  </m:oMath>
                </a14:m>
                <a:r>
                  <a:rPr sz="2100">
                    <a:solidFill>
                      <a:srgbClr val="1E293B"/>
                    </a:solidFill>
                    <a:latin typeface="Calibri"/>
                  </a:rPr>
                  <a:t> có thuộc mặt phẳng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hay không?</a:t>
                </a:r>
              </a:p>
            </p:txBody>
          </p:sp>
        </mc:Choice>
        <mc:Fallback>
          <p:sp>
            <p:nvSpPr>
              <p:cNvPr id="12" name="TextBox 11"/>
              <p:cNvSpPr txBox="1"/>
              <p:nvPr/>
            </p:nvSpPr>
            <p:spPr>
              <a:xfrm>
                <a:off x="548640" y="4535424"/>
                <a:ext cx="841248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Trong Ví dụ 2, lấy điểm </a:t>
                </a:r>
                <a:r>
                  <a:rPr lang="vi-VN"/>
                  <a:t>N</a:t>
                </a:r>
                <a:r>
                  <a:rPr sz="2100">
                    <a:solidFill>
                      <a:srgbClr val="1E293B"/>
                    </a:solidFill>
                    <a:latin typeface="Calibri"/>
                  </a:rPr>
                  <a:t> thuộc đường thẳng </a:t>
                </a:r>
                <a:r>
                  <a:rPr lang="vi-VN"/>
                  <a:t>AB</a:t>
                </a:r>
                <a:r>
                  <a:rPr sz="2100">
                    <a:solidFill>
                      <a:srgbClr val="1E293B"/>
                    </a:solidFill>
                    <a:latin typeface="Calibri"/>
                  </a:rPr>
                  <a:t> sao cho </a:t>
                </a:r>
                <a:r>
                  <a:rPr lang="vi-VN"/>
                  <a:t>N</a:t>
                </a:r>
                <a:r>
                  <a:rPr sz="2100">
                    <a:solidFill>
                      <a:srgbClr val="1E293B"/>
                    </a:solidFill>
                    <a:latin typeface="Calibri"/>
                  </a:rPr>
                  <a:t> khác </a:t>
                </a:r>
                <a:r>
                  <a:rPr lang="vi-VN"/>
                  <a:t>M</a:t>
                </a:r>
                <a:r>
                  <a:rPr sz="2100">
                    <a:solidFill>
                      <a:srgbClr val="1E293B"/>
                    </a:solidFill>
                    <a:latin typeface="Calibri"/>
                  </a:rPr>
                  <a:t>. Đường thẳng </a:t>
                </a:r>
                <a:r>
                  <a:rPr lang="vi-VN"/>
                  <a:t>MN</a:t>
                </a:r>
                <a:r>
                  <a:rPr sz="2100">
                    <a:solidFill>
                      <a:srgbClr val="1E293B"/>
                    </a:solidFill>
                    <a:latin typeface="Calibri"/>
                  </a:rPr>
                  <a:t> có thuộc mặt phẳng </a:t>
                </a:r>
                <a:r>
                  <a:rPr lang="vi-VN"/>
                  <a:t>(ABC)</a:t>
                </a:r>
                <a:r>
                  <a:rPr sz="2100">
                    <a:solidFill>
                      <a:srgbClr val="1E293B"/>
                    </a:solidFill>
                    <a:latin typeface="Calibri"/>
                  </a:rPr>
                  <a:t> hay không?</a:t>
                </a:r>
              </a:p>
            </p:txBody>
          </p:sp>
        </mc:Fallback>
      </mc:AlternateContent>
      <p:sp>
        <p:nvSpPr>
          <p:cNvPr id="13" name="s4_nen"/>
          <p:cNvSpPr/>
          <p:nvPr/>
        </p:nvSpPr>
        <p:spPr>
          <a:xfrm>
            <a:off x="548640" y="5742432"/>
            <a:ext cx="841248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779008"/>
                <a:ext cx="808329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a:t>
                </a:r>
                <a14:m>
                  <m:oMath xmlns:m="http://schemas.openxmlformats.org/officeDocument/2006/math">
                    <m:r>
                      <a:rPr lang="vi-VN" sz="2100" b="0">
                        <a:solidFill>
                          <a:srgbClr val="1E293B"/>
                        </a:solidFill>
                        <a:latin typeface="Cambria Math" panose="02040503050406030204" pitchFamily="18" charset="0"/>
                      </a:rPr>
                      <m:t>N∈AB⊂(ABC)</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M∈(ABC)</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MN⊂(ABC)</m:t>
                    </m:r>
                  </m:oMath>
                </a14:m>
                <a:r>
                  <a:rPr sz="2100">
                    <a:solidFill>
                      <a:srgbClr val="1E293B"/>
                    </a:solidFill>
                    <a:latin typeface="Calibri"/>
                  </a:rPr>
                  <a:t>.</a:t>
                </a:r>
              </a:p>
            </p:txBody>
          </p:sp>
        </mc:Choice>
        <mc:Fallback>
          <p:sp>
            <p:nvSpPr>
              <p:cNvPr id="14" name="TextBox 13"/>
              <p:cNvSpPr txBox="1"/>
              <p:nvPr/>
            </p:nvSpPr>
            <p:spPr>
              <a:xfrm>
                <a:off x="713232" y="5779008"/>
                <a:ext cx="808329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a:t>
                </a:r>
                <a:r>
                  <a:rPr lang="vi-VN"/>
                  <a:t>N\in AB\subset (ABC)</a:t>
                </a:r>
                <a:r>
                  <a:rPr sz="2100">
                    <a:solidFill>
                      <a:srgbClr val="1E293B"/>
                    </a:solidFill>
                    <a:latin typeface="Calibri"/>
                  </a:rPr>
                  <a:t>, </a:t>
                </a:r>
                <a:r>
                  <a:rPr lang="vi-VN"/>
                  <a:t>M\in (ABC)</a:t>
                </a:r>
                <a:r>
                  <a:rPr sz="2100">
                    <a:solidFill>
                      <a:srgbClr val="1E293B"/>
                    </a:solidFill>
                    <a:latin typeface="Calibri"/>
                  </a:rPr>
                  <a:t> nên </a:t>
                </a:r>
                <a:r>
                  <a:rPr lang="vi-VN"/>
                  <a:t>MN\subset (ABC)</a:t>
                </a:r>
                <a:r>
                  <a:rPr sz="2100">
                    <a:solidFill>
                      <a:srgbClr val="1E293B"/>
                    </a:solidFill>
                    <a:latin typeface="Calibri"/>
                  </a:rPr>
                  <a:t>.</a:t>
                </a:r>
              </a:p>
            </p:txBody>
          </p:sp>
        </mc:Fallback>
      </mc:AlternateContent>
      <p:pic>
        <p:nvPicPr>
          <p:cNvPr id="15" name="Picture 14" descr="h46.png"/>
          <p:cNvPicPr>
            <a:picLocks noChangeAspect="1"/>
          </p:cNvPicPr>
          <p:nvPr/>
        </p:nvPicPr>
        <p:blipFill>
          <a:blip r:embed="rId3"/>
          <a:stretch>
            <a:fillRect/>
          </a:stretch>
        </p:blipFill>
        <p:spPr>
          <a:xfrm>
            <a:off x="9155513" y="1554480"/>
            <a:ext cx="2537293" cy="1828800"/>
          </a:xfrm>
          <a:prstGeom prst="rect">
            <a:avLst/>
          </a:prstGeom>
        </p:spPr>
      </p:pic>
      <p:sp>
        <p:nvSpPr>
          <p:cNvPr id="16" name="TextBox 15"/>
          <p:cNvSpPr txBox="1"/>
          <p:nvPr/>
        </p:nvSpPr>
        <p:spPr>
          <a:xfrm>
            <a:off x="9144000" y="3401568"/>
            <a:ext cx="25603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GIAO TUYẾN CỦA HAI MẶT PHẲNG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15</a:t>
            </a:r>
          </a:p>
        </p:txBody>
      </p:sp>
      <p:sp>
        <p:nvSpPr>
          <p:cNvPr id="7" name="TextBox 6"/>
          <p:cNvSpPr txBox="1"/>
          <p:nvPr/>
        </p:nvSpPr>
        <p:spPr>
          <a:xfrm>
            <a:off x="548640" y="1371600"/>
            <a:ext cx="78638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HĐ5.</a:t>
            </a:r>
            <a:r>
              <a:rPr sz="2000">
                <a:solidFill>
                  <a:srgbClr val="1E293B"/>
                </a:solidFill>
                <a:latin typeface="Calibri"/>
              </a:rPr>
              <a:t> Trong Hình 4.7, mặt nước và thành bể có giao nhau theo đường thẳng hay không?</a:t>
            </a:r>
          </a:p>
        </p:txBody>
      </p:sp>
      <p:sp>
        <p:nvSpPr>
          <p:cNvPr id="8" name="s1_nen"/>
          <p:cNvSpPr/>
          <p:nvPr/>
        </p:nvSpPr>
        <p:spPr>
          <a:xfrm>
            <a:off x="548640" y="2228088"/>
            <a:ext cx="78638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264664"/>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Có.</a:t>
            </a:r>
          </a:p>
        </p:txBody>
      </p:sp>
      <p:sp>
        <p:nvSpPr>
          <p:cNvPr id="10" name="s2_nen"/>
          <p:cNvSpPr/>
          <p:nvPr/>
        </p:nvSpPr>
        <p:spPr>
          <a:xfrm>
            <a:off x="548640" y="2871215"/>
            <a:ext cx="7863840" cy="11795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2907791"/>
            <a:ext cx="7534656" cy="11064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Tính chất 5.</a:t>
            </a:r>
            <a:r>
              <a:rPr sz="2000">
                <a:solidFill>
                  <a:srgbClr val="1E293B"/>
                </a:solidFill>
                <a:latin typeface="Calibri"/>
              </a:rPr>
              <a:t> Nếu hai mặt phẳng phân biệt có điểm chung thì các điểm chung của hai mặt phẳng là một đường thẳng đi qua điểm chung đó.</a:t>
            </a:r>
          </a:p>
        </p:txBody>
      </p:sp>
      <mc:AlternateContent xmlns:mc="http://schemas.openxmlformats.org/markup-compatibility/2006">
        <mc:Choice xmlns:a14="http://schemas.microsoft.com/office/drawing/2010/main" Requires="a14">
          <p:sp>
            <p:nvSpPr>
              <p:cNvPr id="12" name="s3_chu"/>
              <p:cNvSpPr txBox="1"/>
              <p:nvPr/>
            </p:nvSpPr>
            <p:spPr>
              <a:xfrm>
                <a:off x="548640" y="4123944"/>
                <a:ext cx="78638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Đường thẳng chung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(nếu có) của hai mặt phẳng phân biệt </a:t>
                </a:r>
                <a14:m>
                  <m:oMath xmlns:m="http://schemas.openxmlformats.org/officeDocument/2006/math">
                    <m:d>
                      <m:dPr>
                        <m:sepChr m:val=""/>
                      </m:dPr>
                      <m:e>
                        <m:r>
                          <a:rPr lang="vi-VN" sz="2000" b="0">
                            <a:solidFill>
                              <a:srgbClr val="1E293B"/>
                            </a:solidFill>
                            <a:latin typeface="Cambria Math" panose="02040503050406030204" pitchFamily="18" charset="0"/>
                          </a:rPr>
                          <m:t>P</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Q</m:t>
                        </m:r>
                      </m:e>
                    </m:d>
                  </m:oMath>
                </a14:m>
                <a:r>
                  <a:rPr sz="2000">
                    <a:solidFill>
                      <a:srgbClr val="1E293B"/>
                    </a:solidFill>
                    <a:latin typeface="Calibri"/>
                  </a:rPr>
                  <a:t> gọi là </a:t>
                </a:r>
                <a:r>
                  <a:rPr sz="2000" b="1">
                    <a:solidFill>
                      <a:srgbClr val="1E293B"/>
                    </a:solidFill>
                    <a:latin typeface="Calibri"/>
                  </a:rPr>
                  <a:t>giao tuyến</a:t>
                </a:r>
                <a:r>
                  <a:rPr sz="2000">
                    <a:solidFill>
                      <a:srgbClr val="1E293B"/>
                    </a:solidFill>
                    <a:latin typeface="Calibri"/>
                  </a:rPr>
                  <a:t> của hai mặt phẳng đó, kí hiệu </a:t>
                </a:r>
                <a14:m>
                  <m:oMath xmlns:m="http://schemas.openxmlformats.org/officeDocument/2006/math">
                    <m:r>
                      <a:rPr lang="vi-VN" sz="2000" b="0">
                        <a:solidFill>
                          <a:srgbClr val="1E293B"/>
                        </a:solidFill>
                        <a:latin typeface="Cambria Math" panose="02040503050406030204" pitchFamily="18" charset="0"/>
                      </a:rPr>
                      <m:t>d=(P)∩(Q)</m:t>
                    </m:r>
                  </m:oMath>
                </a14:m>
                <a:r>
                  <a:rPr sz="2000">
                    <a:solidFill>
                      <a:srgbClr val="1E293B"/>
                    </a:solidFill>
                    <a:latin typeface="Calibri"/>
                  </a:rPr>
                  <a:t>.</a:t>
                </a:r>
              </a:p>
            </p:txBody>
          </p:sp>
        </mc:Choice>
        <mc:Fallback>
          <p:sp>
            <p:nvSpPr>
              <p:cNvPr id="12" name="TextBox 11"/>
              <p:cNvSpPr txBox="1"/>
              <p:nvPr/>
            </p:nvSpPr>
            <p:spPr>
              <a:xfrm>
                <a:off x="548640" y="4123944"/>
                <a:ext cx="78638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Đường thẳng chung </a:t>
                </a:r>
                <a:r>
                  <a:rPr lang="vi-VN"/>
                  <a:t>d</a:t>
                </a:r>
                <a:r>
                  <a:rPr sz="2000">
                    <a:solidFill>
                      <a:srgbClr val="1E293B"/>
                    </a:solidFill>
                    <a:latin typeface="Calibri"/>
                  </a:rPr>
                  <a:t> (nếu có) của hai mặt phẳng phân biệt </a:t>
                </a:r>
                <a:r>
                  <a:rPr lang="vi-VN"/>
                  <a:t>(P)</a:t>
                </a:r>
                <a:r>
                  <a:rPr sz="2000">
                    <a:solidFill>
                      <a:srgbClr val="1E293B"/>
                    </a:solidFill>
                    <a:latin typeface="Calibri"/>
                  </a:rPr>
                  <a:t> và </a:t>
                </a:r>
                <a:r>
                  <a:rPr lang="vi-VN"/>
                  <a:t>(Q)</a:t>
                </a:r>
                <a:r>
                  <a:rPr sz="2000">
                    <a:solidFill>
                      <a:srgbClr val="1E293B"/>
                    </a:solidFill>
                    <a:latin typeface="Calibri"/>
                  </a:rPr>
                  <a:t> gọi là </a:t>
                </a:r>
                <a:r>
                  <a:rPr sz="2000" b="1">
                    <a:solidFill>
                      <a:srgbClr val="1E293B"/>
                    </a:solidFill>
                    <a:latin typeface="Calibri"/>
                  </a:rPr>
                  <a:t>giao tuyến</a:t>
                </a:r>
                <a:r>
                  <a:rPr sz="2000">
                    <a:solidFill>
                      <a:srgbClr val="1E293B"/>
                    </a:solidFill>
                    <a:latin typeface="Calibri"/>
                  </a:rPr>
                  <a:t> của hai mặt phẳng đó, kí hiệu </a:t>
                </a:r>
                <a:r>
                  <a:rPr lang="vi-VN"/>
                  <a:t>d=(P)\cap (Q)</a:t>
                </a:r>
                <a:r>
                  <a:rPr sz="2000">
                    <a:solidFill>
                      <a:srgbClr val="1E293B"/>
                    </a:solidFill>
                    <a:latin typeface="Calibri"/>
                  </a:rPr>
                  <a:t>.</a:t>
                </a:r>
              </a:p>
            </p:txBody>
          </p:sp>
        </mc:Fallback>
      </mc:AlternateContent>
      <p:sp>
        <p:nvSpPr>
          <p:cNvPr id="13" name="s4_nen"/>
          <p:cNvSpPr/>
          <p:nvPr/>
        </p:nvSpPr>
        <p:spPr>
          <a:xfrm>
            <a:off x="548640" y="5285232"/>
            <a:ext cx="7863840" cy="874775"/>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4_chu"/>
          <p:cNvSpPr txBox="1"/>
          <p:nvPr/>
        </p:nvSpPr>
        <p:spPr>
          <a:xfrm>
            <a:off x="713232" y="5321808"/>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Để xác định giao tuyến của hai mặt phẳng, ta tìm </a:t>
            </a:r>
            <a:r>
              <a:rPr sz="2000" b="1">
                <a:solidFill>
                  <a:srgbClr val="1E293B"/>
                </a:solidFill>
                <a:latin typeface="Calibri"/>
              </a:rPr>
              <a:t>hai điểm chung</a:t>
            </a:r>
            <a:r>
              <a:rPr sz="2000">
                <a:solidFill>
                  <a:srgbClr val="1E293B"/>
                </a:solidFill>
                <a:latin typeface="Calibri"/>
              </a:rPr>
              <a:t> của hai mặt phẳng đó.</a:t>
            </a:r>
          </a:p>
        </p:txBody>
      </p:sp>
      <p:pic>
        <p:nvPicPr>
          <p:cNvPr id="15" name="Picture 14" descr="h47.png"/>
          <p:cNvPicPr>
            <a:picLocks noChangeAspect="1"/>
          </p:cNvPicPr>
          <p:nvPr/>
        </p:nvPicPr>
        <p:blipFill>
          <a:blip r:embed="rId3"/>
          <a:stretch>
            <a:fillRect/>
          </a:stretch>
        </p:blipFill>
        <p:spPr>
          <a:xfrm>
            <a:off x="8595360" y="1485747"/>
            <a:ext cx="3108960" cy="2149146"/>
          </a:xfrm>
          <a:prstGeom prst="rect">
            <a:avLst/>
          </a:prstGeom>
        </p:spPr>
      </p:pic>
      <p:sp>
        <p:nvSpPr>
          <p:cNvPr id="16" name="TextBox 15"/>
          <p:cNvSpPr txBox="1"/>
          <p:nvPr/>
        </p:nvSpPr>
        <p:spPr>
          <a:xfrm>
            <a:off x="8595360" y="3675887"/>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16</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Cả lớp giơ thẻ Đ / S trong 10 giây cho mỗi câu.</a:t>
            </a:r>
          </a:p>
        </p:txBody>
      </p:sp>
      <p:sp>
        <p:nvSpPr>
          <p:cNvPr id="8" name="TextBox 7"/>
          <p:cNvSpPr txBox="1"/>
          <p:nvPr/>
        </p:nvSpPr>
        <p:spPr>
          <a:xfrm>
            <a:off x="548640" y="1828800"/>
            <a:ext cx="8229600" cy="822959"/>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Qua ba điểm phân biệt luôn có duy nhất một mặt phẳng.</a:t>
            </a:r>
          </a:p>
        </p:txBody>
      </p:sp>
      <p:sp>
        <p:nvSpPr>
          <p:cNvPr id="9" name="s1_nen"/>
          <p:cNvSpPr/>
          <p:nvPr/>
        </p:nvSpPr>
        <p:spPr>
          <a:xfrm>
            <a:off x="8961120" y="1828800"/>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961120" y="1883664"/>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(cần không thẳng hàng)</a:t>
            </a:r>
          </a:p>
        </p:txBody>
      </p:sp>
      <p:sp>
        <p:nvSpPr>
          <p:cNvPr id="11" name="TextBox 10"/>
          <p:cNvSpPr txBox="1"/>
          <p:nvPr/>
        </p:nvSpPr>
        <p:spPr>
          <a:xfrm>
            <a:off x="548640" y="2697480"/>
            <a:ext cx="8229600" cy="822959"/>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Qua hai điểm phân biệt có một và chỉ một đường thẳng.</a:t>
            </a:r>
          </a:p>
        </p:txBody>
      </p:sp>
      <p:sp>
        <p:nvSpPr>
          <p:cNvPr id="12" name="s2_nen"/>
          <p:cNvSpPr/>
          <p:nvPr/>
        </p:nvSpPr>
        <p:spPr>
          <a:xfrm>
            <a:off x="8961120" y="2697480"/>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961120" y="2752344"/>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4" name="TextBox 13"/>
              <p:cNvSpPr txBox="1"/>
              <p:nvPr/>
            </p:nvSpPr>
            <p:spPr>
              <a:xfrm>
                <a:off x="548640" y="3566160"/>
                <a:ext cx="8229600" cy="822959"/>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Đường thẳng có hai điểm phân biệt thuộc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 thì nằm trong </a:t>
                </a:r>
                <a14:m>
                  <m:oMath xmlns:m="http://schemas.openxmlformats.org/officeDocument/2006/math">
                    <m:d>
                      <m:dPr>
                        <m:sepChr m:val=""/>
                      </m:dPr>
                      <m:e>
                        <m:r>
                          <a:rPr lang="vi-VN" sz="2100" b="0">
                            <a:solidFill>
                              <a:srgbClr val="1E293B"/>
                            </a:solidFill>
                            <a:latin typeface="Cambria Math" panose="02040503050406030204" pitchFamily="18" charset="0"/>
                          </a:rPr>
                          <m:t>P</m:t>
                        </m:r>
                      </m:e>
                    </m:d>
                  </m:oMath>
                </a14:m>
                <a:r>
                  <a:rPr sz="2100">
                    <a:solidFill>
                      <a:srgbClr val="1E293B"/>
                    </a:solidFill>
                    <a:latin typeface="Calibri"/>
                  </a:rPr>
                  <a:t>.</a:t>
                </a:r>
              </a:p>
            </p:txBody>
          </p:sp>
        </mc:Choice>
        <mc:Fallback>
          <p:sp>
            <p:nvSpPr>
              <p:cNvPr id="14" name="TextBox 13"/>
              <p:cNvSpPr txBox="1"/>
              <p:nvPr/>
            </p:nvSpPr>
            <p:spPr>
              <a:xfrm>
                <a:off x="548640" y="3566160"/>
                <a:ext cx="8229600" cy="822959"/>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Đường thẳng có hai điểm phân biệt thuộc </a:t>
                </a:r>
                <a:r>
                  <a:rPr lang="vi-VN"/>
                  <a:t>(P)</a:t>
                </a:r>
                <a:r>
                  <a:rPr sz="2100">
                    <a:solidFill>
                      <a:srgbClr val="1E293B"/>
                    </a:solidFill>
                    <a:latin typeface="Calibri"/>
                  </a:rPr>
                  <a:t> thì nằm trong </a:t>
                </a:r>
                <a:r>
                  <a:rPr lang="vi-VN"/>
                  <a:t>(P)</a:t>
                </a:r>
                <a:r>
                  <a:rPr sz="2100">
                    <a:solidFill>
                      <a:srgbClr val="1E293B"/>
                    </a:solidFill>
                    <a:latin typeface="Calibri"/>
                  </a:rPr>
                  <a:t>.</a:t>
                </a:r>
              </a:p>
            </p:txBody>
          </p:sp>
        </mc:Fallback>
      </mc:AlternateContent>
      <p:sp>
        <p:nvSpPr>
          <p:cNvPr id="15" name="s3_nen"/>
          <p:cNvSpPr/>
          <p:nvPr/>
        </p:nvSpPr>
        <p:spPr>
          <a:xfrm>
            <a:off x="8961120" y="3566160"/>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961120" y="3621024"/>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p:sp>
        <p:nvSpPr>
          <p:cNvPr id="17" name="TextBox 16"/>
          <p:cNvSpPr txBox="1"/>
          <p:nvPr/>
        </p:nvSpPr>
        <p:spPr>
          <a:xfrm>
            <a:off x="548640" y="4434840"/>
            <a:ext cx="8229600" cy="822959"/>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Hai mặt phẳng phân biệt có một điểm chung thì chỉ có duy nhất điểm chung đó.</a:t>
            </a:r>
          </a:p>
        </p:txBody>
      </p:sp>
      <p:sp>
        <p:nvSpPr>
          <p:cNvPr id="18" name="s4_nen"/>
          <p:cNvSpPr/>
          <p:nvPr/>
        </p:nvSpPr>
        <p:spPr>
          <a:xfrm>
            <a:off x="8961120" y="4434840"/>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961120" y="4489703"/>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(chung một đường thẳng)</a:t>
            </a:r>
          </a:p>
        </p:txBody>
      </p:sp>
      <p:sp>
        <p:nvSpPr>
          <p:cNvPr id="20" name="TextBox 19"/>
          <p:cNvSpPr txBox="1"/>
          <p:nvPr/>
        </p:nvSpPr>
        <p:spPr>
          <a:xfrm>
            <a:off x="548640" y="5303520"/>
            <a:ext cx="8229600" cy="822959"/>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5.</a:t>
            </a:r>
            <a:r>
              <a:rPr sz="2100">
                <a:solidFill>
                  <a:srgbClr val="1E293B"/>
                </a:solidFill>
                <a:latin typeface="Calibri"/>
              </a:rPr>
              <a:t> Mặt phẳng có bề dày rất mỏng.</a:t>
            </a:r>
          </a:p>
        </p:txBody>
      </p:sp>
      <p:sp>
        <p:nvSpPr>
          <p:cNvPr id="21" name="s5_nen"/>
          <p:cNvSpPr/>
          <p:nvPr/>
        </p:nvSpPr>
        <p:spPr>
          <a:xfrm>
            <a:off x="8961120" y="5303520"/>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5_chu"/>
          <p:cNvSpPr txBox="1"/>
          <p:nvPr/>
        </p:nvSpPr>
        <p:spPr>
          <a:xfrm>
            <a:off x="8961120" y="5358383"/>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(không có bề dày)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17</a:t>
            </a:r>
          </a:p>
        </p:txBody>
      </p:sp>
      <p:sp>
        <p:nvSpPr>
          <p:cNvPr id="7" name="Rounded Rectangle 6"/>
          <p:cNvSpPr/>
          <p:nvPr/>
        </p:nvSpPr>
        <p:spPr>
          <a:xfrm>
            <a:off x="548640" y="1463040"/>
            <a:ext cx="11064240" cy="237744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230428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Mặt phẳng; kí hiệu </a:t>
                </a:r>
                <a14:m>
                  <m:oMath xmlns:m="http://schemas.openxmlformats.org/officeDocument/2006/math">
                    <m:r>
                      <a:rPr lang="vi-VN" sz="2200" b="0">
                        <a:solidFill>
                          <a:srgbClr val="1E293B"/>
                        </a:solidFill>
                        <a:latin typeface="Cambria Math" panose="02040503050406030204" pitchFamily="18" charset="0"/>
                      </a:rPr>
                      <m:t>A∈(P)</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B∉(P)</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d⊂(P)</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d=(P)∩(Q)</m:t>
                    </m:r>
                  </m:oMath>
                </a14:m>
                <a:r>
                  <a:rPr sz="2200">
                    <a:solidFill>
                      <a:srgbClr val="1E293B"/>
                    </a:solidFill>
                    <a:latin typeface="Calibri"/>
                  </a:rPr>
                  <a:t>; quy tắc vẽ hình biểu diễn (nét khuất: nét đứt).</a:t>
                </a:r>
              </a:p>
              <a:p>
                <a:pPr algn="l" marL="365760" indent="-365760">
                  <a:spcAft>
                    <a:spcPts val="800"/>
                  </a:spcAft>
                  <a:buClr>
                    <a:srgbClr val="1E40AF"/>
                  </a:buClr>
                  <a:buFont typeface="Arial"/>
                  <a:buChar char="•"/>
                </a:pPr>
                <a:r>
                  <a:rPr sz="2200">
                    <a:solidFill>
                      <a:srgbClr val="1E293B"/>
                    </a:solidFill>
                    <a:latin typeface="Calibri"/>
                  </a:rPr>
                  <a:t>Năm tính chất thừa nhận: hai điểm → một đường thẳng; ba điểm không thẳng hàng → một mặt phẳng; tồn tại bốn điểm không đồng phẳng; hai điểm thuộc </a:t>
                </a:r>
                <a14:m>
                  <m:oMath xmlns:m="http://schemas.openxmlformats.org/officeDocument/2006/math">
                    <m:d>
                      <m:dPr>
                        <m:sepChr m:val=""/>
                      </m:dPr>
                      <m:e>
                        <m:r>
                          <a:rPr lang="vi-VN" sz="2200" b="0">
                            <a:solidFill>
                              <a:srgbClr val="1E293B"/>
                            </a:solidFill>
                            <a:latin typeface="Cambria Math" panose="02040503050406030204" pitchFamily="18" charset="0"/>
                          </a:rPr>
                          <m:t>P</m:t>
                        </m:r>
                      </m:e>
                    </m:d>
                  </m:oMath>
                </a14:m>
                <a:r>
                  <a:rPr sz="2200">
                    <a:solidFill>
                      <a:srgbClr val="1E293B"/>
                    </a:solidFill>
                    <a:latin typeface="Calibri"/>
                  </a:rPr>
                  <a:t> → cả đường thẳng thuộc </a:t>
                </a:r>
                <a14:m>
                  <m:oMath xmlns:m="http://schemas.openxmlformats.org/officeDocument/2006/math">
                    <m:d>
                      <m:dPr>
                        <m:sepChr m:val=""/>
                      </m:dPr>
                      <m:e>
                        <m:r>
                          <a:rPr lang="vi-VN" sz="2200" b="0">
                            <a:solidFill>
                              <a:srgbClr val="1E293B"/>
                            </a:solidFill>
                            <a:latin typeface="Cambria Math" panose="02040503050406030204" pitchFamily="18" charset="0"/>
                          </a:rPr>
                          <m:t>P</m:t>
                        </m:r>
                      </m:e>
                    </m:d>
                  </m:oMath>
                </a14:m>
                <a:r>
                  <a:rPr sz="2200">
                    <a:solidFill>
                      <a:srgbClr val="1E293B"/>
                    </a:solidFill>
                    <a:latin typeface="Calibri"/>
                  </a:rPr>
                  <a:t>; hai mặt phẳng phân biệt có điểm chung → giao tuyến.</a:t>
                </a:r>
              </a:p>
            </p:txBody>
          </p:sp>
        </mc:Choice>
        <mc:Fallback>
          <p:sp>
            <p:nvSpPr>
              <p:cNvPr id="8" name="TextBox 7"/>
              <p:cNvSpPr txBox="1"/>
              <p:nvPr/>
            </p:nvSpPr>
            <p:spPr>
              <a:xfrm>
                <a:off x="713232" y="1499616"/>
                <a:ext cx="10735056" cy="230428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Mặt phẳng; kí hiệu </a:t>
                </a:r>
                <a:r>
                  <a:rPr lang="vi-VN"/>
                  <a:t>A\in (P)</a:t>
                </a:r>
                <a:r>
                  <a:rPr sz="2200">
                    <a:solidFill>
                      <a:srgbClr val="1E293B"/>
                    </a:solidFill>
                    <a:latin typeface="Calibri"/>
                  </a:rPr>
                  <a:t>, </a:t>
                </a:r>
                <a:r>
                  <a:rPr lang="vi-VN"/>
                  <a:t>B\notin (P)</a:t>
                </a:r>
                <a:r>
                  <a:rPr sz="2200">
                    <a:solidFill>
                      <a:srgbClr val="1E293B"/>
                    </a:solidFill>
                    <a:latin typeface="Calibri"/>
                  </a:rPr>
                  <a:t>, </a:t>
                </a:r>
                <a:r>
                  <a:rPr lang="vi-VN"/>
                  <a:t>d\subset (P)</a:t>
                </a:r>
                <a:r>
                  <a:rPr sz="2200">
                    <a:solidFill>
                      <a:srgbClr val="1E293B"/>
                    </a:solidFill>
                    <a:latin typeface="Calibri"/>
                  </a:rPr>
                  <a:t>, </a:t>
                </a:r>
                <a:r>
                  <a:rPr lang="vi-VN"/>
                  <a:t>d=(P)\cap (Q)</a:t>
                </a:r>
                <a:r>
                  <a:rPr sz="2200">
                    <a:solidFill>
                      <a:srgbClr val="1E293B"/>
                    </a:solidFill>
                    <a:latin typeface="Calibri"/>
                  </a:rPr>
                  <a:t>; quy tắc vẽ hình biểu diễn (nét khuất: nét đứt).</a:t>
                </a:r>
              </a:p>
              <a:p>
                <a:pPr algn="l" marL="365760" indent="-365760">
                  <a:spcAft>
                    <a:spcPts val="800"/>
                  </a:spcAft>
                  <a:buClr>
                    <a:srgbClr val="1E40AF"/>
                  </a:buClr>
                  <a:buFont typeface="Arial"/>
                  <a:buChar char="•"/>
                </a:pPr>
                <a:r>
                  <a:rPr sz="2200">
                    <a:solidFill>
                      <a:srgbClr val="1E293B"/>
                    </a:solidFill>
                    <a:latin typeface="Calibri"/>
                  </a:rPr>
                  <a:t>Năm tính chất thừa nhận: hai điểm → một đường thẳng; ba điểm không thẳng hàng → một mặt phẳng; tồn tại bốn điểm không đồng phẳng; hai điểm thuộc </a:t>
                </a:r>
                <a:r>
                  <a:rPr lang="vi-VN"/>
                  <a:t>(P)</a:t>
                </a:r>
                <a:r>
                  <a:rPr sz="2200">
                    <a:solidFill>
                      <a:srgbClr val="1E293B"/>
                    </a:solidFill>
                    <a:latin typeface="Calibri"/>
                  </a:rPr>
                  <a:t> → cả đường thẳng thuộc </a:t>
                </a:r>
                <a:r>
                  <a:rPr lang="vi-VN"/>
                  <a:t>(P)</a:t>
                </a:r>
                <a:r>
                  <a:rPr sz="2200">
                    <a:solidFill>
                      <a:srgbClr val="1E293B"/>
                    </a:solidFill>
                    <a:latin typeface="Calibri"/>
                  </a:rPr>
                  <a:t>; hai mặt phẳng phân biệt có điểm chung → giao tuyến.</a:t>
                </a:r>
              </a:p>
            </p:txBody>
          </p:sp>
        </mc:Fallback>
      </mc:AlternateContent>
      <p:sp>
        <p:nvSpPr>
          <p:cNvPr id="9" name="Rounded Rectangle 8"/>
          <p:cNvSpPr/>
          <p:nvPr/>
        </p:nvSpPr>
        <p:spPr>
          <a:xfrm>
            <a:off x="548640" y="406908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410565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4.1, 4.3 (SGK tr.77).</a:t>
            </a:r>
          </a:p>
          <a:p>
            <a:pPr algn="l" marL="365760" indent="-365760">
              <a:spcAft>
                <a:spcPts val="800"/>
              </a:spcAft>
              <a:buClr>
                <a:srgbClr val="1E40AF"/>
              </a:buClr>
              <a:buFont typeface="Arial"/>
              <a:buChar char="•"/>
            </a:pPr>
            <a:r>
              <a:rPr sz="2200">
                <a:solidFill>
                  <a:srgbClr val="1E293B"/>
                </a:solidFill>
                <a:latin typeface="Calibri"/>
              </a:rPr>
              <a:t>Mỗi nhóm làm 1 mô hình tứ diện, 1 hình chóp tứ giác bằng que tre, đất nặn.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(T27)</a:t>
            </a:r>
          </a:p>
          <a:p>
            <a:pPr>
              <a:spcAft>
                <a:spcPts val="600"/>
              </a:spcAft>
            </a:pPr>
            <a:r>
              <a:rPr sz="4000" b="1">
                <a:solidFill>
                  <a:srgbClr val="FFFFFF"/>
                </a:solidFill>
                <a:latin typeface="Cambria"/>
              </a:rPr>
              <a:t>Cách xác định mặt phẳng. Hình chóp, hình tứ diện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Xác định giao tuyến của hai mặt phẳng; mô tả ba cách xác định mặt phẳng.</a:t>
            </a:r>
          </a:p>
          <a:p>
            <a:pPr algn="l">
              <a:spcAft>
                <a:spcPts val="800"/>
              </a:spcAft>
            </a:pPr>
            <a:r>
              <a:rPr sz="2200">
                <a:solidFill>
                  <a:srgbClr val="E0E7FF"/>
                </a:solidFill>
                <a:latin typeface="Calibri"/>
              </a:rPr>
              <a:t>• Nhận biết hình chóp, hình tứ diện; xác định giao điểm của đường thẳng và mặt phẳng.</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(SGK TR.74)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22960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3.</a:t>
                </a:r>
                <a:r>
                  <a:rPr sz="2000">
                    <a:solidFill>
                      <a:srgbClr val="1E293B"/>
                    </a:solidFill>
                    <a:latin typeface="Calibri"/>
                  </a:rPr>
                  <a:t> Cho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và một điểm </a:t>
                </a:r>
                <a14:m>
                  <m:oMath xmlns:m="http://schemas.openxmlformats.org/officeDocument/2006/math">
                    <m:r>
                      <a:rPr lang="vi-VN" sz="2000" b="0">
                        <a:solidFill>
                          <a:srgbClr val="1E293B"/>
                        </a:solidFill>
                        <a:latin typeface="Cambria Math" panose="02040503050406030204" pitchFamily="18" charset="0"/>
                      </a:rPr>
                      <m:t>S</m:t>
                    </m:r>
                  </m:oMath>
                </a14:m>
                <a:r>
                  <a:rPr sz="2000">
                    <a:solidFill>
                      <a:srgbClr val="1E293B"/>
                    </a:solidFill>
                    <a:latin typeface="Calibri"/>
                  </a:rPr>
                  <a:t> không thuộc </a:t>
                </a:r>
                <a14:m>
                  <m:oMath xmlns:m="http://schemas.openxmlformats.org/officeDocument/2006/math">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C</m:t>
                        </m:r>
                      </m:e>
                    </m:d>
                  </m:oMath>
                </a14:m>
                <a:r>
                  <a:rPr sz="2000">
                    <a:solidFill>
                      <a:srgbClr val="1E293B"/>
                    </a:solidFill>
                    <a:latin typeface="Calibri"/>
                  </a:rPr>
                  <a:t>. Gọi </a:t>
                </a:r>
                <a14:m>
                  <m:oMath xmlns:m="http://schemas.openxmlformats.org/officeDocument/2006/math">
                    <m:r>
                      <a:rPr lang="vi-VN" sz="2000" b="0">
                        <a:solidFill>
                          <a:srgbClr val="1E293B"/>
                        </a:solidFill>
                        <a:latin typeface="Cambria Math" panose="02040503050406030204" pitchFamily="18" charset="0"/>
                      </a:rPr>
                      <m:t>M,</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N</m:t>
                    </m:r>
                  </m:oMath>
                </a14:m>
                <a:r>
                  <a:rPr sz="2000">
                    <a:solidFill>
                      <a:srgbClr val="1E293B"/>
                    </a:solidFill>
                    <a:latin typeface="Calibri"/>
                  </a:rPr>
                  <a:t> lần lượt là trung điểm của </a:t>
                </a:r>
                <a14:m>
                  <m:oMath xmlns:m="http://schemas.openxmlformats.org/officeDocument/2006/math">
                    <m:r>
                      <a:rPr lang="vi-VN" sz="2000" b="0">
                        <a:solidFill>
                          <a:srgbClr val="1E293B"/>
                        </a:solidFill>
                        <a:latin typeface="Cambria Math" panose="02040503050406030204" pitchFamily="18" charset="0"/>
                      </a:rPr>
                      <m:t>AB,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AC</m:t>
                    </m:r>
                  </m:oMath>
                </a14:m>
                <a:r>
                  <a:rPr sz="2000">
                    <a:solidFill>
                      <a:srgbClr val="1E293B"/>
                    </a:solidFill>
                    <a:latin typeface="Calibri"/>
                  </a:rPr>
                  <a:t> (H.4.8). a) Chỉ ra một điểm chung của hai mặt phẳng </a:t>
                </a:r>
                <a14:m>
                  <m:oMath xmlns:m="http://schemas.openxmlformats.org/officeDocument/2006/math">
                    <m:d>
                      <m:dPr>
                        <m:sepChr m:val=""/>
                      </m:dPr>
                      <m:e>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N</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C</m:t>
                        </m:r>
                        <m:r>
                          <a:rPr lang="vi-VN" sz="2000" b="0">
                            <a:solidFill>
                              <a:srgbClr val="1E293B"/>
                            </a:solidFill>
                            <a:latin typeface="Cambria Math" panose="02040503050406030204" pitchFamily="18" charset="0"/>
                          </a:rPr>
                          <m:t>M</m:t>
                        </m:r>
                      </m:e>
                    </m:d>
                  </m:oMath>
                </a14:m>
                <a:r>
                  <a:rPr sz="2000">
                    <a:solidFill>
                      <a:srgbClr val="1E293B"/>
                    </a:solidFill>
                    <a:latin typeface="Calibri"/>
                  </a:rPr>
                  <a:t> và khác </a:t>
                </a:r>
                <a14:m>
                  <m:oMath xmlns:m="http://schemas.openxmlformats.org/officeDocument/2006/math">
                    <m:r>
                      <a:rPr lang="vi-VN" sz="2000" b="0">
                        <a:solidFill>
                          <a:srgbClr val="1E293B"/>
                        </a:solidFill>
                        <a:latin typeface="Cambria Math" panose="02040503050406030204" pitchFamily="18" charset="0"/>
                      </a:rPr>
                      <m:t>S</m:t>
                    </m:r>
                  </m:oMath>
                </a14:m>
                <a:r>
                  <a:rPr sz="2000">
                    <a:solidFill>
                      <a:srgbClr val="1E293B"/>
                    </a:solidFill>
                    <a:latin typeface="Calibri"/>
                  </a:rPr>
                  <a:t>. b) Giao tuyến của </a:t>
                </a:r>
                <a14:m>
                  <m:oMath xmlns:m="http://schemas.openxmlformats.org/officeDocument/2006/math">
                    <m:d>
                      <m:dPr>
                        <m:sepChr m:val=""/>
                      </m:dPr>
                      <m:e>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N</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C</m:t>
                        </m:r>
                        <m:r>
                          <a:rPr lang="vi-VN" sz="2000" b="0">
                            <a:solidFill>
                              <a:srgbClr val="1E293B"/>
                            </a:solidFill>
                            <a:latin typeface="Cambria Math" panose="02040503050406030204" pitchFamily="18" charset="0"/>
                          </a:rPr>
                          <m:t>M</m:t>
                        </m:r>
                      </m:e>
                    </m:d>
                  </m:oMath>
                </a14:m>
                <a:r>
                  <a:rPr sz="2000">
                    <a:solidFill>
                      <a:srgbClr val="1E293B"/>
                    </a:solidFill>
                    <a:latin typeface="Calibri"/>
                  </a:rPr>
                  <a:t> có đi qua trọng tâm của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hay không?</a:t>
                </a:r>
              </a:p>
            </p:txBody>
          </p:sp>
        </mc:Choice>
        <mc:Fallback>
          <p:sp>
            <p:nvSpPr>
              <p:cNvPr id="7" name="TextBox 6"/>
              <p:cNvSpPr txBox="1"/>
              <p:nvPr/>
            </p:nvSpPr>
            <p:spPr>
              <a:xfrm>
                <a:off x="548640" y="1371600"/>
                <a:ext cx="822960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3.</a:t>
                </a:r>
                <a:r>
                  <a:rPr sz="2000">
                    <a:solidFill>
                      <a:srgbClr val="1E293B"/>
                    </a:solidFill>
                    <a:latin typeface="Calibri"/>
                  </a:rPr>
                  <a:t> Cho tam giác </a:t>
                </a:r>
                <a:r>
                  <a:rPr lang="vi-VN"/>
                  <a:t>ABC</a:t>
                </a:r>
                <a:r>
                  <a:rPr sz="2000">
                    <a:solidFill>
                      <a:srgbClr val="1E293B"/>
                    </a:solidFill>
                    <a:latin typeface="Calibri"/>
                  </a:rPr>
                  <a:t> và một điểm </a:t>
                </a:r>
                <a:r>
                  <a:rPr lang="vi-VN"/>
                  <a:t>S</a:t>
                </a:r>
                <a:r>
                  <a:rPr sz="2000">
                    <a:solidFill>
                      <a:srgbClr val="1E293B"/>
                    </a:solidFill>
                    <a:latin typeface="Calibri"/>
                  </a:rPr>
                  <a:t> không thuộc </a:t>
                </a:r>
                <a:r>
                  <a:rPr lang="vi-VN"/>
                  <a:t>(ABC)</a:t>
                </a:r>
                <a:r>
                  <a:rPr sz="2000">
                    <a:solidFill>
                      <a:srgbClr val="1E293B"/>
                    </a:solidFill>
                    <a:latin typeface="Calibri"/>
                  </a:rPr>
                  <a:t>. Gọi </a:t>
                </a:r>
                <a:r>
                  <a:rPr lang="vi-VN"/>
                  <a:t>M,\ N</a:t>
                </a:r>
                <a:r>
                  <a:rPr sz="2000">
                    <a:solidFill>
                      <a:srgbClr val="1E293B"/>
                    </a:solidFill>
                    <a:latin typeface="Calibri"/>
                  </a:rPr>
                  <a:t> lần lượt là trung điểm của </a:t>
                </a:r>
                <a:r>
                  <a:rPr lang="vi-VN"/>
                  <a:t>AB,\ AC</a:t>
                </a:r>
                <a:r>
                  <a:rPr sz="2000">
                    <a:solidFill>
                      <a:srgbClr val="1E293B"/>
                    </a:solidFill>
                    <a:latin typeface="Calibri"/>
                  </a:rPr>
                  <a:t> (H.4.8). a) Chỉ ra một điểm chung của hai mặt phẳng </a:t>
                </a:r>
                <a:r>
                  <a:rPr lang="vi-VN"/>
                  <a:t>(SBN),\ (SCM)</a:t>
                </a:r>
                <a:r>
                  <a:rPr sz="2000">
                    <a:solidFill>
                      <a:srgbClr val="1E293B"/>
                    </a:solidFill>
                    <a:latin typeface="Calibri"/>
                  </a:rPr>
                  <a:t> và khác </a:t>
                </a:r>
                <a:r>
                  <a:rPr lang="vi-VN"/>
                  <a:t>S</a:t>
                </a:r>
                <a:r>
                  <a:rPr sz="2000">
                    <a:solidFill>
                      <a:srgbClr val="1E293B"/>
                    </a:solidFill>
                    <a:latin typeface="Calibri"/>
                  </a:rPr>
                  <a:t>. b) Giao tuyến của </a:t>
                </a:r>
                <a:r>
                  <a:rPr lang="vi-VN"/>
                  <a:t>(SBN)</a:t>
                </a:r>
                <a:r>
                  <a:rPr sz="2000">
                    <a:solidFill>
                      <a:srgbClr val="1E293B"/>
                    </a:solidFill>
                    <a:latin typeface="Calibri"/>
                  </a:rPr>
                  <a:t> và </a:t>
                </a:r>
                <a:r>
                  <a:rPr lang="vi-VN"/>
                  <a:t>(SCM)</a:t>
                </a:r>
                <a:r>
                  <a:rPr sz="2000">
                    <a:solidFill>
                      <a:srgbClr val="1E293B"/>
                    </a:solidFill>
                    <a:latin typeface="Calibri"/>
                  </a:rPr>
                  <a:t> có đi qua trọng tâm của tam giác </a:t>
                </a:r>
                <a:r>
                  <a:rPr lang="vi-VN"/>
                  <a:t>ABC</a:t>
                </a:r>
                <a:r>
                  <a:rPr sz="2000">
                    <a:solidFill>
                      <a:srgbClr val="1E293B"/>
                    </a:solidFill>
                    <a:latin typeface="Calibri"/>
                  </a:rPr>
                  <a:t> hay không?</a:t>
                </a:r>
              </a:p>
            </p:txBody>
          </p:sp>
        </mc:Fallback>
      </mc:AlternateContent>
      <p:sp>
        <p:nvSpPr>
          <p:cNvPr id="8" name="s1_nen"/>
          <p:cNvSpPr/>
          <p:nvPr/>
        </p:nvSpPr>
        <p:spPr>
          <a:xfrm>
            <a:off x="548640" y="3142488"/>
            <a:ext cx="822960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79064"/>
                <a:ext cx="79004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Trong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hai trung tuyến </a:t>
                </a:r>
                <a14:m>
                  <m:oMath xmlns:m="http://schemas.openxmlformats.org/officeDocument/2006/math">
                    <m:r>
                      <a:rPr lang="vi-VN" sz="2000" b="0">
                        <a:solidFill>
                          <a:srgbClr val="1E293B"/>
                        </a:solidFill>
                        <a:latin typeface="Cambria Math" panose="02040503050406030204" pitchFamily="18" charset="0"/>
                      </a:rPr>
                      <m:t>BN</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CM</m:t>
                    </m:r>
                  </m:oMath>
                </a14:m>
                <a:r>
                  <a:rPr sz="2000">
                    <a:solidFill>
                      <a:srgbClr val="1E293B"/>
                    </a:solidFill>
                    <a:latin typeface="Calibri"/>
                  </a:rPr>
                  <a:t> cắt nhau tại trọng tâm </a:t>
                </a:r>
                <a14:m>
                  <m:oMath xmlns:m="http://schemas.openxmlformats.org/officeDocument/2006/math">
                    <m:r>
                      <a:rPr lang="vi-VN" sz="2000" b="0">
                        <a:solidFill>
                          <a:srgbClr val="1E293B"/>
                        </a:solidFill>
                        <a:latin typeface="Cambria Math" panose="02040503050406030204" pitchFamily="18" charset="0"/>
                      </a:rPr>
                      <m:t>G</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G∈BN⊂(SBN)</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G∈CM⊂(SCM)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G</m:t>
                    </m:r>
                  </m:oMath>
                </a14:m>
                <a:r>
                  <a:rPr sz="2000">
                    <a:solidFill>
                      <a:srgbClr val="1E293B"/>
                    </a:solidFill>
                    <a:latin typeface="Calibri"/>
                  </a:rPr>
                  <a:t> là điểm chung.</a:t>
                </a:r>
              </a:p>
            </p:txBody>
          </p:sp>
        </mc:Choice>
        <mc:Fallback>
          <p:sp>
            <p:nvSpPr>
              <p:cNvPr id="9" name="TextBox 8"/>
              <p:cNvSpPr txBox="1"/>
              <p:nvPr/>
            </p:nvSpPr>
            <p:spPr>
              <a:xfrm>
                <a:off x="713232" y="3179064"/>
                <a:ext cx="79004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Trong tam giác </a:t>
                </a:r>
                <a:r>
                  <a:rPr lang="vi-VN"/>
                  <a:t>ABC</a:t>
                </a:r>
                <a:r>
                  <a:rPr sz="2000">
                    <a:solidFill>
                      <a:srgbClr val="1E293B"/>
                    </a:solidFill>
                    <a:latin typeface="Calibri"/>
                  </a:rPr>
                  <a:t>, hai trung tuyến </a:t>
                </a:r>
                <a:r>
                  <a:rPr lang="vi-VN"/>
                  <a:t>BN</a:t>
                </a:r>
                <a:r>
                  <a:rPr sz="2000">
                    <a:solidFill>
                      <a:srgbClr val="1E293B"/>
                    </a:solidFill>
                    <a:latin typeface="Calibri"/>
                  </a:rPr>
                  <a:t> và </a:t>
                </a:r>
                <a:r>
                  <a:rPr lang="vi-VN"/>
                  <a:t>CM</a:t>
                </a:r>
                <a:r>
                  <a:rPr sz="2000">
                    <a:solidFill>
                      <a:srgbClr val="1E293B"/>
                    </a:solidFill>
                    <a:latin typeface="Calibri"/>
                  </a:rPr>
                  <a:t> cắt nhau tại trọng tâm </a:t>
                </a:r>
                <a:r>
                  <a:rPr lang="vi-VN"/>
                  <a:t>G</a:t>
                </a:r>
                <a:r>
                  <a:rPr sz="2000">
                    <a:solidFill>
                      <a:srgbClr val="1E293B"/>
                    </a:solidFill>
                    <a:latin typeface="Calibri"/>
                  </a:rPr>
                  <a:t>. </a:t>
                </a:r>
                <a:r>
                  <a:rPr lang="vi-VN"/>
                  <a:t>G\in BN\subset (SBN)</a:t>
                </a:r>
                <a:r>
                  <a:rPr sz="2000">
                    <a:solidFill>
                      <a:srgbClr val="1E293B"/>
                    </a:solidFill>
                    <a:latin typeface="Calibri"/>
                  </a:rPr>
                  <a:t>, </a:t>
                </a:r>
                <a:r>
                  <a:rPr lang="vi-VN"/>
                  <a:t>G\in CM\subset (SCM)</a:t>
                </a:r>
                <a:r>
                  <a:rPr sz="2000">
                    <a:solidFill>
                      <a:srgbClr val="1E293B"/>
                    </a:solidFill>
                    <a:latin typeface="Calibri"/>
                  </a:rPr>
                  <a:t>: </a:t>
                </a:r>
                <a:r>
                  <a:rPr lang="vi-VN"/>
                  <a:t>G</a:t>
                </a:r>
                <a:r>
                  <a:rPr sz="2000">
                    <a:solidFill>
                      <a:srgbClr val="1E293B"/>
                    </a:solidFill>
                    <a:latin typeface="Calibri"/>
                  </a:rPr>
                  <a:t> là điểm chung.</a:t>
                </a:r>
              </a:p>
            </p:txBody>
          </p:sp>
        </mc:Fallback>
      </mc:AlternateContent>
      <p:sp>
        <p:nvSpPr>
          <p:cNvPr id="10" name="s2_nen"/>
          <p:cNvSpPr/>
          <p:nvPr/>
        </p:nvSpPr>
        <p:spPr>
          <a:xfrm>
            <a:off x="548640" y="4395216"/>
            <a:ext cx="82296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31792"/>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S,</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G</m:t>
                    </m:r>
                  </m:oMath>
                </a14:m>
                <a:r>
                  <a:rPr sz="2000">
                    <a:solidFill>
                      <a:srgbClr val="1E293B"/>
                    </a:solidFill>
                    <a:latin typeface="Calibri"/>
                  </a:rPr>
                  <a:t> là hai điểm chung nên </a:t>
                </a:r>
                <a14:m>
                  <m:oMath xmlns:m="http://schemas.openxmlformats.org/officeDocument/2006/math">
                    <m:r>
                      <a:rPr lang="vi-VN" sz="2000" b="0">
                        <a:solidFill>
                          <a:srgbClr val="1E293B"/>
                        </a:solidFill>
                        <a:latin typeface="Cambria Math" panose="02040503050406030204" pitchFamily="18" charset="0"/>
                      </a:rPr>
                      <m:t>(SBN)∩(SCM)=SG</m:t>
                    </m:r>
                  </m:oMath>
                </a14:m>
                <a:r>
                  <a:rPr sz="2000">
                    <a:solidFill>
                      <a:srgbClr val="1E293B"/>
                    </a:solidFill>
                    <a:latin typeface="Calibri"/>
                  </a:rPr>
                  <a:t> – đi qua trọng tâm </a:t>
                </a:r>
                <a14:m>
                  <m:oMath xmlns:m="http://schemas.openxmlformats.org/officeDocument/2006/math">
                    <m:r>
                      <a:rPr lang="vi-VN" sz="2000" b="0">
                        <a:solidFill>
                          <a:srgbClr val="1E293B"/>
                        </a:solidFill>
                        <a:latin typeface="Cambria Math" panose="02040503050406030204" pitchFamily="18" charset="0"/>
                      </a:rPr>
                      <m:t>G</m:t>
                    </m:r>
                  </m:oMath>
                </a14:m>
                <a:r>
                  <a:rPr sz="2000">
                    <a:solidFill>
                      <a:srgbClr val="1E293B"/>
                    </a:solidFill>
                    <a:latin typeface="Calibri"/>
                  </a:rPr>
                  <a:t> của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a:t>
                </a:r>
              </a:p>
            </p:txBody>
          </p:sp>
        </mc:Choice>
        <mc:Fallback>
          <p:sp>
            <p:nvSpPr>
              <p:cNvPr id="11" name="TextBox 10"/>
              <p:cNvSpPr txBox="1"/>
              <p:nvPr/>
            </p:nvSpPr>
            <p:spPr>
              <a:xfrm>
                <a:off x="713232" y="4431792"/>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S,\ G</a:t>
                </a:r>
                <a:r>
                  <a:rPr sz="2000">
                    <a:solidFill>
                      <a:srgbClr val="1E293B"/>
                    </a:solidFill>
                    <a:latin typeface="Calibri"/>
                  </a:rPr>
                  <a:t> là hai điểm chung nên </a:t>
                </a:r>
                <a:r>
                  <a:rPr lang="vi-VN"/>
                  <a:t>(SBN)\cap (SCM)=SG</a:t>
                </a:r>
                <a:r>
                  <a:rPr sz="2000">
                    <a:solidFill>
                      <a:srgbClr val="1E293B"/>
                    </a:solidFill>
                    <a:latin typeface="Calibri"/>
                  </a:rPr>
                  <a:t> – đi qua trọng tâm </a:t>
                </a:r>
                <a:r>
                  <a:rPr lang="vi-VN"/>
                  <a:t>G</a:t>
                </a:r>
                <a:r>
                  <a:rPr sz="2000">
                    <a:solidFill>
                      <a:srgbClr val="1E293B"/>
                    </a:solidFill>
                    <a:latin typeface="Calibri"/>
                  </a:rPr>
                  <a:t> của tam giác </a:t>
                </a:r>
                <a:r>
                  <a:rPr lang="vi-VN"/>
                  <a:t>ABC</a:t>
                </a:r>
                <a:r>
                  <a:rPr sz="2000">
                    <a:solidFill>
                      <a:srgbClr val="1E293B"/>
                    </a:solidFill>
                    <a:latin typeface="Calibri"/>
                  </a:rPr>
                  <a:t>.</a:t>
                </a:r>
              </a:p>
            </p:txBody>
          </p:sp>
        </mc:Fallback>
      </mc:AlternateContent>
      <p:sp>
        <p:nvSpPr>
          <p:cNvPr id="12" name="s3_nen"/>
          <p:cNvSpPr/>
          <p:nvPr/>
        </p:nvSpPr>
        <p:spPr>
          <a:xfrm>
            <a:off x="548640" y="5343144"/>
            <a:ext cx="8229600" cy="87477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5379720"/>
            <a:ext cx="790041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Tính chất 6.</a:t>
            </a:r>
            <a:r>
              <a:rPr sz="2000">
                <a:solidFill>
                  <a:srgbClr val="1E293B"/>
                </a:solidFill>
                <a:latin typeface="Calibri"/>
              </a:rPr>
              <a:t> Trên mỗi mặt phẳng, tất cả các kết quả đã biết trong hình học phẳng đều đúng.</a:t>
            </a:r>
          </a:p>
        </p:txBody>
      </p:sp>
      <p:pic>
        <p:nvPicPr>
          <p:cNvPr id="14" name="Picture 13" descr="h48.png"/>
          <p:cNvPicPr>
            <a:picLocks noChangeAspect="1"/>
          </p:cNvPicPr>
          <p:nvPr/>
        </p:nvPicPr>
        <p:blipFill>
          <a:blip r:embed="rId3"/>
          <a:stretch>
            <a:fillRect/>
          </a:stretch>
        </p:blipFill>
        <p:spPr>
          <a:xfrm>
            <a:off x="8961120" y="1490432"/>
            <a:ext cx="2743200" cy="2505536"/>
          </a:xfrm>
          <a:prstGeom prst="rect">
            <a:avLst/>
          </a:prstGeom>
        </p:spPr>
      </p:pic>
      <p:sp>
        <p:nvSpPr>
          <p:cNvPr id="15" name="TextBox 14"/>
          <p:cNvSpPr txBox="1"/>
          <p:nvPr/>
        </p:nvSpPr>
        <p:spPr>
          <a:xfrm>
            <a:off x="8961120" y="4041648"/>
            <a:ext cx="27432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3 (SGK TR.74)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22960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3.</a:t>
                </a:r>
                <a:r>
                  <a:rPr sz="2300">
                    <a:solidFill>
                      <a:srgbClr val="1E293B"/>
                    </a:solidFill>
                    <a:latin typeface="Calibri"/>
                  </a:rPr>
                  <a:t> Trong Ví dụ 3, hãy xác định giao tuyến của hai mặt phẳng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B</m:t>
                        </m:r>
                        <m:r>
                          <a:rPr lang="vi-VN" sz="2300" b="0">
                            <a:solidFill>
                              <a:srgbClr val="1E293B"/>
                            </a:solidFill>
                            <a:latin typeface="Cambria Math" panose="02040503050406030204" pitchFamily="18" charset="0"/>
                          </a:rPr>
                          <m:t>M</m:t>
                        </m:r>
                      </m:e>
                    </m:d>
                  </m:oMath>
                </a14:m>
                <a:r>
                  <a:rPr sz="2300">
                    <a:solidFill>
                      <a:srgbClr val="1E293B"/>
                    </a:solidFill>
                    <a:latin typeface="Calibri"/>
                  </a:rPr>
                  <a:t> và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C</m:t>
                        </m:r>
                        <m:r>
                          <a:rPr lang="vi-VN" sz="2300" b="0">
                            <a:solidFill>
                              <a:srgbClr val="1E293B"/>
                            </a:solidFill>
                            <a:latin typeface="Cambria Math" panose="02040503050406030204" pitchFamily="18" charset="0"/>
                          </a:rPr>
                          <m:t>N</m:t>
                        </m:r>
                      </m:e>
                    </m:d>
                  </m:oMath>
                </a14:m>
                <a:r>
                  <a:rPr sz="2300">
                    <a:solidFill>
                      <a:srgbClr val="1E293B"/>
                    </a:solidFill>
                    <a:latin typeface="Calibri"/>
                  </a:rPr>
                  <a:t>.</a:t>
                </a:r>
              </a:p>
            </p:txBody>
          </p:sp>
        </mc:Choice>
        <mc:Fallback>
          <p:sp>
            <p:nvSpPr>
              <p:cNvPr id="7" name="TextBox 6"/>
              <p:cNvSpPr txBox="1"/>
              <p:nvPr/>
            </p:nvSpPr>
            <p:spPr>
              <a:xfrm>
                <a:off x="548640" y="1371600"/>
                <a:ext cx="822960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3.</a:t>
                </a:r>
                <a:r>
                  <a:rPr sz="2300">
                    <a:solidFill>
                      <a:srgbClr val="1E293B"/>
                    </a:solidFill>
                    <a:latin typeface="Calibri"/>
                  </a:rPr>
                  <a:t> Trong Ví dụ 3, hãy xác định giao tuyến của hai mặt phẳng </a:t>
                </a:r>
                <a:r>
                  <a:rPr lang="vi-VN"/>
                  <a:t>(SBM)</a:t>
                </a:r>
                <a:r>
                  <a:rPr sz="2300">
                    <a:solidFill>
                      <a:srgbClr val="1E293B"/>
                    </a:solidFill>
                    <a:latin typeface="Calibri"/>
                  </a:rPr>
                  <a:t> và </a:t>
                </a:r>
                <a:r>
                  <a:rPr lang="vi-VN"/>
                  <a:t>(SCN)</a:t>
                </a:r>
                <a:r>
                  <a:rPr sz="2300">
                    <a:solidFill>
                      <a:srgbClr val="1E293B"/>
                    </a:solidFill>
                    <a:latin typeface="Calibri"/>
                  </a:rPr>
                  <a:t>.</a:t>
                </a:r>
              </a:p>
            </p:txBody>
          </p:sp>
        </mc:Fallback>
      </mc:AlternateContent>
      <p:sp>
        <p:nvSpPr>
          <p:cNvPr id="8" name="s1_nen"/>
          <p:cNvSpPr/>
          <p:nvPr/>
        </p:nvSpPr>
        <p:spPr>
          <a:xfrm>
            <a:off x="548640" y="2383536"/>
            <a:ext cx="8229600" cy="13167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20112"/>
                <a:ext cx="7900416" cy="124358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M∈AB</m:t>
                    </m:r>
                  </m:oMath>
                </a14:m>
                <a:r>
                  <a:rPr sz="2300">
                    <a:solidFill>
                      <a:srgbClr val="1E293B"/>
                    </a:solidFill>
                    <a:latin typeface="Calibri"/>
                  </a:rPr>
                  <a:t> nên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B</m:t>
                        </m:r>
                        <m:r>
                          <a:rPr lang="vi-VN" sz="2300" b="0">
                            <a:solidFill>
                              <a:srgbClr val="1E293B"/>
                            </a:solidFill>
                            <a:latin typeface="Cambria Math" panose="02040503050406030204" pitchFamily="18" charset="0"/>
                          </a:rPr>
                          <m:t>M</m:t>
                        </m:r>
                      </m:e>
                    </m:d>
                  </m:oMath>
                </a14:m>
                <a:r>
                  <a:rPr sz="2300">
                    <a:solidFill>
                      <a:srgbClr val="1E293B"/>
                    </a:solidFill>
                    <a:latin typeface="Calibri"/>
                  </a:rPr>
                  <a:t> chính là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A</m:t>
                        </m:r>
                        <m:r>
                          <a:rPr lang="vi-VN" sz="2300" b="0">
                            <a:solidFill>
                              <a:srgbClr val="1E293B"/>
                            </a:solidFill>
                            <a:latin typeface="Cambria Math" panose="02040503050406030204" pitchFamily="18" charset="0"/>
                          </a:rPr>
                          <m:t>B</m:t>
                        </m:r>
                      </m:e>
                    </m:d>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N∈AC</m:t>
                    </m:r>
                  </m:oMath>
                </a14:m>
                <a:r>
                  <a:rPr sz="2300">
                    <a:solidFill>
                      <a:srgbClr val="1E293B"/>
                    </a:solidFill>
                    <a:latin typeface="Calibri"/>
                  </a:rPr>
                  <a:t> nên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C</m:t>
                        </m:r>
                        <m:r>
                          <a:rPr lang="vi-VN" sz="2300" b="0">
                            <a:solidFill>
                              <a:srgbClr val="1E293B"/>
                            </a:solidFill>
                            <a:latin typeface="Cambria Math" panose="02040503050406030204" pitchFamily="18" charset="0"/>
                          </a:rPr>
                          <m:t>N</m:t>
                        </m:r>
                      </m:e>
                    </m:d>
                  </m:oMath>
                </a14:m>
                <a:r>
                  <a:rPr sz="2300">
                    <a:solidFill>
                      <a:srgbClr val="1E293B"/>
                    </a:solidFill>
                    <a:latin typeface="Calibri"/>
                  </a:rPr>
                  <a:t> chính là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A</m:t>
                        </m:r>
                        <m:r>
                          <a:rPr lang="vi-VN" sz="2300" b="0">
                            <a:solidFill>
                              <a:srgbClr val="1E293B"/>
                            </a:solidFill>
                            <a:latin typeface="Cambria Math" panose="02040503050406030204" pitchFamily="18" charset="0"/>
                          </a:rPr>
                          <m:t>C</m:t>
                        </m:r>
                      </m:e>
                    </m:d>
                  </m:oMath>
                </a14:m>
                <a:r>
                  <a:rPr sz="2300">
                    <a:solidFill>
                      <a:srgbClr val="1E293B"/>
                    </a:solidFill>
                    <a:latin typeface="Calibri"/>
                  </a:rPr>
                  <a:t>. Hai mặt phẳng có hai điểm chung </a:t>
                </a:r>
                <a14:m>
                  <m:oMath xmlns:m="http://schemas.openxmlformats.org/officeDocument/2006/math">
                    <m:r>
                      <a:rPr lang="vi-VN" sz="2300" b="0">
                        <a:solidFill>
                          <a:srgbClr val="1E293B"/>
                        </a:solidFill>
                        <a:latin typeface="Cambria Math" panose="02040503050406030204" pitchFamily="18" charset="0"/>
                      </a:rPr>
                      <m:t>S,</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A</m:t>
                    </m:r>
                  </m:oMath>
                </a14:m>
                <a:r>
                  <a:rPr sz="2300">
                    <a:solidFill>
                      <a:srgbClr val="1E293B"/>
                    </a:solidFill>
                    <a:latin typeface="Calibri"/>
                  </a:rPr>
                  <a:t> nên giao tuyến là đường thẳng </a:t>
                </a:r>
                <a14:m>
                  <m:oMath xmlns:m="http://schemas.openxmlformats.org/officeDocument/2006/math">
                    <m:r>
                      <a:rPr lang="vi-VN" sz="2300" b="0">
                        <a:solidFill>
                          <a:srgbClr val="1E293B"/>
                        </a:solidFill>
                        <a:latin typeface="Cambria Math" panose="02040503050406030204" pitchFamily="18" charset="0"/>
                      </a:rPr>
                      <m:t>SA</m:t>
                    </m:r>
                  </m:oMath>
                </a14:m>
                <a:r>
                  <a:rPr sz="2300">
                    <a:solidFill>
                      <a:srgbClr val="1E293B"/>
                    </a:solidFill>
                    <a:latin typeface="Calibri"/>
                  </a:rPr>
                  <a:t>.</a:t>
                </a:r>
              </a:p>
            </p:txBody>
          </p:sp>
        </mc:Choice>
        <mc:Fallback>
          <p:sp>
            <p:nvSpPr>
              <p:cNvPr id="9" name="TextBox 8"/>
              <p:cNvSpPr txBox="1"/>
              <p:nvPr/>
            </p:nvSpPr>
            <p:spPr>
              <a:xfrm>
                <a:off x="713232" y="2420112"/>
                <a:ext cx="7900416" cy="124358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M\in AB</a:t>
                </a:r>
                <a:r>
                  <a:rPr sz="2300">
                    <a:solidFill>
                      <a:srgbClr val="1E293B"/>
                    </a:solidFill>
                    <a:latin typeface="Calibri"/>
                  </a:rPr>
                  <a:t> nên </a:t>
                </a:r>
                <a:r>
                  <a:rPr lang="vi-VN"/>
                  <a:t>(SBM)</a:t>
                </a:r>
                <a:r>
                  <a:rPr sz="2300">
                    <a:solidFill>
                      <a:srgbClr val="1E293B"/>
                    </a:solidFill>
                    <a:latin typeface="Calibri"/>
                  </a:rPr>
                  <a:t> chính là </a:t>
                </a:r>
                <a:r>
                  <a:rPr lang="vi-VN"/>
                  <a:t>(SAB)</a:t>
                </a:r>
                <a:r>
                  <a:rPr sz="2300">
                    <a:solidFill>
                      <a:srgbClr val="1E293B"/>
                    </a:solidFill>
                    <a:latin typeface="Calibri"/>
                  </a:rPr>
                  <a:t>; </a:t>
                </a:r>
                <a:r>
                  <a:rPr lang="vi-VN"/>
                  <a:t>N\in AC</a:t>
                </a:r>
                <a:r>
                  <a:rPr sz="2300">
                    <a:solidFill>
                      <a:srgbClr val="1E293B"/>
                    </a:solidFill>
                    <a:latin typeface="Calibri"/>
                  </a:rPr>
                  <a:t> nên </a:t>
                </a:r>
                <a:r>
                  <a:rPr lang="vi-VN"/>
                  <a:t>(SCN)</a:t>
                </a:r>
                <a:r>
                  <a:rPr sz="2300">
                    <a:solidFill>
                      <a:srgbClr val="1E293B"/>
                    </a:solidFill>
                    <a:latin typeface="Calibri"/>
                  </a:rPr>
                  <a:t> chính là </a:t>
                </a:r>
                <a:r>
                  <a:rPr lang="vi-VN"/>
                  <a:t>(SAC)</a:t>
                </a:r>
                <a:r>
                  <a:rPr sz="2300">
                    <a:solidFill>
                      <a:srgbClr val="1E293B"/>
                    </a:solidFill>
                    <a:latin typeface="Calibri"/>
                  </a:rPr>
                  <a:t>. Hai mặt phẳng có hai điểm chung </a:t>
                </a:r>
                <a:r>
                  <a:rPr lang="vi-VN"/>
                  <a:t>S,\ A</a:t>
                </a:r>
                <a:r>
                  <a:rPr sz="2300">
                    <a:solidFill>
                      <a:srgbClr val="1E293B"/>
                    </a:solidFill>
                    <a:latin typeface="Calibri"/>
                  </a:rPr>
                  <a:t> nên giao tuyến là đường thẳng </a:t>
                </a:r>
                <a:r>
                  <a:rPr lang="vi-VN"/>
                  <a:t>SA</a:t>
                </a:r>
                <a:r>
                  <a:rPr sz="2300">
                    <a:solidFill>
                      <a:srgbClr val="1E293B"/>
                    </a:solidFill>
                    <a:latin typeface="Calibri"/>
                  </a:rPr>
                  <a:t>.</a:t>
                </a:r>
              </a:p>
            </p:txBody>
          </p:sp>
        </mc:Fallback>
      </mc:AlternateContent>
      <p:pic>
        <p:nvPicPr>
          <p:cNvPr id="10" name="Picture 9" descr="h48.png"/>
          <p:cNvPicPr>
            <a:picLocks noChangeAspect="1"/>
          </p:cNvPicPr>
          <p:nvPr/>
        </p:nvPicPr>
        <p:blipFill>
          <a:blip r:embed="rId3"/>
          <a:stretch>
            <a:fillRect/>
          </a:stretch>
        </p:blipFill>
        <p:spPr>
          <a:xfrm>
            <a:off x="8961120" y="1490432"/>
            <a:ext cx="2743200" cy="2505536"/>
          </a:xfrm>
          <a:prstGeom prst="rect">
            <a:avLst/>
          </a:prstGeom>
        </p:spPr>
      </p:pic>
      <p:sp>
        <p:nvSpPr>
          <p:cNvPr id="11" name="TextBox 10"/>
          <p:cNvSpPr txBox="1"/>
          <p:nvPr/>
        </p:nvSpPr>
        <p:spPr>
          <a:xfrm>
            <a:off x="8961120" y="4041648"/>
            <a:ext cx="27432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3D – GIAO TUYẾN CỦA HAI MẶT PHẲNG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21</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Mặt phẳng </a:t>
                </a:r>
                <a14:m>
                  <m:oMath xmlns:m="http://schemas.openxmlformats.org/officeDocument/2006/math">
                    <m:d>
                      <m:dPr>
                        <m:sepChr m:val=""/>
                      </m:dPr>
                      <m:e>
                        <m:r>
                          <a:rPr lang="vi-VN" sz="2200" b="0">
                            <a:solidFill>
                              <a:srgbClr val="1E293B"/>
                            </a:solidFill>
                            <a:latin typeface="Cambria Math" panose="02040503050406030204" pitchFamily="18" charset="0"/>
                          </a:rPr>
                          <m:t>S</m:t>
                        </m:r>
                        <m:r>
                          <a:rPr lang="vi-VN" sz="2200" b="0">
                            <a:solidFill>
                              <a:srgbClr val="1E293B"/>
                            </a:solidFill>
                            <a:latin typeface="Cambria Math" panose="02040503050406030204" pitchFamily="18" charset="0"/>
                          </a:rPr>
                          <m:t>B</m:t>
                        </m:r>
                        <m:r>
                          <a:rPr lang="vi-VN" sz="2200" b="0">
                            <a:solidFill>
                              <a:srgbClr val="1E293B"/>
                            </a:solidFill>
                            <a:latin typeface="Cambria Math" panose="02040503050406030204" pitchFamily="18" charset="0"/>
                          </a:rPr>
                          <m:t>N</m:t>
                        </m:r>
                      </m:e>
                    </m:d>
                  </m:oMath>
                </a14:m>
                <a:r>
                  <a:rPr sz="2200">
                    <a:solidFill>
                      <a:srgbClr val="1E293B"/>
                    </a:solidFill>
                    <a:latin typeface="Calibri"/>
                  </a:rPr>
                  <a:t> màu hồng, </a:t>
                </a:r>
                <a14:m>
                  <m:oMath xmlns:m="http://schemas.openxmlformats.org/officeDocument/2006/math">
                    <m:d>
                      <m:dPr>
                        <m:sepChr m:val=""/>
                      </m:dPr>
                      <m:e>
                        <m:r>
                          <a:rPr lang="vi-VN" sz="2200" b="0">
                            <a:solidFill>
                              <a:srgbClr val="1E293B"/>
                            </a:solidFill>
                            <a:latin typeface="Cambria Math" panose="02040503050406030204" pitchFamily="18" charset="0"/>
                          </a:rPr>
                          <m:t>S</m:t>
                        </m:r>
                        <m:r>
                          <a:rPr lang="vi-VN" sz="2200" b="0">
                            <a:solidFill>
                              <a:srgbClr val="1E293B"/>
                            </a:solidFill>
                            <a:latin typeface="Cambria Math" panose="02040503050406030204" pitchFamily="18" charset="0"/>
                          </a:rPr>
                          <m:t>C</m:t>
                        </m:r>
                        <m:r>
                          <a:rPr lang="vi-VN" sz="2200" b="0">
                            <a:solidFill>
                              <a:srgbClr val="1E293B"/>
                            </a:solidFill>
                            <a:latin typeface="Cambria Math" panose="02040503050406030204" pitchFamily="18" charset="0"/>
                          </a:rPr>
                          <m:t>M</m:t>
                        </m:r>
                      </m:e>
                    </m:d>
                  </m:oMath>
                </a14:m>
                <a:r>
                  <a:rPr sz="2200">
                    <a:solidFill>
                      <a:srgbClr val="1E293B"/>
                    </a:solidFill>
                    <a:latin typeface="Calibri"/>
                  </a:rPr>
                  <a:t> màu xanh.</a:t>
                </a:r>
              </a:p>
              <a:p>
                <a:pPr algn="l" marL="365760" indent="-365760">
                  <a:spcAft>
                    <a:spcPts val="800"/>
                  </a:spcAft>
                  <a:buClr>
                    <a:srgbClr val="1E40AF"/>
                  </a:buClr>
                  <a:buFont typeface="Arial"/>
                  <a:buChar char="•"/>
                </a:pPr>
                <a:r>
                  <a:rPr sz="2200">
                    <a:solidFill>
                      <a:srgbClr val="1E293B"/>
                    </a:solidFill>
                    <a:latin typeface="Calibri"/>
                  </a:rPr>
                  <a:t>Hai điểm chung </a:t>
                </a:r>
                <a14:m>
                  <m:oMath xmlns:m="http://schemas.openxmlformats.org/officeDocument/2006/math">
                    <m:r>
                      <a:rPr lang="vi-VN" sz="2200" b="0">
                        <a:solidFill>
                          <a:srgbClr val="1E293B"/>
                        </a:solidFill>
                        <a:latin typeface="Cambria Math" panose="02040503050406030204" pitchFamily="18" charset="0"/>
                      </a:rPr>
                      <m:t>S</m:t>
                    </m:r>
                  </m:oMath>
                </a14:m>
                <a:r>
                  <a:rPr sz="2200">
                    <a:solidFill>
                      <a:srgbClr val="1E293B"/>
                    </a:solidFill>
                    <a:latin typeface="Calibri"/>
                  </a:rPr>
                  <a:t> và trọng tâm </a:t>
                </a: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 ⇒ giao tuyến </a:t>
                </a:r>
                <a14:m>
                  <m:oMath xmlns:m="http://schemas.openxmlformats.org/officeDocument/2006/math">
                    <m:r>
                      <a:rPr lang="vi-VN" sz="2200" b="0">
                        <a:solidFill>
                          <a:srgbClr val="1E293B"/>
                        </a:solidFill>
                        <a:latin typeface="Cambria Math" panose="02040503050406030204" pitchFamily="18" charset="0"/>
                      </a:rPr>
                      <m:t>SG</m:t>
                    </m:r>
                  </m:oMath>
                </a14:m>
                <a:r>
                  <a:rPr sz="2200">
                    <a:solidFill>
                      <a:srgbClr val="1E293B"/>
                    </a:solidFill>
                    <a:latin typeface="Calibri"/>
                  </a:rPr>
                  <a:t> (đỏ).</a:t>
                </a:r>
              </a:p>
              <a:p>
                <a:pPr algn="l" marL="365760" indent="-365760">
                  <a:spcAft>
                    <a:spcPts val="800"/>
                  </a:spcAft>
                  <a:buClr>
                    <a:srgbClr val="1E40AF"/>
                  </a:buClr>
                  <a:buFont typeface="Arial"/>
                  <a:buChar char="•"/>
                </a:pPr>
                <a:r>
                  <a:rPr sz="2200">
                    <a:solidFill>
                      <a:srgbClr val="1E293B"/>
                    </a:solidFill>
                    <a:latin typeface="Calibri"/>
                  </a:rPr>
                  <a:t>Kéo điểm </a:t>
                </a:r>
                <a14:m>
                  <m:oMath xmlns:m="http://schemas.openxmlformats.org/officeDocument/2006/math">
                    <m:r>
                      <a:rPr lang="vi-VN" sz="2200" b="0">
                        <a:solidFill>
                          <a:srgbClr val="1E293B"/>
                        </a:solidFill>
                        <a:latin typeface="Cambria Math" panose="02040503050406030204" pitchFamily="18" charset="0"/>
                      </a:rPr>
                      <m:t>S</m:t>
                    </m:r>
                  </m:oMath>
                </a14:m>
                <a:r>
                  <a:rPr sz="2200">
                    <a:solidFill>
                      <a:srgbClr val="1E293B"/>
                    </a:solidFill>
                    <a:latin typeface="Calibri"/>
                  </a:rPr>
                  <a:t>, xoay hình: giao tuyến luôn đi qua </a:t>
                </a: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Mặt phẳng </a:t>
                </a:r>
                <a:r>
                  <a:rPr lang="vi-VN"/>
                  <a:t>(SBN)</a:t>
                </a:r>
                <a:r>
                  <a:rPr sz="2200">
                    <a:solidFill>
                      <a:srgbClr val="1E293B"/>
                    </a:solidFill>
                    <a:latin typeface="Calibri"/>
                  </a:rPr>
                  <a:t> màu hồng, </a:t>
                </a:r>
                <a:r>
                  <a:rPr lang="vi-VN"/>
                  <a:t>(SCM)</a:t>
                </a:r>
                <a:r>
                  <a:rPr sz="2200">
                    <a:solidFill>
                      <a:srgbClr val="1E293B"/>
                    </a:solidFill>
                    <a:latin typeface="Calibri"/>
                  </a:rPr>
                  <a:t> màu xanh.</a:t>
                </a:r>
              </a:p>
              <a:p>
                <a:pPr algn="l" marL="365760" indent="-365760">
                  <a:spcAft>
                    <a:spcPts val="800"/>
                  </a:spcAft>
                  <a:buClr>
                    <a:srgbClr val="1E40AF"/>
                  </a:buClr>
                  <a:buFont typeface="Arial"/>
                  <a:buChar char="•"/>
                </a:pPr>
                <a:r>
                  <a:rPr sz="2200">
                    <a:solidFill>
                      <a:srgbClr val="1E293B"/>
                    </a:solidFill>
                    <a:latin typeface="Calibri"/>
                  </a:rPr>
                  <a:t>Hai điểm chung </a:t>
                </a:r>
                <a:r>
                  <a:rPr lang="vi-VN"/>
                  <a:t>S</a:t>
                </a:r>
                <a:r>
                  <a:rPr sz="2200">
                    <a:solidFill>
                      <a:srgbClr val="1E293B"/>
                    </a:solidFill>
                    <a:latin typeface="Calibri"/>
                  </a:rPr>
                  <a:t> và trọng tâm </a:t>
                </a:r>
                <a:r>
                  <a:rPr lang="vi-VN"/>
                  <a:t>G</a:t>
                </a:r>
                <a:r>
                  <a:rPr sz="2200">
                    <a:solidFill>
                      <a:srgbClr val="1E293B"/>
                    </a:solidFill>
                    <a:latin typeface="Calibri"/>
                  </a:rPr>
                  <a:t> ⇒ giao tuyến </a:t>
                </a:r>
                <a:r>
                  <a:rPr lang="vi-VN"/>
                  <a:t>SG</a:t>
                </a:r>
                <a:r>
                  <a:rPr sz="2200">
                    <a:solidFill>
                      <a:srgbClr val="1E293B"/>
                    </a:solidFill>
                    <a:latin typeface="Calibri"/>
                  </a:rPr>
                  <a:t> (đỏ).</a:t>
                </a:r>
              </a:p>
              <a:p>
                <a:pPr algn="l" marL="365760" indent="-365760">
                  <a:spcAft>
                    <a:spcPts val="800"/>
                  </a:spcAft>
                  <a:buClr>
                    <a:srgbClr val="1E40AF"/>
                  </a:buClr>
                  <a:buFont typeface="Arial"/>
                  <a:buChar char="•"/>
                </a:pPr>
                <a:r>
                  <a:rPr sz="2200">
                    <a:solidFill>
                      <a:srgbClr val="1E293B"/>
                    </a:solidFill>
                    <a:latin typeface="Calibri"/>
                  </a:rPr>
                  <a:t>Kéo điểm </a:t>
                </a:r>
                <a:r>
                  <a:rPr lang="vi-VN"/>
                  <a:t>S</a:t>
                </a:r>
                <a:r>
                  <a:rPr sz="2200">
                    <a:solidFill>
                      <a:srgbClr val="1E293B"/>
                    </a:solidFill>
                    <a:latin typeface="Calibri"/>
                  </a:rPr>
                  <a:t>, xoay hình: giao tuyến luôn đi qua </a:t>
                </a:r>
                <a:r>
                  <a:rPr lang="vi-VN"/>
                  <a:t>G</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8.png"/>
          <p:cNvPicPr>
            <a:picLocks noChangeAspect="1"/>
          </p:cNvPicPr>
          <p:nvPr/>
        </p:nvPicPr>
        <p:blipFill>
          <a:blip r:embed="rId5"/>
          <a:stretch>
            <a:fillRect/>
          </a:stretch>
        </p:blipFill>
        <p:spPr>
          <a:xfrm>
            <a:off x="6858000" y="1490096"/>
            <a:ext cx="4846320" cy="442644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3. CÁCH XÁC ĐỊNH MỘT MẶT PHẲNG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04672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HĐ6.</a:t>
                </a:r>
                <a:r>
                  <a:rPr sz="2100">
                    <a:solidFill>
                      <a:srgbClr val="1E293B"/>
                    </a:solidFill>
                    <a:latin typeface="Calibri"/>
                  </a:rPr>
                  <a:t> Cho đường thẳng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và điểm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không thuộc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Trên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lấy hai điểm phân biệt </a:t>
                </a:r>
                <a14:m>
                  <m:oMath xmlns:m="http://schemas.openxmlformats.org/officeDocument/2006/math">
                    <m:r>
                      <a:rPr lang="vi-VN" sz="2100" b="0">
                        <a:solidFill>
                          <a:srgbClr val="1E293B"/>
                        </a:solidFill>
                        <a:latin typeface="Cambria Math" panose="02040503050406030204" pitchFamily="18" charset="0"/>
                      </a:rPr>
                      <m:t>B,</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C</m:t>
                    </m:r>
                  </m:oMath>
                </a14:m>
                <a:r>
                  <a:rPr sz="2100">
                    <a:solidFill>
                      <a:srgbClr val="1E293B"/>
                    </a:solidFill>
                    <a:latin typeface="Calibri"/>
                  </a:rPr>
                  <a:t> (H.4.9). Mặt phẳng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có chứa điểm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đường thẳng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hay không? Mặt phẳng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e>
                    </m:d>
                  </m:oMath>
                </a14:m>
                <a:r>
                  <a:rPr sz="2100">
                    <a:solidFill>
                      <a:srgbClr val="1E293B"/>
                    </a:solidFill>
                    <a:latin typeface="Calibri"/>
                  </a:rPr>
                  <a:t> có chứa hai đường thẳng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BC</m:t>
                    </m:r>
                  </m:oMath>
                </a14:m>
                <a:r>
                  <a:rPr sz="2100">
                    <a:solidFill>
                      <a:srgbClr val="1E293B"/>
                    </a:solidFill>
                    <a:latin typeface="Calibri"/>
                  </a:rPr>
                  <a:t> hay không?</a:t>
                </a:r>
              </a:p>
            </p:txBody>
          </p:sp>
        </mc:Choice>
        <mc:Fallback>
          <p:sp>
            <p:nvSpPr>
              <p:cNvPr id="7" name="TextBox 6"/>
              <p:cNvSpPr txBox="1"/>
              <p:nvPr/>
            </p:nvSpPr>
            <p:spPr>
              <a:xfrm>
                <a:off x="548640" y="1371600"/>
                <a:ext cx="804672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HĐ6.</a:t>
                </a:r>
                <a:r>
                  <a:rPr sz="2100">
                    <a:solidFill>
                      <a:srgbClr val="1E293B"/>
                    </a:solidFill>
                    <a:latin typeface="Calibri"/>
                  </a:rPr>
                  <a:t> Cho đường thẳng </a:t>
                </a:r>
                <a:r>
                  <a:rPr lang="vi-VN"/>
                  <a:t>d</a:t>
                </a:r>
                <a:r>
                  <a:rPr sz="2100">
                    <a:solidFill>
                      <a:srgbClr val="1E293B"/>
                    </a:solidFill>
                    <a:latin typeface="Calibri"/>
                  </a:rPr>
                  <a:t> và điểm </a:t>
                </a:r>
                <a:r>
                  <a:rPr lang="vi-VN"/>
                  <a:t>A</a:t>
                </a:r>
                <a:r>
                  <a:rPr sz="2100">
                    <a:solidFill>
                      <a:srgbClr val="1E293B"/>
                    </a:solidFill>
                    <a:latin typeface="Calibri"/>
                  </a:rPr>
                  <a:t> không thuộc </a:t>
                </a:r>
                <a:r>
                  <a:rPr lang="vi-VN"/>
                  <a:t>d</a:t>
                </a:r>
                <a:r>
                  <a:rPr sz="2100">
                    <a:solidFill>
                      <a:srgbClr val="1E293B"/>
                    </a:solidFill>
                    <a:latin typeface="Calibri"/>
                  </a:rPr>
                  <a:t>. Trên </a:t>
                </a:r>
                <a:r>
                  <a:rPr lang="vi-VN"/>
                  <a:t>d</a:t>
                </a:r>
                <a:r>
                  <a:rPr sz="2100">
                    <a:solidFill>
                      <a:srgbClr val="1E293B"/>
                    </a:solidFill>
                    <a:latin typeface="Calibri"/>
                  </a:rPr>
                  <a:t> lấy hai điểm phân biệt </a:t>
                </a:r>
                <a:r>
                  <a:rPr lang="vi-VN"/>
                  <a:t>B,\ C</a:t>
                </a:r>
                <a:r>
                  <a:rPr sz="2100">
                    <a:solidFill>
                      <a:srgbClr val="1E293B"/>
                    </a:solidFill>
                    <a:latin typeface="Calibri"/>
                  </a:rPr>
                  <a:t> (H.4.9). Mặt phẳng </a:t>
                </a:r>
                <a:r>
                  <a:rPr lang="vi-VN"/>
                  <a:t>(ABC)</a:t>
                </a:r>
                <a:r>
                  <a:rPr sz="2100">
                    <a:solidFill>
                      <a:srgbClr val="1E293B"/>
                    </a:solidFill>
                    <a:latin typeface="Calibri"/>
                  </a:rPr>
                  <a:t> có chứa điểm </a:t>
                </a:r>
                <a:r>
                  <a:rPr lang="vi-VN"/>
                  <a:t>A</a:t>
                </a:r>
                <a:r>
                  <a:rPr sz="2100">
                    <a:solidFill>
                      <a:srgbClr val="1E293B"/>
                    </a:solidFill>
                    <a:latin typeface="Calibri"/>
                  </a:rPr>
                  <a:t> và đường thẳng </a:t>
                </a:r>
                <a:r>
                  <a:rPr lang="vi-VN"/>
                  <a:t>d</a:t>
                </a:r>
                <a:r>
                  <a:rPr sz="2100">
                    <a:solidFill>
                      <a:srgbClr val="1E293B"/>
                    </a:solidFill>
                    <a:latin typeface="Calibri"/>
                  </a:rPr>
                  <a:t> hay không? Mặt phẳng </a:t>
                </a:r>
                <a:r>
                  <a:rPr lang="vi-VN"/>
                  <a:t>(ABC)</a:t>
                </a:r>
                <a:r>
                  <a:rPr sz="2100">
                    <a:solidFill>
                      <a:srgbClr val="1E293B"/>
                    </a:solidFill>
                    <a:latin typeface="Calibri"/>
                  </a:rPr>
                  <a:t> có chứa hai đường thẳng </a:t>
                </a:r>
                <a:r>
                  <a:rPr lang="vi-VN"/>
                  <a:t>AB</a:t>
                </a:r>
                <a:r>
                  <a:rPr sz="2100">
                    <a:solidFill>
                      <a:srgbClr val="1E293B"/>
                    </a:solidFill>
                    <a:latin typeface="Calibri"/>
                  </a:rPr>
                  <a:t> và </a:t>
                </a:r>
                <a:r>
                  <a:rPr lang="vi-VN"/>
                  <a:t>BC</a:t>
                </a:r>
                <a:r>
                  <a:rPr sz="2100">
                    <a:solidFill>
                      <a:srgbClr val="1E293B"/>
                    </a:solidFill>
                    <a:latin typeface="Calibri"/>
                  </a:rPr>
                  <a:t> hay không?</a:t>
                </a:r>
              </a:p>
            </p:txBody>
          </p:sp>
        </mc:Fallback>
      </mc:AlternateContent>
      <p:sp>
        <p:nvSpPr>
          <p:cNvPr id="8" name="s1_nen"/>
          <p:cNvSpPr/>
          <p:nvPr/>
        </p:nvSpPr>
        <p:spPr>
          <a:xfrm>
            <a:off x="548640" y="2916936"/>
            <a:ext cx="804672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953512"/>
            <a:ext cx="771753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có.</a:t>
            </a:r>
          </a:p>
        </p:txBody>
      </p:sp>
      <p:sp>
        <p:nvSpPr>
          <p:cNvPr id="10" name="s2_nen"/>
          <p:cNvSpPr/>
          <p:nvPr/>
        </p:nvSpPr>
        <p:spPr>
          <a:xfrm>
            <a:off x="548640" y="3593592"/>
            <a:ext cx="8046720" cy="248716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30168"/>
                <a:ext cx="7717536" cy="2414015"/>
              </a:xfrm>
              <a:prstGeom prst="rect">
                <a:avLst/>
              </a:prstGeom>
              <a:noFill/>
            </p:spPr>
            <p:txBody>
              <a:bodyPr wrap="square" anchor="ctr" lIns="45720" rIns="45720">
                <a:spAutoFit/>
              </a:bodyPr>
              <a:lstStyle/>
              <a:p>
                <a:pPr algn="l">
                  <a:spcAft>
                    <a:spcPts val="800"/>
                  </a:spcAft>
                </a:pPr>
                <a:r>
                  <a:rPr sz="2100">
                    <a:solidFill>
                      <a:srgbClr val="1E293B"/>
                    </a:solidFill>
                    <a:latin typeface="Calibri"/>
                  </a:rPr>
                  <a:t>Một mặt phẳng được hoàn toàn xác định khi biết:</a:t>
                </a:r>
              </a:p>
              <a:p>
                <a:pPr algn="l">
                  <a:spcAft>
                    <a:spcPts val="800"/>
                  </a:spcAft>
                </a:pPr>
                <a:r>
                  <a:rPr sz="2100">
                    <a:solidFill>
                      <a:srgbClr val="1E293B"/>
                    </a:solidFill>
                    <a:latin typeface="Calibri"/>
                  </a:rPr>
                  <a:t>• nó đi qua </a:t>
                </a:r>
                <a:r>
                  <a:rPr sz="2100" b="1">
                    <a:solidFill>
                      <a:srgbClr val="1E293B"/>
                    </a:solidFill>
                    <a:latin typeface="Calibri"/>
                  </a:rPr>
                  <a:t>ba điểm không thẳng hàng</a:t>
                </a:r>
                <a:r>
                  <a:rPr sz="2100">
                    <a:solidFill>
                      <a:srgbClr val="1E293B"/>
                    </a:solidFill>
                    <a:latin typeface="Calibri"/>
                  </a:rPr>
                  <a:t>;</a:t>
                </a:r>
              </a:p>
              <a:p>
                <a:pPr algn="l">
                  <a:spcAft>
                    <a:spcPts val="800"/>
                  </a:spcAft>
                </a:pPr>
                <a:r>
                  <a:rPr sz="2100">
                    <a:solidFill>
                      <a:srgbClr val="1E293B"/>
                    </a:solidFill>
                    <a:latin typeface="Calibri"/>
                  </a:rPr>
                  <a:t>• nó đi qua </a:t>
                </a:r>
                <a:r>
                  <a:rPr sz="2100" b="1">
                    <a:solidFill>
                      <a:srgbClr val="1E293B"/>
                    </a:solidFill>
                    <a:latin typeface="Calibri"/>
                  </a:rPr>
                  <a:t>một điểm và chứa một đường thẳng</a:t>
                </a:r>
                <a:r>
                  <a:rPr sz="2100">
                    <a:solidFill>
                      <a:srgbClr val="1E293B"/>
                    </a:solidFill>
                    <a:latin typeface="Calibri"/>
                  </a:rPr>
                  <a:t> không đi qua điểm đó – kí hiệu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d)</m:t>
                    </m:r>
                  </m:oMath>
                </a14:m>
                <a:r>
                  <a:rPr sz="2100">
                    <a:solidFill>
                      <a:srgbClr val="1E293B"/>
                    </a:solidFill>
                    <a:latin typeface="Calibri"/>
                  </a:rPr>
                  <a:t>;</a:t>
                </a:r>
              </a:p>
              <a:p>
                <a:pPr algn="l">
                  <a:spcAft>
                    <a:spcPts val="800"/>
                  </a:spcAft>
                </a:pPr>
                <a:r>
                  <a:rPr sz="2100">
                    <a:solidFill>
                      <a:srgbClr val="1E293B"/>
                    </a:solidFill>
                    <a:latin typeface="Calibri"/>
                  </a:rPr>
                  <a:t>• nó chứa </a:t>
                </a:r>
                <a:r>
                  <a:rPr sz="2100" b="1">
                    <a:solidFill>
                      <a:srgbClr val="1E293B"/>
                    </a:solidFill>
                    <a:latin typeface="Calibri"/>
                  </a:rPr>
                  <a:t>hai đường thẳng cắt nhau</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 kí hiệu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a:t>
                </a:r>
              </a:p>
            </p:txBody>
          </p:sp>
        </mc:Choice>
        <mc:Fallback>
          <p:sp>
            <p:nvSpPr>
              <p:cNvPr id="11" name="TextBox 10"/>
              <p:cNvSpPr txBox="1"/>
              <p:nvPr/>
            </p:nvSpPr>
            <p:spPr>
              <a:xfrm>
                <a:off x="713232" y="3630168"/>
                <a:ext cx="7717536" cy="2414015"/>
              </a:xfrm>
              <a:prstGeom prst="rect">
                <a:avLst/>
              </a:prstGeom>
              <a:noFill/>
            </p:spPr>
            <p:txBody>
              <a:bodyPr wrap="square" anchor="ctr" lIns="45720" rIns="45720">
                <a:spAutoFit/>
              </a:bodyPr>
              <a:lstStyle/>
              <a:p>
                <a:pPr algn="l">
                  <a:spcAft>
                    <a:spcPts val="800"/>
                  </a:spcAft>
                </a:pPr>
                <a:r>
                  <a:rPr sz="2100">
                    <a:solidFill>
                      <a:srgbClr val="1E293B"/>
                    </a:solidFill>
                    <a:latin typeface="Calibri"/>
                  </a:rPr>
                  <a:t>Một mặt phẳng được hoàn toàn xác định khi biết:</a:t>
                </a:r>
              </a:p>
              <a:p>
                <a:pPr algn="l">
                  <a:spcAft>
                    <a:spcPts val="800"/>
                  </a:spcAft>
                </a:pPr>
                <a:r>
                  <a:rPr sz="2100">
                    <a:solidFill>
                      <a:srgbClr val="1E293B"/>
                    </a:solidFill>
                    <a:latin typeface="Calibri"/>
                  </a:rPr>
                  <a:t>• nó đi qua </a:t>
                </a:r>
                <a:r>
                  <a:rPr sz="2100" b="1">
                    <a:solidFill>
                      <a:srgbClr val="1E293B"/>
                    </a:solidFill>
                    <a:latin typeface="Calibri"/>
                  </a:rPr>
                  <a:t>ba điểm không thẳng hàng</a:t>
                </a:r>
                <a:r>
                  <a:rPr sz="2100">
                    <a:solidFill>
                      <a:srgbClr val="1E293B"/>
                    </a:solidFill>
                    <a:latin typeface="Calibri"/>
                  </a:rPr>
                  <a:t>;</a:t>
                </a:r>
              </a:p>
              <a:p>
                <a:pPr algn="l">
                  <a:spcAft>
                    <a:spcPts val="800"/>
                  </a:spcAft>
                </a:pPr>
                <a:r>
                  <a:rPr sz="2100">
                    <a:solidFill>
                      <a:srgbClr val="1E293B"/>
                    </a:solidFill>
                    <a:latin typeface="Calibri"/>
                  </a:rPr>
                  <a:t>• nó đi qua </a:t>
                </a:r>
                <a:r>
                  <a:rPr sz="2100" b="1">
                    <a:solidFill>
                      <a:srgbClr val="1E293B"/>
                    </a:solidFill>
                    <a:latin typeface="Calibri"/>
                  </a:rPr>
                  <a:t>một điểm và chứa một đường thẳng</a:t>
                </a:r>
                <a:r>
                  <a:rPr sz="2100">
                    <a:solidFill>
                      <a:srgbClr val="1E293B"/>
                    </a:solidFill>
                    <a:latin typeface="Calibri"/>
                  </a:rPr>
                  <a:t> không đi qua điểm đó – kí hiệu </a:t>
                </a:r>
                <a:r>
                  <a:rPr lang="vi-VN"/>
                  <a:t>\mathrm{mp}(A,\ d)</a:t>
                </a:r>
                <a:r>
                  <a:rPr sz="2100">
                    <a:solidFill>
                      <a:srgbClr val="1E293B"/>
                    </a:solidFill>
                    <a:latin typeface="Calibri"/>
                  </a:rPr>
                  <a:t>;</a:t>
                </a:r>
              </a:p>
              <a:p>
                <a:pPr algn="l">
                  <a:spcAft>
                    <a:spcPts val="800"/>
                  </a:spcAft>
                </a:pPr>
                <a:r>
                  <a:rPr sz="2100">
                    <a:solidFill>
                      <a:srgbClr val="1E293B"/>
                    </a:solidFill>
                    <a:latin typeface="Calibri"/>
                  </a:rPr>
                  <a:t>• nó chứa </a:t>
                </a:r>
                <a:r>
                  <a:rPr sz="2100" b="1">
                    <a:solidFill>
                      <a:srgbClr val="1E293B"/>
                    </a:solidFill>
                    <a:latin typeface="Calibri"/>
                  </a:rPr>
                  <a:t>hai đường thẳng cắt nhau</a:t>
                </a:r>
                <a:r>
                  <a:rPr sz="2100">
                    <a:solidFill>
                      <a:srgbClr val="1E293B"/>
                    </a:solidFill>
                    <a:latin typeface="Calibri"/>
                  </a:rPr>
                  <a:t> </a:t>
                </a:r>
                <a:r>
                  <a:rPr lang="vi-VN"/>
                  <a:t>a,\ b</a:t>
                </a:r>
                <a:r>
                  <a:rPr sz="2100">
                    <a:solidFill>
                      <a:srgbClr val="1E293B"/>
                    </a:solidFill>
                    <a:latin typeface="Calibri"/>
                  </a:rPr>
                  <a:t> – kí hiệu </a:t>
                </a:r>
                <a:r>
                  <a:rPr lang="vi-VN"/>
                  <a:t>\mathrm{mp}(a,\ b)</a:t>
                </a:r>
                <a:r>
                  <a:rPr sz="2100">
                    <a:solidFill>
                      <a:srgbClr val="1E293B"/>
                    </a:solidFill>
                    <a:latin typeface="Calibri"/>
                  </a:rPr>
                  <a:t>.</a:t>
                </a:r>
              </a:p>
            </p:txBody>
          </p:sp>
        </mc:Fallback>
      </mc:AlternateContent>
      <p:pic>
        <p:nvPicPr>
          <p:cNvPr id="12" name="Picture 11" descr="h49.png"/>
          <p:cNvPicPr>
            <a:picLocks noChangeAspect="1"/>
          </p:cNvPicPr>
          <p:nvPr/>
        </p:nvPicPr>
        <p:blipFill>
          <a:blip r:embed="rId3"/>
          <a:stretch>
            <a:fillRect/>
          </a:stretch>
        </p:blipFill>
        <p:spPr>
          <a:xfrm>
            <a:off x="8778240" y="1661546"/>
            <a:ext cx="2926080" cy="1157468"/>
          </a:xfrm>
          <a:prstGeom prst="rect">
            <a:avLst/>
          </a:prstGeom>
        </p:spPr>
      </p:pic>
      <p:sp>
        <p:nvSpPr>
          <p:cNvPr id="13" name="TextBox 12"/>
          <p:cNvSpPr txBox="1"/>
          <p:nvPr/>
        </p:nvSpPr>
        <p:spPr>
          <a:xfrm>
            <a:off x="8778240" y="2852928"/>
            <a:ext cx="29260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 LUYỆN TẬP 4 (SGK TR.75)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22960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4.</a:t>
                </a:r>
                <a:r>
                  <a:rPr sz="2100">
                    <a:solidFill>
                      <a:srgbClr val="1E293B"/>
                    </a:solidFill>
                    <a:latin typeface="Calibri"/>
                  </a:rPr>
                  <a:t> Cho hai đường thẳng cắt nhau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S</m:t>
                    </m:r>
                  </m:oMath>
                </a14:m>
                <a:r>
                  <a:rPr sz="2100">
                    <a:solidFill>
                      <a:srgbClr val="1E293B"/>
                    </a:solidFill>
                    <a:latin typeface="Calibri"/>
                  </a:rPr>
                  <a:t> là một điểm không thuộc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(H.4.10). Xác định giao tuyến của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m:t>
                    </m:r>
                  </m:oMath>
                </a14:m>
                <a:r>
                  <a:rPr sz="2100">
                    <a:solidFill>
                      <a:srgbClr val="1E293B"/>
                    </a:solidFill>
                    <a:latin typeface="Calibri"/>
                  </a:rPr>
                  <a:t> và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a:t>
                </a:r>
              </a:p>
            </p:txBody>
          </p:sp>
        </mc:Choice>
        <mc:Fallback>
          <p:sp>
            <p:nvSpPr>
              <p:cNvPr id="7" name="TextBox 6"/>
              <p:cNvSpPr txBox="1"/>
              <p:nvPr/>
            </p:nvSpPr>
            <p:spPr>
              <a:xfrm>
                <a:off x="548640" y="1371600"/>
                <a:ext cx="822960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4.</a:t>
                </a:r>
                <a:r>
                  <a:rPr sz="2100">
                    <a:solidFill>
                      <a:srgbClr val="1E293B"/>
                    </a:solidFill>
                    <a:latin typeface="Calibri"/>
                  </a:rPr>
                  <a:t> Cho hai đường thẳng cắt nhau </a:t>
                </a:r>
                <a:r>
                  <a:rPr lang="vi-VN"/>
                  <a:t>a,\ b</a:t>
                </a:r>
                <a:r>
                  <a:rPr sz="2100">
                    <a:solidFill>
                      <a:srgbClr val="1E293B"/>
                    </a:solidFill>
                    <a:latin typeface="Calibri"/>
                  </a:rPr>
                  <a:t> và </a:t>
                </a:r>
                <a:r>
                  <a:rPr lang="vi-VN"/>
                  <a:t>S</a:t>
                </a:r>
                <a:r>
                  <a:rPr sz="2100">
                    <a:solidFill>
                      <a:srgbClr val="1E293B"/>
                    </a:solidFill>
                    <a:latin typeface="Calibri"/>
                  </a:rPr>
                  <a:t> là một điểm không thuộc </a:t>
                </a:r>
                <a:r>
                  <a:rPr lang="vi-VN"/>
                  <a:t>\mathrm{mp}(a,\ b)</a:t>
                </a:r>
                <a:r>
                  <a:rPr sz="2100">
                    <a:solidFill>
                      <a:srgbClr val="1E293B"/>
                    </a:solidFill>
                    <a:latin typeface="Calibri"/>
                  </a:rPr>
                  <a:t> (H.4.10). Xác định giao tuyến của </a:t>
                </a:r>
                <a:r>
                  <a:rPr lang="vi-VN"/>
                  <a:t>\mathrm{mp}(S,\ a)</a:t>
                </a:r>
                <a:r>
                  <a:rPr sz="2100">
                    <a:solidFill>
                      <a:srgbClr val="1E293B"/>
                    </a:solidFill>
                    <a:latin typeface="Calibri"/>
                  </a:rPr>
                  <a:t> và </a:t>
                </a:r>
                <a:r>
                  <a:rPr lang="vi-VN"/>
                  <a:t>\mathrm{mp}(S,\ b)</a:t>
                </a:r>
                <a:r>
                  <a:rPr sz="2100">
                    <a:solidFill>
                      <a:srgbClr val="1E293B"/>
                    </a:solidFill>
                    <a:latin typeface="Calibri"/>
                  </a:rPr>
                  <a:t>.</a:t>
                </a:r>
              </a:p>
            </p:txBody>
          </p:sp>
        </mc:Fallback>
      </mc:AlternateContent>
      <p:sp>
        <p:nvSpPr>
          <p:cNvPr id="8" name="s1_nen"/>
          <p:cNvSpPr/>
          <p:nvPr/>
        </p:nvSpPr>
        <p:spPr>
          <a:xfrm>
            <a:off x="548640" y="2578608"/>
            <a:ext cx="822960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15184"/>
                <a:ext cx="790041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Gọi </a:t>
                </a:r>
                <a14:m>
                  <m:oMath xmlns:m="http://schemas.openxmlformats.org/officeDocument/2006/math">
                    <m:r>
                      <a:rPr lang="vi-VN" sz="2100" b="0">
                        <a:solidFill>
                          <a:srgbClr val="1E293B"/>
                        </a:solidFill>
                        <a:latin typeface="Cambria Math" panose="02040503050406030204" pitchFamily="18" charset="0"/>
                      </a:rPr>
                      <m:t>M=a∩b</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M∈a</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M∈</m:t>
                    </m:r>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M∈b</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M∈</m:t>
                    </m:r>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Hai điểm chung </a:t>
                </a:r>
                <a14:m>
                  <m:oMath xmlns:m="http://schemas.openxmlformats.org/officeDocument/2006/math">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m:t>
                    </m:r>
                  </m:oMath>
                </a14:m>
                <a:r>
                  <a:rPr sz="2100">
                    <a:solidFill>
                      <a:srgbClr val="1E293B"/>
                    </a:solidFill>
                    <a:latin typeface="Calibri"/>
                  </a:rPr>
                  <a:t> ⇒ giao tuyến là </a:t>
                </a:r>
                <a14:m>
                  <m:oMath xmlns:m="http://schemas.openxmlformats.org/officeDocument/2006/math">
                    <m:r>
                      <a:rPr lang="vi-VN" sz="2100" b="0">
                        <a:solidFill>
                          <a:srgbClr val="1E293B"/>
                        </a:solidFill>
                        <a:latin typeface="Cambria Math" panose="02040503050406030204" pitchFamily="18" charset="0"/>
                      </a:rPr>
                      <m:t>SM</m:t>
                    </m:r>
                  </m:oMath>
                </a14:m>
                <a:r>
                  <a:rPr sz="2100">
                    <a:solidFill>
                      <a:srgbClr val="1E293B"/>
                    </a:solidFill>
                    <a:latin typeface="Calibri"/>
                  </a:rPr>
                  <a:t>.</a:t>
                </a:r>
              </a:p>
            </p:txBody>
          </p:sp>
        </mc:Choice>
        <mc:Fallback>
          <p:sp>
            <p:nvSpPr>
              <p:cNvPr id="9" name="TextBox 8"/>
              <p:cNvSpPr txBox="1"/>
              <p:nvPr/>
            </p:nvSpPr>
            <p:spPr>
              <a:xfrm>
                <a:off x="713232" y="2615184"/>
                <a:ext cx="790041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Gọi </a:t>
                </a:r>
                <a:r>
                  <a:rPr lang="vi-VN"/>
                  <a:t>M=a\cap b</a:t>
                </a:r>
                <a:r>
                  <a:rPr sz="2100">
                    <a:solidFill>
                      <a:srgbClr val="1E293B"/>
                    </a:solidFill>
                    <a:latin typeface="Calibri"/>
                  </a:rPr>
                  <a:t>. </a:t>
                </a:r>
                <a:r>
                  <a:rPr lang="vi-VN"/>
                  <a:t>M\in a</a:t>
                </a:r>
                <a:r>
                  <a:rPr sz="2100">
                    <a:solidFill>
                      <a:srgbClr val="1E293B"/>
                    </a:solidFill>
                    <a:latin typeface="Calibri"/>
                  </a:rPr>
                  <a:t> nên </a:t>
                </a:r>
                <a:r>
                  <a:rPr lang="vi-VN"/>
                  <a:t>M\in \mathrm{mp}(S,\ a)</a:t>
                </a:r>
                <a:r>
                  <a:rPr sz="2100">
                    <a:solidFill>
                      <a:srgbClr val="1E293B"/>
                    </a:solidFill>
                    <a:latin typeface="Calibri"/>
                  </a:rPr>
                  <a:t>; </a:t>
                </a:r>
                <a:r>
                  <a:rPr lang="vi-VN"/>
                  <a:t>M\in b</a:t>
                </a:r>
                <a:r>
                  <a:rPr sz="2100">
                    <a:solidFill>
                      <a:srgbClr val="1E293B"/>
                    </a:solidFill>
                    <a:latin typeface="Calibri"/>
                  </a:rPr>
                  <a:t> nên </a:t>
                </a:r>
                <a:r>
                  <a:rPr lang="vi-VN"/>
                  <a:t>M\in \mathrm{mp}(S,\ b)</a:t>
                </a:r>
                <a:r>
                  <a:rPr sz="2100">
                    <a:solidFill>
                      <a:srgbClr val="1E293B"/>
                    </a:solidFill>
                    <a:latin typeface="Calibri"/>
                  </a:rPr>
                  <a:t>. Hai điểm chung </a:t>
                </a:r>
                <a:r>
                  <a:rPr lang="vi-VN"/>
                  <a:t>S,\ M</a:t>
                </a:r>
                <a:r>
                  <a:rPr sz="2100">
                    <a:solidFill>
                      <a:srgbClr val="1E293B"/>
                    </a:solidFill>
                    <a:latin typeface="Calibri"/>
                  </a:rPr>
                  <a:t> ⇒ giao tuyến là </a:t>
                </a:r>
                <a:r>
                  <a:rPr lang="vi-VN"/>
                  <a:t>SM</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557016"/>
                <a:ext cx="822960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Trong Ví dụ 4, vẽ đường thẳng </a:t>
                </a:r>
                <a14:m>
                  <m:oMath xmlns:m="http://schemas.openxmlformats.org/officeDocument/2006/math">
                    <m:r>
                      <a:rPr lang="vi-VN" sz="2100" b="0">
                        <a:solidFill>
                          <a:srgbClr val="1E293B"/>
                        </a:solidFill>
                        <a:latin typeface="Cambria Math" panose="02040503050406030204" pitchFamily="18" charset="0"/>
                      </a:rPr>
                      <m:t>c</m:t>
                    </m:r>
                  </m:oMath>
                </a14:m>
                <a:r>
                  <a:rPr sz="2100">
                    <a:solidFill>
                      <a:srgbClr val="1E293B"/>
                    </a:solidFill>
                    <a:latin typeface="Calibri"/>
                  </a:rPr>
                  <a:t> cắt cả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b</m:t>
                    </m:r>
                  </m:oMath>
                </a14:m>
                <a:r>
                  <a:rPr sz="2100">
                    <a:solidFill>
                      <a:srgbClr val="1E293B"/>
                    </a:solidFill>
                    <a:latin typeface="Calibri"/>
                  </a:rPr>
                  <a:t>. Xác định giao tuyến của: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m:t>
                    </m:r>
                  </m:oMath>
                </a14:m>
                <a:r>
                  <a:rPr sz="2100">
                    <a:solidFill>
                      <a:srgbClr val="1E293B"/>
                    </a:solidFill>
                    <a:latin typeface="Calibri"/>
                  </a:rPr>
                  <a:t> và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c)</m:t>
                    </m:r>
                  </m:oMath>
                </a14:m>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và </a:t>
                </a:r>
                <a14:m>
                  <m:oMath xmlns:m="http://schemas.openxmlformats.org/officeDocument/2006/math">
                    <m:r>
                      <m:rPr>
                        <m:sty m:val="p"/>
                      </m:rPr>
                      <a:rPr lang="vi-VN" sz="2100" b="0">
                        <a:solidFill>
                          <a:srgbClr val="1E293B"/>
                        </a:solidFill>
                        <a:latin typeface="Cambria Math" panose="02040503050406030204" pitchFamily="18" charset="0"/>
                      </a:rPr>
                      <m:t>mp</m:t>
                    </m:r>
                    <m:r>
                      <a:rPr lang="vi-VN" sz="2100" b="0">
                        <a:solidFill>
                          <a:srgbClr val="1E293B"/>
                        </a:solidFill>
                        <a:latin typeface="Cambria Math" panose="02040503050406030204" pitchFamily="18" charset="0"/>
                      </a:rPr>
                      <m:t>(S,</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c)</m:t>
                    </m:r>
                  </m:oMath>
                </a14:m>
                <a:r>
                  <a:rPr sz="2100">
                    <a:solidFill>
                      <a:srgbClr val="1E293B"/>
                    </a:solidFill>
                    <a:latin typeface="Calibri"/>
                  </a:rPr>
                  <a:t>.</a:t>
                </a:r>
              </a:p>
            </p:txBody>
          </p:sp>
        </mc:Choice>
        <mc:Fallback>
          <p:sp>
            <p:nvSpPr>
              <p:cNvPr id="10" name="TextBox 9"/>
              <p:cNvSpPr txBox="1"/>
              <p:nvPr/>
            </p:nvSpPr>
            <p:spPr>
              <a:xfrm>
                <a:off x="548640" y="3557016"/>
                <a:ext cx="822960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Trong Ví dụ 4, vẽ đường thẳng </a:t>
                </a:r>
                <a:r>
                  <a:rPr lang="vi-VN"/>
                  <a:t>c</a:t>
                </a:r>
                <a:r>
                  <a:rPr sz="2100">
                    <a:solidFill>
                      <a:srgbClr val="1E293B"/>
                    </a:solidFill>
                    <a:latin typeface="Calibri"/>
                  </a:rPr>
                  <a:t> cắt cả </a:t>
                </a:r>
                <a:r>
                  <a:rPr lang="vi-VN"/>
                  <a:t>a</a:t>
                </a:r>
                <a:r>
                  <a:rPr sz="2100">
                    <a:solidFill>
                      <a:srgbClr val="1E293B"/>
                    </a:solidFill>
                    <a:latin typeface="Calibri"/>
                  </a:rPr>
                  <a:t> và </a:t>
                </a:r>
                <a:r>
                  <a:rPr lang="vi-VN"/>
                  <a:t>b</a:t>
                </a:r>
                <a:r>
                  <a:rPr sz="2100">
                    <a:solidFill>
                      <a:srgbClr val="1E293B"/>
                    </a:solidFill>
                    <a:latin typeface="Calibri"/>
                  </a:rPr>
                  <a:t>. Xác định giao tuyến của: </a:t>
                </a:r>
                <a:r>
                  <a:rPr lang="vi-VN"/>
                  <a:t>\mathrm{mp}(S,\ a)</a:t>
                </a:r>
                <a:r>
                  <a:rPr sz="2100">
                    <a:solidFill>
                      <a:srgbClr val="1E293B"/>
                    </a:solidFill>
                    <a:latin typeface="Calibri"/>
                  </a:rPr>
                  <a:t> và </a:t>
                </a:r>
                <a:r>
                  <a:rPr lang="vi-VN"/>
                  <a:t>\mathrm{mp}(S,\ c)</a:t>
                </a:r>
                <a:r>
                  <a:rPr sz="2100">
                    <a:solidFill>
                      <a:srgbClr val="1E293B"/>
                    </a:solidFill>
                    <a:latin typeface="Calibri"/>
                  </a:rPr>
                  <a:t>; </a:t>
                </a:r>
                <a:r>
                  <a:rPr lang="vi-VN"/>
                  <a:t>\mathrm{mp}(S,\ b)</a:t>
                </a:r>
                <a:r>
                  <a:rPr sz="2100">
                    <a:solidFill>
                      <a:srgbClr val="1E293B"/>
                    </a:solidFill>
                    <a:latin typeface="Calibri"/>
                  </a:rPr>
                  <a:t> và </a:t>
                </a:r>
                <a:r>
                  <a:rPr lang="vi-VN"/>
                  <a:t>\mathrm{mp}(S,\ c)</a:t>
                </a:r>
                <a:r>
                  <a:rPr sz="2100">
                    <a:solidFill>
                      <a:srgbClr val="1E293B"/>
                    </a:solidFill>
                    <a:latin typeface="Calibri"/>
                  </a:rPr>
                  <a:t>.</a:t>
                </a:r>
              </a:p>
            </p:txBody>
          </p:sp>
        </mc:Fallback>
      </mc:AlternateContent>
      <p:sp>
        <p:nvSpPr>
          <p:cNvPr id="11" name="s3_nen"/>
          <p:cNvSpPr/>
          <p:nvPr/>
        </p:nvSpPr>
        <p:spPr>
          <a:xfrm>
            <a:off x="548640" y="4764024"/>
            <a:ext cx="822960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800600"/>
                <a:ext cx="790041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Gọi </a:t>
                </a:r>
                <a14:m>
                  <m:oMath xmlns:m="http://schemas.openxmlformats.org/officeDocument/2006/math">
                    <m:r>
                      <a:rPr lang="vi-VN" sz="2100" b="0">
                        <a:solidFill>
                          <a:srgbClr val="1E293B"/>
                        </a:solidFill>
                        <a:latin typeface="Cambria Math" panose="02040503050406030204" pitchFamily="18" charset="0"/>
                      </a:rPr>
                      <m:t>P=a∩c</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Q=b∩c</m:t>
                    </m:r>
                  </m:oMath>
                </a14:m>
                <a:r>
                  <a:rPr sz="2100">
                    <a:solidFill>
                      <a:srgbClr val="1E293B"/>
                    </a:solidFill>
                    <a:latin typeface="Calibri"/>
                  </a:rPr>
                  <a:t>: giao tuyến lần lượt là </a:t>
                </a:r>
                <a14:m>
                  <m:oMath xmlns:m="http://schemas.openxmlformats.org/officeDocument/2006/math">
                    <m:r>
                      <a:rPr lang="vi-VN" sz="2100" b="0">
                        <a:solidFill>
                          <a:srgbClr val="1E293B"/>
                        </a:solidFill>
                        <a:latin typeface="Cambria Math" panose="02040503050406030204" pitchFamily="18" charset="0"/>
                      </a:rPr>
                      <m:t>SP</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SQ</m:t>
                    </m:r>
                  </m:oMath>
                </a14:m>
                <a:r>
                  <a:rPr sz="2100">
                    <a:solidFill>
                      <a:srgbClr val="1E293B"/>
                    </a:solidFill>
                    <a:latin typeface="Calibri"/>
                  </a:rPr>
                  <a:t>.</a:t>
                </a:r>
              </a:p>
            </p:txBody>
          </p:sp>
        </mc:Choice>
        <mc:Fallback>
          <p:sp>
            <p:nvSpPr>
              <p:cNvPr id="12" name="TextBox 11"/>
              <p:cNvSpPr txBox="1"/>
              <p:nvPr/>
            </p:nvSpPr>
            <p:spPr>
              <a:xfrm>
                <a:off x="713232" y="4800600"/>
                <a:ext cx="790041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Gọi </a:t>
                </a:r>
                <a:r>
                  <a:rPr lang="vi-VN"/>
                  <a:t>P=a\cap c</a:t>
                </a:r>
                <a:r>
                  <a:rPr sz="2100">
                    <a:solidFill>
                      <a:srgbClr val="1E293B"/>
                    </a:solidFill>
                    <a:latin typeface="Calibri"/>
                  </a:rPr>
                  <a:t>, </a:t>
                </a:r>
                <a:r>
                  <a:rPr lang="vi-VN"/>
                  <a:t>Q=b\cap c</a:t>
                </a:r>
                <a:r>
                  <a:rPr sz="2100">
                    <a:solidFill>
                      <a:srgbClr val="1E293B"/>
                    </a:solidFill>
                    <a:latin typeface="Calibri"/>
                  </a:rPr>
                  <a:t>: giao tuyến lần lượt là </a:t>
                </a:r>
                <a:r>
                  <a:rPr lang="vi-VN"/>
                  <a:t>SP</a:t>
                </a:r>
                <a:r>
                  <a:rPr sz="2100">
                    <a:solidFill>
                      <a:srgbClr val="1E293B"/>
                    </a:solidFill>
                    <a:latin typeface="Calibri"/>
                  </a:rPr>
                  <a:t> và </a:t>
                </a:r>
                <a:r>
                  <a:rPr lang="vi-VN"/>
                  <a:t>SQ</a:t>
                </a:r>
                <a:r>
                  <a:rPr sz="2100">
                    <a:solidFill>
                      <a:srgbClr val="1E293B"/>
                    </a:solidFill>
                    <a:latin typeface="Calibri"/>
                  </a:rPr>
                  <a:t>.</a:t>
                </a:r>
              </a:p>
            </p:txBody>
          </p:sp>
        </mc:Fallback>
      </mc:AlternateContent>
      <p:pic>
        <p:nvPicPr>
          <p:cNvPr id="13" name="Picture 12" descr="h410.png"/>
          <p:cNvPicPr>
            <a:picLocks noChangeAspect="1"/>
          </p:cNvPicPr>
          <p:nvPr/>
        </p:nvPicPr>
        <p:blipFill>
          <a:blip r:embed="rId3"/>
          <a:stretch>
            <a:fillRect/>
          </a:stretch>
        </p:blipFill>
        <p:spPr>
          <a:xfrm>
            <a:off x="8961120" y="1481125"/>
            <a:ext cx="2743200" cy="1792629"/>
          </a:xfrm>
          <a:prstGeom prst="rect">
            <a:avLst/>
          </a:prstGeom>
        </p:spPr>
      </p:pic>
      <p:sp>
        <p:nvSpPr>
          <p:cNvPr id="14" name="TextBox 13"/>
          <p:cNvSpPr txBox="1"/>
          <p:nvPr/>
        </p:nvSpPr>
        <p:spPr>
          <a:xfrm>
            <a:off x="8961120" y="3310128"/>
            <a:ext cx="27432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2 – HÍT CỬA NAM CHÂM (SGK TR.75)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24</a:t>
            </a:r>
          </a:p>
        </p:txBody>
      </p:sp>
      <p:sp>
        <p:nvSpPr>
          <p:cNvPr id="7" name="TextBox 6"/>
          <p:cNvSpPr txBox="1"/>
          <p:nvPr/>
        </p:nvSpPr>
        <p:spPr>
          <a:xfrm>
            <a:off x="548640" y="1371600"/>
            <a:ext cx="7498079" cy="185013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Vận dụng 2.</a:t>
            </a:r>
            <a:r>
              <a:rPr sz="2200">
                <a:solidFill>
                  <a:srgbClr val="1E293B"/>
                </a:solidFill>
                <a:latin typeface="Calibri"/>
              </a:rPr>
              <a:t> Để tránh cho cửa ra vào không bị va đập vào các đồ dùng xung quanh, người ta thường dùng hít cửa nam châm. Hãy giải thích tại sao khi cửa được hút tới vị trí của nam châm thì cánh cửa được giữ cố định.</a:t>
            </a:r>
          </a:p>
        </p:txBody>
      </p:sp>
      <p:sp>
        <p:nvSpPr>
          <p:cNvPr id="8" name="s1_nen"/>
          <p:cNvSpPr/>
          <p:nvPr/>
        </p:nvSpPr>
        <p:spPr>
          <a:xfrm>
            <a:off x="548640" y="3358896"/>
            <a:ext cx="7498079" cy="1941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3395472"/>
            <a:ext cx="7168895" cy="186842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Các bản lề nằm trên trục cửa (một đường thẳng); điểm hít nam châm không thuộc trục đó. Một điểm và một đường thẳng không đi qua nó xác định </a:t>
            </a:r>
            <a:r>
              <a:rPr sz="2200" b="1">
                <a:solidFill>
                  <a:srgbClr val="1E293B"/>
                </a:solidFill>
                <a:latin typeface="Calibri"/>
              </a:rPr>
              <a:t>duy nhất</a:t>
            </a:r>
            <a:r>
              <a:rPr sz="2200">
                <a:solidFill>
                  <a:srgbClr val="1E293B"/>
                </a:solidFill>
                <a:latin typeface="Calibri"/>
              </a:rPr>
              <a:t> một mặt phẳng – vị trí của cánh cửa – nên cánh cửa được giữ cố định.</a:t>
            </a:r>
          </a:p>
        </p:txBody>
      </p:sp>
      <p:pic>
        <p:nvPicPr>
          <p:cNvPr id="10" name="Picture 9" descr="p_hitcua.png"/>
          <p:cNvPicPr>
            <a:picLocks noChangeAspect="1"/>
          </p:cNvPicPr>
          <p:nvPr/>
        </p:nvPicPr>
        <p:blipFill>
          <a:blip r:embed="rId3"/>
          <a:stretch>
            <a:fillRect/>
          </a:stretch>
        </p:blipFill>
        <p:spPr>
          <a:xfrm>
            <a:off x="8333168" y="1463040"/>
            <a:ext cx="3359023" cy="2834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4. HÌNH CHÓP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25</a:t>
            </a:r>
          </a:p>
        </p:txBody>
      </p:sp>
      <p:sp>
        <p:nvSpPr>
          <p:cNvPr id="7" name="TextBox 6"/>
          <p:cNvSpPr txBox="1"/>
          <p:nvPr/>
        </p:nvSpPr>
        <p:spPr>
          <a:xfrm>
            <a:off x="548640" y="2697480"/>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HĐ7.</a:t>
            </a:r>
            <a:r>
              <a:rPr sz="1900">
                <a:solidFill>
                  <a:srgbClr val="1E293B"/>
                </a:solidFill>
                <a:latin typeface="Calibri"/>
              </a:rPr>
              <a:t> Các hình ảnh dưới đây có đặc điểm chung nào với hình chóp tam giác đều mà em đã học ở lớp 8?</a:t>
            </a:r>
          </a:p>
        </p:txBody>
      </p:sp>
      <p:sp>
        <p:nvSpPr>
          <p:cNvPr id="8" name="s1_nen"/>
          <p:cNvSpPr/>
          <p:nvPr/>
        </p:nvSpPr>
        <p:spPr>
          <a:xfrm>
            <a:off x="548640" y="3514344"/>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3550920"/>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Có một đỉnh; các mặt bên là những tam giác chung đỉnh; mặt đáy là một đa giác.</a:t>
            </a:r>
          </a:p>
        </p:txBody>
      </p:sp>
      <p:sp>
        <p:nvSpPr>
          <p:cNvPr id="10" name="s2_nen"/>
          <p:cNvSpPr/>
          <p:nvPr/>
        </p:nvSpPr>
        <p:spPr>
          <a:xfrm>
            <a:off x="548640" y="4133088"/>
            <a:ext cx="11064240" cy="14234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69664"/>
                <a:ext cx="10735056" cy="135026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Cho đa giác lồi </a:t>
                </a:r>
                <a14:m>
                  <m:oMath xmlns:m="http://schemas.openxmlformats.org/officeDocument/2006/math">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n</m:t>
                        </m:r>
                      </m:sub>
                    </m:sSub>
                  </m:oMath>
                </a14:m>
                <a:r>
                  <a:rPr sz="1900">
                    <a:solidFill>
                      <a:srgbClr val="1E293B"/>
                    </a:solidFill>
                    <a:latin typeface="Calibri"/>
                  </a:rPr>
                  <a:t> và điểm </a:t>
                </a:r>
                <a14:m>
                  <m:oMath xmlns:m="http://schemas.openxmlformats.org/officeDocument/2006/math">
                    <m:r>
                      <a:rPr lang="vi-VN" sz="1900" b="0">
                        <a:solidFill>
                          <a:srgbClr val="1E293B"/>
                        </a:solidFill>
                        <a:latin typeface="Cambria Math" panose="02040503050406030204" pitchFamily="18" charset="0"/>
                      </a:rPr>
                      <m:t>S</m:t>
                    </m:r>
                  </m:oMath>
                </a14:m>
                <a:r>
                  <a:rPr sz="1900">
                    <a:solidFill>
                      <a:srgbClr val="1E293B"/>
                    </a:solidFill>
                    <a:latin typeface="Calibri"/>
                  </a:rPr>
                  <a:t> nằm ngoài mặt phẳng chứa đa giác. Hình gồm </a:t>
                </a:r>
                <a14:m>
                  <m:oMath xmlns:m="http://schemas.openxmlformats.org/officeDocument/2006/math">
                    <m:r>
                      <a:rPr lang="vi-VN" sz="1900" b="0">
                        <a:solidFill>
                          <a:srgbClr val="1E293B"/>
                        </a:solidFill>
                        <a:latin typeface="Cambria Math" panose="02040503050406030204" pitchFamily="18" charset="0"/>
                      </a:rPr>
                      <m:t>n</m:t>
                    </m:r>
                  </m:oMath>
                </a14:m>
                <a:r>
                  <a:rPr sz="1900">
                    <a:solidFill>
                      <a:srgbClr val="1E293B"/>
                    </a:solidFill>
                    <a:latin typeface="Calibri"/>
                  </a:rPr>
                  <a:t> tam giác </a:t>
                </a:r>
                <a14:m>
                  <m:oMath xmlns:m="http://schemas.openxmlformats.org/officeDocument/2006/math">
                    <m:r>
                      <a:rPr lang="vi-VN" sz="1900" b="0">
                        <a:solidFill>
                          <a:srgbClr val="1E293B"/>
                        </a:solidFill>
                        <a:latin typeface="Cambria Math" panose="02040503050406030204" pitchFamily="18" charset="0"/>
                      </a:rPr>
                      <m:t>S</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S</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3</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S</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n</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oMath>
                </a14:m>
                <a:r>
                  <a:rPr sz="1900">
                    <a:solidFill>
                      <a:srgbClr val="1E293B"/>
                    </a:solidFill>
                    <a:latin typeface="Calibri"/>
                  </a:rPr>
                  <a:t> và đa giác </a:t>
                </a:r>
                <a14:m>
                  <m:oMath xmlns:m="http://schemas.openxmlformats.org/officeDocument/2006/math">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n</m:t>
                        </m:r>
                      </m:sub>
                    </m:sSub>
                  </m:oMath>
                </a14:m>
                <a:r>
                  <a:rPr sz="1900">
                    <a:solidFill>
                      <a:srgbClr val="1E293B"/>
                    </a:solidFill>
                    <a:latin typeface="Calibri"/>
                  </a:rPr>
                  <a:t> gọi là </a:t>
                </a:r>
                <a:r>
                  <a:rPr sz="1900" b="1">
                    <a:solidFill>
                      <a:srgbClr val="1E293B"/>
                    </a:solidFill>
                    <a:latin typeface="Calibri"/>
                  </a:rPr>
                  <a:t>hình chóp</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S.</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n</m:t>
                        </m:r>
                      </m:sub>
                    </m:sSub>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S</m:t>
                    </m:r>
                  </m:oMath>
                </a14:m>
                <a:r>
                  <a:rPr sz="1900">
                    <a:solidFill>
                      <a:srgbClr val="1E293B"/>
                    </a:solidFill>
                    <a:latin typeface="Calibri"/>
                  </a:rPr>
                  <a:t> là </a:t>
                </a:r>
                <a:r>
                  <a:rPr sz="1900" b="1">
                    <a:solidFill>
                      <a:srgbClr val="1E293B"/>
                    </a:solidFill>
                    <a:latin typeface="Calibri"/>
                  </a:rPr>
                  <a:t>đỉnh</a:t>
                </a: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n</m:t>
                        </m:r>
                      </m:sub>
                    </m:sSub>
                  </m:oMath>
                </a14:m>
                <a:r>
                  <a:rPr sz="1900">
                    <a:solidFill>
                      <a:srgbClr val="1E293B"/>
                    </a:solidFill>
                    <a:latin typeface="Calibri"/>
                  </a:rPr>
                  <a:t> là </a:t>
                </a:r>
                <a:r>
                  <a:rPr sz="1900" b="1">
                    <a:solidFill>
                      <a:srgbClr val="1E293B"/>
                    </a:solidFill>
                    <a:latin typeface="Calibri"/>
                  </a:rPr>
                  <a:t>mặt đáy</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S</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oMath>
                </a14:m>
                <a:r>
                  <a:rPr sz="1900">
                    <a:solidFill>
                      <a:srgbClr val="1E293B"/>
                    </a:solidFill>
                    <a:latin typeface="Calibri"/>
                  </a:rPr>
                  <a:t> là </a:t>
                </a:r>
                <a:r>
                  <a:rPr sz="1900" b="1">
                    <a:solidFill>
                      <a:srgbClr val="1E293B"/>
                    </a:solidFill>
                    <a:latin typeface="Calibri"/>
                  </a:rPr>
                  <a:t>mặt bên</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S</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S</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n</m:t>
                        </m:r>
                      </m:sub>
                    </m:sSub>
                  </m:oMath>
                </a14:m>
                <a:r>
                  <a:rPr sz="1900">
                    <a:solidFill>
                      <a:srgbClr val="1E293B"/>
                    </a:solidFill>
                    <a:latin typeface="Calibri"/>
                  </a:rPr>
                  <a:t> là </a:t>
                </a:r>
                <a:r>
                  <a:rPr sz="1900" b="1">
                    <a:solidFill>
                      <a:srgbClr val="1E293B"/>
                    </a:solidFill>
                    <a:latin typeface="Calibri"/>
                  </a:rPr>
                  <a:t>cạnh bên</a:t>
                </a: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n</m:t>
                        </m:r>
                      </m:sub>
                    </m:sSub>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oMath>
                </a14:m>
                <a:r>
                  <a:rPr sz="1900">
                    <a:solidFill>
                      <a:srgbClr val="1E293B"/>
                    </a:solidFill>
                    <a:latin typeface="Calibri"/>
                  </a:rPr>
                  <a:t> là </a:t>
                </a:r>
                <a:r>
                  <a:rPr sz="1900" b="1">
                    <a:solidFill>
                      <a:srgbClr val="1E293B"/>
                    </a:solidFill>
                    <a:latin typeface="Calibri"/>
                  </a:rPr>
                  <a:t>cạnh đáy</a:t>
                </a:r>
                <a:r>
                  <a:rPr sz="1900">
                    <a:solidFill>
                      <a:srgbClr val="1E293B"/>
                    </a:solidFill>
                    <a:latin typeface="Calibri"/>
                  </a:rPr>
                  <a:t>.</a:t>
                </a:r>
              </a:p>
            </p:txBody>
          </p:sp>
        </mc:Choice>
        <mc:Fallback>
          <p:sp>
            <p:nvSpPr>
              <p:cNvPr id="11" name="TextBox 10"/>
              <p:cNvSpPr txBox="1"/>
              <p:nvPr/>
            </p:nvSpPr>
            <p:spPr>
              <a:xfrm>
                <a:off x="713232" y="4169664"/>
                <a:ext cx="10735056" cy="135026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Cho đa giác lồi </a:t>
                </a:r>
                <a:r>
                  <a:rPr lang="vi-VN"/>
                  <a:t>A_1A_2\ldots A_n</a:t>
                </a:r>
                <a:r>
                  <a:rPr sz="1900">
                    <a:solidFill>
                      <a:srgbClr val="1E293B"/>
                    </a:solidFill>
                    <a:latin typeface="Calibri"/>
                  </a:rPr>
                  <a:t> và điểm </a:t>
                </a:r>
                <a:r>
                  <a:rPr lang="vi-VN"/>
                  <a:t>S</a:t>
                </a:r>
                <a:r>
                  <a:rPr sz="1900">
                    <a:solidFill>
                      <a:srgbClr val="1E293B"/>
                    </a:solidFill>
                    <a:latin typeface="Calibri"/>
                  </a:rPr>
                  <a:t> nằm ngoài mặt phẳng chứa đa giác. Hình gồm </a:t>
                </a:r>
                <a:r>
                  <a:rPr lang="vi-VN"/>
                  <a:t>n</a:t>
                </a:r>
                <a:r>
                  <a:rPr sz="1900">
                    <a:solidFill>
                      <a:srgbClr val="1E293B"/>
                    </a:solidFill>
                    <a:latin typeface="Calibri"/>
                  </a:rPr>
                  <a:t> tam giác </a:t>
                </a:r>
                <a:r>
                  <a:rPr lang="vi-VN"/>
                  <a:t>SA_1A_2,\ SA_2A_3,\ \ldots,\ SA_nA_1</a:t>
                </a:r>
                <a:r>
                  <a:rPr sz="1900">
                    <a:solidFill>
                      <a:srgbClr val="1E293B"/>
                    </a:solidFill>
                    <a:latin typeface="Calibri"/>
                  </a:rPr>
                  <a:t> và đa giác </a:t>
                </a:r>
                <a:r>
                  <a:rPr lang="vi-VN"/>
                  <a:t>A_1A_2\ldots A_n</a:t>
                </a:r>
                <a:r>
                  <a:rPr sz="1900">
                    <a:solidFill>
                      <a:srgbClr val="1E293B"/>
                    </a:solidFill>
                    <a:latin typeface="Calibri"/>
                  </a:rPr>
                  <a:t> gọi là </a:t>
                </a:r>
                <a:r>
                  <a:rPr sz="1900" b="1">
                    <a:solidFill>
                      <a:srgbClr val="1E293B"/>
                    </a:solidFill>
                    <a:latin typeface="Calibri"/>
                  </a:rPr>
                  <a:t>hình chóp</a:t>
                </a:r>
                <a:r>
                  <a:rPr sz="1900">
                    <a:solidFill>
                      <a:srgbClr val="1E293B"/>
                    </a:solidFill>
                    <a:latin typeface="Calibri"/>
                  </a:rPr>
                  <a:t> </a:t>
                </a:r>
                <a:r>
                  <a:rPr lang="vi-VN"/>
                  <a:t>S.A_1A_2\ldots A_n</a:t>
                </a:r>
                <a:r>
                  <a:rPr sz="1900">
                    <a:solidFill>
                      <a:srgbClr val="1E293B"/>
                    </a:solidFill>
                    <a:latin typeface="Calibri"/>
                  </a:rPr>
                  <a:t>: </a:t>
                </a:r>
                <a:r>
                  <a:rPr lang="vi-VN"/>
                  <a:t>S</a:t>
                </a:r>
                <a:r>
                  <a:rPr sz="1900">
                    <a:solidFill>
                      <a:srgbClr val="1E293B"/>
                    </a:solidFill>
                    <a:latin typeface="Calibri"/>
                  </a:rPr>
                  <a:t> là </a:t>
                </a:r>
                <a:r>
                  <a:rPr sz="1900" b="1">
                    <a:solidFill>
                      <a:srgbClr val="1E293B"/>
                    </a:solidFill>
                    <a:latin typeface="Calibri"/>
                  </a:rPr>
                  <a:t>đỉnh</a:t>
                </a:r>
                <a:r>
                  <a:rPr sz="1900">
                    <a:solidFill>
                      <a:srgbClr val="1E293B"/>
                    </a:solidFill>
                    <a:latin typeface="Calibri"/>
                  </a:rPr>
                  <a:t>, </a:t>
                </a:r>
                <a:r>
                  <a:rPr lang="vi-VN"/>
                  <a:t>A_1A_2\ldots A_n</a:t>
                </a:r>
                <a:r>
                  <a:rPr sz="1900">
                    <a:solidFill>
                      <a:srgbClr val="1E293B"/>
                    </a:solidFill>
                    <a:latin typeface="Calibri"/>
                  </a:rPr>
                  <a:t> là </a:t>
                </a:r>
                <a:r>
                  <a:rPr sz="1900" b="1">
                    <a:solidFill>
                      <a:srgbClr val="1E293B"/>
                    </a:solidFill>
                    <a:latin typeface="Calibri"/>
                  </a:rPr>
                  <a:t>mặt đáy</a:t>
                </a:r>
                <a:r>
                  <a:rPr sz="1900">
                    <a:solidFill>
                      <a:srgbClr val="1E293B"/>
                    </a:solidFill>
                    <a:latin typeface="Calibri"/>
                  </a:rPr>
                  <a:t>; </a:t>
                </a:r>
                <a:r>
                  <a:rPr lang="vi-VN"/>
                  <a:t>SA_1A_2,\ \ldots</a:t>
                </a:r>
                <a:r>
                  <a:rPr sz="1900">
                    <a:solidFill>
                      <a:srgbClr val="1E293B"/>
                    </a:solidFill>
                    <a:latin typeface="Calibri"/>
                  </a:rPr>
                  <a:t> là </a:t>
                </a:r>
                <a:r>
                  <a:rPr sz="1900" b="1">
                    <a:solidFill>
                      <a:srgbClr val="1E293B"/>
                    </a:solidFill>
                    <a:latin typeface="Calibri"/>
                  </a:rPr>
                  <a:t>mặt bên</a:t>
                </a:r>
                <a:r>
                  <a:rPr sz="1900">
                    <a:solidFill>
                      <a:srgbClr val="1E293B"/>
                    </a:solidFill>
                    <a:latin typeface="Calibri"/>
                  </a:rPr>
                  <a:t>; </a:t>
                </a:r>
                <a:r>
                  <a:rPr lang="vi-VN"/>
                  <a:t>SA_1,\ \ldots,\ SA_n</a:t>
                </a:r>
                <a:r>
                  <a:rPr sz="1900">
                    <a:solidFill>
                      <a:srgbClr val="1E293B"/>
                    </a:solidFill>
                    <a:latin typeface="Calibri"/>
                  </a:rPr>
                  <a:t> là </a:t>
                </a:r>
                <a:r>
                  <a:rPr sz="1900" b="1">
                    <a:solidFill>
                      <a:srgbClr val="1E293B"/>
                    </a:solidFill>
                    <a:latin typeface="Calibri"/>
                  </a:rPr>
                  <a:t>cạnh bên</a:t>
                </a:r>
                <a:r>
                  <a:rPr sz="1900">
                    <a:solidFill>
                      <a:srgbClr val="1E293B"/>
                    </a:solidFill>
                    <a:latin typeface="Calibri"/>
                  </a:rPr>
                  <a:t>; </a:t>
                </a:r>
                <a:r>
                  <a:rPr lang="vi-VN"/>
                  <a:t>A_1A_2,\ \ldots,\ A_nA_1</a:t>
                </a:r>
                <a:r>
                  <a:rPr sz="1900">
                    <a:solidFill>
                      <a:srgbClr val="1E293B"/>
                    </a:solidFill>
                    <a:latin typeface="Calibri"/>
                  </a:rPr>
                  <a:t> là </a:t>
                </a:r>
                <a:r>
                  <a:rPr sz="1900" b="1">
                    <a:solidFill>
                      <a:srgbClr val="1E293B"/>
                    </a:solidFill>
                    <a:latin typeface="Calibri"/>
                  </a:rPr>
                  <a:t>cạnh đáy</a:t>
                </a:r>
                <a:r>
                  <a:rPr sz="1900">
                    <a:solidFill>
                      <a:srgbClr val="1E293B"/>
                    </a:solidFill>
                    <a:latin typeface="Calibri"/>
                  </a:rPr>
                  <a:t>.</a:t>
                </a:r>
              </a:p>
            </p:txBody>
          </p:sp>
        </mc:Fallback>
      </mc:AlternateContent>
      <p:sp>
        <p:nvSpPr>
          <p:cNvPr id="12" name="s3_chu"/>
          <p:cNvSpPr txBox="1"/>
          <p:nvPr/>
        </p:nvSpPr>
        <p:spPr>
          <a:xfrm>
            <a:off x="548640" y="5620512"/>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Chú ý.</a:t>
            </a:r>
            <a:r>
              <a:rPr sz="1900">
                <a:solidFill>
                  <a:srgbClr val="1E293B"/>
                </a:solidFill>
                <a:latin typeface="Calibri"/>
              </a:rPr>
              <a:t> Tên hình chóp gọi theo đa giác đáy, ví dụ đáy là tứ giác: hình chóp tứ giác.</a:t>
            </a:r>
          </a:p>
        </p:txBody>
      </p:sp>
      <p:pic>
        <p:nvPicPr>
          <p:cNvPr id="13" name="Picture 12" descr="p_hd7.png"/>
          <p:cNvPicPr>
            <a:picLocks noChangeAspect="1"/>
          </p:cNvPicPr>
          <p:nvPr/>
        </p:nvPicPr>
        <p:blipFill>
          <a:blip r:embed="rId3"/>
          <a:stretch>
            <a:fillRect/>
          </a:stretch>
        </p:blipFill>
        <p:spPr>
          <a:xfrm>
            <a:off x="2651760" y="1304178"/>
            <a:ext cx="6858000" cy="13144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 LUYỆN TẬP 5 (SGK TR.76)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22960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5.</a:t>
                </a:r>
                <a:r>
                  <a:rPr sz="2300">
                    <a:solidFill>
                      <a:srgbClr val="1E293B"/>
                    </a:solidFill>
                    <a:latin typeface="Calibri"/>
                  </a:rPr>
                  <a:t> Cho hình chóp </a:t>
                </a:r>
                <a14:m>
                  <m:oMath xmlns:m="http://schemas.openxmlformats.org/officeDocument/2006/math">
                    <m:r>
                      <a:rPr lang="vi-VN" sz="2300" b="0">
                        <a:solidFill>
                          <a:srgbClr val="1E293B"/>
                        </a:solidFill>
                        <a:latin typeface="Cambria Math" panose="02040503050406030204" pitchFamily="18" charset="0"/>
                      </a:rPr>
                      <m:t>S.ABCD</m:t>
                    </m:r>
                  </m:oMath>
                </a14:m>
                <a:r>
                  <a:rPr sz="2300">
                    <a:solidFill>
                      <a:srgbClr val="1E293B"/>
                    </a:solidFill>
                    <a:latin typeface="Calibri"/>
                  </a:rPr>
                  <a:t> (H.4.11). Hình chóp đó có bao nhiêu cạnh?</a:t>
                </a:r>
              </a:p>
            </p:txBody>
          </p:sp>
        </mc:Choice>
        <mc:Fallback>
          <p:sp>
            <p:nvSpPr>
              <p:cNvPr id="7" name="TextBox 6"/>
              <p:cNvSpPr txBox="1"/>
              <p:nvPr/>
            </p:nvSpPr>
            <p:spPr>
              <a:xfrm>
                <a:off x="548640" y="1371600"/>
                <a:ext cx="822960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5.</a:t>
                </a:r>
                <a:r>
                  <a:rPr sz="2300">
                    <a:solidFill>
                      <a:srgbClr val="1E293B"/>
                    </a:solidFill>
                    <a:latin typeface="Calibri"/>
                  </a:rPr>
                  <a:t> Cho hình chóp </a:t>
                </a:r>
                <a:r>
                  <a:rPr lang="vi-VN"/>
                  <a:t>S.ABCD</a:t>
                </a:r>
                <a:r>
                  <a:rPr sz="2300">
                    <a:solidFill>
                      <a:srgbClr val="1E293B"/>
                    </a:solidFill>
                    <a:latin typeface="Calibri"/>
                  </a:rPr>
                  <a:t> (H.4.11). Hình chóp đó có bao nhiêu cạnh?</a:t>
                </a:r>
              </a:p>
            </p:txBody>
          </p:sp>
        </mc:Fallback>
      </mc:AlternateContent>
      <p:sp>
        <p:nvSpPr>
          <p:cNvPr id="8" name="s1_nen"/>
          <p:cNvSpPr/>
          <p:nvPr/>
        </p:nvSpPr>
        <p:spPr>
          <a:xfrm>
            <a:off x="548640" y="2383536"/>
            <a:ext cx="822960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20112"/>
                <a:ext cx="790041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8 cạnh: </a:t>
                </a:r>
                <a14:m>
                  <m:oMath xmlns:m="http://schemas.openxmlformats.org/officeDocument/2006/math">
                    <m:r>
                      <a:rPr lang="vi-VN" sz="2300" b="0">
                        <a:solidFill>
                          <a:srgbClr val="1E293B"/>
                        </a:solidFill>
                        <a:latin typeface="Cambria Math" panose="02040503050406030204" pitchFamily="18" charset="0"/>
                      </a:rPr>
                      <m:t>SA,</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SB,</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SC,</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SD,</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AB,</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BC,</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CD,</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DA</m:t>
                    </m:r>
                  </m:oMath>
                </a14:m>
                <a:r>
                  <a:rPr sz="2300">
                    <a:solidFill>
                      <a:srgbClr val="1E293B"/>
                    </a:solidFill>
                    <a:latin typeface="Calibri"/>
                  </a:rPr>
                  <a:t>.</a:t>
                </a:r>
              </a:p>
            </p:txBody>
          </p:sp>
        </mc:Choice>
        <mc:Fallback>
          <p:sp>
            <p:nvSpPr>
              <p:cNvPr id="9" name="TextBox 8"/>
              <p:cNvSpPr txBox="1"/>
              <p:nvPr/>
            </p:nvSpPr>
            <p:spPr>
              <a:xfrm>
                <a:off x="713232" y="2420112"/>
                <a:ext cx="790041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8 cạnh: </a:t>
                </a:r>
                <a:r>
                  <a:rPr lang="vi-VN"/>
                  <a:t>SA,\ SB,\ SC,\ SD,\ AB,\ BC,\ CD,\ DA</a:t>
                </a:r>
                <a:r>
                  <a:rPr sz="23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136391"/>
                <a:ext cx="822960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5.</a:t>
                </a:r>
                <a:r>
                  <a:rPr sz="2300">
                    <a:solidFill>
                      <a:srgbClr val="1E293B"/>
                    </a:solidFill>
                    <a:latin typeface="Calibri"/>
                  </a:rPr>
                  <a:t> Cho hình chóp </a:t>
                </a:r>
                <a14:m>
                  <m:oMath xmlns:m="http://schemas.openxmlformats.org/officeDocument/2006/math">
                    <m:r>
                      <a:rPr lang="vi-VN" sz="2300" b="0">
                        <a:solidFill>
                          <a:srgbClr val="1E293B"/>
                        </a:solidFill>
                        <a:latin typeface="Cambria Math" panose="02040503050406030204" pitchFamily="18" charset="0"/>
                      </a:rPr>
                      <m:t>S.ABCD</m:t>
                    </m:r>
                  </m:oMath>
                </a14:m>
                <a:r>
                  <a:rPr sz="2300">
                    <a:solidFill>
                      <a:srgbClr val="1E293B"/>
                    </a:solidFill>
                    <a:latin typeface="Calibri"/>
                  </a:rPr>
                  <a:t>. Gọi tên các mặt bên và mặt đáy của hình chóp đó.</a:t>
                </a:r>
              </a:p>
            </p:txBody>
          </p:sp>
        </mc:Choice>
        <mc:Fallback>
          <p:sp>
            <p:nvSpPr>
              <p:cNvPr id="10" name="TextBox 9"/>
              <p:cNvSpPr txBox="1"/>
              <p:nvPr/>
            </p:nvSpPr>
            <p:spPr>
              <a:xfrm>
                <a:off x="548640" y="3136391"/>
                <a:ext cx="822960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5.</a:t>
                </a:r>
                <a:r>
                  <a:rPr sz="2300">
                    <a:solidFill>
                      <a:srgbClr val="1E293B"/>
                    </a:solidFill>
                    <a:latin typeface="Calibri"/>
                  </a:rPr>
                  <a:t> Cho hình chóp </a:t>
                </a:r>
                <a:r>
                  <a:rPr lang="vi-VN"/>
                  <a:t>S.ABCD</a:t>
                </a:r>
                <a:r>
                  <a:rPr sz="2300">
                    <a:solidFill>
                      <a:srgbClr val="1E293B"/>
                    </a:solidFill>
                    <a:latin typeface="Calibri"/>
                  </a:rPr>
                  <a:t>. Gọi tên các mặt bên và mặt đáy của hình chóp đó.</a:t>
                </a:r>
              </a:p>
            </p:txBody>
          </p:sp>
        </mc:Fallback>
      </mc:AlternateContent>
      <p:sp>
        <p:nvSpPr>
          <p:cNvPr id="11" name="s3_nen"/>
          <p:cNvSpPr/>
          <p:nvPr/>
        </p:nvSpPr>
        <p:spPr>
          <a:xfrm>
            <a:off x="548640" y="4148327"/>
            <a:ext cx="822960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184903"/>
                <a:ext cx="790041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Mặt bên: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A</m:t>
                        </m:r>
                        <m:r>
                          <a:rPr lang="vi-VN" sz="2300" b="0">
                            <a:solidFill>
                              <a:srgbClr val="1E293B"/>
                            </a:solidFill>
                            <a:latin typeface="Cambria Math" panose="02040503050406030204" pitchFamily="18" charset="0"/>
                          </a:rPr>
                          <m:t>B</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B</m:t>
                        </m:r>
                        <m:r>
                          <a:rPr lang="vi-VN" sz="2300" b="0">
                            <a:solidFill>
                              <a:srgbClr val="1E293B"/>
                            </a:solidFill>
                            <a:latin typeface="Cambria Math" panose="02040503050406030204" pitchFamily="18" charset="0"/>
                          </a:rPr>
                          <m:t>C</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C</m:t>
                        </m:r>
                        <m:r>
                          <a:rPr lang="vi-VN" sz="2300" b="0">
                            <a:solidFill>
                              <a:srgbClr val="1E293B"/>
                            </a:solidFill>
                            <a:latin typeface="Cambria Math" panose="02040503050406030204" pitchFamily="18" charset="0"/>
                          </a:rPr>
                          <m:t>D</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D</m:t>
                        </m:r>
                        <m:r>
                          <a:rPr lang="vi-VN" sz="2300" b="0">
                            <a:solidFill>
                              <a:srgbClr val="1E293B"/>
                            </a:solidFill>
                            <a:latin typeface="Cambria Math" panose="02040503050406030204" pitchFamily="18" charset="0"/>
                          </a:rPr>
                          <m:t>A</m:t>
                        </m:r>
                      </m:e>
                    </m:d>
                  </m:oMath>
                </a14:m>
                <a:r>
                  <a:rPr sz="2300">
                    <a:solidFill>
                      <a:srgbClr val="1E293B"/>
                    </a:solidFill>
                    <a:latin typeface="Calibri"/>
                  </a:rPr>
                  <a:t>. Mặt đáy: </a:t>
                </a:r>
                <a14:m>
                  <m:oMath xmlns:m="http://schemas.openxmlformats.org/officeDocument/2006/math">
                    <m:d>
                      <m:dPr>
                        <m:sepChr m:val=""/>
                      </m:dPr>
                      <m:e>
                        <m:r>
                          <a:rPr lang="vi-VN" sz="2300" b="0">
                            <a:solidFill>
                              <a:srgbClr val="1E293B"/>
                            </a:solidFill>
                            <a:latin typeface="Cambria Math" panose="02040503050406030204" pitchFamily="18" charset="0"/>
                          </a:rPr>
                          <m:t>A</m:t>
                        </m:r>
                        <m:r>
                          <a:rPr lang="vi-VN" sz="2300" b="0">
                            <a:solidFill>
                              <a:srgbClr val="1E293B"/>
                            </a:solidFill>
                            <a:latin typeface="Cambria Math" panose="02040503050406030204" pitchFamily="18" charset="0"/>
                          </a:rPr>
                          <m:t>B</m:t>
                        </m:r>
                        <m:r>
                          <a:rPr lang="vi-VN" sz="2300" b="0">
                            <a:solidFill>
                              <a:srgbClr val="1E293B"/>
                            </a:solidFill>
                            <a:latin typeface="Cambria Math" panose="02040503050406030204" pitchFamily="18" charset="0"/>
                          </a:rPr>
                          <m:t>C</m:t>
                        </m:r>
                        <m:r>
                          <a:rPr lang="vi-VN" sz="2300" b="0">
                            <a:solidFill>
                              <a:srgbClr val="1E293B"/>
                            </a:solidFill>
                            <a:latin typeface="Cambria Math" panose="02040503050406030204" pitchFamily="18" charset="0"/>
                          </a:rPr>
                          <m:t>D</m:t>
                        </m:r>
                      </m:e>
                    </m:d>
                  </m:oMath>
                </a14:m>
                <a:r>
                  <a:rPr sz="2300">
                    <a:solidFill>
                      <a:srgbClr val="1E293B"/>
                    </a:solidFill>
                    <a:latin typeface="Calibri"/>
                  </a:rPr>
                  <a:t>.</a:t>
                </a:r>
              </a:p>
            </p:txBody>
          </p:sp>
        </mc:Choice>
        <mc:Fallback>
          <p:sp>
            <p:nvSpPr>
              <p:cNvPr id="12" name="TextBox 11"/>
              <p:cNvSpPr txBox="1"/>
              <p:nvPr/>
            </p:nvSpPr>
            <p:spPr>
              <a:xfrm>
                <a:off x="713232" y="4184903"/>
                <a:ext cx="790041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Mặt bên: </a:t>
                </a:r>
                <a:r>
                  <a:rPr lang="vi-VN"/>
                  <a:t>(SAB),\ (SBC),\ (SCD),\ (SDA)</a:t>
                </a:r>
                <a:r>
                  <a:rPr sz="2300">
                    <a:solidFill>
                      <a:srgbClr val="1E293B"/>
                    </a:solidFill>
                    <a:latin typeface="Calibri"/>
                  </a:rPr>
                  <a:t>. Mặt đáy: </a:t>
                </a:r>
                <a:r>
                  <a:rPr lang="vi-VN"/>
                  <a:t>(ABCD)</a:t>
                </a:r>
                <a:r>
                  <a:rPr sz="2300">
                    <a:solidFill>
                      <a:srgbClr val="1E293B"/>
                    </a:solidFill>
                    <a:latin typeface="Calibri"/>
                  </a:rPr>
                  <a:t>.</a:t>
                </a:r>
              </a:p>
            </p:txBody>
          </p:sp>
        </mc:Fallback>
      </mc:AlternateContent>
      <p:pic>
        <p:nvPicPr>
          <p:cNvPr id="13" name="Picture 12" descr="h411.png"/>
          <p:cNvPicPr>
            <a:picLocks noChangeAspect="1"/>
          </p:cNvPicPr>
          <p:nvPr/>
        </p:nvPicPr>
        <p:blipFill>
          <a:blip r:embed="rId3"/>
          <a:stretch>
            <a:fillRect/>
          </a:stretch>
        </p:blipFill>
        <p:spPr>
          <a:xfrm>
            <a:off x="8961120" y="1465511"/>
            <a:ext cx="2743200" cy="2372497"/>
          </a:xfrm>
          <a:prstGeom prst="rect">
            <a:avLst/>
          </a:prstGeom>
        </p:spPr>
      </p:pic>
      <p:sp>
        <p:nvSpPr>
          <p:cNvPr id="14" name="TextBox 13"/>
          <p:cNvSpPr txBox="1"/>
          <p:nvPr/>
        </p:nvSpPr>
        <p:spPr>
          <a:xfrm>
            <a:off x="8961120" y="3858768"/>
            <a:ext cx="27432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HÌNH TỨ DIỆN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27</a:t>
            </a:r>
          </a:p>
        </p:txBody>
      </p:sp>
      <p:sp>
        <p:nvSpPr>
          <p:cNvPr id="7" name="TextBox 6"/>
          <p:cNvSpPr txBox="1"/>
          <p:nvPr/>
        </p:nvSpPr>
        <p:spPr>
          <a:xfrm>
            <a:off x="548640" y="1371600"/>
            <a:ext cx="85953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HĐ8.</a:t>
            </a:r>
            <a:r>
              <a:rPr sz="2000">
                <a:solidFill>
                  <a:srgbClr val="1E293B"/>
                </a:solidFill>
                <a:latin typeface="Calibri"/>
              </a:rPr>
              <a:t> Trong các hình chóp ở HĐ7, hình chóp nào có ít mặt nhất? Xác định số cạnh và số mặt của hình chóp đó.</a:t>
            </a:r>
          </a:p>
        </p:txBody>
      </p:sp>
      <p:sp>
        <p:nvSpPr>
          <p:cNvPr id="8" name="s1_nen"/>
          <p:cNvSpPr/>
          <p:nvPr/>
        </p:nvSpPr>
        <p:spPr>
          <a:xfrm>
            <a:off x="548640" y="2228088"/>
            <a:ext cx="859536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264664"/>
            <a:ext cx="826617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Khối rubik (hình chóp tam giác): 6 cạnh, 4 mặt.</a:t>
            </a:r>
          </a:p>
        </p:txBody>
      </p:sp>
      <p:sp>
        <p:nvSpPr>
          <p:cNvPr id="10" name="s2_nen"/>
          <p:cNvSpPr/>
          <p:nvPr/>
        </p:nvSpPr>
        <p:spPr>
          <a:xfrm>
            <a:off x="548640" y="2871215"/>
            <a:ext cx="8595360" cy="17891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07791"/>
                <a:ext cx="8266176" cy="17160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Cho bốn điểm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C,</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D</m:t>
                    </m:r>
                  </m:oMath>
                </a14:m>
                <a:r>
                  <a:rPr sz="2000">
                    <a:solidFill>
                      <a:srgbClr val="1E293B"/>
                    </a:solidFill>
                    <a:latin typeface="Calibri"/>
                  </a:rPr>
                  <a:t> không đồng phẳng. Hình gồm bốn tam giác </a:t>
                </a:r>
                <a14:m>
                  <m:oMath xmlns:m="http://schemas.openxmlformats.org/officeDocument/2006/math">
                    <m:r>
                      <a:rPr lang="vi-VN" sz="2000" b="0">
                        <a:solidFill>
                          <a:srgbClr val="1E293B"/>
                        </a:solidFill>
                        <a:latin typeface="Cambria Math" panose="02040503050406030204" pitchFamily="18" charset="0"/>
                      </a:rPr>
                      <m:t>ABC,</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ACD,</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ABD,</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BCD</m:t>
                    </m:r>
                  </m:oMath>
                </a14:m>
                <a:r>
                  <a:rPr sz="2000">
                    <a:solidFill>
                      <a:srgbClr val="1E293B"/>
                    </a:solidFill>
                    <a:latin typeface="Calibri"/>
                  </a:rPr>
                  <a:t> gọi là </a:t>
                </a:r>
                <a:r>
                  <a:rPr sz="2000" b="1">
                    <a:solidFill>
                      <a:srgbClr val="1E293B"/>
                    </a:solidFill>
                    <a:latin typeface="Calibri"/>
                  </a:rPr>
                  <a:t>hình tứ diện</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4 </a:t>
                </a:r>
                <a:r>
                  <a:rPr sz="2000" b="1">
                    <a:solidFill>
                      <a:srgbClr val="1E293B"/>
                    </a:solidFill>
                    <a:latin typeface="Calibri"/>
                  </a:rPr>
                  <a:t>đỉnh</a:t>
                </a:r>
                <a:r>
                  <a:rPr sz="2000">
                    <a:solidFill>
                      <a:srgbClr val="1E293B"/>
                    </a:solidFill>
                    <a:latin typeface="Calibri"/>
                  </a:rPr>
                  <a:t>; 6 </a:t>
                </a:r>
                <a:r>
                  <a:rPr sz="2000" b="1">
                    <a:solidFill>
                      <a:srgbClr val="1E293B"/>
                    </a:solidFill>
                    <a:latin typeface="Calibri"/>
                  </a:rPr>
                  <a:t>cạnh</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BC,</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CD,</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DA,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AC,</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BD</m:t>
                    </m:r>
                  </m:oMath>
                </a14:m>
                <a:r>
                  <a:rPr sz="2000">
                    <a:solidFill>
                      <a:srgbClr val="1E293B"/>
                    </a:solidFill>
                    <a:latin typeface="Calibri"/>
                  </a:rPr>
                  <a:t>; 4 </a:t>
                </a:r>
                <a:r>
                  <a:rPr sz="2000" b="1">
                    <a:solidFill>
                      <a:srgbClr val="1E293B"/>
                    </a:solidFill>
                    <a:latin typeface="Calibri"/>
                  </a:rPr>
                  <a:t>mặt</a:t>
                </a:r>
                <a:r>
                  <a:rPr sz="2000">
                    <a:solidFill>
                      <a:srgbClr val="1E293B"/>
                    </a:solidFill>
                    <a:latin typeface="Calibri"/>
                  </a:rPr>
                  <a:t>. Hai cạnh không có đỉnh chung: </a:t>
                </a:r>
                <a:r>
                  <a:rPr sz="2000" b="1">
                    <a:solidFill>
                      <a:srgbClr val="1E293B"/>
                    </a:solidFill>
                    <a:latin typeface="Calibri"/>
                  </a:rPr>
                  <a:t>hai cạnh đối diện</a:t>
                </a:r>
                <a:r>
                  <a:rPr sz="2000">
                    <a:solidFill>
                      <a:srgbClr val="1E293B"/>
                    </a:solidFill>
                    <a:latin typeface="Calibri"/>
                  </a:rPr>
                  <a:t>; đỉnh không nằm trên một mặt: </a:t>
                </a:r>
                <a:r>
                  <a:rPr sz="2000" b="1">
                    <a:solidFill>
                      <a:srgbClr val="1E293B"/>
                    </a:solidFill>
                    <a:latin typeface="Calibri"/>
                  </a:rPr>
                  <a:t>đỉnh đối diện</a:t>
                </a:r>
                <a:r>
                  <a:rPr sz="2000">
                    <a:solidFill>
                      <a:srgbClr val="1E293B"/>
                    </a:solidFill>
                    <a:latin typeface="Calibri"/>
                  </a:rPr>
                  <a:t> với mặt đó.</a:t>
                </a:r>
              </a:p>
            </p:txBody>
          </p:sp>
        </mc:Choice>
        <mc:Fallback>
          <p:sp>
            <p:nvSpPr>
              <p:cNvPr id="11" name="TextBox 10"/>
              <p:cNvSpPr txBox="1"/>
              <p:nvPr/>
            </p:nvSpPr>
            <p:spPr>
              <a:xfrm>
                <a:off x="713232" y="2907791"/>
                <a:ext cx="8266176" cy="17160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Cho bốn điểm </a:t>
                </a:r>
                <a:r>
                  <a:rPr lang="vi-VN"/>
                  <a:t>A,\ B,\ C,\ D</a:t>
                </a:r>
                <a:r>
                  <a:rPr sz="2000">
                    <a:solidFill>
                      <a:srgbClr val="1E293B"/>
                    </a:solidFill>
                    <a:latin typeface="Calibri"/>
                  </a:rPr>
                  <a:t> không đồng phẳng. Hình gồm bốn tam giác </a:t>
                </a:r>
                <a:r>
                  <a:rPr lang="vi-VN"/>
                  <a:t>ABC,\ ACD,\ ABD,\ BCD</a:t>
                </a:r>
                <a:r>
                  <a:rPr sz="2000">
                    <a:solidFill>
                      <a:srgbClr val="1E293B"/>
                    </a:solidFill>
                    <a:latin typeface="Calibri"/>
                  </a:rPr>
                  <a:t> gọi là </a:t>
                </a:r>
                <a:r>
                  <a:rPr sz="2000" b="1">
                    <a:solidFill>
                      <a:srgbClr val="1E293B"/>
                    </a:solidFill>
                    <a:latin typeface="Calibri"/>
                  </a:rPr>
                  <a:t>hình tứ diện</a:t>
                </a:r>
                <a:r>
                  <a:rPr sz="2000">
                    <a:solidFill>
                      <a:srgbClr val="1E293B"/>
                    </a:solidFill>
                    <a:latin typeface="Calibri"/>
                  </a:rPr>
                  <a:t> </a:t>
                </a:r>
                <a:r>
                  <a:rPr lang="vi-VN"/>
                  <a:t>ABCD</a:t>
                </a:r>
                <a:r>
                  <a:rPr sz="2000">
                    <a:solidFill>
                      <a:srgbClr val="1E293B"/>
                    </a:solidFill>
                    <a:latin typeface="Calibri"/>
                  </a:rPr>
                  <a:t>: 4 </a:t>
                </a:r>
                <a:r>
                  <a:rPr sz="2000" b="1">
                    <a:solidFill>
                      <a:srgbClr val="1E293B"/>
                    </a:solidFill>
                    <a:latin typeface="Calibri"/>
                  </a:rPr>
                  <a:t>đỉnh</a:t>
                </a:r>
                <a:r>
                  <a:rPr sz="2000">
                    <a:solidFill>
                      <a:srgbClr val="1E293B"/>
                    </a:solidFill>
                    <a:latin typeface="Calibri"/>
                  </a:rPr>
                  <a:t>; 6 </a:t>
                </a:r>
                <a:r>
                  <a:rPr sz="2000" b="1">
                    <a:solidFill>
                      <a:srgbClr val="1E293B"/>
                    </a:solidFill>
                    <a:latin typeface="Calibri"/>
                  </a:rPr>
                  <a:t>cạnh</a:t>
                </a:r>
                <a:r>
                  <a:rPr sz="2000">
                    <a:solidFill>
                      <a:srgbClr val="1E293B"/>
                    </a:solidFill>
                    <a:latin typeface="Calibri"/>
                  </a:rPr>
                  <a:t> </a:t>
                </a:r>
                <a:r>
                  <a:rPr lang="vi-VN"/>
                  <a:t>AB,\ BC,\ CD,\ DA,\ AC,\ BD</a:t>
                </a:r>
                <a:r>
                  <a:rPr sz="2000">
                    <a:solidFill>
                      <a:srgbClr val="1E293B"/>
                    </a:solidFill>
                    <a:latin typeface="Calibri"/>
                  </a:rPr>
                  <a:t>; 4 </a:t>
                </a:r>
                <a:r>
                  <a:rPr sz="2000" b="1">
                    <a:solidFill>
                      <a:srgbClr val="1E293B"/>
                    </a:solidFill>
                    <a:latin typeface="Calibri"/>
                  </a:rPr>
                  <a:t>mặt</a:t>
                </a:r>
                <a:r>
                  <a:rPr sz="2000">
                    <a:solidFill>
                      <a:srgbClr val="1E293B"/>
                    </a:solidFill>
                    <a:latin typeface="Calibri"/>
                  </a:rPr>
                  <a:t>. Hai cạnh không có đỉnh chung: </a:t>
                </a:r>
                <a:r>
                  <a:rPr sz="2000" b="1">
                    <a:solidFill>
                      <a:srgbClr val="1E293B"/>
                    </a:solidFill>
                    <a:latin typeface="Calibri"/>
                  </a:rPr>
                  <a:t>hai cạnh đối diện</a:t>
                </a:r>
                <a:r>
                  <a:rPr sz="2000">
                    <a:solidFill>
                      <a:srgbClr val="1E293B"/>
                    </a:solidFill>
                    <a:latin typeface="Calibri"/>
                  </a:rPr>
                  <a:t>; đỉnh không nằm trên một mặt: </a:t>
                </a:r>
                <a:r>
                  <a:rPr sz="2000" b="1">
                    <a:solidFill>
                      <a:srgbClr val="1E293B"/>
                    </a:solidFill>
                    <a:latin typeface="Calibri"/>
                  </a:rPr>
                  <a:t>đỉnh đối diện</a:t>
                </a:r>
                <a:r>
                  <a:rPr sz="2000">
                    <a:solidFill>
                      <a:srgbClr val="1E293B"/>
                    </a:solidFill>
                    <a:latin typeface="Calibri"/>
                  </a:rPr>
                  <a:t> với mặt đó.</a:t>
                </a:r>
              </a:p>
            </p:txBody>
          </p:sp>
        </mc:Fallback>
      </mc:AlternateContent>
      <p:sp>
        <p:nvSpPr>
          <p:cNvPr id="12" name="s3_chu"/>
          <p:cNvSpPr txBox="1"/>
          <p:nvPr/>
        </p:nvSpPr>
        <p:spPr>
          <a:xfrm>
            <a:off x="548640" y="4733544"/>
            <a:ext cx="85953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Tứ diện là hình chóp tam giác mà mặt nào cũng có thể coi là mặt đáy. Tứ diện có bốn mặt là tam giác đều: </a:t>
            </a:r>
            <a:r>
              <a:rPr sz="2000" b="1">
                <a:solidFill>
                  <a:srgbClr val="1E293B"/>
                </a:solidFill>
                <a:latin typeface="Calibri"/>
              </a:rPr>
              <a:t>tứ diện đều</a:t>
            </a:r>
            <a:r>
              <a:rPr sz="2000">
                <a:solidFill>
                  <a:srgbClr val="1E293B"/>
                </a:solidFill>
                <a:latin typeface="Calibri"/>
              </a:rPr>
              <a:t>.</a:t>
            </a:r>
          </a:p>
        </p:txBody>
      </p:sp>
      <p:pic>
        <p:nvPicPr>
          <p:cNvPr id="13" name="Picture 12" descr="p_rubik.png"/>
          <p:cNvPicPr>
            <a:picLocks noChangeAspect="1"/>
          </p:cNvPicPr>
          <p:nvPr/>
        </p:nvPicPr>
        <p:blipFill>
          <a:blip r:embed="rId3"/>
          <a:stretch>
            <a:fillRect/>
          </a:stretch>
        </p:blipFill>
        <p:spPr>
          <a:xfrm>
            <a:off x="9326880" y="1581077"/>
            <a:ext cx="2377440" cy="16841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6 (SGK TR.76)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6.</a:t>
                </a:r>
                <a:r>
                  <a:rPr sz="2000">
                    <a:solidFill>
                      <a:srgbClr val="1E293B"/>
                    </a:solidFill>
                    <a:latin typeface="Calibri"/>
                  </a:rPr>
                  <a:t> Cho tứ diện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E</m:t>
                    </m:r>
                  </m:oMath>
                </a14:m>
                <a:r>
                  <a:rPr sz="2000">
                    <a:solidFill>
                      <a:srgbClr val="1E293B"/>
                    </a:solidFill>
                    <a:latin typeface="Calibri"/>
                  </a:rPr>
                  <a:t> là một điểm nằm trong tam giác </a:t>
                </a:r>
                <a14:m>
                  <m:oMath xmlns:m="http://schemas.openxmlformats.org/officeDocument/2006/math">
                    <m:r>
                      <a:rPr lang="vi-VN" sz="2000" b="0">
                        <a:solidFill>
                          <a:srgbClr val="1E293B"/>
                        </a:solidFill>
                        <a:latin typeface="Cambria Math" panose="02040503050406030204" pitchFamily="18" charset="0"/>
                      </a:rPr>
                      <m:t>BCD</m:t>
                    </m:r>
                  </m:oMath>
                </a14:m>
                <a:r>
                  <a:rPr sz="2000">
                    <a:solidFill>
                      <a:srgbClr val="1E293B"/>
                    </a:solidFill>
                    <a:latin typeface="Calibri"/>
                  </a:rPr>
                  <a:t>. Gọi </a:t>
                </a:r>
                <a14:m>
                  <m:oMath xmlns:m="http://schemas.openxmlformats.org/officeDocument/2006/math">
                    <m:r>
                      <a:rPr lang="vi-VN" sz="2000" b="0">
                        <a:solidFill>
                          <a:srgbClr val="1E293B"/>
                        </a:solidFill>
                        <a:latin typeface="Cambria Math" panose="02040503050406030204" pitchFamily="18" charset="0"/>
                      </a:rPr>
                      <m:t>F</m:t>
                    </m:r>
                  </m:oMath>
                </a14:m>
                <a:r>
                  <a:rPr sz="2000">
                    <a:solidFill>
                      <a:srgbClr val="1E293B"/>
                    </a:solidFill>
                    <a:latin typeface="Calibri"/>
                  </a:rPr>
                  <a:t> là một điểm nằm giữa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E</m:t>
                    </m:r>
                  </m:oMath>
                </a14:m>
                <a:r>
                  <a:rPr sz="2000">
                    <a:solidFill>
                      <a:srgbClr val="1E293B"/>
                    </a:solidFill>
                    <a:latin typeface="Calibri"/>
                  </a:rPr>
                  <a:t> (H.4.12). Xác định giao điểm của đường thẳng </a:t>
                </a:r>
                <a14:m>
                  <m:oMath xmlns:m="http://schemas.openxmlformats.org/officeDocument/2006/math">
                    <m:r>
                      <a:rPr lang="vi-VN" sz="2000" b="0">
                        <a:solidFill>
                          <a:srgbClr val="1E293B"/>
                        </a:solidFill>
                        <a:latin typeface="Cambria Math" panose="02040503050406030204" pitchFamily="18" charset="0"/>
                      </a:rPr>
                      <m:t>BF</m:t>
                    </m:r>
                  </m:oMath>
                </a14:m>
                <a:r>
                  <a:rPr sz="2000">
                    <a:solidFill>
                      <a:srgbClr val="1E293B"/>
                    </a:solidFill>
                    <a:latin typeface="Calibri"/>
                  </a:rPr>
                  <a:t> và mặt phẳng </a:t>
                </a:r>
                <a14:m>
                  <m:oMath xmlns:m="http://schemas.openxmlformats.org/officeDocument/2006/math">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C</m:t>
                        </m:r>
                        <m:r>
                          <a:rPr lang="vi-VN" sz="2000" b="0">
                            <a:solidFill>
                              <a:srgbClr val="1E293B"/>
                            </a:solidFill>
                            <a:latin typeface="Cambria Math" panose="02040503050406030204" pitchFamily="18" charset="0"/>
                          </a:rPr>
                          <m:t>D</m:t>
                        </m:r>
                      </m:e>
                    </m:d>
                  </m:oMath>
                </a14:m>
                <a:r>
                  <a:rPr sz="2000">
                    <a:solidFill>
                      <a:srgbClr val="1E293B"/>
                    </a:solidFill>
                    <a:latin typeface="Calibri"/>
                  </a:rPr>
                  <a:t>.</a:t>
                </a:r>
              </a:p>
            </p:txBody>
          </p:sp>
        </mc:Choice>
        <mc:Fallback>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6.</a:t>
                </a:r>
                <a:r>
                  <a:rPr sz="2000">
                    <a:solidFill>
                      <a:srgbClr val="1E293B"/>
                    </a:solidFill>
                    <a:latin typeface="Calibri"/>
                  </a:rPr>
                  <a:t> Cho tứ diện </a:t>
                </a:r>
                <a:r>
                  <a:rPr lang="vi-VN"/>
                  <a:t>ABCD</a:t>
                </a:r>
                <a:r>
                  <a:rPr sz="2000">
                    <a:solidFill>
                      <a:srgbClr val="1E293B"/>
                    </a:solidFill>
                    <a:latin typeface="Calibri"/>
                  </a:rPr>
                  <a:t> và </a:t>
                </a:r>
                <a:r>
                  <a:rPr lang="vi-VN"/>
                  <a:t>E</a:t>
                </a:r>
                <a:r>
                  <a:rPr sz="2000">
                    <a:solidFill>
                      <a:srgbClr val="1E293B"/>
                    </a:solidFill>
                    <a:latin typeface="Calibri"/>
                  </a:rPr>
                  <a:t> là một điểm nằm trong tam giác </a:t>
                </a:r>
                <a:r>
                  <a:rPr lang="vi-VN"/>
                  <a:t>BCD</a:t>
                </a:r>
                <a:r>
                  <a:rPr sz="2000">
                    <a:solidFill>
                      <a:srgbClr val="1E293B"/>
                    </a:solidFill>
                    <a:latin typeface="Calibri"/>
                  </a:rPr>
                  <a:t>. Gọi </a:t>
                </a:r>
                <a:r>
                  <a:rPr lang="vi-VN"/>
                  <a:t>F</a:t>
                </a:r>
                <a:r>
                  <a:rPr sz="2000">
                    <a:solidFill>
                      <a:srgbClr val="1E293B"/>
                    </a:solidFill>
                    <a:latin typeface="Calibri"/>
                  </a:rPr>
                  <a:t> là một điểm nằm giữa </a:t>
                </a:r>
                <a:r>
                  <a:rPr lang="vi-VN"/>
                  <a:t>A</a:t>
                </a:r>
                <a:r>
                  <a:rPr sz="2000">
                    <a:solidFill>
                      <a:srgbClr val="1E293B"/>
                    </a:solidFill>
                    <a:latin typeface="Calibri"/>
                  </a:rPr>
                  <a:t> và </a:t>
                </a:r>
                <a:r>
                  <a:rPr lang="vi-VN"/>
                  <a:t>E</a:t>
                </a:r>
                <a:r>
                  <a:rPr sz="2000">
                    <a:solidFill>
                      <a:srgbClr val="1E293B"/>
                    </a:solidFill>
                    <a:latin typeface="Calibri"/>
                  </a:rPr>
                  <a:t> (H.4.12). Xác định giao điểm của đường thẳng </a:t>
                </a:r>
                <a:r>
                  <a:rPr lang="vi-VN"/>
                  <a:t>BF</a:t>
                </a:r>
                <a:r>
                  <a:rPr sz="2000">
                    <a:solidFill>
                      <a:srgbClr val="1E293B"/>
                    </a:solidFill>
                    <a:latin typeface="Calibri"/>
                  </a:rPr>
                  <a:t> và mặt phẳng </a:t>
                </a:r>
                <a:r>
                  <a:rPr lang="vi-VN"/>
                  <a:t>(ACD)</a:t>
                </a:r>
                <a:r>
                  <a:rPr sz="2000">
                    <a:solidFill>
                      <a:srgbClr val="1E293B"/>
                    </a:solidFill>
                    <a:latin typeface="Calibri"/>
                  </a:rPr>
                  <a:t>.</a:t>
                </a:r>
              </a:p>
            </p:txBody>
          </p:sp>
        </mc:Fallback>
      </mc:AlternateContent>
      <p:sp>
        <p:nvSpPr>
          <p:cNvPr id="8" name="s1_nen"/>
          <p:cNvSpPr/>
          <p:nvPr/>
        </p:nvSpPr>
        <p:spPr>
          <a:xfrm>
            <a:off x="548640" y="2532888"/>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69464"/>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E</m:t>
                    </m:r>
                  </m:oMath>
                </a14:m>
                <a:r>
                  <a:rPr sz="2000">
                    <a:solidFill>
                      <a:srgbClr val="1E293B"/>
                    </a:solidFill>
                    <a:latin typeface="Calibri"/>
                  </a:rPr>
                  <a:t> nằm trong tam giác </a:t>
                </a:r>
                <a14:m>
                  <m:oMath xmlns:m="http://schemas.openxmlformats.org/officeDocument/2006/math">
                    <m:r>
                      <a:rPr lang="vi-VN" sz="2000" b="0">
                        <a:solidFill>
                          <a:srgbClr val="1E293B"/>
                        </a:solidFill>
                        <a:latin typeface="Cambria Math" panose="02040503050406030204" pitchFamily="18" charset="0"/>
                      </a:rPr>
                      <m:t>BCD</m:t>
                    </m:r>
                  </m:oMath>
                </a14:m>
                <a:r>
                  <a:rPr sz="2000">
                    <a:solidFill>
                      <a:srgbClr val="1E293B"/>
                    </a:solidFill>
                    <a:latin typeface="Calibri"/>
                  </a:rPr>
                  <a:t> nên </a:t>
                </a:r>
                <a14:m>
                  <m:oMath xmlns:m="http://schemas.openxmlformats.org/officeDocument/2006/math">
                    <m:r>
                      <a:rPr lang="vi-VN" sz="2000" b="0">
                        <a:solidFill>
                          <a:srgbClr val="1E293B"/>
                        </a:solidFill>
                        <a:latin typeface="Cambria Math" panose="02040503050406030204" pitchFamily="18" charset="0"/>
                      </a:rPr>
                      <m:t>BE</m:t>
                    </m:r>
                  </m:oMath>
                </a14:m>
                <a:r>
                  <a:rPr sz="2000">
                    <a:solidFill>
                      <a:srgbClr val="1E293B"/>
                    </a:solidFill>
                    <a:latin typeface="Calibri"/>
                  </a:rPr>
                  <a:t> cắt </a:t>
                </a:r>
                <a14:m>
                  <m:oMath xmlns:m="http://schemas.openxmlformats.org/officeDocument/2006/math">
                    <m:r>
                      <a:rPr lang="vi-VN" sz="2000" b="0">
                        <a:solidFill>
                          <a:srgbClr val="1E293B"/>
                        </a:solidFill>
                        <a:latin typeface="Cambria Math" panose="02040503050406030204" pitchFamily="18" charset="0"/>
                      </a:rPr>
                      <m:t>CD</m:t>
                    </m:r>
                  </m:oMath>
                </a14:m>
                <a:r>
                  <a:rPr sz="2000">
                    <a:solidFill>
                      <a:srgbClr val="1E293B"/>
                    </a:solidFill>
                    <a:latin typeface="Calibri"/>
                  </a:rPr>
                  <a:t> tại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E∈(ABM)</m:t>
                    </m:r>
                  </m:oMath>
                </a14:m>
                <a:r>
                  <a:rPr sz="2000">
                    <a:solidFill>
                      <a:srgbClr val="1E293B"/>
                    </a:solidFill>
                    <a:latin typeface="Calibri"/>
                  </a:rPr>
                  <a:t> nên </a:t>
                </a:r>
                <a14:m>
                  <m:oMath xmlns:m="http://schemas.openxmlformats.org/officeDocument/2006/math">
                    <m:r>
                      <a:rPr lang="vi-VN" sz="2000" b="0">
                        <a:solidFill>
                          <a:srgbClr val="1E293B"/>
                        </a:solidFill>
                        <a:latin typeface="Cambria Math" panose="02040503050406030204" pitchFamily="18" charset="0"/>
                      </a:rPr>
                      <m:t>AE⊂(ABM)</m:t>
                    </m:r>
                  </m:oMath>
                </a14:m>
                <a:r>
                  <a:rPr sz="2000">
                    <a:solidFill>
                      <a:srgbClr val="1E293B"/>
                    </a:solidFill>
                    <a:latin typeface="Calibri"/>
                  </a:rPr>
                  <a:t>, do đó </a:t>
                </a:r>
                <a14:m>
                  <m:oMath xmlns:m="http://schemas.openxmlformats.org/officeDocument/2006/math">
                    <m:r>
                      <a:rPr lang="vi-VN" sz="2000" b="0">
                        <a:solidFill>
                          <a:srgbClr val="1E293B"/>
                        </a:solidFill>
                        <a:latin typeface="Cambria Math" panose="02040503050406030204" pitchFamily="18" charset="0"/>
                      </a:rPr>
                      <m:t>F∈(ABM)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E,</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F,</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m:t>
                    </m:r>
                  </m:oMath>
                </a14:m>
                <a:r>
                  <a:rPr sz="2000">
                    <a:solidFill>
                      <a:srgbClr val="1E293B"/>
                    </a:solidFill>
                    <a:latin typeface="Calibri"/>
                  </a:rPr>
                  <a:t> cùng thuộc </a:t>
                </a:r>
                <a14:m>
                  <m:oMath xmlns:m="http://schemas.openxmlformats.org/officeDocument/2006/math">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M</m:t>
                        </m:r>
                      </m:e>
                    </m:d>
                  </m:oMath>
                </a14:m>
                <a:r>
                  <a:rPr sz="2000">
                    <a:solidFill>
                      <a:srgbClr val="1E293B"/>
                    </a:solidFill>
                    <a:latin typeface="Calibri"/>
                  </a:rPr>
                  <a:t>.</a:t>
                </a:r>
              </a:p>
            </p:txBody>
          </p:sp>
        </mc:Choice>
        <mc:Fallback>
          <p:sp>
            <p:nvSpPr>
              <p:cNvPr id="9" name="TextBox 8"/>
              <p:cNvSpPr txBox="1"/>
              <p:nvPr/>
            </p:nvSpPr>
            <p:spPr>
              <a:xfrm>
                <a:off x="713232" y="2569464"/>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E</a:t>
                </a:r>
                <a:r>
                  <a:rPr sz="2000">
                    <a:solidFill>
                      <a:srgbClr val="1E293B"/>
                    </a:solidFill>
                    <a:latin typeface="Calibri"/>
                  </a:rPr>
                  <a:t> nằm trong tam giác </a:t>
                </a:r>
                <a:r>
                  <a:rPr lang="vi-VN"/>
                  <a:t>BCD</a:t>
                </a:r>
                <a:r>
                  <a:rPr sz="2000">
                    <a:solidFill>
                      <a:srgbClr val="1E293B"/>
                    </a:solidFill>
                    <a:latin typeface="Calibri"/>
                  </a:rPr>
                  <a:t> nên </a:t>
                </a:r>
                <a:r>
                  <a:rPr lang="vi-VN"/>
                  <a:t>BE</a:t>
                </a:r>
                <a:r>
                  <a:rPr sz="2000">
                    <a:solidFill>
                      <a:srgbClr val="1E293B"/>
                    </a:solidFill>
                    <a:latin typeface="Calibri"/>
                  </a:rPr>
                  <a:t> cắt </a:t>
                </a:r>
                <a:r>
                  <a:rPr lang="vi-VN"/>
                  <a:t>CD</a:t>
                </a:r>
                <a:r>
                  <a:rPr sz="2000">
                    <a:solidFill>
                      <a:srgbClr val="1E293B"/>
                    </a:solidFill>
                    <a:latin typeface="Calibri"/>
                  </a:rPr>
                  <a:t> tại </a:t>
                </a:r>
                <a:r>
                  <a:rPr lang="vi-VN"/>
                  <a:t>M</a:t>
                </a:r>
                <a:r>
                  <a:rPr sz="2000">
                    <a:solidFill>
                      <a:srgbClr val="1E293B"/>
                    </a:solidFill>
                    <a:latin typeface="Calibri"/>
                  </a:rPr>
                  <a:t>. </a:t>
                </a:r>
                <a:r>
                  <a:rPr lang="vi-VN"/>
                  <a:t>A,\ E\in (ABM)</a:t>
                </a:r>
                <a:r>
                  <a:rPr sz="2000">
                    <a:solidFill>
                      <a:srgbClr val="1E293B"/>
                    </a:solidFill>
                    <a:latin typeface="Calibri"/>
                  </a:rPr>
                  <a:t> nên </a:t>
                </a:r>
                <a:r>
                  <a:rPr lang="vi-VN"/>
                  <a:t>AE\subset (ABM)</a:t>
                </a:r>
                <a:r>
                  <a:rPr sz="2000">
                    <a:solidFill>
                      <a:srgbClr val="1E293B"/>
                    </a:solidFill>
                    <a:latin typeface="Calibri"/>
                  </a:rPr>
                  <a:t>, do đó </a:t>
                </a:r>
                <a:r>
                  <a:rPr lang="vi-VN"/>
                  <a:t>F\in (ABM)</a:t>
                </a:r>
                <a:r>
                  <a:rPr sz="2000">
                    <a:solidFill>
                      <a:srgbClr val="1E293B"/>
                    </a:solidFill>
                    <a:latin typeface="Calibri"/>
                  </a:rPr>
                  <a:t>: </a:t>
                </a:r>
                <a:r>
                  <a:rPr lang="vi-VN"/>
                  <a:t>A,\ B,\ E,\ F,\ M</a:t>
                </a:r>
                <a:r>
                  <a:rPr sz="2000">
                    <a:solidFill>
                      <a:srgbClr val="1E293B"/>
                    </a:solidFill>
                    <a:latin typeface="Calibri"/>
                  </a:rPr>
                  <a:t> cùng thuộc </a:t>
                </a:r>
                <a:r>
                  <a:rPr lang="vi-VN"/>
                  <a:t>(ABM)</a:t>
                </a:r>
                <a:r>
                  <a:rPr sz="2000">
                    <a:solidFill>
                      <a:srgbClr val="1E293B"/>
                    </a:solidFill>
                    <a:latin typeface="Calibri"/>
                  </a:rPr>
                  <a:t>.</a:t>
                </a:r>
              </a:p>
            </p:txBody>
          </p:sp>
        </mc:Fallback>
      </mc:AlternateContent>
      <p:sp>
        <p:nvSpPr>
          <p:cNvPr id="10" name="s2_nen"/>
          <p:cNvSpPr/>
          <p:nvPr/>
        </p:nvSpPr>
        <p:spPr>
          <a:xfrm>
            <a:off x="548640" y="3480816"/>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1739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Trong tam giác </a:t>
                </a:r>
                <a14:m>
                  <m:oMath xmlns:m="http://schemas.openxmlformats.org/officeDocument/2006/math">
                    <m:r>
                      <a:rPr lang="vi-VN" sz="2000" b="0">
                        <a:solidFill>
                          <a:srgbClr val="1E293B"/>
                        </a:solidFill>
                        <a:latin typeface="Cambria Math" panose="02040503050406030204" pitchFamily="18" charset="0"/>
                      </a:rPr>
                      <m:t>ABM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BF</m:t>
                    </m:r>
                  </m:oMath>
                </a14:m>
                <a:r>
                  <a:rPr sz="2000">
                    <a:solidFill>
                      <a:srgbClr val="1E293B"/>
                    </a:solidFill>
                    <a:latin typeface="Calibri"/>
                  </a:rPr>
                  <a:t> cắt </a:t>
                </a:r>
                <a14:m>
                  <m:oMath xmlns:m="http://schemas.openxmlformats.org/officeDocument/2006/math">
                    <m:r>
                      <a:rPr lang="vi-VN" sz="2000" b="0">
                        <a:solidFill>
                          <a:srgbClr val="1E293B"/>
                        </a:solidFill>
                        <a:latin typeface="Cambria Math" panose="02040503050406030204" pitchFamily="18" charset="0"/>
                      </a:rPr>
                      <m:t>AM</m:t>
                    </m:r>
                  </m:oMath>
                </a14:m>
                <a:r>
                  <a:rPr sz="2000">
                    <a:solidFill>
                      <a:srgbClr val="1E293B"/>
                    </a:solidFill>
                    <a:latin typeface="Calibri"/>
                  </a:rPr>
                  <a:t> tại </a:t>
                </a:r>
                <a14:m>
                  <m:oMath xmlns:m="http://schemas.openxmlformats.org/officeDocument/2006/math">
                    <m:r>
                      <a:rPr lang="vi-VN" sz="2000" b="0">
                        <a:solidFill>
                          <a:srgbClr val="1E293B"/>
                        </a:solidFill>
                        <a:latin typeface="Cambria Math" panose="02040503050406030204" pitchFamily="18" charset="0"/>
                      </a:rPr>
                      <m:t>N</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N∈AM</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M∈(ACD)</m:t>
                    </m:r>
                  </m:oMath>
                </a14:m>
                <a:r>
                  <a:rPr sz="2000">
                    <a:solidFill>
                      <a:srgbClr val="1E293B"/>
                    </a:solidFill>
                    <a:latin typeface="Calibri"/>
                  </a:rPr>
                  <a:t> nên </a:t>
                </a:r>
                <a14:m>
                  <m:oMath xmlns:m="http://schemas.openxmlformats.org/officeDocument/2006/math">
                    <m:r>
                      <a:rPr lang="vi-VN" sz="2000" b="0">
                        <a:solidFill>
                          <a:srgbClr val="1E293B"/>
                        </a:solidFill>
                        <a:latin typeface="Cambria Math" panose="02040503050406030204" pitchFamily="18" charset="0"/>
                      </a:rPr>
                      <m:t>N∈(ACD)</m:t>
                    </m:r>
                  </m:oMath>
                </a14:m>
                <a:r>
                  <a:rPr sz="2000">
                    <a:solidFill>
                      <a:srgbClr val="1E293B"/>
                    </a:solidFill>
                    <a:latin typeface="Calibri"/>
                  </a:rPr>
                  <a:t>. Vậy </a:t>
                </a:r>
                <a14:m>
                  <m:oMath xmlns:m="http://schemas.openxmlformats.org/officeDocument/2006/math">
                    <m:r>
                      <a:rPr lang="vi-VN" sz="2000" b="0">
                        <a:solidFill>
                          <a:srgbClr val="1E293B"/>
                        </a:solidFill>
                        <a:latin typeface="Cambria Math" panose="02040503050406030204" pitchFamily="18" charset="0"/>
                      </a:rPr>
                      <m:t>N=BF∩(ACD)</m:t>
                    </m:r>
                  </m:oMath>
                </a14:m>
                <a:r>
                  <a:rPr sz="2000">
                    <a:solidFill>
                      <a:srgbClr val="1E293B"/>
                    </a:solidFill>
                    <a:latin typeface="Calibri"/>
                  </a:rPr>
                  <a:t>.</a:t>
                </a:r>
              </a:p>
            </p:txBody>
          </p:sp>
        </mc:Choice>
        <mc:Fallback>
          <p:sp>
            <p:nvSpPr>
              <p:cNvPr id="11" name="TextBox 10"/>
              <p:cNvSpPr txBox="1"/>
              <p:nvPr/>
            </p:nvSpPr>
            <p:spPr>
              <a:xfrm>
                <a:off x="713232" y="351739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Trong tam giác </a:t>
                </a:r>
                <a:r>
                  <a:rPr lang="vi-VN"/>
                  <a:t>ABM</a:t>
                </a:r>
                <a:r>
                  <a:rPr sz="2000">
                    <a:solidFill>
                      <a:srgbClr val="1E293B"/>
                    </a:solidFill>
                    <a:latin typeface="Calibri"/>
                  </a:rPr>
                  <a:t>, </a:t>
                </a:r>
                <a:r>
                  <a:rPr lang="vi-VN"/>
                  <a:t>BF</a:t>
                </a:r>
                <a:r>
                  <a:rPr sz="2000">
                    <a:solidFill>
                      <a:srgbClr val="1E293B"/>
                    </a:solidFill>
                    <a:latin typeface="Calibri"/>
                  </a:rPr>
                  <a:t> cắt </a:t>
                </a:r>
                <a:r>
                  <a:rPr lang="vi-VN"/>
                  <a:t>AM</a:t>
                </a:r>
                <a:r>
                  <a:rPr sz="2000">
                    <a:solidFill>
                      <a:srgbClr val="1E293B"/>
                    </a:solidFill>
                    <a:latin typeface="Calibri"/>
                  </a:rPr>
                  <a:t> tại </a:t>
                </a:r>
                <a:r>
                  <a:rPr lang="vi-VN"/>
                  <a:t>N</a:t>
                </a:r>
                <a:r>
                  <a:rPr sz="2000">
                    <a:solidFill>
                      <a:srgbClr val="1E293B"/>
                    </a:solidFill>
                    <a:latin typeface="Calibri"/>
                  </a:rPr>
                  <a:t>. </a:t>
                </a:r>
                <a:r>
                  <a:rPr lang="vi-VN"/>
                  <a:t>N\in AM</a:t>
                </a:r>
                <a:r>
                  <a:rPr sz="2000">
                    <a:solidFill>
                      <a:srgbClr val="1E293B"/>
                    </a:solidFill>
                    <a:latin typeface="Calibri"/>
                  </a:rPr>
                  <a:t> và </a:t>
                </a:r>
                <a:r>
                  <a:rPr lang="vi-VN"/>
                  <a:t>A,\ M\in (ACD)</a:t>
                </a:r>
                <a:r>
                  <a:rPr sz="2000">
                    <a:solidFill>
                      <a:srgbClr val="1E293B"/>
                    </a:solidFill>
                    <a:latin typeface="Calibri"/>
                  </a:rPr>
                  <a:t> nên </a:t>
                </a:r>
                <a:r>
                  <a:rPr lang="vi-VN"/>
                  <a:t>N\in (ACD)</a:t>
                </a:r>
                <a:r>
                  <a:rPr sz="2000">
                    <a:solidFill>
                      <a:srgbClr val="1E293B"/>
                    </a:solidFill>
                    <a:latin typeface="Calibri"/>
                  </a:rPr>
                  <a:t>. Vậy </a:t>
                </a:r>
                <a:r>
                  <a:rPr lang="vi-VN"/>
                  <a:t>N=BF\cap (ACD)</a:t>
                </a:r>
                <a:r>
                  <a:rPr sz="2000">
                    <a:solidFill>
                      <a:srgbClr val="1E293B"/>
                    </a:solidFill>
                    <a:latin typeface="Calibri"/>
                  </a:rPr>
                  <a:t>.</a:t>
                </a:r>
              </a:p>
            </p:txBody>
          </p:sp>
        </mc:Fallback>
      </mc:AlternateContent>
      <p:sp>
        <p:nvSpPr>
          <p:cNvPr id="12" name="s3_nen"/>
          <p:cNvSpPr/>
          <p:nvPr/>
        </p:nvSpPr>
        <p:spPr>
          <a:xfrm>
            <a:off x="548640" y="4428744"/>
            <a:ext cx="859536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4465320"/>
            <a:ext cx="826617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Để tìm giao điểm của đường thẳng và mặt phẳng: tìm giao điểm của đường thẳng đó với </a:t>
            </a:r>
            <a:r>
              <a:rPr sz="2000" b="1">
                <a:solidFill>
                  <a:srgbClr val="1E293B"/>
                </a:solidFill>
                <a:latin typeface="Calibri"/>
              </a:rPr>
              <a:t>một đường thẳng nằm trong mặt phẳng</a:t>
            </a:r>
            <a:r>
              <a:rPr sz="2000">
                <a:solidFill>
                  <a:srgbClr val="1E293B"/>
                </a:solidFill>
                <a:latin typeface="Calibri"/>
              </a:rPr>
              <a:t> đã cho.</a:t>
            </a:r>
          </a:p>
        </p:txBody>
      </p:sp>
      <p:pic>
        <p:nvPicPr>
          <p:cNvPr id="14" name="Picture 13" descr="h412.png"/>
          <p:cNvPicPr>
            <a:picLocks noChangeAspect="1"/>
          </p:cNvPicPr>
          <p:nvPr/>
        </p:nvPicPr>
        <p:blipFill>
          <a:blip r:embed="rId3"/>
          <a:stretch>
            <a:fillRect/>
          </a:stretch>
        </p:blipFill>
        <p:spPr>
          <a:xfrm>
            <a:off x="9326880" y="1468766"/>
            <a:ext cx="2377440" cy="2548868"/>
          </a:xfrm>
          <a:prstGeom prst="rect">
            <a:avLst/>
          </a:prstGeom>
        </p:spPr>
      </p:pic>
      <p:sp>
        <p:nvSpPr>
          <p:cNvPr id="15" name="TextBox 14"/>
          <p:cNvSpPr txBox="1"/>
          <p:nvPr/>
        </p:nvSpPr>
        <p:spPr>
          <a:xfrm>
            <a:off x="9326880" y="4041648"/>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6 (SGK TR.76)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29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6.</a:t>
                </a:r>
                <a:r>
                  <a:rPr sz="2300">
                    <a:solidFill>
                      <a:srgbClr val="1E293B"/>
                    </a:solidFill>
                    <a:latin typeface="Calibri"/>
                  </a:rPr>
                  <a:t> Trong Ví dụ 6, xác định giao điểm của đường thẳng </a:t>
                </a:r>
                <a14:m>
                  <m:oMath xmlns:m="http://schemas.openxmlformats.org/officeDocument/2006/math">
                    <m:r>
                      <a:rPr lang="vi-VN" sz="2300" b="0">
                        <a:solidFill>
                          <a:srgbClr val="1E293B"/>
                        </a:solidFill>
                        <a:latin typeface="Cambria Math" panose="02040503050406030204" pitchFamily="18" charset="0"/>
                      </a:rPr>
                      <m:t>DF</m:t>
                    </m:r>
                  </m:oMath>
                </a14:m>
                <a:r>
                  <a:rPr sz="2300">
                    <a:solidFill>
                      <a:srgbClr val="1E293B"/>
                    </a:solidFill>
                    <a:latin typeface="Calibri"/>
                  </a:rPr>
                  <a:t> và mặt phẳng </a:t>
                </a:r>
                <a14:m>
                  <m:oMath xmlns:m="http://schemas.openxmlformats.org/officeDocument/2006/math">
                    <m:d>
                      <m:dPr>
                        <m:sepChr m:val=""/>
                      </m:dPr>
                      <m:e>
                        <m:r>
                          <a:rPr lang="vi-VN" sz="2300" b="0">
                            <a:solidFill>
                              <a:srgbClr val="1E293B"/>
                            </a:solidFill>
                            <a:latin typeface="Cambria Math" panose="02040503050406030204" pitchFamily="18" charset="0"/>
                          </a:rPr>
                          <m:t>A</m:t>
                        </m:r>
                        <m:r>
                          <a:rPr lang="vi-VN" sz="2300" b="0">
                            <a:solidFill>
                              <a:srgbClr val="1E293B"/>
                            </a:solidFill>
                            <a:latin typeface="Cambria Math" panose="02040503050406030204" pitchFamily="18" charset="0"/>
                          </a:rPr>
                          <m:t>B</m:t>
                        </m:r>
                        <m:r>
                          <a:rPr lang="vi-VN" sz="2300" b="0">
                            <a:solidFill>
                              <a:srgbClr val="1E293B"/>
                            </a:solidFill>
                            <a:latin typeface="Cambria Math" panose="02040503050406030204" pitchFamily="18" charset="0"/>
                          </a:rPr>
                          <m:t>C</m:t>
                        </m:r>
                      </m:e>
                    </m:d>
                  </m:oMath>
                </a14:m>
                <a:r>
                  <a:rPr sz="2300">
                    <a:solidFill>
                      <a:srgbClr val="1E293B"/>
                    </a:solidFill>
                    <a:latin typeface="Calibri"/>
                  </a:rPr>
                  <a:t>.</a:t>
                </a:r>
              </a:p>
            </p:txBody>
          </p:sp>
        </mc:Choice>
        <mc:Fallback>
          <p:sp>
            <p:nvSpPr>
              <p:cNvPr id="7" name="TextBox 6"/>
              <p:cNvSpPr txBox="1"/>
              <p:nvPr/>
            </p:nvSpPr>
            <p:spPr>
              <a:xfrm>
                <a:off x="548640" y="1371600"/>
                <a:ext cx="859536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6.</a:t>
                </a:r>
                <a:r>
                  <a:rPr sz="2300">
                    <a:solidFill>
                      <a:srgbClr val="1E293B"/>
                    </a:solidFill>
                    <a:latin typeface="Calibri"/>
                  </a:rPr>
                  <a:t> Trong Ví dụ 6, xác định giao điểm của đường thẳng </a:t>
                </a:r>
                <a:r>
                  <a:rPr lang="vi-VN"/>
                  <a:t>DF</a:t>
                </a:r>
                <a:r>
                  <a:rPr sz="2300">
                    <a:solidFill>
                      <a:srgbClr val="1E293B"/>
                    </a:solidFill>
                    <a:latin typeface="Calibri"/>
                  </a:rPr>
                  <a:t> và mặt phẳng </a:t>
                </a:r>
                <a:r>
                  <a:rPr lang="vi-VN"/>
                  <a:t>(ABC)</a:t>
                </a:r>
                <a:r>
                  <a:rPr sz="2300">
                    <a:solidFill>
                      <a:srgbClr val="1E293B"/>
                    </a:solidFill>
                    <a:latin typeface="Calibri"/>
                  </a:rPr>
                  <a:t>.</a:t>
                </a:r>
              </a:p>
            </p:txBody>
          </p:sp>
        </mc:Fallback>
      </mc:AlternateContent>
      <p:sp>
        <p:nvSpPr>
          <p:cNvPr id="8" name="s1_nen"/>
          <p:cNvSpPr/>
          <p:nvPr/>
        </p:nvSpPr>
        <p:spPr>
          <a:xfrm>
            <a:off x="548640" y="2383536"/>
            <a:ext cx="859536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20112"/>
                <a:ext cx="826617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E</m:t>
                    </m:r>
                  </m:oMath>
                </a14:m>
                <a:r>
                  <a:rPr sz="2300">
                    <a:solidFill>
                      <a:srgbClr val="1E293B"/>
                    </a:solidFill>
                    <a:latin typeface="Calibri"/>
                  </a:rPr>
                  <a:t> nằm trong tam giác </a:t>
                </a:r>
                <a14:m>
                  <m:oMath xmlns:m="http://schemas.openxmlformats.org/officeDocument/2006/math">
                    <m:r>
                      <a:rPr lang="vi-VN" sz="2300" b="0">
                        <a:solidFill>
                          <a:srgbClr val="1E293B"/>
                        </a:solidFill>
                        <a:latin typeface="Cambria Math" panose="02040503050406030204" pitchFamily="18" charset="0"/>
                      </a:rPr>
                      <m:t>BCD</m:t>
                    </m:r>
                  </m:oMath>
                </a14:m>
                <a:r>
                  <a:rPr sz="2300">
                    <a:solidFill>
                      <a:srgbClr val="1E293B"/>
                    </a:solidFill>
                    <a:latin typeface="Calibri"/>
                  </a:rPr>
                  <a:t> nên </a:t>
                </a:r>
                <a14:m>
                  <m:oMath xmlns:m="http://schemas.openxmlformats.org/officeDocument/2006/math">
                    <m:r>
                      <a:rPr lang="vi-VN" sz="2300" b="0">
                        <a:solidFill>
                          <a:srgbClr val="1E293B"/>
                        </a:solidFill>
                        <a:latin typeface="Cambria Math" panose="02040503050406030204" pitchFamily="18" charset="0"/>
                      </a:rPr>
                      <m:t>DE</m:t>
                    </m:r>
                  </m:oMath>
                </a14:m>
                <a:r>
                  <a:rPr sz="2300">
                    <a:solidFill>
                      <a:srgbClr val="1E293B"/>
                    </a:solidFill>
                    <a:latin typeface="Calibri"/>
                  </a:rPr>
                  <a:t> cắt cạnh </a:t>
                </a:r>
                <a14:m>
                  <m:oMath xmlns:m="http://schemas.openxmlformats.org/officeDocument/2006/math">
                    <m:r>
                      <a:rPr lang="vi-VN" sz="2300" b="0">
                        <a:solidFill>
                          <a:srgbClr val="1E293B"/>
                        </a:solidFill>
                        <a:latin typeface="Cambria Math" panose="02040503050406030204" pitchFamily="18" charset="0"/>
                      </a:rPr>
                      <m:t>BC</m:t>
                    </m:r>
                  </m:oMath>
                </a14:m>
                <a:r>
                  <a:rPr sz="2300">
                    <a:solidFill>
                      <a:srgbClr val="1E293B"/>
                    </a:solidFill>
                    <a:latin typeface="Calibri"/>
                  </a:rPr>
                  <a:t> tại </a:t>
                </a:r>
                <a14:m>
                  <m:oMath xmlns:m="http://schemas.openxmlformats.org/officeDocument/2006/math">
                    <m:r>
                      <a:rPr lang="vi-VN" sz="2300" b="0">
                        <a:solidFill>
                          <a:srgbClr val="1E293B"/>
                        </a:solidFill>
                        <a:latin typeface="Cambria Math" panose="02040503050406030204" pitchFamily="18" charset="0"/>
                      </a:rPr>
                      <m:t>P</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F∈AE⊂(ADP)</m:t>
                    </m:r>
                  </m:oMath>
                </a14:m>
                <a:r>
                  <a:rPr sz="2300">
                    <a:solidFill>
                      <a:srgbClr val="1E293B"/>
                    </a:solidFill>
                    <a:latin typeface="Calibri"/>
                  </a:rPr>
                  <a:t>.</a:t>
                </a:r>
              </a:p>
            </p:txBody>
          </p:sp>
        </mc:Choice>
        <mc:Fallback>
          <p:sp>
            <p:nvSpPr>
              <p:cNvPr id="9" name="TextBox 8"/>
              <p:cNvSpPr txBox="1"/>
              <p:nvPr/>
            </p:nvSpPr>
            <p:spPr>
              <a:xfrm>
                <a:off x="713232" y="2420112"/>
                <a:ext cx="826617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E</a:t>
                </a:r>
                <a:r>
                  <a:rPr sz="2300">
                    <a:solidFill>
                      <a:srgbClr val="1E293B"/>
                    </a:solidFill>
                    <a:latin typeface="Calibri"/>
                  </a:rPr>
                  <a:t> nằm trong tam giác </a:t>
                </a:r>
                <a:r>
                  <a:rPr lang="vi-VN"/>
                  <a:t>BCD</a:t>
                </a:r>
                <a:r>
                  <a:rPr sz="2300">
                    <a:solidFill>
                      <a:srgbClr val="1E293B"/>
                    </a:solidFill>
                    <a:latin typeface="Calibri"/>
                  </a:rPr>
                  <a:t> nên </a:t>
                </a:r>
                <a:r>
                  <a:rPr lang="vi-VN"/>
                  <a:t>DE</a:t>
                </a:r>
                <a:r>
                  <a:rPr sz="2300">
                    <a:solidFill>
                      <a:srgbClr val="1E293B"/>
                    </a:solidFill>
                    <a:latin typeface="Calibri"/>
                  </a:rPr>
                  <a:t> cắt cạnh </a:t>
                </a:r>
                <a:r>
                  <a:rPr lang="vi-VN"/>
                  <a:t>BC</a:t>
                </a:r>
                <a:r>
                  <a:rPr sz="2300">
                    <a:solidFill>
                      <a:srgbClr val="1E293B"/>
                    </a:solidFill>
                    <a:latin typeface="Calibri"/>
                  </a:rPr>
                  <a:t> tại </a:t>
                </a:r>
                <a:r>
                  <a:rPr lang="vi-VN"/>
                  <a:t>P</a:t>
                </a:r>
                <a:r>
                  <a:rPr sz="2300">
                    <a:solidFill>
                      <a:srgbClr val="1E293B"/>
                    </a:solidFill>
                    <a:latin typeface="Calibri"/>
                  </a:rPr>
                  <a:t>. </a:t>
                </a:r>
                <a:r>
                  <a:rPr lang="vi-VN"/>
                  <a:t>F\in AE\subset (ADP)</a:t>
                </a:r>
                <a:r>
                  <a:rPr sz="2300">
                    <a:solidFill>
                      <a:srgbClr val="1E293B"/>
                    </a:solidFill>
                    <a:latin typeface="Calibri"/>
                  </a:rPr>
                  <a:t>.</a:t>
                </a:r>
              </a:p>
            </p:txBody>
          </p:sp>
        </mc:Fallback>
      </mc:AlternateContent>
      <p:sp>
        <p:nvSpPr>
          <p:cNvPr id="10" name="s2_nen"/>
          <p:cNvSpPr/>
          <p:nvPr/>
        </p:nvSpPr>
        <p:spPr>
          <a:xfrm>
            <a:off x="548640" y="3486911"/>
            <a:ext cx="859536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23487"/>
                <a:ext cx="826617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Trong mặt phẳng </a:t>
                </a:r>
                <a14:m>
                  <m:oMath xmlns:m="http://schemas.openxmlformats.org/officeDocument/2006/math">
                    <m:d>
                      <m:dPr>
                        <m:sepChr m:val=""/>
                      </m:dPr>
                      <m:e>
                        <m:r>
                          <a:rPr lang="vi-VN" sz="2300" b="0">
                            <a:solidFill>
                              <a:srgbClr val="1E293B"/>
                            </a:solidFill>
                            <a:latin typeface="Cambria Math" panose="02040503050406030204" pitchFamily="18" charset="0"/>
                          </a:rPr>
                          <m:t>A</m:t>
                        </m:r>
                        <m:r>
                          <a:rPr lang="vi-VN" sz="2300" b="0">
                            <a:solidFill>
                              <a:srgbClr val="1E293B"/>
                            </a:solidFill>
                            <a:latin typeface="Cambria Math" panose="02040503050406030204" pitchFamily="18" charset="0"/>
                          </a:rPr>
                          <m:t>D</m:t>
                        </m:r>
                        <m:r>
                          <a:rPr lang="vi-VN" sz="2300" b="0">
                            <a:solidFill>
                              <a:srgbClr val="1E293B"/>
                            </a:solidFill>
                            <a:latin typeface="Cambria Math" panose="02040503050406030204" pitchFamily="18" charset="0"/>
                          </a:rPr>
                          <m:t>P</m:t>
                        </m:r>
                      </m:e>
                    </m:d>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DF</m:t>
                    </m:r>
                  </m:oMath>
                </a14:m>
                <a:r>
                  <a:rPr sz="2300">
                    <a:solidFill>
                      <a:srgbClr val="1E293B"/>
                    </a:solidFill>
                    <a:latin typeface="Calibri"/>
                  </a:rPr>
                  <a:t> cắt </a:t>
                </a:r>
                <a14:m>
                  <m:oMath xmlns:m="http://schemas.openxmlformats.org/officeDocument/2006/math">
                    <m:r>
                      <a:rPr lang="vi-VN" sz="2300" b="0">
                        <a:solidFill>
                          <a:srgbClr val="1E293B"/>
                        </a:solidFill>
                        <a:latin typeface="Cambria Math" panose="02040503050406030204" pitchFamily="18" charset="0"/>
                      </a:rPr>
                      <m:t>AP</m:t>
                    </m:r>
                  </m:oMath>
                </a14:m>
                <a:r>
                  <a:rPr sz="2300">
                    <a:solidFill>
                      <a:srgbClr val="1E293B"/>
                    </a:solidFill>
                    <a:latin typeface="Calibri"/>
                  </a:rPr>
                  <a:t> tại </a:t>
                </a:r>
                <a14:m>
                  <m:oMath xmlns:m="http://schemas.openxmlformats.org/officeDocument/2006/math">
                    <m:r>
                      <a:rPr lang="vi-VN" sz="2300" b="0">
                        <a:solidFill>
                          <a:srgbClr val="1E293B"/>
                        </a:solidFill>
                        <a:latin typeface="Cambria Math" panose="02040503050406030204" pitchFamily="18" charset="0"/>
                      </a:rPr>
                      <m:t>K</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K∈AP⊂(ABC)</m:t>
                    </m:r>
                  </m:oMath>
                </a14:m>
                <a:r>
                  <a:rPr sz="2300">
                    <a:solidFill>
                      <a:srgbClr val="1E293B"/>
                    </a:solidFill>
                    <a:latin typeface="Calibri"/>
                  </a:rPr>
                  <a:t> nên </a:t>
                </a:r>
                <a14:m>
                  <m:oMath xmlns:m="http://schemas.openxmlformats.org/officeDocument/2006/math">
                    <m:r>
                      <a:rPr lang="vi-VN" sz="2300" b="0">
                        <a:solidFill>
                          <a:srgbClr val="1E293B"/>
                        </a:solidFill>
                        <a:latin typeface="Cambria Math" panose="02040503050406030204" pitchFamily="18" charset="0"/>
                      </a:rPr>
                      <m:t>K=DF∩(ABC)</m:t>
                    </m:r>
                  </m:oMath>
                </a14:m>
                <a:r>
                  <a:rPr sz="2300">
                    <a:solidFill>
                      <a:srgbClr val="1E293B"/>
                    </a:solidFill>
                    <a:latin typeface="Calibri"/>
                  </a:rPr>
                  <a:t>.</a:t>
                </a:r>
              </a:p>
            </p:txBody>
          </p:sp>
        </mc:Choice>
        <mc:Fallback>
          <p:sp>
            <p:nvSpPr>
              <p:cNvPr id="11" name="TextBox 10"/>
              <p:cNvSpPr txBox="1"/>
              <p:nvPr/>
            </p:nvSpPr>
            <p:spPr>
              <a:xfrm>
                <a:off x="713232" y="3523487"/>
                <a:ext cx="826617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Trong mặt phẳng </a:t>
                </a:r>
                <a:r>
                  <a:rPr lang="vi-VN"/>
                  <a:t>(ADP)</a:t>
                </a:r>
                <a:r>
                  <a:rPr sz="2300">
                    <a:solidFill>
                      <a:srgbClr val="1E293B"/>
                    </a:solidFill>
                    <a:latin typeface="Calibri"/>
                  </a:rPr>
                  <a:t>, </a:t>
                </a:r>
                <a:r>
                  <a:rPr lang="vi-VN"/>
                  <a:t>DF</a:t>
                </a:r>
                <a:r>
                  <a:rPr sz="2300">
                    <a:solidFill>
                      <a:srgbClr val="1E293B"/>
                    </a:solidFill>
                    <a:latin typeface="Calibri"/>
                  </a:rPr>
                  <a:t> cắt </a:t>
                </a:r>
                <a:r>
                  <a:rPr lang="vi-VN"/>
                  <a:t>AP</a:t>
                </a:r>
                <a:r>
                  <a:rPr sz="2300">
                    <a:solidFill>
                      <a:srgbClr val="1E293B"/>
                    </a:solidFill>
                    <a:latin typeface="Calibri"/>
                  </a:rPr>
                  <a:t> tại </a:t>
                </a:r>
                <a:r>
                  <a:rPr lang="vi-VN"/>
                  <a:t>K</a:t>
                </a:r>
                <a:r>
                  <a:rPr sz="2300">
                    <a:solidFill>
                      <a:srgbClr val="1E293B"/>
                    </a:solidFill>
                    <a:latin typeface="Calibri"/>
                  </a:rPr>
                  <a:t>. </a:t>
                </a:r>
                <a:r>
                  <a:rPr lang="vi-VN"/>
                  <a:t>K\in AP\subset (ABC)</a:t>
                </a:r>
                <a:r>
                  <a:rPr sz="2300">
                    <a:solidFill>
                      <a:srgbClr val="1E293B"/>
                    </a:solidFill>
                    <a:latin typeface="Calibri"/>
                  </a:rPr>
                  <a:t> nên </a:t>
                </a:r>
                <a:r>
                  <a:rPr lang="vi-VN"/>
                  <a:t>K=DF\cap (ABC)</a:t>
                </a:r>
                <a:r>
                  <a:rPr sz="2300">
                    <a:solidFill>
                      <a:srgbClr val="1E293B"/>
                    </a:solidFill>
                    <a:latin typeface="Calibri"/>
                  </a:rPr>
                  <a:t>.</a:t>
                </a:r>
              </a:p>
            </p:txBody>
          </p:sp>
        </mc:Fallback>
      </mc:AlternateContent>
      <p:pic>
        <p:nvPicPr>
          <p:cNvPr id="12" name="Picture 11" descr="h412.png"/>
          <p:cNvPicPr>
            <a:picLocks noChangeAspect="1"/>
          </p:cNvPicPr>
          <p:nvPr/>
        </p:nvPicPr>
        <p:blipFill>
          <a:blip r:embed="rId3"/>
          <a:stretch>
            <a:fillRect/>
          </a:stretch>
        </p:blipFill>
        <p:spPr>
          <a:xfrm>
            <a:off x="9326880" y="1468766"/>
            <a:ext cx="2377440" cy="2548868"/>
          </a:xfrm>
          <a:prstGeom prst="rect">
            <a:avLst/>
          </a:prstGeom>
        </p:spPr>
      </p:pic>
      <p:sp>
        <p:nvSpPr>
          <p:cNvPr id="13" name="TextBox 12"/>
          <p:cNvSpPr txBox="1"/>
          <p:nvPr/>
        </p:nvSpPr>
        <p:spPr>
          <a:xfrm>
            <a:off x="9326880" y="4041648"/>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H.4.12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3D – GIAO ĐIỂM CỦA ĐƯỜNG THẲNG VÀ MẶT PHẲNG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30</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t</m:t>
                    </m:r>
                  </m:oMath>
                </a14:m>
                <a:r>
                  <a:rPr sz="2200">
                    <a:solidFill>
                      <a:srgbClr val="1E293B"/>
                    </a:solidFill>
                    <a:latin typeface="Calibri"/>
                  </a:rPr>
                  <a:t> để di chuyển </a:t>
                </a:r>
                <a14:m>
                  <m:oMath xmlns:m="http://schemas.openxmlformats.org/officeDocument/2006/math">
                    <m:r>
                      <a:rPr lang="vi-VN" sz="2200" b="0">
                        <a:solidFill>
                          <a:srgbClr val="1E293B"/>
                        </a:solidFill>
                        <a:latin typeface="Cambria Math" panose="02040503050406030204" pitchFamily="18" charset="0"/>
                      </a:rPr>
                      <m:t>F</m:t>
                    </m:r>
                  </m:oMath>
                </a14:m>
                <a:r>
                  <a:rPr sz="2200">
                    <a:solidFill>
                      <a:srgbClr val="1E293B"/>
                    </a:solidFill>
                    <a:latin typeface="Calibri"/>
                  </a:rPr>
                  <a:t> trên đoạn </a:t>
                </a:r>
                <a14:m>
                  <m:oMath xmlns:m="http://schemas.openxmlformats.org/officeDocument/2006/math">
                    <m:r>
                      <a:rPr lang="vi-VN" sz="2200" b="0">
                        <a:solidFill>
                          <a:srgbClr val="1E293B"/>
                        </a:solidFill>
                        <a:latin typeface="Cambria Math" panose="02040503050406030204" pitchFamily="18" charset="0"/>
                      </a:rPr>
                      <m:t>AE</m:t>
                    </m:r>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N=BF∩(ACD)</m:t>
                    </m:r>
                  </m:oMath>
                </a14:m>
                <a:r>
                  <a:rPr sz="2200">
                    <a:solidFill>
                      <a:srgbClr val="1E293B"/>
                    </a:solidFill>
                    <a:latin typeface="Calibri"/>
                  </a:rPr>
                  <a:t> luôn nằm trên </a:t>
                </a:r>
                <a14:m>
                  <m:oMath xmlns:m="http://schemas.openxmlformats.org/officeDocument/2006/math">
                    <m:r>
                      <a:rPr lang="vi-VN" sz="2200" b="0">
                        <a:solidFill>
                          <a:srgbClr val="1E293B"/>
                        </a:solidFill>
                        <a:latin typeface="Cambria Math" panose="02040503050406030204" pitchFamily="18" charset="0"/>
                      </a:rPr>
                      <m:t>AM</m:t>
                    </m:r>
                  </m:oMath>
                </a14:m>
                <a:r>
                  <a:rPr sz="2200">
                    <a:solidFill>
                      <a:srgbClr val="1E293B"/>
                    </a:solidFill>
                    <a:latin typeface="Calibri"/>
                  </a:rPr>
                  <a:t> (Ví dụ 6).</a:t>
                </a:r>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K=DF∩(ABC)</m:t>
                    </m:r>
                  </m:oMath>
                </a14:m>
                <a:r>
                  <a:rPr sz="2200">
                    <a:solidFill>
                      <a:srgbClr val="1E293B"/>
                    </a:solidFill>
                    <a:latin typeface="Calibri"/>
                  </a:rPr>
                  <a:t> luôn nằm trên </a:t>
                </a:r>
                <a14:m>
                  <m:oMath xmlns:m="http://schemas.openxmlformats.org/officeDocument/2006/math">
                    <m:r>
                      <a:rPr lang="vi-VN" sz="2200" b="0">
                        <a:solidFill>
                          <a:srgbClr val="1E293B"/>
                        </a:solidFill>
                        <a:latin typeface="Cambria Math" panose="02040503050406030204" pitchFamily="18" charset="0"/>
                      </a:rPr>
                      <m:t>AP</m:t>
                    </m:r>
                  </m:oMath>
                </a14:m>
                <a:r>
                  <a:rPr sz="2200">
                    <a:solidFill>
                      <a:srgbClr val="1E293B"/>
                    </a:solidFill>
                    <a:latin typeface="Calibri"/>
                  </a:rPr>
                  <a:t> (Luyện tập 6).</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t</a:t>
                </a:r>
                <a:r>
                  <a:rPr sz="2200">
                    <a:solidFill>
                      <a:srgbClr val="1E293B"/>
                    </a:solidFill>
                    <a:latin typeface="Calibri"/>
                  </a:rPr>
                  <a:t> để di chuyển </a:t>
                </a:r>
                <a:r>
                  <a:rPr lang="vi-VN"/>
                  <a:t>F</a:t>
                </a:r>
                <a:r>
                  <a:rPr sz="2200">
                    <a:solidFill>
                      <a:srgbClr val="1E293B"/>
                    </a:solidFill>
                    <a:latin typeface="Calibri"/>
                  </a:rPr>
                  <a:t> trên đoạn </a:t>
                </a:r>
                <a:r>
                  <a:rPr lang="vi-VN"/>
                  <a:t>AE</a:t>
                </a:r>
                <a:r>
                  <a:rPr sz="2200">
                    <a:solidFill>
                      <a:srgbClr val="1E293B"/>
                    </a:solidFill>
                    <a:latin typeface="Calibri"/>
                  </a:rPr>
                  <a:t>.</a:t>
                </a:r>
              </a:p>
              <a:p>
                <a:pPr algn="l" marL="365760" indent="-365760">
                  <a:spcAft>
                    <a:spcPts val="800"/>
                  </a:spcAft>
                  <a:buClr>
                    <a:srgbClr val="1E40AF"/>
                  </a:buClr>
                  <a:buFont typeface="Arial"/>
                  <a:buChar char="•"/>
                </a:pPr>
                <a:r>
                  <a:rPr lang="vi-VN"/>
                  <a:t>N=BF\cap (ACD)</a:t>
                </a:r>
                <a:r>
                  <a:rPr sz="2200">
                    <a:solidFill>
                      <a:srgbClr val="1E293B"/>
                    </a:solidFill>
                    <a:latin typeface="Calibri"/>
                  </a:rPr>
                  <a:t> luôn nằm trên </a:t>
                </a:r>
                <a:r>
                  <a:rPr lang="vi-VN"/>
                  <a:t>AM</a:t>
                </a:r>
                <a:r>
                  <a:rPr sz="2200">
                    <a:solidFill>
                      <a:srgbClr val="1E293B"/>
                    </a:solidFill>
                    <a:latin typeface="Calibri"/>
                  </a:rPr>
                  <a:t> (Ví dụ 6).</a:t>
                </a:r>
              </a:p>
              <a:p>
                <a:pPr algn="l" marL="365760" indent="-365760">
                  <a:spcAft>
                    <a:spcPts val="800"/>
                  </a:spcAft>
                  <a:buClr>
                    <a:srgbClr val="1E40AF"/>
                  </a:buClr>
                  <a:buFont typeface="Arial"/>
                  <a:buChar char="•"/>
                </a:pPr>
                <a:r>
                  <a:rPr lang="vi-VN"/>
                  <a:t>K=DF\cap (ABC)</a:t>
                </a:r>
                <a:r>
                  <a:rPr sz="2200">
                    <a:solidFill>
                      <a:srgbClr val="1E293B"/>
                    </a:solidFill>
                    <a:latin typeface="Calibri"/>
                  </a:rPr>
                  <a:t> luôn nằm trên </a:t>
                </a:r>
                <a:r>
                  <a:rPr lang="vi-VN"/>
                  <a:t>AP</a:t>
                </a:r>
                <a:r>
                  <a:rPr sz="2200">
                    <a:solidFill>
                      <a:srgbClr val="1E293B"/>
                    </a:solidFill>
                    <a:latin typeface="Calibri"/>
                  </a:rPr>
                  <a:t> (Luyện tập 6).</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12.png"/>
          <p:cNvPicPr>
            <a:picLocks noChangeAspect="1"/>
          </p:cNvPicPr>
          <p:nvPr/>
        </p:nvPicPr>
        <p:blipFill>
          <a:blip r:embed="rId5"/>
          <a:stretch>
            <a:fillRect/>
          </a:stretch>
        </p:blipFill>
        <p:spPr>
          <a:xfrm>
            <a:off x="7191554" y="1463040"/>
            <a:ext cx="4179212" cy="44805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ĐIỀN NHANH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31</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Cặp đôi ghi bảng con; mỗi câu 20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Hình chóp </a:t>
                </a:r>
                <a14:m>
                  <m:oMath xmlns:m="http://schemas.openxmlformats.org/officeDocument/2006/math">
                    <m:r>
                      <a:rPr lang="vi-VN" sz="2200" b="0">
                        <a:solidFill>
                          <a:srgbClr val="1E293B"/>
                        </a:solidFill>
                        <a:latin typeface="Cambria Math" panose="02040503050406030204" pitchFamily="18" charset="0"/>
                      </a:rPr>
                      <m:t>S.ABCD</m:t>
                    </m:r>
                  </m:oMath>
                </a14:m>
                <a:r>
                  <a:rPr sz="2200">
                    <a:solidFill>
                      <a:srgbClr val="1E293B"/>
                    </a:solidFill>
                    <a:latin typeface="Calibri"/>
                  </a:rPr>
                  <a:t> có đáy là hình bình hành tâm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Hình chóp </a:t>
                </a:r>
                <a:r>
                  <a:rPr lang="vi-VN"/>
                  <a:t>S.ABCD</a:t>
                </a:r>
                <a:r>
                  <a:rPr sz="2200">
                    <a:solidFill>
                      <a:srgbClr val="1E293B"/>
                    </a:solidFill>
                    <a:latin typeface="Calibri"/>
                  </a:rPr>
                  <a:t> có đáy là hình bình hành tâm </a:t>
                </a:r>
                <a:r>
                  <a:rPr lang="vi-VN"/>
                  <a:t>O</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60350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(SAC)∩(SBD)=</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9" name="TextBox 8"/>
              <p:cNvSpPr txBox="1"/>
              <p:nvPr/>
            </p:nvSpPr>
            <p:spPr>
              <a:xfrm>
                <a:off x="548640" y="2468879"/>
                <a:ext cx="60350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r>
                  <a:rPr lang="vi-VN"/>
                  <a:t>(SAC)\cap (SBD)=\ ?</a:t>
                </a:r>
              </a:p>
            </p:txBody>
          </p:sp>
        </mc:Fallback>
      </mc:AlternateContent>
      <p:sp>
        <p:nvSpPr>
          <p:cNvPr id="10" name="s1_nen"/>
          <p:cNvSpPr/>
          <p:nvPr/>
        </p:nvSpPr>
        <p:spPr>
          <a:xfrm>
            <a:off x="6675120" y="242316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683971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SO</m:t>
                    </m:r>
                  </m:oMath>
                </a14:m>
              </a:p>
            </p:txBody>
          </p:sp>
        </mc:Choice>
        <mc:Fallback>
          <p:sp>
            <p:nvSpPr>
              <p:cNvPr id="11" name="TextBox 10"/>
              <p:cNvSpPr txBox="1"/>
              <p:nvPr/>
            </p:nvSpPr>
            <p:spPr>
              <a:xfrm>
                <a:off x="683971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SO</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60350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(SAB)∩(ABCD)=</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12" name="TextBox 11"/>
              <p:cNvSpPr txBox="1"/>
              <p:nvPr/>
            </p:nvSpPr>
            <p:spPr>
              <a:xfrm>
                <a:off x="548640" y="3417570"/>
                <a:ext cx="60350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(SAB)\cap (ABCD)=\ ?</a:t>
                </a:r>
              </a:p>
            </p:txBody>
          </p:sp>
        </mc:Fallback>
      </mc:AlternateContent>
      <p:sp>
        <p:nvSpPr>
          <p:cNvPr id="13" name="s2_nen"/>
          <p:cNvSpPr/>
          <p:nvPr/>
        </p:nvSpPr>
        <p:spPr>
          <a:xfrm>
            <a:off x="6675120" y="337185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683971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AB</m:t>
                    </m:r>
                  </m:oMath>
                </a14:m>
              </a:p>
            </p:txBody>
          </p:sp>
        </mc:Choice>
        <mc:Fallback>
          <p:sp>
            <p:nvSpPr>
              <p:cNvPr id="14" name="TextBox 13"/>
              <p:cNvSpPr txBox="1"/>
              <p:nvPr/>
            </p:nvSpPr>
            <p:spPr>
              <a:xfrm>
                <a:off x="683971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AB</a:t>
                </a:r>
              </a:p>
            </p:txBody>
          </p:sp>
        </mc:Fallback>
      </mc:AlternateContent>
      <p:sp>
        <p:nvSpPr>
          <p:cNvPr id="15" name="TextBox 14"/>
          <p:cNvSpPr txBox="1"/>
          <p:nvPr/>
        </p:nvSpPr>
        <p:spPr>
          <a:xfrm>
            <a:off x="548640" y="4366259"/>
            <a:ext cx="60350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Hình chóp ngũ giác có bao nhiêu cạnh?</a:t>
            </a:r>
          </a:p>
        </p:txBody>
      </p:sp>
      <p:sp>
        <p:nvSpPr>
          <p:cNvPr id="16" name="s3_nen"/>
          <p:cNvSpPr/>
          <p:nvPr/>
        </p:nvSpPr>
        <p:spPr>
          <a:xfrm>
            <a:off x="6675120" y="432054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3_chu"/>
          <p:cNvSpPr txBox="1"/>
          <p:nvPr/>
        </p:nvSpPr>
        <p:spPr>
          <a:xfrm>
            <a:off x="6839712" y="435711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10</a:t>
            </a:r>
          </a:p>
        </p:txBody>
      </p:sp>
      <p:sp>
        <p:nvSpPr>
          <p:cNvPr id="18" name="TextBox 17"/>
          <p:cNvSpPr txBox="1"/>
          <p:nvPr/>
        </p:nvSpPr>
        <p:spPr>
          <a:xfrm>
            <a:off x="548640" y="5314950"/>
            <a:ext cx="60350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Tứ diện có bao nhiêu cặp cạnh đối diện?</a:t>
            </a:r>
          </a:p>
        </p:txBody>
      </p:sp>
      <p:sp>
        <p:nvSpPr>
          <p:cNvPr id="19" name="s4_nen"/>
          <p:cNvSpPr/>
          <p:nvPr/>
        </p:nvSpPr>
        <p:spPr>
          <a:xfrm>
            <a:off x="6675120" y="526923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4_chu"/>
          <p:cNvSpPr txBox="1"/>
          <p:nvPr/>
        </p:nvSpPr>
        <p:spPr>
          <a:xfrm>
            <a:off x="6839712" y="530580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32</a:t>
            </a:r>
          </a:p>
        </p:txBody>
      </p:sp>
      <p:sp>
        <p:nvSpPr>
          <p:cNvPr id="7" name="Rounded Rectangle 6"/>
          <p:cNvSpPr/>
          <p:nvPr/>
        </p:nvSpPr>
        <p:spPr>
          <a:xfrm>
            <a:off x="548640" y="1463040"/>
            <a:ext cx="11064240" cy="180746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73431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Ba cách xác định mặt phẳng: ba điểm không thẳng hàng; </a:t>
                </a:r>
                <a14:m>
                  <m:oMath xmlns:m="http://schemas.openxmlformats.org/officeDocument/2006/math">
                    <m:r>
                      <m:rPr>
                        <m:sty m:val="p"/>
                      </m:rPr>
                      <a:rPr lang="vi-VN" sz="2200" b="0">
                        <a:solidFill>
                          <a:srgbClr val="1E293B"/>
                        </a:solidFill>
                        <a:latin typeface="Cambria Math" panose="02040503050406030204" pitchFamily="18" charset="0"/>
                      </a:rPr>
                      <m:t>mp</m:t>
                    </m:r>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d)</m:t>
                    </m:r>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mp</m:t>
                    </m:r>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b)</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Giao tuyến: tìm hai điểm chung. Giao điểm của </a:t>
                </a:r>
                <a14:m>
                  <m:oMath xmlns:m="http://schemas.openxmlformats.org/officeDocument/2006/math">
                    <m:r>
                      <a:rPr lang="vi-VN" sz="2200" b="0">
                        <a:solidFill>
                          <a:srgbClr val="1E293B"/>
                        </a:solidFill>
                        <a:latin typeface="Cambria Math" panose="02040503050406030204" pitchFamily="18" charset="0"/>
                      </a:rPr>
                      <m:t>d</m:t>
                    </m:r>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P</m:t>
                        </m:r>
                      </m:e>
                    </m:d>
                  </m:oMath>
                </a14:m>
                <a:r>
                  <a:rPr sz="2200">
                    <a:solidFill>
                      <a:srgbClr val="1E293B"/>
                    </a:solidFill>
                    <a:latin typeface="Calibri"/>
                  </a:rPr>
                  <a:t>: tìm giao điểm của </a:t>
                </a:r>
                <a14:m>
                  <m:oMath xmlns:m="http://schemas.openxmlformats.org/officeDocument/2006/math">
                    <m:r>
                      <a:rPr lang="vi-VN" sz="2200" b="0">
                        <a:solidFill>
                          <a:srgbClr val="1E293B"/>
                        </a:solidFill>
                        <a:latin typeface="Cambria Math" panose="02040503050406030204" pitchFamily="18" charset="0"/>
                      </a:rPr>
                      <m:t>d</m:t>
                    </m:r>
                  </m:oMath>
                </a14:m>
                <a:r>
                  <a:rPr sz="2200">
                    <a:solidFill>
                      <a:srgbClr val="1E293B"/>
                    </a:solidFill>
                    <a:latin typeface="Calibri"/>
                  </a:rPr>
                  <a:t> với một đường thẳng nằm trong </a:t>
                </a:r>
                <a14:m>
                  <m:oMath xmlns:m="http://schemas.openxmlformats.org/officeDocument/2006/math">
                    <m:d>
                      <m:dPr>
                        <m:sepChr m:val=""/>
                      </m:dPr>
                      <m:e>
                        <m:r>
                          <a:rPr lang="vi-VN" sz="2200" b="0">
                            <a:solidFill>
                              <a:srgbClr val="1E293B"/>
                            </a:solidFill>
                            <a:latin typeface="Cambria Math" panose="02040503050406030204" pitchFamily="18" charset="0"/>
                          </a:rPr>
                          <m:t>P</m:t>
                        </m:r>
                      </m:e>
                    </m:d>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Hình chóp </a:t>
                </a:r>
                <a14:m>
                  <m:oMath xmlns:m="http://schemas.openxmlformats.org/officeDocument/2006/math">
                    <m:r>
                      <a:rPr lang="vi-VN" sz="2200" b="0">
                        <a:solidFill>
                          <a:srgbClr val="1E293B"/>
                        </a:solidFill>
                        <a:latin typeface="Cambria Math" panose="02040503050406030204" pitchFamily="18" charset="0"/>
                      </a:rPr>
                      <m:t>S.</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1</m:t>
                        </m:r>
                      </m:sub>
                    </m:sSub>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hình tứ diện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(4 đỉnh, 6 cạnh, 4 mặt).</a:t>
                </a:r>
              </a:p>
            </p:txBody>
          </p:sp>
        </mc:Choice>
        <mc:Fallback>
          <p:sp>
            <p:nvSpPr>
              <p:cNvPr id="8" name="TextBox 7"/>
              <p:cNvSpPr txBox="1"/>
              <p:nvPr/>
            </p:nvSpPr>
            <p:spPr>
              <a:xfrm>
                <a:off x="713232" y="1499616"/>
                <a:ext cx="10735056" cy="173431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Ba cách xác định mặt phẳng: ba điểm không thẳng hàng; </a:t>
                </a:r>
                <a:r>
                  <a:rPr lang="vi-VN"/>
                  <a:t>\mathrm{mp}(A,\ d)</a:t>
                </a:r>
                <a:r>
                  <a:rPr sz="2200">
                    <a:solidFill>
                      <a:srgbClr val="1E293B"/>
                    </a:solidFill>
                    <a:latin typeface="Calibri"/>
                  </a:rPr>
                  <a:t>; </a:t>
                </a:r>
                <a:r>
                  <a:rPr lang="vi-VN"/>
                  <a:t>\mathrm{mp}(a,\ b)</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Giao tuyến: tìm hai điểm chung. Giao điểm của </a:t>
                </a:r>
                <a:r>
                  <a:rPr lang="vi-VN"/>
                  <a:t>d</a:t>
                </a:r>
                <a:r>
                  <a:rPr sz="2200">
                    <a:solidFill>
                      <a:srgbClr val="1E293B"/>
                    </a:solidFill>
                    <a:latin typeface="Calibri"/>
                  </a:rPr>
                  <a:t> và </a:t>
                </a:r>
                <a:r>
                  <a:rPr lang="vi-VN"/>
                  <a:t>(P)</a:t>
                </a:r>
                <a:r>
                  <a:rPr sz="2200">
                    <a:solidFill>
                      <a:srgbClr val="1E293B"/>
                    </a:solidFill>
                    <a:latin typeface="Calibri"/>
                  </a:rPr>
                  <a:t>: tìm giao điểm của </a:t>
                </a:r>
                <a:r>
                  <a:rPr lang="vi-VN"/>
                  <a:t>d</a:t>
                </a:r>
                <a:r>
                  <a:rPr sz="2200">
                    <a:solidFill>
                      <a:srgbClr val="1E293B"/>
                    </a:solidFill>
                    <a:latin typeface="Calibri"/>
                  </a:rPr>
                  <a:t> với một đường thẳng nằm trong </a:t>
                </a:r>
                <a:r>
                  <a:rPr lang="vi-VN"/>
                  <a:t>(P)</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Hình chóp </a:t>
                </a:r>
                <a:r>
                  <a:rPr lang="vi-VN"/>
                  <a:t>S.A_1A_2\ldots A_n</a:t>
                </a:r>
                <a:r>
                  <a:rPr sz="2200">
                    <a:solidFill>
                      <a:srgbClr val="1E293B"/>
                    </a:solidFill>
                    <a:latin typeface="Calibri"/>
                  </a:rPr>
                  <a:t>; hình tứ diện </a:t>
                </a:r>
                <a:r>
                  <a:rPr lang="vi-VN"/>
                  <a:t>ABCD</a:t>
                </a:r>
                <a:r>
                  <a:rPr sz="2200">
                    <a:solidFill>
                      <a:srgbClr val="1E293B"/>
                    </a:solidFill>
                    <a:latin typeface="Calibri"/>
                  </a:rPr>
                  <a:t> (4 đỉnh, 6 cạnh, 4 mặt).</a:t>
                </a:r>
              </a:p>
            </p:txBody>
          </p:sp>
        </mc:Fallback>
      </mc:AlternateContent>
      <p:sp>
        <p:nvSpPr>
          <p:cNvPr id="9" name="Rounded Rectangle 8"/>
          <p:cNvSpPr/>
          <p:nvPr/>
        </p:nvSpPr>
        <p:spPr>
          <a:xfrm>
            <a:off x="548640" y="3499104"/>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535680"/>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4.2, 4.4 (SGK tr.77).</a:t>
            </a:r>
          </a:p>
          <a:p>
            <a:pPr algn="l" marL="365760" indent="-365760">
              <a:spcAft>
                <a:spcPts val="800"/>
              </a:spcAft>
              <a:buClr>
                <a:srgbClr val="1E40AF"/>
              </a:buClr>
              <a:buFont typeface="Arial"/>
              <a:buChar char="•"/>
            </a:pPr>
            <a:r>
              <a:rPr sz="2200">
                <a:solidFill>
                  <a:srgbClr val="1E293B"/>
                </a:solidFill>
                <a:latin typeface="Calibri"/>
              </a:rPr>
              <a:t>Tiết sau luyện tập: mang thước, bút chì, mô hình.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(T28)</a:t>
            </a:r>
          </a:p>
          <a:p>
            <a:pPr>
              <a:spcAft>
                <a:spcPts val="600"/>
              </a:spcAft>
            </a:pPr>
            <a:r>
              <a:rPr sz="4000" b="1">
                <a:solidFill>
                  <a:srgbClr val="FFFFFF"/>
                </a:solidFill>
                <a:latin typeface="Cambria"/>
              </a:rPr>
              <a:t>Luyện tập</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Vận dụng tính chất thừa nhận giải Bài tập 4.1 – 4.6.</a:t>
            </a:r>
          </a:p>
          <a:p>
            <a:pPr algn="l">
              <a:spcAft>
                <a:spcPts val="800"/>
              </a:spcAft>
            </a:pPr>
            <a:r>
              <a:rPr sz="2200">
                <a:solidFill>
                  <a:srgbClr val="E0E7FF"/>
                </a:solidFill>
                <a:latin typeface="Calibri"/>
              </a:rPr>
              <a:t>• Kiểm chứng lời giải AI; giải thích hiện tượng thực tế (4.7, 4.8).</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HỘP QUÀ BÍ MẬT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34</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Hình chóp </a:t>
                </a:r>
                <a14:m>
                  <m:oMath xmlns:m="http://schemas.openxmlformats.org/officeDocument/2006/math">
                    <m:r>
                      <a:rPr lang="vi-VN" sz="2400" b="0">
                        <a:solidFill>
                          <a:srgbClr val="1E293B"/>
                        </a:solidFill>
                        <a:latin typeface="Cambria Math" panose="02040503050406030204" pitchFamily="18" charset="0"/>
                      </a:rPr>
                      <m:t>S.ABCD</m:t>
                    </m:r>
                  </m:oMath>
                </a14:m>
                <a:r>
                  <a:rPr sz="2400">
                    <a:solidFill>
                      <a:srgbClr val="1E293B"/>
                    </a:solidFill>
                    <a:latin typeface="Calibri"/>
                  </a:rPr>
                  <a:t> đáy là tứ giác </a:t>
                </a:r>
                <a14:m>
                  <m:oMath xmlns:m="http://schemas.openxmlformats.org/officeDocument/2006/math">
                    <m:r>
                      <a:rPr lang="vi-VN" sz="2400" b="0">
                        <a:solidFill>
                          <a:srgbClr val="1E293B"/>
                        </a:solidFill>
                        <a:latin typeface="Cambria Math" panose="02040503050406030204" pitchFamily="18" charset="0"/>
                      </a:rPr>
                      <m:t>ABCD</m:t>
                    </m:r>
                  </m:oMath>
                </a14:m>
                <a:r>
                  <a:rPr sz="2400">
                    <a:solidFill>
                      <a:srgbClr val="1E293B"/>
                    </a:solidFill>
                    <a:latin typeface="Calibri"/>
                  </a:rPr>
                  <a:t>. Chọn một hộp quà!</a:t>
                </a:r>
              </a:p>
            </p:txBody>
          </p:sp>
        </mc:Choice>
        <mc:Fallback>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Hình chóp </a:t>
                </a:r>
                <a:r>
                  <a:rPr lang="vi-VN"/>
                  <a:t>S.ABCD</a:t>
                </a:r>
                <a:r>
                  <a:rPr sz="2400">
                    <a:solidFill>
                      <a:srgbClr val="1E293B"/>
                    </a:solidFill>
                    <a:latin typeface="Calibri"/>
                  </a:rPr>
                  <a:t> đáy là tứ giác </a:t>
                </a:r>
                <a:r>
                  <a:rPr lang="vi-VN"/>
                  <a:t>ABCD</a:t>
                </a:r>
                <a:r>
                  <a:rPr sz="2400">
                    <a:solidFill>
                      <a:srgbClr val="1E293B"/>
                    </a:solidFill>
                    <a:latin typeface="Calibri"/>
                  </a:rPr>
                  <a:t>. Chọn một hộp quà!</a:t>
                </a:r>
              </a:p>
            </p:txBody>
          </p:sp>
        </mc:Fallback>
      </mc:AlternateContent>
      <p:sp>
        <p:nvSpPr>
          <p:cNvPr id="8" name="Rounded Rectangle 7">
            <a:hlinkClick action="ppaction://hlinksldjump" r:id="rId3"/>
          </p:cNvPr>
          <p:cNvSpPr/>
          <p:nvPr/>
        </p:nvSpPr>
        <p:spPr>
          <a:xfrm>
            <a:off x="914399" y="2468880"/>
            <a:ext cx="2377440" cy="21945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1</a:t>
            </a:r>
          </a:p>
        </p:txBody>
      </p:sp>
      <p:sp>
        <p:nvSpPr>
          <p:cNvPr id="9" name="Rounded Rectangle 8">
            <a:hlinkClick action="ppaction://hlinksldjump" r:id="rId4"/>
          </p:cNvPr>
          <p:cNvSpPr/>
          <p:nvPr/>
        </p:nvSpPr>
        <p:spPr>
          <a:xfrm>
            <a:off x="3566159" y="2468880"/>
            <a:ext cx="2377440" cy="219456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2</a:t>
            </a:r>
          </a:p>
        </p:txBody>
      </p:sp>
      <p:sp>
        <p:nvSpPr>
          <p:cNvPr id="10" name="Rounded Rectangle 9">
            <a:hlinkClick action="ppaction://hlinksldjump" r:id="rId5"/>
          </p:cNvPr>
          <p:cNvSpPr/>
          <p:nvPr/>
        </p:nvSpPr>
        <p:spPr>
          <a:xfrm>
            <a:off x="6217920" y="2468880"/>
            <a:ext cx="2377440" cy="21945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3</a:t>
            </a:r>
          </a:p>
        </p:txBody>
      </p:sp>
      <p:sp>
        <p:nvSpPr>
          <p:cNvPr id="11" name="Rounded Rectangle 10">
            <a:hlinkClick action="ppaction://hlinksldjump" r:id="rId6"/>
          </p:cNvPr>
          <p:cNvSpPr/>
          <p:nvPr/>
        </p:nvSpPr>
        <p:spPr>
          <a:xfrm>
            <a:off x="8869680" y="2468880"/>
            <a:ext cx="2377440" cy="21945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4</a:t>
            </a:r>
          </a:p>
        </p:txBody>
      </p:sp>
      <p:sp>
        <p:nvSpPr>
          <p:cNvPr id="12" name="TextBox 11"/>
          <p:cNvSpPr txBox="1"/>
          <p:nvPr/>
        </p:nvSpPr>
        <p:spPr>
          <a:xfrm>
            <a:off x="548640" y="5029200"/>
            <a:ext cx="11064240" cy="731520"/>
          </a:xfrm>
          <a:prstGeom prst="rect">
            <a:avLst/>
          </a:prstGeom>
          <a:noFill/>
        </p:spPr>
        <p:txBody>
          <a:bodyPr wrap="square" anchor="t" lIns="45720" rIns="45720">
            <a:spAutoFit/>
          </a:bodyPr>
          <a:lstStyle/>
          <a:p>
            <a:pPr algn="ctr">
              <a:spcAft>
                <a:spcPts val="800"/>
              </a:spcAft>
            </a:pPr>
            <a:r>
              <a:rPr sz="2000">
                <a:solidFill>
                  <a:srgbClr val="64748B"/>
                </a:solidFill>
                <a:latin typeface="Calibri"/>
              </a:rPr>
              <a:t>📋 Mỗi đội chọn 1 hộp – trả lời đúng trong 30 giây nhận quà ghi trong hộp.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35</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Hình chóp </a:t>
                </a:r>
                <a14:m>
                  <m:oMath xmlns:m="http://schemas.openxmlformats.org/officeDocument/2006/math">
                    <m:r>
                      <a:rPr lang="vi-VN" sz="2600" b="0">
                        <a:solidFill>
                          <a:srgbClr val="1E293B"/>
                        </a:solidFill>
                        <a:latin typeface="Cambria Math" panose="02040503050406030204" pitchFamily="18" charset="0"/>
                      </a:rPr>
                      <m:t>S.ABCD</m:t>
                    </m:r>
                  </m:oMath>
                </a14:m>
                <a:r>
                  <a:rPr sz="2600">
                    <a:solidFill>
                      <a:srgbClr val="1E293B"/>
                    </a:solidFill>
                    <a:latin typeface="Calibri"/>
                  </a:rPr>
                  <a:t> có bao nhiêu mặt bên?</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Hình chóp </a:t>
                </a:r>
                <a:r>
                  <a:rPr lang="vi-VN"/>
                  <a:t>S.ABCD</a:t>
                </a:r>
                <a:r>
                  <a:rPr sz="2600">
                    <a:solidFill>
                      <a:srgbClr val="1E293B"/>
                    </a:solidFill>
                    <a:latin typeface="Calibri"/>
                  </a:rPr>
                  <a:t> có bao nhiêu mặt bên?</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4 mặt bên: </a:t>
                </a:r>
                <a14:m>
                  <m:oMath xmlns:m="http://schemas.openxmlformats.org/officeDocument/2006/math">
                    <m:d>
                      <m:dPr>
                        <m:sepChr m:val=""/>
                      </m:dPr>
                      <m:e>
                        <m:r>
                          <a:rPr lang="vi-VN" sz="2400" b="0">
                            <a:solidFill>
                              <a:srgbClr val="1E293B"/>
                            </a:solidFill>
                            <a:latin typeface="Cambria Math" panose="02040503050406030204" pitchFamily="18" charset="0"/>
                          </a:rPr>
                          <m:t>S</m:t>
                        </m:r>
                        <m:r>
                          <a:rPr lang="vi-VN" sz="2400" b="0">
                            <a:solidFill>
                              <a:srgbClr val="1E293B"/>
                            </a:solidFill>
                            <a:latin typeface="Cambria Math" panose="02040503050406030204" pitchFamily="18" charset="0"/>
                          </a:rPr>
                          <m:t>A</m:t>
                        </m:r>
                        <m:r>
                          <a:rPr lang="vi-VN" sz="2400" b="0">
                            <a:solidFill>
                              <a:srgbClr val="1E293B"/>
                            </a:solidFill>
                            <a:latin typeface="Cambria Math" panose="02040503050406030204" pitchFamily="18" charset="0"/>
                          </a:rPr>
                          <m:t>B</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S</m:t>
                        </m:r>
                        <m:r>
                          <a:rPr lang="vi-VN" sz="2400" b="0">
                            <a:solidFill>
                              <a:srgbClr val="1E293B"/>
                            </a:solidFill>
                            <a:latin typeface="Cambria Math" panose="02040503050406030204" pitchFamily="18" charset="0"/>
                          </a:rPr>
                          <m:t>B</m:t>
                        </m:r>
                        <m:r>
                          <a:rPr lang="vi-VN" sz="2400" b="0">
                            <a:solidFill>
                              <a:srgbClr val="1E293B"/>
                            </a:solidFill>
                            <a:latin typeface="Cambria Math" panose="02040503050406030204" pitchFamily="18" charset="0"/>
                          </a:rPr>
                          <m:t>C</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S</m:t>
                        </m:r>
                        <m:r>
                          <a:rPr lang="vi-VN" sz="2400" b="0">
                            <a:solidFill>
                              <a:srgbClr val="1E293B"/>
                            </a:solidFill>
                            <a:latin typeface="Cambria Math" panose="02040503050406030204" pitchFamily="18" charset="0"/>
                          </a:rPr>
                          <m:t>C</m:t>
                        </m:r>
                        <m:r>
                          <a:rPr lang="vi-VN" sz="2400" b="0">
                            <a:solidFill>
                              <a:srgbClr val="1E293B"/>
                            </a:solidFill>
                            <a:latin typeface="Cambria Math" panose="02040503050406030204" pitchFamily="18" charset="0"/>
                          </a:rPr>
                          <m:t>D</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S</m:t>
                        </m:r>
                        <m:r>
                          <a:rPr lang="vi-VN" sz="2400" b="0">
                            <a:solidFill>
                              <a:srgbClr val="1E293B"/>
                            </a:solidFill>
                            <a:latin typeface="Cambria Math" panose="02040503050406030204" pitchFamily="18" charset="0"/>
                          </a:rPr>
                          <m:t>D</m:t>
                        </m:r>
                        <m:r>
                          <a:rPr lang="vi-VN" sz="2400" b="0">
                            <a:solidFill>
                              <a:srgbClr val="1E293B"/>
                            </a:solidFill>
                            <a:latin typeface="Cambria Math" panose="02040503050406030204" pitchFamily="18" charset="0"/>
                          </a:rPr>
                          <m:t>A</m:t>
                        </m:r>
                      </m:e>
                    </m:d>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4 mặt bên: </a:t>
                </a:r>
                <a:r>
                  <a:rPr lang="vi-VN"/>
                  <a:t>(SAB),\ (SBC),\ (SCD),\ (SDA)</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Một tràng pháo tay</a:t>
            </a:r>
          </a:p>
        </p:txBody>
      </p:sp>
      <p:pic>
        <p:nvPicPr>
          <p:cNvPr id="12" name="Picture 11" descr="h411.png"/>
          <p:cNvPicPr>
            <a:picLocks noChangeAspect="1"/>
          </p:cNvPicPr>
          <p:nvPr/>
        </p:nvPicPr>
        <p:blipFill>
          <a:blip r:embed="rId3"/>
          <a:stretch>
            <a:fillRect/>
          </a:stretch>
        </p:blipFill>
        <p:spPr>
          <a:xfrm>
            <a:off x="8412480" y="1594022"/>
            <a:ext cx="3291840" cy="2846996"/>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36</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(SAB)∩(SAD)=</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m:t>
                    </m:r>
                  </m:oMath>
                </a14:m>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 </a:t>
                </a:r>
                <a:r>
                  <a:rPr lang="vi-VN"/>
                  <a:t>(SAB)\cap (SAD)=\ ?</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Đường thẳng </a:t>
                </a:r>
                <a14:m>
                  <m:oMath xmlns:m="http://schemas.openxmlformats.org/officeDocument/2006/math">
                    <m:r>
                      <a:rPr lang="vi-VN" sz="2400" b="0">
                        <a:solidFill>
                          <a:srgbClr val="1E293B"/>
                        </a:solidFill>
                        <a:latin typeface="Cambria Math" panose="02040503050406030204" pitchFamily="18" charset="0"/>
                      </a:rPr>
                      <m:t>SA</m:t>
                    </m:r>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Đường thẳng </a:t>
                </a:r>
                <a:r>
                  <a:rPr lang="vi-VN"/>
                  <a:t>SA</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411.png"/>
          <p:cNvPicPr>
            <a:picLocks noChangeAspect="1"/>
          </p:cNvPicPr>
          <p:nvPr/>
        </p:nvPicPr>
        <p:blipFill>
          <a:blip r:embed="rId3"/>
          <a:stretch>
            <a:fillRect/>
          </a:stretch>
        </p:blipFill>
        <p:spPr>
          <a:xfrm>
            <a:off x="8412480" y="1594022"/>
            <a:ext cx="3291840" cy="2846996"/>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37</a:t>
            </a:r>
          </a:p>
        </p:txBody>
      </p:sp>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Hình tứ diện có bao nhiêu cạnh?</a:t>
            </a:r>
          </a:p>
        </p:txBody>
      </p:sp>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6 cạnh.</a:t>
            </a:r>
          </a:p>
        </p:txBody>
      </p:sp>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Quyền chọn bạn trả lời tiếp</a:t>
            </a:r>
          </a:p>
        </p:txBody>
      </p:sp>
      <p:pic>
        <p:nvPicPr>
          <p:cNvPr id="12" name="Picture 11" descr="h411.png"/>
          <p:cNvPicPr>
            <a:picLocks noChangeAspect="1"/>
          </p:cNvPicPr>
          <p:nvPr/>
        </p:nvPicPr>
        <p:blipFill>
          <a:blip r:embed="rId3"/>
          <a:stretch>
            <a:fillRect/>
          </a:stretch>
        </p:blipFill>
        <p:spPr>
          <a:xfrm>
            <a:off x="8412480" y="1594022"/>
            <a:ext cx="3291840" cy="2846996"/>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38</a:t>
            </a:r>
          </a:p>
        </p:txBody>
      </p:sp>
      <p:sp>
        <p:nvSpPr>
          <p:cNvPr id="7" name="TextBox 6"/>
          <p:cNvSpPr txBox="1"/>
          <p:nvPr/>
        </p:nvSpPr>
        <p:spPr>
          <a:xfrm>
            <a:off x="548640" y="1463040"/>
            <a:ext cx="768096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Hai đường thẳng cắt nhau xác định bao nhiêu mặt phẳng?</a:t>
            </a:r>
          </a:p>
        </p:txBody>
      </p:sp>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Đúng một mặt phẳng.</a:t>
            </a:r>
          </a:p>
        </p:txBody>
      </p:sp>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411.png"/>
          <p:cNvPicPr>
            <a:picLocks noChangeAspect="1"/>
          </p:cNvPicPr>
          <p:nvPr/>
        </p:nvPicPr>
        <p:blipFill>
          <a:blip r:embed="rId3"/>
          <a:stretch>
            <a:fillRect/>
          </a:stretch>
        </p:blipFill>
        <p:spPr>
          <a:xfrm>
            <a:off x="8412480" y="1594022"/>
            <a:ext cx="3291840" cy="2846996"/>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4.1 – 4.3 (SGK TR.77)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39</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8778240" cy="1469136"/>
              </a:xfrm>
              <a:prstGeom prst="rect">
                <a:avLst/>
              </a:prstGeom>
              <a:noFill/>
            </p:spPr>
            <p:txBody>
              <a:bodyPr wrap="square" anchor="t" lIns="45720" rIns="45720">
                <a:spAutoFit/>
              </a:bodyPr>
              <a:lstStyle/>
              <a:p>
                <a:pPr algn="l">
                  <a:spcAft>
                    <a:spcPts val="800"/>
                  </a:spcAft>
                </a:pPr>
                <a:r>
                  <a:rPr sz="1700" b="1">
                    <a:solidFill>
                      <a:srgbClr val="1E293B"/>
                    </a:solidFill>
                    <a:latin typeface="Calibri"/>
                  </a:rPr>
                  <a:t>4.1.</a:t>
                </a:r>
                <a:r>
                  <a:rPr sz="1700">
                    <a:solidFill>
                      <a:srgbClr val="1E293B"/>
                    </a:solidFill>
                    <a:latin typeface="Calibri"/>
                  </a:rPr>
                  <a:t> Cho hai đường thẳng </a:t>
                </a:r>
                <a14:m>
                  <m:oMath xmlns:m="http://schemas.openxmlformats.org/officeDocument/2006/math">
                    <m:r>
                      <a:rPr lang="vi-VN" sz="1700" b="0">
                        <a:solidFill>
                          <a:srgbClr val="1E293B"/>
                        </a:solidFill>
                        <a:latin typeface="Cambria Math" panose="02040503050406030204" pitchFamily="18" charset="0"/>
                      </a:rPr>
                      <m:t>a,</m:t>
                    </m:r>
                    <m:r>
                      <m:rPr>
                        <m:sty m:val="p"/>
                      </m:rPr>
                      <a:rPr lang="vi-VN" sz="1700" b="0">
                        <a:solidFill>
                          <a:srgbClr val="1E293B"/>
                        </a:solidFill>
                        <a:latin typeface="Cambria Math" panose="02040503050406030204" pitchFamily="18" charset="0"/>
                      </a:rPr>
                      <m:t> </m:t>
                    </m:r>
                    <m:r>
                      <a:rPr lang="vi-VN" sz="1700" b="0">
                        <a:solidFill>
                          <a:srgbClr val="1E293B"/>
                        </a:solidFill>
                        <a:latin typeface="Cambria Math" panose="02040503050406030204" pitchFamily="18" charset="0"/>
                      </a:rPr>
                      <m:t>b</m:t>
                    </m:r>
                  </m:oMath>
                </a14:m>
                <a:r>
                  <a:rPr sz="1700">
                    <a:solidFill>
                      <a:srgbClr val="1E293B"/>
                    </a:solidFill>
                    <a:latin typeface="Calibri"/>
                  </a:rPr>
                  <a:t> và mặt phẳng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Mệnh đề nào đúng? a) Nếu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chứa một điểm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thì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b) Nếu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chứa hai điểm phân biệt thuộc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thì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c) Nếu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và </a:t>
                </a:r>
                <a14:m>
                  <m:oMath xmlns:m="http://schemas.openxmlformats.org/officeDocument/2006/math">
                    <m:r>
                      <a:rPr lang="vi-VN" sz="1700" b="0">
                        <a:solidFill>
                          <a:srgbClr val="1E293B"/>
                        </a:solidFill>
                        <a:latin typeface="Cambria Math" panose="02040503050406030204" pitchFamily="18" charset="0"/>
                      </a:rPr>
                      <m:t>b</m:t>
                    </m:r>
                  </m:oMath>
                </a14:m>
                <a:r>
                  <a:rPr sz="1700">
                    <a:solidFill>
                      <a:srgbClr val="1E293B"/>
                    </a:solidFill>
                    <a:latin typeface="Calibri"/>
                  </a:rPr>
                  <a:t> cùng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thì giao điểm (nếu có) của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và </a:t>
                </a:r>
                <a14:m>
                  <m:oMath xmlns:m="http://schemas.openxmlformats.org/officeDocument/2006/math">
                    <m:r>
                      <a:rPr lang="vi-VN" sz="1700" b="0">
                        <a:solidFill>
                          <a:srgbClr val="1E293B"/>
                        </a:solidFill>
                        <a:latin typeface="Cambria Math" panose="02040503050406030204" pitchFamily="18" charset="0"/>
                      </a:rPr>
                      <m:t>b</m:t>
                    </m:r>
                  </m:oMath>
                </a14:m>
                <a:r>
                  <a:rPr sz="1700">
                    <a:solidFill>
                      <a:srgbClr val="1E293B"/>
                    </a:solidFill>
                    <a:latin typeface="Calibri"/>
                  </a:rPr>
                  <a:t> cũng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d) Nếu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và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cắt </a:t>
                </a:r>
                <a14:m>
                  <m:oMath xmlns:m="http://schemas.openxmlformats.org/officeDocument/2006/math">
                    <m:r>
                      <a:rPr lang="vi-VN" sz="1700" b="0">
                        <a:solidFill>
                          <a:srgbClr val="1E293B"/>
                        </a:solidFill>
                        <a:latin typeface="Cambria Math" panose="02040503050406030204" pitchFamily="18" charset="0"/>
                      </a:rPr>
                      <m:t>b</m:t>
                    </m:r>
                  </m:oMath>
                </a14:m>
                <a:r>
                  <a:rPr sz="1700">
                    <a:solidFill>
                      <a:srgbClr val="1E293B"/>
                    </a:solidFill>
                    <a:latin typeface="Calibri"/>
                  </a:rPr>
                  <a:t> thì </a:t>
                </a:r>
                <a14:m>
                  <m:oMath xmlns:m="http://schemas.openxmlformats.org/officeDocument/2006/math">
                    <m:r>
                      <a:rPr lang="vi-VN" sz="1700" b="0">
                        <a:solidFill>
                          <a:srgbClr val="1E293B"/>
                        </a:solidFill>
                        <a:latin typeface="Cambria Math" panose="02040503050406030204" pitchFamily="18" charset="0"/>
                      </a:rPr>
                      <m:t>b</m:t>
                    </m:r>
                  </m:oMath>
                </a14:m>
                <a:r>
                  <a:rPr sz="1700">
                    <a:solidFill>
                      <a:srgbClr val="1E293B"/>
                    </a:solidFill>
                    <a:latin typeface="Calibri"/>
                  </a:rPr>
                  <a:t>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a:t>
                </a:r>
              </a:p>
            </p:txBody>
          </p:sp>
        </mc:Choice>
        <mc:Fallback>
          <p:sp>
            <p:nvSpPr>
              <p:cNvPr id="7" name="TextBox 6"/>
              <p:cNvSpPr txBox="1"/>
              <p:nvPr/>
            </p:nvSpPr>
            <p:spPr>
              <a:xfrm>
                <a:off x="548640" y="1325880"/>
                <a:ext cx="8778240" cy="1469136"/>
              </a:xfrm>
              <a:prstGeom prst="rect">
                <a:avLst/>
              </a:prstGeom>
              <a:noFill/>
            </p:spPr>
            <p:txBody>
              <a:bodyPr wrap="square" anchor="t" lIns="45720" rIns="45720">
                <a:spAutoFit/>
              </a:bodyPr>
              <a:lstStyle/>
              <a:p>
                <a:pPr algn="l">
                  <a:spcAft>
                    <a:spcPts val="800"/>
                  </a:spcAft>
                </a:pPr>
                <a:r>
                  <a:rPr sz="1700" b="1">
                    <a:solidFill>
                      <a:srgbClr val="1E293B"/>
                    </a:solidFill>
                    <a:latin typeface="Calibri"/>
                  </a:rPr>
                  <a:t>4.1.</a:t>
                </a:r>
                <a:r>
                  <a:rPr sz="1700">
                    <a:solidFill>
                      <a:srgbClr val="1E293B"/>
                    </a:solidFill>
                    <a:latin typeface="Calibri"/>
                  </a:rPr>
                  <a:t> Cho hai đường thẳng </a:t>
                </a:r>
                <a:r>
                  <a:rPr lang="vi-VN"/>
                  <a:t>a,\ b</a:t>
                </a:r>
                <a:r>
                  <a:rPr sz="1700">
                    <a:solidFill>
                      <a:srgbClr val="1E293B"/>
                    </a:solidFill>
                    <a:latin typeface="Calibri"/>
                  </a:rPr>
                  <a:t> và mặt phẳng </a:t>
                </a:r>
                <a:r>
                  <a:rPr lang="vi-VN"/>
                  <a:t>(P)</a:t>
                </a:r>
                <a:r>
                  <a:rPr sz="1700">
                    <a:solidFill>
                      <a:srgbClr val="1E293B"/>
                    </a:solidFill>
                    <a:latin typeface="Calibri"/>
                  </a:rPr>
                  <a:t>. Mệnh đề nào đúng? a) Nếu </a:t>
                </a:r>
                <a:r>
                  <a:rPr lang="vi-VN"/>
                  <a:t>a</a:t>
                </a:r>
                <a:r>
                  <a:rPr sz="1700">
                    <a:solidFill>
                      <a:srgbClr val="1E293B"/>
                    </a:solidFill>
                    <a:latin typeface="Calibri"/>
                  </a:rPr>
                  <a:t> chứa một điểm nằm trong </a:t>
                </a:r>
                <a:r>
                  <a:rPr lang="vi-VN"/>
                  <a:t>(P)</a:t>
                </a:r>
                <a:r>
                  <a:rPr sz="1700">
                    <a:solidFill>
                      <a:srgbClr val="1E293B"/>
                    </a:solidFill>
                    <a:latin typeface="Calibri"/>
                  </a:rPr>
                  <a:t> thì </a:t>
                </a:r>
                <a:r>
                  <a:rPr lang="vi-VN"/>
                  <a:t>a</a:t>
                </a:r>
                <a:r>
                  <a:rPr sz="1700">
                    <a:solidFill>
                      <a:srgbClr val="1E293B"/>
                    </a:solidFill>
                    <a:latin typeface="Calibri"/>
                  </a:rPr>
                  <a:t> nằm trong </a:t>
                </a:r>
                <a:r>
                  <a:rPr lang="vi-VN"/>
                  <a:t>(P)</a:t>
                </a:r>
                <a:r>
                  <a:rPr sz="1700">
                    <a:solidFill>
                      <a:srgbClr val="1E293B"/>
                    </a:solidFill>
                    <a:latin typeface="Calibri"/>
                  </a:rPr>
                  <a:t>. b) Nếu </a:t>
                </a:r>
                <a:r>
                  <a:rPr lang="vi-VN"/>
                  <a:t>a</a:t>
                </a:r>
                <a:r>
                  <a:rPr sz="1700">
                    <a:solidFill>
                      <a:srgbClr val="1E293B"/>
                    </a:solidFill>
                    <a:latin typeface="Calibri"/>
                  </a:rPr>
                  <a:t> chứa hai điểm phân biệt thuộc </a:t>
                </a:r>
                <a:r>
                  <a:rPr lang="vi-VN"/>
                  <a:t>(P)</a:t>
                </a:r>
                <a:r>
                  <a:rPr sz="1700">
                    <a:solidFill>
                      <a:srgbClr val="1E293B"/>
                    </a:solidFill>
                    <a:latin typeface="Calibri"/>
                  </a:rPr>
                  <a:t> thì </a:t>
                </a:r>
                <a:r>
                  <a:rPr lang="vi-VN"/>
                  <a:t>a</a:t>
                </a:r>
                <a:r>
                  <a:rPr sz="1700">
                    <a:solidFill>
                      <a:srgbClr val="1E293B"/>
                    </a:solidFill>
                    <a:latin typeface="Calibri"/>
                  </a:rPr>
                  <a:t> nằm trong </a:t>
                </a:r>
                <a:r>
                  <a:rPr lang="vi-VN"/>
                  <a:t>(P)</a:t>
                </a:r>
                <a:r>
                  <a:rPr sz="1700">
                    <a:solidFill>
                      <a:srgbClr val="1E293B"/>
                    </a:solidFill>
                    <a:latin typeface="Calibri"/>
                  </a:rPr>
                  <a:t>. c) Nếu </a:t>
                </a:r>
                <a:r>
                  <a:rPr lang="vi-VN"/>
                  <a:t>a</a:t>
                </a:r>
                <a:r>
                  <a:rPr sz="1700">
                    <a:solidFill>
                      <a:srgbClr val="1E293B"/>
                    </a:solidFill>
                    <a:latin typeface="Calibri"/>
                  </a:rPr>
                  <a:t> và </a:t>
                </a:r>
                <a:r>
                  <a:rPr lang="vi-VN"/>
                  <a:t>b</a:t>
                </a:r>
                <a:r>
                  <a:rPr sz="1700">
                    <a:solidFill>
                      <a:srgbClr val="1E293B"/>
                    </a:solidFill>
                    <a:latin typeface="Calibri"/>
                  </a:rPr>
                  <a:t> cùng nằm trong </a:t>
                </a:r>
                <a:r>
                  <a:rPr lang="vi-VN"/>
                  <a:t>(P)</a:t>
                </a:r>
                <a:r>
                  <a:rPr sz="1700">
                    <a:solidFill>
                      <a:srgbClr val="1E293B"/>
                    </a:solidFill>
                    <a:latin typeface="Calibri"/>
                  </a:rPr>
                  <a:t> thì giao điểm (nếu có) của </a:t>
                </a:r>
                <a:r>
                  <a:rPr lang="vi-VN"/>
                  <a:t>a</a:t>
                </a:r>
                <a:r>
                  <a:rPr sz="1700">
                    <a:solidFill>
                      <a:srgbClr val="1E293B"/>
                    </a:solidFill>
                    <a:latin typeface="Calibri"/>
                  </a:rPr>
                  <a:t> và </a:t>
                </a:r>
                <a:r>
                  <a:rPr lang="vi-VN"/>
                  <a:t>b</a:t>
                </a:r>
                <a:r>
                  <a:rPr sz="1700">
                    <a:solidFill>
                      <a:srgbClr val="1E293B"/>
                    </a:solidFill>
                    <a:latin typeface="Calibri"/>
                  </a:rPr>
                  <a:t> cũng nằm trong </a:t>
                </a:r>
                <a:r>
                  <a:rPr lang="vi-VN"/>
                  <a:t>(P)</a:t>
                </a:r>
                <a:r>
                  <a:rPr sz="1700">
                    <a:solidFill>
                      <a:srgbClr val="1E293B"/>
                    </a:solidFill>
                    <a:latin typeface="Calibri"/>
                  </a:rPr>
                  <a:t>. d) Nếu </a:t>
                </a:r>
                <a:r>
                  <a:rPr lang="vi-VN"/>
                  <a:t>a</a:t>
                </a:r>
                <a:r>
                  <a:rPr sz="1700">
                    <a:solidFill>
                      <a:srgbClr val="1E293B"/>
                    </a:solidFill>
                    <a:latin typeface="Calibri"/>
                  </a:rPr>
                  <a:t> nằm trong </a:t>
                </a:r>
                <a:r>
                  <a:rPr lang="vi-VN"/>
                  <a:t>(P)</a:t>
                </a:r>
                <a:r>
                  <a:rPr sz="1700">
                    <a:solidFill>
                      <a:srgbClr val="1E293B"/>
                    </a:solidFill>
                    <a:latin typeface="Calibri"/>
                  </a:rPr>
                  <a:t> và </a:t>
                </a:r>
                <a:r>
                  <a:rPr lang="vi-VN"/>
                  <a:t>a</a:t>
                </a:r>
                <a:r>
                  <a:rPr sz="1700">
                    <a:solidFill>
                      <a:srgbClr val="1E293B"/>
                    </a:solidFill>
                    <a:latin typeface="Calibri"/>
                  </a:rPr>
                  <a:t> cắt </a:t>
                </a:r>
                <a:r>
                  <a:rPr lang="vi-VN"/>
                  <a:t>b</a:t>
                </a:r>
                <a:r>
                  <a:rPr sz="1700">
                    <a:solidFill>
                      <a:srgbClr val="1E293B"/>
                    </a:solidFill>
                    <a:latin typeface="Calibri"/>
                  </a:rPr>
                  <a:t> thì </a:t>
                </a:r>
                <a:r>
                  <a:rPr lang="vi-VN"/>
                  <a:t>b</a:t>
                </a:r>
                <a:r>
                  <a:rPr sz="1700">
                    <a:solidFill>
                      <a:srgbClr val="1E293B"/>
                    </a:solidFill>
                    <a:latin typeface="Calibri"/>
                  </a:rPr>
                  <a:t> nằm trong </a:t>
                </a:r>
                <a:r>
                  <a:rPr lang="vi-VN"/>
                  <a:t>(P)</a:t>
                </a:r>
                <a:r>
                  <a:rPr sz="1700">
                    <a:solidFill>
                      <a:srgbClr val="1E293B"/>
                    </a:solidFill>
                    <a:latin typeface="Calibri"/>
                  </a:rPr>
                  <a:t>.</a:t>
                </a:r>
              </a:p>
            </p:txBody>
          </p:sp>
        </mc:Fallback>
      </mc:AlternateContent>
      <p:sp>
        <p:nvSpPr>
          <p:cNvPr id="8" name="s1_nen"/>
          <p:cNvSpPr/>
          <p:nvPr/>
        </p:nvSpPr>
        <p:spPr>
          <a:xfrm>
            <a:off x="548640" y="2831592"/>
            <a:ext cx="8778240" cy="5242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868168"/>
            <a:ext cx="8449056" cy="451104"/>
          </a:xfrm>
          <a:prstGeom prst="rect">
            <a:avLst/>
          </a:prstGeom>
          <a:noFill/>
        </p:spPr>
        <p:txBody>
          <a:bodyPr wrap="square" anchor="ctr" lIns="45720" rIns="45720">
            <a:spAutoFit/>
          </a:bodyPr>
          <a:lstStyle/>
          <a:p>
            <a:pPr algn="l">
              <a:spcAft>
                <a:spcPts val="800"/>
              </a:spcAft>
            </a:pPr>
            <a:r>
              <a:rPr sz="1700">
                <a:solidFill>
                  <a:srgbClr val="1E293B"/>
                </a:solidFill>
                <a:latin typeface="Calibri"/>
              </a:rPr>
              <a:t>Đúng: b), c). Sai: a), d).</a:t>
            </a:r>
          </a:p>
        </p:txBody>
      </p:sp>
      <mc:AlternateContent xmlns:mc="http://schemas.openxmlformats.org/markup-compatibility/2006">
        <mc:Choice xmlns:a14="http://schemas.microsoft.com/office/drawing/2010/main" Requires="a14">
          <p:sp>
            <p:nvSpPr>
              <p:cNvPr id="10" name="s2_chu"/>
              <p:cNvSpPr txBox="1"/>
              <p:nvPr/>
            </p:nvSpPr>
            <p:spPr>
              <a:xfrm>
                <a:off x="548640" y="3392424"/>
                <a:ext cx="8778240" cy="950976"/>
              </a:xfrm>
              <a:prstGeom prst="rect">
                <a:avLst/>
              </a:prstGeom>
              <a:noFill/>
            </p:spPr>
            <p:txBody>
              <a:bodyPr wrap="square" anchor="t" lIns="45720" rIns="45720">
                <a:spAutoFit/>
              </a:bodyPr>
              <a:lstStyle/>
              <a:p>
                <a:pPr algn="l">
                  <a:spcAft>
                    <a:spcPts val="800"/>
                  </a:spcAft>
                </a:pPr>
                <a:r>
                  <a:rPr sz="1700" b="1">
                    <a:solidFill>
                      <a:srgbClr val="1E293B"/>
                    </a:solidFill>
                    <a:latin typeface="Calibri"/>
                  </a:rPr>
                  <a:t>4.2.</a:t>
                </a:r>
                <a:r>
                  <a:rPr sz="1700">
                    <a:solidFill>
                      <a:srgbClr val="1E293B"/>
                    </a:solidFill>
                    <a:latin typeface="Calibri"/>
                  </a:rPr>
                  <a:t> Cho tam giác </a:t>
                </a:r>
                <a14:m>
                  <m:oMath xmlns:m="http://schemas.openxmlformats.org/officeDocument/2006/math">
                    <m:r>
                      <a:rPr lang="vi-VN" sz="1700" b="0">
                        <a:solidFill>
                          <a:srgbClr val="1E293B"/>
                        </a:solidFill>
                        <a:latin typeface="Cambria Math" panose="02040503050406030204" pitchFamily="18" charset="0"/>
                      </a:rPr>
                      <m:t>ABC</m:t>
                    </m:r>
                  </m:oMath>
                </a14:m>
                <a:r>
                  <a:rPr sz="1700">
                    <a:solidFill>
                      <a:srgbClr val="1E293B"/>
                    </a:solidFill>
                    <a:latin typeface="Calibri"/>
                  </a:rPr>
                  <a:t> và </a:t>
                </a:r>
                <a14:m>
                  <m:oMath xmlns:m="http://schemas.openxmlformats.org/officeDocument/2006/math">
                    <m:r>
                      <a:rPr lang="vi-VN" sz="1700" b="0">
                        <a:solidFill>
                          <a:srgbClr val="1E293B"/>
                        </a:solidFill>
                        <a:latin typeface="Cambria Math" panose="02040503050406030204" pitchFamily="18" charset="0"/>
                      </a:rPr>
                      <m:t>S∉(ABC)</m:t>
                    </m:r>
                  </m:oMath>
                </a14:m>
                <a:r>
                  <a:rPr sz="1700">
                    <a:solidFill>
                      <a:srgbClr val="1E293B"/>
                    </a:solidFill>
                    <a:latin typeface="Calibri"/>
                  </a:rPr>
                  <a:t>; </a:t>
                </a:r>
                <a14:m>
                  <m:oMath xmlns:m="http://schemas.openxmlformats.org/officeDocument/2006/math">
                    <m:r>
                      <a:rPr lang="vi-VN" sz="1700" b="0">
                        <a:solidFill>
                          <a:srgbClr val="1E293B"/>
                        </a:solidFill>
                        <a:latin typeface="Cambria Math" panose="02040503050406030204" pitchFamily="18" charset="0"/>
                      </a:rPr>
                      <m:t>D,</m:t>
                    </m:r>
                    <m:r>
                      <m:rPr>
                        <m:sty m:val="p"/>
                      </m:rPr>
                      <a:rPr lang="vi-VN" sz="1700" b="0">
                        <a:solidFill>
                          <a:srgbClr val="1E293B"/>
                        </a:solidFill>
                        <a:latin typeface="Cambria Math" panose="02040503050406030204" pitchFamily="18" charset="0"/>
                      </a:rPr>
                      <m:t> </m:t>
                    </m:r>
                    <m:r>
                      <a:rPr lang="vi-VN" sz="1700" b="0">
                        <a:solidFill>
                          <a:srgbClr val="1E293B"/>
                        </a:solidFill>
                        <a:latin typeface="Cambria Math" panose="02040503050406030204" pitchFamily="18" charset="0"/>
                      </a:rPr>
                      <m:t>E</m:t>
                    </m:r>
                  </m:oMath>
                </a14:m>
                <a:r>
                  <a:rPr sz="1700">
                    <a:solidFill>
                      <a:srgbClr val="1E293B"/>
                    </a:solidFill>
                    <a:latin typeface="Calibri"/>
                  </a:rPr>
                  <a:t> lần lượt thuộc cạnh </a:t>
                </a:r>
                <a14:m>
                  <m:oMath xmlns:m="http://schemas.openxmlformats.org/officeDocument/2006/math">
                    <m:r>
                      <a:rPr lang="vi-VN" sz="1700" b="0">
                        <a:solidFill>
                          <a:srgbClr val="1E293B"/>
                        </a:solidFill>
                        <a:latin typeface="Cambria Math" panose="02040503050406030204" pitchFamily="18" charset="0"/>
                      </a:rPr>
                      <m:t>SA,</m:t>
                    </m:r>
                    <m:r>
                      <m:rPr>
                        <m:sty m:val="p"/>
                      </m:rPr>
                      <a:rPr lang="vi-VN" sz="1700" b="0">
                        <a:solidFill>
                          <a:srgbClr val="1E293B"/>
                        </a:solidFill>
                        <a:latin typeface="Cambria Math" panose="02040503050406030204" pitchFamily="18" charset="0"/>
                      </a:rPr>
                      <m:t> </m:t>
                    </m:r>
                    <m:r>
                      <a:rPr lang="vi-VN" sz="1700" b="0">
                        <a:solidFill>
                          <a:srgbClr val="1E293B"/>
                        </a:solidFill>
                        <a:latin typeface="Cambria Math" panose="02040503050406030204" pitchFamily="18" charset="0"/>
                      </a:rPr>
                      <m:t>SB</m:t>
                    </m:r>
                  </m:oMath>
                </a14:m>
                <a:r>
                  <a:rPr sz="1700">
                    <a:solidFill>
                      <a:srgbClr val="1E293B"/>
                    </a:solidFill>
                    <a:latin typeface="Calibri"/>
                  </a:rPr>
                  <a:t> (</a:t>
                </a:r>
                <a14:m>
                  <m:oMath xmlns:m="http://schemas.openxmlformats.org/officeDocument/2006/math">
                    <m:r>
                      <a:rPr lang="vi-VN" sz="1700" b="0">
                        <a:solidFill>
                          <a:srgbClr val="1E293B"/>
                        </a:solidFill>
                        <a:latin typeface="Cambria Math" panose="02040503050406030204" pitchFamily="18" charset="0"/>
                      </a:rPr>
                      <m:t>D,</m:t>
                    </m:r>
                    <m:r>
                      <m:rPr>
                        <m:sty m:val="p"/>
                      </m:rPr>
                      <a:rPr lang="vi-VN" sz="1700" b="0">
                        <a:solidFill>
                          <a:srgbClr val="1E293B"/>
                        </a:solidFill>
                        <a:latin typeface="Cambria Math" panose="02040503050406030204" pitchFamily="18" charset="0"/>
                      </a:rPr>
                      <m:t> </m:t>
                    </m:r>
                    <m:r>
                      <a:rPr lang="vi-VN" sz="1700" b="0">
                        <a:solidFill>
                          <a:srgbClr val="1E293B"/>
                        </a:solidFill>
                        <a:latin typeface="Cambria Math" panose="02040503050406030204" pitchFamily="18" charset="0"/>
                      </a:rPr>
                      <m:t>E</m:t>
                    </m:r>
                  </m:oMath>
                </a14:m>
                <a:r>
                  <a:rPr sz="1700">
                    <a:solidFill>
                      <a:srgbClr val="1E293B"/>
                    </a:solidFill>
                    <a:latin typeface="Calibri"/>
                  </a:rPr>
                  <a:t> khác </a:t>
                </a:r>
                <a14:m>
                  <m:oMath xmlns:m="http://schemas.openxmlformats.org/officeDocument/2006/math">
                    <m:r>
                      <a:rPr lang="vi-VN" sz="1700" b="0">
                        <a:solidFill>
                          <a:srgbClr val="1E293B"/>
                        </a:solidFill>
                        <a:latin typeface="Cambria Math" panose="02040503050406030204" pitchFamily="18" charset="0"/>
                      </a:rPr>
                      <m:t>S</m:t>
                    </m:r>
                  </m:oMath>
                </a14:m>
                <a:r>
                  <a:rPr sz="1700">
                    <a:solidFill>
                      <a:srgbClr val="1E293B"/>
                    </a:solidFill>
                    <a:latin typeface="Calibri"/>
                  </a:rPr>
                  <a:t>). a) </a:t>
                </a:r>
                <a14:m>
                  <m:oMath xmlns:m="http://schemas.openxmlformats.org/officeDocument/2006/math">
                    <m:r>
                      <a:rPr lang="vi-VN" sz="1700" b="0">
                        <a:solidFill>
                          <a:srgbClr val="1E293B"/>
                        </a:solidFill>
                        <a:latin typeface="Cambria Math" panose="02040503050406030204" pitchFamily="18" charset="0"/>
                      </a:rPr>
                      <m:t>DE</m:t>
                    </m:r>
                  </m:oMath>
                </a14:m>
                <a:r>
                  <a:rPr sz="1700">
                    <a:solidFill>
                      <a:srgbClr val="1E293B"/>
                    </a:solidFill>
                    <a:latin typeface="Calibri"/>
                  </a:rPr>
                  <a:t> có nằm trong </a:t>
                </a:r>
                <a14:m>
                  <m:oMath xmlns:m="http://schemas.openxmlformats.org/officeDocument/2006/math">
                    <m:d>
                      <m:dPr>
                        <m:sepChr m:val=""/>
                      </m:dPr>
                      <m:e>
                        <m:r>
                          <a:rPr lang="vi-VN" sz="1700" b="0">
                            <a:solidFill>
                              <a:srgbClr val="1E293B"/>
                            </a:solidFill>
                            <a:latin typeface="Cambria Math" panose="02040503050406030204" pitchFamily="18" charset="0"/>
                          </a:rPr>
                          <m:t>S</m:t>
                        </m:r>
                        <m:r>
                          <a:rPr lang="vi-VN" sz="1700" b="0">
                            <a:solidFill>
                              <a:srgbClr val="1E293B"/>
                            </a:solidFill>
                            <a:latin typeface="Cambria Math" panose="02040503050406030204" pitchFamily="18" charset="0"/>
                          </a:rPr>
                          <m:t>A</m:t>
                        </m:r>
                        <m:r>
                          <a:rPr lang="vi-VN" sz="1700" b="0">
                            <a:solidFill>
                              <a:srgbClr val="1E293B"/>
                            </a:solidFill>
                            <a:latin typeface="Cambria Math" panose="02040503050406030204" pitchFamily="18" charset="0"/>
                          </a:rPr>
                          <m:t>B</m:t>
                        </m:r>
                      </m:e>
                    </m:d>
                  </m:oMath>
                </a14:m>
                <a:r>
                  <a:rPr sz="1700">
                    <a:solidFill>
                      <a:srgbClr val="1E293B"/>
                    </a:solidFill>
                    <a:latin typeface="Calibri"/>
                  </a:rPr>
                  <a:t> không? b) Giả sử </a:t>
                </a:r>
                <a14:m>
                  <m:oMath xmlns:m="http://schemas.openxmlformats.org/officeDocument/2006/math">
                    <m:r>
                      <a:rPr lang="vi-VN" sz="1700" b="0">
                        <a:solidFill>
                          <a:srgbClr val="1E293B"/>
                        </a:solidFill>
                        <a:latin typeface="Cambria Math" panose="02040503050406030204" pitchFamily="18" charset="0"/>
                      </a:rPr>
                      <m:t>DE</m:t>
                    </m:r>
                  </m:oMath>
                </a14:m>
                <a:r>
                  <a:rPr sz="1700">
                    <a:solidFill>
                      <a:srgbClr val="1E293B"/>
                    </a:solidFill>
                    <a:latin typeface="Calibri"/>
                  </a:rPr>
                  <a:t> cắt </a:t>
                </a:r>
                <a14:m>
                  <m:oMath xmlns:m="http://schemas.openxmlformats.org/officeDocument/2006/math">
                    <m:r>
                      <a:rPr lang="vi-VN" sz="1700" b="0">
                        <a:solidFill>
                          <a:srgbClr val="1E293B"/>
                        </a:solidFill>
                        <a:latin typeface="Cambria Math" panose="02040503050406030204" pitchFamily="18" charset="0"/>
                      </a:rPr>
                      <m:t>AB</m:t>
                    </m:r>
                  </m:oMath>
                </a14:m>
                <a:r>
                  <a:rPr sz="1700">
                    <a:solidFill>
                      <a:srgbClr val="1E293B"/>
                    </a:solidFill>
                    <a:latin typeface="Calibri"/>
                  </a:rPr>
                  <a:t> tại </a:t>
                </a:r>
                <a14:m>
                  <m:oMath xmlns:m="http://schemas.openxmlformats.org/officeDocument/2006/math">
                    <m:r>
                      <a:rPr lang="vi-VN" sz="1700" b="0">
                        <a:solidFill>
                          <a:srgbClr val="1E293B"/>
                        </a:solidFill>
                        <a:latin typeface="Cambria Math" panose="02040503050406030204" pitchFamily="18" charset="0"/>
                      </a:rPr>
                      <m:t>F</m:t>
                    </m:r>
                  </m:oMath>
                </a14:m>
                <a:r>
                  <a:rPr sz="1700">
                    <a:solidFill>
                      <a:srgbClr val="1E293B"/>
                    </a:solidFill>
                    <a:latin typeface="Calibri"/>
                  </a:rPr>
                  <a:t>. Chứng minh </a:t>
                </a:r>
                <a14:m>
                  <m:oMath xmlns:m="http://schemas.openxmlformats.org/officeDocument/2006/math">
                    <m:r>
                      <a:rPr lang="vi-VN" sz="1700" b="0">
                        <a:solidFill>
                          <a:srgbClr val="1E293B"/>
                        </a:solidFill>
                        <a:latin typeface="Cambria Math" panose="02040503050406030204" pitchFamily="18" charset="0"/>
                      </a:rPr>
                      <m:t>F</m:t>
                    </m:r>
                  </m:oMath>
                </a14:m>
                <a:r>
                  <a:rPr sz="1700">
                    <a:solidFill>
                      <a:srgbClr val="1E293B"/>
                    </a:solidFill>
                    <a:latin typeface="Calibri"/>
                  </a:rPr>
                  <a:t> là điểm chung của </a:t>
                </a:r>
                <a14:m>
                  <m:oMath xmlns:m="http://schemas.openxmlformats.org/officeDocument/2006/math">
                    <m:d>
                      <m:dPr>
                        <m:sepChr m:val=""/>
                      </m:dPr>
                      <m:e>
                        <m:r>
                          <a:rPr lang="vi-VN" sz="1700" b="0">
                            <a:solidFill>
                              <a:srgbClr val="1E293B"/>
                            </a:solidFill>
                            <a:latin typeface="Cambria Math" panose="02040503050406030204" pitchFamily="18" charset="0"/>
                          </a:rPr>
                          <m:t>S</m:t>
                        </m:r>
                        <m:r>
                          <a:rPr lang="vi-VN" sz="1700" b="0">
                            <a:solidFill>
                              <a:srgbClr val="1E293B"/>
                            </a:solidFill>
                            <a:latin typeface="Cambria Math" panose="02040503050406030204" pitchFamily="18" charset="0"/>
                          </a:rPr>
                          <m:t>A</m:t>
                        </m:r>
                        <m:r>
                          <a:rPr lang="vi-VN" sz="1700" b="0">
                            <a:solidFill>
                              <a:srgbClr val="1E293B"/>
                            </a:solidFill>
                            <a:latin typeface="Cambria Math" panose="02040503050406030204" pitchFamily="18" charset="0"/>
                          </a:rPr>
                          <m:t>B</m:t>
                        </m:r>
                      </m:e>
                    </m:d>
                  </m:oMath>
                </a14:m>
                <a:r>
                  <a:rPr sz="1700">
                    <a:solidFill>
                      <a:srgbClr val="1E293B"/>
                    </a:solidFill>
                    <a:latin typeface="Calibri"/>
                  </a:rPr>
                  <a:t> và </a:t>
                </a:r>
                <a14:m>
                  <m:oMath xmlns:m="http://schemas.openxmlformats.org/officeDocument/2006/math">
                    <m:d>
                      <m:dPr>
                        <m:sepChr m:val=""/>
                      </m:dPr>
                      <m:e>
                        <m:r>
                          <a:rPr lang="vi-VN" sz="1700" b="0">
                            <a:solidFill>
                              <a:srgbClr val="1E293B"/>
                            </a:solidFill>
                            <a:latin typeface="Cambria Math" panose="02040503050406030204" pitchFamily="18" charset="0"/>
                          </a:rPr>
                          <m:t>C</m:t>
                        </m:r>
                        <m:r>
                          <a:rPr lang="vi-VN" sz="1700" b="0">
                            <a:solidFill>
                              <a:srgbClr val="1E293B"/>
                            </a:solidFill>
                            <a:latin typeface="Cambria Math" panose="02040503050406030204" pitchFamily="18" charset="0"/>
                          </a:rPr>
                          <m:t>D</m:t>
                        </m:r>
                        <m:r>
                          <a:rPr lang="vi-VN" sz="1700" b="0">
                            <a:solidFill>
                              <a:srgbClr val="1E293B"/>
                            </a:solidFill>
                            <a:latin typeface="Cambria Math" panose="02040503050406030204" pitchFamily="18" charset="0"/>
                          </a:rPr>
                          <m:t>E</m:t>
                        </m:r>
                      </m:e>
                    </m:d>
                  </m:oMath>
                </a14:m>
                <a:r>
                  <a:rPr sz="1700">
                    <a:solidFill>
                      <a:srgbClr val="1E293B"/>
                    </a:solidFill>
                    <a:latin typeface="Calibri"/>
                  </a:rPr>
                  <a:t>.</a:t>
                </a:r>
              </a:p>
            </p:txBody>
          </p:sp>
        </mc:Choice>
        <mc:Fallback>
          <p:sp>
            <p:nvSpPr>
              <p:cNvPr id="10" name="TextBox 9"/>
              <p:cNvSpPr txBox="1"/>
              <p:nvPr/>
            </p:nvSpPr>
            <p:spPr>
              <a:xfrm>
                <a:off x="548640" y="3392424"/>
                <a:ext cx="8778240" cy="950976"/>
              </a:xfrm>
              <a:prstGeom prst="rect">
                <a:avLst/>
              </a:prstGeom>
              <a:noFill/>
            </p:spPr>
            <p:txBody>
              <a:bodyPr wrap="square" anchor="t" lIns="45720" rIns="45720">
                <a:spAutoFit/>
              </a:bodyPr>
              <a:lstStyle/>
              <a:p>
                <a:pPr algn="l">
                  <a:spcAft>
                    <a:spcPts val="800"/>
                  </a:spcAft>
                </a:pPr>
                <a:r>
                  <a:rPr sz="1700" b="1">
                    <a:solidFill>
                      <a:srgbClr val="1E293B"/>
                    </a:solidFill>
                    <a:latin typeface="Calibri"/>
                  </a:rPr>
                  <a:t>4.2.</a:t>
                </a:r>
                <a:r>
                  <a:rPr sz="1700">
                    <a:solidFill>
                      <a:srgbClr val="1E293B"/>
                    </a:solidFill>
                    <a:latin typeface="Calibri"/>
                  </a:rPr>
                  <a:t> Cho tam giác </a:t>
                </a:r>
                <a:r>
                  <a:rPr lang="vi-VN"/>
                  <a:t>ABC</a:t>
                </a:r>
                <a:r>
                  <a:rPr sz="1700">
                    <a:solidFill>
                      <a:srgbClr val="1E293B"/>
                    </a:solidFill>
                    <a:latin typeface="Calibri"/>
                  </a:rPr>
                  <a:t> và </a:t>
                </a:r>
                <a:r>
                  <a:rPr lang="vi-VN"/>
                  <a:t>S\notin (ABC)</a:t>
                </a:r>
                <a:r>
                  <a:rPr sz="1700">
                    <a:solidFill>
                      <a:srgbClr val="1E293B"/>
                    </a:solidFill>
                    <a:latin typeface="Calibri"/>
                  </a:rPr>
                  <a:t>; </a:t>
                </a:r>
                <a:r>
                  <a:rPr lang="vi-VN"/>
                  <a:t>D,\ E</a:t>
                </a:r>
                <a:r>
                  <a:rPr sz="1700">
                    <a:solidFill>
                      <a:srgbClr val="1E293B"/>
                    </a:solidFill>
                    <a:latin typeface="Calibri"/>
                  </a:rPr>
                  <a:t> lần lượt thuộc cạnh </a:t>
                </a:r>
                <a:r>
                  <a:rPr lang="vi-VN"/>
                  <a:t>SA,\ SB</a:t>
                </a:r>
                <a:r>
                  <a:rPr sz="1700">
                    <a:solidFill>
                      <a:srgbClr val="1E293B"/>
                    </a:solidFill>
                    <a:latin typeface="Calibri"/>
                  </a:rPr>
                  <a:t> (</a:t>
                </a:r>
                <a:r>
                  <a:rPr lang="vi-VN"/>
                  <a:t>D,\ E</a:t>
                </a:r>
                <a:r>
                  <a:rPr sz="1700">
                    <a:solidFill>
                      <a:srgbClr val="1E293B"/>
                    </a:solidFill>
                    <a:latin typeface="Calibri"/>
                  </a:rPr>
                  <a:t> khác </a:t>
                </a:r>
                <a:r>
                  <a:rPr lang="vi-VN"/>
                  <a:t>S</a:t>
                </a:r>
                <a:r>
                  <a:rPr sz="1700">
                    <a:solidFill>
                      <a:srgbClr val="1E293B"/>
                    </a:solidFill>
                    <a:latin typeface="Calibri"/>
                  </a:rPr>
                  <a:t>). a) </a:t>
                </a:r>
                <a:r>
                  <a:rPr lang="vi-VN"/>
                  <a:t>DE</a:t>
                </a:r>
                <a:r>
                  <a:rPr sz="1700">
                    <a:solidFill>
                      <a:srgbClr val="1E293B"/>
                    </a:solidFill>
                    <a:latin typeface="Calibri"/>
                  </a:rPr>
                  <a:t> có nằm trong </a:t>
                </a:r>
                <a:r>
                  <a:rPr lang="vi-VN"/>
                  <a:t>(SAB)</a:t>
                </a:r>
                <a:r>
                  <a:rPr sz="1700">
                    <a:solidFill>
                      <a:srgbClr val="1E293B"/>
                    </a:solidFill>
                    <a:latin typeface="Calibri"/>
                  </a:rPr>
                  <a:t> không? b) Giả sử </a:t>
                </a:r>
                <a:r>
                  <a:rPr lang="vi-VN"/>
                  <a:t>DE</a:t>
                </a:r>
                <a:r>
                  <a:rPr sz="1700">
                    <a:solidFill>
                      <a:srgbClr val="1E293B"/>
                    </a:solidFill>
                    <a:latin typeface="Calibri"/>
                  </a:rPr>
                  <a:t> cắt </a:t>
                </a:r>
                <a:r>
                  <a:rPr lang="vi-VN"/>
                  <a:t>AB</a:t>
                </a:r>
                <a:r>
                  <a:rPr sz="1700">
                    <a:solidFill>
                      <a:srgbClr val="1E293B"/>
                    </a:solidFill>
                    <a:latin typeface="Calibri"/>
                  </a:rPr>
                  <a:t> tại </a:t>
                </a:r>
                <a:r>
                  <a:rPr lang="vi-VN"/>
                  <a:t>F</a:t>
                </a:r>
                <a:r>
                  <a:rPr sz="1700">
                    <a:solidFill>
                      <a:srgbClr val="1E293B"/>
                    </a:solidFill>
                    <a:latin typeface="Calibri"/>
                  </a:rPr>
                  <a:t>. Chứng minh </a:t>
                </a:r>
                <a:r>
                  <a:rPr lang="vi-VN"/>
                  <a:t>F</a:t>
                </a:r>
                <a:r>
                  <a:rPr sz="1700">
                    <a:solidFill>
                      <a:srgbClr val="1E293B"/>
                    </a:solidFill>
                    <a:latin typeface="Calibri"/>
                  </a:rPr>
                  <a:t> là điểm chung của </a:t>
                </a:r>
                <a:r>
                  <a:rPr lang="vi-VN"/>
                  <a:t>(SAB)</a:t>
                </a:r>
                <a:r>
                  <a:rPr sz="1700">
                    <a:solidFill>
                      <a:srgbClr val="1E293B"/>
                    </a:solidFill>
                    <a:latin typeface="Calibri"/>
                  </a:rPr>
                  <a:t> và </a:t>
                </a:r>
                <a:r>
                  <a:rPr lang="vi-VN"/>
                  <a:t>(CDE)</a:t>
                </a:r>
                <a:r>
                  <a:rPr sz="1700">
                    <a:solidFill>
                      <a:srgbClr val="1E293B"/>
                    </a:solidFill>
                    <a:latin typeface="Calibri"/>
                  </a:rPr>
                  <a:t>.</a:t>
                </a:r>
              </a:p>
            </p:txBody>
          </p:sp>
        </mc:Fallback>
      </mc:AlternateContent>
      <p:sp>
        <p:nvSpPr>
          <p:cNvPr id="11" name="s3_nen"/>
          <p:cNvSpPr/>
          <p:nvPr/>
        </p:nvSpPr>
        <p:spPr>
          <a:xfrm>
            <a:off x="548640" y="4379976"/>
            <a:ext cx="8778240" cy="5242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416552"/>
                <a:ext cx="8449056" cy="451104"/>
              </a:xfrm>
              <a:prstGeom prst="rect">
                <a:avLst/>
              </a:prstGeom>
              <a:noFill/>
            </p:spPr>
            <p:txBody>
              <a:bodyPr wrap="square" anchor="ctr" lIns="45720" rIns="45720">
                <a:spAutoFit/>
              </a:bodyPr>
              <a:lstStyle/>
              <a:p>
                <a:pPr algn="l">
                  <a:spcAft>
                    <a:spcPts val="800"/>
                  </a:spcAft>
                </a:pPr>
                <a:r>
                  <a:rPr sz="1700">
                    <a:solidFill>
                      <a:srgbClr val="1E293B"/>
                    </a:solidFill>
                    <a:latin typeface="Calibri"/>
                  </a:rPr>
                  <a:t>a) </a:t>
                </a:r>
                <a14:m>
                  <m:oMath xmlns:m="http://schemas.openxmlformats.org/officeDocument/2006/math">
                    <m:r>
                      <a:rPr lang="vi-VN" sz="1700" b="0">
                        <a:solidFill>
                          <a:srgbClr val="1E293B"/>
                        </a:solidFill>
                        <a:latin typeface="Cambria Math" panose="02040503050406030204" pitchFamily="18" charset="0"/>
                      </a:rPr>
                      <m:t>D,</m:t>
                    </m:r>
                    <m:r>
                      <m:rPr>
                        <m:sty m:val="p"/>
                      </m:rPr>
                      <a:rPr lang="vi-VN" sz="1700" b="0">
                        <a:solidFill>
                          <a:srgbClr val="1E293B"/>
                        </a:solidFill>
                        <a:latin typeface="Cambria Math" panose="02040503050406030204" pitchFamily="18" charset="0"/>
                      </a:rPr>
                      <m:t> </m:t>
                    </m:r>
                    <m:r>
                      <a:rPr lang="vi-VN" sz="1700" b="0">
                        <a:solidFill>
                          <a:srgbClr val="1E293B"/>
                        </a:solidFill>
                        <a:latin typeface="Cambria Math" panose="02040503050406030204" pitchFamily="18" charset="0"/>
                      </a:rPr>
                      <m:t>E∈(SAB)</m:t>
                    </m:r>
                  </m:oMath>
                </a14:m>
                <a:r>
                  <a:rPr sz="1700">
                    <a:solidFill>
                      <a:srgbClr val="1E293B"/>
                    </a:solidFill>
                    <a:latin typeface="Calibri"/>
                  </a:rPr>
                  <a:t> nên </a:t>
                </a:r>
                <a14:m>
                  <m:oMath xmlns:m="http://schemas.openxmlformats.org/officeDocument/2006/math">
                    <m:r>
                      <a:rPr lang="vi-VN" sz="1700" b="0">
                        <a:solidFill>
                          <a:srgbClr val="1E293B"/>
                        </a:solidFill>
                        <a:latin typeface="Cambria Math" panose="02040503050406030204" pitchFamily="18" charset="0"/>
                      </a:rPr>
                      <m:t>DE⊂(SAB)</m:t>
                    </m:r>
                  </m:oMath>
                </a14:m>
                <a:r>
                  <a:rPr sz="1700">
                    <a:solidFill>
                      <a:srgbClr val="1E293B"/>
                    </a:solidFill>
                    <a:latin typeface="Calibri"/>
                  </a:rPr>
                  <a:t>. b) </a:t>
                </a:r>
                <a14:m>
                  <m:oMath xmlns:m="http://schemas.openxmlformats.org/officeDocument/2006/math">
                    <m:r>
                      <a:rPr lang="vi-VN" sz="1700" b="0">
                        <a:solidFill>
                          <a:srgbClr val="1E293B"/>
                        </a:solidFill>
                        <a:latin typeface="Cambria Math" panose="02040503050406030204" pitchFamily="18" charset="0"/>
                      </a:rPr>
                      <m:t>F∈AB⊂(SAB)</m:t>
                    </m:r>
                  </m:oMath>
                </a14:m>
                <a:r>
                  <a:rPr sz="1700">
                    <a:solidFill>
                      <a:srgbClr val="1E293B"/>
                    </a:solidFill>
                    <a:latin typeface="Calibri"/>
                  </a:rPr>
                  <a:t> và </a:t>
                </a:r>
                <a14:m>
                  <m:oMath xmlns:m="http://schemas.openxmlformats.org/officeDocument/2006/math">
                    <m:r>
                      <a:rPr lang="vi-VN" sz="1700" b="0">
                        <a:solidFill>
                          <a:srgbClr val="1E293B"/>
                        </a:solidFill>
                        <a:latin typeface="Cambria Math" panose="02040503050406030204" pitchFamily="18" charset="0"/>
                      </a:rPr>
                      <m:t>F∈DE⊂(CDE)</m:t>
                    </m:r>
                  </m:oMath>
                </a14:m>
                <a:r>
                  <a:rPr sz="1700">
                    <a:solidFill>
                      <a:srgbClr val="1E293B"/>
                    </a:solidFill>
                    <a:latin typeface="Calibri"/>
                  </a:rPr>
                  <a:t>.</a:t>
                </a:r>
              </a:p>
            </p:txBody>
          </p:sp>
        </mc:Choice>
        <mc:Fallback>
          <p:sp>
            <p:nvSpPr>
              <p:cNvPr id="12" name="TextBox 11"/>
              <p:cNvSpPr txBox="1"/>
              <p:nvPr/>
            </p:nvSpPr>
            <p:spPr>
              <a:xfrm>
                <a:off x="713232" y="4416552"/>
                <a:ext cx="8449056" cy="451104"/>
              </a:xfrm>
              <a:prstGeom prst="rect">
                <a:avLst/>
              </a:prstGeom>
              <a:noFill/>
            </p:spPr>
            <p:txBody>
              <a:bodyPr wrap="square" anchor="ctr" lIns="45720" rIns="45720">
                <a:spAutoFit/>
              </a:bodyPr>
              <a:lstStyle/>
              <a:p>
                <a:pPr algn="l">
                  <a:spcAft>
                    <a:spcPts val="800"/>
                  </a:spcAft>
                </a:pPr>
                <a:r>
                  <a:rPr sz="1700">
                    <a:solidFill>
                      <a:srgbClr val="1E293B"/>
                    </a:solidFill>
                    <a:latin typeface="Calibri"/>
                  </a:rPr>
                  <a:t>a) </a:t>
                </a:r>
                <a:r>
                  <a:rPr lang="vi-VN"/>
                  <a:t>D,\ E\in (SAB)</a:t>
                </a:r>
                <a:r>
                  <a:rPr sz="1700">
                    <a:solidFill>
                      <a:srgbClr val="1E293B"/>
                    </a:solidFill>
                    <a:latin typeface="Calibri"/>
                  </a:rPr>
                  <a:t> nên </a:t>
                </a:r>
                <a:r>
                  <a:rPr lang="vi-VN"/>
                  <a:t>DE\subset (SAB)</a:t>
                </a:r>
                <a:r>
                  <a:rPr sz="1700">
                    <a:solidFill>
                      <a:srgbClr val="1E293B"/>
                    </a:solidFill>
                    <a:latin typeface="Calibri"/>
                  </a:rPr>
                  <a:t>. b) </a:t>
                </a:r>
                <a:r>
                  <a:rPr lang="vi-VN"/>
                  <a:t>F\in AB\subset (SAB)</a:t>
                </a:r>
                <a:r>
                  <a:rPr sz="1700">
                    <a:solidFill>
                      <a:srgbClr val="1E293B"/>
                    </a:solidFill>
                    <a:latin typeface="Calibri"/>
                  </a:rPr>
                  <a:t> và </a:t>
                </a:r>
                <a:r>
                  <a:rPr lang="vi-VN"/>
                  <a:t>F\in DE\subset (CDE)</a:t>
                </a:r>
                <a:r>
                  <a:rPr sz="17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3" name="s4_chu"/>
              <p:cNvSpPr txBox="1"/>
              <p:nvPr/>
            </p:nvSpPr>
            <p:spPr>
              <a:xfrm>
                <a:off x="548640" y="4940808"/>
                <a:ext cx="8778240" cy="691895"/>
              </a:xfrm>
              <a:prstGeom prst="rect">
                <a:avLst/>
              </a:prstGeom>
              <a:noFill/>
            </p:spPr>
            <p:txBody>
              <a:bodyPr wrap="square" anchor="t" lIns="45720" rIns="45720">
                <a:spAutoFit/>
              </a:bodyPr>
              <a:lstStyle/>
              <a:p>
                <a:pPr algn="l">
                  <a:spcAft>
                    <a:spcPts val="800"/>
                  </a:spcAft>
                </a:pPr>
                <a:r>
                  <a:rPr sz="1700" b="1">
                    <a:solidFill>
                      <a:srgbClr val="1E293B"/>
                    </a:solidFill>
                    <a:latin typeface="Calibri"/>
                  </a:rPr>
                  <a:t>4.3.</a:t>
                </a:r>
                <a:r>
                  <a:rPr sz="1700">
                    <a:solidFill>
                      <a:srgbClr val="1E293B"/>
                    </a:solidFill>
                    <a:latin typeface="Calibri"/>
                  </a:rPr>
                  <a:t> Cho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và hai đường thẳng </a:t>
                </a:r>
                <a14:m>
                  <m:oMath xmlns:m="http://schemas.openxmlformats.org/officeDocument/2006/math">
                    <m:r>
                      <a:rPr lang="vi-VN" sz="1700" b="0">
                        <a:solidFill>
                          <a:srgbClr val="1E293B"/>
                        </a:solidFill>
                        <a:latin typeface="Cambria Math" panose="02040503050406030204" pitchFamily="18" charset="0"/>
                      </a:rPr>
                      <m:t>a,</m:t>
                    </m:r>
                    <m:r>
                      <m:rPr>
                        <m:sty m:val="p"/>
                      </m:rPr>
                      <a:rPr lang="vi-VN" sz="1700" b="0">
                        <a:solidFill>
                          <a:srgbClr val="1E293B"/>
                        </a:solidFill>
                        <a:latin typeface="Cambria Math" panose="02040503050406030204" pitchFamily="18" charset="0"/>
                      </a:rPr>
                      <m:t> </m:t>
                    </m:r>
                    <m:r>
                      <a:rPr lang="vi-VN" sz="1700" b="0">
                        <a:solidFill>
                          <a:srgbClr val="1E293B"/>
                        </a:solidFill>
                        <a:latin typeface="Cambria Math" panose="02040503050406030204" pitchFamily="18" charset="0"/>
                      </a:rPr>
                      <m:t>b</m:t>
                    </m:r>
                  </m:oMath>
                </a14:m>
                <a:r>
                  <a:rPr sz="1700">
                    <a:solidFill>
                      <a:srgbClr val="1E293B"/>
                    </a:solidFill>
                    <a:latin typeface="Calibri"/>
                  </a:rPr>
                  <a:t>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 Đường thẳng </a:t>
                </a:r>
                <a14:m>
                  <m:oMath xmlns:m="http://schemas.openxmlformats.org/officeDocument/2006/math">
                    <m:r>
                      <a:rPr lang="vi-VN" sz="1700" b="0">
                        <a:solidFill>
                          <a:srgbClr val="1E293B"/>
                        </a:solidFill>
                        <a:latin typeface="Cambria Math" panose="02040503050406030204" pitchFamily="18" charset="0"/>
                      </a:rPr>
                      <m:t>c</m:t>
                    </m:r>
                  </m:oMath>
                </a14:m>
                <a:r>
                  <a:rPr sz="1700">
                    <a:solidFill>
                      <a:srgbClr val="1E293B"/>
                    </a:solidFill>
                    <a:latin typeface="Calibri"/>
                  </a:rPr>
                  <a:t> cắt </a:t>
                </a:r>
                <a14:m>
                  <m:oMath xmlns:m="http://schemas.openxmlformats.org/officeDocument/2006/math">
                    <m:r>
                      <a:rPr lang="vi-VN" sz="1700" b="0">
                        <a:solidFill>
                          <a:srgbClr val="1E293B"/>
                        </a:solidFill>
                        <a:latin typeface="Cambria Math" panose="02040503050406030204" pitchFamily="18" charset="0"/>
                      </a:rPr>
                      <m:t>a</m:t>
                    </m:r>
                  </m:oMath>
                </a14:m>
                <a:r>
                  <a:rPr sz="1700">
                    <a:solidFill>
                      <a:srgbClr val="1E293B"/>
                    </a:solidFill>
                    <a:latin typeface="Calibri"/>
                  </a:rPr>
                  <a:t> và </a:t>
                </a:r>
                <a14:m>
                  <m:oMath xmlns:m="http://schemas.openxmlformats.org/officeDocument/2006/math">
                    <m:r>
                      <a:rPr lang="vi-VN" sz="1700" b="0">
                        <a:solidFill>
                          <a:srgbClr val="1E293B"/>
                        </a:solidFill>
                        <a:latin typeface="Cambria Math" panose="02040503050406030204" pitchFamily="18" charset="0"/>
                      </a:rPr>
                      <m:t>b</m:t>
                    </m:r>
                  </m:oMath>
                </a14:m>
                <a:r>
                  <a:rPr sz="1700">
                    <a:solidFill>
                      <a:srgbClr val="1E293B"/>
                    </a:solidFill>
                    <a:latin typeface="Calibri"/>
                  </a:rPr>
                  <a:t> tại hai điểm phân biệt. Chứng minh </a:t>
                </a:r>
                <a14:m>
                  <m:oMath xmlns:m="http://schemas.openxmlformats.org/officeDocument/2006/math">
                    <m:r>
                      <a:rPr lang="vi-VN" sz="1700" b="0">
                        <a:solidFill>
                          <a:srgbClr val="1E293B"/>
                        </a:solidFill>
                        <a:latin typeface="Cambria Math" panose="02040503050406030204" pitchFamily="18" charset="0"/>
                      </a:rPr>
                      <m:t>c</m:t>
                    </m:r>
                  </m:oMath>
                </a14:m>
                <a:r>
                  <a:rPr sz="1700">
                    <a:solidFill>
                      <a:srgbClr val="1E293B"/>
                    </a:solidFill>
                    <a:latin typeface="Calibri"/>
                  </a:rPr>
                  <a:t> nằm trong </a:t>
                </a:r>
                <a14:m>
                  <m:oMath xmlns:m="http://schemas.openxmlformats.org/officeDocument/2006/math">
                    <m:d>
                      <m:dPr>
                        <m:sepChr m:val=""/>
                      </m:dPr>
                      <m:e>
                        <m:r>
                          <a:rPr lang="vi-VN" sz="1700" b="0">
                            <a:solidFill>
                              <a:srgbClr val="1E293B"/>
                            </a:solidFill>
                            <a:latin typeface="Cambria Math" panose="02040503050406030204" pitchFamily="18" charset="0"/>
                          </a:rPr>
                          <m:t>P</m:t>
                        </m:r>
                      </m:e>
                    </m:d>
                  </m:oMath>
                </a14:m>
                <a:r>
                  <a:rPr sz="1700">
                    <a:solidFill>
                      <a:srgbClr val="1E293B"/>
                    </a:solidFill>
                    <a:latin typeface="Calibri"/>
                  </a:rPr>
                  <a:t>.</a:t>
                </a:r>
              </a:p>
            </p:txBody>
          </p:sp>
        </mc:Choice>
        <mc:Fallback>
          <p:sp>
            <p:nvSpPr>
              <p:cNvPr id="13" name="TextBox 12"/>
              <p:cNvSpPr txBox="1"/>
              <p:nvPr/>
            </p:nvSpPr>
            <p:spPr>
              <a:xfrm>
                <a:off x="548640" y="4940808"/>
                <a:ext cx="8778240" cy="691895"/>
              </a:xfrm>
              <a:prstGeom prst="rect">
                <a:avLst/>
              </a:prstGeom>
              <a:noFill/>
            </p:spPr>
            <p:txBody>
              <a:bodyPr wrap="square" anchor="t" lIns="45720" rIns="45720">
                <a:spAutoFit/>
              </a:bodyPr>
              <a:lstStyle/>
              <a:p>
                <a:pPr algn="l">
                  <a:spcAft>
                    <a:spcPts val="800"/>
                  </a:spcAft>
                </a:pPr>
                <a:r>
                  <a:rPr sz="1700" b="1">
                    <a:solidFill>
                      <a:srgbClr val="1E293B"/>
                    </a:solidFill>
                    <a:latin typeface="Calibri"/>
                  </a:rPr>
                  <a:t>4.3.</a:t>
                </a:r>
                <a:r>
                  <a:rPr sz="1700">
                    <a:solidFill>
                      <a:srgbClr val="1E293B"/>
                    </a:solidFill>
                    <a:latin typeface="Calibri"/>
                  </a:rPr>
                  <a:t> Cho </a:t>
                </a:r>
                <a:r>
                  <a:rPr lang="vi-VN"/>
                  <a:t>(P)</a:t>
                </a:r>
                <a:r>
                  <a:rPr sz="1700">
                    <a:solidFill>
                      <a:srgbClr val="1E293B"/>
                    </a:solidFill>
                    <a:latin typeface="Calibri"/>
                  </a:rPr>
                  <a:t> và hai đường thẳng </a:t>
                </a:r>
                <a:r>
                  <a:rPr lang="vi-VN"/>
                  <a:t>a,\ b</a:t>
                </a:r>
                <a:r>
                  <a:rPr sz="1700">
                    <a:solidFill>
                      <a:srgbClr val="1E293B"/>
                    </a:solidFill>
                    <a:latin typeface="Calibri"/>
                  </a:rPr>
                  <a:t> nằm trong </a:t>
                </a:r>
                <a:r>
                  <a:rPr lang="vi-VN"/>
                  <a:t>(P)</a:t>
                </a:r>
                <a:r>
                  <a:rPr sz="1700">
                    <a:solidFill>
                      <a:srgbClr val="1E293B"/>
                    </a:solidFill>
                    <a:latin typeface="Calibri"/>
                  </a:rPr>
                  <a:t>. Đường thẳng </a:t>
                </a:r>
                <a:r>
                  <a:rPr lang="vi-VN"/>
                  <a:t>c</a:t>
                </a:r>
                <a:r>
                  <a:rPr sz="1700">
                    <a:solidFill>
                      <a:srgbClr val="1E293B"/>
                    </a:solidFill>
                    <a:latin typeface="Calibri"/>
                  </a:rPr>
                  <a:t> cắt </a:t>
                </a:r>
                <a:r>
                  <a:rPr lang="vi-VN"/>
                  <a:t>a</a:t>
                </a:r>
                <a:r>
                  <a:rPr sz="1700">
                    <a:solidFill>
                      <a:srgbClr val="1E293B"/>
                    </a:solidFill>
                    <a:latin typeface="Calibri"/>
                  </a:rPr>
                  <a:t> và </a:t>
                </a:r>
                <a:r>
                  <a:rPr lang="vi-VN"/>
                  <a:t>b</a:t>
                </a:r>
                <a:r>
                  <a:rPr sz="1700">
                    <a:solidFill>
                      <a:srgbClr val="1E293B"/>
                    </a:solidFill>
                    <a:latin typeface="Calibri"/>
                  </a:rPr>
                  <a:t> tại hai điểm phân biệt. Chứng minh </a:t>
                </a:r>
                <a:r>
                  <a:rPr lang="vi-VN"/>
                  <a:t>c</a:t>
                </a:r>
                <a:r>
                  <a:rPr sz="1700">
                    <a:solidFill>
                      <a:srgbClr val="1E293B"/>
                    </a:solidFill>
                    <a:latin typeface="Calibri"/>
                  </a:rPr>
                  <a:t> nằm trong </a:t>
                </a:r>
                <a:r>
                  <a:rPr lang="vi-VN"/>
                  <a:t>(P)</a:t>
                </a:r>
                <a:r>
                  <a:rPr sz="1700">
                    <a:solidFill>
                      <a:srgbClr val="1E293B"/>
                    </a:solidFill>
                    <a:latin typeface="Calibri"/>
                  </a:rPr>
                  <a:t>.</a:t>
                </a:r>
              </a:p>
            </p:txBody>
          </p:sp>
        </mc:Fallback>
      </mc:AlternateContent>
      <p:sp>
        <p:nvSpPr>
          <p:cNvPr id="14" name="s5_nen"/>
          <p:cNvSpPr/>
          <p:nvPr/>
        </p:nvSpPr>
        <p:spPr>
          <a:xfrm>
            <a:off x="548640" y="5669280"/>
            <a:ext cx="8778240" cy="5242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5_chu"/>
              <p:cNvSpPr txBox="1"/>
              <p:nvPr/>
            </p:nvSpPr>
            <p:spPr>
              <a:xfrm>
                <a:off x="713232" y="5705856"/>
                <a:ext cx="8449056" cy="451104"/>
              </a:xfrm>
              <a:prstGeom prst="rect">
                <a:avLst/>
              </a:prstGeom>
              <a:noFill/>
            </p:spPr>
            <p:txBody>
              <a:bodyPr wrap="square" anchor="ctr" lIns="45720" rIns="45720">
                <a:spAutoFit/>
              </a:bodyPr>
              <a:lstStyle/>
              <a:p>
                <a:pPr algn="l">
                  <a:spcAft>
                    <a:spcPts val="800"/>
                  </a:spcAft>
                </a:pPr>
                <a:r>
                  <a:rPr sz="1700">
                    <a:solidFill>
                      <a:srgbClr val="1E293B"/>
                    </a:solidFill>
                    <a:latin typeface="Calibri"/>
                  </a:rPr>
                  <a:t>Gọi </a:t>
                </a:r>
                <a14:m>
                  <m:oMath xmlns:m="http://schemas.openxmlformats.org/officeDocument/2006/math">
                    <m:r>
                      <a:rPr lang="vi-VN" sz="1700" b="0">
                        <a:solidFill>
                          <a:srgbClr val="1E293B"/>
                        </a:solidFill>
                        <a:latin typeface="Cambria Math" panose="02040503050406030204" pitchFamily="18" charset="0"/>
                      </a:rPr>
                      <m:t>M=c∩a</m:t>
                    </m:r>
                  </m:oMath>
                </a14:m>
                <a:r>
                  <a:rPr sz="1700">
                    <a:solidFill>
                      <a:srgbClr val="1E293B"/>
                    </a:solidFill>
                    <a:latin typeface="Calibri"/>
                  </a:rPr>
                  <a:t>, </a:t>
                </a:r>
                <a14:m>
                  <m:oMath xmlns:m="http://schemas.openxmlformats.org/officeDocument/2006/math">
                    <m:r>
                      <a:rPr lang="vi-VN" sz="1700" b="0">
                        <a:solidFill>
                          <a:srgbClr val="1E293B"/>
                        </a:solidFill>
                        <a:latin typeface="Cambria Math" panose="02040503050406030204" pitchFamily="18" charset="0"/>
                      </a:rPr>
                      <m:t>N=c∩b</m:t>
                    </m:r>
                  </m:oMath>
                </a14:m>
                <a:r>
                  <a:rPr sz="1700">
                    <a:solidFill>
                      <a:srgbClr val="1E293B"/>
                    </a:solidFill>
                    <a:latin typeface="Calibri"/>
                  </a:rPr>
                  <a:t>: </a:t>
                </a:r>
                <a14:m>
                  <m:oMath xmlns:m="http://schemas.openxmlformats.org/officeDocument/2006/math">
                    <m:r>
                      <a:rPr lang="vi-VN" sz="1700" b="0">
                        <a:solidFill>
                          <a:srgbClr val="1E293B"/>
                        </a:solidFill>
                        <a:latin typeface="Cambria Math" panose="02040503050406030204" pitchFamily="18" charset="0"/>
                      </a:rPr>
                      <m:t>M,</m:t>
                    </m:r>
                    <m:r>
                      <m:rPr>
                        <m:sty m:val="p"/>
                      </m:rPr>
                      <a:rPr lang="vi-VN" sz="1700" b="0">
                        <a:solidFill>
                          <a:srgbClr val="1E293B"/>
                        </a:solidFill>
                        <a:latin typeface="Cambria Math" panose="02040503050406030204" pitchFamily="18" charset="0"/>
                      </a:rPr>
                      <m:t> </m:t>
                    </m:r>
                    <m:r>
                      <a:rPr lang="vi-VN" sz="1700" b="0">
                        <a:solidFill>
                          <a:srgbClr val="1E293B"/>
                        </a:solidFill>
                        <a:latin typeface="Cambria Math" panose="02040503050406030204" pitchFamily="18" charset="0"/>
                      </a:rPr>
                      <m:t>N∈(P)</m:t>
                    </m:r>
                  </m:oMath>
                </a14:m>
                <a:r>
                  <a:rPr sz="1700">
                    <a:solidFill>
                      <a:srgbClr val="1E293B"/>
                    </a:solidFill>
                    <a:latin typeface="Calibri"/>
                  </a:rPr>
                  <a:t> phân biệt nên </a:t>
                </a:r>
                <a14:m>
                  <m:oMath xmlns:m="http://schemas.openxmlformats.org/officeDocument/2006/math">
                    <m:r>
                      <a:rPr lang="vi-VN" sz="1700" b="0">
                        <a:solidFill>
                          <a:srgbClr val="1E293B"/>
                        </a:solidFill>
                        <a:latin typeface="Cambria Math" panose="02040503050406030204" pitchFamily="18" charset="0"/>
                      </a:rPr>
                      <m:t>c⊂(P)</m:t>
                    </m:r>
                  </m:oMath>
                </a14:m>
                <a:r>
                  <a:rPr sz="1700">
                    <a:solidFill>
                      <a:srgbClr val="1E293B"/>
                    </a:solidFill>
                    <a:latin typeface="Calibri"/>
                  </a:rPr>
                  <a:t>.</a:t>
                </a:r>
              </a:p>
            </p:txBody>
          </p:sp>
        </mc:Choice>
        <mc:Fallback>
          <p:sp>
            <p:nvSpPr>
              <p:cNvPr id="15" name="TextBox 14"/>
              <p:cNvSpPr txBox="1"/>
              <p:nvPr/>
            </p:nvSpPr>
            <p:spPr>
              <a:xfrm>
                <a:off x="713232" y="5705856"/>
                <a:ext cx="8449056" cy="451104"/>
              </a:xfrm>
              <a:prstGeom prst="rect">
                <a:avLst/>
              </a:prstGeom>
              <a:noFill/>
            </p:spPr>
            <p:txBody>
              <a:bodyPr wrap="square" anchor="ctr" lIns="45720" rIns="45720">
                <a:spAutoFit/>
              </a:bodyPr>
              <a:lstStyle/>
              <a:p>
                <a:pPr algn="l">
                  <a:spcAft>
                    <a:spcPts val="800"/>
                  </a:spcAft>
                </a:pPr>
                <a:r>
                  <a:rPr sz="1700">
                    <a:solidFill>
                      <a:srgbClr val="1E293B"/>
                    </a:solidFill>
                    <a:latin typeface="Calibri"/>
                  </a:rPr>
                  <a:t>Gọi </a:t>
                </a:r>
                <a:r>
                  <a:rPr lang="vi-VN"/>
                  <a:t>M=c\cap a</a:t>
                </a:r>
                <a:r>
                  <a:rPr sz="1700">
                    <a:solidFill>
                      <a:srgbClr val="1E293B"/>
                    </a:solidFill>
                    <a:latin typeface="Calibri"/>
                  </a:rPr>
                  <a:t>, </a:t>
                </a:r>
                <a:r>
                  <a:rPr lang="vi-VN"/>
                  <a:t>N=c\cap b</a:t>
                </a:r>
                <a:r>
                  <a:rPr sz="1700">
                    <a:solidFill>
                      <a:srgbClr val="1E293B"/>
                    </a:solidFill>
                    <a:latin typeface="Calibri"/>
                  </a:rPr>
                  <a:t>: </a:t>
                </a:r>
                <a:r>
                  <a:rPr lang="vi-VN"/>
                  <a:t>M,\ N\in (P)</a:t>
                </a:r>
                <a:r>
                  <a:rPr sz="1700">
                    <a:solidFill>
                      <a:srgbClr val="1E293B"/>
                    </a:solidFill>
                    <a:latin typeface="Calibri"/>
                  </a:rPr>
                  <a:t> phân biệt nên </a:t>
                </a:r>
                <a:r>
                  <a:rPr lang="vi-VN"/>
                  <a:t>c\subset (P)</a:t>
                </a:r>
                <a:r>
                  <a:rPr sz="1700">
                    <a:solidFill>
                      <a:srgbClr val="1E293B"/>
                    </a:solidFill>
                    <a:latin typeface="Calibri"/>
                  </a:rPr>
                  <a:t>.</a:t>
                </a:r>
              </a:p>
            </p:txBody>
          </p:sp>
        </mc:Fallback>
      </mc:AlternateContent>
      <p:pic>
        <p:nvPicPr>
          <p:cNvPr id="16" name="Picture 15" descr="gv41.png"/>
          <p:cNvPicPr>
            <a:picLocks noChangeAspect="1"/>
          </p:cNvPicPr>
          <p:nvPr/>
        </p:nvPicPr>
        <p:blipFill>
          <a:blip r:embed="rId3"/>
          <a:stretch>
            <a:fillRect/>
          </a:stretch>
        </p:blipFill>
        <p:spPr>
          <a:xfrm>
            <a:off x="9509760" y="2406098"/>
            <a:ext cx="2194560" cy="1862924"/>
          </a:xfrm>
          <a:prstGeom prst="rect">
            <a:avLst/>
          </a:prstGeom>
        </p:spPr>
      </p:pic>
      <p:sp>
        <p:nvSpPr>
          <p:cNvPr id="17" name="TextBox 16"/>
          <p:cNvSpPr txBox="1"/>
          <p:nvPr/>
        </p:nvSpPr>
        <p:spPr>
          <a:xfrm>
            <a:off x="9509760" y="4315968"/>
            <a:ext cx="21945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bài 4.2 (SGV)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4.4 (SGK TR.77)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185013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4.4.</a:t>
                </a:r>
                <a:r>
                  <a:rPr sz="2200">
                    <a:solidFill>
                      <a:srgbClr val="1E293B"/>
                    </a:solidFill>
                    <a:latin typeface="Calibri"/>
                  </a:rPr>
                  <a:t> Cho hình chóp tứ giác </a:t>
                </a:r>
                <a14:m>
                  <m:oMath xmlns:m="http://schemas.openxmlformats.org/officeDocument/2006/math">
                    <m:r>
                      <a:rPr lang="vi-VN" sz="2200" b="0">
                        <a:solidFill>
                          <a:srgbClr val="1E293B"/>
                        </a:solidFill>
                        <a:latin typeface="Cambria Math" panose="02040503050406030204" pitchFamily="18" charset="0"/>
                      </a:rPr>
                      <m:t>S.ABCD</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là một điểm thuộc cạnh </a:t>
                </a:r>
                <a14:m>
                  <m:oMath xmlns:m="http://schemas.openxmlformats.org/officeDocument/2006/math">
                    <m:r>
                      <a:rPr lang="vi-VN" sz="2200" b="0">
                        <a:solidFill>
                          <a:srgbClr val="1E293B"/>
                        </a:solidFill>
                        <a:latin typeface="Cambria Math" panose="02040503050406030204" pitchFamily="18" charset="0"/>
                      </a:rPr>
                      <m:t>SC</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khác </a:t>
                </a:r>
                <a14:m>
                  <m:oMath xmlns:m="http://schemas.openxmlformats.org/officeDocument/2006/math">
                    <m:r>
                      <a:rPr lang="vi-VN" sz="2200" b="0">
                        <a:solidFill>
                          <a:srgbClr val="1E293B"/>
                        </a:solidFill>
                        <a:latin typeface="Cambria Math" panose="02040503050406030204" pitchFamily="18" charset="0"/>
                      </a:rPr>
                      <m:t>S,</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m:t>
                    </m:r>
                  </m:oMath>
                </a14:m>
                <a:r>
                  <a:rPr sz="2200">
                    <a:solidFill>
                      <a:srgbClr val="1E293B"/>
                    </a:solidFill>
                    <a:latin typeface="Calibri"/>
                  </a:rPr>
                  <a:t>). Giả sử hai đường thẳng </a:t>
                </a:r>
                <a14:m>
                  <m:oMath xmlns:m="http://schemas.openxmlformats.org/officeDocument/2006/math">
                    <m:r>
                      <a:rPr lang="vi-VN" sz="2200" b="0">
                        <a:solidFill>
                          <a:srgbClr val="1E293B"/>
                        </a:solidFill>
                        <a:latin typeface="Cambria Math" panose="02040503050406030204" pitchFamily="18" charset="0"/>
                      </a:rPr>
                      <m:t>AB</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CD</m:t>
                    </m:r>
                  </m:oMath>
                </a14:m>
                <a:r>
                  <a:rPr sz="2200">
                    <a:solidFill>
                      <a:srgbClr val="1E293B"/>
                    </a:solidFill>
                    <a:latin typeface="Calibri"/>
                  </a:rPr>
                  <a:t> cắt nhau tại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Chứng minh rằng đường thẳng </a:t>
                </a:r>
                <a14:m>
                  <m:oMath xmlns:m="http://schemas.openxmlformats.org/officeDocument/2006/math">
                    <m:r>
                      <a:rPr lang="vi-VN" sz="2200" b="0">
                        <a:solidFill>
                          <a:srgbClr val="1E293B"/>
                        </a:solidFill>
                        <a:latin typeface="Cambria Math" panose="02040503050406030204" pitchFamily="18" charset="0"/>
                      </a:rPr>
                      <m:t>MN</m:t>
                    </m:r>
                  </m:oMath>
                </a14:m>
                <a:r>
                  <a:rPr sz="2200">
                    <a:solidFill>
                      <a:srgbClr val="1E293B"/>
                    </a:solidFill>
                    <a:latin typeface="Calibri"/>
                  </a:rPr>
                  <a:t> là giao tuyến của hai mặt phẳng </a:t>
                </a:r>
                <a14:m>
                  <m:oMath xmlns:m="http://schemas.openxmlformats.org/officeDocument/2006/math">
                    <m:d>
                      <m:dPr>
                        <m:sep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B</m:t>
                        </m:r>
                        <m:r>
                          <a:rPr lang="vi-VN" sz="2200" b="0">
                            <a:solidFill>
                              <a:srgbClr val="1E293B"/>
                            </a:solidFill>
                            <a:latin typeface="Cambria Math" panose="02040503050406030204" pitchFamily="18" charset="0"/>
                          </a:rPr>
                          <m:t>M</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S</m:t>
                        </m:r>
                        <m:r>
                          <a:rPr lang="vi-VN" sz="2200" b="0">
                            <a:solidFill>
                              <a:srgbClr val="1E293B"/>
                            </a:solidFill>
                            <a:latin typeface="Cambria Math" panose="02040503050406030204" pitchFamily="18" charset="0"/>
                          </a:rPr>
                          <m:t>C</m:t>
                        </m:r>
                        <m:r>
                          <a:rPr lang="vi-VN" sz="2200" b="0">
                            <a:solidFill>
                              <a:srgbClr val="1E293B"/>
                            </a:solidFill>
                            <a:latin typeface="Cambria Math" panose="02040503050406030204" pitchFamily="18" charset="0"/>
                          </a:rPr>
                          <m:t>D</m:t>
                        </m:r>
                      </m:e>
                    </m:d>
                  </m:oMath>
                </a14:m>
                <a:r>
                  <a:rPr sz="2200">
                    <a:solidFill>
                      <a:srgbClr val="1E293B"/>
                    </a:solidFill>
                    <a:latin typeface="Calibri"/>
                  </a:rPr>
                  <a:t>.</a:t>
                </a:r>
              </a:p>
            </p:txBody>
          </p:sp>
        </mc:Choice>
        <mc:Fallback>
          <p:sp>
            <p:nvSpPr>
              <p:cNvPr id="7" name="TextBox 6"/>
              <p:cNvSpPr txBox="1"/>
              <p:nvPr/>
            </p:nvSpPr>
            <p:spPr>
              <a:xfrm>
                <a:off x="548640" y="1371600"/>
                <a:ext cx="7680960" cy="185013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4.4.</a:t>
                </a:r>
                <a:r>
                  <a:rPr sz="2200">
                    <a:solidFill>
                      <a:srgbClr val="1E293B"/>
                    </a:solidFill>
                    <a:latin typeface="Calibri"/>
                  </a:rPr>
                  <a:t> Cho hình chóp tứ giác </a:t>
                </a:r>
                <a:r>
                  <a:rPr lang="vi-VN"/>
                  <a:t>S.ABCD</a:t>
                </a:r>
                <a:r>
                  <a:rPr sz="2200">
                    <a:solidFill>
                      <a:srgbClr val="1E293B"/>
                    </a:solidFill>
                    <a:latin typeface="Calibri"/>
                  </a:rPr>
                  <a:t> và </a:t>
                </a:r>
                <a:r>
                  <a:rPr lang="vi-VN"/>
                  <a:t>M</a:t>
                </a:r>
                <a:r>
                  <a:rPr sz="2200">
                    <a:solidFill>
                      <a:srgbClr val="1E293B"/>
                    </a:solidFill>
                    <a:latin typeface="Calibri"/>
                  </a:rPr>
                  <a:t> là một điểm thuộc cạnh </a:t>
                </a:r>
                <a:r>
                  <a:rPr lang="vi-VN"/>
                  <a:t>SC</a:t>
                </a:r>
                <a:r>
                  <a:rPr sz="2200">
                    <a:solidFill>
                      <a:srgbClr val="1E293B"/>
                    </a:solidFill>
                    <a:latin typeface="Calibri"/>
                  </a:rPr>
                  <a:t> (</a:t>
                </a:r>
                <a:r>
                  <a:rPr lang="vi-VN"/>
                  <a:t>M</a:t>
                </a:r>
                <a:r>
                  <a:rPr sz="2200">
                    <a:solidFill>
                      <a:srgbClr val="1E293B"/>
                    </a:solidFill>
                    <a:latin typeface="Calibri"/>
                  </a:rPr>
                  <a:t> khác </a:t>
                </a:r>
                <a:r>
                  <a:rPr lang="vi-VN"/>
                  <a:t>S,\ C</a:t>
                </a:r>
                <a:r>
                  <a:rPr sz="2200">
                    <a:solidFill>
                      <a:srgbClr val="1E293B"/>
                    </a:solidFill>
                    <a:latin typeface="Calibri"/>
                  </a:rPr>
                  <a:t>). Giả sử hai đường thẳng </a:t>
                </a:r>
                <a:r>
                  <a:rPr lang="vi-VN"/>
                  <a:t>AB</a:t>
                </a:r>
                <a:r>
                  <a:rPr sz="2200">
                    <a:solidFill>
                      <a:srgbClr val="1E293B"/>
                    </a:solidFill>
                    <a:latin typeface="Calibri"/>
                  </a:rPr>
                  <a:t> và </a:t>
                </a:r>
                <a:r>
                  <a:rPr lang="vi-VN"/>
                  <a:t>CD</a:t>
                </a:r>
                <a:r>
                  <a:rPr sz="2200">
                    <a:solidFill>
                      <a:srgbClr val="1E293B"/>
                    </a:solidFill>
                    <a:latin typeface="Calibri"/>
                  </a:rPr>
                  <a:t> cắt nhau tại </a:t>
                </a:r>
                <a:r>
                  <a:rPr lang="vi-VN"/>
                  <a:t>N</a:t>
                </a:r>
                <a:r>
                  <a:rPr sz="2200">
                    <a:solidFill>
                      <a:srgbClr val="1E293B"/>
                    </a:solidFill>
                    <a:latin typeface="Calibri"/>
                  </a:rPr>
                  <a:t>. Chứng minh rằng đường thẳng </a:t>
                </a:r>
                <a:r>
                  <a:rPr lang="vi-VN"/>
                  <a:t>MN</a:t>
                </a:r>
                <a:r>
                  <a:rPr sz="2200">
                    <a:solidFill>
                      <a:srgbClr val="1E293B"/>
                    </a:solidFill>
                    <a:latin typeface="Calibri"/>
                  </a:rPr>
                  <a:t> là giao tuyến của hai mặt phẳng </a:t>
                </a:r>
                <a:r>
                  <a:rPr lang="vi-VN"/>
                  <a:t>(ABM)</a:t>
                </a:r>
                <a:r>
                  <a:rPr sz="2200">
                    <a:solidFill>
                      <a:srgbClr val="1E293B"/>
                    </a:solidFill>
                    <a:latin typeface="Calibri"/>
                  </a:rPr>
                  <a:t> và </a:t>
                </a:r>
                <a:r>
                  <a:rPr lang="vi-VN"/>
                  <a:t>(SCD)</a:t>
                </a:r>
                <a:r>
                  <a:rPr sz="2200">
                    <a:solidFill>
                      <a:srgbClr val="1E293B"/>
                    </a:solidFill>
                    <a:latin typeface="Calibri"/>
                  </a:rPr>
                  <a:t>.</a:t>
                </a:r>
              </a:p>
            </p:txBody>
          </p:sp>
        </mc:Fallback>
      </mc:AlternateContent>
      <p:sp>
        <p:nvSpPr>
          <p:cNvPr id="8" name="s1_nen"/>
          <p:cNvSpPr/>
          <p:nvPr/>
        </p:nvSpPr>
        <p:spPr>
          <a:xfrm>
            <a:off x="548640" y="3331464"/>
            <a:ext cx="76809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368040"/>
                <a:ext cx="73517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M∈(ABM)</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N∈AB</m:t>
                    </m:r>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N∈(ABM)</m:t>
                    </m:r>
                  </m:oMath>
                </a14:m>
                <a:r>
                  <a:rPr sz="2200">
                    <a:solidFill>
                      <a:srgbClr val="1E293B"/>
                    </a:solidFill>
                    <a:latin typeface="Calibri"/>
                  </a:rPr>
                  <a:t>. Vậy </a:t>
                </a:r>
                <a14:m>
                  <m:oMath xmlns:m="http://schemas.openxmlformats.org/officeDocument/2006/math">
                    <m:r>
                      <a:rPr lang="vi-VN" sz="2200" b="0">
                        <a:solidFill>
                          <a:srgbClr val="1E293B"/>
                        </a:solidFill>
                        <a:latin typeface="Cambria Math" panose="02040503050406030204" pitchFamily="18" charset="0"/>
                      </a:rPr>
                      <m:t>MN⊂(ABM)</m:t>
                    </m:r>
                  </m:oMath>
                </a14:m>
                <a:r>
                  <a:rPr sz="2200">
                    <a:solidFill>
                      <a:srgbClr val="1E293B"/>
                    </a:solidFill>
                    <a:latin typeface="Calibri"/>
                  </a:rPr>
                  <a:t>.</a:t>
                </a:r>
              </a:p>
            </p:txBody>
          </p:sp>
        </mc:Choice>
        <mc:Fallback>
          <p:sp>
            <p:nvSpPr>
              <p:cNvPr id="9" name="TextBox 8"/>
              <p:cNvSpPr txBox="1"/>
              <p:nvPr/>
            </p:nvSpPr>
            <p:spPr>
              <a:xfrm>
                <a:off x="713232" y="3368040"/>
                <a:ext cx="73517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M\in (ABM)</a:t>
                </a:r>
                <a:r>
                  <a:rPr sz="2200">
                    <a:solidFill>
                      <a:srgbClr val="1E293B"/>
                    </a:solidFill>
                    <a:latin typeface="Calibri"/>
                  </a:rPr>
                  <a:t>; </a:t>
                </a:r>
                <a:r>
                  <a:rPr lang="vi-VN"/>
                  <a:t>N\in AB</a:t>
                </a:r>
                <a:r>
                  <a:rPr sz="2200">
                    <a:solidFill>
                      <a:srgbClr val="1E293B"/>
                    </a:solidFill>
                    <a:latin typeface="Calibri"/>
                  </a:rPr>
                  <a:t> nên </a:t>
                </a:r>
                <a:r>
                  <a:rPr lang="vi-VN"/>
                  <a:t>N\in (ABM)</a:t>
                </a:r>
                <a:r>
                  <a:rPr sz="2200">
                    <a:solidFill>
                      <a:srgbClr val="1E293B"/>
                    </a:solidFill>
                    <a:latin typeface="Calibri"/>
                  </a:rPr>
                  <a:t>. Vậy </a:t>
                </a:r>
                <a:r>
                  <a:rPr lang="vi-VN"/>
                  <a:t>MN\subset (ABM)</a:t>
                </a:r>
                <a:r>
                  <a:rPr sz="2200">
                    <a:solidFill>
                      <a:srgbClr val="1E293B"/>
                    </a:solidFill>
                    <a:latin typeface="Calibri"/>
                  </a:rPr>
                  <a:t>.</a:t>
                </a:r>
              </a:p>
            </p:txBody>
          </p:sp>
        </mc:Fallback>
      </mc:AlternateContent>
      <p:sp>
        <p:nvSpPr>
          <p:cNvPr id="10" name="s2_nen"/>
          <p:cNvSpPr/>
          <p:nvPr/>
        </p:nvSpPr>
        <p:spPr>
          <a:xfrm>
            <a:off x="548640" y="4041648"/>
            <a:ext cx="768096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078224"/>
                <a:ext cx="73517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M∈SC</m:t>
                    </m:r>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M∈(SCD)</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N∈CD</m:t>
                    </m:r>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N∈(SCD)</m:t>
                    </m:r>
                  </m:oMath>
                </a14:m>
                <a:r>
                  <a:rPr sz="2200">
                    <a:solidFill>
                      <a:srgbClr val="1E293B"/>
                    </a:solidFill>
                    <a:latin typeface="Calibri"/>
                  </a:rPr>
                  <a:t>. Vậy </a:t>
                </a:r>
                <a14:m>
                  <m:oMath xmlns:m="http://schemas.openxmlformats.org/officeDocument/2006/math">
                    <m:r>
                      <a:rPr lang="vi-VN" sz="2200" b="0">
                        <a:solidFill>
                          <a:srgbClr val="1E293B"/>
                        </a:solidFill>
                        <a:latin typeface="Cambria Math" panose="02040503050406030204" pitchFamily="18" charset="0"/>
                      </a:rPr>
                      <m:t>MN⊂(SCD)</m:t>
                    </m:r>
                  </m:oMath>
                </a14:m>
                <a:r>
                  <a:rPr sz="2200">
                    <a:solidFill>
                      <a:srgbClr val="1E293B"/>
                    </a:solidFill>
                    <a:latin typeface="Calibri"/>
                  </a:rPr>
                  <a:t>. Suy ra </a:t>
                </a:r>
                <a14:m>
                  <m:oMath xmlns:m="http://schemas.openxmlformats.org/officeDocument/2006/math">
                    <m:r>
                      <a:rPr lang="vi-VN" sz="2200" b="0">
                        <a:solidFill>
                          <a:srgbClr val="1E293B"/>
                        </a:solidFill>
                        <a:latin typeface="Cambria Math" panose="02040503050406030204" pitchFamily="18" charset="0"/>
                      </a:rPr>
                      <m:t>MN=(ABM)∩(SCD)</m:t>
                    </m:r>
                  </m:oMath>
                </a14:m>
                <a:r>
                  <a:rPr sz="2200">
                    <a:solidFill>
                      <a:srgbClr val="1E293B"/>
                    </a:solidFill>
                    <a:latin typeface="Calibri"/>
                  </a:rPr>
                  <a:t>.</a:t>
                </a:r>
              </a:p>
            </p:txBody>
          </p:sp>
        </mc:Choice>
        <mc:Fallback>
          <p:sp>
            <p:nvSpPr>
              <p:cNvPr id="11" name="TextBox 10"/>
              <p:cNvSpPr txBox="1"/>
              <p:nvPr/>
            </p:nvSpPr>
            <p:spPr>
              <a:xfrm>
                <a:off x="713232" y="4078224"/>
                <a:ext cx="73517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M\in SC</a:t>
                </a:r>
                <a:r>
                  <a:rPr sz="2200">
                    <a:solidFill>
                      <a:srgbClr val="1E293B"/>
                    </a:solidFill>
                    <a:latin typeface="Calibri"/>
                  </a:rPr>
                  <a:t> nên </a:t>
                </a:r>
                <a:r>
                  <a:rPr lang="vi-VN"/>
                  <a:t>M\in (SCD)</a:t>
                </a:r>
                <a:r>
                  <a:rPr sz="2200">
                    <a:solidFill>
                      <a:srgbClr val="1E293B"/>
                    </a:solidFill>
                    <a:latin typeface="Calibri"/>
                  </a:rPr>
                  <a:t>; </a:t>
                </a:r>
                <a:r>
                  <a:rPr lang="vi-VN"/>
                  <a:t>N\in CD</a:t>
                </a:r>
                <a:r>
                  <a:rPr sz="2200">
                    <a:solidFill>
                      <a:srgbClr val="1E293B"/>
                    </a:solidFill>
                    <a:latin typeface="Calibri"/>
                  </a:rPr>
                  <a:t> nên </a:t>
                </a:r>
                <a:r>
                  <a:rPr lang="vi-VN"/>
                  <a:t>N\in (SCD)</a:t>
                </a:r>
                <a:r>
                  <a:rPr sz="2200">
                    <a:solidFill>
                      <a:srgbClr val="1E293B"/>
                    </a:solidFill>
                    <a:latin typeface="Calibri"/>
                  </a:rPr>
                  <a:t>. Vậy </a:t>
                </a:r>
                <a:r>
                  <a:rPr lang="vi-VN"/>
                  <a:t>MN\subset (SCD)</a:t>
                </a:r>
                <a:r>
                  <a:rPr sz="2200">
                    <a:solidFill>
                      <a:srgbClr val="1E293B"/>
                    </a:solidFill>
                    <a:latin typeface="Calibri"/>
                  </a:rPr>
                  <a:t>. Suy ra </a:t>
                </a:r>
                <a:r>
                  <a:rPr lang="vi-VN"/>
                  <a:t>MN=(ABM)\cap (SCD)</a:t>
                </a:r>
                <a:r>
                  <a:rPr sz="2200">
                    <a:solidFill>
                      <a:srgbClr val="1E293B"/>
                    </a:solidFill>
                    <a:latin typeface="Calibri"/>
                  </a:rPr>
                  <a:t>.</a:t>
                </a:r>
              </a:p>
            </p:txBody>
          </p:sp>
        </mc:Fallback>
      </mc:AlternateContent>
      <p:pic>
        <p:nvPicPr>
          <p:cNvPr id="12" name="Picture 11" descr="gv42.png"/>
          <p:cNvPicPr>
            <a:picLocks noChangeAspect="1"/>
          </p:cNvPicPr>
          <p:nvPr/>
        </p:nvPicPr>
        <p:blipFill>
          <a:blip r:embed="rId3"/>
          <a:stretch>
            <a:fillRect/>
          </a:stretch>
        </p:blipFill>
        <p:spPr>
          <a:xfrm>
            <a:off x="8418799" y="1463040"/>
            <a:ext cx="3279201" cy="30175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4.5 (SGK TR.77)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2002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4.5.</a:t>
                </a:r>
                <a:r>
                  <a:rPr sz="2000">
                    <a:solidFill>
                      <a:srgbClr val="1E293B"/>
                    </a:solidFill>
                    <a:latin typeface="Calibri"/>
                  </a:rPr>
                  <a:t> Cho hình chóp tứ giác </a:t>
                </a:r>
                <a14:m>
                  <m:oMath xmlns:m="http://schemas.openxmlformats.org/officeDocument/2006/math">
                    <m:r>
                      <a:rPr lang="vi-VN" sz="2000" b="0">
                        <a:solidFill>
                          <a:srgbClr val="1E293B"/>
                        </a:solidFill>
                        <a:latin typeface="Cambria Math" panose="02040503050406030204" pitchFamily="18" charset="0"/>
                      </a:rPr>
                      <m:t>S.ABCD</m:t>
                    </m:r>
                  </m:oMath>
                </a14:m>
                <a:r>
                  <a:rPr sz="2000">
                    <a:solidFill>
                      <a:srgbClr val="1E293B"/>
                    </a:solidFill>
                    <a:latin typeface="Calibri"/>
                  </a:rPr>
                  <a:t>, điểm </a:t>
                </a:r>
                <a14:m>
                  <m:oMath xmlns:m="http://schemas.openxmlformats.org/officeDocument/2006/math">
                    <m:r>
                      <a:rPr lang="vi-VN" sz="2000" b="0">
                        <a:solidFill>
                          <a:srgbClr val="1E293B"/>
                        </a:solidFill>
                        <a:latin typeface="Cambria Math" panose="02040503050406030204" pitchFamily="18" charset="0"/>
                      </a:rPr>
                      <m:t>E</m:t>
                    </m:r>
                  </m:oMath>
                </a14:m>
                <a:r>
                  <a:rPr sz="2000">
                    <a:solidFill>
                      <a:srgbClr val="1E293B"/>
                    </a:solidFill>
                    <a:latin typeface="Calibri"/>
                  </a:rPr>
                  <a:t> thuộc cạnh </a:t>
                </a:r>
                <a14:m>
                  <m:oMath xmlns:m="http://schemas.openxmlformats.org/officeDocument/2006/math">
                    <m:r>
                      <a:rPr lang="vi-VN" sz="2000" b="0">
                        <a:solidFill>
                          <a:srgbClr val="1E293B"/>
                        </a:solidFill>
                        <a:latin typeface="Cambria Math" panose="02040503050406030204" pitchFamily="18" charset="0"/>
                      </a:rPr>
                      <m:t>SA</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E</m:t>
                    </m:r>
                  </m:oMath>
                </a14:m>
                <a:r>
                  <a:rPr sz="2000">
                    <a:solidFill>
                      <a:srgbClr val="1E293B"/>
                    </a:solidFill>
                    <a:latin typeface="Calibri"/>
                  </a:rPr>
                  <a:t> khác </a:t>
                </a:r>
                <a14:m>
                  <m:oMath xmlns:m="http://schemas.openxmlformats.org/officeDocument/2006/math">
                    <m:r>
                      <a:rPr lang="vi-VN" sz="2000" b="0">
                        <a:solidFill>
                          <a:srgbClr val="1E293B"/>
                        </a:solidFill>
                        <a:latin typeface="Cambria Math" panose="02040503050406030204" pitchFamily="18" charset="0"/>
                      </a:rPr>
                      <m:t>S,</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A</m:t>
                    </m:r>
                  </m:oMath>
                </a14:m>
                <a:r>
                  <a:rPr sz="2000">
                    <a:solidFill>
                      <a:srgbClr val="1E293B"/>
                    </a:solidFill>
                    <a:latin typeface="Calibri"/>
                  </a:rPr>
                  <a:t>). Trong </a:t>
                </a:r>
                <a14:m>
                  <m:oMath xmlns:m="http://schemas.openxmlformats.org/officeDocument/2006/math">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C</m:t>
                        </m:r>
                        <m:r>
                          <a:rPr lang="vi-VN" sz="2000" b="0">
                            <a:solidFill>
                              <a:srgbClr val="1E293B"/>
                            </a:solidFill>
                            <a:latin typeface="Cambria Math" panose="02040503050406030204" pitchFamily="18" charset="0"/>
                          </a:rPr>
                          <m:t>D</m:t>
                        </m:r>
                      </m:e>
                    </m:d>
                  </m:oMath>
                </a14:m>
                <a:r>
                  <a:rPr sz="2000">
                    <a:solidFill>
                      <a:srgbClr val="1E293B"/>
                    </a:solidFill>
                    <a:latin typeface="Calibri"/>
                  </a:rPr>
                  <a:t> vẽ đường thẳng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cắt các cạnh </a:t>
                </a:r>
                <a14:m>
                  <m:oMath xmlns:m="http://schemas.openxmlformats.org/officeDocument/2006/math">
                    <m:r>
                      <a:rPr lang="vi-VN" sz="2000" b="0">
                        <a:solidFill>
                          <a:srgbClr val="1E293B"/>
                        </a:solidFill>
                        <a:latin typeface="Cambria Math" panose="02040503050406030204" pitchFamily="18" charset="0"/>
                      </a:rPr>
                      <m:t>CB,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CD</m:t>
                    </m:r>
                  </m:oMath>
                </a14:m>
                <a:r>
                  <a:rPr sz="2000">
                    <a:solidFill>
                      <a:srgbClr val="1E293B"/>
                    </a:solidFill>
                    <a:latin typeface="Calibri"/>
                  </a:rPr>
                  <a:t> lần lượt tại </a:t>
                </a:r>
                <a14:m>
                  <m:oMath xmlns:m="http://schemas.openxmlformats.org/officeDocument/2006/math">
                    <m:r>
                      <a:rPr lang="vi-VN" sz="2000" b="0">
                        <a:solidFill>
                          <a:srgbClr val="1E293B"/>
                        </a:solidFill>
                        <a:latin typeface="Cambria Math" panose="02040503050406030204" pitchFamily="18" charset="0"/>
                      </a:rPr>
                      <m:t>M,</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N</m:t>
                    </m:r>
                  </m:oMath>
                </a14:m>
                <a:r>
                  <a:rPr sz="2000">
                    <a:solidFill>
                      <a:srgbClr val="1E293B"/>
                    </a:solidFill>
                    <a:latin typeface="Calibri"/>
                  </a:rPr>
                  <a:t> và cắt các tia </a:t>
                </a:r>
                <a14:m>
                  <m:oMath xmlns:m="http://schemas.openxmlformats.org/officeDocument/2006/math">
                    <m:r>
                      <a:rPr lang="vi-VN" sz="2000" b="0">
                        <a:solidFill>
                          <a:srgbClr val="1E293B"/>
                        </a:solidFill>
                        <a:latin typeface="Cambria Math" panose="02040503050406030204" pitchFamily="18" charset="0"/>
                      </a:rPr>
                      <m:t>AB,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AD</m:t>
                    </m:r>
                  </m:oMath>
                </a14:m>
                <a:r>
                  <a:rPr sz="2000">
                    <a:solidFill>
                      <a:srgbClr val="1E293B"/>
                    </a:solidFill>
                    <a:latin typeface="Calibri"/>
                  </a:rPr>
                  <a:t> lần lượt tại </a:t>
                </a:r>
                <a14:m>
                  <m:oMath xmlns:m="http://schemas.openxmlformats.org/officeDocument/2006/math">
                    <m:r>
                      <a:rPr lang="vi-VN" sz="2000" b="0">
                        <a:solidFill>
                          <a:srgbClr val="1E293B"/>
                        </a:solidFill>
                        <a:latin typeface="Cambria Math" panose="02040503050406030204" pitchFamily="18" charset="0"/>
                      </a:rPr>
                      <m:t>P,</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Q</m:t>
                    </m:r>
                  </m:oMath>
                </a14:m>
                <a:r>
                  <a:rPr sz="2000">
                    <a:solidFill>
                      <a:srgbClr val="1E293B"/>
                    </a:solidFill>
                    <a:latin typeface="Calibri"/>
                  </a:rPr>
                  <a:t>. a) Xác định giao điểm của </a:t>
                </a:r>
                <a14:m>
                  <m:oMath xmlns:m="http://schemas.openxmlformats.org/officeDocument/2006/math">
                    <m:r>
                      <m:rPr>
                        <m:sty m:val="p"/>
                      </m:rPr>
                      <a:rPr lang="vi-VN" sz="2000" b="0">
                        <a:solidFill>
                          <a:srgbClr val="1E293B"/>
                        </a:solidFill>
                        <a:latin typeface="Cambria Math" panose="02040503050406030204" pitchFamily="18" charset="0"/>
                      </a:rPr>
                      <m:t>mp</m:t>
                    </m:r>
                    <m:r>
                      <a:rPr lang="vi-VN" sz="2000" b="0">
                        <a:solidFill>
                          <a:srgbClr val="1E293B"/>
                        </a:solidFill>
                        <a:latin typeface="Cambria Math" panose="02040503050406030204" pitchFamily="18" charset="0"/>
                      </a:rPr>
                      <m:t>(E,</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d)</m:t>
                    </m:r>
                  </m:oMath>
                </a14:m>
                <a:r>
                  <a:rPr sz="2000">
                    <a:solidFill>
                      <a:srgbClr val="1E293B"/>
                    </a:solidFill>
                    <a:latin typeface="Calibri"/>
                  </a:rPr>
                  <a:t> với các cạnh </a:t>
                </a:r>
                <a14:m>
                  <m:oMath xmlns:m="http://schemas.openxmlformats.org/officeDocument/2006/math">
                    <m:r>
                      <a:rPr lang="vi-VN" sz="2000" b="0">
                        <a:solidFill>
                          <a:srgbClr val="1E293B"/>
                        </a:solidFill>
                        <a:latin typeface="Cambria Math" panose="02040503050406030204" pitchFamily="18" charset="0"/>
                      </a:rPr>
                      <m:t>SB,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SD</m:t>
                    </m:r>
                  </m:oMath>
                </a14:m>
                <a:r>
                  <a:rPr sz="2000">
                    <a:solidFill>
                      <a:srgbClr val="1E293B"/>
                    </a:solidFill>
                    <a:latin typeface="Calibri"/>
                  </a:rPr>
                  <a:t>. b) Xác định giao tuyến của </a:t>
                </a:r>
                <a14:m>
                  <m:oMath xmlns:m="http://schemas.openxmlformats.org/officeDocument/2006/math">
                    <m:r>
                      <m:rPr>
                        <m:sty m:val="p"/>
                      </m:rPr>
                      <a:rPr lang="vi-VN" sz="2000" b="0">
                        <a:solidFill>
                          <a:srgbClr val="1E293B"/>
                        </a:solidFill>
                        <a:latin typeface="Cambria Math" panose="02040503050406030204" pitchFamily="18" charset="0"/>
                      </a:rPr>
                      <m:t>mp</m:t>
                    </m:r>
                    <m:r>
                      <a:rPr lang="vi-VN" sz="2000" b="0">
                        <a:solidFill>
                          <a:srgbClr val="1E293B"/>
                        </a:solidFill>
                        <a:latin typeface="Cambria Math" panose="02040503050406030204" pitchFamily="18" charset="0"/>
                      </a:rPr>
                      <m:t>(E,</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d)</m:t>
                    </m:r>
                  </m:oMath>
                </a14:m>
                <a:r>
                  <a:rPr sz="2000">
                    <a:solidFill>
                      <a:srgbClr val="1E293B"/>
                    </a:solidFill>
                    <a:latin typeface="Calibri"/>
                  </a:rPr>
                  <a:t> với các mặt của hình chóp.</a:t>
                </a:r>
              </a:p>
            </p:txBody>
          </p:sp>
        </mc:Choice>
        <mc:Fallback>
          <p:sp>
            <p:nvSpPr>
              <p:cNvPr id="7" name="TextBox 6"/>
              <p:cNvSpPr txBox="1"/>
              <p:nvPr/>
            </p:nvSpPr>
            <p:spPr>
              <a:xfrm>
                <a:off x="548640" y="1371600"/>
                <a:ext cx="7680960" cy="2002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4.5.</a:t>
                </a:r>
                <a:r>
                  <a:rPr sz="2000">
                    <a:solidFill>
                      <a:srgbClr val="1E293B"/>
                    </a:solidFill>
                    <a:latin typeface="Calibri"/>
                  </a:rPr>
                  <a:t> Cho hình chóp tứ giác </a:t>
                </a:r>
                <a:r>
                  <a:rPr lang="vi-VN"/>
                  <a:t>S.ABCD</a:t>
                </a:r>
                <a:r>
                  <a:rPr sz="2000">
                    <a:solidFill>
                      <a:srgbClr val="1E293B"/>
                    </a:solidFill>
                    <a:latin typeface="Calibri"/>
                  </a:rPr>
                  <a:t>, điểm </a:t>
                </a:r>
                <a:r>
                  <a:rPr lang="vi-VN"/>
                  <a:t>E</a:t>
                </a:r>
                <a:r>
                  <a:rPr sz="2000">
                    <a:solidFill>
                      <a:srgbClr val="1E293B"/>
                    </a:solidFill>
                    <a:latin typeface="Calibri"/>
                  </a:rPr>
                  <a:t> thuộc cạnh </a:t>
                </a:r>
                <a:r>
                  <a:rPr lang="vi-VN"/>
                  <a:t>SA</a:t>
                </a:r>
                <a:r>
                  <a:rPr sz="2000">
                    <a:solidFill>
                      <a:srgbClr val="1E293B"/>
                    </a:solidFill>
                    <a:latin typeface="Calibri"/>
                  </a:rPr>
                  <a:t> (</a:t>
                </a:r>
                <a:r>
                  <a:rPr lang="vi-VN"/>
                  <a:t>E</a:t>
                </a:r>
                <a:r>
                  <a:rPr sz="2000">
                    <a:solidFill>
                      <a:srgbClr val="1E293B"/>
                    </a:solidFill>
                    <a:latin typeface="Calibri"/>
                  </a:rPr>
                  <a:t> khác </a:t>
                </a:r>
                <a:r>
                  <a:rPr lang="vi-VN"/>
                  <a:t>S,\ A</a:t>
                </a:r>
                <a:r>
                  <a:rPr sz="2000">
                    <a:solidFill>
                      <a:srgbClr val="1E293B"/>
                    </a:solidFill>
                    <a:latin typeface="Calibri"/>
                  </a:rPr>
                  <a:t>). Trong </a:t>
                </a:r>
                <a:r>
                  <a:rPr lang="vi-VN"/>
                  <a:t>(ABCD)</a:t>
                </a:r>
                <a:r>
                  <a:rPr sz="2000">
                    <a:solidFill>
                      <a:srgbClr val="1E293B"/>
                    </a:solidFill>
                    <a:latin typeface="Calibri"/>
                  </a:rPr>
                  <a:t> vẽ đường thẳng </a:t>
                </a:r>
                <a:r>
                  <a:rPr lang="vi-VN"/>
                  <a:t>d</a:t>
                </a:r>
                <a:r>
                  <a:rPr sz="2000">
                    <a:solidFill>
                      <a:srgbClr val="1E293B"/>
                    </a:solidFill>
                    <a:latin typeface="Calibri"/>
                  </a:rPr>
                  <a:t> cắt các cạnh </a:t>
                </a:r>
                <a:r>
                  <a:rPr lang="vi-VN"/>
                  <a:t>CB,\ CD</a:t>
                </a:r>
                <a:r>
                  <a:rPr sz="2000">
                    <a:solidFill>
                      <a:srgbClr val="1E293B"/>
                    </a:solidFill>
                    <a:latin typeface="Calibri"/>
                  </a:rPr>
                  <a:t> lần lượt tại </a:t>
                </a:r>
                <a:r>
                  <a:rPr lang="vi-VN"/>
                  <a:t>M,\ N</a:t>
                </a:r>
                <a:r>
                  <a:rPr sz="2000">
                    <a:solidFill>
                      <a:srgbClr val="1E293B"/>
                    </a:solidFill>
                    <a:latin typeface="Calibri"/>
                  </a:rPr>
                  <a:t> và cắt các tia </a:t>
                </a:r>
                <a:r>
                  <a:rPr lang="vi-VN"/>
                  <a:t>AB,\ AD</a:t>
                </a:r>
                <a:r>
                  <a:rPr sz="2000">
                    <a:solidFill>
                      <a:srgbClr val="1E293B"/>
                    </a:solidFill>
                    <a:latin typeface="Calibri"/>
                  </a:rPr>
                  <a:t> lần lượt tại </a:t>
                </a:r>
                <a:r>
                  <a:rPr lang="vi-VN"/>
                  <a:t>P,\ Q</a:t>
                </a:r>
                <a:r>
                  <a:rPr sz="2000">
                    <a:solidFill>
                      <a:srgbClr val="1E293B"/>
                    </a:solidFill>
                    <a:latin typeface="Calibri"/>
                  </a:rPr>
                  <a:t>. a) Xác định giao điểm của </a:t>
                </a:r>
                <a:r>
                  <a:rPr lang="vi-VN"/>
                  <a:t>\mathrm{mp}(E,\ d)</a:t>
                </a:r>
                <a:r>
                  <a:rPr sz="2000">
                    <a:solidFill>
                      <a:srgbClr val="1E293B"/>
                    </a:solidFill>
                    <a:latin typeface="Calibri"/>
                  </a:rPr>
                  <a:t> với các cạnh </a:t>
                </a:r>
                <a:r>
                  <a:rPr lang="vi-VN"/>
                  <a:t>SB,\ SD</a:t>
                </a:r>
                <a:r>
                  <a:rPr sz="2000">
                    <a:solidFill>
                      <a:srgbClr val="1E293B"/>
                    </a:solidFill>
                    <a:latin typeface="Calibri"/>
                  </a:rPr>
                  <a:t>. b) Xác định giao tuyến của </a:t>
                </a:r>
                <a:r>
                  <a:rPr lang="vi-VN"/>
                  <a:t>\mathrm{mp}(E,\ d)</a:t>
                </a:r>
                <a:r>
                  <a:rPr sz="2000">
                    <a:solidFill>
                      <a:srgbClr val="1E293B"/>
                    </a:solidFill>
                    <a:latin typeface="Calibri"/>
                  </a:rPr>
                  <a:t> với các mặt của hình chóp.</a:t>
                </a:r>
              </a:p>
            </p:txBody>
          </p:sp>
        </mc:Fallback>
      </mc:AlternateContent>
      <p:sp>
        <p:nvSpPr>
          <p:cNvPr id="8" name="s1_nen"/>
          <p:cNvSpPr/>
          <p:nvPr/>
        </p:nvSpPr>
        <p:spPr>
          <a:xfrm>
            <a:off x="548640" y="3465576"/>
            <a:ext cx="76809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502152"/>
                <a:ext cx="73517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Trong </a:t>
                </a:r>
                <a14:m>
                  <m:oMath xmlns:m="http://schemas.openxmlformats.org/officeDocument/2006/math">
                    <m:d>
                      <m:dPr>
                        <m:sepChr m:val=""/>
                      </m:dPr>
                      <m:e>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B</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EP</m:t>
                    </m:r>
                  </m:oMath>
                </a14:m>
                <a:r>
                  <a:rPr sz="2000">
                    <a:solidFill>
                      <a:srgbClr val="1E293B"/>
                    </a:solidFill>
                    <a:latin typeface="Calibri"/>
                  </a:rPr>
                  <a:t> cắt </a:t>
                </a:r>
                <a14:m>
                  <m:oMath xmlns:m="http://schemas.openxmlformats.org/officeDocument/2006/math">
                    <m:r>
                      <a:rPr lang="vi-VN" sz="2000" b="0">
                        <a:solidFill>
                          <a:srgbClr val="1E293B"/>
                        </a:solidFill>
                        <a:latin typeface="Cambria Math" panose="02040503050406030204" pitchFamily="18" charset="0"/>
                      </a:rPr>
                      <m:t>SB</m:t>
                    </m:r>
                  </m:oMath>
                </a14:m>
                <a:r>
                  <a:rPr sz="2000">
                    <a:solidFill>
                      <a:srgbClr val="1E293B"/>
                    </a:solidFill>
                    <a:latin typeface="Calibri"/>
                  </a:rPr>
                  <a:t> tại </a:t>
                </a:r>
                <a14:m>
                  <m:oMath xmlns:m="http://schemas.openxmlformats.org/officeDocument/2006/math">
                    <m:r>
                      <a:rPr lang="vi-VN" sz="2000" b="0">
                        <a:solidFill>
                          <a:srgbClr val="1E293B"/>
                        </a:solidFill>
                        <a:latin typeface="Cambria Math" panose="02040503050406030204" pitchFamily="18" charset="0"/>
                      </a:rPr>
                      <m:t>R</m:t>
                    </m:r>
                  </m:oMath>
                </a14:m>
                <a:r>
                  <a:rPr sz="2000">
                    <a:solidFill>
                      <a:srgbClr val="1E293B"/>
                    </a:solidFill>
                    <a:latin typeface="Calibri"/>
                  </a:rPr>
                  <a:t>. Trong </a:t>
                </a:r>
                <a14:m>
                  <m:oMath xmlns:m="http://schemas.openxmlformats.org/officeDocument/2006/math">
                    <m:d>
                      <m:dPr>
                        <m:sepChr m:val=""/>
                      </m:dPr>
                      <m:e>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D</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EQ</m:t>
                    </m:r>
                  </m:oMath>
                </a14:m>
                <a:r>
                  <a:rPr sz="2000">
                    <a:solidFill>
                      <a:srgbClr val="1E293B"/>
                    </a:solidFill>
                    <a:latin typeface="Calibri"/>
                  </a:rPr>
                  <a:t> cắt </a:t>
                </a:r>
                <a14:m>
                  <m:oMath xmlns:m="http://schemas.openxmlformats.org/officeDocument/2006/math">
                    <m:r>
                      <a:rPr lang="vi-VN" sz="2000" b="0">
                        <a:solidFill>
                          <a:srgbClr val="1E293B"/>
                        </a:solidFill>
                        <a:latin typeface="Cambria Math" panose="02040503050406030204" pitchFamily="18" charset="0"/>
                      </a:rPr>
                      <m:t>SD</m:t>
                    </m:r>
                  </m:oMath>
                </a14:m>
                <a:r>
                  <a:rPr sz="2000">
                    <a:solidFill>
                      <a:srgbClr val="1E293B"/>
                    </a:solidFill>
                    <a:latin typeface="Calibri"/>
                  </a:rPr>
                  <a:t> tại </a:t>
                </a:r>
                <a14:m>
                  <m:oMath xmlns:m="http://schemas.openxmlformats.org/officeDocument/2006/math">
                    <m:r>
                      <a:rPr lang="vi-VN" sz="2000" b="0">
                        <a:solidFill>
                          <a:srgbClr val="1E293B"/>
                        </a:solidFill>
                        <a:latin typeface="Cambria Math" panose="02040503050406030204" pitchFamily="18" charset="0"/>
                      </a:rPr>
                      <m:t>T</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R,</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T</m:t>
                    </m:r>
                  </m:oMath>
                </a14:m>
                <a:r>
                  <a:rPr sz="2000">
                    <a:solidFill>
                      <a:srgbClr val="1E293B"/>
                    </a:solidFill>
                    <a:latin typeface="Calibri"/>
                  </a:rPr>
                  <a:t> là các giao điểm cần tìm.</a:t>
                </a:r>
              </a:p>
            </p:txBody>
          </p:sp>
        </mc:Choice>
        <mc:Fallback>
          <p:sp>
            <p:nvSpPr>
              <p:cNvPr id="9" name="TextBox 8"/>
              <p:cNvSpPr txBox="1"/>
              <p:nvPr/>
            </p:nvSpPr>
            <p:spPr>
              <a:xfrm>
                <a:off x="713232" y="3502152"/>
                <a:ext cx="73517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Trong </a:t>
                </a:r>
                <a:r>
                  <a:rPr lang="vi-VN"/>
                  <a:t>(SAB)</a:t>
                </a:r>
                <a:r>
                  <a:rPr sz="2000">
                    <a:solidFill>
                      <a:srgbClr val="1E293B"/>
                    </a:solidFill>
                    <a:latin typeface="Calibri"/>
                  </a:rPr>
                  <a:t>: </a:t>
                </a:r>
                <a:r>
                  <a:rPr lang="vi-VN"/>
                  <a:t>EP</a:t>
                </a:r>
                <a:r>
                  <a:rPr sz="2000">
                    <a:solidFill>
                      <a:srgbClr val="1E293B"/>
                    </a:solidFill>
                    <a:latin typeface="Calibri"/>
                  </a:rPr>
                  <a:t> cắt </a:t>
                </a:r>
                <a:r>
                  <a:rPr lang="vi-VN"/>
                  <a:t>SB</a:t>
                </a:r>
                <a:r>
                  <a:rPr sz="2000">
                    <a:solidFill>
                      <a:srgbClr val="1E293B"/>
                    </a:solidFill>
                    <a:latin typeface="Calibri"/>
                  </a:rPr>
                  <a:t> tại </a:t>
                </a:r>
                <a:r>
                  <a:rPr lang="vi-VN"/>
                  <a:t>R</a:t>
                </a:r>
                <a:r>
                  <a:rPr sz="2000">
                    <a:solidFill>
                      <a:srgbClr val="1E293B"/>
                    </a:solidFill>
                    <a:latin typeface="Calibri"/>
                  </a:rPr>
                  <a:t>. Trong </a:t>
                </a:r>
                <a:r>
                  <a:rPr lang="vi-VN"/>
                  <a:t>(SAD)</a:t>
                </a:r>
                <a:r>
                  <a:rPr sz="2000">
                    <a:solidFill>
                      <a:srgbClr val="1E293B"/>
                    </a:solidFill>
                    <a:latin typeface="Calibri"/>
                  </a:rPr>
                  <a:t>: </a:t>
                </a:r>
                <a:r>
                  <a:rPr lang="vi-VN"/>
                  <a:t>EQ</a:t>
                </a:r>
                <a:r>
                  <a:rPr sz="2000">
                    <a:solidFill>
                      <a:srgbClr val="1E293B"/>
                    </a:solidFill>
                    <a:latin typeface="Calibri"/>
                  </a:rPr>
                  <a:t> cắt </a:t>
                </a:r>
                <a:r>
                  <a:rPr lang="vi-VN"/>
                  <a:t>SD</a:t>
                </a:r>
                <a:r>
                  <a:rPr sz="2000">
                    <a:solidFill>
                      <a:srgbClr val="1E293B"/>
                    </a:solidFill>
                    <a:latin typeface="Calibri"/>
                  </a:rPr>
                  <a:t> tại </a:t>
                </a:r>
                <a:r>
                  <a:rPr lang="vi-VN"/>
                  <a:t>T</a:t>
                </a:r>
                <a:r>
                  <a:rPr sz="2000">
                    <a:solidFill>
                      <a:srgbClr val="1E293B"/>
                    </a:solidFill>
                    <a:latin typeface="Calibri"/>
                  </a:rPr>
                  <a:t>. </a:t>
                </a:r>
                <a:r>
                  <a:rPr lang="vi-VN"/>
                  <a:t>R,\ T</a:t>
                </a:r>
                <a:r>
                  <a:rPr sz="2000">
                    <a:solidFill>
                      <a:srgbClr val="1E293B"/>
                    </a:solidFill>
                    <a:latin typeface="Calibri"/>
                  </a:rPr>
                  <a:t> là các giao điểm cần tìm.</a:t>
                </a:r>
              </a:p>
            </p:txBody>
          </p:sp>
        </mc:Fallback>
      </mc:AlternateContent>
      <p:sp>
        <p:nvSpPr>
          <p:cNvPr id="10" name="s2_nen"/>
          <p:cNvSpPr/>
          <p:nvPr/>
        </p:nvSpPr>
        <p:spPr>
          <a:xfrm>
            <a:off x="548640" y="4431791"/>
            <a:ext cx="76809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68367"/>
                <a:ext cx="73517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Giao tuyến với </a:t>
                </a:r>
                <a14:m>
                  <m:oMath xmlns:m="http://schemas.openxmlformats.org/officeDocument/2006/math">
                    <m:d>
                      <m:dPr>
                        <m:sepChr m:val=""/>
                      </m:dPr>
                      <m:e>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C</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C</m:t>
                        </m:r>
                        <m:r>
                          <a:rPr lang="vi-VN" sz="2000" b="0">
                            <a:solidFill>
                              <a:srgbClr val="1E293B"/>
                            </a:solidFill>
                            <a:latin typeface="Cambria Math" panose="02040503050406030204" pitchFamily="18" charset="0"/>
                          </a:rPr>
                          <m:t>D</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S</m:t>
                        </m:r>
                        <m:r>
                          <a:rPr lang="vi-VN" sz="2000" b="0">
                            <a:solidFill>
                              <a:srgbClr val="1E293B"/>
                            </a:solidFill>
                            <a:latin typeface="Cambria Math" panose="02040503050406030204" pitchFamily="18" charset="0"/>
                          </a:rPr>
                          <m:t>D</m:t>
                        </m:r>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B</m:t>
                        </m:r>
                        <m:r>
                          <a:rPr lang="vi-VN" sz="2000" b="0">
                            <a:solidFill>
                              <a:srgbClr val="1E293B"/>
                            </a:solidFill>
                            <a:latin typeface="Cambria Math" panose="02040503050406030204" pitchFamily="18" charset="0"/>
                          </a:rPr>
                          <m:t>C</m:t>
                        </m:r>
                        <m:r>
                          <a:rPr lang="vi-VN" sz="2000" b="0">
                            <a:solidFill>
                              <a:srgbClr val="1E293B"/>
                            </a:solidFill>
                            <a:latin typeface="Cambria Math" panose="02040503050406030204" pitchFamily="18" charset="0"/>
                          </a:rPr>
                          <m:t>D</m:t>
                        </m:r>
                      </m:e>
                    </m:d>
                  </m:oMath>
                </a14:m>
                <a:r>
                  <a:rPr sz="2000">
                    <a:solidFill>
                      <a:srgbClr val="1E293B"/>
                    </a:solidFill>
                    <a:latin typeface="Calibri"/>
                  </a:rPr>
                  <a:t> lần lượt là </a:t>
                </a:r>
                <a14:m>
                  <m:oMath xmlns:m="http://schemas.openxmlformats.org/officeDocument/2006/math">
                    <m:r>
                      <a:rPr lang="vi-VN" sz="2000" b="0">
                        <a:solidFill>
                          <a:srgbClr val="1E293B"/>
                        </a:solidFill>
                        <a:latin typeface="Cambria Math" panose="02040503050406030204" pitchFamily="18" charset="0"/>
                      </a:rPr>
                      <m:t>ER,</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RM,</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NT,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ET,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MN</m:t>
                    </m:r>
                  </m:oMath>
                </a14:m>
                <a:r>
                  <a:rPr sz="2000">
                    <a:solidFill>
                      <a:srgbClr val="1E293B"/>
                    </a:solidFill>
                    <a:latin typeface="Calibri"/>
                  </a:rPr>
                  <a:t>.</a:t>
                </a:r>
              </a:p>
            </p:txBody>
          </p:sp>
        </mc:Choice>
        <mc:Fallback>
          <p:sp>
            <p:nvSpPr>
              <p:cNvPr id="11" name="TextBox 10"/>
              <p:cNvSpPr txBox="1"/>
              <p:nvPr/>
            </p:nvSpPr>
            <p:spPr>
              <a:xfrm>
                <a:off x="713232" y="4468367"/>
                <a:ext cx="73517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Giao tuyến với </a:t>
                </a:r>
                <a:r>
                  <a:rPr lang="vi-VN"/>
                  <a:t>(SAB),\ (SBC),\ (SCD),\ (SDA),\ (ABCD)</a:t>
                </a:r>
                <a:r>
                  <a:rPr sz="2000">
                    <a:solidFill>
                      <a:srgbClr val="1E293B"/>
                    </a:solidFill>
                    <a:latin typeface="Calibri"/>
                  </a:rPr>
                  <a:t> lần lượt là </a:t>
                </a:r>
                <a:r>
                  <a:rPr lang="vi-VN"/>
                  <a:t>ER,\ RM,\ NT,\ ET,\ MN</a:t>
                </a:r>
                <a:r>
                  <a:rPr sz="2000">
                    <a:solidFill>
                      <a:srgbClr val="1E293B"/>
                    </a:solidFill>
                    <a:latin typeface="Calibri"/>
                  </a:rPr>
                  <a:t>.</a:t>
                </a:r>
              </a:p>
            </p:txBody>
          </p:sp>
        </mc:Fallback>
      </mc:AlternateContent>
      <p:pic>
        <p:nvPicPr>
          <p:cNvPr id="12" name="Picture 11" descr="gv43.png"/>
          <p:cNvPicPr>
            <a:picLocks noChangeAspect="1"/>
          </p:cNvPicPr>
          <p:nvPr/>
        </p:nvPicPr>
        <p:blipFill>
          <a:blip r:embed="rId3"/>
          <a:stretch>
            <a:fillRect/>
          </a:stretch>
        </p:blipFill>
        <p:spPr>
          <a:xfrm>
            <a:off x="8426469" y="1463040"/>
            <a:ext cx="3263861" cy="29260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4.6 (SGK TR.77)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4.6.</a:t>
                </a:r>
                <a:r>
                  <a:rPr sz="2100">
                    <a:solidFill>
                      <a:srgbClr val="1E293B"/>
                    </a:solidFill>
                    <a:latin typeface="Calibri"/>
                  </a:rPr>
                  <a:t> Cho tứ diện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Trên các cạnh </a:t>
                </a:r>
                <a14:m>
                  <m:oMath xmlns:m="http://schemas.openxmlformats.org/officeDocument/2006/math">
                    <m:r>
                      <a:rPr lang="vi-VN" sz="2100" b="0">
                        <a:solidFill>
                          <a:srgbClr val="1E293B"/>
                        </a:solidFill>
                        <a:latin typeface="Cambria Math" panose="02040503050406030204" pitchFamily="18" charset="0"/>
                      </a:rPr>
                      <m:t>AC,</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BC,</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BD</m:t>
                    </m:r>
                  </m:oMath>
                </a14:m>
                <a:r>
                  <a:rPr sz="2100">
                    <a:solidFill>
                      <a:srgbClr val="1E293B"/>
                    </a:solidFill>
                    <a:latin typeface="Calibri"/>
                  </a:rPr>
                  <a:t> lần lượt lấy </a:t>
                </a:r>
                <a14:m>
                  <m:oMath xmlns:m="http://schemas.openxmlformats.org/officeDocument/2006/math">
                    <m:r>
                      <a:rPr lang="vi-VN" sz="2100" b="0">
                        <a:solidFill>
                          <a:srgbClr val="1E293B"/>
                        </a:solidFill>
                        <a:latin typeface="Cambria Math" panose="02040503050406030204" pitchFamily="18" charset="0"/>
                      </a:rPr>
                      <m:t>M,</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N,</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P</m:t>
                    </m:r>
                  </m:oMath>
                </a14:m>
                <a:r>
                  <a:rPr sz="2100">
                    <a:solidFill>
                      <a:srgbClr val="1E293B"/>
                    </a:solidFill>
                    <a:latin typeface="Calibri"/>
                  </a:rPr>
                  <a:t> sao cho </a:t>
                </a:r>
                <a14:m>
                  <m:oMath xmlns:m="http://schemas.openxmlformats.org/officeDocument/2006/math">
                    <m:r>
                      <a:rPr lang="vi-VN" sz="2100" b="0">
                        <a:solidFill>
                          <a:srgbClr val="1E293B"/>
                        </a:solidFill>
                        <a:latin typeface="Cambria Math" panose="02040503050406030204" pitchFamily="18" charset="0"/>
                      </a:rPr>
                      <m:t>AM=CM</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BN=CN</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BP=2DP</m:t>
                    </m:r>
                  </m:oMath>
                </a14:m>
                <a:r>
                  <a:rPr sz="2100">
                    <a:solidFill>
                      <a:srgbClr val="1E293B"/>
                    </a:solidFill>
                    <a:latin typeface="Calibri"/>
                  </a:rPr>
                  <a:t>. a) Xác định giao điểm của đường thẳng </a:t>
                </a:r>
                <a14:m>
                  <m:oMath xmlns:m="http://schemas.openxmlformats.org/officeDocument/2006/math">
                    <m:r>
                      <a:rPr lang="vi-VN" sz="2100" b="0">
                        <a:solidFill>
                          <a:srgbClr val="1E293B"/>
                        </a:solidFill>
                        <a:latin typeface="Cambria Math" panose="02040503050406030204" pitchFamily="18" charset="0"/>
                      </a:rPr>
                      <m:t>CD</m:t>
                    </m:r>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M</m:t>
                        </m:r>
                        <m:r>
                          <a:rPr lang="vi-VN" sz="2100" b="0">
                            <a:solidFill>
                              <a:srgbClr val="1E293B"/>
                            </a:solidFill>
                            <a:latin typeface="Cambria Math" panose="02040503050406030204" pitchFamily="18" charset="0"/>
                          </a:rPr>
                          <m:t>N</m:t>
                        </m:r>
                        <m:r>
                          <a:rPr lang="vi-VN" sz="2100" b="0">
                            <a:solidFill>
                              <a:srgbClr val="1E293B"/>
                            </a:solidFill>
                            <a:latin typeface="Cambria Math" panose="02040503050406030204" pitchFamily="18" charset="0"/>
                          </a:rPr>
                          <m:t>P</m:t>
                        </m:r>
                      </m:e>
                    </m:d>
                  </m:oMath>
                </a14:m>
                <a:r>
                  <a:rPr sz="2100">
                    <a:solidFill>
                      <a:srgbClr val="1E293B"/>
                    </a:solidFill>
                    <a:latin typeface="Calibri"/>
                  </a:rPr>
                  <a:t>. b) Xác định giao tuyến của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C</m:t>
                        </m:r>
                        <m:r>
                          <a:rPr lang="vi-VN" sz="2100" b="0">
                            <a:solidFill>
                              <a:srgbClr val="1E293B"/>
                            </a:solidFill>
                            <a:latin typeface="Cambria Math" panose="02040503050406030204" pitchFamily="18" charset="0"/>
                          </a:rPr>
                          <m:t>D</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M</m:t>
                        </m:r>
                        <m:r>
                          <a:rPr lang="vi-VN" sz="2100" b="0">
                            <a:solidFill>
                              <a:srgbClr val="1E293B"/>
                            </a:solidFill>
                            <a:latin typeface="Cambria Math" panose="02040503050406030204" pitchFamily="18" charset="0"/>
                          </a:rPr>
                          <m:t>N</m:t>
                        </m:r>
                        <m:r>
                          <a:rPr lang="vi-VN" sz="2100" b="0">
                            <a:solidFill>
                              <a:srgbClr val="1E293B"/>
                            </a:solidFill>
                            <a:latin typeface="Cambria Math" panose="02040503050406030204" pitchFamily="18" charset="0"/>
                          </a:rPr>
                          <m:t>P</m:t>
                        </m:r>
                      </m:e>
                    </m:d>
                  </m:oMath>
                </a14:m>
                <a:r>
                  <a:rPr sz="2100">
                    <a:solidFill>
                      <a:srgbClr val="1E293B"/>
                    </a:solidFill>
                    <a:latin typeface="Calibri"/>
                  </a:rPr>
                  <a:t>.</a:t>
                </a:r>
              </a:p>
            </p:txBody>
          </p:sp>
        </mc:Choice>
        <mc:Fallback>
          <p:sp>
            <p:nvSpPr>
              <p:cNvPr id="7" name="TextBox 6"/>
              <p:cNvSpPr txBox="1"/>
              <p:nvPr/>
            </p:nvSpPr>
            <p:spPr>
              <a:xfrm>
                <a:off x="548640" y="1371600"/>
                <a:ext cx="768096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4.6.</a:t>
                </a:r>
                <a:r>
                  <a:rPr sz="2100">
                    <a:solidFill>
                      <a:srgbClr val="1E293B"/>
                    </a:solidFill>
                    <a:latin typeface="Calibri"/>
                  </a:rPr>
                  <a:t> Cho tứ diện </a:t>
                </a:r>
                <a:r>
                  <a:rPr lang="vi-VN"/>
                  <a:t>ABCD</a:t>
                </a:r>
                <a:r>
                  <a:rPr sz="2100">
                    <a:solidFill>
                      <a:srgbClr val="1E293B"/>
                    </a:solidFill>
                    <a:latin typeface="Calibri"/>
                  </a:rPr>
                  <a:t>. Trên các cạnh </a:t>
                </a:r>
                <a:r>
                  <a:rPr lang="vi-VN"/>
                  <a:t>AC,\ BC,\ BD</a:t>
                </a:r>
                <a:r>
                  <a:rPr sz="2100">
                    <a:solidFill>
                      <a:srgbClr val="1E293B"/>
                    </a:solidFill>
                    <a:latin typeface="Calibri"/>
                  </a:rPr>
                  <a:t> lần lượt lấy </a:t>
                </a:r>
                <a:r>
                  <a:rPr lang="vi-VN"/>
                  <a:t>M,\ N,\ P</a:t>
                </a:r>
                <a:r>
                  <a:rPr sz="2100">
                    <a:solidFill>
                      <a:srgbClr val="1E293B"/>
                    </a:solidFill>
                    <a:latin typeface="Calibri"/>
                  </a:rPr>
                  <a:t> sao cho </a:t>
                </a:r>
                <a:r>
                  <a:rPr lang="vi-VN"/>
                  <a:t>AM=CM</a:t>
                </a:r>
                <a:r>
                  <a:rPr sz="2100">
                    <a:solidFill>
                      <a:srgbClr val="1E293B"/>
                    </a:solidFill>
                    <a:latin typeface="Calibri"/>
                  </a:rPr>
                  <a:t>, </a:t>
                </a:r>
                <a:r>
                  <a:rPr lang="vi-VN"/>
                  <a:t>BN=CN</a:t>
                </a:r>
                <a:r>
                  <a:rPr sz="2100">
                    <a:solidFill>
                      <a:srgbClr val="1E293B"/>
                    </a:solidFill>
                    <a:latin typeface="Calibri"/>
                  </a:rPr>
                  <a:t>, </a:t>
                </a:r>
                <a:r>
                  <a:rPr lang="vi-VN"/>
                  <a:t>BP=2DP</a:t>
                </a:r>
                <a:r>
                  <a:rPr sz="2100">
                    <a:solidFill>
                      <a:srgbClr val="1E293B"/>
                    </a:solidFill>
                    <a:latin typeface="Calibri"/>
                  </a:rPr>
                  <a:t>. a) Xác định giao điểm của đường thẳng </a:t>
                </a:r>
                <a:r>
                  <a:rPr lang="vi-VN"/>
                  <a:t>CD</a:t>
                </a:r>
                <a:r>
                  <a:rPr sz="2100">
                    <a:solidFill>
                      <a:srgbClr val="1E293B"/>
                    </a:solidFill>
                    <a:latin typeface="Calibri"/>
                  </a:rPr>
                  <a:t> và </a:t>
                </a:r>
                <a:r>
                  <a:rPr lang="vi-VN"/>
                  <a:t>(MNP)</a:t>
                </a:r>
                <a:r>
                  <a:rPr sz="2100">
                    <a:solidFill>
                      <a:srgbClr val="1E293B"/>
                    </a:solidFill>
                    <a:latin typeface="Calibri"/>
                  </a:rPr>
                  <a:t>. b) Xác định giao tuyến của </a:t>
                </a:r>
                <a:r>
                  <a:rPr lang="vi-VN"/>
                  <a:t>(ACD)</a:t>
                </a:r>
                <a:r>
                  <a:rPr sz="2100">
                    <a:solidFill>
                      <a:srgbClr val="1E293B"/>
                    </a:solidFill>
                    <a:latin typeface="Calibri"/>
                  </a:rPr>
                  <a:t> và </a:t>
                </a:r>
                <a:r>
                  <a:rPr lang="vi-VN"/>
                  <a:t>(MNP)</a:t>
                </a:r>
                <a:r>
                  <a:rPr sz="2100">
                    <a:solidFill>
                      <a:srgbClr val="1E293B"/>
                    </a:solidFill>
                    <a:latin typeface="Calibri"/>
                  </a:rPr>
                  <a:t>.</a:t>
                </a:r>
              </a:p>
            </p:txBody>
          </p:sp>
        </mc:Fallback>
      </mc:AlternateContent>
      <p:sp>
        <p:nvSpPr>
          <p:cNvPr id="8" name="s1_nen"/>
          <p:cNvSpPr/>
          <p:nvPr/>
        </p:nvSpPr>
        <p:spPr>
          <a:xfrm>
            <a:off x="548640" y="2935224"/>
            <a:ext cx="7680960" cy="133731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971800"/>
                <a:ext cx="735177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Trong tam giác </a:t>
                </a:r>
                <a14:m>
                  <m:oMath xmlns:m="http://schemas.openxmlformats.org/officeDocument/2006/math">
                    <m:r>
                      <a:rPr lang="vi-VN" sz="2100" b="0">
                        <a:solidFill>
                          <a:srgbClr val="1E293B"/>
                        </a:solidFill>
                        <a:latin typeface="Cambria Math" panose="02040503050406030204" pitchFamily="18" charset="0"/>
                      </a:rPr>
                      <m:t>BCD</m:t>
                    </m:r>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BN</m:t>
                        </m:r>
                      </m:num>
                      <m:den>
                        <m:r>
                          <a:rPr lang="vi-VN" sz="2100" b="0">
                            <a:solidFill>
                              <a:srgbClr val="1E293B"/>
                            </a:solidFill>
                            <a:latin typeface="Cambria Math" panose="02040503050406030204" pitchFamily="18" charset="0"/>
                          </a:rPr>
                          <m:t>BC</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BP</m:t>
                        </m:r>
                      </m:num>
                      <m:den>
                        <m:r>
                          <a:rPr lang="vi-VN" sz="2100" b="0">
                            <a:solidFill>
                              <a:srgbClr val="1E293B"/>
                            </a:solidFill>
                            <a:latin typeface="Cambria Math" panose="02040503050406030204" pitchFamily="18" charset="0"/>
                          </a:rPr>
                          <m:t>BD</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2</m:t>
                        </m:r>
                      </m:num>
                      <m:den>
                        <m:r>
                          <a:rPr lang="vi-VN" sz="2100" b="0">
                            <a:solidFill>
                              <a:srgbClr val="1E293B"/>
                            </a:solidFill>
                            <a:latin typeface="Cambria Math" panose="02040503050406030204" pitchFamily="18" charset="0"/>
                          </a:rPr>
                          <m:t>3</m:t>
                        </m:r>
                      </m:den>
                    </m:f>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NP</m:t>
                    </m:r>
                  </m:oMath>
                </a14:m>
                <a:r>
                  <a:rPr sz="2100">
                    <a:solidFill>
                      <a:srgbClr val="1E293B"/>
                    </a:solidFill>
                    <a:latin typeface="Calibri"/>
                  </a:rPr>
                  <a:t> cắt </a:t>
                </a:r>
                <a14:m>
                  <m:oMath xmlns:m="http://schemas.openxmlformats.org/officeDocument/2006/math">
                    <m:r>
                      <a:rPr lang="vi-VN" sz="2100" b="0">
                        <a:solidFill>
                          <a:srgbClr val="1E293B"/>
                        </a:solidFill>
                        <a:latin typeface="Cambria Math" panose="02040503050406030204" pitchFamily="18" charset="0"/>
                      </a:rPr>
                      <m:t>CD</m:t>
                    </m:r>
                  </m:oMath>
                </a14:m>
                <a:r>
                  <a:rPr sz="2100">
                    <a:solidFill>
                      <a:srgbClr val="1E293B"/>
                    </a:solidFill>
                    <a:latin typeface="Calibri"/>
                  </a:rPr>
                  <a:t> tại </a:t>
                </a:r>
                <a14:m>
                  <m:oMath xmlns:m="http://schemas.openxmlformats.org/officeDocument/2006/math">
                    <m:r>
                      <a:rPr lang="vi-VN" sz="2100" b="0">
                        <a:solidFill>
                          <a:srgbClr val="1E293B"/>
                        </a:solidFill>
                        <a:latin typeface="Cambria Math" panose="02040503050406030204" pitchFamily="18" charset="0"/>
                      </a:rPr>
                      <m:t>Q</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Q∈NP⊂(MNP)</m:t>
                    </m:r>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Q=CD∩(MNP)</m:t>
                    </m:r>
                  </m:oMath>
                </a14:m>
                <a:r>
                  <a:rPr sz="2100">
                    <a:solidFill>
                      <a:srgbClr val="1E293B"/>
                    </a:solidFill>
                    <a:latin typeface="Calibri"/>
                  </a:rPr>
                  <a:t>.</a:t>
                </a:r>
              </a:p>
            </p:txBody>
          </p:sp>
        </mc:Choice>
        <mc:Fallback>
          <p:sp>
            <p:nvSpPr>
              <p:cNvPr id="9" name="TextBox 8"/>
              <p:cNvSpPr txBox="1"/>
              <p:nvPr/>
            </p:nvSpPr>
            <p:spPr>
              <a:xfrm>
                <a:off x="713232" y="2971800"/>
                <a:ext cx="735177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Trong tam giác </a:t>
                </a:r>
                <a:r>
                  <a:rPr lang="vi-VN"/>
                  <a:t>BCD</a:t>
                </a:r>
                <a:r>
                  <a:rPr sz="2100">
                    <a:solidFill>
                      <a:srgbClr val="1E293B"/>
                    </a:solidFill>
                    <a:latin typeface="Calibri"/>
                  </a:rPr>
                  <a:t>: </a:t>
                </a:r>
                <a:r>
                  <a:rPr lang="vi-VN"/>
                  <a:t>\dfrac{BN}{BC}=\dfrac{1}{2}\ne \dfrac{BP}{BD}=\dfrac{2}{3}</a:t>
                </a:r>
                <a:r>
                  <a:rPr sz="2100">
                    <a:solidFill>
                      <a:srgbClr val="1E293B"/>
                    </a:solidFill>
                    <a:latin typeface="Calibri"/>
                  </a:rPr>
                  <a:t> nên </a:t>
                </a:r>
                <a:r>
                  <a:rPr lang="vi-VN"/>
                  <a:t>NP</a:t>
                </a:r>
                <a:r>
                  <a:rPr sz="2100">
                    <a:solidFill>
                      <a:srgbClr val="1E293B"/>
                    </a:solidFill>
                    <a:latin typeface="Calibri"/>
                  </a:rPr>
                  <a:t> cắt </a:t>
                </a:r>
                <a:r>
                  <a:rPr lang="vi-VN"/>
                  <a:t>CD</a:t>
                </a:r>
                <a:r>
                  <a:rPr sz="2100">
                    <a:solidFill>
                      <a:srgbClr val="1E293B"/>
                    </a:solidFill>
                    <a:latin typeface="Calibri"/>
                  </a:rPr>
                  <a:t> tại </a:t>
                </a:r>
                <a:r>
                  <a:rPr lang="vi-VN"/>
                  <a:t>Q</a:t>
                </a:r>
                <a:r>
                  <a:rPr sz="2100">
                    <a:solidFill>
                      <a:srgbClr val="1E293B"/>
                    </a:solidFill>
                    <a:latin typeface="Calibri"/>
                  </a:rPr>
                  <a:t>; </a:t>
                </a:r>
                <a:r>
                  <a:rPr lang="vi-VN"/>
                  <a:t>Q\in NP\subset (MNP)</a:t>
                </a:r>
                <a:r>
                  <a:rPr sz="2100">
                    <a:solidFill>
                      <a:srgbClr val="1E293B"/>
                    </a:solidFill>
                    <a:latin typeface="Calibri"/>
                  </a:rPr>
                  <a:t> ⇒ </a:t>
                </a:r>
                <a:r>
                  <a:rPr lang="vi-VN"/>
                  <a:t>Q=CD\cap (MNP)</a:t>
                </a:r>
                <a:r>
                  <a:rPr sz="2100">
                    <a:solidFill>
                      <a:srgbClr val="1E293B"/>
                    </a:solidFill>
                    <a:latin typeface="Calibri"/>
                  </a:rPr>
                  <a:t>.</a:t>
                </a:r>
              </a:p>
            </p:txBody>
          </p:sp>
        </mc:Fallback>
      </mc:AlternateContent>
      <p:sp>
        <p:nvSpPr>
          <p:cNvPr id="10" name="s2_nen"/>
          <p:cNvSpPr/>
          <p:nvPr/>
        </p:nvSpPr>
        <p:spPr>
          <a:xfrm>
            <a:off x="548640" y="4382262"/>
            <a:ext cx="76809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18838"/>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r>
                      <a:rPr lang="vi-VN" sz="2100" b="0">
                        <a:solidFill>
                          <a:srgbClr val="1E293B"/>
                        </a:solidFill>
                        <a:latin typeface="Cambria Math" panose="02040503050406030204" pitchFamily="18" charset="0"/>
                      </a:rPr>
                      <m:t>M∈AC⊂(ACD)</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M∈(MNP)</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Q∈CD⊂(ACD)</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Q∈(MNP)</m:t>
                    </m:r>
                  </m:oMath>
                </a14:m>
                <a:r>
                  <a:rPr sz="2100">
                    <a:solidFill>
                      <a:srgbClr val="1E293B"/>
                    </a:solidFill>
                    <a:latin typeface="Calibri"/>
                  </a:rPr>
                  <a:t>. Vậy </a:t>
                </a:r>
                <a14:m>
                  <m:oMath xmlns:m="http://schemas.openxmlformats.org/officeDocument/2006/math">
                    <m:r>
                      <a:rPr lang="vi-VN" sz="2100" b="0">
                        <a:solidFill>
                          <a:srgbClr val="1E293B"/>
                        </a:solidFill>
                        <a:latin typeface="Cambria Math" panose="02040503050406030204" pitchFamily="18" charset="0"/>
                      </a:rPr>
                      <m:t>(ACD)∩(MNP)=MQ</m:t>
                    </m:r>
                  </m:oMath>
                </a14:m>
                <a:r>
                  <a:rPr sz="2100">
                    <a:solidFill>
                      <a:srgbClr val="1E293B"/>
                    </a:solidFill>
                    <a:latin typeface="Calibri"/>
                  </a:rPr>
                  <a:t>.</a:t>
                </a:r>
              </a:p>
            </p:txBody>
          </p:sp>
        </mc:Choice>
        <mc:Fallback>
          <p:sp>
            <p:nvSpPr>
              <p:cNvPr id="11" name="TextBox 10"/>
              <p:cNvSpPr txBox="1"/>
              <p:nvPr/>
            </p:nvSpPr>
            <p:spPr>
              <a:xfrm>
                <a:off x="713232" y="4418838"/>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M\in AC\subset (ACD)</a:t>
                </a:r>
                <a:r>
                  <a:rPr sz="2100">
                    <a:solidFill>
                      <a:srgbClr val="1E293B"/>
                    </a:solidFill>
                    <a:latin typeface="Calibri"/>
                  </a:rPr>
                  <a:t>, </a:t>
                </a:r>
                <a:r>
                  <a:rPr lang="vi-VN"/>
                  <a:t>M\in (MNP)</a:t>
                </a:r>
                <a:r>
                  <a:rPr sz="2100">
                    <a:solidFill>
                      <a:srgbClr val="1E293B"/>
                    </a:solidFill>
                    <a:latin typeface="Calibri"/>
                  </a:rPr>
                  <a:t>; </a:t>
                </a:r>
                <a:r>
                  <a:rPr lang="vi-VN"/>
                  <a:t>Q\in CD\subset (ACD)</a:t>
                </a:r>
                <a:r>
                  <a:rPr sz="2100">
                    <a:solidFill>
                      <a:srgbClr val="1E293B"/>
                    </a:solidFill>
                    <a:latin typeface="Calibri"/>
                  </a:rPr>
                  <a:t>, </a:t>
                </a:r>
                <a:r>
                  <a:rPr lang="vi-VN"/>
                  <a:t>Q\in (MNP)</a:t>
                </a:r>
                <a:r>
                  <a:rPr sz="2100">
                    <a:solidFill>
                      <a:srgbClr val="1E293B"/>
                    </a:solidFill>
                    <a:latin typeface="Calibri"/>
                  </a:rPr>
                  <a:t>. Vậy </a:t>
                </a:r>
                <a:r>
                  <a:rPr lang="vi-VN"/>
                  <a:t>(ACD)\cap (MNP)=MQ</a:t>
                </a:r>
                <a:r>
                  <a:rPr sz="2100">
                    <a:solidFill>
                      <a:srgbClr val="1E293B"/>
                    </a:solidFill>
                    <a:latin typeface="Calibri"/>
                  </a:rPr>
                  <a:t>.</a:t>
                </a:r>
              </a:p>
            </p:txBody>
          </p:sp>
        </mc:Fallback>
      </mc:AlternateContent>
      <p:pic>
        <p:nvPicPr>
          <p:cNvPr id="12" name="Picture 11" descr="gv44.png"/>
          <p:cNvPicPr>
            <a:picLocks noChangeAspect="1"/>
          </p:cNvPicPr>
          <p:nvPr/>
        </p:nvPicPr>
        <p:blipFill>
          <a:blip r:embed="rId3"/>
          <a:stretch>
            <a:fillRect/>
          </a:stretch>
        </p:blipFill>
        <p:spPr>
          <a:xfrm>
            <a:off x="8470635" y="1463040"/>
            <a:ext cx="3175529" cy="29260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TRẠM KIỂM CHỨNG 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 </a:t>
                </a:r>
                <a:r>
                  <a:rPr sz="2100" b="1">
                    <a:solidFill>
                      <a:srgbClr val="1E293B"/>
                    </a:solidFill>
                    <a:latin typeface="Calibri"/>
                  </a:rPr>
                  <a:t>Lời giải AI số 1</a:t>
                </a:r>
                <a:r>
                  <a:rPr sz="2100">
                    <a:solidFill>
                      <a:srgbClr val="1E293B"/>
                    </a:solidFill>
                    <a:latin typeface="Calibri"/>
                  </a:rPr>
                  <a:t> (Ví dụ 6 – giao điểm của </a:t>
                </a:r>
                <a14:m>
                  <m:oMath xmlns:m="http://schemas.openxmlformats.org/officeDocument/2006/math">
                    <m:r>
                      <a:rPr lang="vi-VN" sz="2100" b="0">
                        <a:solidFill>
                          <a:srgbClr val="1E293B"/>
                        </a:solidFill>
                        <a:latin typeface="Cambria Math" panose="02040503050406030204" pitchFamily="18" charset="0"/>
                      </a:rPr>
                      <m:t>BF</m:t>
                    </m:r>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C</m:t>
                        </m:r>
                        <m:r>
                          <a:rPr lang="vi-VN" sz="2100" b="0">
                            <a:solidFill>
                              <a:srgbClr val="1E293B"/>
                            </a:solidFill>
                            <a:latin typeface="Cambria Math" panose="02040503050406030204" pitchFamily="18" charset="0"/>
                          </a:rPr>
                          <m:t>D</m:t>
                        </m:r>
                      </m:e>
                    </m:d>
                  </m:oMath>
                </a14:m>
                <a:r>
                  <a:rPr sz="2100">
                    <a:solidFill>
                      <a:srgbClr val="1E293B"/>
                    </a:solidFill>
                    <a:latin typeface="Calibri"/>
                  </a:rPr>
                  <a:t>): “Gọi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là giao điểm của </a:t>
                </a:r>
                <a14:m>
                  <m:oMath xmlns:m="http://schemas.openxmlformats.org/officeDocument/2006/math">
                    <m:r>
                      <a:rPr lang="vi-VN" sz="2100" b="0">
                        <a:solidFill>
                          <a:srgbClr val="1E293B"/>
                        </a:solidFill>
                        <a:latin typeface="Cambria Math" panose="02040503050406030204" pitchFamily="18" charset="0"/>
                      </a:rPr>
                      <m:t>BF</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CD</m:t>
                    </m:r>
                  </m:oMath>
                </a14:m>
                <a:r>
                  <a:rPr sz="2100">
                    <a:solidFill>
                      <a:srgbClr val="1E293B"/>
                    </a:solidFill>
                    <a:latin typeface="Calibri"/>
                  </a:rPr>
                  <a:t>. Vì </a:t>
                </a:r>
                <a14:m>
                  <m:oMath xmlns:m="http://schemas.openxmlformats.org/officeDocument/2006/math">
                    <m:r>
                      <a:rPr lang="vi-VN" sz="2100" b="0">
                        <a:solidFill>
                          <a:srgbClr val="1E293B"/>
                        </a:solidFill>
                        <a:latin typeface="Cambria Math" panose="02040503050406030204" pitchFamily="18" charset="0"/>
                      </a:rPr>
                      <m:t>CD⊂(ACD)</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N=BF∩(ACD)</m:t>
                    </m:r>
                  </m:oMath>
                </a14:m>
                <a:r>
                  <a:rPr sz="2100">
                    <a:solidFill>
                      <a:srgbClr val="1E293B"/>
                    </a:solidFill>
                    <a:latin typeface="Calibri"/>
                  </a:rPr>
                  <a:t>.”</a:t>
                </a:r>
              </a:p>
            </p:txBody>
          </p:sp>
        </mc:Choice>
        <mc:Fallback>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 </a:t>
                </a:r>
                <a:r>
                  <a:rPr sz="2100" b="1">
                    <a:solidFill>
                      <a:srgbClr val="1E293B"/>
                    </a:solidFill>
                    <a:latin typeface="Calibri"/>
                  </a:rPr>
                  <a:t>Lời giải AI số 1</a:t>
                </a:r>
                <a:r>
                  <a:rPr sz="2100">
                    <a:solidFill>
                      <a:srgbClr val="1E293B"/>
                    </a:solidFill>
                    <a:latin typeface="Calibri"/>
                  </a:rPr>
                  <a:t> (Ví dụ 6 – giao điểm của </a:t>
                </a:r>
                <a:r>
                  <a:rPr lang="vi-VN"/>
                  <a:t>BF</a:t>
                </a:r>
                <a:r>
                  <a:rPr sz="2100">
                    <a:solidFill>
                      <a:srgbClr val="1E293B"/>
                    </a:solidFill>
                    <a:latin typeface="Calibri"/>
                  </a:rPr>
                  <a:t> và </a:t>
                </a:r>
                <a:r>
                  <a:rPr lang="vi-VN"/>
                  <a:t>(ACD)</a:t>
                </a:r>
                <a:r>
                  <a:rPr sz="2100">
                    <a:solidFill>
                      <a:srgbClr val="1E293B"/>
                    </a:solidFill>
                    <a:latin typeface="Calibri"/>
                  </a:rPr>
                  <a:t>): “Gọi </a:t>
                </a:r>
                <a:r>
                  <a:rPr lang="vi-VN"/>
                  <a:t>N</a:t>
                </a:r>
                <a:r>
                  <a:rPr sz="2100">
                    <a:solidFill>
                      <a:srgbClr val="1E293B"/>
                    </a:solidFill>
                    <a:latin typeface="Calibri"/>
                  </a:rPr>
                  <a:t> là giao điểm của </a:t>
                </a:r>
                <a:r>
                  <a:rPr lang="vi-VN"/>
                  <a:t>BF</a:t>
                </a:r>
                <a:r>
                  <a:rPr sz="2100">
                    <a:solidFill>
                      <a:srgbClr val="1E293B"/>
                    </a:solidFill>
                    <a:latin typeface="Calibri"/>
                  </a:rPr>
                  <a:t> và </a:t>
                </a:r>
                <a:r>
                  <a:rPr lang="vi-VN"/>
                  <a:t>CD</a:t>
                </a:r>
                <a:r>
                  <a:rPr sz="2100">
                    <a:solidFill>
                      <a:srgbClr val="1E293B"/>
                    </a:solidFill>
                    <a:latin typeface="Calibri"/>
                  </a:rPr>
                  <a:t>. Vì </a:t>
                </a:r>
                <a:r>
                  <a:rPr lang="vi-VN"/>
                  <a:t>CD\subset (ACD)</a:t>
                </a:r>
                <a:r>
                  <a:rPr sz="2100">
                    <a:solidFill>
                      <a:srgbClr val="1E293B"/>
                    </a:solidFill>
                    <a:latin typeface="Calibri"/>
                  </a:rPr>
                  <a:t> nên </a:t>
                </a:r>
                <a:r>
                  <a:rPr lang="vi-VN"/>
                  <a:t>N=BF\cap (ACD)</a:t>
                </a:r>
                <a:r>
                  <a:rPr sz="2100">
                    <a:solidFill>
                      <a:srgbClr val="1E293B"/>
                    </a:solidFill>
                    <a:latin typeface="Calibri"/>
                  </a:rPr>
                  <a:t>.”</a:t>
                </a:r>
              </a:p>
            </p:txBody>
          </p:sp>
        </mc:Fallback>
      </mc:AlternateContent>
      <p:sp>
        <p:nvSpPr>
          <p:cNvPr id="8" name="s1_nen"/>
          <p:cNvSpPr/>
          <p:nvPr/>
        </p:nvSpPr>
        <p:spPr>
          <a:xfrm>
            <a:off x="548640" y="2276856"/>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13432"/>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Sai:</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BF</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CD</m:t>
                    </m:r>
                  </m:oMath>
                </a14:m>
                <a:r>
                  <a:rPr sz="2100">
                    <a:solidFill>
                      <a:srgbClr val="1E293B"/>
                    </a:solidFill>
                    <a:latin typeface="Calibri"/>
                  </a:rPr>
                  <a:t> không cùng nằm trong một mặt phẳng nên không cắt nhau. Phải dùng mặt phẳng phụ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M</m:t>
                        </m:r>
                      </m:e>
                    </m:d>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N=BF∩AM</m:t>
                    </m:r>
                  </m:oMath>
                </a14:m>
                <a:r>
                  <a:rPr sz="2100">
                    <a:solidFill>
                      <a:srgbClr val="1E293B"/>
                    </a:solidFill>
                    <a:latin typeface="Calibri"/>
                  </a:rPr>
                  <a:t>.</a:t>
                </a:r>
              </a:p>
            </p:txBody>
          </p:sp>
        </mc:Choice>
        <mc:Fallback>
          <p:sp>
            <p:nvSpPr>
              <p:cNvPr id="9" name="TextBox 8"/>
              <p:cNvSpPr txBox="1"/>
              <p:nvPr/>
            </p:nvSpPr>
            <p:spPr>
              <a:xfrm>
                <a:off x="713232" y="2313432"/>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Sai:</a:t>
                </a:r>
                <a:r>
                  <a:rPr sz="2100">
                    <a:solidFill>
                      <a:srgbClr val="1E293B"/>
                    </a:solidFill>
                    <a:latin typeface="Calibri"/>
                  </a:rPr>
                  <a:t> </a:t>
                </a:r>
                <a:r>
                  <a:rPr lang="vi-VN"/>
                  <a:t>BF</a:t>
                </a:r>
                <a:r>
                  <a:rPr sz="2100">
                    <a:solidFill>
                      <a:srgbClr val="1E293B"/>
                    </a:solidFill>
                    <a:latin typeface="Calibri"/>
                  </a:rPr>
                  <a:t> và </a:t>
                </a:r>
                <a:r>
                  <a:rPr lang="vi-VN"/>
                  <a:t>CD</a:t>
                </a:r>
                <a:r>
                  <a:rPr sz="2100">
                    <a:solidFill>
                      <a:srgbClr val="1E293B"/>
                    </a:solidFill>
                    <a:latin typeface="Calibri"/>
                  </a:rPr>
                  <a:t> không cùng nằm trong một mặt phẳng nên không cắt nhau. Phải dùng mặt phẳng phụ </a:t>
                </a:r>
                <a:r>
                  <a:rPr lang="vi-VN"/>
                  <a:t>(ABM)</a:t>
                </a:r>
                <a:r>
                  <a:rPr sz="2100">
                    <a:solidFill>
                      <a:srgbClr val="1E293B"/>
                    </a:solidFill>
                    <a:latin typeface="Calibri"/>
                  </a:rPr>
                  <a:t>: </a:t>
                </a:r>
                <a:r>
                  <a:rPr lang="vi-VN"/>
                  <a:t>N=BF\cap AM</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273551"/>
                <a:ext cx="1106424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 </a:t>
                </a:r>
                <a:r>
                  <a:rPr sz="2100" b="1">
                    <a:solidFill>
                      <a:srgbClr val="1E293B"/>
                    </a:solidFill>
                    <a:latin typeface="Calibri"/>
                  </a:rPr>
                  <a:t>Lời giải AI số 2</a:t>
                </a:r>
                <a:r>
                  <a:rPr sz="2100">
                    <a:solidFill>
                      <a:srgbClr val="1E293B"/>
                    </a:solidFill>
                    <a:latin typeface="Calibri"/>
                  </a:rPr>
                  <a:t> (Luyện tập 1 – tứ giác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“Có 4 mặt phẳng đi qua ba trong bốn đỉnh: </a:t>
                </a:r>
                <a14:m>
                  <m:oMath xmlns:m="http://schemas.openxmlformats.org/officeDocument/2006/math">
                    <m:d>
                      <m:dPr>
                        <m:sepChr m:val=""/>
                      </m:dPr>
                      <m:e>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D</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C</m:t>
                        </m:r>
                        <m:r>
                          <a:rPr lang="vi-VN" sz="2100" b="0">
                            <a:solidFill>
                              <a:srgbClr val="1E293B"/>
                            </a:solidFill>
                            <a:latin typeface="Cambria Math" panose="02040503050406030204" pitchFamily="18" charset="0"/>
                          </a:rPr>
                          <m:t>D</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C</m:t>
                        </m:r>
                        <m:r>
                          <a:rPr lang="vi-VN" sz="2100" b="0">
                            <a:solidFill>
                              <a:srgbClr val="1E293B"/>
                            </a:solidFill>
                            <a:latin typeface="Cambria Math" panose="02040503050406030204" pitchFamily="18" charset="0"/>
                          </a:rPr>
                          <m:t>D</m:t>
                        </m:r>
                      </m:e>
                    </m:d>
                  </m:oMath>
                </a14:m>
                <a:r>
                  <a:rPr sz="2100">
                    <a:solidFill>
                      <a:srgbClr val="1E293B"/>
                    </a:solidFill>
                    <a:latin typeface="Calibri"/>
                  </a:rPr>
                  <a:t>.”</a:t>
                </a:r>
              </a:p>
            </p:txBody>
          </p:sp>
        </mc:Choice>
        <mc:Fallback>
          <p:sp>
            <p:nvSpPr>
              <p:cNvPr id="10" name="TextBox 9"/>
              <p:cNvSpPr txBox="1"/>
              <p:nvPr/>
            </p:nvSpPr>
            <p:spPr>
              <a:xfrm>
                <a:off x="548640" y="3273551"/>
                <a:ext cx="1106424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 </a:t>
                </a:r>
                <a:r>
                  <a:rPr sz="2100" b="1">
                    <a:solidFill>
                      <a:srgbClr val="1E293B"/>
                    </a:solidFill>
                    <a:latin typeface="Calibri"/>
                  </a:rPr>
                  <a:t>Lời giải AI số 2</a:t>
                </a:r>
                <a:r>
                  <a:rPr sz="2100">
                    <a:solidFill>
                      <a:srgbClr val="1E293B"/>
                    </a:solidFill>
                    <a:latin typeface="Calibri"/>
                  </a:rPr>
                  <a:t> (Luyện tập 1 – tứ giác </a:t>
                </a:r>
                <a:r>
                  <a:rPr lang="vi-VN"/>
                  <a:t>ABCD</a:t>
                </a:r>
                <a:r>
                  <a:rPr sz="2100">
                    <a:solidFill>
                      <a:srgbClr val="1E293B"/>
                    </a:solidFill>
                    <a:latin typeface="Calibri"/>
                  </a:rPr>
                  <a:t>): “Có 4 mặt phẳng đi qua ba trong bốn đỉnh: </a:t>
                </a:r>
                <a:r>
                  <a:rPr lang="vi-VN"/>
                  <a:t>(ABC),\ (ABD),\ (ACD),\ (BCD)</a:t>
                </a:r>
                <a:r>
                  <a:rPr sz="2100">
                    <a:solidFill>
                      <a:srgbClr val="1E293B"/>
                    </a:solidFill>
                    <a:latin typeface="Calibri"/>
                  </a:rPr>
                  <a:t>.”</a:t>
                </a:r>
              </a:p>
            </p:txBody>
          </p:sp>
        </mc:Fallback>
      </mc:AlternateContent>
      <p:sp>
        <p:nvSpPr>
          <p:cNvPr id="11" name="s3_nen"/>
          <p:cNvSpPr/>
          <p:nvPr/>
        </p:nvSpPr>
        <p:spPr>
          <a:xfrm>
            <a:off x="548640" y="4178807"/>
            <a:ext cx="11064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3_chu"/>
          <p:cNvSpPr txBox="1"/>
          <p:nvPr/>
        </p:nvSpPr>
        <p:spPr>
          <a:xfrm>
            <a:off x="713232" y="4215383"/>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Sai:</a:t>
            </a:r>
            <a:r>
              <a:rPr sz="2100">
                <a:solidFill>
                  <a:srgbClr val="1E293B"/>
                </a:solidFill>
                <a:latin typeface="Calibri"/>
              </a:rPr>
              <a:t> tứ giác là hình phẳng, bốn đỉnh đồng phẳng nên chỉ có 1 mặt phẳng; AI nhầm với tứ diện.</a:t>
            </a:r>
          </a:p>
        </p:txBody>
      </p:sp>
      <p:sp>
        <p:nvSpPr>
          <p:cNvPr id="13" name="s4_nen"/>
          <p:cNvSpPr/>
          <p:nvPr/>
        </p:nvSpPr>
        <p:spPr>
          <a:xfrm>
            <a:off x="548640" y="5175503"/>
            <a:ext cx="11064240" cy="585215"/>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4_chu"/>
          <p:cNvSpPr txBox="1"/>
          <p:nvPr/>
        </p:nvSpPr>
        <p:spPr>
          <a:xfrm>
            <a:off x="713232" y="5212079"/>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Dùng AI có trách nhiệm: kiểm chứng từng bước, ghi </a:t>
            </a:r>
            <a:r>
              <a:rPr sz="2100" b="1">
                <a:solidFill>
                  <a:srgbClr val="1E293B"/>
                </a:solidFill>
                <a:latin typeface="Calibri"/>
              </a:rPr>
              <a:t>Nhật ký sử dụng AI</a:t>
            </a:r>
            <a:r>
              <a:rPr sz="2100">
                <a:solidFill>
                  <a:srgbClr val="1E293B"/>
                </a:solidFill>
                <a:latin typeface="Calibri"/>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BÀI TẬP 4.7 – 4.8: TOÁN HỌC QUANH TA (SGK TR.77)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44</a:t>
            </a:r>
          </a:p>
        </p:txBody>
      </p:sp>
      <p:sp>
        <p:nvSpPr>
          <p:cNvPr id="7" name="TextBox 6"/>
          <p:cNvSpPr txBox="1"/>
          <p:nvPr/>
        </p:nvSpPr>
        <p:spPr>
          <a:xfrm>
            <a:off x="548640" y="1371600"/>
            <a:ext cx="78638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4.7.</a:t>
            </a:r>
            <a:r>
              <a:rPr sz="2000">
                <a:solidFill>
                  <a:srgbClr val="1E293B"/>
                </a:solidFill>
                <a:latin typeface="Calibri"/>
              </a:rPr>
              <a:t> Nhân viên phục vụ phải bưng khay bằng </a:t>
            </a:r>
            <a:r>
              <a:rPr sz="2000" b="1">
                <a:solidFill>
                  <a:srgbClr val="1E293B"/>
                </a:solidFill>
                <a:latin typeface="Calibri"/>
              </a:rPr>
              <a:t>ít nhất 3 ngón tay</a:t>
            </a:r>
            <a:r>
              <a:rPr sz="2000">
                <a:solidFill>
                  <a:srgbClr val="1E293B"/>
                </a:solidFill>
                <a:latin typeface="Calibri"/>
              </a:rPr>
              <a:t>. Hãy giải thích tại sao.</a:t>
            </a:r>
          </a:p>
        </p:txBody>
      </p:sp>
      <p:sp>
        <p:nvSpPr>
          <p:cNvPr id="8" name="s1_nen"/>
          <p:cNvSpPr/>
          <p:nvPr/>
        </p:nvSpPr>
        <p:spPr>
          <a:xfrm>
            <a:off x="548640" y="2228088"/>
            <a:ext cx="7863840" cy="14843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264664"/>
            <a:ext cx="7534656" cy="14112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Ba đầu ngón tay là ba điểm không thẳng hàng, xác định duy nhất mặt phẳng của khay nên khay giữ thăng bằng; hai ngón chỉ xác định một đường thẳng, khay có thể xoay quanh nó.</a:t>
            </a:r>
          </a:p>
        </p:txBody>
      </p:sp>
      <p:sp>
        <p:nvSpPr>
          <p:cNvPr id="10" name="s2_chu"/>
          <p:cNvSpPr txBox="1"/>
          <p:nvPr/>
        </p:nvSpPr>
        <p:spPr>
          <a:xfrm>
            <a:off x="548640" y="3785616"/>
            <a:ext cx="78638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4.8.</a:t>
            </a:r>
            <a:r>
              <a:rPr sz="2000">
                <a:solidFill>
                  <a:srgbClr val="1E293B"/>
                </a:solidFill>
                <a:latin typeface="Calibri"/>
              </a:rPr>
              <a:t> Bàn cắt giấy gồm phần bàn hình chữ nhật và dao cắt có một đầu cố định vào bàn. Tại sao các đường cắt luôn là đường thẳng?</a:t>
            </a:r>
          </a:p>
        </p:txBody>
      </p:sp>
      <p:sp>
        <p:nvSpPr>
          <p:cNvPr id="11" name="s3_nen"/>
          <p:cNvSpPr/>
          <p:nvPr/>
        </p:nvSpPr>
        <p:spPr>
          <a:xfrm>
            <a:off x="548640" y="4946904"/>
            <a:ext cx="786384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3_chu"/>
          <p:cNvSpPr txBox="1"/>
          <p:nvPr/>
        </p:nvSpPr>
        <p:spPr>
          <a:xfrm>
            <a:off x="713232" y="4983480"/>
            <a:ext cx="753465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Khi ấn dao, lưỡi dao di chuyển tạo thành một mặt phẳng; mặt phẳng này và mặt phẳng chứa tờ giấy cắt nhau theo </a:t>
            </a:r>
            <a:r>
              <a:rPr sz="2000" b="1">
                <a:solidFill>
                  <a:srgbClr val="1E293B"/>
                </a:solidFill>
                <a:latin typeface="Calibri"/>
              </a:rPr>
              <a:t>giao tuyến</a:t>
            </a:r>
            <a:r>
              <a:rPr sz="2000">
                <a:solidFill>
                  <a:srgbClr val="1E293B"/>
                </a:solidFill>
                <a:latin typeface="Calibri"/>
              </a:rPr>
              <a:t> – chính là đường cắt.</a:t>
            </a:r>
          </a:p>
        </p:txBody>
      </p:sp>
      <p:pic>
        <p:nvPicPr>
          <p:cNvPr id="13" name="Picture 12" descr="p_khay.png"/>
          <p:cNvPicPr>
            <a:picLocks noChangeAspect="1"/>
          </p:cNvPicPr>
          <p:nvPr/>
        </p:nvPicPr>
        <p:blipFill>
          <a:blip r:embed="rId3"/>
          <a:stretch>
            <a:fillRect/>
          </a:stretch>
        </p:blipFill>
        <p:spPr>
          <a:xfrm>
            <a:off x="8686800" y="1377474"/>
            <a:ext cx="3017520" cy="1999932"/>
          </a:xfrm>
          <a:prstGeom prst="rect">
            <a:avLst/>
          </a:prstGeom>
        </p:spPr>
      </p:pic>
      <p:pic>
        <p:nvPicPr>
          <p:cNvPr id="14" name="Picture 13" descr="p_bancat.png"/>
          <p:cNvPicPr>
            <a:picLocks noChangeAspect="1"/>
          </p:cNvPicPr>
          <p:nvPr/>
        </p:nvPicPr>
        <p:blipFill>
          <a:blip r:embed="rId4"/>
          <a:stretch>
            <a:fillRect/>
          </a:stretch>
        </p:blipFill>
        <p:spPr>
          <a:xfrm>
            <a:off x="8686800" y="3663173"/>
            <a:ext cx="3017520" cy="18633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45</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46</a:t>
            </a:r>
          </a:p>
        </p:txBody>
      </p:sp>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Có bao nhiêu mặt phẳng đi qua ba điểm không thẳng hàng?</a:t>
            </a:r>
          </a:p>
        </p:txBody>
      </p:sp>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0</a:t>
            </a:r>
          </a:p>
        </p:txBody>
      </p:sp>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1</a:t>
            </a:r>
          </a:p>
        </p:txBody>
      </p:sp>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2</a:t>
            </a:r>
          </a:p>
        </p:txBody>
      </p:sp>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Vô số</a:t>
            </a:r>
          </a:p>
        </p:txBody>
      </p:sp>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Tính chất thừa nhận: có một và chỉ một mặt phẳng.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Hình chóp tứ giác </a:t>
                </a:r>
                <a14:m>
                  <m:oMath xmlns:m="http://schemas.openxmlformats.org/officeDocument/2006/math">
                    <m:r>
                      <a:rPr lang="vi-VN" sz="2600" b="0">
                        <a:solidFill>
                          <a:srgbClr val="1E293B"/>
                        </a:solidFill>
                        <a:latin typeface="Cambria Math" panose="02040503050406030204" pitchFamily="18" charset="0"/>
                      </a:rPr>
                      <m:t>S.ABCD</m:t>
                    </m:r>
                  </m:oMath>
                </a14:m>
                <a:r>
                  <a:rPr sz="2600">
                    <a:solidFill>
                      <a:srgbClr val="1E293B"/>
                    </a:solidFill>
                    <a:latin typeface="Calibri"/>
                  </a:rPr>
                  <a:t> có bao nhiêu mặt?</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Hình chóp tứ giác </a:t>
                </a:r>
                <a:r>
                  <a:rPr lang="vi-VN"/>
                  <a:t>S.ABCD</a:t>
                </a:r>
                <a:r>
                  <a:rPr sz="2600">
                    <a:solidFill>
                      <a:srgbClr val="1E293B"/>
                    </a:solidFill>
                    <a:latin typeface="Calibri"/>
                  </a:rPr>
                  <a:t> có bao nhiêu mặt?</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4</a:t>
            </a:r>
          </a:p>
        </p:txBody>
      </p:sp>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5</a:t>
            </a:r>
          </a:p>
        </p:txBody>
      </p:sp>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6</a:t>
            </a:r>
          </a:p>
        </p:txBody>
      </p:sp>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8</a:t>
            </a:r>
          </a:p>
        </p:txBody>
      </p:sp>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4 mặt bên và 1 mặt đáy.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Hình chóp </a:t>
                </a:r>
                <a14:m>
                  <m:oMath xmlns:m="http://schemas.openxmlformats.org/officeDocument/2006/math">
                    <m:r>
                      <a:rPr lang="vi-VN" sz="2600" b="0">
                        <a:solidFill>
                          <a:srgbClr val="1E293B"/>
                        </a:solidFill>
                        <a:latin typeface="Cambria Math" panose="02040503050406030204" pitchFamily="18" charset="0"/>
                      </a:rPr>
                      <m:t>S.ABCD</m:t>
                    </m:r>
                  </m:oMath>
                </a14:m>
                <a:r>
                  <a:rPr sz="2600">
                    <a:solidFill>
                      <a:srgbClr val="1E293B"/>
                    </a:solidFill>
                    <a:latin typeface="Calibri"/>
                  </a:rPr>
                  <a:t> có </a:t>
                </a:r>
                <a14:m>
                  <m:oMath xmlns:m="http://schemas.openxmlformats.org/officeDocument/2006/math">
                    <m:r>
                      <a:rPr lang="vi-VN" sz="2600" b="0">
                        <a:solidFill>
                          <a:srgbClr val="1E293B"/>
                        </a:solidFill>
                        <a:latin typeface="Cambria Math" panose="02040503050406030204" pitchFamily="18" charset="0"/>
                      </a:rPr>
                      <m:t>AC</m:t>
                    </m:r>
                  </m:oMath>
                </a14:m>
                <a:r>
                  <a:rPr sz="2600">
                    <a:solidFill>
                      <a:srgbClr val="1E293B"/>
                    </a:solidFill>
                    <a:latin typeface="Calibri"/>
                  </a:rPr>
                  <a:t> cắt </a:t>
                </a:r>
                <a14:m>
                  <m:oMath xmlns:m="http://schemas.openxmlformats.org/officeDocument/2006/math">
                    <m:r>
                      <a:rPr lang="vi-VN" sz="2600" b="0">
                        <a:solidFill>
                          <a:srgbClr val="1E293B"/>
                        </a:solidFill>
                        <a:latin typeface="Cambria Math" panose="02040503050406030204" pitchFamily="18" charset="0"/>
                      </a:rPr>
                      <m:t>BD</m:t>
                    </m:r>
                  </m:oMath>
                </a14:m>
                <a:r>
                  <a:rPr sz="2600">
                    <a:solidFill>
                      <a:srgbClr val="1E293B"/>
                    </a:solidFill>
                    <a:latin typeface="Calibri"/>
                  </a:rPr>
                  <a:t> tại </a:t>
                </a:r>
                <a14:m>
                  <m:oMath xmlns:m="http://schemas.openxmlformats.org/officeDocument/2006/math">
                    <m:r>
                      <a:rPr lang="vi-VN" sz="2600" b="0">
                        <a:solidFill>
                          <a:srgbClr val="1E293B"/>
                        </a:solidFill>
                        <a:latin typeface="Cambria Math" panose="02040503050406030204" pitchFamily="18" charset="0"/>
                      </a:rPr>
                      <m:t>O</m:t>
                    </m:r>
                  </m:oMath>
                </a14:m>
                <a:r>
                  <a:rPr sz="2600">
                    <a:solidFill>
                      <a:srgbClr val="1E293B"/>
                    </a:solidFill>
                    <a:latin typeface="Calibri"/>
                  </a:rPr>
                  <a:t>. Giao tuyến của </a:t>
                </a:r>
                <a14:m>
                  <m:oMath xmlns:m="http://schemas.openxmlformats.org/officeDocument/2006/math">
                    <m:d>
                      <m:dPr>
                        <m:sepChr m:val=""/>
                      </m:dPr>
                      <m:e>
                        <m:r>
                          <a:rPr lang="vi-VN" sz="2600" b="0">
                            <a:solidFill>
                              <a:srgbClr val="1E293B"/>
                            </a:solidFill>
                            <a:latin typeface="Cambria Math" panose="02040503050406030204" pitchFamily="18" charset="0"/>
                          </a:rPr>
                          <m:t>S</m:t>
                        </m:r>
                        <m:r>
                          <a:rPr lang="vi-VN" sz="2600" b="0">
                            <a:solidFill>
                              <a:srgbClr val="1E293B"/>
                            </a:solidFill>
                            <a:latin typeface="Cambria Math" panose="02040503050406030204" pitchFamily="18" charset="0"/>
                          </a:rPr>
                          <m:t>A</m:t>
                        </m:r>
                        <m:r>
                          <a:rPr lang="vi-VN" sz="2600" b="0">
                            <a:solidFill>
                              <a:srgbClr val="1E293B"/>
                            </a:solidFill>
                            <a:latin typeface="Cambria Math" panose="02040503050406030204" pitchFamily="18" charset="0"/>
                          </a:rPr>
                          <m:t>C</m:t>
                        </m:r>
                      </m:e>
                    </m:d>
                  </m:oMath>
                </a14:m>
                <a:r>
                  <a:rPr sz="2600">
                    <a:solidFill>
                      <a:srgbClr val="1E293B"/>
                    </a:solidFill>
                    <a:latin typeface="Calibri"/>
                  </a:rPr>
                  <a:t> và </a:t>
                </a:r>
                <a14:m>
                  <m:oMath xmlns:m="http://schemas.openxmlformats.org/officeDocument/2006/math">
                    <m:d>
                      <m:dPr>
                        <m:sepChr m:val=""/>
                      </m:dPr>
                      <m:e>
                        <m:r>
                          <a:rPr lang="vi-VN" sz="2600" b="0">
                            <a:solidFill>
                              <a:srgbClr val="1E293B"/>
                            </a:solidFill>
                            <a:latin typeface="Cambria Math" panose="02040503050406030204" pitchFamily="18" charset="0"/>
                          </a:rPr>
                          <m:t>S</m:t>
                        </m:r>
                        <m:r>
                          <a:rPr lang="vi-VN" sz="2600" b="0">
                            <a:solidFill>
                              <a:srgbClr val="1E293B"/>
                            </a:solidFill>
                            <a:latin typeface="Cambria Math" panose="02040503050406030204" pitchFamily="18" charset="0"/>
                          </a:rPr>
                          <m:t>B</m:t>
                        </m:r>
                        <m:r>
                          <a:rPr lang="vi-VN" sz="2600" b="0">
                            <a:solidFill>
                              <a:srgbClr val="1E293B"/>
                            </a:solidFill>
                            <a:latin typeface="Cambria Math" panose="02040503050406030204" pitchFamily="18" charset="0"/>
                          </a:rPr>
                          <m:t>D</m:t>
                        </m:r>
                      </m:e>
                    </m:d>
                  </m:oMath>
                </a14:m>
                <a:r>
                  <a:rPr sz="2600">
                    <a:solidFill>
                      <a:srgbClr val="1E293B"/>
                    </a:solidFill>
                    <a:latin typeface="Calibri"/>
                  </a:rPr>
                  <a:t> là</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Hình chóp </a:t>
                </a:r>
                <a:r>
                  <a:rPr lang="vi-VN"/>
                  <a:t>S.ABCD</a:t>
                </a:r>
                <a:r>
                  <a:rPr sz="2600">
                    <a:solidFill>
                      <a:srgbClr val="1E293B"/>
                    </a:solidFill>
                    <a:latin typeface="Calibri"/>
                  </a:rPr>
                  <a:t> có </a:t>
                </a:r>
                <a:r>
                  <a:rPr lang="vi-VN"/>
                  <a:t>AC</a:t>
                </a:r>
                <a:r>
                  <a:rPr sz="2600">
                    <a:solidFill>
                      <a:srgbClr val="1E293B"/>
                    </a:solidFill>
                    <a:latin typeface="Calibri"/>
                  </a:rPr>
                  <a:t> cắt </a:t>
                </a:r>
                <a:r>
                  <a:rPr lang="vi-VN"/>
                  <a:t>BD</a:t>
                </a:r>
                <a:r>
                  <a:rPr sz="2600">
                    <a:solidFill>
                      <a:srgbClr val="1E293B"/>
                    </a:solidFill>
                    <a:latin typeface="Calibri"/>
                  </a:rPr>
                  <a:t> tại </a:t>
                </a:r>
                <a:r>
                  <a:rPr lang="vi-VN"/>
                  <a:t>O</a:t>
                </a:r>
                <a:r>
                  <a:rPr sz="2600">
                    <a:solidFill>
                      <a:srgbClr val="1E293B"/>
                    </a:solidFill>
                    <a:latin typeface="Calibri"/>
                  </a:rPr>
                  <a:t>. Giao tuyến của </a:t>
                </a:r>
                <a:r>
                  <a:rPr lang="vi-VN"/>
                  <a:t>(SAC)</a:t>
                </a:r>
                <a:r>
                  <a:rPr sz="2600">
                    <a:solidFill>
                      <a:srgbClr val="1E293B"/>
                    </a:solidFill>
                    <a:latin typeface="Calibri"/>
                  </a:rPr>
                  <a:t> và </a:t>
                </a:r>
                <a:r>
                  <a:rPr lang="vi-VN"/>
                  <a:t>(SBD)</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SA</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SA</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SO</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SO</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AC</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AC</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BD</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BD</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S</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là hai điểm chung của hai mặt phẳng.</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S</a:t>
                </a:r>
                <a:r>
                  <a:rPr sz="2200">
                    <a:solidFill>
                      <a:srgbClr val="1E293B"/>
                    </a:solidFill>
                    <a:latin typeface="Calibri"/>
                  </a:rPr>
                  <a:t> và </a:t>
                </a:r>
                <a:r>
                  <a:rPr lang="vi-VN"/>
                  <a:t>O</a:t>
                </a:r>
                <a:r>
                  <a:rPr sz="2200">
                    <a:solidFill>
                      <a:srgbClr val="1E293B"/>
                    </a:solidFill>
                    <a:latin typeface="Calibri"/>
                  </a:rPr>
                  <a:t> là hai điểm chung của hai mặt phẳng.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49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a:t>
                </a:r>
                <a14:m>
                  <m:oMath xmlns:m="http://schemas.openxmlformats.org/officeDocument/2006/math">
                    <m:r>
                      <a:rPr lang="vi-VN" sz="2600" b="0">
                        <a:solidFill>
                          <a:srgbClr val="1E293B"/>
                        </a:solidFill>
                        <a:latin typeface="Cambria Math" panose="02040503050406030204" pitchFamily="18" charset="0"/>
                      </a:rPr>
                      <m:t>ABCD</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m:t>
                    </m:r>
                  </m:oMath>
                </a14:m>
                <a:r>
                  <a:rPr sz="2600">
                    <a:solidFill>
                      <a:srgbClr val="1E293B"/>
                    </a:solidFill>
                    <a:latin typeface="Calibri"/>
                  </a:rPr>
                  <a:t> là trung điểm </a:t>
                </a:r>
                <a14:m>
                  <m:oMath xmlns:m="http://schemas.openxmlformats.org/officeDocument/2006/math">
                    <m:r>
                      <a:rPr lang="vi-VN" sz="2600" b="0">
                        <a:solidFill>
                          <a:srgbClr val="1E293B"/>
                        </a:solidFill>
                        <a:latin typeface="Cambria Math" panose="02040503050406030204" pitchFamily="18" charset="0"/>
                      </a:rPr>
                      <m:t>AB</m:t>
                    </m:r>
                  </m:oMath>
                </a14:m>
                <a:r>
                  <a:rPr sz="2600">
                    <a:solidFill>
                      <a:srgbClr val="1E293B"/>
                    </a:solidFill>
                    <a:latin typeface="Calibri"/>
                  </a:rPr>
                  <a:t>. Đường thẳng </a:t>
                </a:r>
                <a14:m>
                  <m:oMath xmlns:m="http://schemas.openxmlformats.org/officeDocument/2006/math">
                    <m:r>
                      <a:rPr lang="vi-VN" sz="2600" b="0">
                        <a:solidFill>
                          <a:srgbClr val="1E293B"/>
                        </a:solidFill>
                        <a:latin typeface="Cambria Math" panose="02040503050406030204" pitchFamily="18" charset="0"/>
                      </a:rPr>
                      <m:t>CM</m:t>
                    </m:r>
                  </m:oMath>
                </a14:m>
                <a:r>
                  <a:rPr sz="2600">
                    <a:solidFill>
                      <a:srgbClr val="1E293B"/>
                    </a:solidFill>
                    <a:latin typeface="Calibri"/>
                  </a:rPr>
                  <a:t> nằm trong mặt phẳng nào?</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a:t>
                </a:r>
                <a:r>
                  <a:rPr lang="vi-VN"/>
                  <a:t>ABCD</a:t>
                </a:r>
                <a:r>
                  <a:rPr sz="2600">
                    <a:solidFill>
                      <a:srgbClr val="1E293B"/>
                    </a:solidFill>
                    <a:latin typeface="Calibri"/>
                  </a:rPr>
                  <a:t>, </a:t>
                </a:r>
                <a:r>
                  <a:rPr lang="vi-VN"/>
                  <a:t>M</a:t>
                </a:r>
                <a:r>
                  <a:rPr sz="2600">
                    <a:solidFill>
                      <a:srgbClr val="1E293B"/>
                    </a:solidFill>
                    <a:latin typeface="Calibri"/>
                  </a:rPr>
                  <a:t> là trung điểm </a:t>
                </a:r>
                <a:r>
                  <a:rPr lang="vi-VN"/>
                  <a:t>AB</a:t>
                </a:r>
                <a:r>
                  <a:rPr sz="2600">
                    <a:solidFill>
                      <a:srgbClr val="1E293B"/>
                    </a:solidFill>
                    <a:latin typeface="Calibri"/>
                  </a:rPr>
                  <a:t>. Đường thẳng </a:t>
                </a:r>
                <a:r>
                  <a:rPr lang="vi-VN"/>
                  <a:t>CM</a:t>
                </a:r>
                <a:r>
                  <a:rPr sz="2600">
                    <a:solidFill>
                      <a:srgbClr val="1E293B"/>
                    </a:solidFill>
                    <a:latin typeface="Calibri"/>
                  </a:rPr>
                  <a:t> nằm trong mặt phẳng nào?</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A</m:t>
                        </m:r>
                        <m:r>
                          <a:rPr lang="vi-VN" sz="2400" b="0">
                            <a:solidFill>
                              <a:srgbClr val="1E293B"/>
                            </a:solidFill>
                            <a:latin typeface="Cambria Math" panose="02040503050406030204" pitchFamily="18" charset="0"/>
                          </a:rPr>
                          <m:t>B</m:t>
                        </m:r>
                        <m:r>
                          <a:rPr lang="vi-VN" sz="2400" b="0">
                            <a:solidFill>
                              <a:srgbClr val="1E293B"/>
                            </a:solidFill>
                            <a:latin typeface="Cambria Math" panose="02040503050406030204" pitchFamily="18" charset="0"/>
                          </a:rPr>
                          <m:t>C</m:t>
                        </m:r>
                      </m:e>
                    </m:d>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(ABC)</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A</m:t>
                        </m:r>
                        <m:r>
                          <a:rPr lang="vi-VN" sz="2400" b="0">
                            <a:solidFill>
                              <a:srgbClr val="1E293B"/>
                            </a:solidFill>
                            <a:latin typeface="Cambria Math" panose="02040503050406030204" pitchFamily="18" charset="0"/>
                          </a:rPr>
                          <m:t>B</m:t>
                        </m:r>
                        <m:r>
                          <a:rPr lang="vi-VN" sz="2400" b="0">
                            <a:solidFill>
                              <a:srgbClr val="1E293B"/>
                            </a:solidFill>
                            <a:latin typeface="Cambria Math" panose="02040503050406030204" pitchFamily="18" charset="0"/>
                          </a:rPr>
                          <m:t>D</m:t>
                        </m:r>
                      </m:e>
                    </m:d>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(ABD)</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B</m:t>
                        </m:r>
                        <m:r>
                          <a:rPr lang="vi-VN" sz="2400" b="0">
                            <a:solidFill>
                              <a:srgbClr val="1E293B"/>
                            </a:solidFill>
                            <a:latin typeface="Cambria Math" panose="02040503050406030204" pitchFamily="18" charset="0"/>
                          </a:rPr>
                          <m:t>C</m:t>
                        </m:r>
                        <m:r>
                          <a:rPr lang="vi-VN" sz="2400" b="0">
                            <a:solidFill>
                              <a:srgbClr val="1E293B"/>
                            </a:solidFill>
                            <a:latin typeface="Cambria Math" panose="02040503050406030204" pitchFamily="18" charset="0"/>
                          </a:rPr>
                          <m:t>D</m:t>
                        </m:r>
                      </m:e>
                    </m: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(BCD)</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A</m:t>
                        </m:r>
                        <m:r>
                          <a:rPr lang="vi-VN" sz="2400" b="0">
                            <a:solidFill>
                              <a:srgbClr val="1E293B"/>
                            </a:solidFill>
                            <a:latin typeface="Cambria Math" panose="02040503050406030204" pitchFamily="18" charset="0"/>
                          </a:rPr>
                          <m:t>C</m:t>
                        </m:r>
                        <m:r>
                          <a:rPr lang="vi-VN" sz="2400" b="0">
                            <a:solidFill>
                              <a:srgbClr val="1E293B"/>
                            </a:solidFill>
                            <a:latin typeface="Cambria Math" panose="02040503050406030204" pitchFamily="18" charset="0"/>
                          </a:rPr>
                          <m:t>D</m:t>
                        </m:r>
                      </m:e>
                    </m:d>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(ACD)</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C∈(ABC)</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M∈AB⊂(ABC)</m:t>
                    </m:r>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CM⊂(ABC)</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C\in (ABC)</a:t>
                </a:r>
                <a:r>
                  <a:rPr sz="2200">
                    <a:solidFill>
                      <a:srgbClr val="1E293B"/>
                    </a:solidFill>
                    <a:latin typeface="Calibri"/>
                  </a:rPr>
                  <a:t>, </a:t>
                </a:r>
                <a:r>
                  <a:rPr lang="vi-VN"/>
                  <a:t>M\in AB\subset (ABC)</a:t>
                </a:r>
                <a:r>
                  <a:rPr sz="2200">
                    <a:solidFill>
                      <a:srgbClr val="1E293B"/>
                    </a:solidFill>
                    <a:latin typeface="Calibri"/>
                  </a:rPr>
                  <a:t> nên </a:t>
                </a:r>
                <a:r>
                  <a:rPr lang="vi-VN"/>
                  <a:t>CM\subset (ABC)</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a:solidFill>
                      <a:srgbClr val="1E293B"/>
                    </a:solidFill>
                    <a:latin typeface="Calibri"/>
                  </a:rPr>
                  <a:t>Hình chóp </a:t>
                </a:r>
                <a14:m>
                  <m:oMath xmlns:m="http://schemas.openxmlformats.org/officeDocument/2006/math">
                    <m:r>
                      <a:rPr lang="vi-VN" sz="2400" b="0">
                        <a:solidFill>
                          <a:srgbClr val="1E293B"/>
                        </a:solidFill>
                        <a:latin typeface="Cambria Math" panose="02040503050406030204" pitchFamily="18" charset="0"/>
                      </a:rPr>
                      <m:t>S.ABCD</m:t>
                    </m:r>
                  </m:oMath>
                </a14:m>
                <a:r>
                  <a:rPr sz="2400">
                    <a:solidFill>
                      <a:srgbClr val="1E293B"/>
                    </a:solidFill>
                    <a:latin typeface="Calibri"/>
                  </a:rPr>
                  <a:t> đáy là hình bình hành tâm </a:t>
                </a:r>
                <a14:m>
                  <m:oMath xmlns:m="http://schemas.openxmlformats.org/officeDocument/2006/math">
                    <m:r>
                      <a:rPr lang="vi-VN" sz="2400" b="0">
                        <a:solidFill>
                          <a:srgbClr val="1E293B"/>
                        </a:solidFill>
                        <a:latin typeface="Cambria Math" panose="02040503050406030204" pitchFamily="18" charset="0"/>
                      </a:rPr>
                      <m:t>O</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m:t>
                    </m:r>
                  </m:oMath>
                </a14:m>
                <a:r>
                  <a:rPr sz="2400">
                    <a:solidFill>
                      <a:srgbClr val="1E293B"/>
                    </a:solidFill>
                    <a:latin typeface="Calibri"/>
                  </a:rPr>
                  <a:t> là trung điểm </a:t>
                </a:r>
                <a14:m>
                  <m:oMath xmlns:m="http://schemas.openxmlformats.org/officeDocument/2006/math">
                    <m:r>
                      <a:rPr lang="vi-VN" sz="2400" b="0">
                        <a:solidFill>
                          <a:srgbClr val="1E293B"/>
                        </a:solidFill>
                        <a:latin typeface="Cambria Math" panose="02040503050406030204" pitchFamily="18" charset="0"/>
                      </a:rPr>
                      <m:t>SC</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AM</m:t>
                    </m:r>
                  </m:oMath>
                </a14:m>
                <a:r>
                  <a:rPr sz="2400">
                    <a:solidFill>
                      <a:srgbClr val="1E293B"/>
                    </a:solidFill>
                    <a:latin typeface="Calibri"/>
                  </a:rPr>
                  <a:t> cắt </a:t>
                </a:r>
                <a14:m>
                  <m:oMath xmlns:m="http://schemas.openxmlformats.org/officeDocument/2006/math">
                    <m:r>
                      <a:rPr lang="vi-VN" sz="2400" b="0">
                        <a:solidFill>
                          <a:srgbClr val="1E293B"/>
                        </a:solidFill>
                        <a:latin typeface="Cambria Math" panose="02040503050406030204" pitchFamily="18" charset="0"/>
                      </a:rPr>
                      <m:t>SO</m:t>
                    </m:r>
                  </m:oMath>
                </a14:m>
                <a:r>
                  <a:rPr sz="2400">
                    <a:solidFill>
                      <a:srgbClr val="1E293B"/>
                    </a:solidFill>
                    <a:latin typeface="Calibri"/>
                  </a:rPr>
                  <a:t> tại </a:t>
                </a:r>
                <a14:m>
                  <m:oMath xmlns:m="http://schemas.openxmlformats.org/officeDocument/2006/math">
                    <m:r>
                      <a:rPr lang="vi-VN" sz="2400" b="0">
                        <a:solidFill>
                          <a:srgbClr val="1E293B"/>
                        </a:solidFill>
                        <a:latin typeface="Cambria Math" panose="02040503050406030204" pitchFamily="18" charset="0"/>
                      </a:rPr>
                      <m:t>I</m:t>
                    </m:r>
                  </m:oMath>
                </a14:m>
                <a:r>
                  <a:rPr sz="2400">
                    <a:solidFill>
                      <a:srgbClr val="1E293B"/>
                    </a:solidFill>
                    <a:latin typeface="Calibri"/>
                  </a:rPr>
                  <a:t>.</a:t>
                </a:r>
              </a:p>
            </p:txBody>
          </p:sp>
        </mc:Choice>
        <mc:Fallback>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a:solidFill>
                      <a:srgbClr val="1E293B"/>
                    </a:solidFill>
                    <a:latin typeface="Calibri"/>
                  </a:rPr>
                  <a:t>Hình chóp </a:t>
                </a:r>
                <a:r>
                  <a:rPr lang="vi-VN"/>
                  <a:t>S.ABCD</a:t>
                </a:r>
                <a:r>
                  <a:rPr sz="2400">
                    <a:solidFill>
                      <a:srgbClr val="1E293B"/>
                    </a:solidFill>
                    <a:latin typeface="Calibri"/>
                  </a:rPr>
                  <a:t> đáy là hình bình hành tâm </a:t>
                </a:r>
                <a:r>
                  <a:rPr lang="vi-VN"/>
                  <a:t>O</a:t>
                </a:r>
                <a:r>
                  <a:rPr sz="2400">
                    <a:solidFill>
                      <a:srgbClr val="1E293B"/>
                    </a:solidFill>
                    <a:latin typeface="Calibri"/>
                  </a:rPr>
                  <a:t>; </a:t>
                </a:r>
                <a:r>
                  <a:rPr lang="vi-VN"/>
                  <a:t>M</a:t>
                </a:r>
                <a:r>
                  <a:rPr sz="2400">
                    <a:solidFill>
                      <a:srgbClr val="1E293B"/>
                    </a:solidFill>
                    <a:latin typeface="Calibri"/>
                  </a:rPr>
                  <a:t> là trung điểm </a:t>
                </a:r>
                <a:r>
                  <a:rPr lang="vi-VN"/>
                  <a:t>SC</a:t>
                </a:r>
                <a:r>
                  <a:rPr sz="2400">
                    <a:solidFill>
                      <a:srgbClr val="1E293B"/>
                    </a:solidFill>
                    <a:latin typeface="Calibri"/>
                  </a:rPr>
                  <a:t>; </a:t>
                </a:r>
                <a:r>
                  <a:rPr lang="vi-VN"/>
                  <a:t>AM</a:t>
                </a:r>
                <a:r>
                  <a:rPr sz="2400">
                    <a:solidFill>
                      <a:srgbClr val="1E293B"/>
                    </a:solidFill>
                    <a:latin typeface="Calibri"/>
                  </a:rPr>
                  <a:t> cắt </a:t>
                </a:r>
                <a:r>
                  <a:rPr lang="vi-VN"/>
                  <a:t>SO</a:t>
                </a:r>
                <a:r>
                  <a:rPr sz="2400">
                    <a:solidFill>
                      <a:srgbClr val="1E293B"/>
                    </a:solidFill>
                    <a:latin typeface="Calibri"/>
                  </a:rPr>
                  <a:t> tại </a:t>
                </a:r>
                <a:r>
                  <a:rPr lang="vi-VN"/>
                  <a:t>I</a:t>
                </a:r>
                <a:r>
                  <a:rPr sz="24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368296"/>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14:m>
                  <m:oMath xmlns:m="http://schemas.openxmlformats.org/officeDocument/2006/math">
                    <m:r>
                      <a:rPr lang="vi-VN" sz="2300" b="0">
                        <a:solidFill>
                          <a:srgbClr val="1E293B"/>
                        </a:solidFill>
                        <a:latin typeface="Cambria Math" panose="02040503050406030204" pitchFamily="18" charset="0"/>
                      </a:rPr>
                      <m:t>O∈(SAC)</m:t>
                    </m:r>
                  </m:oMath>
                </a14:m>
                <a:r>
                  <a:rPr sz="2300">
                    <a:solidFill>
                      <a:srgbClr val="1E293B"/>
                    </a:solidFill>
                    <a:latin typeface="Calibri"/>
                  </a:rPr>
                  <a:t>.</a:t>
                </a:r>
              </a:p>
            </p:txBody>
          </p:sp>
        </mc:Choice>
        <mc:Fallback>
          <p:sp>
            <p:nvSpPr>
              <p:cNvPr id="8" name="TextBox 7"/>
              <p:cNvSpPr txBox="1"/>
              <p:nvPr/>
            </p:nvSpPr>
            <p:spPr>
              <a:xfrm>
                <a:off x="548640" y="2368296"/>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r>
                  <a:rPr lang="vi-VN"/>
                  <a:t>O\in (SAC)</a:t>
                </a:r>
                <a:r>
                  <a:rPr sz="2300">
                    <a:solidFill>
                      <a:srgbClr val="1E293B"/>
                    </a:solidFill>
                    <a:latin typeface="Calibri"/>
                  </a:rPr>
                  <a:t>.</a:t>
                </a:r>
              </a:p>
            </p:txBody>
          </p:sp>
        </mc:Fallback>
      </mc:AlternateContent>
      <p:sp>
        <p:nvSpPr>
          <p:cNvPr id="9" name="s1_nen"/>
          <p:cNvSpPr/>
          <p:nvPr/>
        </p:nvSpPr>
        <p:spPr>
          <a:xfrm>
            <a:off x="8412480" y="2340864"/>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377440"/>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r>
              <a:rPr sz="2100">
                <a:solidFill>
                  <a:srgbClr val="1E293B"/>
                </a:solidFill>
                <a:latin typeface="Calibri"/>
              </a:rPr>
              <a:t> (O ∈ AC)</a:t>
            </a:r>
          </a:p>
        </p:txBody>
      </p:sp>
      <mc:AlternateContent xmlns:mc="http://schemas.openxmlformats.org/markup-compatibility/2006">
        <mc:Choice xmlns:a14="http://schemas.microsoft.com/office/drawing/2010/main" Requires="a14">
          <p:sp>
            <p:nvSpPr>
              <p:cNvPr id="11" name="TextBox 10"/>
              <p:cNvSpPr txBox="1"/>
              <p:nvPr/>
            </p:nvSpPr>
            <p:spPr>
              <a:xfrm>
                <a:off x="548640" y="3330702"/>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A</m:t>
                        </m:r>
                        <m:r>
                          <a:rPr lang="vi-VN" sz="2300" b="0">
                            <a:solidFill>
                              <a:srgbClr val="1E293B"/>
                            </a:solidFill>
                            <a:latin typeface="Cambria Math" panose="02040503050406030204" pitchFamily="18" charset="0"/>
                          </a:rPr>
                          <m:t>B</m:t>
                        </m:r>
                      </m:e>
                    </m:d>
                  </m:oMath>
                </a14:m>
                <a:r>
                  <a:rPr sz="2300">
                    <a:solidFill>
                      <a:srgbClr val="1E293B"/>
                    </a:solidFill>
                    <a:latin typeface="Calibri"/>
                  </a:rPr>
                  <a:t> và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C</m:t>
                        </m:r>
                        <m:r>
                          <a:rPr lang="vi-VN" sz="2300" b="0">
                            <a:solidFill>
                              <a:srgbClr val="1E293B"/>
                            </a:solidFill>
                            <a:latin typeface="Cambria Math" panose="02040503050406030204" pitchFamily="18" charset="0"/>
                          </a:rPr>
                          <m:t>D</m:t>
                        </m:r>
                      </m:e>
                    </m:d>
                  </m:oMath>
                </a14:m>
                <a:r>
                  <a:rPr sz="2300">
                    <a:solidFill>
                      <a:srgbClr val="1E293B"/>
                    </a:solidFill>
                    <a:latin typeface="Calibri"/>
                  </a:rPr>
                  <a:t> chỉ có một điểm chung là </a:t>
                </a:r>
                <a14:m>
                  <m:oMath xmlns:m="http://schemas.openxmlformats.org/officeDocument/2006/math">
                    <m:r>
                      <a:rPr lang="vi-VN" sz="2300" b="0">
                        <a:solidFill>
                          <a:srgbClr val="1E293B"/>
                        </a:solidFill>
                        <a:latin typeface="Cambria Math" panose="02040503050406030204" pitchFamily="18" charset="0"/>
                      </a:rPr>
                      <m:t>S</m:t>
                    </m:r>
                  </m:oMath>
                </a14:m>
                <a:r>
                  <a:rPr sz="2300">
                    <a:solidFill>
                      <a:srgbClr val="1E293B"/>
                    </a:solidFill>
                    <a:latin typeface="Calibri"/>
                  </a:rPr>
                  <a:t>.</a:t>
                </a:r>
              </a:p>
            </p:txBody>
          </p:sp>
        </mc:Choice>
        <mc:Fallback>
          <p:sp>
            <p:nvSpPr>
              <p:cNvPr id="11" name="TextBox 10"/>
              <p:cNvSpPr txBox="1"/>
              <p:nvPr/>
            </p:nvSpPr>
            <p:spPr>
              <a:xfrm>
                <a:off x="548640" y="3330702"/>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r>
                  <a:rPr lang="vi-VN"/>
                  <a:t>(SAB)</a:t>
                </a:r>
                <a:r>
                  <a:rPr sz="2300">
                    <a:solidFill>
                      <a:srgbClr val="1E293B"/>
                    </a:solidFill>
                    <a:latin typeface="Calibri"/>
                  </a:rPr>
                  <a:t> và </a:t>
                </a:r>
                <a:r>
                  <a:rPr lang="vi-VN"/>
                  <a:t>(SCD)</a:t>
                </a:r>
                <a:r>
                  <a:rPr sz="2300">
                    <a:solidFill>
                      <a:srgbClr val="1E293B"/>
                    </a:solidFill>
                    <a:latin typeface="Calibri"/>
                  </a:rPr>
                  <a:t> chỉ có một điểm chung là </a:t>
                </a:r>
                <a:r>
                  <a:rPr lang="vi-VN"/>
                  <a:t>S</a:t>
                </a:r>
                <a:r>
                  <a:rPr sz="2300">
                    <a:solidFill>
                      <a:srgbClr val="1E293B"/>
                    </a:solidFill>
                    <a:latin typeface="Calibri"/>
                  </a:rPr>
                  <a:t>.</a:t>
                </a:r>
              </a:p>
            </p:txBody>
          </p:sp>
        </mc:Fallback>
      </mc:AlternateContent>
      <p:sp>
        <p:nvSpPr>
          <p:cNvPr id="12" name="s2_nen"/>
          <p:cNvSpPr/>
          <p:nvPr/>
        </p:nvSpPr>
        <p:spPr>
          <a:xfrm>
            <a:off x="8412480" y="3303270"/>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3339846"/>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(chung một đường thẳng)</a:t>
            </a:r>
          </a:p>
        </p:txBody>
      </p:sp>
      <mc:AlternateContent xmlns:mc="http://schemas.openxmlformats.org/markup-compatibility/2006">
        <mc:Choice xmlns:a14="http://schemas.microsoft.com/office/drawing/2010/main" Requires="a14">
          <p:sp>
            <p:nvSpPr>
              <p:cNvPr id="14" name="TextBox 13"/>
              <p:cNvSpPr txBox="1"/>
              <p:nvPr/>
            </p:nvSpPr>
            <p:spPr>
              <a:xfrm>
                <a:off x="548640" y="4293108"/>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14:m>
                  <m:oMath xmlns:m="http://schemas.openxmlformats.org/officeDocument/2006/math">
                    <m:r>
                      <a:rPr lang="vi-VN" sz="2300" b="0">
                        <a:solidFill>
                          <a:srgbClr val="1E293B"/>
                        </a:solidFill>
                        <a:latin typeface="Cambria Math" panose="02040503050406030204" pitchFamily="18" charset="0"/>
                      </a:rPr>
                      <m:t>I∈(SBD)</m:t>
                    </m:r>
                  </m:oMath>
                </a14:m>
                <a:r>
                  <a:rPr sz="2300">
                    <a:solidFill>
                      <a:srgbClr val="1E293B"/>
                    </a:solidFill>
                    <a:latin typeface="Calibri"/>
                  </a:rPr>
                  <a:t>.</a:t>
                </a:r>
              </a:p>
            </p:txBody>
          </p:sp>
        </mc:Choice>
        <mc:Fallback>
          <p:sp>
            <p:nvSpPr>
              <p:cNvPr id="14" name="TextBox 13"/>
              <p:cNvSpPr txBox="1"/>
              <p:nvPr/>
            </p:nvSpPr>
            <p:spPr>
              <a:xfrm>
                <a:off x="548640" y="4293108"/>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r>
                  <a:rPr lang="vi-VN"/>
                  <a:t>I\in (SBD)</a:t>
                </a:r>
                <a:r>
                  <a:rPr sz="2300">
                    <a:solidFill>
                      <a:srgbClr val="1E293B"/>
                    </a:solidFill>
                    <a:latin typeface="Calibri"/>
                  </a:rPr>
                  <a:t>.</a:t>
                </a:r>
              </a:p>
            </p:txBody>
          </p:sp>
        </mc:Fallback>
      </mc:AlternateContent>
      <p:sp>
        <p:nvSpPr>
          <p:cNvPr id="15" name="s3_nen"/>
          <p:cNvSpPr/>
          <p:nvPr/>
        </p:nvSpPr>
        <p:spPr>
          <a:xfrm>
            <a:off x="8412480" y="4265676"/>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4302252"/>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r>
              <a:rPr sz="2100">
                <a:solidFill>
                  <a:srgbClr val="1E293B"/>
                </a:solidFill>
                <a:latin typeface="Calibri"/>
              </a:rPr>
              <a:t> (I ∈ SO)</a:t>
            </a:r>
          </a:p>
        </p:txBody>
      </p:sp>
      <mc:AlternateContent xmlns:mc="http://schemas.openxmlformats.org/markup-compatibility/2006">
        <mc:Choice xmlns:a14="http://schemas.microsoft.com/office/drawing/2010/main" Requires="a14">
          <p:sp>
            <p:nvSpPr>
              <p:cNvPr id="17" name="TextBox 16"/>
              <p:cNvSpPr txBox="1"/>
              <p:nvPr/>
            </p:nvSpPr>
            <p:spPr>
              <a:xfrm>
                <a:off x="548640" y="5255514"/>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d) Giao điểm của </a:t>
                </a:r>
                <a14:m>
                  <m:oMath xmlns:m="http://schemas.openxmlformats.org/officeDocument/2006/math">
                    <m:r>
                      <a:rPr lang="vi-VN" sz="2300" b="0">
                        <a:solidFill>
                          <a:srgbClr val="1E293B"/>
                        </a:solidFill>
                        <a:latin typeface="Cambria Math" panose="02040503050406030204" pitchFamily="18" charset="0"/>
                      </a:rPr>
                      <m:t>AM</m:t>
                    </m:r>
                  </m:oMath>
                </a14:m>
                <a:r>
                  <a:rPr sz="2300">
                    <a:solidFill>
                      <a:srgbClr val="1E293B"/>
                    </a:solidFill>
                    <a:latin typeface="Calibri"/>
                  </a:rPr>
                  <a:t> và </a:t>
                </a:r>
                <a14:m>
                  <m:oMath xmlns:m="http://schemas.openxmlformats.org/officeDocument/2006/math">
                    <m:d>
                      <m:dPr>
                        <m:sepChr m:val=""/>
                      </m:dPr>
                      <m:e>
                        <m:r>
                          <a:rPr lang="vi-VN" sz="2300" b="0">
                            <a:solidFill>
                              <a:srgbClr val="1E293B"/>
                            </a:solidFill>
                            <a:latin typeface="Cambria Math" panose="02040503050406030204" pitchFamily="18" charset="0"/>
                          </a:rPr>
                          <m:t>S</m:t>
                        </m:r>
                        <m:r>
                          <a:rPr lang="vi-VN" sz="2300" b="0">
                            <a:solidFill>
                              <a:srgbClr val="1E293B"/>
                            </a:solidFill>
                            <a:latin typeface="Cambria Math" panose="02040503050406030204" pitchFamily="18" charset="0"/>
                          </a:rPr>
                          <m:t>B</m:t>
                        </m:r>
                        <m:r>
                          <a:rPr lang="vi-VN" sz="2300" b="0">
                            <a:solidFill>
                              <a:srgbClr val="1E293B"/>
                            </a:solidFill>
                            <a:latin typeface="Cambria Math" panose="02040503050406030204" pitchFamily="18" charset="0"/>
                          </a:rPr>
                          <m:t>D</m:t>
                        </m:r>
                      </m:e>
                    </m:d>
                  </m:oMath>
                </a14:m>
                <a:r>
                  <a:rPr sz="2300">
                    <a:solidFill>
                      <a:srgbClr val="1E293B"/>
                    </a:solidFill>
                    <a:latin typeface="Calibri"/>
                  </a:rPr>
                  <a:t> là </a:t>
                </a:r>
                <a14:m>
                  <m:oMath xmlns:m="http://schemas.openxmlformats.org/officeDocument/2006/math">
                    <m:r>
                      <a:rPr lang="vi-VN" sz="2300" b="0">
                        <a:solidFill>
                          <a:srgbClr val="1E293B"/>
                        </a:solidFill>
                        <a:latin typeface="Cambria Math" panose="02040503050406030204" pitchFamily="18" charset="0"/>
                      </a:rPr>
                      <m:t>O</m:t>
                    </m:r>
                  </m:oMath>
                </a14:m>
                <a:r>
                  <a:rPr sz="2300">
                    <a:solidFill>
                      <a:srgbClr val="1E293B"/>
                    </a:solidFill>
                    <a:latin typeface="Calibri"/>
                  </a:rPr>
                  <a:t>.</a:t>
                </a:r>
              </a:p>
            </p:txBody>
          </p:sp>
        </mc:Choice>
        <mc:Fallback>
          <p:sp>
            <p:nvSpPr>
              <p:cNvPr id="17" name="TextBox 16"/>
              <p:cNvSpPr txBox="1"/>
              <p:nvPr/>
            </p:nvSpPr>
            <p:spPr>
              <a:xfrm>
                <a:off x="548640" y="5255514"/>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d) Giao điểm của </a:t>
                </a:r>
                <a:r>
                  <a:rPr lang="vi-VN"/>
                  <a:t>AM</a:t>
                </a:r>
                <a:r>
                  <a:rPr sz="2300">
                    <a:solidFill>
                      <a:srgbClr val="1E293B"/>
                    </a:solidFill>
                    <a:latin typeface="Calibri"/>
                  </a:rPr>
                  <a:t> và </a:t>
                </a:r>
                <a:r>
                  <a:rPr lang="vi-VN"/>
                  <a:t>(SBD)</a:t>
                </a:r>
                <a:r>
                  <a:rPr sz="2300">
                    <a:solidFill>
                      <a:srgbClr val="1E293B"/>
                    </a:solidFill>
                    <a:latin typeface="Calibri"/>
                  </a:rPr>
                  <a:t> là </a:t>
                </a:r>
                <a:r>
                  <a:rPr lang="vi-VN"/>
                  <a:t>O</a:t>
                </a:r>
                <a:r>
                  <a:rPr sz="2300">
                    <a:solidFill>
                      <a:srgbClr val="1E293B"/>
                    </a:solidFill>
                    <a:latin typeface="Calibri"/>
                  </a:rPr>
                  <a:t>.</a:t>
                </a:r>
              </a:p>
            </p:txBody>
          </p:sp>
        </mc:Fallback>
      </mc:AlternateContent>
      <p:sp>
        <p:nvSpPr>
          <p:cNvPr id="18" name="s4_nen"/>
          <p:cNvSpPr/>
          <p:nvPr/>
        </p:nvSpPr>
        <p:spPr>
          <a:xfrm>
            <a:off x="8412480" y="5228081"/>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5264657"/>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(là 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6 (VẬN DỤNG)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51</a:t>
            </a:r>
          </a:p>
        </p:txBody>
      </p:sp>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5 điểm trong không gian, không có 4 điểm nào đồng phẳng. Có bao nhiêu mặt phẳng đi qua ba trong số 5 điểm đó?</a:t>
            </a:r>
          </a:p>
        </p:txBody>
      </p:sp>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a:t>
                </a:r>
                <a:r>
                  <a:rPr sz="2400">
                    <a:solidFill>
                      <a:srgbClr val="1E293B"/>
                    </a:solidFill>
                    <a:latin typeface="Calibri"/>
                  </a:rPr>
                  <a:t> Mỗi bộ 3 điểm (không thẳng hàng) xác định một mặt phẳng, các mặt phẳng khác nhau: </a:t>
                </a:r>
                <a14:m>
                  <m:oMath xmlns:m="http://schemas.openxmlformats.org/officeDocument/2006/math">
                    <m:sSubSup>
                      <m:e>
                        <m:r>
                          <a:rPr lang="vi-VN" sz="2400" b="0">
                            <a:solidFill>
                              <a:srgbClr val="1E293B"/>
                            </a:solidFill>
                            <a:latin typeface="Cambria Math" panose="02040503050406030204" pitchFamily="18" charset="0"/>
                          </a:rPr>
                          <m:t>C</m:t>
                        </m:r>
                      </m:e>
                      <m:sub>
                        <m:r>
                          <a:rPr lang="vi-VN" sz="2400" b="0">
                            <a:solidFill>
                              <a:srgbClr val="1E293B"/>
                            </a:solidFill>
                            <a:latin typeface="Cambria Math" panose="02040503050406030204" pitchFamily="18" charset="0"/>
                          </a:rPr>
                          <m:t>5</m:t>
                        </m:r>
                      </m:sub>
                      <m:sup>
                        <m:r>
                          <a:rPr lang="vi-VN" sz="2400" b="0">
                            <a:solidFill>
                              <a:srgbClr val="1E293B"/>
                            </a:solidFill>
                            <a:latin typeface="Cambria Math" panose="02040503050406030204" pitchFamily="18" charset="0"/>
                          </a:rPr>
                          <m:t>3</m:t>
                        </m:r>
                      </m:sup>
                    </m:sSubSup>
                    <m:r>
                      <a:rPr lang="vi-VN" sz="2400" b="0">
                        <a:solidFill>
                          <a:srgbClr val="1E293B"/>
                        </a:solidFill>
                        <a:latin typeface="Cambria Math" panose="02040503050406030204" pitchFamily="18" charset="0"/>
                      </a:rPr>
                      <m:t>=10</m:t>
                    </m:r>
                  </m:oMath>
                </a14:m>
                <a:r>
                  <a:rPr sz="2400">
                    <a:solidFill>
                      <a:srgbClr val="1E293B"/>
                    </a:solidFill>
                    <a:latin typeface="Calibri"/>
                  </a:rPr>
                  <a:t>.</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a:t>
                </a:r>
                <a:r>
                  <a:rPr sz="2400">
                    <a:solidFill>
                      <a:srgbClr val="1E293B"/>
                    </a:solidFill>
                    <a:latin typeface="Calibri"/>
                  </a:rPr>
                  <a:t> Mỗi bộ 3 điểm (không thẳng hàng) xác định một mặt phẳng, các mặt phẳng khác nhau: </a:t>
                </a:r>
                <a:r>
                  <a:rPr lang="vi-VN"/>
                  <a:t>C_5^3=10</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7 (VẬN DỤNG)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52</a:t>
            </a:r>
          </a:p>
        </p:txBody>
      </p:sp>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hình chóp có tất cả 16 cạnh. Đáy của hình chóp là đa giác có bao nhiêu cạnh?</a:t>
            </a:r>
          </a:p>
        </p:txBody>
      </p:sp>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8.</a:t>
                </a:r>
                <a:r>
                  <a:rPr sz="2400">
                    <a:solidFill>
                      <a:srgbClr val="1E293B"/>
                    </a:solidFill>
                    <a:latin typeface="Calibri"/>
                  </a:rPr>
                  <a:t> Hình chóp có đáy </a:t>
                </a:r>
                <a14:m>
                  <m:oMath xmlns:m="http://schemas.openxmlformats.org/officeDocument/2006/math">
                    <m:r>
                      <a:rPr lang="vi-VN" sz="2400" b="0">
                        <a:solidFill>
                          <a:srgbClr val="1E293B"/>
                        </a:solidFill>
                        <a:latin typeface="Cambria Math" panose="02040503050406030204" pitchFamily="18" charset="0"/>
                      </a:rPr>
                      <m:t>n</m:t>
                    </m:r>
                  </m:oMath>
                </a14:m>
                <a:r>
                  <a:rPr sz="2400">
                    <a:solidFill>
                      <a:srgbClr val="1E293B"/>
                    </a:solidFill>
                    <a:latin typeface="Calibri"/>
                  </a:rPr>
                  <a:t> cạnh thì có </a:t>
                </a:r>
                <a14:m>
                  <m:oMath xmlns:m="http://schemas.openxmlformats.org/officeDocument/2006/math">
                    <m:r>
                      <a:rPr lang="vi-VN" sz="2400" b="0">
                        <a:solidFill>
                          <a:srgbClr val="1E293B"/>
                        </a:solidFill>
                        <a:latin typeface="Cambria Math" panose="02040503050406030204" pitchFamily="18" charset="0"/>
                      </a:rPr>
                      <m:t>n</m:t>
                    </m:r>
                  </m:oMath>
                </a14:m>
                <a:r>
                  <a:rPr sz="2400">
                    <a:solidFill>
                      <a:srgbClr val="1E293B"/>
                    </a:solidFill>
                    <a:latin typeface="Calibri"/>
                  </a:rPr>
                  <a:t> cạnh bên và </a:t>
                </a:r>
                <a14:m>
                  <m:oMath xmlns:m="http://schemas.openxmlformats.org/officeDocument/2006/math">
                    <m:r>
                      <a:rPr lang="vi-VN" sz="2400" b="0">
                        <a:solidFill>
                          <a:srgbClr val="1E293B"/>
                        </a:solidFill>
                        <a:latin typeface="Cambria Math" panose="02040503050406030204" pitchFamily="18" charset="0"/>
                      </a:rPr>
                      <m:t>n</m:t>
                    </m:r>
                  </m:oMath>
                </a14:m>
                <a:r>
                  <a:rPr sz="2400">
                    <a:solidFill>
                      <a:srgbClr val="1E293B"/>
                    </a:solidFill>
                    <a:latin typeface="Calibri"/>
                  </a:rPr>
                  <a:t> cạnh đáy: </a:t>
                </a:r>
                <a14:m>
                  <m:oMath xmlns:m="http://schemas.openxmlformats.org/officeDocument/2006/math">
                    <m:r>
                      <a:rPr lang="vi-VN" sz="2400" b="0">
                        <a:solidFill>
                          <a:srgbClr val="1E293B"/>
                        </a:solidFill>
                        <a:latin typeface="Cambria Math" panose="02040503050406030204" pitchFamily="18" charset="0"/>
                      </a:rPr>
                      <m:t>2n=16</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n=8</m:t>
                    </m:r>
                  </m:oMath>
                </a14:m>
                <a:r>
                  <a:rPr sz="2400">
                    <a:solidFill>
                      <a:srgbClr val="1E293B"/>
                    </a:solidFill>
                    <a:latin typeface="Calibri"/>
                  </a:rPr>
                  <a:t>.</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8.</a:t>
                </a:r>
                <a:r>
                  <a:rPr sz="2400">
                    <a:solidFill>
                      <a:srgbClr val="1E293B"/>
                    </a:solidFill>
                    <a:latin typeface="Calibri"/>
                  </a:rPr>
                  <a:t> Hình chóp có đáy </a:t>
                </a:r>
                <a:r>
                  <a:rPr lang="vi-VN"/>
                  <a:t>n</a:t>
                </a:r>
                <a:r>
                  <a:rPr sz="2400">
                    <a:solidFill>
                      <a:srgbClr val="1E293B"/>
                    </a:solidFill>
                    <a:latin typeface="Calibri"/>
                  </a:rPr>
                  <a:t> cạnh thì có </a:t>
                </a:r>
                <a:r>
                  <a:rPr lang="vi-VN"/>
                  <a:t>n</a:t>
                </a:r>
                <a:r>
                  <a:rPr sz="2400">
                    <a:solidFill>
                      <a:srgbClr val="1E293B"/>
                    </a:solidFill>
                    <a:latin typeface="Calibri"/>
                  </a:rPr>
                  <a:t> cạnh bên và </a:t>
                </a:r>
                <a:r>
                  <a:rPr lang="vi-VN"/>
                  <a:t>n</a:t>
                </a:r>
                <a:r>
                  <a:rPr sz="2400">
                    <a:solidFill>
                      <a:srgbClr val="1E293B"/>
                    </a:solidFill>
                    <a:latin typeface="Calibri"/>
                  </a:rPr>
                  <a:t> cạnh đáy: </a:t>
                </a:r>
                <a:r>
                  <a:rPr lang="vi-VN"/>
                  <a:t>2n=16</a:t>
                </a:r>
                <a:r>
                  <a:rPr sz="2400">
                    <a:solidFill>
                      <a:srgbClr val="1E293B"/>
                    </a:solidFill>
                    <a:latin typeface="Calibri"/>
                  </a:rPr>
                  <a:t> ⇒ </a:t>
                </a:r>
                <a:r>
                  <a:rPr lang="vi-VN"/>
                  <a:t>n=8</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8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53</a:t>
            </a:r>
          </a:p>
        </p:txBody>
      </p:sp>
      <p:sp>
        <p:nvSpPr>
          <p:cNvPr id="7" name="TextBox 6"/>
          <p:cNvSpPr txBox="1"/>
          <p:nvPr/>
        </p:nvSpPr>
        <p:spPr>
          <a:xfrm>
            <a:off x="548640" y="1463040"/>
            <a:ext cx="11064240" cy="136245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chiếc ghế ba chân và một chiếc ghế bốn chân (chân bị mòn lệch nhau) cùng đặt trên nền nhà phẳng. Có bao nhiêu chiếc ghế chắc chắn không bị cập kênh?</a:t>
            </a:r>
          </a:p>
        </p:txBody>
      </p:sp>
      <p:sp>
        <p:nvSpPr>
          <p:cNvPr id="8" name="s1_nen"/>
          <p:cNvSpPr/>
          <p:nvPr/>
        </p:nvSpPr>
        <p:spPr>
          <a:xfrm>
            <a:off x="548640" y="3931920"/>
            <a:ext cx="11064240" cy="1362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3968496"/>
            <a:ext cx="10735056" cy="128930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a:t>
            </a:r>
            <a:r>
              <a:rPr sz="2400">
                <a:solidFill>
                  <a:srgbClr val="1E293B"/>
                </a:solidFill>
                <a:latin typeface="Calibri"/>
              </a:rPr>
              <a:t> Ghế ba chân: ba đầu chân không thẳng hàng luôn xác định một mặt phẳng nên luôn chạm sàn. Ghế bốn chân lệch: bốn đầu chân có thể không đồng phẳng.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54</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https://trangtu66.github.io/Taode_thi_online/cc_bai10_t11.html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4.1 – 4.8.</a:t>
            </a:r>
          </a:p>
          <a:p>
            <a:pPr algn="l" marL="365760" indent="-365760">
              <a:spcAft>
                <a:spcPts val="800"/>
              </a:spcAft>
              <a:buClr>
                <a:srgbClr val="1E40AF"/>
              </a:buClr>
              <a:buFont typeface="Arial"/>
              <a:buChar char="•"/>
            </a:pPr>
            <a:r>
              <a:rPr sz="2200">
                <a:solidFill>
                  <a:srgbClr val="1E293B"/>
                </a:solidFill>
                <a:latin typeface="Calibri"/>
              </a:rPr>
              <a:t>Nhóm “Hình học quanh em”: chụp 5 ảnh đồ vật, công trình ở địa phương (giàn tiêu, nhà kho, mái nhà…) thể hiện mặt phẳng, giao tuyến, hình chóp; vẽ hình biểu diễn; nộp 3 – 5 slide kèm Nhật ký sử dụng AI.</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11. Hai đường thẳng song song</a:t>
            </a:r>
            <a:r>
              <a:rPr sz="2200">
                <a:solidFill>
                  <a:srgbClr val="1E293B"/>
                </a:solidFill>
                <a:latin typeface="Calibri"/>
              </a:rPr>
              <a:t> (SGK tr.78).</a:t>
            </a:r>
          </a:p>
        </p:txBody>
      </p:sp>
      <p:pic>
        <p:nvPicPr>
          <p:cNvPr id="8" name="Picture 7" descr="QR_CungCo_Bai10_Toan11.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55</a:t>
            </a:r>
          </a:p>
        </p:txBody>
      </p:sp>
      <p:pic>
        <p:nvPicPr>
          <p:cNvPr id="7" name="Picture 6" descr="SoDoTuDuy_TOAN11_Bai10_DuongThangMatPhang_T26-28.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Nghĩ “ba điểm bất kì” xác định một mặt phẳng – quên điều kiện không thẳng hàng.</a:t>
                </a:r>
              </a:p>
              <a:p>
                <a:pPr algn="l" marL="365760" indent="-365760">
                  <a:spcAft>
                    <a:spcPts val="800"/>
                  </a:spcAft>
                  <a:buClr>
                    <a:srgbClr val="1E40AF"/>
                  </a:buClr>
                  <a:buFont typeface="Arial"/>
                  <a:buChar char="•"/>
                </a:pPr>
                <a:r>
                  <a:rPr sz="2100">
                    <a:solidFill>
                      <a:srgbClr val="1E293B"/>
                    </a:solidFill>
                    <a:latin typeface="Calibri"/>
                  </a:rPr>
                  <a:t>Lấy “giao điểm” của hai đường thẳng không cùng nằm trong một mặt phẳng (lỗi ở Trạm AI số 1).</a:t>
                </a:r>
              </a:p>
              <a:p>
                <a:pPr algn="l" marL="365760" indent="-365760">
                  <a:spcAft>
                    <a:spcPts val="800"/>
                  </a:spcAft>
                  <a:buClr>
                    <a:srgbClr val="1E40AF"/>
                  </a:buClr>
                  <a:buFont typeface="Arial"/>
                  <a:buChar char="•"/>
                </a:pPr>
                <a:r>
                  <a:rPr sz="2100">
                    <a:solidFill>
                      <a:srgbClr val="1E293B"/>
                    </a:solidFill>
                    <a:latin typeface="Calibri"/>
                  </a:rPr>
                  <a:t>Chỉ tìm được một điểm chung đã kết luận giao tuyến; không nhận ra </a:t>
                </a:r>
                <a14:m>
                  <m:oMath xmlns:m="http://schemas.openxmlformats.org/officeDocument/2006/math">
                    <m:d>
                      <m:dPr>
                        <m:sepChr m:val=""/>
                      </m:dPr>
                      <m:e>
                        <m:r>
                          <a:rPr lang="vi-VN" sz="2100" b="0">
                            <a:solidFill>
                              <a:srgbClr val="1E293B"/>
                            </a:solidFill>
                            <a:latin typeface="Cambria Math" panose="02040503050406030204" pitchFamily="18" charset="0"/>
                          </a:rPr>
                          <m:t>S</m:t>
                        </m:r>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M</m:t>
                        </m:r>
                      </m:e>
                    </m:d>
                  </m:oMath>
                </a14:m>
                <a:r>
                  <a:rPr sz="2100">
                    <a:solidFill>
                      <a:srgbClr val="1E293B"/>
                    </a:solidFill>
                    <a:latin typeface="Calibri"/>
                  </a:rPr>
                  <a:t> trùng </a:t>
                </a:r>
                <a14:m>
                  <m:oMath xmlns:m="http://schemas.openxmlformats.org/officeDocument/2006/math">
                    <m:d>
                      <m:dPr>
                        <m:sepChr m:val=""/>
                      </m:dPr>
                      <m:e>
                        <m:r>
                          <a:rPr lang="vi-VN" sz="2100" b="0">
                            <a:solidFill>
                              <a:srgbClr val="1E293B"/>
                            </a:solidFill>
                            <a:latin typeface="Cambria Math" panose="02040503050406030204" pitchFamily="18" charset="0"/>
                          </a:rPr>
                          <m:t>S</m:t>
                        </m:r>
                        <m:r>
                          <a:rPr lang="vi-VN" sz="2100" b="0">
                            <a:solidFill>
                              <a:srgbClr val="1E293B"/>
                            </a:solidFill>
                            <a:latin typeface="Cambria Math" panose="02040503050406030204" pitchFamily="18" charset="0"/>
                          </a:rPr>
                          <m:t>A</m:t>
                        </m:r>
                        <m:r>
                          <a:rPr lang="vi-VN" sz="2100" b="0">
                            <a:solidFill>
                              <a:srgbClr val="1E293B"/>
                            </a:solidFill>
                            <a:latin typeface="Cambria Math" panose="02040503050406030204" pitchFamily="18" charset="0"/>
                          </a:rPr>
                          <m:t>B</m:t>
                        </m:r>
                      </m:e>
                    </m:d>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Vẽ hình sai quy ước: cạnh khuất vẽ nét liền; đáy hình chóp vẽ đúng hình dạng thật (hình vuông).</a:t>
                </a:r>
              </a:p>
              <a:p>
                <a:pPr algn="l" marL="365760" indent="-365760">
                  <a:spcAft>
                    <a:spcPts val="800"/>
                  </a:spcAft>
                  <a:buClr>
                    <a:srgbClr val="1E40AF"/>
                  </a:buClr>
                  <a:buFont typeface="Arial"/>
                  <a:buChar char="•"/>
                </a:pPr>
                <a:r>
                  <a:rPr sz="2100">
                    <a:solidFill>
                      <a:srgbClr val="1E293B"/>
                    </a:solidFill>
                    <a:latin typeface="Calibri"/>
                  </a:rPr>
                  <a:t>Đếm thiếu mặt đáy khi đếm số mặt của hình chóp.</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Nghĩ “ba điểm bất kì” xác định một mặt phẳng – quên điều kiện không thẳng hàng.</a:t>
                </a:r>
              </a:p>
              <a:p>
                <a:pPr algn="l" marL="365760" indent="-365760">
                  <a:spcAft>
                    <a:spcPts val="800"/>
                  </a:spcAft>
                  <a:buClr>
                    <a:srgbClr val="1E40AF"/>
                  </a:buClr>
                  <a:buFont typeface="Arial"/>
                  <a:buChar char="•"/>
                </a:pPr>
                <a:r>
                  <a:rPr sz="2100">
                    <a:solidFill>
                      <a:srgbClr val="1E293B"/>
                    </a:solidFill>
                    <a:latin typeface="Calibri"/>
                  </a:rPr>
                  <a:t>Lấy “giao điểm” của hai đường thẳng không cùng nằm trong một mặt phẳng (lỗi ở Trạm AI số 1).</a:t>
                </a:r>
              </a:p>
              <a:p>
                <a:pPr algn="l" marL="365760" indent="-365760">
                  <a:spcAft>
                    <a:spcPts val="800"/>
                  </a:spcAft>
                  <a:buClr>
                    <a:srgbClr val="1E40AF"/>
                  </a:buClr>
                  <a:buFont typeface="Arial"/>
                  <a:buChar char="•"/>
                </a:pPr>
                <a:r>
                  <a:rPr sz="2100">
                    <a:solidFill>
                      <a:srgbClr val="1E293B"/>
                    </a:solidFill>
                    <a:latin typeface="Calibri"/>
                  </a:rPr>
                  <a:t>Chỉ tìm được một điểm chung đã kết luận giao tuyến; không nhận ra </a:t>
                </a:r>
                <a:r>
                  <a:rPr lang="vi-VN"/>
                  <a:t>(SBM)</a:t>
                </a:r>
                <a:r>
                  <a:rPr sz="2100">
                    <a:solidFill>
                      <a:srgbClr val="1E293B"/>
                    </a:solidFill>
                    <a:latin typeface="Calibri"/>
                  </a:rPr>
                  <a:t> trùng </a:t>
                </a:r>
                <a:r>
                  <a:rPr lang="vi-VN"/>
                  <a:t>(SAB)</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Vẽ hình sai quy ước: cạnh khuất vẽ nét liền; đáy hình chóp vẽ đúng hình dạng thật (hình vuông).</a:t>
                </a:r>
              </a:p>
              <a:p>
                <a:pPr algn="l" marL="365760" indent="-365760">
                  <a:spcAft>
                    <a:spcPts val="800"/>
                  </a:spcAft>
                  <a:buClr>
                    <a:srgbClr val="1E40AF"/>
                  </a:buClr>
                  <a:buFont typeface="Arial"/>
                  <a:buChar char="•"/>
                </a:pPr>
                <a:r>
                  <a:rPr sz="2100">
                    <a:solidFill>
                      <a:srgbClr val="1E293B"/>
                    </a:solidFill>
                    <a:latin typeface="Calibri"/>
                  </a:rPr>
                  <a:t>Đếm thiếu mặt đáy khi đếm số mặt của hình chóp.</a:t>
                </a: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10. Đường thẳng và mặt phẳng trong không gian – Toán 11          57</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mô hình que tre, tấm bìa; giao HĐ1 – HĐ5, Ví dụ 1, 2, 5, Bài 4.1, 4.2, 4.3.</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4.5, 4.6; tự dựng hình bằng GeoGebra 3D; giải thích lỗi ở Trạm AI.</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Phiếu học tập; mô hình rubik, que tre, sợi dây thay video và GeoGebra; trò chơi dùng bảng con.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