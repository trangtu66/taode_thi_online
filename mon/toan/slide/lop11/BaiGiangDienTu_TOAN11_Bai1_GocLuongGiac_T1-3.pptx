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Khối 11 năm học 2026 – 2027 không có HS khuyết tật; vẫn ghi đủ chữ trên slide để HS tự đọc lại.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4' – HĐ1, khái niệm 8' – Ví dụ 1, LT1: 6' – HĐ2, Chasles, Ví dụ 2, LT2: 9' – Rađian, Ví dụ 3, LT3: 9' – HĐ3, Ví dụ 4, Vận dụng 1: 7'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video mở đầu (ảnh thật, lồng tiếng, phụ đề – không nói đáp án), HS quét QR xem lại. 4'. HS dự đoán; chưa công bố. Lưu ý bán kính quỹ đạo là 6 400 + 400. Giải ở Vận dụng 1 cùng tiết.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 3'. Dùng mô hình đồng hồ. Click 1. Chốt khung (click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Quy ước chiều dương ngược chiều kim đồng hồ. Mỗi vòng ứng với 360°.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 click 1. LT1: HS làm 2' (click 2). Sai lầm: quên dấu âm khi quay cùng chiều kim đồng hồ.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 3'. Click 1. Chốt khung, Nhận xét (click 2) – tương tự AB = OB − OA.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2: click 1. LT2: HS làm 2', click 2 (đối chiếu KHBD).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Dùng sợi dây dài bằng bán kính uốn trên đường tròn để minh hoạ 1 rad.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3: click 1. LT3: HS làm 3', click 2. Chiếu bảng góc đặc biệt (click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click 1; chốt khung. Ví dụ 4: click 2. Vận dụng 1: HS làm 4', click 3 – giải tình huống mở đầu.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Click 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Ai nhanh hơn 4' – HĐ4, khung, Ví dụ 5, LT4: 10' – HĐ5, định nghĩa, Chú ý 9' – dấu, Ví dụ 6, LT5: 8' – góc đặc biệt 4' – máy tính 8' – Tổng kết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Ôn T1; câu 4 dẫn vào điểm biểu diễn trên đường tròn lượng giác. Click 1–4.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HĐ4 – 4'. Click 1. Chốt khung (click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5: chiếu Hình 1.8 (click 1). LT4: HS vẽ vào vở 3', click 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HĐ5: nhắc định nghĩa lớp 10. Chốt khung: M(x; y) biểu diễn α.</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Dấu phụ thuộc góc phần tư chứa điểm M (H.1.10).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6: click 1, 2. LT5: HS làm 3', click 3. Kiểm chứng bằng GeoGebra (α = 150°).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Mẹo nhớ hàng sin: √0/2, √1/2, √2/2, √3/2, √4/2; hàng cos ngược lại.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Đối chiếu Luyện tập 5 (α = 150°: M ≈ (−0,866; 0,5)).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GV thao tác mẫu (Ví dụ 7, 8 – bảng bấm phím trong SGK). Chú ý chọn đúng đơn vị: SHIFT MODE 3 (độ), SHIFT MODE 4 (rađian). HS làm LT6, click 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3 (45'): HĐ6, hệ thức 6' – Ví dụ 9, LT7: 7' – HĐ7, góc liên quan 8' – Ví dụ 10, LT8: 6' – Vận dụng 2: 4' – Rung chuông vàng 10' – Củng cố 4'.</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HĐ6 – 3'. Gợi ý: Pythagore trong tam giác OHM. Click 1, chốt khung.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9: click 1, 2 – xét dấu trước khi khai căn. LT7: HS làm 3', click 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HĐ7: M, N đối xứng qua Ox (click 1). Chốt 4 bảng (click 2). Mẹo: 'cos đối, sin bù, phụ chéo, hơn kém π tan và cot'.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10: click 1, 2. LT8: HS làm 3', click 3; kiểm tra lại bằng máy tính cầm tay.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HS bấm máy (chế độ rađian). Click 1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Dùng khi ôn công thức.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Đáp số để HS tự đối chiếu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Đáp số (đã kiểm tra bằng Python; đối chiếu KHBD).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6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S – Đ – 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1/VIDEO_MoDau_TOAN11_Bai1_GocLuongGiac.mp4"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trangtu66.github.io/Taode_thi_online/GGB_T11_Bai1_1_DuongTronLG.html" TargetMode="External"/><Relationship Id="rId4" Type="http://schemas.openxmlformats.org/officeDocument/2006/relationships/image" Target="../media/image16.png"/><Relationship Id="rId5"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trangtu66.github.io/Taode_thi_online/GGB_T11_Bai1_2_GocLienQuan.html" TargetMode="External"/><Relationship Id="rId4" Type="http://schemas.openxmlformats.org/officeDocument/2006/relationships/image" Target="../media/image17.png"/><Relationship Id="rId5"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9.png"/><Relationship Id="rId4" Type="http://schemas.openxmlformats.org/officeDocument/2006/relationships/hyperlink" Target="https://trangtu66.github.io/Taode_thi_online/cc_bai1_t11.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 HÀM SỐ LƯỢNG GIÁC VÀ PHƯƠNG TRÌNH LƯỢNG GIÁC</a:t>
            </a:r>
          </a:p>
          <a:p>
            <a:pPr>
              <a:spcAft>
                <a:spcPts val="600"/>
              </a:spcAft>
            </a:pPr>
            <a:r>
              <a:rPr sz="3000" b="1">
                <a:solidFill>
                  <a:srgbClr val="FFFFFF"/>
                </a:solidFill>
                <a:latin typeface="Cambria"/>
              </a:rPr>
              <a:t>BÀI 1</a:t>
            </a:r>
          </a:p>
          <a:p>
            <a:pPr>
              <a:spcAft>
                <a:spcPts val="600"/>
              </a:spcAft>
            </a:pPr>
            <a:r>
              <a:rPr sz="4000" b="1">
                <a:solidFill>
                  <a:srgbClr val="FFFFFF"/>
                </a:solidFill>
                <a:latin typeface="Cambria"/>
              </a:rPr>
              <a:t>GIÁ TRỊ LƯỢNG GIÁC CỦA GÓC LƯỢNG GIÁC</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3 tiết: T1 – T3</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a:t>
            </a:r>
          </a:p>
        </p:txBody>
      </p:sp>
      <p:sp>
        <p:nvSpPr>
          <p:cNvPr id="7" name="Rounded Rectangle 6"/>
          <p:cNvSpPr/>
          <p:nvPr/>
        </p:nvSpPr>
        <p:spPr>
          <a:xfrm>
            <a:off x="548640" y="1417320"/>
            <a:ext cx="11064240" cy="324916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53896"/>
                <a:ext cx="10735056" cy="317601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tr.5)</a:t>
                </a:r>
              </a:p>
              <a:p>
                <a:pPr algn="l" marL="365760" indent="-365760">
                  <a:spcAft>
                    <a:spcPts val="800"/>
                  </a:spcAft>
                  <a:buClr>
                    <a:srgbClr val="1E40AF"/>
                  </a:buClr>
                  <a:buFont typeface="Arial"/>
                  <a:buChar char="•"/>
                </a:pPr>
                <a:r>
                  <a:rPr sz="2200">
                    <a:solidFill>
                      <a:srgbClr val="1E293B"/>
                    </a:solidFill>
                    <a:latin typeface="Calibri"/>
                  </a:rPr>
                  <a:t>Nhận biết các khái niệm cơ bản về góc lượng giác; khái niệm giá trị lượng giác của một góc lượng giác.</a:t>
                </a:r>
              </a:p>
              <a:p>
                <a:pPr algn="l" marL="365760" indent="-365760">
                  <a:spcAft>
                    <a:spcPts val="800"/>
                  </a:spcAft>
                  <a:buClr>
                    <a:srgbClr val="1E40AF"/>
                  </a:buClr>
                  <a:buFont typeface="Arial"/>
                  <a:buChar char="•"/>
                </a:pPr>
                <a:r>
                  <a:rPr sz="2200">
                    <a:solidFill>
                      <a:srgbClr val="1E293B"/>
                    </a:solidFill>
                    <a:latin typeface="Calibri"/>
                  </a:rPr>
                  <a:t>Mô tả bảng giá trị lượng giác của một số góc thường gặp; hệ thức cơ bản; quan hệ giữa giá trị lượng giác của các góc bù nhau, phụ nhau, đối nhau, hơn kém nhau </a:t>
                </a:r>
                <a14:m>
                  <m:oMath xmlns:m="http://schemas.openxmlformats.org/officeDocument/2006/math">
                    <m:r>
                      <a:rPr lang="vi-VN" sz="2200" b="0">
                        <a:solidFill>
                          <a:srgbClr val="1E293B"/>
                        </a:solidFill>
                        <a:latin typeface="Cambria Math" panose="02040503050406030204" pitchFamily="18" charset="0"/>
                      </a:rPr>
                      <m:t>π</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Sử dụng máy tính cầm tay tính giá trị lượng giác; giải quyết vấn đề thực tiễn gắn với giá trị lượng giác.</a:t>
                </a:r>
              </a:p>
            </p:txBody>
          </p:sp>
        </mc:Choice>
        <mc:Fallback>
          <p:sp>
            <p:nvSpPr>
              <p:cNvPr id="8" name="TextBox 7"/>
              <p:cNvSpPr txBox="1"/>
              <p:nvPr/>
            </p:nvSpPr>
            <p:spPr>
              <a:xfrm>
                <a:off x="713232" y="1453896"/>
                <a:ext cx="10735056" cy="317601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tr.5)</a:t>
                </a:r>
              </a:p>
              <a:p>
                <a:pPr algn="l" marL="365760" indent="-365760">
                  <a:spcAft>
                    <a:spcPts val="800"/>
                  </a:spcAft>
                  <a:buClr>
                    <a:srgbClr val="1E40AF"/>
                  </a:buClr>
                  <a:buFont typeface="Arial"/>
                  <a:buChar char="•"/>
                </a:pPr>
                <a:r>
                  <a:rPr sz="2200">
                    <a:solidFill>
                      <a:srgbClr val="1E293B"/>
                    </a:solidFill>
                    <a:latin typeface="Calibri"/>
                  </a:rPr>
                  <a:t>Nhận biết các khái niệm cơ bản về góc lượng giác; khái niệm giá trị lượng giác của một góc lượng giác.</a:t>
                </a:r>
              </a:p>
              <a:p>
                <a:pPr algn="l" marL="365760" indent="-365760">
                  <a:spcAft>
                    <a:spcPts val="800"/>
                  </a:spcAft>
                  <a:buClr>
                    <a:srgbClr val="1E40AF"/>
                  </a:buClr>
                  <a:buFont typeface="Arial"/>
                  <a:buChar char="•"/>
                </a:pPr>
                <a:r>
                  <a:rPr sz="2200">
                    <a:solidFill>
                      <a:srgbClr val="1E293B"/>
                    </a:solidFill>
                    <a:latin typeface="Calibri"/>
                  </a:rPr>
                  <a:t>Mô tả bảng giá trị lượng giác của một số góc thường gặp; hệ thức cơ bản; quan hệ giữa giá trị lượng giác của các góc bù nhau, phụ nhau, đối nhau, hơn kém nhau </a:t>
                </a:r>
                <a:r>
                  <a:rPr lang="vi-VN"/>
                  <a:t>\pi</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Sử dụng máy tính cầm tay tính giá trị lượng giác; giải quyết vấn đề thực tiễn gắn với giá trị lượng giác.</a:t>
                </a:r>
              </a:p>
            </p:txBody>
          </p:sp>
        </mc:Fallback>
      </mc:AlternateContent>
      <p:sp>
        <p:nvSpPr>
          <p:cNvPr id="9" name="TextBox 8"/>
          <p:cNvSpPr txBox="1"/>
          <p:nvPr/>
        </p:nvSpPr>
        <p:spPr>
          <a:xfrm>
            <a:off x="548640" y="4895088"/>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(quỹ đạo ISS, huyết áp, bánh xe); giải quyết vấn đề; sử dụng công cụ (máy tính cầm tay, GeoGebra).</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3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Góc lượng giác, hệ thức Chasles. 2. Đơn vị đo góc, độ dài cung tròn</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Đúng hay sai?</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T2</a:t>
            </a:r>
          </a:p>
        </p:txBody>
      </p:sp>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 Đường tròn lượng giác; giá trị lượng giác; góc đặc biệt; máy tính cầm tay</a:t>
            </a:r>
          </a:p>
        </p:txBody>
      </p:sp>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 · GeoGebra</a:t>
            </a:r>
          </a:p>
        </p:txBody>
      </p:sp>
      <p:sp>
        <p:nvSpPr>
          <p:cNvPr id="15" name="Rounded Rectangle 14"/>
          <p:cNvSpPr/>
          <p:nvPr/>
        </p:nvSpPr>
        <p:spPr>
          <a:xfrm>
            <a:off x="548640" y="347472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4787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T3</a:t>
            </a:r>
          </a:p>
        </p:txBody>
      </p:sp>
      <p:sp>
        <p:nvSpPr>
          <p:cNvPr id="17" name="TextBox 16"/>
          <p:cNvSpPr txBox="1"/>
          <p:nvPr/>
        </p:nvSpPr>
        <p:spPr>
          <a:xfrm>
            <a:off x="1920240" y="356616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4. Hệ thức cơ bản; góc có liên quan đặc biệt; Vận dụng 2; bài tập</a:t>
            </a:r>
          </a:p>
        </p:txBody>
      </p:sp>
      <p:sp>
        <p:nvSpPr>
          <p:cNvPr id="18" name="TextBox 17"/>
          <p:cNvSpPr txBox="1"/>
          <p:nvPr/>
        </p:nvSpPr>
        <p:spPr>
          <a:xfrm>
            <a:off x="8046720" y="356616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 · GeoGebra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a:t>
            </a:r>
          </a:p>
          <a:p>
            <a:pPr>
              <a:spcAft>
                <a:spcPts val="600"/>
              </a:spcAft>
            </a:pPr>
            <a:r>
              <a:rPr sz="4000" b="1">
                <a:solidFill>
                  <a:srgbClr val="FFFFFF"/>
                </a:solidFill>
                <a:latin typeface="Cambria"/>
              </a:rPr>
              <a:t>Góc lượng giác. Đơn vị đo góc, độ dài cung tròn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góc lượng giác, số đo, hệ thức Chasles.</a:t>
            </a:r>
          </a:p>
          <a:p>
            <a:pPr algn="l">
              <a:spcAft>
                <a:spcPts val="800"/>
              </a:spcAft>
            </a:pPr>
            <a:r>
              <a:rPr sz="2200">
                <a:solidFill>
                  <a:srgbClr val="E0E7FF"/>
                </a:solidFill>
                <a:latin typeface="Calibri"/>
              </a:rPr>
              <a:t>• Đổi độ – rađian; tính độ dài cung tròn.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TRẠM VŨ TRỤ ISS</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5</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Trạm vũ trụ Quốc tế ISS nằm trong quỹ đạo tròn cách bề mặt Trái Đất khoảng 400 km (H.1.1). Nếu trạm mặt đất theo dõi được trạm ISS khi nó nằm trong góc </a:t>
                </a:r>
                <a14:m>
                  <m:oMath xmlns:m="http://schemas.openxmlformats.org/officeDocument/2006/math">
                    <m:sSup>
                      <m:e>
                        <m:r>
                          <a:rPr lang="vi-VN" sz="2200" b="0">
                            <a:solidFill>
                              <a:srgbClr val="1E293B"/>
                            </a:solidFill>
                            <a:latin typeface="Cambria Math" panose="02040503050406030204" pitchFamily="18" charset="0"/>
                          </a:rPr>
                          <m:t>45</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ở tâm của quỹ đạo tròn này phía trên ăng-ten theo dõi, </a:t>
                </a:r>
                <a:r>
                  <a:rPr sz="2200" b="1">
                    <a:solidFill>
                      <a:srgbClr val="1E293B"/>
                    </a:solidFill>
                    <a:latin typeface="Calibri"/>
                  </a:rPr>
                  <a:t>thì trạm ISS đã di chuyển được bao nhiêu kilômét trong khi nó đang được trạm mặt đất theo dõi?</a:t>
                </a:r>
                <a:r>
                  <a:rPr sz="2200">
                    <a:solidFill>
                      <a:srgbClr val="1E293B"/>
                    </a:solidFill>
                    <a:latin typeface="Calibri"/>
                  </a:rPr>
                  <a:t> Giả sử bán kính Trái Đất là 6 400 km. Làm tròn kết quả đến hàng đơn vị.</a:t>
                </a:r>
              </a:p>
              <a:p>
                <a:pPr algn="l">
                  <a:spcAft>
                    <a:spcPts val="800"/>
                  </a:spcAft>
                </a:pPr>
                <a:r>
                  <a:rPr sz="2000">
                    <a:solidFill>
                      <a:srgbClr val="64748B"/>
                    </a:solidFill>
                    <a:latin typeface="Calibri"/>
                  </a:rPr>
                  <a:t>(SGK Toán 11 tập một, tr.5)</a:t>
                </a:r>
              </a:p>
            </p:txBody>
          </p:sp>
        </mc:Choice>
        <mc:Fallback>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Trạm vũ trụ Quốc tế ISS nằm trong quỹ đạo tròn cách bề mặt Trái Đất khoảng 400 km (H.1.1). Nếu trạm mặt đất theo dõi được trạm ISS khi nó nằm trong góc </a:t>
                </a:r>
                <a:r>
                  <a:rPr lang="vi-VN"/>
                  <a:t>45^\circ</a:t>
                </a:r>
                <a:r>
                  <a:rPr sz="2200">
                    <a:solidFill>
                      <a:srgbClr val="1E293B"/>
                    </a:solidFill>
                    <a:latin typeface="Calibri"/>
                  </a:rPr>
                  <a:t> ở tâm của quỹ đạo tròn này phía trên ăng-ten theo dõi, </a:t>
                </a:r>
                <a:r>
                  <a:rPr sz="2200" b="1">
                    <a:solidFill>
                      <a:srgbClr val="1E293B"/>
                    </a:solidFill>
                    <a:latin typeface="Calibri"/>
                  </a:rPr>
                  <a:t>thì trạm ISS đã di chuyển được bao nhiêu kilômét trong khi nó đang được trạm mặt đất theo dõi?</a:t>
                </a:r>
                <a:r>
                  <a:rPr sz="2200">
                    <a:solidFill>
                      <a:srgbClr val="1E293B"/>
                    </a:solidFill>
                    <a:latin typeface="Calibri"/>
                  </a:rPr>
                  <a:t> Giả sử bán kính Trái Đất là 6 400 km. Làm tròn kết quả đến hàng đơn vị.</a:t>
                </a:r>
              </a:p>
              <a:p>
                <a:pPr algn="l">
                  <a:spcAft>
                    <a:spcPts val="800"/>
                  </a:spcAft>
                </a:pPr>
                <a:r>
                  <a:rPr sz="2000">
                    <a:solidFill>
                      <a:srgbClr val="64748B"/>
                    </a:solidFill>
                    <a:latin typeface="Calibri"/>
                  </a:rPr>
                  <a:t>(SGK Toán 11 tập một, tr.5)</a:t>
                </a:r>
              </a:p>
            </p:txBody>
          </p:sp>
        </mc:Fallback>
      </mc:AlternateContent>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b1_h11.png"/>
          <p:cNvPicPr>
            <a:picLocks noChangeAspect="1"/>
          </p:cNvPicPr>
          <p:nvPr/>
        </p:nvPicPr>
        <p:blipFill>
          <a:blip r:embed="rId5"/>
          <a:stretch>
            <a:fillRect/>
          </a:stretch>
        </p:blipFill>
        <p:spPr>
          <a:xfrm>
            <a:off x="7695243" y="1463040"/>
            <a:ext cx="3629033"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GÓC LƯỢNG GIÁC – HĐ1 (SGK TR.6)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6</a:t>
            </a:r>
          </a:p>
        </p:txBody>
      </p:sp>
      <p:sp>
        <p:nvSpPr>
          <p:cNvPr id="7" name="TextBox 6"/>
          <p:cNvSpPr txBox="1"/>
          <p:nvPr/>
        </p:nvSpPr>
        <p:spPr>
          <a:xfrm>
            <a:off x="548640" y="1371600"/>
            <a:ext cx="8229600" cy="177393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Trên đồng hồ ở Hình 1.2, kim phút đang chỉ đúng số 2. a) Phải quay kim phút mấy phần của một vòng tròn theo chiều ngược chiều kim đồng hồ để nó chỉ đúng số 12? b) … theo chiều quay của kim đồng hồ? c) Có bao nhiêu cách quay kim phút theo một chiều xác định để kim phút từ số 2 về số 12?</a:t>
            </a:r>
          </a:p>
        </p:txBody>
      </p:sp>
      <p:sp>
        <p:nvSpPr>
          <p:cNvPr id="8" name="s1_nen"/>
          <p:cNvSpPr/>
          <p:nvPr/>
        </p:nvSpPr>
        <p:spPr>
          <a:xfrm>
            <a:off x="548640" y="3236976"/>
            <a:ext cx="822960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273552"/>
                <a:ext cx="790041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6</m:t>
                        </m:r>
                      </m:den>
                    </m:f>
                  </m:oMath>
                </a14:m>
                <a:r>
                  <a:rPr sz="2100">
                    <a:solidFill>
                      <a:srgbClr val="1E293B"/>
                    </a:solidFill>
                    <a:latin typeface="Calibri"/>
                  </a:rPr>
                  <a:t> vòng; b) </a:t>
                </a:r>
                <a14:m>
                  <m:oMath xmlns:m="http://schemas.openxmlformats.org/officeDocument/2006/math">
                    <m:f>
                      <m:fPr>
                        <m:type m:val="bar"/>
                      </m:fPr>
                      <m:num>
                        <m:r>
                          <a:rPr lang="vi-VN" sz="2100" b="0">
                            <a:solidFill>
                              <a:srgbClr val="1E293B"/>
                            </a:solidFill>
                            <a:latin typeface="Cambria Math" panose="02040503050406030204" pitchFamily="18" charset="0"/>
                          </a:rPr>
                          <m:t>5</m:t>
                        </m:r>
                      </m:num>
                      <m:den>
                        <m:r>
                          <a:rPr lang="vi-VN" sz="2100" b="0">
                            <a:solidFill>
                              <a:srgbClr val="1E293B"/>
                            </a:solidFill>
                            <a:latin typeface="Cambria Math" panose="02040503050406030204" pitchFamily="18" charset="0"/>
                          </a:rPr>
                          <m:t>6</m:t>
                        </m:r>
                      </m:den>
                    </m:f>
                  </m:oMath>
                </a14:m>
                <a:r>
                  <a:rPr sz="2100">
                    <a:solidFill>
                      <a:srgbClr val="1E293B"/>
                    </a:solidFill>
                    <a:latin typeface="Calibri"/>
                  </a:rPr>
                  <a:t> vòng; c) vô số cách (quay thêm một số nguyên vòng).</a:t>
                </a:r>
              </a:p>
            </p:txBody>
          </p:sp>
        </mc:Choice>
        <mc:Fallback>
          <p:sp>
            <p:nvSpPr>
              <p:cNvPr id="9" name="TextBox 8"/>
              <p:cNvSpPr txBox="1"/>
              <p:nvPr/>
            </p:nvSpPr>
            <p:spPr>
              <a:xfrm>
                <a:off x="713232" y="3273552"/>
                <a:ext cx="790041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\frac{1}{6}</a:t>
                </a:r>
                <a:r>
                  <a:rPr sz="2100">
                    <a:solidFill>
                      <a:srgbClr val="1E293B"/>
                    </a:solidFill>
                    <a:latin typeface="Calibri"/>
                  </a:rPr>
                  <a:t> vòng; b) </a:t>
                </a:r>
                <a:r>
                  <a:rPr lang="vi-VN"/>
                  <a:t>\frac{5}{6}</a:t>
                </a:r>
                <a:r>
                  <a:rPr sz="2100">
                    <a:solidFill>
                      <a:srgbClr val="1E293B"/>
                    </a:solidFill>
                    <a:latin typeface="Calibri"/>
                  </a:rPr>
                  <a:t> vòng; c) vô số cách (quay thêm một số nguyên vòng).</a:t>
                </a:r>
              </a:p>
            </p:txBody>
          </p:sp>
        </mc:Fallback>
      </mc:AlternateContent>
      <p:sp>
        <p:nvSpPr>
          <p:cNvPr id="10" name="s2_nen"/>
          <p:cNvSpPr/>
          <p:nvPr/>
        </p:nvSpPr>
        <p:spPr>
          <a:xfrm>
            <a:off x="548640" y="4521708"/>
            <a:ext cx="8229600" cy="154533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558284"/>
                <a:ext cx="7900416" cy="147218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Trong mặt phẳng, cho hai tia </a:t>
                </a:r>
                <a14:m>
                  <m:oMath xmlns:m="http://schemas.openxmlformats.org/officeDocument/2006/math">
                    <m:r>
                      <a:rPr lang="vi-VN" sz="2100" b="0">
                        <a:solidFill>
                          <a:srgbClr val="1E293B"/>
                        </a:solidFill>
                        <a:latin typeface="Cambria Math" panose="02040503050406030204" pitchFamily="18" charset="0"/>
                      </a:rPr>
                      <m:t>Ou,</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Ov</m:t>
                    </m:r>
                  </m:oMath>
                </a14:m>
                <a:r>
                  <a:rPr sz="2100">
                    <a:solidFill>
                      <a:srgbClr val="1E293B"/>
                    </a:solidFill>
                    <a:latin typeface="Calibri"/>
                  </a:rPr>
                  <a:t>. Nếu tia </a:t>
                </a:r>
                <a14:m>
                  <m:oMath xmlns:m="http://schemas.openxmlformats.org/officeDocument/2006/math">
                    <m:r>
                      <a:rPr lang="vi-VN" sz="2100" b="0">
                        <a:solidFill>
                          <a:srgbClr val="1E293B"/>
                        </a:solidFill>
                        <a:latin typeface="Cambria Math" panose="02040503050406030204" pitchFamily="18" charset="0"/>
                      </a:rPr>
                      <m:t>Om</m:t>
                    </m:r>
                  </m:oMath>
                </a14:m>
                <a:r>
                  <a:rPr sz="2100">
                    <a:solidFill>
                      <a:srgbClr val="1E293B"/>
                    </a:solidFill>
                    <a:latin typeface="Calibri"/>
                  </a:rPr>
                  <a:t> quay quanh điểm </a:t>
                </a:r>
                <a14:m>
                  <m:oMath xmlns:m="http://schemas.openxmlformats.org/officeDocument/2006/math">
                    <m:r>
                      <a:rPr lang="vi-VN" sz="2100" b="0">
                        <a:solidFill>
                          <a:srgbClr val="1E293B"/>
                        </a:solidFill>
                        <a:latin typeface="Cambria Math" panose="02040503050406030204" pitchFamily="18" charset="0"/>
                      </a:rPr>
                      <m:t>O</m:t>
                    </m:r>
                  </m:oMath>
                </a14:m>
                <a:r>
                  <a:rPr sz="2100">
                    <a:solidFill>
                      <a:srgbClr val="1E293B"/>
                    </a:solidFill>
                    <a:latin typeface="Calibri"/>
                  </a:rPr>
                  <a:t>, theo một chiều nhất định từ </a:t>
                </a:r>
                <a14:m>
                  <m:oMath xmlns:m="http://schemas.openxmlformats.org/officeDocument/2006/math">
                    <m:r>
                      <a:rPr lang="vi-VN" sz="2100" b="0">
                        <a:solidFill>
                          <a:srgbClr val="1E293B"/>
                        </a:solidFill>
                        <a:latin typeface="Cambria Math" panose="02040503050406030204" pitchFamily="18" charset="0"/>
                      </a:rPr>
                      <m:t>Ou</m:t>
                    </m:r>
                  </m:oMath>
                </a14:m>
                <a:r>
                  <a:rPr sz="2100">
                    <a:solidFill>
                      <a:srgbClr val="1E293B"/>
                    </a:solidFill>
                    <a:latin typeface="Calibri"/>
                  </a:rPr>
                  <a:t> đến </a:t>
                </a:r>
                <a14:m>
                  <m:oMath xmlns:m="http://schemas.openxmlformats.org/officeDocument/2006/math">
                    <m:r>
                      <a:rPr lang="vi-VN" sz="2100" b="0">
                        <a:solidFill>
                          <a:srgbClr val="1E293B"/>
                        </a:solidFill>
                        <a:latin typeface="Cambria Math" panose="02040503050406030204" pitchFamily="18" charset="0"/>
                      </a:rPr>
                      <m:t>Ov</m:t>
                    </m:r>
                  </m:oMath>
                </a14:m>
                <a:r>
                  <a:rPr sz="2100">
                    <a:solidFill>
                      <a:srgbClr val="1E293B"/>
                    </a:solidFill>
                    <a:latin typeface="Calibri"/>
                  </a:rPr>
                  <a:t>, thì ta nói nó quét một </a:t>
                </a:r>
                <a:r>
                  <a:rPr sz="2100" b="1">
                    <a:solidFill>
                      <a:srgbClr val="1E293B"/>
                    </a:solidFill>
                    <a:latin typeface="Calibri"/>
                  </a:rPr>
                  <a:t>góc lượng giác</a:t>
                </a:r>
                <a:r>
                  <a:rPr sz="2100">
                    <a:solidFill>
                      <a:srgbClr val="1E293B"/>
                    </a:solidFill>
                    <a:latin typeface="Calibri"/>
                  </a:rPr>
                  <a:t> với tia đầu </a:t>
                </a:r>
                <a14:m>
                  <m:oMath xmlns:m="http://schemas.openxmlformats.org/officeDocument/2006/math">
                    <m:r>
                      <a:rPr lang="vi-VN" sz="2100" b="0">
                        <a:solidFill>
                          <a:srgbClr val="1E293B"/>
                        </a:solidFill>
                        <a:latin typeface="Cambria Math" panose="02040503050406030204" pitchFamily="18" charset="0"/>
                      </a:rPr>
                      <m:t>Ou</m:t>
                    </m:r>
                  </m:oMath>
                </a14:m>
                <a:r>
                  <a:rPr sz="2100">
                    <a:solidFill>
                      <a:srgbClr val="1E293B"/>
                    </a:solidFill>
                    <a:latin typeface="Calibri"/>
                  </a:rPr>
                  <a:t>, tia cuối </a:t>
                </a:r>
                <a14:m>
                  <m:oMath xmlns:m="http://schemas.openxmlformats.org/officeDocument/2006/math">
                    <m:r>
                      <a:rPr lang="vi-VN" sz="2100" b="0">
                        <a:solidFill>
                          <a:srgbClr val="1E293B"/>
                        </a:solidFill>
                        <a:latin typeface="Cambria Math" panose="02040503050406030204" pitchFamily="18" charset="0"/>
                      </a:rPr>
                      <m:t>Ov</m:t>
                    </m:r>
                  </m:oMath>
                </a14:m>
                <a:r>
                  <a:rPr sz="2100">
                    <a:solidFill>
                      <a:srgbClr val="1E293B"/>
                    </a:solidFill>
                    <a:latin typeface="Calibri"/>
                  </a:rPr>
                  <a:t> và kí hiệu là </a:t>
                </a:r>
                <a14:m>
                  <m:oMath xmlns:m="http://schemas.openxmlformats.org/officeDocument/2006/math">
                    <m:d>
                      <m:dPr>
                        <m:sepChr m:val=","/>
                      </m:dPr>
                      <m:e>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u</m:t>
                        </m:r>
                      </m:e>
                      <m:e>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v</m:t>
                        </m:r>
                      </m:e>
                    </m:d>
                  </m:oMath>
                </a14:m>
                <a:r>
                  <a:rPr sz="2100">
                    <a:solidFill>
                      <a:srgbClr val="1E293B"/>
                    </a:solidFill>
                    <a:latin typeface="Calibri"/>
                  </a:rPr>
                  <a:t>.</a:t>
                </a:r>
              </a:p>
            </p:txBody>
          </p:sp>
        </mc:Choice>
        <mc:Fallback>
          <p:sp>
            <p:nvSpPr>
              <p:cNvPr id="11" name="TextBox 10"/>
              <p:cNvSpPr txBox="1"/>
              <p:nvPr/>
            </p:nvSpPr>
            <p:spPr>
              <a:xfrm>
                <a:off x="713232" y="4558284"/>
                <a:ext cx="7900416" cy="147218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Trong mặt phẳng, cho hai tia </a:t>
                </a:r>
                <a:r>
                  <a:rPr lang="vi-VN"/>
                  <a:t>Ou,\ Ov</a:t>
                </a:r>
                <a:r>
                  <a:rPr sz="2100">
                    <a:solidFill>
                      <a:srgbClr val="1E293B"/>
                    </a:solidFill>
                    <a:latin typeface="Calibri"/>
                  </a:rPr>
                  <a:t>. Nếu tia </a:t>
                </a:r>
                <a:r>
                  <a:rPr lang="vi-VN"/>
                  <a:t>Om</a:t>
                </a:r>
                <a:r>
                  <a:rPr sz="2100">
                    <a:solidFill>
                      <a:srgbClr val="1E293B"/>
                    </a:solidFill>
                    <a:latin typeface="Calibri"/>
                  </a:rPr>
                  <a:t> quay quanh điểm </a:t>
                </a:r>
                <a:r>
                  <a:rPr lang="vi-VN"/>
                  <a:t>O</a:t>
                </a:r>
                <a:r>
                  <a:rPr sz="2100">
                    <a:solidFill>
                      <a:srgbClr val="1E293B"/>
                    </a:solidFill>
                    <a:latin typeface="Calibri"/>
                  </a:rPr>
                  <a:t>, theo một chiều nhất định từ </a:t>
                </a:r>
                <a:r>
                  <a:rPr lang="vi-VN"/>
                  <a:t>Ou</a:t>
                </a:r>
                <a:r>
                  <a:rPr sz="2100">
                    <a:solidFill>
                      <a:srgbClr val="1E293B"/>
                    </a:solidFill>
                    <a:latin typeface="Calibri"/>
                  </a:rPr>
                  <a:t> đến </a:t>
                </a:r>
                <a:r>
                  <a:rPr lang="vi-VN"/>
                  <a:t>Ov</a:t>
                </a:r>
                <a:r>
                  <a:rPr sz="2100">
                    <a:solidFill>
                      <a:srgbClr val="1E293B"/>
                    </a:solidFill>
                    <a:latin typeface="Calibri"/>
                  </a:rPr>
                  <a:t>, thì ta nói nó quét một </a:t>
                </a:r>
                <a:r>
                  <a:rPr sz="2100" b="1">
                    <a:solidFill>
                      <a:srgbClr val="1E293B"/>
                    </a:solidFill>
                    <a:latin typeface="Calibri"/>
                  </a:rPr>
                  <a:t>góc lượng giác</a:t>
                </a:r>
                <a:r>
                  <a:rPr sz="2100">
                    <a:solidFill>
                      <a:srgbClr val="1E293B"/>
                    </a:solidFill>
                    <a:latin typeface="Calibri"/>
                  </a:rPr>
                  <a:t> với tia đầu </a:t>
                </a:r>
                <a:r>
                  <a:rPr lang="vi-VN"/>
                  <a:t>Ou</a:t>
                </a:r>
                <a:r>
                  <a:rPr sz="2100">
                    <a:solidFill>
                      <a:srgbClr val="1E293B"/>
                    </a:solidFill>
                    <a:latin typeface="Calibri"/>
                  </a:rPr>
                  <a:t>, tia cuối </a:t>
                </a:r>
                <a:r>
                  <a:rPr lang="vi-VN"/>
                  <a:t>Ov</a:t>
                </a:r>
                <a:r>
                  <a:rPr sz="2100">
                    <a:solidFill>
                      <a:srgbClr val="1E293B"/>
                    </a:solidFill>
                    <a:latin typeface="Calibri"/>
                  </a:rPr>
                  <a:t> và kí hiệu là </a:t>
                </a:r>
                <a:r>
                  <a:rPr lang="vi-VN"/>
                  <a:t>(Ou,\ Ov)</a:t>
                </a:r>
                <a:r>
                  <a:rPr sz="2100">
                    <a:solidFill>
                      <a:srgbClr val="1E293B"/>
                    </a:solidFill>
                    <a:latin typeface="Calibri"/>
                  </a:rPr>
                  <a:t>.</a:t>
                </a:r>
              </a:p>
            </p:txBody>
          </p:sp>
        </mc:Fallback>
      </mc:AlternateContent>
      <p:pic>
        <p:nvPicPr>
          <p:cNvPr id="12" name="Picture 11" descr="b1_h12.png"/>
          <p:cNvPicPr>
            <a:picLocks noChangeAspect="1"/>
          </p:cNvPicPr>
          <p:nvPr/>
        </p:nvPicPr>
        <p:blipFill>
          <a:blip r:embed="rId3"/>
          <a:stretch>
            <a:fillRect/>
          </a:stretch>
        </p:blipFill>
        <p:spPr>
          <a:xfrm>
            <a:off x="9052560" y="1489329"/>
            <a:ext cx="2377440" cy="32392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CHIỀU QUAY – SỐ ĐO CỦA GÓC LƯỢNG GIÁC (SGK TR.6)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7</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11064240" cy="1088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Quy ước: chiều quay ngược với chiều quay của kim đồng hồ là </a:t>
                </a:r>
                <a:r>
                  <a:rPr sz="2000" b="1">
                    <a:solidFill>
                      <a:srgbClr val="1E293B"/>
                    </a:solidFill>
                    <a:latin typeface="Calibri"/>
                  </a:rPr>
                  <a:t>chiều dương</a:t>
                </a:r>
                <a:r>
                  <a:rPr sz="2000">
                    <a:solidFill>
                      <a:srgbClr val="1E293B"/>
                    </a:solidFill>
                    <a:latin typeface="Calibri"/>
                  </a:rPr>
                  <a:t>, cùng chiều kim đồng hồ là </a:t>
                </a:r>
                <a:r>
                  <a:rPr sz="2000" b="1">
                    <a:solidFill>
                      <a:srgbClr val="1E293B"/>
                    </a:solidFill>
                    <a:latin typeface="Calibri"/>
                  </a:rPr>
                  <a:t>chiều âm</a:t>
                </a:r>
                <a:r>
                  <a:rPr sz="2000">
                    <a:solidFill>
                      <a:srgbClr val="1E293B"/>
                    </a:solidFill>
                    <a:latin typeface="Calibri"/>
                  </a:rPr>
                  <a:t>. Khi tia </a:t>
                </a:r>
                <a14:m>
                  <m:oMath xmlns:m="http://schemas.openxmlformats.org/officeDocument/2006/math">
                    <m:r>
                      <a:rPr lang="vi-VN" sz="2000" b="0">
                        <a:solidFill>
                          <a:srgbClr val="1E293B"/>
                        </a:solidFill>
                        <a:latin typeface="Cambria Math" panose="02040503050406030204" pitchFamily="18" charset="0"/>
                      </a:rPr>
                      <m:t>Om</m:t>
                    </m:r>
                  </m:oMath>
                </a14:m>
                <a:r>
                  <a:rPr sz="2000">
                    <a:solidFill>
                      <a:srgbClr val="1E293B"/>
                    </a:solidFill>
                    <a:latin typeface="Calibri"/>
                  </a:rPr>
                  <a:t> quay góc </a:t>
                </a:r>
                <a14:m>
                  <m:oMath xmlns:m="http://schemas.openxmlformats.org/officeDocument/2006/math">
                    <m:sSup>
                      <m:e>
                        <m:r>
                          <a:rPr lang="vi-VN" sz="2000" b="0">
                            <a:solidFill>
                              <a:srgbClr val="1E293B"/>
                            </a:solidFill>
                            <a:latin typeface="Cambria Math" panose="02040503050406030204" pitchFamily="18" charset="0"/>
                          </a:rPr>
                          <m:t>α</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thì góc lượng giác mà tia đó quét nên có số đo </a:t>
                </a:r>
                <a14:m>
                  <m:oMath xmlns:m="http://schemas.openxmlformats.org/officeDocument/2006/math">
                    <m:sSup>
                      <m:e>
                        <m:r>
                          <a:rPr lang="vi-VN" sz="2000" b="0">
                            <a:solidFill>
                              <a:srgbClr val="1E293B"/>
                            </a:solidFill>
                            <a:latin typeface="Cambria Math" panose="02040503050406030204" pitchFamily="18" charset="0"/>
                          </a:rPr>
                          <m:t>α</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kí hiệu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Ov)</m:t>
                    </m:r>
                  </m:oMath>
                </a14:m>
                <a:r>
                  <a:rPr sz="2000">
                    <a:solidFill>
                      <a:srgbClr val="1E293B"/>
                    </a:solidFill>
                    <a:latin typeface="Calibri"/>
                  </a:rPr>
                  <a:t>.</a:t>
                </a:r>
              </a:p>
            </p:txBody>
          </p:sp>
        </mc:Choice>
        <mc:Fallback>
          <p:sp>
            <p:nvSpPr>
              <p:cNvPr id="7" name="TextBox 6"/>
              <p:cNvSpPr txBox="1"/>
              <p:nvPr/>
            </p:nvSpPr>
            <p:spPr>
              <a:xfrm>
                <a:off x="548640" y="1325880"/>
                <a:ext cx="11064240" cy="1088136"/>
              </a:xfrm>
              <a:prstGeom prst="rect">
                <a:avLst/>
              </a:prstGeom>
              <a:noFill/>
            </p:spPr>
            <p:txBody>
              <a:bodyPr wrap="square" anchor="t" lIns="45720" rIns="45720">
                <a:spAutoFit/>
              </a:bodyPr>
              <a:lstStyle/>
              <a:p>
                <a:pPr algn="l">
                  <a:spcAft>
                    <a:spcPts val="800"/>
                  </a:spcAft>
                </a:pPr>
                <a:r>
                  <a:rPr sz="2000">
                    <a:solidFill>
                      <a:srgbClr val="1E293B"/>
                    </a:solidFill>
                    <a:latin typeface="Calibri"/>
                  </a:rPr>
                  <a:t>Quy ước: chiều quay ngược với chiều quay của kim đồng hồ là </a:t>
                </a:r>
                <a:r>
                  <a:rPr sz="2000" b="1">
                    <a:solidFill>
                      <a:srgbClr val="1E293B"/>
                    </a:solidFill>
                    <a:latin typeface="Calibri"/>
                  </a:rPr>
                  <a:t>chiều dương</a:t>
                </a:r>
                <a:r>
                  <a:rPr sz="2000">
                    <a:solidFill>
                      <a:srgbClr val="1E293B"/>
                    </a:solidFill>
                    <a:latin typeface="Calibri"/>
                  </a:rPr>
                  <a:t>, cùng chiều kim đồng hồ là </a:t>
                </a:r>
                <a:r>
                  <a:rPr sz="2000" b="1">
                    <a:solidFill>
                      <a:srgbClr val="1E293B"/>
                    </a:solidFill>
                    <a:latin typeface="Calibri"/>
                  </a:rPr>
                  <a:t>chiều âm</a:t>
                </a:r>
                <a:r>
                  <a:rPr sz="2000">
                    <a:solidFill>
                      <a:srgbClr val="1E293B"/>
                    </a:solidFill>
                    <a:latin typeface="Calibri"/>
                  </a:rPr>
                  <a:t>. Khi tia </a:t>
                </a:r>
                <a:r>
                  <a:rPr lang="vi-VN"/>
                  <a:t>Om</a:t>
                </a:r>
                <a:r>
                  <a:rPr sz="2000">
                    <a:solidFill>
                      <a:srgbClr val="1E293B"/>
                    </a:solidFill>
                    <a:latin typeface="Calibri"/>
                  </a:rPr>
                  <a:t> quay góc </a:t>
                </a:r>
                <a:r>
                  <a:rPr lang="vi-VN"/>
                  <a:t>\alpha^\circ</a:t>
                </a:r>
                <a:r>
                  <a:rPr sz="2000">
                    <a:solidFill>
                      <a:srgbClr val="1E293B"/>
                    </a:solidFill>
                    <a:latin typeface="Calibri"/>
                  </a:rPr>
                  <a:t> thì góc lượng giác mà tia đó quét nên có số đo </a:t>
                </a:r>
                <a:r>
                  <a:rPr lang="vi-VN"/>
                  <a:t>\alpha^\circ</a:t>
                </a:r>
                <a:r>
                  <a:rPr sz="2000">
                    <a:solidFill>
                      <a:srgbClr val="1E293B"/>
                    </a:solidFill>
                    <a:latin typeface="Calibri"/>
                  </a:rPr>
                  <a:t>, kí hiệu </a:t>
                </a:r>
                <a:r>
                  <a:rPr lang="vi-VN"/>
                  <a:t>\text{sđ}\,(Ou,\ Ov)</a:t>
                </a:r>
                <a:r>
                  <a:rPr sz="2000">
                    <a:solidFill>
                      <a:srgbClr val="1E293B"/>
                    </a:solidFill>
                    <a:latin typeface="Calibri"/>
                  </a:rPr>
                  <a:t>.</a:t>
                </a:r>
              </a:p>
            </p:txBody>
          </p:sp>
        </mc:Fallback>
      </mc:AlternateContent>
      <p:pic>
        <p:nvPicPr>
          <p:cNvPr id="8" name="Picture 7" descr="b1_h13b.png"/>
          <p:cNvPicPr>
            <a:picLocks noChangeAspect="1"/>
          </p:cNvPicPr>
          <p:nvPr/>
        </p:nvPicPr>
        <p:blipFill>
          <a:blip r:embed="rId3"/>
          <a:stretch>
            <a:fillRect/>
          </a:stretch>
        </p:blipFill>
        <p:spPr>
          <a:xfrm>
            <a:off x="1005840" y="2383698"/>
            <a:ext cx="10149840" cy="2090604"/>
          </a:xfrm>
          <a:prstGeom prst="rect">
            <a:avLst/>
          </a:prstGeom>
        </p:spPr>
      </p:pic>
      <p:sp>
        <p:nvSpPr>
          <p:cNvPr id="9" name="Rounded Rectangle 8"/>
          <p:cNvSpPr/>
          <p:nvPr/>
        </p:nvSpPr>
        <p:spPr>
          <a:xfrm>
            <a:off x="548640" y="4663440"/>
            <a:ext cx="11064240" cy="117957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TextBox 9"/>
              <p:cNvSpPr txBox="1"/>
              <p:nvPr/>
            </p:nvSpPr>
            <p:spPr>
              <a:xfrm>
                <a:off x="713232" y="4700016"/>
                <a:ext cx="1073505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Mỗi góc lượng giác gốc </a:t>
                </a:r>
                <a14:m>
                  <m:oMath xmlns:m="http://schemas.openxmlformats.org/officeDocument/2006/math">
                    <m:r>
                      <a:rPr lang="vi-VN" sz="2000" b="0">
                        <a:solidFill>
                          <a:srgbClr val="1E293B"/>
                        </a:solidFill>
                        <a:latin typeface="Cambria Math" panose="02040503050406030204" pitchFamily="18" charset="0"/>
                      </a:rPr>
                      <m:t>O</m:t>
                    </m:r>
                  </m:oMath>
                </a14:m>
                <a:r>
                  <a:rPr sz="2000">
                    <a:solidFill>
                      <a:srgbClr val="1E293B"/>
                    </a:solidFill>
                    <a:latin typeface="Calibri"/>
                  </a:rPr>
                  <a:t> được xác định bởi tia đầu </a:t>
                </a:r>
                <a14:m>
                  <m:oMath xmlns:m="http://schemas.openxmlformats.org/officeDocument/2006/math">
                    <m:r>
                      <a:rPr lang="vi-VN" sz="2000" b="0">
                        <a:solidFill>
                          <a:srgbClr val="1E293B"/>
                        </a:solidFill>
                        <a:latin typeface="Cambria Math" panose="02040503050406030204" pitchFamily="18" charset="0"/>
                      </a:rPr>
                      <m:t>Ou</m:t>
                    </m:r>
                  </m:oMath>
                </a14:m>
                <a:r>
                  <a:rPr sz="2000">
                    <a:solidFill>
                      <a:srgbClr val="1E293B"/>
                    </a:solidFill>
                    <a:latin typeface="Calibri"/>
                  </a:rPr>
                  <a:t>, tia cuối </a:t>
                </a:r>
                <a14:m>
                  <m:oMath xmlns:m="http://schemas.openxmlformats.org/officeDocument/2006/math">
                    <m:r>
                      <a:rPr lang="vi-VN" sz="2000" b="0">
                        <a:solidFill>
                          <a:srgbClr val="1E293B"/>
                        </a:solidFill>
                        <a:latin typeface="Cambria Math" panose="02040503050406030204" pitchFamily="18" charset="0"/>
                      </a:rPr>
                      <m:t>Ov</m:t>
                    </m:r>
                  </m:oMath>
                </a14:m>
                <a:r>
                  <a:rPr sz="2000">
                    <a:solidFill>
                      <a:srgbClr val="1E293B"/>
                    </a:solidFill>
                    <a:latin typeface="Calibri"/>
                  </a:rPr>
                  <a:t> và số đo của nó. </a:t>
                </a:r>
                <a:r>
                  <a:rPr sz="2000" b="1">
                    <a:solidFill>
                      <a:srgbClr val="1E293B"/>
                    </a:solidFill>
                    <a:latin typeface="Calibri"/>
                  </a:rPr>
                  <a:t>Chú ý.</a:t>
                </a:r>
                <a:r>
                  <a:rPr sz="2000">
                    <a:solidFill>
                      <a:srgbClr val="1E293B"/>
                    </a:solidFill>
                    <a:latin typeface="Calibri"/>
                  </a:rPr>
                  <a:t> Số đo của các góc lượng giác cùng tia đầu, tia cuối sai khác nhau một bội nguyên của </a:t>
                </a:r>
                <a14:m>
                  <m:oMath xmlns:m="http://schemas.openxmlformats.org/officeDocument/2006/math">
                    <m:sSup>
                      <m:e>
                        <m:r>
                          <a:rPr lang="vi-VN" sz="2000" b="0">
                            <a:solidFill>
                              <a:srgbClr val="1E293B"/>
                            </a:solidFill>
                            <a:latin typeface="Cambria Math" panose="02040503050406030204" pitchFamily="18" charset="0"/>
                          </a:rPr>
                          <m:t>360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0" name="TextBox 9"/>
              <p:cNvSpPr txBox="1"/>
              <p:nvPr/>
            </p:nvSpPr>
            <p:spPr>
              <a:xfrm>
                <a:off x="713232" y="4700016"/>
                <a:ext cx="10735056" cy="11064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Mỗi góc lượng giác gốc </a:t>
                </a:r>
                <a:r>
                  <a:rPr lang="vi-VN"/>
                  <a:t>O</a:t>
                </a:r>
                <a:r>
                  <a:rPr sz="2000">
                    <a:solidFill>
                      <a:srgbClr val="1E293B"/>
                    </a:solidFill>
                    <a:latin typeface="Calibri"/>
                  </a:rPr>
                  <a:t> được xác định bởi tia đầu </a:t>
                </a:r>
                <a:r>
                  <a:rPr lang="vi-VN"/>
                  <a:t>Ou</a:t>
                </a:r>
                <a:r>
                  <a:rPr sz="2000">
                    <a:solidFill>
                      <a:srgbClr val="1E293B"/>
                    </a:solidFill>
                    <a:latin typeface="Calibri"/>
                  </a:rPr>
                  <a:t>, tia cuối </a:t>
                </a:r>
                <a:r>
                  <a:rPr lang="vi-VN"/>
                  <a:t>Ov</a:t>
                </a:r>
                <a:r>
                  <a:rPr sz="2000">
                    <a:solidFill>
                      <a:srgbClr val="1E293B"/>
                    </a:solidFill>
                    <a:latin typeface="Calibri"/>
                  </a:rPr>
                  <a:t> và số đo của nó. </a:t>
                </a:r>
                <a:r>
                  <a:rPr sz="2000" b="1">
                    <a:solidFill>
                      <a:srgbClr val="1E293B"/>
                    </a:solidFill>
                    <a:latin typeface="Calibri"/>
                  </a:rPr>
                  <a:t>Chú ý.</a:t>
                </a:r>
                <a:r>
                  <a:rPr sz="2000">
                    <a:solidFill>
                      <a:srgbClr val="1E293B"/>
                    </a:solidFill>
                    <a:latin typeface="Calibri"/>
                  </a:rPr>
                  <a:t> Số đo của các góc lượng giác cùng tia đầu, tia cuối sai khác nhau một bội nguyên của </a:t>
                </a:r>
                <a:r>
                  <a:rPr lang="vi-VN"/>
                  <a:t>360^\circ</a:t>
                </a:r>
                <a:r>
                  <a:rPr sz="2000">
                    <a:solidFill>
                      <a:srgbClr val="1E293B"/>
                    </a:solidFill>
                    <a:latin typeface="Calibri"/>
                  </a:rPr>
                  <a:t>.</a:t>
                </a: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LUYỆN TẬP 1 (SGK TR.7)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69494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Cho góc hình học </a:t>
                </a:r>
                <a14:m>
                  <m:oMath xmlns:m="http://schemas.openxmlformats.org/officeDocument/2006/math">
                    <m:r>
                      <a:rPr lang="vi-VN" sz="2100" b="0">
                        <a:solidFill>
                          <a:srgbClr val="1E293B"/>
                        </a:solidFill>
                        <a:latin typeface="Cambria Math" panose="02040503050406030204" pitchFamily="18" charset="0"/>
                      </a:rPr>
                      <m:t>uOv</m:t>
                    </m:r>
                  </m:oMath>
                </a14:m>
                <a:r>
                  <a:rPr sz="2100">
                    <a:solidFill>
                      <a:srgbClr val="1E293B"/>
                    </a:solidFill>
                    <a:latin typeface="Calibri"/>
                  </a:rPr>
                  <a:t> có số đo </a:t>
                </a:r>
                <a14:m>
                  <m:oMath xmlns:m="http://schemas.openxmlformats.org/officeDocument/2006/math">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(H.1.4). Xác định số đo của các góc lượng giác </a:t>
                </a:r>
                <a14:m>
                  <m:oMath xmlns:m="http://schemas.openxmlformats.org/officeDocument/2006/math">
                    <m:d>
                      <m:dPr>
                        <m:sepChr m:val=","/>
                      </m:dPr>
                      <m:e>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u</m:t>
                        </m:r>
                      </m:e>
                      <m:e>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v</m:t>
                        </m:r>
                      </m:e>
                    </m:d>
                  </m:oMath>
                </a14:m>
                <a:r>
                  <a:rPr sz="2100">
                    <a:solidFill>
                      <a:srgbClr val="1E293B"/>
                    </a:solidFill>
                    <a:latin typeface="Calibri"/>
                  </a:rPr>
                  <a:t> và </a:t>
                </a:r>
                <a14:m>
                  <m:oMath xmlns:m="http://schemas.openxmlformats.org/officeDocument/2006/math">
                    <m:d>
                      <m:dPr>
                        <m:sepChr m:val=","/>
                      </m:dPr>
                      <m:e>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v</m:t>
                        </m:r>
                      </m:e>
                      <m:e>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u</m:t>
                        </m:r>
                      </m:e>
                    </m:d>
                  </m:oMath>
                </a14:m>
                <a:r>
                  <a:rPr sz="2100">
                    <a:solidFill>
                      <a:srgbClr val="1E293B"/>
                    </a:solidFill>
                    <a:latin typeface="Calibri"/>
                  </a:rPr>
                  <a:t>.</a:t>
                </a:r>
              </a:p>
            </p:txBody>
          </p:sp>
        </mc:Choice>
        <mc:Fallback>
          <p:sp>
            <p:nvSpPr>
              <p:cNvPr id="7" name="TextBox 6"/>
              <p:cNvSpPr txBox="1"/>
              <p:nvPr/>
            </p:nvSpPr>
            <p:spPr>
              <a:xfrm>
                <a:off x="548640" y="1371600"/>
                <a:ext cx="69494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a:t>
                </a:r>
                <a:r>
                  <a:rPr sz="2100">
                    <a:solidFill>
                      <a:srgbClr val="1E293B"/>
                    </a:solidFill>
                    <a:latin typeface="Calibri"/>
                  </a:rPr>
                  <a:t> Cho góc hình học </a:t>
                </a:r>
                <a:r>
                  <a:rPr lang="vi-VN"/>
                  <a:t>uOv</a:t>
                </a:r>
                <a:r>
                  <a:rPr sz="2100">
                    <a:solidFill>
                      <a:srgbClr val="1E293B"/>
                    </a:solidFill>
                    <a:latin typeface="Calibri"/>
                  </a:rPr>
                  <a:t> có số đo </a:t>
                </a:r>
                <a:r>
                  <a:rPr lang="vi-VN"/>
                  <a:t>60^\circ</a:t>
                </a:r>
                <a:r>
                  <a:rPr sz="2100">
                    <a:solidFill>
                      <a:srgbClr val="1E293B"/>
                    </a:solidFill>
                    <a:latin typeface="Calibri"/>
                  </a:rPr>
                  <a:t> (H.1.4). Xác định số đo của các góc lượng giác </a:t>
                </a:r>
                <a:r>
                  <a:rPr lang="vi-VN"/>
                  <a:t>(Ou,\ Ov)</a:t>
                </a:r>
                <a:r>
                  <a:rPr sz="2100">
                    <a:solidFill>
                      <a:srgbClr val="1E293B"/>
                    </a:solidFill>
                    <a:latin typeface="Calibri"/>
                  </a:rPr>
                  <a:t> và </a:t>
                </a:r>
                <a:r>
                  <a:rPr lang="vi-VN"/>
                  <a:t>(Ov,\ Ou)</a:t>
                </a:r>
                <a:r>
                  <a:rPr sz="2100">
                    <a:solidFill>
                      <a:srgbClr val="1E293B"/>
                    </a:solidFill>
                    <a:latin typeface="Calibri"/>
                  </a:rPr>
                  <a:t>.</a:t>
                </a:r>
              </a:p>
            </p:txBody>
          </p:sp>
        </mc:Fallback>
      </mc:AlternateContent>
      <p:sp>
        <p:nvSpPr>
          <p:cNvPr id="8" name="s1_nen"/>
          <p:cNvSpPr/>
          <p:nvPr/>
        </p:nvSpPr>
        <p:spPr>
          <a:xfrm>
            <a:off x="548640" y="2615184"/>
            <a:ext cx="69494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51760"/>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m:rPr>
                        <m:nor/>
                      </m:rPr>
                      <a:rPr lang="vi-VN" sz="2100" b="0">
                        <a:solidFill>
                          <a:srgbClr val="1E293B"/>
                        </a:solidFill>
                        <a:latin typeface="Cambria Math" panose="02040503050406030204" pitchFamily="18" charset="0"/>
                      </a:rPr>
                      <m:t>sđ </m:t>
                    </m:r>
                    <m:r>
                      <a:rPr lang="vi-VN" sz="2100" b="0">
                        <a:solidFill>
                          <a:srgbClr val="1E293B"/>
                        </a:solidFill>
                        <a:latin typeface="Cambria Math" panose="02040503050406030204" pitchFamily="18" charset="0"/>
                      </a:rPr>
                      <m:t>(Ou,</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Ov)</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+k</m:t>
                    </m:r>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r>
                      <m:rPr>
                        <m:nor/>
                      </m:rPr>
                      <a:rPr lang="vi-VN" sz="2100" b="0">
                        <a:solidFill>
                          <a:srgbClr val="1E293B"/>
                        </a:solidFill>
                        <a:latin typeface="Cambria Math" panose="02040503050406030204" pitchFamily="18" charset="0"/>
                      </a:rPr>
                      <m:t>sđ </m:t>
                    </m:r>
                    <m:r>
                      <a:rPr lang="vi-VN" sz="2100" b="0">
                        <a:solidFill>
                          <a:srgbClr val="1E293B"/>
                        </a:solidFill>
                        <a:latin typeface="Cambria Math" panose="02040503050406030204" pitchFamily="18" charset="0"/>
                      </a:rPr>
                      <m:t>(Ov,</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Ou)</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+k</m:t>
                    </m:r>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k</m:t>
                        </m:r>
                      </m:e>
                      <m:e>
                        <m:r>
                          <a:rPr lang="vi-VN" sz="2100" b="0">
                            <a:solidFill>
                              <a:srgbClr val="1E293B"/>
                            </a:solidFill>
                            <a:latin typeface="Cambria Math" panose="02040503050406030204" pitchFamily="18" charset="0"/>
                          </a:rPr>
                          <m:t>ℤ</m:t>
                        </m:r>
                      </m:e>
                    </m:d>
                  </m:oMath>
                </a14:m>
                <a:r>
                  <a:rPr sz="2100">
                    <a:solidFill>
                      <a:srgbClr val="1E293B"/>
                    </a:solidFill>
                    <a:latin typeface="Calibri"/>
                  </a:rPr>
                  <a:t>.</a:t>
                </a:r>
              </a:p>
            </p:txBody>
          </p:sp>
        </mc:Choice>
        <mc:Fallback>
          <p:sp>
            <p:nvSpPr>
              <p:cNvPr id="9" name="TextBox 8"/>
              <p:cNvSpPr txBox="1"/>
              <p:nvPr/>
            </p:nvSpPr>
            <p:spPr>
              <a:xfrm>
                <a:off x="713232" y="2651760"/>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\text{sđ}\,(Ou,\ Ov)</a:t>
                </a:r>
                <a:r>
                  <a:rPr sz="2100">
                    <a:solidFill>
                      <a:srgbClr val="1E293B"/>
                    </a:solidFill>
                    <a:latin typeface="Calibri"/>
                  </a:rPr>
                  <a:t> </a:t>
                </a:r>
                <a:r>
                  <a:rPr lang="vi-VN"/>
                  <a:t>=60^\circ+k360^\circ</a:t>
                </a:r>
                <a:r>
                  <a:rPr sz="2100">
                    <a:solidFill>
                      <a:srgbClr val="1E293B"/>
                    </a:solidFill>
                    <a:latin typeface="Calibri"/>
                  </a:rPr>
                  <a:t>; </a:t>
                </a:r>
                <a:r>
                  <a:rPr lang="vi-VN"/>
                  <a:t>\text{sđ}\,(Ov,\ Ou)</a:t>
                </a:r>
                <a:r>
                  <a:rPr sz="2100">
                    <a:solidFill>
                      <a:srgbClr val="1E293B"/>
                    </a:solidFill>
                    <a:latin typeface="Calibri"/>
                  </a:rPr>
                  <a:t> </a:t>
                </a:r>
                <a:r>
                  <a:rPr lang="vi-VN"/>
                  <a:t>=-60^\circ+k360^\circ</a:t>
                </a:r>
                <a:r>
                  <a:rPr sz="2100">
                    <a:solidFill>
                      <a:srgbClr val="1E293B"/>
                    </a:solidFill>
                    <a:latin typeface="Calibri"/>
                  </a:rPr>
                  <a:t> </a:t>
                </a:r>
                <a:r>
                  <a:rPr lang="vi-VN"/>
                  <a:t>(k\in\mathbb{Z})</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630168"/>
                <a:ext cx="69494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góc hình học </a:t>
                </a:r>
                <a14:m>
                  <m:oMath xmlns:m="http://schemas.openxmlformats.org/officeDocument/2006/math">
                    <m:acc>
                      <m:accPr>
                        <m:chr m:val="̂"/>
                      </m:accPr>
                      <m:e>
                        <m:r>
                          <a:rPr lang="vi-VN" sz="2100" b="0">
                            <a:solidFill>
                              <a:srgbClr val="1E293B"/>
                            </a:solidFill>
                            <a:latin typeface="Cambria Math" panose="02040503050406030204" pitchFamily="18" charset="0"/>
                          </a:rPr>
                          <m:t>uOv</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Xác định số đo của góc lượng giác </a:t>
                </a:r>
                <a14:m>
                  <m:oMath xmlns:m="http://schemas.openxmlformats.org/officeDocument/2006/math">
                    <m:d>
                      <m:dPr>
                        <m:sepChr m:val=","/>
                      </m:dPr>
                      <m:e>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u</m:t>
                        </m:r>
                      </m:e>
                      <m:e>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O</m:t>
                        </m:r>
                        <m:r>
                          <a:rPr lang="vi-VN" sz="2100" b="0">
                            <a:solidFill>
                              <a:srgbClr val="1E293B"/>
                            </a:solidFill>
                            <a:latin typeface="Cambria Math" panose="02040503050406030204" pitchFamily="18" charset="0"/>
                          </a:rPr>
                          <m:t>v</m:t>
                        </m:r>
                      </m:e>
                    </m:d>
                  </m:oMath>
                </a14:m>
                <a:r>
                  <a:rPr sz="2100">
                    <a:solidFill>
                      <a:srgbClr val="1E293B"/>
                    </a:solidFill>
                    <a:latin typeface="Calibri"/>
                  </a:rPr>
                  <a:t> trong mỗi trường hợp ở hình bên.</a:t>
                </a:r>
              </a:p>
            </p:txBody>
          </p:sp>
        </mc:Choice>
        <mc:Fallback>
          <p:sp>
            <p:nvSpPr>
              <p:cNvPr id="10" name="TextBox 9"/>
              <p:cNvSpPr txBox="1"/>
              <p:nvPr/>
            </p:nvSpPr>
            <p:spPr>
              <a:xfrm>
                <a:off x="548640" y="3630168"/>
                <a:ext cx="6949440" cy="1133856"/>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1.</a:t>
                </a:r>
                <a:r>
                  <a:rPr sz="2100">
                    <a:solidFill>
                      <a:srgbClr val="1E293B"/>
                    </a:solidFill>
                    <a:latin typeface="Calibri"/>
                  </a:rPr>
                  <a:t> Cho góc hình học </a:t>
                </a:r>
                <a:r>
                  <a:rPr lang="vi-VN"/>
                  <a:t>\widehat{uOv}=45^\circ</a:t>
                </a:r>
                <a:r>
                  <a:rPr sz="2100">
                    <a:solidFill>
                      <a:srgbClr val="1E293B"/>
                    </a:solidFill>
                    <a:latin typeface="Calibri"/>
                  </a:rPr>
                  <a:t>. Xác định số đo của góc lượng giác </a:t>
                </a:r>
                <a:r>
                  <a:rPr lang="vi-VN"/>
                  <a:t>(Ou,\ Ov)</a:t>
                </a:r>
                <a:r>
                  <a:rPr sz="2100">
                    <a:solidFill>
                      <a:srgbClr val="1E293B"/>
                    </a:solidFill>
                    <a:latin typeface="Calibri"/>
                  </a:rPr>
                  <a:t> trong mỗi trường hợp ở hình bên.</a:t>
                </a:r>
              </a:p>
            </p:txBody>
          </p:sp>
        </mc:Fallback>
      </mc:AlternateContent>
      <p:sp>
        <p:nvSpPr>
          <p:cNvPr id="11" name="s3_nen"/>
          <p:cNvSpPr/>
          <p:nvPr/>
        </p:nvSpPr>
        <p:spPr>
          <a:xfrm>
            <a:off x="548640" y="4873752"/>
            <a:ext cx="6949440" cy="9052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910328"/>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b)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315</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(tia </a:t>
                </a:r>
                <a14:m>
                  <m:oMath xmlns:m="http://schemas.openxmlformats.org/officeDocument/2006/math">
                    <m:r>
                      <a:rPr lang="vi-VN" sz="2100" b="0">
                        <a:solidFill>
                          <a:srgbClr val="1E293B"/>
                        </a:solidFill>
                        <a:latin typeface="Cambria Math" panose="02040503050406030204" pitchFamily="18" charset="0"/>
                      </a:rPr>
                      <m:t>Om</m:t>
                    </m:r>
                  </m:oMath>
                </a14:m>
                <a:r>
                  <a:rPr sz="2100">
                    <a:solidFill>
                      <a:srgbClr val="1E293B"/>
                    </a:solidFill>
                    <a:latin typeface="Calibri"/>
                  </a:rPr>
                  <a:t> quay theo chiều âm </a:t>
                </a:r>
                <a14:m>
                  <m:oMath xmlns:m="http://schemas.openxmlformats.org/officeDocument/2006/math">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12" name="TextBox 11"/>
              <p:cNvSpPr txBox="1"/>
              <p:nvPr/>
            </p:nvSpPr>
            <p:spPr>
              <a:xfrm>
                <a:off x="713232" y="4910328"/>
                <a:ext cx="6620255" cy="83210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45^\circ</a:t>
                </a:r>
                <a:r>
                  <a:rPr sz="2100">
                    <a:solidFill>
                      <a:srgbClr val="1E293B"/>
                    </a:solidFill>
                    <a:latin typeface="Calibri"/>
                  </a:rPr>
                  <a:t>; b) </a:t>
                </a:r>
                <a:r>
                  <a:rPr lang="vi-VN"/>
                  <a:t>-315^\circ</a:t>
                </a:r>
                <a:r>
                  <a:rPr sz="2100">
                    <a:solidFill>
                      <a:srgbClr val="1E293B"/>
                    </a:solidFill>
                    <a:latin typeface="Calibri"/>
                  </a:rPr>
                  <a:t> (tia </a:t>
                </a:r>
                <a:r>
                  <a:rPr lang="vi-VN"/>
                  <a:t>Om</a:t>
                </a:r>
                <a:r>
                  <a:rPr sz="2100">
                    <a:solidFill>
                      <a:srgbClr val="1E293B"/>
                    </a:solidFill>
                    <a:latin typeface="Calibri"/>
                  </a:rPr>
                  <a:t> quay theo chiều âm </a:t>
                </a:r>
                <a:r>
                  <a:rPr lang="vi-VN"/>
                  <a:t>360^\circ-45^\circ</a:t>
                </a:r>
                <a:r>
                  <a:rPr sz="2100">
                    <a:solidFill>
                      <a:srgbClr val="1E293B"/>
                    </a:solidFill>
                    <a:latin typeface="Calibri"/>
                  </a:rPr>
                  <a:t>).</a:t>
                </a:r>
              </a:p>
            </p:txBody>
          </p:sp>
        </mc:Fallback>
      </mc:AlternateContent>
      <p:pic>
        <p:nvPicPr>
          <p:cNvPr id="13" name="Picture 12" descr="b1_h14.png"/>
          <p:cNvPicPr>
            <a:picLocks noChangeAspect="1"/>
          </p:cNvPicPr>
          <p:nvPr/>
        </p:nvPicPr>
        <p:blipFill>
          <a:blip r:embed="rId3"/>
          <a:stretch>
            <a:fillRect/>
          </a:stretch>
        </p:blipFill>
        <p:spPr>
          <a:xfrm>
            <a:off x="7869977" y="1371600"/>
            <a:ext cx="2730926" cy="2286000"/>
          </a:xfrm>
          <a:prstGeom prst="rect">
            <a:avLst/>
          </a:prstGeom>
        </p:spPr>
      </p:pic>
      <p:pic>
        <p:nvPicPr>
          <p:cNvPr id="14" name="Picture 13" descr="b1_lt1.png"/>
          <p:cNvPicPr>
            <a:picLocks noChangeAspect="1"/>
          </p:cNvPicPr>
          <p:nvPr/>
        </p:nvPicPr>
        <p:blipFill>
          <a:blip r:embed="rId4"/>
          <a:stretch>
            <a:fillRect/>
          </a:stretch>
        </p:blipFill>
        <p:spPr>
          <a:xfrm>
            <a:off x="7589520" y="3938907"/>
            <a:ext cx="4114800" cy="14490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HỆ THỨC CHASLES – HĐ2 (SGK TR.7)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41248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HĐ2.</a:t>
                </a:r>
                <a:r>
                  <a:rPr sz="2000">
                    <a:solidFill>
                      <a:srgbClr val="1E293B"/>
                    </a:solidFill>
                    <a:latin typeface="Calibri"/>
                  </a:rPr>
                  <a:t> Ba tia </a:t>
                </a:r>
                <a14:m>
                  <m:oMath xmlns:m="http://schemas.openxmlformats.org/officeDocument/2006/math">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Ov,</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Ow</m:t>
                    </m:r>
                  </m:oMath>
                </a14:m>
                <a:r>
                  <a:rPr sz="2000">
                    <a:solidFill>
                      <a:srgbClr val="1E293B"/>
                    </a:solidFill>
                    <a:latin typeface="Calibri"/>
                  </a:rPr>
                  <a:t> với góc hình học </a:t>
                </a:r>
                <a14:m>
                  <m:oMath xmlns:m="http://schemas.openxmlformats.org/officeDocument/2006/math">
                    <m:r>
                      <a:rPr lang="vi-VN" sz="2000" b="0">
                        <a:solidFill>
                          <a:srgbClr val="1E293B"/>
                        </a:solidFill>
                        <a:latin typeface="Cambria Math" panose="02040503050406030204" pitchFamily="18" charset="0"/>
                      </a:rPr>
                      <m:t>uOv=</m:t>
                    </m:r>
                    <m:sSup>
                      <m:e>
                        <m:r>
                          <a:rPr lang="vi-VN" sz="2000" b="0">
                            <a:solidFill>
                              <a:srgbClr val="1E293B"/>
                            </a:solidFill>
                            <a:latin typeface="Cambria Math" panose="02040503050406030204" pitchFamily="18" charset="0"/>
                          </a:rPr>
                          <m:t>30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vOw=</m:t>
                    </m:r>
                    <m:sSup>
                      <m:e>
                        <m:r>
                          <a:rPr lang="vi-VN" sz="2000" b="0">
                            <a:solidFill>
                              <a:srgbClr val="1E293B"/>
                            </a:solidFill>
                            <a:latin typeface="Cambria Math" panose="02040503050406030204" pitchFamily="18" charset="0"/>
                          </a:rPr>
                          <m:t>45</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 Xác định số đo của ba góc lượng giác </a:t>
                </a:r>
                <a14:m>
                  <m:oMath xmlns:m="http://schemas.openxmlformats.org/officeDocument/2006/math">
                    <m:d>
                      <m:dPr>
                        <m:sepChr m:val=","/>
                      </m:dPr>
                      <m:e>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u</m:t>
                        </m:r>
                      </m:e>
                      <m:e>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v</m:t>
                        </m:r>
                      </m:e>
                    </m:d>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v</m:t>
                        </m:r>
                      </m:e>
                      <m:e>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w</m:t>
                        </m:r>
                      </m:e>
                    </m:d>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u</m:t>
                        </m:r>
                      </m:e>
                      <m:e>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m:t>
                        </m:r>
                        <m:r>
                          <a:rPr lang="vi-VN" sz="2000" b="0">
                            <a:solidFill>
                              <a:srgbClr val="1E293B"/>
                            </a:solidFill>
                            <a:latin typeface="Cambria Math" panose="02040503050406030204" pitchFamily="18" charset="0"/>
                          </a:rPr>
                          <m:t>w</m:t>
                        </m:r>
                      </m:e>
                    </m:d>
                  </m:oMath>
                </a14:m>
                <a:r>
                  <a:rPr sz="2000">
                    <a:solidFill>
                      <a:srgbClr val="1E293B"/>
                    </a:solidFill>
                    <a:latin typeface="Calibri"/>
                  </a:rPr>
                  <a:t> ở Hình 1.5. b) Chứng tỏ có số nguyên </a:t>
                </a:r>
                <a14:m>
                  <m:oMath xmlns:m="http://schemas.openxmlformats.org/officeDocument/2006/math">
                    <m:r>
                      <a:rPr lang="vi-VN" sz="2000" b="0">
                        <a:solidFill>
                          <a:srgbClr val="1E293B"/>
                        </a:solidFill>
                        <a:latin typeface="Cambria Math" panose="02040503050406030204" pitchFamily="18" charset="0"/>
                      </a:rPr>
                      <m:t>k</m:t>
                    </m:r>
                  </m:oMath>
                </a14:m>
                <a:r>
                  <a:rPr sz="2000">
                    <a:solidFill>
                      <a:srgbClr val="1E293B"/>
                    </a:solidFill>
                    <a:latin typeface="Calibri"/>
                  </a:rPr>
                  <a:t> để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Ov)</m:t>
                    </m:r>
                  </m:oMath>
                </a14:m>
                <a:r>
                  <a:rPr sz="2000">
                    <a:solidFill>
                      <a:srgbClr val="1E293B"/>
                    </a:solidFill>
                    <a:latin typeface="Calibri"/>
                  </a:rPr>
                  <a:t> +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(Ov,</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Ow)</m:t>
                    </m:r>
                  </m:oMath>
                </a14:m>
                <a:r>
                  <a:rPr sz="2000">
                    <a:solidFill>
                      <a:srgbClr val="1E293B"/>
                    </a:solidFill>
                    <a:latin typeface="Calibri"/>
                  </a:rPr>
                  <a:t> =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Ow)</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+k</m:t>
                    </m:r>
                    <m:sSup>
                      <m:e>
                        <m:r>
                          <a:rPr lang="vi-VN" sz="2000" b="0">
                            <a:solidFill>
                              <a:srgbClr val="1E293B"/>
                            </a:solidFill>
                            <a:latin typeface="Cambria Math" panose="02040503050406030204" pitchFamily="18" charset="0"/>
                          </a:rPr>
                          <m:t>360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7" name="TextBox 6"/>
              <p:cNvSpPr txBox="1"/>
              <p:nvPr/>
            </p:nvSpPr>
            <p:spPr>
              <a:xfrm>
                <a:off x="548640" y="1371600"/>
                <a:ext cx="8412480" cy="1392936"/>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HĐ2.</a:t>
                </a:r>
                <a:r>
                  <a:rPr sz="2000">
                    <a:solidFill>
                      <a:srgbClr val="1E293B"/>
                    </a:solidFill>
                    <a:latin typeface="Calibri"/>
                  </a:rPr>
                  <a:t> Ba tia </a:t>
                </a:r>
                <a:r>
                  <a:rPr lang="vi-VN"/>
                  <a:t>Ou,\ Ov,\ Ow</a:t>
                </a:r>
                <a:r>
                  <a:rPr sz="2000">
                    <a:solidFill>
                      <a:srgbClr val="1E293B"/>
                    </a:solidFill>
                    <a:latin typeface="Calibri"/>
                  </a:rPr>
                  <a:t> với góc hình học </a:t>
                </a:r>
                <a:r>
                  <a:rPr lang="vi-VN"/>
                  <a:t>uOv=30^\circ</a:t>
                </a:r>
                <a:r>
                  <a:rPr sz="2000">
                    <a:solidFill>
                      <a:srgbClr val="1E293B"/>
                    </a:solidFill>
                    <a:latin typeface="Calibri"/>
                  </a:rPr>
                  <a:t>, </a:t>
                </a:r>
                <a:r>
                  <a:rPr lang="vi-VN"/>
                  <a:t>vOw=45^\circ</a:t>
                </a:r>
                <a:r>
                  <a:rPr sz="2000">
                    <a:solidFill>
                      <a:srgbClr val="1E293B"/>
                    </a:solidFill>
                    <a:latin typeface="Calibri"/>
                  </a:rPr>
                  <a:t>. a) Xác định số đo của ba góc lượng giác </a:t>
                </a:r>
                <a:r>
                  <a:rPr lang="vi-VN"/>
                  <a:t>(Ou,\ Ov)</a:t>
                </a:r>
                <a:r>
                  <a:rPr sz="2000">
                    <a:solidFill>
                      <a:srgbClr val="1E293B"/>
                    </a:solidFill>
                    <a:latin typeface="Calibri"/>
                  </a:rPr>
                  <a:t>, </a:t>
                </a:r>
                <a:r>
                  <a:rPr lang="vi-VN"/>
                  <a:t>(Ov,\ Ow)</a:t>
                </a:r>
                <a:r>
                  <a:rPr sz="2000">
                    <a:solidFill>
                      <a:srgbClr val="1E293B"/>
                    </a:solidFill>
                    <a:latin typeface="Calibri"/>
                  </a:rPr>
                  <a:t>, </a:t>
                </a:r>
                <a:r>
                  <a:rPr lang="vi-VN"/>
                  <a:t>(Ou,\ Ow)</a:t>
                </a:r>
                <a:r>
                  <a:rPr sz="2000">
                    <a:solidFill>
                      <a:srgbClr val="1E293B"/>
                    </a:solidFill>
                    <a:latin typeface="Calibri"/>
                  </a:rPr>
                  <a:t> ở Hình 1.5. b) Chứng tỏ có số nguyên </a:t>
                </a:r>
                <a:r>
                  <a:rPr lang="vi-VN"/>
                  <a:t>k</a:t>
                </a:r>
                <a:r>
                  <a:rPr sz="2000">
                    <a:solidFill>
                      <a:srgbClr val="1E293B"/>
                    </a:solidFill>
                    <a:latin typeface="Calibri"/>
                  </a:rPr>
                  <a:t> để </a:t>
                </a:r>
                <a:r>
                  <a:rPr lang="vi-VN"/>
                  <a:t>\text{sđ}\,(Ou,\ Ov)</a:t>
                </a:r>
                <a:r>
                  <a:rPr sz="2000">
                    <a:solidFill>
                      <a:srgbClr val="1E293B"/>
                    </a:solidFill>
                    <a:latin typeface="Calibri"/>
                  </a:rPr>
                  <a:t> + </a:t>
                </a:r>
                <a:r>
                  <a:rPr lang="vi-VN"/>
                  <a:t>\text{sđ}\,(Ov,\ Ow)</a:t>
                </a:r>
                <a:r>
                  <a:rPr sz="2000">
                    <a:solidFill>
                      <a:srgbClr val="1E293B"/>
                    </a:solidFill>
                    <a:latin typeface="Calibri"/>
                  </a:rPr>
                  <a:t> = </a:t>
                </a:r>
                <a:r>
                  <a:rPr lang="vi-VN"/>
                  <a:t>\text{sđ}\,(Ou,\ Ow)</a:t>
                </a:r>
                <a:r>
                  <a:rPr sz="2000">
                    <a:solidFill>
                      <a:srgbClr val="1E293B"/>
                    </a:solidFill>
                    <a:latin typeface="Calibri"/>
                  </a:rPr>
                  <a:t> </a:t>
                </a:r>
                <a:r>
                  <a:rPr lang="vi-VN"/>
                  <a:t>+k360^\circ</a:t>
                </a:r>
                <a:r>
                  <a:rPr sz="2000">
                    <a:solidFill>
                      <a:srgbClr val="1E293B"/>
                    </a:solidFill>
                    <a:latin typeface="Calibri"/>
                  </a:rPr>
                  <a:t>.</a:t>
                </a:r>
              </a:p>
            </p:txBody>
          </p:sp>
        </mc:Fallback>
      </mc:AlternateContent>
      <p:sp>
        <p:nvSpPr>
          <p:cNvPr id="8" name="s1_nen"/>
          <p:cNvSpPr/>
          <p:nvPr/>
        </p:nvSpPr>
        <p:spPr>
          <a:xfrm>
            <a:off x="548640" y="2855976"/>
            <a:ext cx="841248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892552"/>
                <a:ext cx="808329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14:m>
                  <m:oMath xmlns:m="http://schemas.openxmlformats.org/officeDocument/2006/math">
                    <m:sSup>
                      <m:e>
                        <m:r>
                          <a:rPr lang="vi-VN" sz="2000" b="0">
                            <a:solidFill>
                              <a:srgbClr val="1E293B"/>
                            </a:solidFill>
                            <a:latin typeface="Cambria Math" panose="02040503050406030204" pitchFamily="18" charset="0"/>
                          </a:rPr>
                          <m:t>30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45</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sSup>
                      <m:e>
                        <m:r>
                          <a:rPr lang="vi-VN" sz="2000" b="0">
                            <a:solidFill>
                              <a:srgbClr val="1E293B"/>
                            </a:solidFill>
                            <a:latin typeface="Cambria Math" panose="02040503050406030204" pitchFamily="18" charset="0"/>
                          </a:rPr>
                          <m:t>435</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b) </a:t>
                </a:r>
                <a14:m>
                  <m:oMath xmlns:m="http://schemas.openxmlformats.org/officeDocument/2006/math">
                    <m:sSup>
                      <m:e>
                        <m:r>
                          <a:rPr lang="vi-VN" sz="2000" b="0">
                            <a:solidFill>
                              <a:srgbClr val="1E293B"/>
                            </a:solidFill>
                            <a:latin typeface="Cambria Math" panose="02040503050406030204" pitchFamily="18" charset="0"/>
                          </a:rPr>
                          <m:t>30</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45</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75</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435</m:t>
                        </m:r>
                      </m:e>
                      <m:sup>
                        <m:r>
                          <a:rPr lang="vi-VN" sz="2000" b="0">
                            <a:solidFill>
                              <a:srgbClr val="1E293B"/>
                            </a:solidFill>
                            <a:latin typeface="Cambria Math" panose="02040503050406030204" pitchFamily="18" charset="0"/>
                          </a:rPr>
                          <m:t>∘</m:t>
                        </m:r>
                      </m:sup>
                    </m:sSup>
                    <m:r>
                      <a:rPr lang="vi-VN" sz="2000" b="0">
                        <a:solidFill>
                          <a:srgbClr val="1E293B"/>
                        </a:solidFill>
                        <a:latin typeface="Cambria Math" panose="02040503050406030204" pitchFamily="18" charset="0"/>
                      </a:rPr>
                      <m:t>+(−1)·</m:t>
                    </m:r>
                    <m:sSup>
                      <m:e>
                        <m:r>
                          <a:rPr lang="vi-VN" sz="2000" b="0">
                            <a:solidFill>
                              <a:srgbClr val="1E293B"/>
                            </a:solidFill>
                            <a:latin typeface="Cambria Math" panose="02040503050406030204" pitchFamily="18" charset="0"/>
                          </a:rPr>
                          <m:t>360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tức </a:t>
                </a:r>
                <a14:m>
                  <m:oMath xmlns:m="http://schemas.openxmlformats.org/officeDocument/2006/math">
                    <m:r>
                      <a:rPr lang="vi-VN" sz="2000" b="0">
                        <a:solidFill>
                          <a:srgbClr val="1E293B"/>
                        </a:solidFill>
                        <a:latin typeface="Cambria Math" panose="02040503050406030204" pitchFamily="18" charset="0"/>
                      </a:rPr>
                      <m:t>k=−1</m:t>
                    </m:r>
                  </m:oMath>
                </a14:m>
                <a:r>
                  <a:rPr sz="2000">
                    <a:solidFill>
                      <a:srgbClr val="1E293B"/>
                    </a:solidFill>
                    <a:latin typeface="Calibri"/>
                  </a:rPr>
                  <a:t>.</a:t>
                </a:r>
              </a:p>
            </p:txBody>
          </p:sp>
        </mc:Choice>
        <mc:Fallback>
          <p:sp>
            <p:nvSpPr>
              <p:cNvPr id="9" name="TextBox 8"/>
              <p:cNvSpPr txBox="1"/>
              <p:nvPr/>
            </p:nvSpPr>
            <p:spPr>
              <a:xfrm>
                <a:off x="713232" y="2892552"/>
                <a:ext cx="808329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a) </a:t>
                </a:r>
                <a:r>
                  <a:rPr lang="vi-VN"/>
                  <a:t>30^\circ</a:t>
                </a:r>
                <a:r>
                  <a:rPr sz="2000">
                    <a:solidFill>
                      <a:srgbClr val="1E293B"/>
                    </a:solidFill>
                    <a:latin typeface="Calibri"/>
                  </a:rPr>
                  <a:t>; </a:t>
                </a:r>
                <a:r>
                  <a:rPr lang="vi-VN"/>
                  <a:t>45^\circ</a:t>
                </a:r>
                <a:r>
                  <a:rPr sz="2000">
                    <a:solidFill>
                      <a:srgbClr val="1E293B"/>
                    </a:solidFill>
                    <a:latin typeface="Calibri"/>
                  </a:rPr>
                  <a:t>; </a:t>
                </a:r>
                <a:r>
                  <a:rPr lang="vi-VN"/>
                  <a:t>435^\circ</a:t>
                </a:r>
                <a:r>
                  <a:rPr sz="2000">
                    <a:solidFill>
                      <a:srgbClr val="1E293B"/>
                    </a:solidFill>
                    <a:latin typeface="Calibri"/>
                  </a:rPr>
                  <a:t>. b) </a:t>
                </a:r>
                <a:r>
                  <a:rPr lang="vi-VN"/>
                  <a:t>30^\circ+45^\circ=75^\circ=435^\circ+(-1)\cdot 360^\circ</a:t>
                </a:r>
                <a:r>
                  <a:rPr sz="2000">
                    <a:solidFill>
                      <a:srgbClr val="1E293B"/>
                    </a:solidFill>
                    <a:latin typeface="Calibri"/>
                  </a:rPr>
                  <a:t>, tức </a:t>
                </a:r>
                <a:r>
                  <a:rPr lang="vi-VN"/>
                  <a:t>k=-1</a:t>
                </a:r>
                <a:r>
                  <a:rPr sz="2000">
                    <a:solidFill>
                      <a:srgbClr val="1E293B"/>
                    </a:solidFill>
                    <a:latin typeface="Calibri"/>
                  </a:rPr>
                  <a:t>.</a:t>
                </a:r>
              </a:p>
            </p:txBody>
          </p:sp>
        </mc:Fallback>
      </mc:AlternateContent>
      <p:sp>
        <p:nvSpPr>
          <p:cNvPr id="10" name="s2_nen"/>
          <p:cNvSpPr/>
          <p:nvPr/>
        </p:nvSpPr>
        <p:spPr>
          <a:xfrm>
            <a:off x="548640" y="3822191"/>
            <a:ext cx="8412480" cy="15849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858768"/>
                <a:ext cx="8083296" cy="1511808"/>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Hệ thức Chasles:</a:t>
                </a:r>
                <a:r>
                  <a:rPr sz="2000">
                    <a:solidFill>
                      <a:srgbClr val="1E293B"/>
                    </a:solidFill>
                    <a:latin typeface="Calibri"/>
                  </a:rPr>
                  <a:t> Với ba tia </a:t>
                </a:r>
                <a14:m>
                  <m:oMath xmlns:m="http://schemas.openxmlformats.org/officeDocument/2006/math">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Ov,</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Ow</m:t>
                    </m:r>
                  </m:oMath>
                </a14:m>
                <a:r>
                  <a:rPr sz="2000">
                    <a:solidFill>
                      <a:srgbClr val="1E293B"/>
                    </a:solidFill>
                    <a:latin typeface="Calibri"/>
                  </a:rPr>
                  <a:t> bất kì: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Ov)</m:t>
                    </m:r>
                  </m:oMath>
                </a14:m>
                <a:r>
                  <a:rPr sz="2000">
                    <a:solidFill>
                      <a:srgbClr val="1E293B"/>
                    </a:solidFill>
                    <a:latin typeface="Calibri"/>
                  </a:rPr>
                  <a:t> +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(Ov,</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Ow)</m:t>
                    </m:r>
                  </m:oMath>
                </a14:m>
                <a:r>
                  <a:rPr sz="2000">
                    <a:solidFill>
                      <a:srgbClr val="1E293B"/>
                    </a:solidFill>
                    <a:latin typeface="Calibri"/>
                  </a:rPr>
                  <a:t> =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Ow)</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+k</m:t>
                    </m:r>
                    <m:sSup>
                      <m:e>
                        <m:r>
                          <a:rPr lang="vi-VN" sz="2000" b="0">
                            <a:solidFill>
                              <a:srgbClr val="1E293B"/>
                            </a:solidFill>
                            <a:latin typeface="Cambria Math" panose="02040503050406030204" pitchFamily="18" charset="0"/>
                          </a:rPr>
                          <m:t>360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 </a:t>
                </a:r>
                <a14:m>
                  <m:oMath xmlns:m="http://schemas.openxmlformats.org/officeDocument/2006/math">
                    <m:d>
                      <m:dPr>
                        <m:sepChr m:val="∈"/>
                      </m:dPr>
                      <m:e>
                        <m:r>
                          <a:rPr lang="vi-VN" sz="2000" b="0">
                            <a:solidFill>
                              <a:srgbClr val="1E293B"/>
                            </a:solidFill>
                            <a:latin typeface="Cambria Math" panose="02040503050406030204" pitchFamily="18" charset="0"/>
                          </a:rPr>
                          <m:t>k</m:t>
                        </m:r>
                      </m:e>
                      <m:e>
                        <m:r>
                          <a:rPr lang="vi-VN" sz="2000" b="0">
                            <a:solidFill>
                              <a:srgbClr val="1E293B"/>
                            </a:solidFill>
                            <a:latin typeface="Cambria Math" panose="02040503050406030204" pitchFamily="18" charset="0"/>
                          </a:rPr>
                          <m:t>ℤ</m:t>
                        </m:r>
                      </m:e>
                    </m:d>
                  </m:oMath>
                </a14:m>
                <a:r>
                  <a:rPr sz="2000">
                    <a:solidFill>
                      <a:srgbClr val="1E293B"/>
                    </a:solidFill>
                    <a:latin typeface="Calibri"/>
                  </a:rPr>
                  <a:t>.</a:t>
                </a:r>
              </a:p>
              <a:p>
                <a:pPr algn="l">
                  <a:spcAft>
                    <a:spcPts val="800"/>
                  </a:spcAft>
                </a:pPr>
                <a:r>
                  <a:rPr sz="2000" b="1">
                    <a:solidFill>
                      <a:srgbClr val="1E293B"/>
                    </a:solidFill>
                    <a:latin typeface="Calibri"/>
                  </a:rPr>
                  <a:t>Nhận xét.</a:t>
                </a:r>
                <a:r>
                  <a:rPr sz="2000">
                    <a:solidFill>
                      <a:srgbClr val="1E293B"/>
                    </a:solidFill>
                    <a:latin typeface="Calibri"/>
                  </a:rPr>
                  <a:t>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(Ou,</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Ov)</m:t>
                    </m:r>
                  </m:oMath>
                </a14:m>
                <a:r>
                  <a:rPr sz="2000">
                    <a:solidFill>
                      <a:srgbClr val="1E293B"/>
                    </a:solidFill>
                    <a:latin typeface="Calibri"/>
                  </a:rPr>
                  <a:t> =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(Ox,</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Ov)</m:t>
                    </m:r>
                  </m:oMath>
                </a14:m>
                <a:r>
                  <a:rPr sz="2000">
                    <a:solidFill>
                      <a:srgbClr val="1E293B"/>
                    </a:solidFill>
                    <a:latin typeface="Calibri"/>
                  </a:rPr>
                  <a:t> − </a:t>
                </a:r>
                <a14:m>
                  <m:oMath xmlns:m="http://schemas.openxmlformats.org/officeDocument/2006/math">
                    <m:r>
                      <m:rPr>
                        <m:nor/>
                      </m:rPr>
                      <a:rPr lang="vi-VN" sz="2000" b="0">
                        <a:solidFill>
                          <a:srgbClr val="1E293B"/>
                        </a:solidFill>
                        <a:latin typeface="Cambria Math" panose="02040503050406030204" pitchFamily="18" charset="0"/>
                      </a:rPr>
                      <m:t>sđ </m:t>
                    </m:r>
                    <m:r>
                      <a:rPr lang="vi-VN" sz="2000" b="0">
                        <a:solidFill>
                          <a:srgbClr val="1E293B"/>
                        </a:solidFill>
                        <a:latin typeface="Cambria Math" panose="02040503050406030204" pitchFamily="18" charset="0"/>
                      </a:rPr>
                      <m:t>(Ox,</m:t>
                    </m:r>
                    <m:r>
                      <m:rPr>
                        <m:sty m:val="p"/>
                      </m:rPr>
                      <a:rPr lang="vi-VN" sz="2000" b="0">
                        <a:solidFill>
                          <a:srgbClr val="1E293B"/>
                        </a:solidFill>
                        <a:latin typeface="Cambria Math" panose="02040503050406030204" pitchFamily="18" charset="0"/>
                      </a:rPr>
                      <m:t> </m:t>
                    </m:r>
                    <m:r>
                      <a:rPr lang="vi-VN" sz="2000" b="0">
                        <a:solidFill>
                          <a:srgbClr val="1E293B"/>
                        </a:solidFill>
                        <a:latin typeface="Cambria Math" panose="02040503050406030204" pitchFamily="18" charset="0"/>
                      </a:rPr>
                      <m:t>Ou)</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+k</m:t>
                    </m:r>
                    <m:sSup>
                      <m:e>
                        <m:r>
                          <a:rPr lang="vi-VN" sz="2000" b="0">
                            <a:solidFill>
                              <a:srgbClr val="1E293B"/>
                            </a:solidFill>
                            <a:latin typeface="Cambria Math" panose="02040503050406030204" pitchFamily="18" charset="0"/>
                          </a:rPr>
                          <m:t>360</m:t>
                        </m:r>
                      </m:e>
                      <m:sup>
                        <m:r>
                          <a:rPr lang="vi-VN" sz="2000" b="0">
                            <a:solidFill>
                              <a:srgbClr val="1E293B"/>
                            </a:solidFill>
                            <a:latin typeface="Cambria Math" panose="02040503050406030204" pitchFamily="18" charset="0"/>
                          </a:rPr>
                          <m:t>∘</m:t>
                        </m:r>
                      </m:sup>
                    </m:sSup>
                  </m:oMath>
                </a14:m>
                <a:r>
                  <a:rPr sz="2000">
                    <a:solidFill>
                      <a:srgbClr val="1E293B"/>
                    </a:solidFill>
                    <a:latin typeface="Calibri"/>
                  </a:rPr>
                  <a:t>.</a:t>
                </a:r>
              </a:p>
            </p:txBody>
          </p:sp>
        </mc:Choice>
        <mc:Fallback>
          <p:sp>
            <p:nvSpPr>
              <p:cNvPr id="11" name="TextBox 10"/>
              <p:cNvSpPr txBox="1"/>
              <p:nvPr/>
            </p:nvSpPr>
            <p:spPr>
              <a:xfrm>
                <a:off x="713232" y="3858768"/>
                <a:ext cx="8083296" cy="1511808"/>
              </a:xfrm>
              <a:prstGeom prst="rect">
                <a:avLst/>
              </a:prstGeom>
              <a:noFill/>
            </p:spPr>
            <p:txBody>
              <a:bodyPr wrap="square" anchor="ctr" lIns="45720" rIns="45720">
                <a:spAutoFit/>
              </a:bodyPr>
              <a:lstStyle/>
              <a:p>
                <a:pPr algn="l">
                  <a:spcAft>
                    <a:spcPts val="800"/>
                  </a:spcAft>
                </a:pPr>
                <a:r>
                  <a:rPr sz="2000" b="1">
                    <a:solidFill>
                      <a:srgbClr val="1E293B"/>
                    </a:solidFill>
                    <a:latin typeface="Calibri"/>
                  </a:rPr>
                  <a:t>Hệ thức Chasles:</a:t>
                </a:r>
                <a:r>
                  <a:rPr sz="2000">
                    <a:solidFill>
                      <a:srgbClr val="1E293B"/>
                    </a:solidFill>
                    <a:latin typeface="Calibri"/>
                  </a:rPr>
                  <a:t> Với ba tia </a:t>
                </a:r>
                <a:r>
                  <a:rPr lang="vi-VN"/>
                  <a:t>Ou,\ Ov,\ Ow</a:t>
                </a:r>
                <a:r>
                  <a:rPr sz="2000">
                    <a:solidFill>
                      <a:srgbClr val="1E293B"/>
                    </a:solidFill>
                    <a:latin typeface="Calibri"/>
                  </a:rPr>
                  <a:t> bất kì: </a:t>
                </a:r>
                <a:r>
                  <a:rPr lang="vi-VN"/>
                  <a:t>\text{sđ}\,(Ou,\ Ov)</a:t>
                </a:r>
                <a:r>
                  <a:rPr sz="2000">
                    <a:solidFill>
                      <a:srgbClr val="1E293B"/>
                    </a:solidFill>
                    <a:latin typeface="Calibri"/>
                  </a:rPr>
                  <a:t> + </a:t>
                </a:r>
                <a:r>
                  <a:rPr lang="vi-VN"/>
                  <a:t>\text{sđ}\,(Ov,\ Ow)</a:t>
                </a:r>
                <a:r>
                  <a:rPr sz="2000">
                    <a:solidFill>
                      <a:srgbClr val="1E293B"/>
                    </a:solidFill>
                    <a:latin typeface="Calibri"/>
                  </a:rPr>
                  <a:t> = </a:t>
                </a:r>
                <a:r>
                  <a:rPr lang="vi-VN"/>
                  <a:t>\text{sđ}\,(Ou,\ Ow)</a:t>
                </a:r>
                <a:r>
                  <a:rPr sz="2000">
                    <a:solidFill>
                      <a:srgbClr val="1E293B"/>
                    </a:solidFill>
                    <a:latin typeface="Calibri"/>
                  </a:rPr>
                  <a:t> </a:t>
                </a:r>
                <a:r>
                  <a:rPr lang="vi-VN"/>
                  <a:t>+k360^\circ</a:t>
                </a:r>
                <a:r>
                  <a:rPr sz="2000">
                    <a:solidFill>
                      <a:srgbClr val="1E293B"/>
                    </a:solidFill>
                    <a:latin typeface="Calibri"/>
                  </a:rPr>
                  <a:t> </a:t>
                </a:r>
                <a:r>
                  <a:rPr lang="vi-VN"/>
                  <a:t>(k\in\mathbb{Z})</a:t>
                </a:r>
                <a:r>
                  <a:rPr sz="2000">
                    <a:solidFill>
                      <a:srgbClr val="1E293B"/>
                    </a:solidFill>
                    <a:latin typeface="Calibri"/>
                  </a:rPr>
                  <a:t>.</a:t>
                </a:r>
              </a:p>
              <a:p>
                <a:pPr algn="l">
                  <a:spcAft>
                    <a:spcPts val="800"/>
                  </a:spcAft>
                </a:pPr>
                <a:r>
                  <a:rPr sz="2000" b="1">
                    <a:solidFill>
                      <a:srgbClr val="1E293B"/>
                    </a:solidFill>
                    <a:latin typeface="Calibri"/>
                  </a:rPr>
                  <a:t>Nhận xét.</a:t>
                </a:r>
                <a:r>
                  <a:rPr sz="2000">
                    <a:solidFill>
                      <a:srgbClr val="1E293B"/>
                    </a:solidFill>
                    <a:latin typeface="Calibri"/>
                  </a:rPr>
                  <a:t> </a:t>
                </a:r>
                <a:r>
                  <a:rPr lang="vi-VN"/>
                  <a:t>\text{sđ}\,(Ou,\ Ov)</a:t>
                </a:r>
                <a:r>
                  <a:rPr sz="2000">
                    <a:solidFill>
                      <a:srgbClr val="1E293B"/>
                    </a:solidFill>
                    <a:latin typeface="Calibri"/>
                  </a:rPr>
                  <a:t> = </a:t>
                </a:r>
                <a:r>
                  <a:rPr lang="vi-VN"/>
                  <a:t>\text{sđ}\,(Ox,\ Ov)</a:t>
                </a:r>
                <a:r>
                  <a:rPr sz="2000">
                    <a:solidFill>
                      <a:srgbClr val="1E293B"/>
                    </a:solidFill>
                    <a:latin typeface="Calibri"/>
                  </a:rPr>
                  <a:t> − </a:t>
                </a:r>
                <a:r>
                  <a:rPr lang="vi-VN"/>
                  <a:t>\text{sđ}\,(Ox,\ Ou)</a:t>
                </a:r>
                <a:r>
                  <a:rPr sz="2000">
                    <a:solidFill>
                      <a:srgbClr val="1E293B"/>
                    </a:solidFill>
                    <a:latin typeface="Calibri"/>
                  </a:rPr>
                  <a:t> </a:t>
                </a:r>
                <a:r>
                  <a:rPr lang="vi-VN"/>
                  <a:t>+k360^\circ</a:t>
                </a:r>
                <a:r>
                  <a:rPr sz="2000">
                    <a:solidFill>
                      <a:srgbClr val="1E293B"/>
                    </a:solidFill>
                    <a:latin typeface="Calibri"/>
                  </a:rPr>
                  <a:t>.</a:t>
                </a:r>
              </a:p>
            </p:txBody>
          </p:sp>
        </mc:Fallback>
      </mc:AlternateContent>
      <p:pic>
        <p:nvPicPr>
          <p:cNvPr id="12" name="Picture 11" descr="b1_h15.png"/>
          <p:cNvPicPr>
            <a:picLocks noChangeAspect="1"/>
          </p:cNvPicPr>
          <p:nvPr/>
        </p:nvPicPr>
        <p:blipFill>
          <a:blip r:embed="rId3"/>
          <a:stretch>
            <a:fillRect/>
          </a:stretch>
        </p:blipFill>
        <p:spPr>
          <a:xfrm>
            <a:off x="9235440" y="1822537"/>
            <a:ext cx="2377440" cy="25728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2 – LUYỆN TẬP 2 (SGK TR.7 – 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10</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2.</a:t>
                </a:r>
                <a:r>
                  <a:rPr sz="2200">
                    <a:solidFill>
                      <a:srgbClr val="1E293B"/>
                    </a:solidFill>
                    <a:latin typeface="Calibri"/>
                  </a:rPr>
                  <a:t> Cho góc lượng giác </a:t>
                </a:r>
                <a14:m>
                  <m:oMath xmlns:m="http://schemas.openxmlformats.org/officeDocument/2006/math">
                    <m:d>
                      <m:dPr>
                        <m:sepChr m:val=","/>
                      </m:dPr>
                      <m:e>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x</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u</m:t>
                        </m:r>
                      </m:e>
                    </m:d>
                  </m:oMath>
                </a14:m>
                <a:r>
                  <a:rPr sz="2200">
                    <a:solidFill>
                      <a:srgbClr val="1E293B"/>
                    </a:solidFill>
                    <a:latin typeface="Calibri"/>
                  </a:rPr>
                  <a:t> có số đo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270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và góc lượng giác </a:t>
                </a:r>
                <a14:m>
                  <m:oMath xmlns:m="http://schemas.openxmlformats.org/officeDocument/2006/math">
                    <m:d>
                      <m:dPr>
                        <m:sepChr m:val=","/>
                      </m:dPr>
                      <m:e>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x</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v</m:t>
                        </m:r>
                      </m:e>
                    </m:d>
                  </m:oMath>
                </a14:m>
                <a:r>
                  <a:rPr sz="2200">
                    <a:solidFill>
                      <a:srgbClr val="1E293B"/>
                    </a:solidFill>
                    <a:latin typeface="Calibri"/>
                  </a:rPr>
                  <a:t> có số đo </a:t>
                </a:r>
                <a14:m>
                  <m:oMath xmlns:m="http://schemas.openxmlformats.org/officeDocument/2006/math">
                    <m:sSup>
                      <m:e>
                        <m:r>
                          <a:rPr lang="vi-VN" sz="2200" b="0">
                            <a:solidFill>
                              <a:srgbClr val="1E293B"/>
                            </a:solidFill>
                            <a:latin typeface="Cambria Math" panose="02040503050406030204" pitchFamily="18" charset="0"/>
                          </a:rPr>
                          <m:t>135</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Tính số đo của các góc lượng giác </a:t>
                </a:r>
                <a14:m>
                  <m:oMath xmlns:m="http://schemas.openxmlformats.org/officeDocument/2006/math">
                    <m:d>
                      <m:dPr>
                        <m:sepChr m:val=","/>
                      </m:dPr>
                      <m:e>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u</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v</m:t>
                        </m:r>
                      </m:e>
                    </m:d>
                  </m:oMath>
                </a14:m>
                <a:r>
                  <a:rPr sz="2200">
                    <a:solidFill>
                      <a:srgbClr val="1E293B"/>
                    </a:solidFill>
                    <a:latin typeface="Calibri"/>
                  </a:rPr>
                  <a:t>.</a:t>
                </a:r>
              </a:p>
            </p:txBody>
          </p:sp>
        </mc:Choice>
        <mc:Fallback>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2.</a:t>
                </a:r>
                <a:r>
                  <a:rPr sz="2200">
                    <a:solidFill>
                      <a:srgbClr val="1E293B"/>
                    </a:solidFill>
                    <a:latin typeface="Calibri"/>
                  </a:rPr>
                  <a:t> Cho góc lượng giác </a:t>
                </a:r>
                <a:r>
                  <a:rPr lang="vi-VN"/>
                  <a:t>(Ox,\ Ou)</a:t>
                </a:r>
                <a:r>
                  <a:rPr sz="2200">
                    <a:solidFill>
                      <a:srgbClr val="1E293B"/>
                    </a:solidFill>
                    <a:latin typeface="Calibri"/>
                  </a:rPr>
                  <a:t> có số đo </a:t>
                </a:r>
                <a:r>
                  <a:rPr lang="vi-VN"/>
                  <a:t>-270^\circ</a:t>
                </a:r>
                <a:r>
                  <a:rPr sz="2200">
                    <a:solidFill>
                      <a:srgbClr val="1E293B"/>
                    </a:solidFill>
                    <a:latin typeface="Calibri"/>
                  </a:rPr>
                  <a:t> và góc lượng giác </a:t>
                </a:r>
                <a:r>
                  <a:rPr lang="vi-VN"/>
                  <a:t>(Ox,\ Ov)</a:t>
                </a:r>
                <a:r>
                  <a:rPr sz="2200">
                    <a:solidFill>
                      <a:srgbClr val="1E293B"/>
                    </a:solidFill>
                    <a:latin typeface="Calibri"/>
                  </a:rPr>
                  <a:t> có số đo </a:t>
                </a:r>
                <a:r>
                  <a:rPr lang="vi-VN"/>
                  <a:t>135^\circ</a:t>
                </a:r>
                <a:r>
                  <a:rPr sz="2200">
                    <a:solidFill>
                      <a:srgbClr val="1E293B"/>
                    </a:solidFill>
                    <a:latin typeface="Calibri"/>
                  </a:rPr>
                  <a:t>. Tính số đo của các góc lượng giác </a:t>
                </a:r>
                <a:r>
                  <a:rPr lang="vi-VN"/>
                  <a:t>(Ou,\ Ov)</a:t>
                </a:r>
                <a:r>
                  <a:rPr sz="2200">
                    <a:solidFill>
                      <a:srgbClr val="1E293B"/>
                    </a:solidFill>
                    <a:latin typeface="Calibri"/>
                  </a:rPr>
                  <a:t>.</a:t>
                </a:r>
              </a:p>
            </p:txBody>
          </p:sp>
        </mc:Fallback>
      </mc:AlternateContent>
      <p:sp>
        <p:nvSpPr>
          <p:cNvPr id="8" name="s1_nen"/>
          <p:cNvSpPr/>
          <p:nvPr/>
        </p:nvSpPr>
        <p:spPr>
          <a:xfrm>
            <a:off x="548640" y="2444496"/>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8107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m:rPr>
                        <m:nor/>
                      </m:rPr>
                      <a:rPr lang="vi-VN" sz="2200" b="0">
                        <a:solidFill>
                          <a:srgbClr val="1E293B"/>
                        </a:solidFill>
                        <a:latin typeface="Cambria Math" panose="02040503050406030204" pitchFamily="18" charset="0"/>
                      </a:rPr>
                      <m:t>sđ </m:t>
                    </m:r>
                    <m:r>
                      <a:rPr lang="vi-VN" sz="2200" b="0">
                        <a:solidFill>
                          <a:srgbClr val="1E293B"/>
                        </a:solidFill>
                        <a:latin typeface="Cambria Math" panose="02040503050406030204" pitchFamily="18" charset="0"/>
                      </a:rPr>
                      <m:t>(Ou,</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Ov)</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135</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270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)+k</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405</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+k</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45</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d>
                      <m:dPr>
                        <m:sepChr m:val="∈"/>
                      </m:dPr>
                      <m:e>
                        <m:r>
                          <a:rPr lang="vi-VN" sz="2200" b="0">
                            <a:solidFill>
                              <a:srgbClr val="1E293B"/>
                            </a:solidFill>
                            <a:latin typeface="Cambria Math" panose="02040503050406030204" pitchFamily="18" charset="0"/>
                          </a:rPr>
                          <m:t>m</m:t>
                        </m:r>
                      </m:e>
                      <m:e>
                        <m:r>
                          <a:rPr lang="vi-VN" sz="2200" b="0">
                            <a:solidFill>
                              <a:srgbClr val="1E293B"/>
                            </a:solidFill>
                            <a:latin typeface="Cambria Math" panose="02040503050406030204" pitchFamily="18" charset="0"/>
                          </a:rPr>
                          <m:t>ℤ</m:t>
                        </m:r>
                      </m:e>
                    </m:d>
                  </m:oMath>
                </a14:m>
                <a:r>
                  <a:rPr sz="2200">
                    <a:solidFill>
                      <a:srgbClr val="1E293B"/>
                    </a:solidFill>
                    <a:latin typeface="Calibri"/>
                  </a:rPr>
                  <a:t>.</a:t>
                </a:r>
              </a:p>
            </p:txBody>
          </p:sp>
        </mc:Choice>
        <mc:Fallback>
          <p:sp>
            <p:nvSpPr>
              <p:cNvPr id="9" name="TextBox 8"/>
              <p:cNvSpPr txBox="1"/>
              <p:nvPr/>
            </p:nvSpPr>
            <p:spPr>
              <a:xfrm>
                <a:off x="713232" y="248107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\text{sđ}\,(Ou,\ Ov)</a:t>
                </a:r>
                <a:r>
                  <a:rPr sz="2200">
                    <a:solidFill>
                      <a:srgbClr val="1E293B"/>
                    </a:solidFill>
                    <a:latin typeface="Calibri"/>
                  </a:rPr>
                  <a:t> </a:t>
                </a:r>
                <a:r>
                  <a:rPr lang="vi-VN"/>
                  <a:t>=135^\circ-(-270^\circ)+k360^\circ=405^\circ+k360^\circ=45^\circ+m360^\circ</a:t>
                </a:r>
                <a:r>
                  <a:rPr sz="2200">
                    <a:solidFill>
                      <a:srgbClr val="1E293B"/>
                    </a:solidFill>
                    <a:latin typeface="Calibri"/>
                  </a:rPr>
                  <a:t> </a:t>
                </a:r>
                <a:r>
                  <a:rPr lang="vi-VN"/>
                  <a:t>(m\in\mathbb{Z})</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182112"/>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2.</a:t>
                </a:r>
                <a:r>
                  <a:rPr sz="2200">
                    <a:solidFill>
                      <a:srgbClr val="1E293B"/>
                    </a:solidFill>
                    <a:latin typeface="Calibri"/>
                  </a:rPr>
                  <a:t> Cho góc lượng giác </a:t>
                </a:r>
                <a14:m>
                  <m:oMath xmlns:m="http://schemas.openxmlformats.org/officeDocument/2006/math">
                    <m:d>
                      <m:dPr>
                        <m:sepChr m:val=","/>
                      </m:dPr>
                      <m:e>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x</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u</m:t>
                        </m:r>
                      </m:e>
                    </m:d>
                  </m:oMath>
                </a14:m>
                <a:r>
                  <a:rPr sz="2200">
                    <a:solidFill>
                      <a:srgbClr val="1E293B"/>
                    </a:solidFill>
                    <a:latin typeface="Calibri"/>
                  </a:rPr>
                  <a:t> có số đo </a:t>
                </a:r>
                <a14:m>
                  <m:oMath xmlns:m="http://schemas.openxmlformats.org/officeDocument/2006/math">
                    <m:sSup>
                      <m:e>
                        <m:r>
                          <a:rPr lang="vi-VN" sz="2200" b="0">
                            <a:solidFill>
                              <a:srgbClr val="1E293B"/>
                            </a:solidFill>
                            <a:latin typeface="Cambria Math" panose="02040503050406030204" pitchFamily="18" charset="0"/>
                          </a:rPr>
                          <m:t>240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và góc lượng giác </a:t>
                </a:r>
                <a14:m>
                  <m:oMath xmlns:m="http://schemas.openxmlformats.org/officeDocument/2006/math">
                    <m:d>
                      <m:dPr>
                        <m:sepChr m:val=","/>
                      </m:dPr>
                      <m:e>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x</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v</m:t>
                        </m:r>
                      </m:e>
                    </m:d>
                  </m:oMath>
                </a14:m>
                <a:r>
                  <a:rPr sz="2200">
                    <a:solidFill>
                      <a:srgbClr val="1E293B"/>
                    </a:solidFill>
                    <a:latin typeface="Calibri"/>
                  </a:rPr>
                  <a:t> có số đo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270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Tính số đo của các góc lượng giác </a:t>
                </a:r>
                <a14:m>
                  <m:oMath xmlns:m="http://schemas.openxmlformats.org/officeDocument/2006/math">
                    <m:d>
                      <m:dPr>
                        <m:sepChr m:val=","/>
                      </m:dPr>
                      <m:e>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u</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v</m:t>
                        </m:r>
                      </m:e>
                    </m:d>
                  </m:oMath>
                </a14:m>
                <a:r>
                  <a:rPr sz="2200">
                    <a:solidFill>
                      <a:srgbClr val="1E293B"/>
                    </a:solidFill>
                    <a:latin typeface="Calibri"/>
                  </a:rPr>
                  <a:t>.</a:t>
                </a:r>
              </a:p>
            </p:txBody>
          </p:sp>
        </mc:Choice>
        <mc:Fallback>
          <p:sp>
            <p:nvSpPr>
              <p:cNvPr id="10" name="TextBox 9"/>
              <p:cNvSpPr txBox="1"/>
              <p:nvPr/>
            </p:nvSpPr>
            <p:spPr>
              <a:xfrm>
                <a:off x="548640" y="3182112"/>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2.</a:t>
                </a:r>
                <a:r>
                  <a:rPr sz="2200">
                    <a:solidFill>
                      <a:srgbClr val="1E293B"/>
                    </a:solidFill>
                    <a:latin typeface="Calibri"/>
                  </a:rPr>
                  <a:t> Cho góc lượng giác </a:t>
                </a:r>
                <a:r>
                  <a:rPr lang="vi-VN"/>
                  <a:t>(Ox,\ Ou)</a:t>
                </a:r>
                <a:r>
                  <a:rPr sz="2200">
                    <a:solidFill>
                      <a:srgbClr val="1E293B"/>
                    </a:solidFill>
                    <a:latin typeface="Calibri"/>
                  </a:rPr>
                  <a:t> có số đo </a:t>
                </a:r>
                <a:r>
                  <a:rPr lang="vi-VN"/>
                  <a:t>240^\circ</a:t>
                </a:r>
                <a:r>
                  <a:rPr sz="2200">
                    <a:solidFill>
                      <a:srgbClr val="1E293B"/>
                    </a:solidFill>
                    <a:latin typeface="Calibri"/>
                  </a:rPr>
                  <a:t> và góc lượng giác </a:t>
                </a:r>
                <a:r>
                  <a:rPr lang="vi-VN"/>
                  <a:t>(Ox,\ Ov)</a:t>
                </a:r>
                <a:r>
                  <a:rPr sz="2200">
                    <a:solidFill>
                      <a:srgbClr val="1E293B"/>
                    </a:solidFill>
                    <a:latin typeface="Calibri"/>
                  </a:rPr>
                  <a:t> có số đo </a:t>
                </a:r>
                <a:r>
                  <a:rPr lang="vi-VN"/>
                  <a:t>-270^\circ</a:t>
                </a:r>
                <a:r>
                  <a:rPr sz="2200">
                    <a:solidFill>
                      <a:srgbClr val="1E293B"/>
                    </a:solidFill>
                    <a:latin typeface="Calibri"/>
                  </a:rPr>
                  <a:t>. Tính số đo của các góc lượng giác </a:t>
                </a:r>
                <a:r>
                  <a:rPr lang="vi-VN"/>
                  <a:t>(Ou,\ Ov)</a:t>
                </a:r>
                <a:r>
                  <a:rPr sz="2200">
                    <a:solidFill>
                      <a:srgbClr val="1E293B"/>
                    </a:solidFill>
                    <a:latin typeface="Calibri"/>
                  </a:rPr>
                  <a:t>.</a:t>
                </a:r>
              </a:p>
            </p:txBody>
          </p:sp>
        </mc:Fallback>
      </mc:AlternateContent>
      <p:sp>
        <p:nvSpPr>
          <p:cNvPr id="11" name="s3_nen"/>
          <p:cNvSpPr/>
          <p:nvPr/>
        </p:nvSpPr>
        <p:spPr>
          <a:xfrm>
            <a:off x="548640" y="4163567"/>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200144"/>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r>
                      <m:rPr>
                        <m:nor/>
                      </m:rPr>
                      <a:rPr lang="vi-VN" sz="2200" b="0">
                        <a:solidFill>
                          <a:srgbClr val="1E293B"/>
                        </a:solidFill>
                        <a:latin typeface="Cambria Math" panose="02040503050406030204" pitchFamily="18" charset="0"/>
                      </a:rPr>
                      <m:t>sđ </m:t>
                    </m:r>
                    <m:r>
                      <a:rPr lang="vi-VN" sz="2200" b="0">
                        <a:solidFill>
                          <a:srgbClr val="1E293B"/>
                        </a:solidFill>
                        <a:latin typeface="Cambria Math" panose="02040503050406030204" pitchFamily="18" charset="0"/>
                      </a:rPr>
                      <m:t>(Ou,</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Ov)</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270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240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+k</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510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+k</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210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a:t>
                </a:r>
                <a14:m>
                  <m:oMath xmlns:m="http://schemas.openxmlformats.org/officeDocument/2006/math">
                    <m:d>
                      <m:dPr>
                        <m:sepChr m:val="∈"/>
                      </m:dPr>
                      <m:e>
                        <m:r>
                          <a:rPr lang="vi-VN" sz="2200" b="0">
                            <a:solidFill>
                              <a:srgbClr val="1E293B"/>
                            </a:solidFill>
                            <a:latin typeface="Cambria Math" panose="02040503050406030204" pitchFamily="18" charset="0"/>
                          </a:rPr>
                          <m:t>m</m:t>
                        </m:r>
                      </m:e>
                      <m:e>
                        <m:r>
                          <a:rPr lang="vi-VN" sz="2200" b="0">
                            <a:solidFill>
                              <a:srgbClr val="1E293B"/>
                            </a:solidFill>
                            <a:latin typeface="Cambria Math" panose="02040503050406030204" pitchFamily="18" charset="0"/>
                          </a:rPr>
                          <m:t>ℤ</m:t>
                        </m:r>
                      </m:e>
                    </m:d>
                  </m:oMath>
                </a14:m>
                <a:r>
                  <a:rPr sz="2200">
                    <a:solidFill>
                      <a:srgbClr val="1E293B"/>
                    </a:solidFill>
                    <a:latin typeface="Calibri"/>
                  </a:rPr>
                  <a:t>.</a:t>
                </a:r>
              </a:p>
            </p:txBody>
          </p:sp>
        </mc:Choice>
        <mc:Fallback>
          <p:sp>
            <p:nvSpPr>
              <p:cNvPr id="12" name="TextBox 11"/>
              <p:cNvSpPr txBox="1"/>
              <p:nvPr/>
            </p:nvSpPr>
            <p:spPr>
              <a:xfrm>
                <a:off x="713232" y="4200144"/>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\text{sđ}\,(Ou,\ Ov)</a:t>
                </a:r>
                <a:r>
                  <a:rPr sz="2200">
                    <a:solidFill>
                      <a:srgbClr val="1E293B"/>
                    </a:solidFill>
                    <a:latin typeface="Calibri"/>
                  </a:rPr>
                  <a:t> </a:t>
                </a:r>
                <a:r>
                  <a:rPr lang="vi-VN"/>
                  <a:t>=-270^\circ-240^\circ+k360^\circ=-510^\circ+k360^\circ=210^\circ+m360^\circ</a:t>
                </a:r>
                <a:r>
                  <a:rPr sz="2200">
                    <a:solidFill>
                      <a:srgbClr val="1E293B"/>
                    </a:solidFill>
                    <a:latin typeface="Calibri"/>
                  </a:rPr>
                  <a:t> </a:t>
                </a:r>
                <a:r>
                  <a:rPr lang="vi-VN"/>
                  <a:t>(m\in\mathbb{Z})</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ĐƠN VỊ ĐO GÓC – RAĐIAN (SGK TR.8)</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595360" cy="637793"/>
              </a:xfrm>
              <a:prstGeom prst="rect">
                <a:avLst/>
              </a:prstGeom>
              <a:noFill/>
            </p:spPr>
            <p:txBody>
              <a:bodyPr wrap="square" anchor="t" lIns="45720" rIns="45720">
                <a:spAutoFit/>
              </a:bodyPr>
              <a:lstStyle/>
              <a:p>
                <a:pPr algn="l">
                  <a:spcAft>
                    <a:spcPts val="800"/>
                  </a:spcAft>
                </a:pPr>
                <a:r>
                  <a:rPr sz="2100">
                    <a:solidFill>
                      <a:srgbClr val="1E293B"/>
                    </a:solidFill>
                    <a:latin typeface="Calibri"/>
                  </a:rPr>
                  <a:t>Đơn vị độ: góc </a:t>
                </a:r>
                <a14:m>
                  <m:oMath xmlns:m="http://schemas.openxmlformats.org/officeDocument/2006/math">
                    <m:sSup>
                      <m:e>
                        <m:r>
                          <a:rPr lang="vi-VN" sz="2100" b="0">
                            <a:solidFill>
                              <a:srgbClr val="1E293B"/>
                            </a:solidFill>
                            <a:latin typeface="Cambria Math" panose="02040503050406030204" pitchFamily="18" charset="0"/>
                          </a:rPr>
                          <m:t>1</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bằng </a:t>
                </a:r>
                <a14:m>
                  <m:oMath xmlns:m="http://schemas.openxmlformats.org/officeDocument/2006/math">
                    <m:f>
                      <m:fPr>
                        <m:type m:val="bar"/>
                      </m:fPr>
                      <m:num>
                        <m:r>
                          <a:rPr lang="vi-VN" sz="2100" b="0">
                            <a:solidFill>
                              <a:srgbClr val="1E293B"/>
                            </a:solidFill>
                            <a:latin typeface="Cambria Math" panose="02040503050406030204" pitchFamily="18" charset="0"/>
                          </a:rPr>
                          <m:t>1</m:t>
                        </m:r>
                      </m:num>
                      <m:den>
                        <m:r>
                          <a:rPr lang="vi-VN" sz="2100" b="0">
                            <a:solidFill>
                              <a:srgbClr val="1E293B"/>
                            </a:solidFill>
                            <a:latin typeface="Cambria Math" panose="02040503050406030204" pitchFamily="18" charset="0"/>
                          </a:rPr>
                          <m:t>180</m:t>
                        </m:r>
                      </m:den>
                    </m:f>
                  </m:oMath>
                </a14:m>
                <a:r>
                  <a:rPr sz="2100">
                    <a:solidFill>
                      <a:srgbClr val="1E293B"/>
                    </a:solidFill>
                    <a:latin typeface="Calibri"/>
                  </a:rPr>
                  <a:t> góc bẹt; </a:t>
                </a:r>
                <a14:m>
                  <m:oMath xmlns:m="http://schemas.openxmlformats.org/officeDocument/2006/math">
                    <m:sSup>
                      <m:e>
                        <m:r>
                          <a:rPr lang="vi-VN" sz="2100" b="0">
                            <a:solidFill>
                              <a:srgbClr val="1E293B"/>
                            </a:solidFill>
                            <a:latin typeface="Cambria Math" panose="02040503050406030204" pitchFamily="18" charset="0"/>
                          </a:rPr>
                          <m:t>1</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1</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7" name="TextBox 6"/>
              <p:cNvSpPr txBox="1"/>
              <p:nvPr/>
            </p:nvSpPr>
            <p:spPr>
              <a:xfrm>
                <a:off x="548640" y="1371600"/>
                <a:ext cx="8595360" cy="637793"/>
              </a:xfrm>
              <a:prstGeom prst="rect">
                <a:avLst/>
              </a:prstGeom>
              <a:noFill/>
            </p:spPr>
            <p:txBody>
              <a:bodyPr wrap="square" anchor="t" lIns="45720" rIns="45720">
                <a:spAutoFit/>
              </a:bodyPr>
              <a:lstStyle/>
              <a:p>
                <a:pPr algn="l">
                  <a:spcAft>
                    <a:spcPts val="800"/>
                  </a:spcAft>
                </a:pPr>
                <a:r>
                  <a:rPr sz="2100">
                    <a:solidFill>
                      <a:srgbClr val="1E293B"/>
                    </a:solidFill>
                    <a:latin typeface="Calibri"/>
                  </a:rPr>
                  <a:t>Đơn vị độ: góc </a:t>
                </a:r>
                <a:r>
                  <a:rPr lang="vi-VN"/>
                  <a:t>1^\circ</a:t>
                </a:r>
                <a:r>
                  <a:rPr sz="2100">
                    <a:solidFill>
                      <a:srgbClr val="1E293B"/>
                    </a:solidFill>
                    <a:latin typeface="Calibri"/>
                  </a:rPr>
                  <a:t> bằng </a:t>
                </a:r>
                <a:r>
                  <a:rPr lang="vi-VN"/>
                  <a:t>\frac{1}{180}</a:t>
                </a:r>
                <a:r>
                  <a:rPr sz="2100">
                    <a:solidFill>
                      <a:srgbClr val="1E293B"/>
                    </a:solidFill>
                    <a:latin typeface="Calibri"/>
                  </a:rPr>
                  <a:t> góc bẹt; </a:t>
                </a:r>
                <a:r>
                  <a:rPr lang="vi-VN"/>
                  <a:t>1^\circ=60'</a:t>
                </a:r>
                <a:r>
                  <a:rPr sz="2100">
                    <a:solidFill>
                      <a:srgbClr val="1E293B"/>
                    </a:solidFill>
                    <a:latin typeface="Calibri"/>
                  </a:rPr>
                  <a:t>, </a:t>
                </a:r>
                <a:r>
                  <a:rPr lang="vi-VN"/>
                  <a:t>1'=60''</a:t>
                </a:r>
                <a:r>
                  <a:rPr sz="2100">
                    <a:solidFill>
                      <a:srgbClr val="1E293B"/>
                    </a:solidFill>
                    <a:latin typeface="Calibri"/>
                  </a:rPr>
                  <a:t>.</a:t>
                </a:r>
              </a:p>
            </p:txBody>
          </p:sp>
        </mc:Fallback>
      </mc:AlternateContent>
      <p:sp>
        <p:nvSpPr>
          <p:cNvPr id="8" name="s1_nen"/>
          <p:cNvSpPr/>
          <p:nvPr/>
        </p:nvSpPr>
        <p:spPr>
          <a:xfrm>
            <a:off x="548640" y="2100834"/>
            <a:ext cx="8595360" cy="122529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37410"/>
                <a:ext cx="82661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Cung tròn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có số đo bằng </a:t>
                </a:r>
                <a:r>
                  <a:rPr sz="2100" b="1">
                    <a:solidFill>
                      <a:srgbClr val="1E293B"/>
                    </a:solidFill>
                    <a:latin typeface="Calibri"/>
                  </a:rPr>
                  <a:t>1 rađian</a:t>
                </a:r>
                <a:r>
                  <a:rPr sz="2100">
                    <a:solidFill>
                      <a:srgbClr val="1E293B"/>
                    </a:solidFill>
                    <a:latin typeface="Calibri"/>
                  </a:rPr>
                  <a:t> nếu độ dài của nó đúng bằng bán kính </a:t>
                </a:r>
                <a14:m>
                  <m:oMath xmlns:m="http://schemas.openxmlformats.org/officeDocument/2006/math">
                    <m:r>
                      <a:rPr lang="vi-VN" sz="2100" b="0">
                        <a:solidFill>
                          <a:srgbClr val="1E293B"/>
                        </a:solidFill>
                        <a:latin typeface="Cambria Math" panose="02040503050406030204" pitchFamily="18" charset="0"/>
                      </a:rPr>
                      <m:t>R</m:t>
                    </m:r>
                  </m:oMath>
                </a14:m>
                <a:r>
                  <a:rPr sz="2100">
                    <a:solidFill>
                      <a:srgbClr val="1E293B"/>
                    </a:solidFill>
                    <a:latin typeface="Calibri"/>
                  </a:rPr>
                  <a:t>. Khi đó góc </a:t>
                </a:r>
                <a14:m>
                  <m:oMath xmlns:m="http://schemas.openxmlformats.org/officeDocument/2006/math">
                    <m:r>
                      <a:rPr lang="vi-VN" sz="2100" b="0">
                        <a:solidFill>
                          <a:srgbClr val="1E293B"/>
                        </a:solidFill>
                        <a:latin typeface="Cambria Math" panose="02040503050406030204" pitchFamily="18" charset="0"/>
                      </a:rPr>
                      <m:t>AOB</m:t>
                    </m:r>
                  </m:oMath>
                </a14:m>
                <a:r>
                  <a:rPr sz="2100">
                    <a:solidFill>
                      <a:srgbClr val="1E293B"/>
                    </a:solidFill>
                    <a:latin typeface="Calibri"/>
                  </a:rPr>
                  <a:t> có số đo bằng 1 rađian: </a:t>
                </a:r>
                <a14:m>
                  <m:oMath xmlns:m="http://schemas.openxmlformats.org/officeDocument/2006/math">
                    <m:acc>
                      <m:accPr>
                        <m:chr m:val="̂"/>
                      </m:accPr>
                      <m:e>
                        <m:r>
                          <a:rPr lang="vi-VN" sz="2100" b="0">
                            <a:solidFill>
                              <a:srgbClr val="1E293B"/>
                            </a:solidFill>
                            <a:latin typeface="Cambria Math" panose="02040503050406030204" pitchFamily="18" charset="0"/>
                          </a:rPr>
                          <m:t>AOB</m:t>
                        </m:r>
                      </m:e>
                    </m:acc>
                    <m:r>
                      <a:rPr lang="vi-VN" sz="2100" b="0">
                        <a:solidFill>
                          <a:srgbClr val="1E293B"/>
                        </a:solidFill>
                        <a:latin typeface="Cambria Math" panose="02040503050406030204" pitchFamily="18" charset="0"/>
                      </a:rPr>
                      <m:t>=1</m:t>
                    </m:r>
                  </m:oMath>
                </a14:m>
                <a:r>
                  <a:rPr sz="2100">
                    <a:solidFill>
                      <a:srgbClr val="1E293B"/>
                    </a:solidFill>
                    <a:latin typeface="Calibri"/>
                  </a:rPr>
                  <a:t> rad.</a:t>
                </a:r>
              </a:p>
            </p:txBody>
          </p:sp>
        </mc:Choice>
        <mc:Fallback>
          <p:sp>
            <p:nvSpPr>
              <p:cNvPr id="9" name="TextBox 8"/>
              <p:cNvSpPr txBox="1"/>
              <p:nvPr/>
            </p:nvSpPr>
            <p:spPr>
              <a:xfrm>
                <a:off x="713232" y="2137410"/>
                <a:ext cx="8266176" cy="1152144"/>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Cung tròn </a:t>
                </a:r>
                <a:r>
                  <a:rPr lang="vi-VN"/>
                  <a:t>AB</a:t>
                </a:r>
                <a:r>
                  <a:rPr sz="2100">
                    <a:solidFill>
                      <a:srgbClr val="1E293B"/>
                    </a:solidFill>
                    <a:latin typeface="Calibri"/>
                  </a:rPr>
                  <a:t> có số đo bằng </a:t>
                </a:r>
                <a:r>
                  <a:rPr sz="2100" b="1">
                    <a:solidFill>
                      <a:srgbClr val="1E293B"/>
                    </a:solidFill>
                    <a:latin typeface="Calibri"/>
                  </a:rPr>
                  <a:t>1 rađian</a:t>
                </a:r>
                <a:r>
                  <a:rPr sz="2100">
                    <a:solidFill>
                      <a:srgbClr val="1E293B"/>
                    </a:solidFill>
                    <a:latin typeface="Calibri"/>
                  </a:rPr>
                  <a:t> nếu độ dài của nó đúng bằng bán kính </a:t>
                </a:r>
                <a:r>
                  <a:rPr lang="vi-VN"/>
                  <a:t>R</a:t>
                </a:r>
                <a:r>
                  <a:rPr sz="2100">
                    <a:solidFill>
                      <a:srgbClr val="1E293B"/>
                    </a:solidFill>
                    <a:latin typeface="Calibri"/>
                  </a:rPr>
                  <a:t>. Khi đó góc </a:t>
                </a:r>
                <a:r>
                  <a:rPr lang="vi-VN"/>
                  <a:t>AOB</a:t>
                </a:r>
                <a:r>
                  <a:rPr sz="2100">
                    <a:solidFill>
                      <a:srgbClr val="1E293B"/>
                    </a:solidFill>
                    <a:latin typeface="Calibri"/>
                  </a:rPr>
                  <a:t> có số đo bằng 1 rađian: </a:t>
                </a:r>
                <a:r>
                  <a:rPr lang="vi-VN"/>
                  <a:t>\widehat{AOB}=1</a:t>
                </a:r>
                <a:r>
                  <a:rPr sz="2100">
                    <a:solidFill>
                      <a:srgbClr val="1E293B"/>
                    </a:solidFill>
                    <a:latin typeface="Calibri"/>
                  </a:rPr>
                  <a:t> rad.</a:t>
                </a:r>
              </a:p>
            </p:txBody>
          </p:sp>
        </mc:Fallback>
      </mc:AlternateContent>
      <p:sp>
        <p:nvSpPr>
          <p:cNvPr id="10" name="s2_nen"/>
          <p:cNvSpPr/>
          <p:nvPr/>
        </p:nvSpPr>
        <p:spPr>
          <a:xfrm>
            <a:off x="548640" y="3417570"/>
            <a:ext cx="8595360" cy="222199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454146"/>
                <a:ext cx="8266176" cy="21488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Đường tròn có độ dài </a:t>
                </a:r>
                <a14:m>
                  <m:oMath xmlns:m="http://schemas.openxmlformats.org/officeDocument/2006/math">
                    <m:r>
                      <a:rPr lang="vi-VN" sz="2100" b="0">
                        <a:solidFill>
                          <a:srgbClr val="1E293B"/>
                        </a:solidFill>
                        <a:latin typeface="Cambria Math" panose="02040503050406030204" pitchFamily="18" charset="0"/>
                      </a:rPr>
                      <m:t>2πR</m:t>
                    </m:r>
                  </m:oMath>
                </a14:m>
                <a:r>
                  <a:rPr sz="2100">
                    <a:solidFill>
                      <a:srgbClr val="1E293B"/>
                    </a:solidFill>
                    <a:latin typeface="Calibri"/>
                  </a:rPr>
                  <a:t>, số đo </a:t>
                </a:r>
                <a14:m>
                  <m:oMath xmlns:m="http://schemas.openxmlformats.org/officeDocument/2006/math">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nên </a:t>
                </a:r>
                <a14:m>
                  <m:oMath xmlns:m="http://schemas.openxmlformats.org/officeDocument/2006/math">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=2π</m:t>
                    </m:r>
                  </m:oMath>
                </a14:m>
                <a:r>
                  <a:rPr sz="2100">
                    <a:solidFill>
                      <a:srgbClr val="1E293B"/>
                    </a:solidFill>
                    <a:latin typeface="Calibri"/>
                  </a:rPr>
                  <a:t> rad: </a:t>
                </a:r>
                <a14:m>
                  <m:oMath xmlns:m="http://schemas.openxmlformats.org/officeDocument/2006/math">
                    <m:sSup>
                      <m:e>
                        <m:r>
                          <a:rPr lang="vi-VN" sz="2100" b="0">
                            <a:solidFill>
                              <a:srgbClr val="1E293B"/>
                            </a:solidFill>
                            <a:latin typeface="Cambria Math" panose="02040503050406030204" pitchFamily="18" charset="0"/>
                          </a:rPr>
                          <m:t>1</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180</m:t>
                        </m:r>
                      </m:den>
                    </m:f>
                  </m:oMath>
                </a14:m>
                <a:r>
                  <a:rPr sz="2100">
                    <a:solidFill>
                      <a:srgbClr val="1E293B"/>
                    </a:solidFill>
                    <a:latin typeface="Calibri"/>
                  </a:rPr>
                  <a:t> rad và </a:t>
                </a:r>
                <a14:m>
                  <m:oMath xmlns:m="http://schemas.openxmlformats.org/officeDocument/2006/math">
                    <m:r>
                      <a:rPr lang="vi-VN" sz="2100" b="0">
                        <a:solidFill>
                          <a:srgbClr val="1E293B"/>
                        </a:solidFill>
                        <a:latin typeface="Cambria Math" panose="02040503050406030204" pitchFamily="18" charset="0"/>
                      </a:rPr>
                      <m:t>1</m:t>
                    </m:r>
                  </m:oMath>
                </a14:m>
                <a:r>
                  <a:rPr sz="2100">
                    <a:solidFill>
                      <a:srgbClr val="1E293B"/>
                    </a:solidFill>
                    <a:latin typeface="Calibri"/>
                  </a:rPr>
                  <a:t> rad </a:t>
                </a:r>
                <a14:m>
                  <m:oMath xmlns:m="http://schemas.openxmlformats.org/officeDocument/2006/math">
                    <m:r>
                      <a:rPr lang="vi-VN" sz="2100" b="0">
                        <a:solidFill>
                          <a:srgbClr val="1E293B"/>
                        </a:solidFill>
                        <a:latin typeface="Cambria Math" panose="02040503050406030204" pitchFamily="18" charset="0"/>
                      </a:rPr>
                      <m:t>=</m:t>
                    </m:r>
                    <m:sSup>
                      <m:e>
                        <m:d>
                          <m:dPr>
                            <m:sepChr m:val=""/>
                          </m:dPr>
                          <m:e>
                            <m:f>
                              <m:fPr>
                                <m:type m:val="bar"/>
                              </m:fPr>
                              <m:num>
                                <m:r>
                                  <a:rPr lang="vi-VN" sz="2100" b="0">
                                    <a:solidFill>
                                      <a:srgbClr val="1E293B"/>
                                    </a:solidFill>
                                    <a:latin typeface="Cambria Math" panose="02040503050406030204" pitchFamily="18" charset="0"/>
                                  </a:rPr>
                                  <m:t>180</m:t>
                                </m:r>
                              </m:num>
                              <m:den>
                                <m:r>
                                  <a:rPr lang="vi-VN" sz="2100" b="0">
                                    <a:solidFill>
                                      <a:srgbClr val="1E293B"/>
                                    </a:solidFill>
                                    <a:latin typeface="Cambria Math" panose="02040503050406030204" pitchFamily="18" charset="0"/>
                                  </a:rPr>
                                  <m:t>π</m:t>
                                </m:r>
                              </m:den>
                            </m:f>
                          </m:e>
                        </m:d>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a:p>
                <a:pPr algn="l">
                  <a:spcAft>
                    <a:spcPts val="800"/>
                  </a:spcAft>
                </a:pPr>
                <a:r>
                  <a:rPr sz="2000" b="1">
                    <a:solidFill>
                      <a:srgbClr val="64748B"/>
                    </a:solidFill>
                    <a:latin typeface="Calibri"/>
                  </a:rPr>
                  <a:t>Chú ý.</a:t>
                </a:r>
                <a:r>
                  <a:rPr sz="2000">
                    <a:solidFill>
                      <a:srgbClr val="64748B"/>
                    </a:solidFill>
                    <a:latin typeface="Calibri"/>
                  </a:rPr>
                  <a:t> Khi viết số đo theo rađian thường không viết chữ rad: góc </a:t>
                </a:r>
                <a14:m>
                  <m:oMath xmlns:m="http://schemas.openxmlformats.org/officeDocument/2006/math">
                    <m:f>
                      <m:fPr>
                        <m:type m:val="bar"/>
                      </m:fPr>
                      <m:num>
                        <m:r>
                          <a:rPr lang="vi-VN" sz="2000" b="0">
                            <a:solidFill>
                              <a:srgbClr val="64748B"/>
                            </a:solidFill>
                            <a:latin typeface="Cambria Math" panose="02040503050406030204" pitchFamily="18" charset="0"/>
                          </a:rPr>
                          <m:t>π</m:t>
                        </m:r>
                      </m:num>
                      <m:den>
                        <m:r>
                          <a:rPr lang="vi-VN" sz="2000" b="0">
                            <a:solidFill>
                              <a:srgbClr val="64748B"/>
                            </a:solidFill>
                            <a:latin typeface="Cambria Math" panose="02040503050406030204" pitchFamily="18" charset="0"/>
                          </a:rPr>
                          <m:t>2</m:t>
                        </m:r>
                      </m:den>
                    </m:f>
                  </m:oMath>
                </a14:m>
                <a:r>
                  <a:rPr sz="2000">
                    <a:solidFill>
                      <a:srgbClr val="64748B"/>
                    </a:solidFill>
                    <a:latin typeface="Calibri"/>
                  </a:rPr>
                  <a:t> hiểu là </a:t>
                </a:r>
                <a14:m>
                  <m:oMath xmlns:m="http://schemas.openxmlformats.org/officeDocument/2006/math">
                    <m:f>
                      <m:fPr>
                        <m:type m:val="bar"/>
                      </m:fPr>
                      <m:num>
                        <m:r>
                          <a:rPr lang="vi-VN" sz="2000" b="0">
                            <a:solidFill>
                              <a:srgbClr val="64748B"/>
                            </a:solidFill>
                            <a:latin typeface="Cambria Math" panose="02040503050406030204" pitchFamily="18" charset="0"/>
                          </a:rPr>
                          <m:t>π</m:t>
                        </m:r>
                      </m:num>
                      <m:den>
                        <m:r>
                          <a:rPr lang="vi-VN" sz="2000" b="0">
                            <a:solidFill>
                              <a:srgbClr val="64748B"/>
                            </a:solidFill>
                            <a:latin typeface="Cambria Math" panose="02040503050406030204" pitchFamily="18" charset="0"/>
                          </a:rPr>
                          <m:t>2</m:t>
                        </m:r>
                      </m:den>
                    </m:f>
                  </m:oMath>
                </a14:m>
                <a:r>
                  <a:rPr sz="2000">
                    <a:solidFill>
                      <a:srgbClr val="64748B"/>
                    </a:solidFill>
                    <a:latin typeface="Calibri"/>
                  </a:rPr>
                  <a:t> rad.</a:t>
                </a:r>
              </a:p>
            </p:txBody>
          </p:sp>
        </mc:Choice>
        <mc:Fallback>
          <p:sp>
            <p:nvSpPr>
              <p:cNvPr id="11" name="TextBox 10"/>
              <p:cNvSpPr txBox="1"/>
              <p:nvPr/>
            </p:nvSpPr>
            <p:spPr>
              <a:xfrm>
                <a:off x="713232" y="3454146"/>
                <a:ext cx="8266176" cy="21488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Đường tròn có độ dài </a:t>
                </a:r>
                <a:r>
                  <a:rPr lang="vi-VN"/>
                  <a:t>2\pi R</a:t>
                </a:r>
                <a:r>
                  <a:rPr sz="2100">
                    <a:solidFill>
                      <a:srgbClr val="1E293B"/>
                    </a:solidFill>
                    <a:latin typeface="Calibri"/>
                  </a:rPr>
                  <a:t>, số đo </a:t>
                </a:r>
                <a:r>
                  <a:rPr lang="vi-VN"/>
                  <a:t>360^\circ</a:t>
                </a:r>
                <a:r>
                  <a:rPr sz="2100">
                    <a:solidFill>
                      <a:srgbClr val="1E293B"/>
                    </a:solidFill>
                    <a:latin typeface="Calibri"/>
                  </a:rPr>
                  <a:t> nên </a:t>
                </a:r>
                <a:r>
                  <a:rPr lang="vi-VN"/>
                  <a:t>360^\circ=2\pi</a:t>
                </a:r>
                <a:r>
                  <a:rPr sz="2100">
                    <a:solidFill>
                      <a:srgbClr val="1E293B"/>
                    </a:solidFill>
                    <a:latin typeface="Calibri"/>
                  </a:rPr>
                  <a:t> rad: </a:t>
                </a:r>
                <a:r>
                  <a:rPr lang="vi-VN"/>
                  <a:t>1^\circ=\frac{\pi}{180}</a:t>
                </a:r>
                <a:r>
                  <a:rPr sz="2100">
                    <a:solidFill>
                      <a:srgbClr val="1E293B"/>
                    </a:solidFill>
                    <a:latin typeface="Calibri"/>
                  </a:rPr>
                  <a:t> rad và </a:t>
                </a:r>
                <a:r>
                  <a:rPr lang="vi-VN"/>
                  <a:t>1</a:t>
                </a:r>
                <a:r>
                  <a:rPr sz="2100">
                    <a:solidFill>
                      <a:srgbClr val="1E293B"/>
                    </a:solidFill>
                    <a:latin typeface="Calibri"/>
                  </a:rPr>
                  <a:t> rad </a:t>
                </a:r>
                <a:r>
                  <a:rPr lang="vi-VN"/>
                  <a:t>=\left(\frac{180}{\pi}\right)^\circ</a:t>
                </a:r>
                <a:r>
                  <a:rPr sz="2100">
                    <a:solidFill>
                      <a:srgbClr val="1E293B"/>
                    </a:solidFill>
                    <a:latin typeface="Calibri"/>
                  </a:rPr>
                  <a:t>.</a:t>
                </a:r>
              </a:p>
              <a:p>
                <a:pPr algn="l">
                  <a:spcAft>
                    <a:spcPts val="800"/>
                  </a:spcAft>
                </a:pPr>
                <a:r>
                  <a:rPr sz="2000" b="1">
                    <a:solidFill>
                      <a:srgbClr val="64748B"/>
                    </a:solidFill>
                    <a:latin typeface="Calibri"/>
                  </a:rPr>
                  <a:t>Chú ý.</a:t>
                </a:r>
                <a:r>
                  <a:rPr sz="2000">
                    <a:solidFill>
                      <a:srgbClr val="64748B"/>
                    </a:solidFill>
                    <a:latin typeface="Calibri"/>
                  </a:rPr>
                  <a:t> Khi viết số đo theo rađian thường không viết chữ rad: góc </a:t>
                </a:r>
                <a:r>
                  <a:rPr lang="vi-VN"/>
                  <a:t>\frac{\pi}{2}</a:t>
                </a:r>
                <a:r>
                  <a:rPr sz="2000">
                    <a:solidFill>
                      <a:srgbClr val="64748B"/>
                    </a:solidFill>
                    <a:latin typeface="Calibri"/>
                  </a:rPr>
                  <a:t> hiểu là </a:t>
                </a:r>
                <a:r>
                  <a:rPr lang="vi-VN"/>
                  <a:t>\frac{\pi}{2}</a:t>
                </a:r>
                <a:r>
                  <a:rPr sz="2000">
                    <a:solidFill>
                      <a:srgbClr val="64748B"/>
                    </a:solidFill>
                    <a:latin typeface="Calibri"/>
                  </a:rPr>
                  <a:t> rad.</a:t>
                </a:r>
              </a:p>
            </p:txBody>
          </p:sp>
        </mc:Fallback>
      </mc:AlternateContent>
      <p:pic>
        <p:nvPicPr>
          <p:cNvPr id="12" name="Picture 11" descr="b1_h16.png"/>
          <p:cNvPicPr>
            <a:picLocks noChangeAspect="1"/>
          </p:cNvPicPr>
          <p:nvPr/>
        </p:nvPicPr>
        <p:blipFill>
          <a:blip r:embed="rId3"/>
          <a:stretch>
            <a:fillRect/>
          </a:stretch>
        </p:blipFill>
        <p:spPr>
          <a:xfrm>
            <a:off x="9418320" y="1761388"/>
            <a:ext cx="2194560" cy="26951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LUYỆN TẬP 3 (SGK TR.9)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12</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81811"/>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a) Đổi sang rađian: </a:t>
                </a:r>
                <a14:m>
                  <m:oMath xmlns:m="http://schemas.openxmlformats.org/officeDocument/2006/math">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150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b) Đổi sang độ: </a:t>
                </a:r>
                <a14:m>
                  <m:oMath xmlns:m="http://schemas.openxmlformats.org/officeDocument/2006/math">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3</m:t>
                        </m:r>
                      </m:den>
                    </m:f>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5π</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a:t>
                </a:r>
              </a:p>
            </p:txBody>
          </p:sp>
        </mc:Choice>
        <mc:Fallback>
          <p:sp>
            <p:nvSpPr>
              <p:cNvPr id="7" name="TextBox 6"/>
              <p:cNvSpPr txBox="1"/>
              <p:nvPr/>
            </p:nvSpPr>
            <p:spPr>
              <a:xfrm>
                <a:off x="548640" y="1371600"/>
                <a:ext cx="11064240" cy="781811"/>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3.</a:t>
                </a:r>
                <a:r>
                  <a:rPr sz="2100">
                    <a:solidFill>
                      <a:srgbClr val="1E293B"/>
                    </a:solidFill>
                    <a:latin typeface="Calibri"/>
                  </a:rPr>
                  <a:t> a) Đổi sang rađian: </a:t>
                </a:r>
                <a:r>
                  <a:rPr lang="vi-VN"/>
                  <a:t>45^\circ</a:t>
                </a:r>
                <a:r>
                  <a:rPr sz="2100">
                    <a:solidFill>
                      <a:srgbClr val="1E293B"/>
                    </a:solidFill>
                    <a:latin typeface="Calibri"/>
                  </a:rPr>
                  <a:t>; </a:t>
                </a:r>
                <a:r>
                  <a:rPr lang="vi-VN"/>
                  <a:t>150^\circ</a:t>
                </a:r>
                <a:r>
                  <a:rPr sz="2100">
                    <a:solidFill>
                      <a:srgbClr val="1E293B"/>
                    </a:solidFill>
                    <a:latin typeface="Calibri"/>
                  </a:rPr>
                  <a:t>. b) Đổi sang độ: </a:t>
                </a:r>
                <a:r>
                  <a:rPr lang="vi-VN"/>
                  <a:t>\frac{\pi}{3}</a:t>
                </a:r>
                <a:r>
                  <a:rPr sz="2100">
                    <a:solidFill>
                      <a:srgbClr val="1E293B"/>
                    </a:solidFill>
                    <a:latin typeface="Calibri"/>
                  </a:rPr>
                  <a:t>; </a:t>
                </a:r>
                <a:r>
                  <a:rPr lang="vi-VN"/>
                  <a:t>\frac{5\pi}{4}</a:t>
                </a:r>
                <a:r>
                  <a:rPr sz="2100">
                    <a:solidFill>
                      <a:srgbClr val="1E293B"/>
                    </a:solidFill>
                    <a:latin typeface="Calibri"/>
                  </a:rPr>
                  <a:t>.</a:t>
                </a:r>
              </a:p>
            </p:txBody>
          </p:sp>
        </mc:Fallback>
      </mc:AlternateContent>
      <p:sp>
        <p:nvSpPr>
          <p:cNvPr id="8" name="s1_nen"/>
          <p:cNvSpPr/>
          <p:nvPr/>
        </p:nvSpPr>
        <p:spPr>
          <a:xfrm>
            <a:off x="548640" y="2244852"/>
            <a:ext cx="11064240" cy="10172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81428"/>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=45·</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180</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150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5π</m:t>
                        </m:r>
                      </m:num>
                      <m:den>
                        <m:r>
                          <a:rPr lang="vi-VN" sz="2100" b="0">
                            <a:solidFill>
                              <a:srgbClr val="1E293B"/>
                            </a:solidFill>
                            <a:latin typeface="Cambria Math" panose="02040503050406030204" pitchFamily="18" charset="0"/>
                          </a:rPr>
                          <m:t>6</m:t>
                        </m:r>
                      </m:den>
                    </m:f>
                  </m:oMath>
                </a14:m>
                <a:r>
                  <a:rPr sz="2100">
                    <a:solidFill>
                      <a:srgbClr val="1E293B"/>
                    </a:solidFill>
                    <a:latin typeface="Calibri"/>
                  </a:rPr>
                  <a:t>. b) </a:t>
                </a:r>
                <a14:m>
                  <m:oMath xmlns:m="http://schemas.openxmlformats.org/officeDocument/2006/math">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m:t>
                    </m:r>
                    <m:sSup>
                      <m:e>
                        <m:d>
                          <m:dPr>
                            <m:sepChr m:val=""/>
                          </m:dPr>
                          <m:e>
                            <m:f>
                              <m:fPr>
                                <m:type m:val="bar"/>
                              </m:fPr>
                              <m:num>
                                <m:r>
                                  <a:rPr lang="vi-VN" sz="2100" b="0">
                                    <a:solidFill>
                                      <a:srgbClr val="1E293B"/>
                                    </a:solidFill>
                                    <a:latin typeface="Cambria Math" panose="02040503050406030204" pitchFamily="18" charset="0"/>
                                  </a:rPr>
                                  <m:t>180</m:t>
                                </m:r>
                              </m:num>
                              <m:den>
                                <m:r>
                                  <a:rPr lang="vi-VN" sz="2100" b="0">
                                    <a:solidFill>
                                      <a:srgbClr val="1E293B"/>
                                    </a:solidFill>
                                    <a:latin typeface="Cambria Math" panose="02040503050406030204" pitchFamily="18" charset="0"/>
                                  </a:rPr>
                                  <m:t>π</m:t>
                                </m:r>
                              </m:den>
                            </m:f>
                          </m:e>
                        </m:d>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5π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225</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9" name="TextBox 8"/>
              <p:cNvSpPr txBox="1"/>
              <p:nvPr/>
            </p:nvSpPr>
            <p:spPr>
              <a:xfrm>
                <a:off x="713232" y="2281428"/>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45^\circ=45\cdot\frac{\pi}{180}=\frac{\pi}{4}</a:t>
                </a:r>
                <a:r>
                  <a:rPr sz="2100">
                    <a:solidFill>
                      <a:srgbClr val="1E293B"/>
                    </a:solidFill>
                    <a:latin typeface="Calibri"/>
                  </a:rPr>
                  <a:t>; </a:t>
                </a:r>
                <a:r>
                  <a:rPr lang="vi-VN"/>
                  <a:t>150^\circ=\frac{5\pi}{6}</a:t>
                </a:r>
                <a:r>
                  <a:rPr sz="2100">
                    <a:solidFill>
                      <a:srgbClr val="1E293B"/>
                    </a:solidFill>
                    <a:latin typeface="Calibri"/>
                  </a:rPr>
                  <a:t>. b) </a:t>
                </a:r>
                <a:r>
                  <a:rPr lang="vi-VN"/>
                  <a:t>\frac{\pi}{3}=\frac{\pi}{3}\cdot\left(\frac{180}{\pi}\right)^\circ=60^\circ</a:t>
                </a:r>
                <a:r>
                  <a:rPr sz="2100">
                    <a:solidFill>
                      <a:srgbClr val="1E293B"/>
                    </a:solidFill>
                    <a:latin typeface="Calibri"/>
                  </a:rPr>
                  <a:t>; </a:t>
                </a:r>
                <a:r>
                  <a:rPr lang="vi-VN"/>
                  <a:t>\frac{5\pi}{4}=225^\circ</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353562"/>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3.</a:t>
                </a:r>
                <a:r>
                  <a:rPr sz="2100">
                    <a:solidFill>
                      <a:srgbClr val="1E293B"/>
                    </a:solidFill>
                    <a:latin typeface="Calibri"/>
                  </a:rPr>
                  <a:t> a) Đổi sang rađian: </a:t>
                </a:r>
                <a14:m>
                  <m:oMath xmlns:m="http://schemas.openxmlformats.org/officeDocument/2006/math">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450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b) Đổi sang độ: </a:t>
                </a:r>
                <a14:m>
                  <m:oMath xmlns:m="http://schemas.openxmlformats.org/officeDocument/2006/math">
                    <m:r>
                      <a:rPr lang="vi-VN" sz="2100" b="0">
                        <a:solidFill>
                          <a:srgbClr val="1E293B"/>
                        </a:solidFill>
                        <a:latin typeface="Cambria Math" panose="02040503050406030204" pitchFamily="18" charset="0"/>
                      </a:rPr>
                      <m:t>3π</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11π</m:t>
                        </m:r>
                      </m:num>
                      <m:den>
                        <m:r>
                          <a:rPr lang="vi-VN" sz="2100" b="0">
                            <a:solidFill>
                              <a:srgbClr val="1E293B"/>
                            </a:solidFill>
                            <a:latin typeface="Cambria Math" panose="02040503050406030204" pitchFamily="18" charset="0"/>
                          </a:rPr>
                          <m:t>5</m:t>
                        </m:r>
                      </m:den>
                    </m:f>
                  </m:oMath>
                </a14:m>
                <a:r>
                  <a:rPr sz="2100">
                    <a:solidFill>
                      <a:srgbClr val="1E293B"/>
                    </a:solidFill>
                    <a:latin typeface="Calibri"/>
                  </a:rPr>
                  <a:t>.</a:t>
                </a:r>
              </a:p>
            </p:txBody>
          </p:sp>
        </mc:Choice>
        <mc:Fallback>
          <p:sp>
            <p:nvSpPr>
              <p:cNvPr id="10" name="TextBox 9"/>
              <p:cNvSpPr txBox="1"/>
              <p:nvPr/>
            </p:nvSpPr>
            <p:spPr>
              <a:xfrm>
                <a:off x="548640" y="3353562"/>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3.</a:t>
                </a:r>
                <a:r>
                  <a:rPr sz="2100">
                    <a:solidFill>
                      <a:srgbClr val="1E293B"/>
                    </a:solidFill>
                    <a:latin typeface="Calibri"/>
                  </a:rPr>
                  <a:t> a) Đổi sang rađian: </a:t>
                </a:r>
                <a:r>
                  <a:rPr lang="vi-VN"/>
                  <a:t>360^\circ</a:t>
                </a:r>
                <a:r>
                  <a:rPr sz="2100">
                    <a:solidFill>
                      <a:srgbClr val="1E293B"/>
                    </a:solidFill>
                    <a:latin typeface="Calibri"/>
                  </a:rPr>
                  <a:t>; </a:t>
                </a:r>
                <a:r>
                  <a:rPr lang="vi-VN"/>
                  <a:t>-450^\circ</a:t>
                </a:r>
                <a:r>
                  <a:rPr sz="2100">
                    <a:solidFill>
                      <a:srgbClr val="1E293B"/>
                    </a:solidFill>
                    <a:latin typeface="Calibri"/>
                  </a:rPr>
                  <a:t>. b) Đổi sang độ: </a:t>
                </a:r>
                <a:r>
                  <a:rPr lang="vi-VN"/>
                  <a:t>3\pi</a:t>
                </a:r>
                <a:r>
                  <a:rPr sz="2100">
                    <a:solidFill>
                      <a:srgbClr val="1E293B"/>
                    </a:solidFill>
                    <a:latin typeface="Calibri"/>
                  </a:rPr>
                  <a:t>; </a:t>
                </a:r>
                <a:r>
                  <a:rPr lang="vi-VN"/>
                  <a:t>-\frac{11\pi}{5}</a:t>
                </a:r>
                <a:r>
                  <a:rPr sz="2100">
                    <a:solidFill>
                      <a:srgbClr val="1E293B"/>
                    </a:solidFill>
                    <a:latin typeface="Calibri"/>
                  </a:rPr>
                  <a:t>.</a:t>
                </a:r>
              </a:p>
            </p:txBody>
          </p:sp>
        </mc:Fallback>
      </mc:AlternateContent>
      <p:sp>
        <p:nvSpPr>
          <p:cNvPr id="11" name="s3_nen"/>
          <p:cNvSpPr/>
          <p:nvPr/>
        </p:nvSpPr>
        <p:spPr>
          <a:xfrm>
            <a:off x="548640" y="4082796"/>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11937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=2π</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450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5π</m:t>
                        </m:r>
                      </m:num>
                      <m:den>
                        <m:r>
                          <a:rPr lang="vi-VN" sz="2100" b="0">
                            <a:solidFill>
                              <a:srgbClr val="1E293B"/>
                            </a:solidFill>
                            <a:latin typeface="Cambria Math" panose="02040503050406030204" pitchFamily="18" charset="0"/>
                          </a:rPr>
                          <m:t>2</m:t>
                        </m:r>
                      </m:den>
                    </m:f>
                  </m:oMath>
                </a14:m>
                <a:r>
                  <a:rPr sz="2100">
                    <a:solidFill>
                      <a:srgbClr val="1E293B"/>
                    </a:solidFill>
                    <a:latin typeface="Calibri"/>
                  </a:rPr>
                  <a:t>. b) </a:t>
                </a:r>
                <a14:m>
                  <m:oMath xmlns:m="http://schemas.openxmlformats.org/officeDocument/2006/math">
                    <m:r>
                      <a:rPr lang="vi-VN" sz="2100" b="0">
                        <a:solidFill>
                          <a:srgbClr val="1E293B"/>
                        </a:solidFill>
                        <a:latin typeface="Cambria Math" panose="02040503050406030204" pitchFamily="18" charset="0"/>
                      </a:rPr>
                      <m:t>3π=</m:t>
                    </m:r>
                    <m:sSup>
                      <m:e>
                        <m:r>
                          <a:rPr lang="vi-VN" sz="2100" b="0">
                            <a:solidFill>
                              <a:srgbClr val="1E293B"/>
                            </a:solidFill>
                            <a:latin typeface="Cambria Math" panose="02040503050406030204" pitchFamily="18" charset="0"/>
                          </a:rPr>
                          <m:t>540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11π</m:t>
                        </m:r>
                      </m:num>
                      <m:den>
                        <m:r>
                          <a:rPr lang="vi-VN" sz="2100" b="0">
                            <a:solidFill>
                              <a:srgbClr val="1E293B"/>
                            </a:solidFill>
                            <a:latin typeface="Cambria Math" panose="02040503050406030204" pitchFamily="18" charset="0"/>
                          </a:rPr>
                          <m:t>5</m:t>
                        </m:r>
                      </m:den>
                    </m:f>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396</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12" name="TextBox 11"/>
              <p:cNvSpPr txBox="1"/>
              <p:nvPr/>
            </p:nvSpPr>
            <p:spPr>
              <a:xfrm>
                <a:off x="713232" y="411937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360^\circ=2\pi</a:t>
                </a:r>
                <a:r>
                  <a:rPr sz="2100">
                    <a:solidFill>
                      <a:srgbClr val="1E293B"/>
                    </a:solidFill>
                    <a:latin typeface="Calibri"/>
                  </a:rPr>
                  <a:t>; </a:t>
                </a:r>
                <a:r>
                  <a:rPr lang="vi-VN"/>
                  <a:t>-450^\circ=-\frac{5\pi}{2}</a:t>
                </a:r>
                <a:r>
                  <a:rPr sz="2100">
                    <a:solidFill>
                      <a:srgbClr val="1E293B"/>
                    </a:solidFill>
                    <a:latin typeface="Calibri"/>
                  </a:rPr>
                  <a:t>. b) </a:t>
                </a:r>
                <a:r>
                  <a:rPr lang="vi-VN"/>
                  <a:t>3\pi=540^\circ</a:t>
                </a:r>
                <a:r>
                  <a:rPr sz="2100">
                    <a:solidFill>
                      <a:srgbClr val="1E293B"/>
                    </a:solidFill>
                    <a:latin typeface="Calibri"/>
                  </a:rPr>
                  <a:t>; </a:t>
                </a:r>
                <a:r>
                  <a:rPr lang="vi-VN"/>
                  <a:t>-\frac{11\pi}{5}=-396^\circ</a:t>
                </a:r>
                <a:r>
                  <a:rPr sz="2100">
                    <a:solidFill>
                      <a:srgbClr val="1E293B"/>
                    </a:solidFill>
                    <a:latin typeface="Calibri"/>
                  </a:rPr>
                  <a:t>.</a:t>
                </a:r>
              </a:p>
            </p:txBody>
          </p:sp>
        </mc:Fallback>
      </mc:AlternateContent>
      <p:sp>
        <p:nvSpPr>
          <p:cNvPr id="13" name="s4_nen"/>
          <p:cNvSpPr/>
          <p:nvPr/>
        </p:nvSpPr>
        <p:spPr>
          <a:xfrm>
            <a:off x="548640" y="5047488"/>
            <a:ext cx="11064240" cy="133731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084064"/>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Độ: </a:t>
                </a:r>
                <a14:m>
                  <m:oMath xmlns:m="http://schemas.openxmlformats.org/officeDocument/2006/math">
                    <m:sSup>
                      <m:e>
                        <m:r>
                          <a:rPr lang="vi-VN" sz="2100" b="0">
                            <a:solidFill>
                              <a:srgbClr val="1E293B"/>
                            </a:solidFill>
                            <a:latin typeface="Cambria Math" panose="02040503050406030204" pitchFamily="18" charset="0"/>
                          </a:rPr>
                          <m:t>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30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120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135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150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180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 Rađian: </a:t>
                </a:r>
                <a14:m>
                  <m:oMath xmlns:m="http://schemas.openxmlformats.org/officeDocument/2006/math">
                    <m:r>
                      <a:rPr lang="vi-VN" sz="2100" b="0">
                        <a:solidFill>
                          <a:srgbClr val="1E293B"/>
                        </a:solidFill>
                        <a:latin typeface="Cambria Math" panose="02040503050406030204" pitchFamily="18" charset="0"/>
                      </a:rPr>
                      <m:t>0;</m:t>
                    </m:r>
                    <m:r>
                      <m:rPr>
                        <m:sty m:val="p"/>
                      </m:rPr>
                      <a:rPr lang="vi-VN" sz="2100" b="0">
                        <a:solidFill>
                          <a:srgbClr val="1E293B"/>
                        </a:solidFill>
                        <a:latin typeface="Cambria Math" panose="02040503050406030204" pitchFamily="18" charset="0"/>
                      </a:rPr>
                      <m:t> </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6</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f>
                      <m:fPr>
                        <m:type m:val="bar"/>
                      </m:fPr>
                      <m:num>
                        <m:r>
                          <a:rPr lang="vi-VN" sz="2100" b="0">
                            <a:solidFill>
                              <a:srgbClr val="1E293B"/>
                            </a:solidFill>
                            <a:latin typeface="Cambria Math" panose="02040503050406030204" pitchFamily="18" charset="0"/>
                          </a:rPr>
                          <m:t>2π</m:t>
                        </m:r>
                      </m:num>
                      <m:den>
                        <m:r>
                          <a:rPr lang="vi-VN" sz="2100" b="0">
                            <a:solidFill>
                              <a:srgbClr val="1E293B"/>
                            </a:solidFill>
                            <a:latin typeface="Cambria Math" panose="02040503050406030204" pitchFamily="18" charset="0"/>
                          </a:rPr>
                          <m:t>3</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f>
                      <m:fPr>
                        <m:type m:val="bar"/>
                      </m:fPr>
                      <m:num>
                        <m:r>
                          <a:rPr lang="vi-VN" sz="2100" b="0">
                            <a:solidFill>
                              <a:srgbClr val="1E293B"/>
                            </a:solidFill>
                            <a:latin typeface="Cambria Math" panose="02040503050406030204" pitchFamily="18" charset="0"/>
                          </a:rPr>
                          <m:t>3π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f>
                      <m:fPr>
                        <m:type m:val="bar"/>
                      </m:fPr>
                      <m:num>
                        <m:r>
                          <a:rPr lang="vi-VN" sz="2100" b="0">
                            <a:solidFill>
                              <a:srgbClr val="1E293B"/>
                            </a:solidFill>
                            <a:latin typeface="Cambria Math" panose="02040503050406030204" pitchFamily="18" charset="0"/>
                          </a:rPr>
                          <m:t>5π</m:t>
                        </m:r>
                      </m:num>
                      <m:den>
                        <m:r>
                          <a:rPr lang="vi-VN" sz="2100" b="0">
                            <a:solidFill>
                              <a:srgbClr val="1E293B"/>
                            </a:solidFill>
                            <a:latin typeface="Cambria Math" panose="02040503050406030204" pitchFamily="18" charset="0"/>
                          </a:rPr>
                          <m:t>6</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π</m:t>
                    </m:r>
                  </m:oMath>
                </a14:m>
                <a:r>
                  <a:rPr sz="2100">
                    <a:solidFill>
                      <a:srgbClr val="1E293B"/>
                    </a:solidFill>
                    <a:latin typeface="Calibri"/>
                  </a:rPr>
                  <a:t>.</a:t>
                </a:r>
              </a:p>
            </p:txBody>
          </p:sp>
        </mc:Choice>
        <mc:Fallback>
          <p:sp>
            <p:nvSpPr>
              <p:cNvPr id="14" name="TextBox 13"/>
              <p:cNvSpPr txBox="1"/>
              <p:nvPr/>
            </p:nvSpPr>
            <p:spPr>
              <a:xfrm>
                <a:off x="713232" y="5084064"/>
                <a:ext cx="10735056" cy="126415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Độ: </a:t>
                </a:r>
                <a:r>
                  <a:rPr lang="vi-VN"/>
                  <a:t>0^\circ;\ 30^\circ;\ 45^\circ;\ 60^\circ;\ 90^\circ;\ 120^\circ;\ 135^\circ;\ 150^\circ;\ 180^\circ</a:t>
                </a:r>
                <a:r>
                  <a:rPr sz="2100">
                    <a:solidFill>
                      <a:srgbClr val="1E293B"/>
                    </a:solidFill>
                    <a:latin typeface="Calibri"/>
                  </a:rPr>
                  <a:t> ↔ Rađian: </a:t>
                </a:r>
                <a:r>
                  <a:rPr lang="vi-VN"/>
                  <a:t>0;\ \frac{\pi}{6};\ \frac{\pi}{4};\ \frac{\pi}{3};\ \frac{\pi}{2};\ \frac{2\pi}{3};\ \frac{3\pi}{4};\ \frac{5\pi}{6};\ \pi</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ĐỘ DÀI CUNG TRÒN – HĐ3, VÍ DỤ 4, VẬN DỤNG 1 (SGK TR.9)</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13</a:t>
            </a:r>
          </a:p>
        </p:txBody>
      </p:sp>
      <mc:AlternateContent xmlns:mc="http://schemas.openxmlformats.org/markup-compatibility/2006">
        <mc:Choice xmlns:a14="http://schemas.microsoft.com/office/drawing/2010/main" Requires="a14">
          <p:sp>
            <p:nvSpPr>
              <p:cNvPr id="7" name="TextBox 6"/>
              <p:cNvSpPr txBox="1"/>
              <p:nvPr/>
            </p:nvSpPr>
            <p:spPr>
              <a:xfrm>
                <a:off x="548640" y="1280160"/>
                <a:ext cx="822960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HĐ3.</a:t>
                </a:r>
                <a:r>
                  <a:rPr sz="1800">
                    <a:solidFill>
                      <a:srgbClr val="1E293B"/>
                    </a:solidFill>
                    <a:latin typeface="Calibri"/>
                  </a:rPr>
                  <a:t> Cho đường tròn bán kính </a:t>
                </a:r>
                <a14:m>
                  <m:oMath xmlns:m="http://schemas.openxmlformats.org/officeDocument/2006/math">
                    <m:r>
                      <a:rPr lang="vi-VN" sz="1800" b="0">
                        <a:solidFill>
                          <a:srgbClr val="1E293B"/>
                        </a:solidFill>
                        <a:latin typeface="Cambria Math" panose="02040503050406030204" pitchFamily="18" charset="0"/>
                      </a:rPr>
                      <m:t>R</m:t>
                    </m:r>
                  </m:oMath>
                </a14:m>
                <a:r>
                  <a:rPr sz="1800">
                    <a:solidFill>
                      <a:srgbClr val="1E293B"/>
                    </a:solidFill>
                    <a:latin typeface="Calibri"/>
                  </a:rPr>
                  <a:t>. a) Độ dài cung có số đo 1 rad là bao nhiêu? b) Tính độ dài </a:t>
                </a:r>
                <a14:m>
                  <m:oMath xmlns:m="http://schemas.openxmlformats.org/officeDocument/2006/math">
                    <m:r>
                      <a:rPr lang="vi-VN" sz="1800" b="0">
                        <a:solidFill>
                          <a:srgbClr val="1E293B"/>
                        </a:solidFill>
                        <a:latin typeface="Cambria Math" panose="02040503050406030204" pitchFamily="18" charset="0"/>
                      </a:rPr>
                      <m:t>l</m:t>
                    </m:r>
                  </m:oMath>
                </a14:m>
                <a:r>
                  <a:rPr sz="1800">
                    <a:solidFill>
                      <a:srgbClr val="1E293B"/>
                    </a:solidFill>
                    <a:latin typeface="Calibri"/>
                  </a:rPr>
                  <a:t> của cung có số đo </a:t>
                </a:r>
                <a14:m>
                  <m:oMath xmlns:m="http://schemas.openxmlformats.org/officeDocument/2006/math">
                    <m:r>
                      <a:rPr lang="vi-VN" sz="1800" b="0">
                        <a:solidFill>
                          <a:srgbClr val="1E293B"/>
                        </a:solidFill>
                        <a:latin typeface="Cambria Math" panose="02040503050406030204" pitchFamily="18" charset="0"/>
                      </a:rPr>
                      <m:t>α</m:t>
                    </m:r>
                  </m:oMath>
                </a14:m>
                <a:r>
                  <a:rPr sz="1800">
                    <a:solidFill>
                      <a:srgbClr val="1E293B"/>
                    </a:solidFill>
                    <a:latin typeface="Calibri"/>
                  </a:rPr>
                  <a:t> rad.</a:t>
                </a:r>
              </a:p>
            </p:txBody>
          </p:sp>
        </mc:Choice>
        <mc:Fallback>
          <p:sp>
            <p:nvSpPr>
              <p:cNvPr id="7" name="TextBox 6"/>
              <p:cNvSpPr txBox="1"/>
              <p:nvPr/>
            </p:nvSpPr>
            <p:spPr>
              <a:xfrm>
                <a:off x="548640" y="1280160"/>
                <a:ext cx="8229600" cy="722375"/>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HĐ3.</a:t>
                </a:r>
                <a:r>
                  <a:rPr sz="1800">
                    <a:solidFill>
                      <a:srgbClr val="1E293B"/>
                    </a:solidFill>
                    <a:latin typeface="Calibri"/>
                  </a:rPr>
                  <a:t> Cho đường tròn bán kính </a:t>
                </a:r>
                <a:r>
                  <a:rPr lang="vi-VN"/>
                  <a:t>R</a:t>
                </a:r>
                <a:r>
                  <a:rPr sz="1800">
                    <a:solidFill>
                      <a:srgbClr val="1E293B"/>
                    </a:solidFill>
                    <a:latin typeface="Calibri"/>
                  </a:rPr>
                  <a:t>. a) Độ dài cung có số đo 1 rad là bao nhiêu? b) Tính độ dài </a:t>
                </a:r>
                <a:r>
                  <a:rPr lang="vi-VN"/>
                  <a:t>l</a:t>
                </a:r>
                <a:r>
                  <a:rPr sz="1800">
                    <a:solidFill>
                      <a:srgbClr val="1E293B"/>
                    </a:solidFill>
                    <a:latin typeface="Calibri"/>
                  </a:rPr>
                  <a:t> của cung có số đo </a:t>
                </a:r>
                <a:r>
                  <a:rPr lang="vi-VN"/>
                  <a:t>\alpha</a:t>
                </a:r>
                <a:r>
                  <a:rPr sz="1800">
                    <a:solidFill>
                      <a:srgbClr val="1E293B"/>
                    </a:solidFill>
                    <a:latin typeface="Calibri"/>
                  </a:rPr>
                  <a:t> rad.</a:t>
                </a:r>
              </a:p>
            </p:txBody>
          </p:sp>
        </mc:Fallback>
      </mc:AlternateContent>
      <p:sp>
        <p:nvSpPr>
          <p:cNvPr id="8" name="s1_nen"/>
          <p:cNvSpPr/>
          <p:nvPr/>
        </p:nvSpPr>
        <p:spPr>
          <a:xfrm>
            <a:off x="548640" y="2039112"/>
            <a:ext cx="8229600" cy="53949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075688"/>
                <a:ext cx="7900416" cy="46634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Bằng </a:t>
                </a:r>
                <a14:m>
                  <m:oMath xmlns:m="http://schemas.openxmlformats.org/officeDocument/2006/math">
                    <m:r>
                      <a:rPr lang="vi-VN" sz="1800" b="0">
                        <a:solidFill>
                          <a:srgbClr val="1E293B"/>
                        </a:solidFill>
                        <a:latin typeface="Cambria Math" panose="02040503050406030204" pitchFamily="18" charset="0"/>
                      </a:rPr>
                      <m:t>R</m:t>
                    </m:r>
                  </m:oMath>
                </a14:m>
                <a:r>
                  <a:rPr sz="1800">
                    <a:solidFill>
                      <a:srgbClr val="1E293B"/>
                    </a:solidFill>
                    <a:latin typeface="Calibri"/>
                  </a:rPr>
                  <a:t>. b) </a:t>
                </a:r>
                <a14:m>
                  <m:oMath xmlns:m="http://schemas.openxmlformats.org/officeDocument/2006/math">
                    <m:r>
                      <a:rPr lang="vi-VN" sz="1800" b="0">
                        <a:solidFill>
                          <a:srgbClr val="1E293B"/>
                        </a:solidFill>
                        <a:latin typeface="Cambria Math" panose="02040503050406030204" pitchFamily="18" charset="0"/>
                      </a:rPr>
                      <m:t>l=Rα</m:t>
                    </m:r>
                  </m:oMath>
                </a14:m>
                <a:r>
                  <a:rPr sz="1800">
                    <a:solidFill>
                      <a:srgbClr val="1E293B"/>
                    </a:solidFill>
                    <a:latin typeface="Calibri"/>
                  </a:rPr>
                  <a:t>.</a:t>
                </a:r>
              </a:p>
            </p:txBody>
          </p:sp>
        </mc:Choice>
        <mc:Fallback>
          <p:sp>
            <p:nvSpPr>
              <p:cNvPr id="9" name="TextBox 8"/>
              <p:cNvSpPr txBox="1"/>
              <p:nvPr/>
            </p:nvSpPr>
            <p:spPr>
              <a:xfrm>
                <a:off x="713232" y="2075688"/>
                <a:ext cx="7900416" cy="46634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Bằng </a:t>
                </a:r>
                <a:r>
                  <a:rPr lang="vi-VN"/>
                  <a:t>R</a:t>
                </a:r>
                <a:r>
                  <a:rPr sz="1800">
                    <a:solidFill>
                      <a:srgbClr val="1E293B"/>
                    </a:solidFill>
                    <a:latin typeface="Calibri"/>
                  </a:rPr>
                  <a:t>. b) </a:t>
                </a:r>
                <a:r>
                  <a:rPr lang="vi-VN"/>
                  <a:t>l=R\alpha</a:t>
                </a:r>
                <a:r>
                  <a:rPr sz="1800">
                    <a:solidFill>
                      <a:srgbClr val="1E293B"/>
                    </a:solidFill>
                    <a:latin typeface="Calibri"/>
                  </a:rPr>
                  <a:t>.</a:t>
                </a:r>
              </a:p>
            </p:txBody>
          </p:sp>
        </mc:Fallback>
      </mc:AlternateContent>
      <p:sp>
        <p:nvSpPr>
          <p:cNvPr id="10" name="s2_nen"/>
          <p:cNvSpPr/>
          <p:nvPr/>
        </p:nvSpPr>
        <p:spPr>
          <a:xfrm>
            <a:off x="548640" y="2615184"/>
            <a:ext cx="8229600" cy="813815"/>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2651760"/>
                <a:ext cx="790041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Một cung của đường tròn bán kính </a:t>
                </a:r>
                <a14:m>
                  <m:oMath xmlns:m="http://schemas.openxmlformats.org/officeDocument/2006/math">
                    <m:r>
                      <a:rPr lang="vi-VN" sz="1800" b="0">
                        <a:solidFill>
                          <a:srgbClr val="1E293B"/>
                        </a:solidFill>
                        <a:latin typeface="Cambria Math" panose="02040503050406030204" pitchFamily="18" charset="0"/>
                      </a:rPr>
                      <m:t>R</m:t>
                    </m:r>
                  </m:oMath>
                </a14:m>
                <a:r>
                  <a:rPr sz="1800">
                    <a:solidFill>
                      <a:srgbClr val="1E293B"/>
                    </a:solidFill>
                    <a:latin typeface="Calibri"/>
                  </a:rPr>
                  <a:t> và có số đo </a:t>
                </a:r>
                <a14:m>
                  <m:oMath xmlns:m="http://schemas.openxmlformats.org/officeDocument/2006/math">
                    <m:r>
                      <a:rPr lang="vi-VN" sz="1800" b="0">
                        <a:solidFill>
                          <a:srgbClr val="1E293B"/>
                        </a:solidFill>
                        <a:latin typeface="Cambria Math" panose="02040503050406030204" pitchFamily="18" charset="0"/>
                      </a:rPr>
                      <m:t>α</m:t>
                    </m:r>
                  </m:oMath>
                </a14:m>
                <a:r>
                  <a:rPr sz="1800">
                    <a:solidFill>
                      <a:srgbClr val="1E293B"/>
                    </a:solidFill>
                    <a:latin typeface="Calibri"/>
                  </a:rPr>
                  <a:t> rad thì có độ dài </a:t>
                </a:r>
                <a14:m>
                  <m:oMath xmlns:m="http://schemas.openxmlformats.org/officeDocument/2006/math">
                    <m:r>
                      <a:rPr lang="vi-VN" sz="1800" b="0">
                        <a:solidFill>
                          <a:srgbClr val="1E293B"/>
                        </a:solidFill>
                        <a:latin typeface="Cambria Math" panose="02040503050406030204" pitchFamily="18" charset="0"/>
                      </a:rPr>
                      <m:t>l=Rα</m:t>
                    </m:r>
                  </m:oMath>
                </a14:m>
                <a:r>
                  <a:rPr sz="1800">
                    <a:solidFill>
                      <a:srgbClr val="1E293B"/>
                    </a:solidFill>
                    <a:latin typeface="Calibri"/>
                  </a:rPr>
                  <a:t>.</a:t>
                </a:r>
              </a:p>
            </p:txBody>
          </p:sp>
        </mc:Choice>
        <mc:Fallback>
          <p:sp>
            <p:nvSpPr>
              <p:cNvPr id="11" name="TextBox 10"/>
              <p:cNvSpPr txBox="1"/>
              <p:nvPr/>
            </p:nvSpPr>
            <p:spPr>
              <a:xfrm>
                <a:off x="713232" y="2651760"/>
                <a:ext cx="7900416" cy="740664"/>
              </a:xfrm>
              <a:prstGeom prst="rect">
                <a:avLst/>
              </a:prstGeom>
              <a:noFill/>
            </p:spPr>
            <p:txBody>
              <a:bodyPr wrap="square" anchor="ctr" lIns="45720" rIns="45720">
                <a:spAutoFit/>
              </a:bodyPr>
              <a:lstStyle/>
              <a:p>
                <a:pPr algn="l">
                  <a:spcAft>
                    <a:spcPts val="800"/>
                  </a:spcAft>
                </a:pPr>
                <a:r>
                  <a:rPr sz="1800">
                    <a:solidFill>
                      <a:srgbClr val="1E293B"/>
                    </a:solidFill>
                    <a:latin typeface="Calibri"/>
                  </a:rPr>
                  <a:t>Một cung của đường tròn bán kính </a:t>
                </a:r>
                <a:r>
                  <a:rPr lang="vi-VN"/>
                  <a:t>R</a:t>
                </a:r>
                <a:r>
                  <a:rPr sz="1800">
                    <a:solidFill>
                      <a:srgbClr val="1E293B"/>
                    </a:solidFill>
                    <a:latin typeface="Calibri"/>
                  </a:rPr>
                  <a:t> và có số đo </a:t>
                </a:r>
                <a:r>
                  <a:rPr lang="vi-VN"/>
                  <a:t>\alpha</a:t>
                </a:r>
                <a:r>
                  <a:rPr sz="1800">
                    <a:solidFill>
                      <a:srgbClr val="1E293B"/>
                    </a:solidFill>
                    <a:latin typeface="Calibri"/>
                  </a:rPr>
                  <a:t> rad thì có độ dài </a:t>
                </a:r>
                <a:r>
                  <a:rPr lang="vi-VN"/>
                  <a:t>l=R\alpha</a:t>
                </a:r>
                <a:r>
                  <a:rPr sz="18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3465576"/>
                <a:ext cx="822960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Ví dụ 4.</a:t>
                </a:r>
                <a:r>
                  <a:rPr sz="1800">
                    <a:solidFill>
                      <a:srgbClr val="1E293B"/>
                    </a:solidFill>
                    <a:latin typeface="Calibri"/>
                  </a:rPr>
                  <a:t> Đường tròn bán kính 2 cm: cung có số đo </a:t>
                </a:r>
                <a14:m>
                  <m:oMath xmlns:m="http://schemas.openxmlformats.org/officeDocument/2006/math">
                    <m:f>
                      <m:fPr>
                        <m:type m:val="bar"/>
                      </m:fPr>
                      <m:num>
                        <m:r>
                          <a:rPr lang="vi-VN" sz="1800" b="0">
                            <a:solidFill>
                              <a:srgbClr val="1E293B"/>
                            </a:solidFill>
                            <a:latin typeface="Cambria Math" panose="02040503050406030204" pitchFamily="18" charset="0"/>
                          </a:rPr>
                          <m:t>2π</m:t>
                        </m:r>
                      </m:num>
                      <m:den>
                        <m:r>
                          <a:rPr lang="vi-VN" sz="1800" b="0">
                            <a:solidFill>
                              <a:srgbClr val="1E293B"/>
                            </a:solidFill>
                            <a:latin typeface="Cambria Math" panose="02040503050406030204" pitchFamily="18" charset="0"/>
                          </a:rPr>
                          <m:t>3</m:t>
                        </m:r>
                      </m:den>
                    </m:f>
                  </m:oMath>
                </a14:m>
                <a:r>
                  <a:rPr sz="1800">
                    <a:solidFill>
                      <a:srgbClr val="1E293B"/>
                    </a:solidFill>
                    <a:latin typeface="Calibri"/>
                  </a:rPr>
                  <a:t> dài bao nhiêu? </a:t>
                </a:r>
                <a:r>
                  <a:rPr sz="1800" b="1">
                    <a:solidFill>
                      <a:srgbClr val="1E293B"/>
                    </a:solidFill>
                    <a:latin typeface="Calibri"/>
                  </a:rPr>
                  <a:t>Vận dụng 1.</a:t>
                </a:r>
                <a:r>
                  <a:rPr sz="1800">
                    <a:solidFill>
                      <a:srgbClr val="1E293B"/>
                    </a:solidFill>
                    <a:latin typeface="Calibri"/>
                  </a:rPr>
                  <a:t> Giải bài toán ở tình huống mở đầu.</a:t>
                </a:r>
              </a:p>
            </p:txBody>
          </p:sp>
        </mc:Choice>
        <mc:Fallback>
          <p:sp>
            <p:nvSpPr>
              <p:cNvPr id="12" name="TextBox 11"/>
              <p:cNvSpPr txBox="1"/>
              <p:nvPr/>
            </p:nvSpPr>
            <p:spPr>
              <a:xfrm>
                <a:off x="548640" y="3465576"/>
                <a:ext cx="822960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Ví dụ 4.</a:t>
                </a:r>
                <a:r>
                  <a:rPr sz="1800">
                    <a:solidFill>
                      <a:srgbClr val="1E293B"/>
                    </a:solidFill>
                    <a:latin typeface="Calibri"/>
                  </a:rPr>
                  <a:t> Đường tròn bán kính 2 cm: cung có số đo </a:t>
                </a:r>
                <a:r>
                  <a:rPr lang="vi-VN"/>
                  <a:t>\frac{2\pi}{3}</a:t>
                </a:r>
                <a:r>
                  <a:rPr sz="1800">
                    <a:solidFill>
                      <a:srgbClr val="1E293B"/>
                    </a:solidFill>
                    <a:latin typeface="Calibri"/>
                  </a:rPr>
                  <a:t> dài bao nhiêu? </a:t>
                </a:r>
                <a:r>
                  <a:rPr sz="1800" b="1">
                    <a:solidFill>
                      <a:srgbClr val="1E293B"/>
                    </a:solidFill>
                    <a:latin typeface="Calibri"/>
                  </a:rPr>
                  <a:t>Vận dụng 1.</a:t>
                </a:r>
                <a:r>
                  <a:rPr sz="1800">
                    <a:solidFill>
                      <a:srgbClr val="1E293B"/>
                    </a:solidFill>
                    <a:latin typeface="Calibri"/>
                  </a:rPr>
                  <a:t> Giải bài toán ở tình huống mở đầu.</a:t>
                </a:r>
              </a:p>
            </p:txBody>
          </p:sp>
        </mc:Fallback>
      </mc:AlternateContent>
      <p:sp>
        <p:nvSpPr>
          <p:cNvPr id="13" name="s4_nen"/>
          <p:cNvSpPr/>
          <p:nvPr/>
        </p:nvSpPr>
        <p:spPr>
          <a:xfrm>
            <a:off x="548640" y="4347972"/>
            <a:ext cx="8229600" cy="78638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4384548"/>
                <a:ext cx="7900416" cy="71323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Ví dụ 4: </a:t>
                </a:r>
                <a14:m>
                  <m:oMath xmlns:m="http://schemas.openxmlformats.org/officeDocument/2006/math">
                    <m:r>
                      <a:rPr lang="vi-VN" sz="1800" b="0">
                        <a:solidFill>
                          <a:srgbClr val="1E293B"/>
                        </a:solidFill>
                        <a:latin typeface="Cambria Math" panose="02040503050406030204" pitchFamily="18" charset="0"/>
                      </a:rPr>
                      <m:t>l=2·</m:t>
                    </m:r>
                    <m:f>
                      <m:fPr>
                        <m:type m:val="bar"/>
                      </m:fPr>
                      <m:num>
                        <m:r>
                          <a:rPr lang="vi-VN" sz="1800" b="0">
                            <a:solidFill>
                              <a:srgbClr val="1E293B"/>
                            </a:solidFill>
                            <a:latin typeface="Cambria Math" panose="02040503050406030204" pitchFamily="18" charset="0"/>
                          </a:rPr>
                          <m:t>2π</m:t>
                        </m:r>
                      </m:num>
                      <m:den>
                        <m:r>
                          <a:rPr lang="vi-VN" sz="1800" b="0">
                            <a:solidFill>
                              <a:srgbClr val="1E293B"/>
                            </a:solidFill>
                            <a:latin typeface="Cambria Math" panose="02040503050406030204" pitchFamily="18" charset="0"/>
                          </a:rPr>
                          <m:t>3</m:t>
                        </m:r>
                      </m:den>
                    </m:f>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4π</m:t>
                        </m:r>
                      </m:num>
                      <m:den>
                        <m:r>
                          <a:rPr lang="vi-VN" sz="1800" b="0">
                            <a:solidFill>
                              <a:srgbClr val="1E293B"/>
                            </a:solidFill>
                            <a:latin typeface="Cambria Math" panose="02040503050406030204" pitchFamily="18" charset="0"/>
                          </a:rPr>
                          <m:t>3</m:t>
                        </m:r>
                      </m:den>
                    </m:f>
                  </m:oMath>
                </a14:m>
                <a:r>
                  <a:rPr sz="1800">
                    <a:solidFill>
                      <a:srgbClr val="1E293B"/>
                    </a:solidFill>
                    <a:latin typeface="Calibri"/>
                  </a:rPr>
                  <a:t> (cm).</a:t>
                </a:r>
              </a:p>
            </p:txBody>
          </p:sp>
        </mc:Choice>
        <mc:Fallback>
          <p:sp>
            <p:nvSpPr>
              <p:cNvPr id="14" name="TextBox 13"/>
              <p:cNvSpPr txBox="1"/>
              <p:nvPr/>
            </p:nvSpPr>
            <p:spPr>
              <a:xfrm>
                <a:off x="713232" y="4384548"/>
                <a:ext cx="7900416" cy="71323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Ví dụ 4: </a:t>
                </a:r>
                <a:r>
                  <a:rPr lang="vi-VN"/>
                  <a:t>l=2\cdot\frac{2\pi}{3}=\frac{4\pi}{3}</a:t>
                </a:r>
                <a:r>
                  <a:rPr sz="1800">
                    <a:solidFill>
                      <a:srgbClr val="1E293B"/>
                    </a:solidFill>
                    <a:latin typeface="Calibri"/>
                  </a:rPr>
                  <a:t> (cm).</a:t>
                </a:r>
              </a:p>
            </p:txBody>
          </p:sp>
        </mc:Fallback>
      </mc:AlternateContent>
      <p:sp>
        <p:nvSpPr>
          <p:cNvPr id="15" name="s5_nen"/>
          <p:cNvSpPr/>
          <p:nvPr/>
        </p:nvSpPr>
        <p:spPr>
          <a:xfrm>
            <a:off x="548640" y="5170931"/>
            <a:ext cx="8229600" cy="106070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6" name="s5_chu"/>
              <p:cNvSpPr txBox="1"/>
              <p:nvPr/>
            </p:nvSpPr>
            <p:spPr>
              <a:xfrm>
                <a:off x="713232" y="5207507"/>
                <a:ext cx="7900416" cy="98755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Vận dụng 1: </a:t>
                </a:r>
                <a14:m>
                  <m:oMath xmlns:m="http://schemas.openxmlformats.org/officeDocument/2006/math">
                    <m:r>
                      <a:rPr lang="vi-VN" sz="1800" b="0">
                        <a:solidFill>
                          <a:srgbClr val="1E293B"/>
                        </a:solidFill>
                        <a:latin typeface="Cambria Math" panose="02040503050406030204" pitchFamily="18" charset="0"/>
                      </a:rPr>
                      <m:t>R=6</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400+400=6</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800</m:t>
                    </m:r>
                  </m:oMath>
                </a14:m>
                <a:r>
                  <a:rPr sz="1800">
                    <a:solidFill>
                      <a:srgbClr val="1E293B"/>
                    </a:solidFill>
                    <a:latin typeface="Calibri"/>
                  </a:rPr>
                  <a:t> km; </a:t>
                </a:r>
                <a14:m>
                  <m:oMath xmlns:m="http://schemas.openxmlformats.org/officeDocument/2006/math">
                    <m:sSup>
                      <m:e>
                        <m:r>
                          <a:rPr lang="vi-VN" sz="1800" b="0">
                            <a:solidFill>
                              <a:srgbClr val="1E293B"/>
                            </a:solidFill>
                            <a:latin typeface="Cambria Math" panose="02040503050406030204" pitchFamily="18" charset="0"/>
                          </a:rPr>
                          <m:t>45</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4</m:t>
                        </m:r>
                      </m:den>
                    </m:f>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l=6</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800·</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4</m:t>
                        </m:r>
                      </m:den>
                    </m:f>
                    <m:r>
                      <a:rPr lang="vi-VN" sz="1800" b="0">
                        <a:solidFill>
                          <a:srgbClr val="1E293B"/>
                        </a:solidFill>
                        <a:latin typeface="Cambria Math" panose="02040503050406030204" pitchFamily="18" charset="0"/>
                      </a:rPr>
                      <m:t>=1</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700π≈5</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341</m:t>
                    </m:r>
                  </m:oMath>
                </a14:m>
                <a:r>
                  <a:rPr sz="1800">
                    <a:solidFill>
                      <a:srgbClr val="1E293B"/>
                    </a:solidFill>
                    <a:latin typeface="Calibri"/>
                  </a:rPr>
                  <a:t> (km).</a:t>
                </a:r>
              </a:p>
            </p:txBody>
          </p:sp>
        </mc:Choice>
        <mc:Fallback>
          <p:sp>
            <p:nvSpPr>
              <p:cNvPr id="16" name="TextBox 15"/>
              <p:cNvSpPr txBox="1"/>
              <p:nvPr/>
            </p:nvSpPr>
            <p:spPr>
              <a:xfrm>
                <a:off x="713232" y="5207507"/>
                <a:ext cx="7900416" cy="98755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Vận dụng 1: </a:t>
                </a:r>
                <a:r>
                  <a:rPr lang="vi-VN"/>
                  <a:t>R=6\ 400+400=6\ 800</a:t>
                </a:r>
                <a:r>
                  <a:rPr sz="1800">
                    <a:solidFill>
                      <a:srgbClr val="1E293B"/>
                    </a:solidFill>
                    <a:latin typeface="Calibri"/>
                  </a:rPr>
                  <a:t> km; </a:t>
                </a:r>
                <a:r>
                  <a:rPr lang="vi-VN"/>
                  <a:t>45^\circ=\frac{\pi}{4}</a:t>
                </a:r>
                <a:r>
                  <a:rPr sz="1800">
                    <a:solidFill>
                      <a:srgbClr val="1E293B"/>
                    </a:solidFill>
                    <a:latin typeface="Calibri"/>
                  </a:rPr>
                  <a:t>; </a:t>
                </a:r>
                <a:r>
                  <a:rPr lang="vi-VN"/>
                  <a:t>l=6\ 800\cdot\frac{\pi}{4}=1\ 700\pi\approx 5\ 341</a:t>
                </a:r>
                <a:r>
                  <a:rPr sz="1800">
                    <a:solidFill>
                      <a:srgbClr val="1E293B"/>
                    </a:solidFill>
                    <a:latin typeface="Calibri"/>
                  </a:rPr>
                  <a:t> (km).</a:t>
                </a:r>
              </a:p>
            </p:txBody>
          </p:sp>
        </mc:Fallback>
      </mc:AlternateContent>
      <p:pic>
        <p:nvPicPr>
          <p:cNvPr id="17" name="Picture 16" descr="b1_h11.png"/>
          <p:cNvPicPr>
            <a:picLocks noChangeAspect="1"/>
          </p:cNvPicPr>
          <p:nvPr/>
        </p:nvPicPr>
        <p:blipFill>
          <a:blip r:embed="rId3"/>
          <a:stretch>
            <a:fillRect/>
          </a:stretch>
        </p:blipFill>
        <p:spPr>
          <a:xfrm>
            <a:off x="8971832" y="1828800"/>
            <a:ext cx="2721775" cy="30175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ĐÚNG HAY 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14</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Cả lớp giơ thẻ Đ/S trong 15 giây mỗi câu.</a:t>
            </a:r>
          </a:p>
        </p:txBody>
      </p:sp>
      <mc:AlternateContent xmlns:mc="http://schemas.openxmlformats.org/markup-compatibility/2006">
        <mc:Choice xmlns:a14="http://schemas.microsoft.com/office/drawing/2010/main" Requires="a14">
          <p:sp>
            <p:nvSpPr>
              <p:cNvPr id="8" name="TextBox 7"/>
              <p:cNvSpPr txBox="1"/>
              <p:nvPr/>
            </p:nvSpPr>
            <p:spPr>
              <a:xfrm>
                <a:off x="548640" y="1828800"/>
                <a:ext cx="8229600" cy="8686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1</m:t>
                    </m:r>
                  </m:oMath>
                </a14:m>
                <a:r>
                  <a:rPr sz="2100">
                    <a:solidFill>
                      <a:srgbClr val="1E293B"/>
                    </a:solidFill>
                    <a:latin typeface="Calibri"/>
                  </a:rPr>
                  <a:t> rad </a:t>
                </a:r>
                <a14:m>
                  <m:oMath xmlns:m="http://schemas.openxmlformats.org/officeDocument/2006/math">
                    <m:r>
                      <a:rPr lang="vi-VN" sz="2100" b="0">
                        <a:solidFill>
                          <a:srgbClr val="1E293B"/>
                        </a:solidFill>
                        <a:latin typeface="Cambria Math" panose="02040503050406030204" pitchFamily="18" charset="0"/>
                      </a:rPr>
                      <m:t>=</m:t>
                    </m:r>
                    <m:sSup>
                      <m:e>
                        <m:d>
                          <m:dPr>
                            <m:sepChr m:val=""/>
                          </m:dPr>
                          <m:e>
                            <m:f>
                              <m:fPr>
                                <m:type m:val="bar"/>
                              </m:fPr>
                              <m:num>
                                <m:r>
                                  <a:rPr lang="vi-VN" sz="2100" b="0">
                                    <a:solidFill>
                                      <a:srgbClr val="1E293B"/>
                                    </a:solidFill>
                                    <a:latin typeface="Cambria Math" panose="02040503050406030204" pitchFamily="18" charset="0"/>
                                  </a:rPr>
                                  <m:t>180</m:t>
                                </m:r>
                              </m:num>
                              <m:den>
                                <m:r>
                                  <a:rPr lang="vi-VN" sz="2100" b="0">
                                    <a:solidFill>
                                      <a:srgbClr val="1E293B"/>
                                    </a:solidFill>
                                    <a:latin typeface="Cambria Math" panose="02040503050406030204" pitchFamily="18" charset="0"/>
                                  </a:rPr>
                                  <m:t>π</m:t>
                                </m:r>
                              </m:den>
                            </m:f>
                          </m:e>
                        </m:d>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57</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18</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8" name="TextBox 7"/>
              <p:cNvSpPr txBox="1"/>
              <p:nvPr/>
            </p:nvSpPr>
            <p:spPr>
              <a:xfrm>
                <a:off x="548640" y="1828800"/>
                <a:ext cx="8229600" cy="8686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1.</a:t>
                </a:r>
                <a:r>
                  <a:rPr sz="2100">
                    <a:solidFill>
                      <a:srgbClr val="1E293B"/>
                    </a:solidFill>
                    <a:latin typeface="Calibri"/>
                  </a:rPr>
                  <a:t> </a:t>
                </a:r>
                <a:r>
                  <a:rPr lang="vi-VN"/>
                  <a:t>1</a:t>
                </a:r>
                <a:r>
                  <a:rPr sz="2100">
                    <a:solidFill>
                      <a:srgbClr val="1E293B"/>
                    </a:solidFill>
                    <a:latin typeface="Calibri"/>
                  </a:rPr>
                  <a:t> rad </a:t>
                </a:r>
                <a:r>
                  <a:rPr lang="vi-VN"/>
                  <a:t>=\left(\frac{180}{\pi}\right)^\circ\approx 57^\circ 18'</a:t>
                </a:r>
                <a:r>
                  <a:rPr sz="2100">
                    <a:solidFill>
                      <a:srgbClr val="1E293B"/>
                    </a:solidFill>
                    <a:latin typeface="Calibri"/>
                  </a:rPr>
                  <a:t>.</a:t>
                </a:r>
              </a:p>
            </p:txBody>
          </p:sp>
        </mc:Fallback>
      </mc:AlternateContent>
      <p:sp>
        <p:nvSpPr>
          <p:cNvPr id="9" name="s1_nen"/>
          <p:cNvSpPr/>
          <p:nvPr/>
        </p:nvSpPr>
        <p:spPr>
          <a:xfrm>
            <a:off x="8961120" y="1828800"/>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961120" y="1883664"/>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2743200"/>
                <a:ext cx="8229600" cy="8686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135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3π</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a:t>
                </a:r>
              </a:p>
            </p:txBody>
          </p:sp>
        </mc:Choice>
        <mc:Fallback>
          <p:sp>
            <p:nvSpPr>
              <p:cNvPr id="11" name="TextBox 10"/>
              <p:cNvSpPr txBox="1"/>
              <p:nvPr/>
            </p:nvSpPr>
            <p:spPr>
              <a:xfrm>
                <a:off x="548640" y="2743200"/>
                <a:ext cx="8229600" cy="8686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2.</a:t>
                </a:r>
                <a:r>
                  <a:rPr sz="2100">
                    <a:solidFill>
                      <a:srgbClr val="1E293B"/>
                    </a:solidFill>
                    <a:latin typeface="Calibri"/>
                  </a:rPr>
                  <a:t> </a:t>
                </a:r>
                <a:r>
                  <a:rPr lang="vi-VN"/>
                  <a:t>-135^\circ=-\frac{3\pi}{4}</a:t>
                </a:r>
                <a:r>
                  <a:rPr sz="2100">
                    <a:solidFill>
                      <a:srgbClr val="1E293B"/>
                    </a:solidFill>
                    <a:latin typeface="Calibri"/>
                  </a:rPr>
                  <a:t>.</a:t>
                </a:r>
              </a:p>
            </p:txBody>
          </p:sp>
        </mc:Fallback>
      </mc:AlternateContent>
      <p:sp>
        <p:nvSpPr>
          <p:cNvPr id="12" name="s2_nen"/>
          <p:cNvSpPr/>
          <p:nvPr/>
        </p:nvSpPr>
        <p:spPr>
          <a:xfrm>
            <a:off x="8961120" y="2743200"/>
            <a:ext cx="2651759" cy="6858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961120" y="2798064"/>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ĐÚNG</a:t>
            </a:r>
          </a:p>
        </p:txBody>
      </p:sp>
      <p:sp>
        <p:nvSpPr>
          <p:cNvPr id="14" name="TextBox 13"/>
          <p:cNvSpPr txBox="1"/>
          <p:nvPr/>
        </p:nvSpPr>
        <p:spPr>
          <a:xfrm>
            <a:off x="548640" y="3657600"/>
            <a:ext cx="8229600" cy="8686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3.</a:t>
            </a:r>
            <a:r>
              <a:rPr sz="2100">
                <a:solidFill>
                  <a:srgbClr val="1E293B"/>
                </a:solidFill>
                <a:latin typeface="Calibri"/>
              </a:rPr>
              <a:t> Hai góc lượng giác cùng tia đầu, tia cuối có số đo bằng nhau.</a:t>
            </a:r>
          </a:p>
        </p:txBody>
      </p:sp>
      <p:sp>
        <p:nvSpPr>
          <p:cNvPr id="15" name="s3_nen"/>
          <p:cNvSpPr/>
          <p:nvPr/>
        </p:nvSpPr>
        <p:spPr>
          <a:xfrm>
            <a:off x="8961120" y="3657600"/>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961120" y="3712463"/>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(sai khác k360°)</a:t>
            </a:r>
          </a:p>
        </p:txBody>
      </p:sp>
      <mc:AlternateContent xmlns:mc="http://schemas.openxmlformats.org/markup-compatibility/2006">
        <mc:Choice xmlns:a14="http://schemas.microsoft.com/office/drawing/2010/main" Requires="a14">
          <p:sp>
            <p:nvSpPr>
              <p:cNvPr id="17" name="TextBox 16"/>
              <p:cNvSpPr txBox="1"/>
              <p:nvPr/>
            </p:nvSpPr>
            <p:spPr>
              <a:xfrm>
                <a:off x="548640" y="4572000"/>
                <a:ext cx="8229600" cy="8686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Cung </a:t>
                </a:r>
                <a14:m>
                  <m:oMath xmlns:m="http://schemas.openxmlformats.org/officeDocument/2006/math">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của đường tròn bán kính 4 cm dài </a:t>
                </a:r>
                <a14:m>
                  <m:oMath xmlns:m="http://schemas.openxmlformats.org/officeDocument/2006/math">
                    <m:r>
                      <a:rPr lang="vi-VN" sz="2100" b="0">
                        <a:solidFill>
                          <a:srgbClr val="1E293B"/>
                        </a:solidFill>
                        <a:latin typeface="Cambria Math" panose="02040503050406030204" pitchFamily="18" charset="0"/>
                      </a:rPr>
                      <m:t>4π</m:t>
                    </m:r>
                  </m:oMath>
                </a14:m>
                <a:r>
                  <a:rPr sz="2100">
                    <a:solidFill>
                      <a:srgbClr val="1E293B"/>
                    </a:solidFill>
                    <a:latin typeface="Calibri"/>
                  </a:rPr>
                  <a:t> cm.</a:t>
                </a:r>
              </a:p>
            </p:txBody>
          </p:sp>
        </mc:Choice>
        <mc:Fallback>
          <p:sp>
            <p:nvSpPr>
              <p:cNvPr id="17" name="TextBox 16"/>
              <p:cNvSpPr txBox="1"/>
              <p:nvPr/>
            </p:nvSpPr>
            <p:spPr>
              <a:xfrm>
                <a:off x="548640" y="4572000"/>
                <a:ext cx="8229600" cy="868680"/>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4.</a:t>
                </a:r>
                <a:r>
                  <a:rPr sz="2100">
                    <a:solidFill>
                      <a:srgbClr val="1E293B"/>
                    </a:solidFill>
                    <a:latin typeface="Calibri"/>
                  </a:rPr>
                  <a:t> Cung </a:t>
                </a:r>
                <a:r>
                  <a:rPr lang="vi-VN"/>
                  <a:t>90^\circ</a:t>
                </a:r>
                <a:r>
                  <a:rPr sz="2100">
                    <a:solidFill>
                      <a:srgbClr val="1E293B"/>
                    </a:solidFill>
                    <a:latin typeface="Calibri"/>
                  </a:rPr>
                  <a:t> của đường tròn bán kính 4 cm dài </a:t>
                </a:r>
                <a:r>
                  <a:rPr lang="vi-VN"/>
                  <a:t>4\pi</a:t>
                </a:r>
                <a:r>
                  <a:rPr sz="2100">
                    <a:solidFill>
                      <a:srgbClr val="1E293B"/>
                    </a:solidFill>
                    <a:latin typeface="Calibri"/>
                  </a:rPr>
                  <a:t> cm.</a:t>
                </a:r>
              </a:p>
            </p:txBody>
          </p:sp>
        </mc:Fallback>
      </mc:AlternateContent>
      <p:sp>
        <p:nvSpPr>
          <p:cNvPr id="18" name="s4_nen"/>
          <p:cNvSpPr/>
          <p:nvPr/>
        </p:nvSpPr>
        <p:spPr>
          <a:xfrm>
            <a:off x="8961120" y="4572000"/>
            <a:ext cx="2651759" cy="6858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961120" y="4626864"/>
            <a:ext cx="2651759" cy="640080"/>
          </a:xfrm>
          <a:prstGeom prst="rect">
            <a:avLst/>
          </a:prstGeom>
          <a:noFill/>
        </p:spPr>
        <p:txBody>
          <a:bodyPr wrap="square" anchor="t" lIns="45720" rIns="45720">
            <a:spAutoFit/>
          </a:bodyPr>
          <a:lstStyle/>
          <a:p>
            <a:pPr algn="ctr">
              <a:spcAft>
                <a:spcPts val="800"/>
              </a:spcAft>
            </a:pPr>
            <a:r>
              <a:rPr sz="1700" b="1">
                <a:solidFill>
                  <a:srgbClr val="FFFFFF"/>
                </a:solidFill>
                <a:latin typeface="Calibri"/>
              </a:rPr>
              <a:t>SAI</a:t>
            </a:r>
            <a:r>
              <a:rPr sz="1700">
                <a:solidFill>
                  <a:srgbClr val="FFFFFF"/>
                </a:solidFill>
                <a:latin typeface="Calibri"/>
              </a:rPr>
              <a:t> (2π cm)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15</a:t>
            </a:r>
          </a:p>
        </p:txBody>
      </p:sp>
      <p:sp>
        <p:nvSpPr>
          <p:cNvPr id="7" name="Rounded Rectangle 6"/>
          <p:cNvSpPr/>
          <p:nvPr/>
        </p:nvSpPr>
        <p:spPr>
          <a:xfrm>
            <a:off x="548640" y="1463040"/>
            <a:ext cx="11064240" cy="1036320"/>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Góc lượng giác </a:t>
                </a:r>
                <a14:m>
                  <m:oMath xmlns:m="http://schemas.openxmlformats.org/officeDocument/2006/math">
                    <m:d>
                      <m:dPr>
                        <m:sepChr m:val=","/>
                      </m:dPr>
                      <m:e>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u</m:t>
                        </m:r>
                      </m:e>
                      <m:e>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O</m:t>
                        </m:r>
                        <m:r>
                          <a:rPr lang="vi-VN" sz="2200" b="0">
                            <a:solidFill>
                              <a:srgbClr val="1E293B"/>
                            </a:solidFill>
                            <a:latin typeface="Cambria Math" panose="02040503050406030204" pitchFamily="18" charset="0"/>
                          </a:rPr>
                          <m:t>v</m:t>
                        </m:r>
                      </m:e>
                    </m:d>
                  </m:oMath>
                </a14:m>
                <a:r>
                  <a:rPr sz="2200">
                    <a:solidFill>
                      <a:srgbClr val="1E293B"/>
                    </a:solidFill>
                    <a:latin typeface="Calibri"/>
                  </a:rPr>
                  <a:t>: số đo sai khác </a:t>
                </a:r>
                <a14:m>
                  <m:oMath xmlns:m="http://schemas.openxmlformats.org/officeDocument/2006/math">
                    <m:r>
                      <a:rPr lang="vi-VN" sz="2200" b="0">
                        <a:solidFill>
                          <a:srgbClr val="1E293B"/>
                        </a:solidFill>
                        <a:latin typeface="Cambria Math" panose="02040503050406030204" pitchFamily="18" charset="0"/>
                      </a:rPr>
                      <m:t>k</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hệ thức Chasles.</a:t>
                </a:r>
              </a:p>
              <a:p>
                <a:pPr algn="l" marL="365760" indent="-365760">
                  <a:spcAft>
                    <a:spcPts val="800"/>
                  </a:spcAft>
                  <a:buClr>
                    <a:srgbClr val="1E40AF"/>
                  </a:buClr>
                  <a:buFont typeface="Arial"/>
                  <a:buChar char="•"/>
                </a:pPr>
                <a14:m>
                  <m:oMath xmlns:m="http://schemas.openxmlformats.org/officeDocument/2006/math">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=π</m:t>
                    </m:r>
                  </m:oMath>
                </a14:m>
                <a:r>
                  <a:rPr sz="2200">
                    <a:solidFill>
                      <a:srgbClr val="1E293B"/>
                    </a:solidFill>
                    <a:latin typeface="Calibri"/>
                  </a:rPr>
                  <a:t> rad; độ dài cung </a:t>
                </a:r>
                <a14:m>
                  <m:oMath xmlns:m="http://schemas.openxmlformats.org/officeDocument/2006/math">
                    <m:r>
                      <a:rPr lang="vi-VN" sz="2200" b="0">
                        <a:solidFill>
                          <a:srgbClr val="1E293B"/>
                        </a:solidFill>
                        <a:latin typeface="Cambria Math" panose="02040503050406030204" pitchFamily="18" charset="0"/>
                      </a:rPr>
                      <m:t>l=Rα</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tính bằng rađian).</a:t>
                </a:r>
              </a:p>
            </p:txBody>
          </p:sp>
        </mc:Choice>
        <mc:Fallback>
          <p:sp>
            <p:nvSpPr>
              <p:cNvPr id="8" name="TextBox 7"/>
              <p:cNvSpPr txBox="1"/>
              <p:nvPr/>
            </p:nvSpPr>
            <p:spPr>
              <a:xfrm>
                <a:off x="713232" y="1499616"/>
                <a:ext cx="10735056" cy="963167"/>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Góc lượng giác </a:t>
                </a:r>
                <a:r>
                  <a:rPr lang="vi-VN"/>
                  <a:t>(Ou,\ Ov)</a:t>
                </a:r>
                <a:r>
                  <a:rPr sz="2200">
                    <a:solidFill>
                      <a:srgbClr val="1E293B"/>
                    </a:solidFill>
                    <a:latin typeface="Calibri"/>
                  </a:rPr>
                  <a:t>: số đo sai khác </a:t>
                </a:r>
                <a:r>
                  <a:rPr lang="vi-VN"/>
                  <a:t>k360^\circ</a:t>
                </a:r>
                <a:r>
                  <a:rPr sz="2200">
                    <a:solidFill>
                      <a:srgbClr val="1E293B"/>
                    </a:solidFill>
                    <a:latin typeface="Calibri"/>
                  </a:rPr>
                  <a:t>; hệ thức Chasles.</a:t>
                </a:r>
              </a:p>
              <a:p>
                <a:pPr algn="l" marL="365760" indent="-365760">
                  <a:spcAft>
                    <a:spcPts val="800"/>
                  </a:spcAft>
                  <a:buClr>
                    <a:srgbClr val="1E40AF"/>
                  </a:buClr>
                  <a:buFont typeface="Arial"/>
                  <a:buChar char="•"/>
                </a:pPr>
                <a:r>
                  <a:rPr lang="vi-VN"/>
                  <a:t>180^\circ=\pi</a:t>
                </a:r>
                <a:r>
                  <a:rPr sz="2200">
                    <a:solidFill>
                      <a:srgbClr val="1E293B"/>
                    </a:solidFill>
                    <a:latin typeface="Calibri"/>
                  </a:rPr>
                  <a:t> rad; độ dài cung </a:t>
                </a:r>
                <a:r>
                  <a:rPr lang="vi-VN"/>
                  <a:t>l=R\alpha</a:t>
                </a:r>
                <a:r>
                  <a:rPr sz="2200">
                    <a:solidFill>
                      <a:srgbClr val="1E293B"/>
                    </a:solidFill>
                    <a:latin typeface="Calibri"/>
                  </a:rPr>
                  <a:t> (</a:t>
                </a:r>
                <a:r>
                  <a:rPr lang="vi-VN"/>
                  <a:t>\alpha</a:t>
                </a:r>
                <a:r>
                  <a:rPr sz="2200">
                    <a:solidFill>
                      <a:srgbClr val="1E293B"/>
                    </a:solidFill>
                    <a:latin typeface="Calibri"/>
                  </a:rPr>
                  <a:t> tính bằng rađian).</a:t>
                </a:r>
              </a:p>
            </p:txBody>
          </p:sp>
        </mc:Fallback>
      </mc:AlternateContent>
      <p:sp>
        <p:nvSpPr>
          <p:cNvPr id="9" name="Rounded Rectangle 8"/>
          <p:cNvSpPr/>
          <p:nvPr/>
        </p:nvSpPr>
        <p:spPr>
          <a:xfrm>
            <a:off x="548640" y="2727960"/>
            <a:ext cx="11064240" cy="180746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TextBox 9"/>
              <p:cNvSpPr txBox="1"/>
              <p:nvPr/>
            </p:nvSpPr>
            <p:spPr>
              <a:xfrm>
                <a:off x="713232" y="2764536"/>
                <a:ext cx="10735056" cy="173431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1.1, 1.2 (SGK tr.16).</a:t>
                </a:r>
              </a:p>
              <a:p>
                <a:pPr algn="l" marL="365760" indent="-365760">
                  <a:spcAft>
                    <a:spcPts val="800"/>
                  </a:spcAft>
                  <a:buClr>
                    <a:srgbClr val="1E40AF"/>
                  </a:buClr>
                  <a:buFont typeface="Arial"/>
                  <a:buChar char="•"/>
                </a:pPr>
                <a:r>
                  <a:rPr sz="2200">
                    <a:solidFill>
                      <a:srgbClr val="1E293B"/>
                    </a:solidFill>
                    <a:latin typeface="Calibri"/>
                  </a:rPr>
                  <a:t>Ôn giá trị lượng giác của góc từ </a:t>
                </a:r>
                <a14:m>
                  <m:oMath xmlns:m="http://schemas.openxmlformats.org/officeDocument/2006/math">
                    <m:sSup>
                      <m:e>
                        <m:r>
                          <a:rPr lang="vi-VN" sz="2200" b="0">
                            <a:solidFill>
                              <a:srgbClr val="1E293B"/>
                            </a:solidFill>
                            <a:latin typeface="Cambria Math" panose="02040503050406030204" pitchFamily="18" charset="0"/>
                          </a:rPr>
                          <m:t>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đến </a:t>
                </a:r>
                <a14:m>
                  <m:oMath xmlns:m="http://schemas.openxmlformats.org/officeDocument/2006/math">
                    <m:sSup>
                      <m:e>
                        <m:r>
                          <a:rPr lang="vi-VN" sz="2200" b="0">
                            <a:solidFill>
                              <a:srgbClr val="1E293B"/>
                            </a:solidFill>
                            <a:latin typeface="Cambria Math" panose="02040503050406030204" pitchFamily="18" charset="0"/>
                          </a:rPr>
                          <m:t>180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(lớp 10); mang máy tính cầm tay.</a:t>
                </a:r>
              </a:p>
            </p:txBody>
          </p:sp>
        </mc:Choice>
        <mc:Fallback>
          <p:sp>
            <p:nvSpPr>
              <p:cNvPr id="10" name="TextBox 9"/>
              <p:cNvSpPr txBox="1"/>
              <p:nvPr/>
            </p:nvSpPr>
            <p:spPr>
              <a:xfrm>
                <a:off x="713232" y="2764536"/>
                <a:ext cx="10735056" cy="173431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1.1, 1.2 (SGK tr.16).</a:t>
                </a:r>
              </a:p>
              <a:p>
                <a:pPr algn="l" marL="365760" indent="-365760">
                  <a:spcAft>
                    <a:spcPts val="800"/>
                  </a:spcAft>
                  <a:buClr>
                    <a:srgbClr val="1E40AF"/>
                  </a:buClr>
                  <a:buFont typeface="Arial"/>
                  <a:buChar char="•"/>
                </a:pPr>
                <a:r>
                  <a:rPr sz="2200">
                    <a:solidFill>
                      <a:srgbClr val="1E293B"/>
                    </a:solidFill>
                    <a:latin typeface="Calibri"/>
                  </a:rPr>
                  <a:t>Ôn giá trị lượng giác của góc từ </a:t>
                </a:r>
                <a:r>
                  <a:rPr lang="vi-VN"/>
                  <a:t>0^\circ</a:t>
                </a:r>
                <a:r>
                  <a:rPr sz="2200">
                    <a:solidFill>
                      <a:srgbClr val="1E293B"/>
                    </a:solidFill>
                    <a:latin typeface="Calibri"/>
                  </a:rPr>
                  <a:t> đến </a:t>
                </a:r>
                <a:r>
                  <a:rPr lang="vi-VN"/>
                  <a:t>180^\circ</a:t>
                </a:r>
                <a:r>
                  <a:rPr sz="2200">
                    <a:solidFill>
                      <a:srgbClr val="1E293B"/>
                    </a:solidFill>
                    <a:latin typeface="Calibri"/>
                  </a:rPr>
                  <a:t> (lớp 10); mang máy tính cầm tay.</a:t>
                </a: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(T2)</a:t>
            </a:r>
          </a:p>
          <a:p>
            <a:pPr>
              <a:spcAft>
                <a:spcPts val="600"/>
              </a:spcAft>
            </a:pPr>
            <a:r>
              <a:rPr sz="4000" b="1">
                <a:solidFill>
                  <a:srgbClr val="FFFFFF"/>
                </a:solidFill>
                <a:latin typeface="Cambria"/>
              </a:rPr>
              <a:t>Giá trị lượng giác của góc lượng giác</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Xác định điểm biểu diễn góc lượng giác trên đường tròn lượng giác.</a:t>
            </a:r>
          </a:p>
          <a:p>
            <a:pPr algn="l">
              <a:spcAft>
                <a:spcPts val="800"/>
              </a:spcAft>
            </a:pPr>
            <a:r>
              <a:rPr sz="2200">
                <a:solidFill>
                  <a:srgbClr val="E0E7FF"/>
                </a:solidFill>
                <a:latin typeface="Calibri"/>
              </a:rPr>
              <a:t>• Tính giá trị lượng giác; dùng máy tính cầm tay.</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KHỞI ĐỘNG: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17</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Từng cặp ghi đáp án lên bảng con. Mỗi câu 20 giây.</a:t>
            </a:r>
          </a:p>
        </p:txBody>
      </p:sp>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Đổi số đo:</a:t>
            </a:r>
          </a:p>
        </p:txBody>
      </p:sp>
      <mc:AlternateContent xmlns:mc="http://schemas.openxmlformats.org/markup-compatibility/2006">
        <mc:Choice xmlns:a14="http://schemas.microsoft.com/office/drawing/2010/main" Requires="a14">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120</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9" name="TextBox 8"/>
              <p:cNvSpPr txBox="1"/>
              <p:nvPr/>
            </p:nvSpPr>
            <p:spPr>
              <a:xfrm>
                <a:off x="548640" y="246887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a:t>
                </a:r>
                <a:r>
                  <a:rPr lang="vi-VN"/>
                  <a:t>120^\circ=</a:t>
                </a:r>
                <a:r>
                  <a:rPr sz="2400">
                    <a:solidFill>
                      <a:srgbClr val="1E293B"/>
                    </a:solidFill>
                    <a:latin typeface="Calibri"/>
                  </a:rPr>
                  <a:t>?</a:t>
                </a:r>
              </a:p>
            </p:txBody>
          </p:sp>
        </mc:Fallback>
      </mc:AlternateContent>
      <p:sp>
        <p:nvSpPr>
          <p:cNvPr id="10" name="s1_nen"/>
          <p:cNvSpPr/>
          <p:nvPr/>
        </p:nvSpPr>
        <p:spPr>
          <a:xfrm>
            <a:off x="4846320" y="242316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01091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2π</m:t>
                        </m:r>
                      </m:num>
                      <m:den>
                        <m:r>
                          <a:rPr lang="vi-VN" sz="2400" b="0">
                            <a:solidFill>
                              <a:srgbClr val="1E293B"/>
                            </a:solidFill>
                            <a:latin typeface="Cambria Math" panose="02040503050406030204" pitchFamily="18" charset="0"/>
                          </a:rPr>
                          <m:t>3</m:t>
                        </m:r>
                      </m:den>
                    </m:f>
                  </m:oMath>
                </a14:m>
              </a:p>
            </p:txBody>
          </p:sp>
        </mc:Choice>
        <mc:Fallback>
          <p:sp>
            <p:nvSpPr>
              <p:cNvPr id="11" name="TextBox 10"/>
              <p:cNvSpPr txBox="1"/>
              <p:nvPr/>
            </p:nvSpPr>
            <p:spPr>
              <a:xfrm>
                <a:off x="5010912" y="245973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\frac{2\pi}{3}</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3π</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12" name="TextBox 11"/>
              <p:cNvSpPr txBox="1"/>
              <p:nvPr/>
            </p:nvSpPr>
            <p:spPr>
              <a:xfrm>
                <a:off x="548640" y="341757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\frac{3\pi}{4}=</a:t>
                </a:r>
                <a:r>
                  <a:rPr sz="2400">
                    <a:solidFill>
                      <a:srgbClr val="1E293B"/>
                    </a:solidFill>
                    <a:latin typeface="Calibri"/>
                  </a:rPr>
                  <a:t>?</a:t>
                </a:r>
              </a:p>
            </p:txBody>
          </p:sp>
        </mc:Fallback>
      </mc:AlternateContent>
      <p:sp>
        <p:nvSpPr>
          <p:cNvPr id="13" name="s2_nen"/>
          <p:cNvSpPr/>
          <p:nvPr/>
        </p:nvSpPr>
        <p:spPr>
          <a:xfrm>
            <a:off x="4846320" y="337185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501091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sSup>
                      <m:e>
                        <m:r>
                          <a:rPr lang="vi-VN" sz="2400" b="0">
                            <a:solidFill>
                              <a:srgbClr val="1E293B"/>
                            </a:solidFill>
                            <a:latin typeface="Cambria Math" panose="02040503050406030204" pitchFamily="18" charset="0"/>
                          </a:rPr>
                          <m:t>135</m:t>
                        </m:r>
                      </m:e>
                      <m:sup>
                        <m:r>
                          <a:rPr lang="vi-VN" sz="2400" b="0">
                            <a:solidFill>
                              <a:srgbClr val="1E293B"/>
                            </a:solidFill>
                            <a:latin typeface="Cambria Math" panose="02040503050406030204" pitchFamily="18" charset="0"/>
                          </a:rPr>
                          <m:t>∘</m:t>
                        </m:r>
                      </m:sup>
                    </m:sSup>
                  </m:oMath>
                </a14:m>
              </a:p>
            </p:txBody>
          </p:sp>
        </mc:Choice>
        <mc:Fallback>
          <p:sp>
            <p:nvSpPr>
              <p:cNvPr id="14" name="TextBox 13"/>
              <p:cNvSpPr txBox="1"/>
              <p:nvPr/>
            </p:nvSpPr>
            <p:spPr>
              <a:xfrm>
                <a:off x="5010912" y="340842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135^\circ</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90</m:t>
                        </m:r>
                      </m:e>
                      <m:sup>
                        <m:r>
                          <a:rPr lang="vi-VN" sz="2400" b="0">
                            <a:solidFill>
                              <a:srgbClr val="1E293B"/>
                            </a:solidFill>
                            <a:latin typeface="Cambria Math" panose="02040503050406030204" pitchFamily="18" charset="0"/>
                          </a:rPr>
                          <m:t>∘</m:t>
                        </m:r>
                      </m:sup>
                    </m:sSup>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15" name="TextBox 14"/>
              <p:cNvSpPr txBox="1"/>
              <p:nvPr/>
            </p:nvSpPr>
            <p:spPr>
              <a:xfrm>
                <a:off x="548640" y="4366259"/>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-90^\circ=</a:t>
                </a:r>
                <a:r>
                  <a:rPr sz="2400">
                    <a:solidFill>
                      <a:srgbClr val="1E293B"/>
                    </a:solidFill>
                    <a:latin typeface="Calibri"/>
                  </a:rPr>
                  <a:t>?</a:t>
                </a:r>
              </a:p>
            </p:txBody>
          </p:sp>
        </mc:Fallback>
      </mc:AlternateContent>
      <p:sp>
        <p:nvSpPr>
          <p:cNvPr id="16" name="s3_nen"/>
          <p:cNvSpPr/>
          <p:nvPr/>
        </p:nvSpPr>
        <p:spPr>
          <a:xfrm>
            <a:off x="4846320" y="432054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010912" y="435711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π</m:t>
                        </m:r>
                      </m:num>
                      <m:den>
                        <m:r>
                          <a:rPr lang="vi-VN" sz="2400" b="0">
                            <a:solidFill>
                              <a:srgbClr val="1E293B"/>
                            </a:solidFill>
                            <a:latin typeface="Cambria Math" panose="02040503050406030204" pitchFamily="18" charset="0"/>
                          </a:rPr>
                          <m:t>2</m:t>
                        </m:r>
                      </m:den>
                    </m:f>
                  </m:oMath>
                </a14:m>
              </a:p>
            </p:txBody>
          </p:sp>
        </mc:Choice>
        <mc:Fallback>
          <p:sp>
            <p:nvSpPr>
              <p:cNvPr id="17" name="TextBox 16"/>
              <p:cNvSpPr txBox="1"/>
              <p:nvPr/>
            </p:nvSpPr>
            <p:spPr>
              <a:xfrm>
                <a:off x="5010912" y="435711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-\frac{\pi}{2}</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548640" y="531495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13π</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m:t>
                    </m:r>
                    <m:f>
                      <m:fPr>
                        <m:type m:val="bar"/>
                      </m:fPr>
                      <m:num>
                        <m:r>
                          <a:rPr lang="vi-VN" sz="2400" b="0">
                            <a:solidFill>
                              <a:srgbClr val="1E293B"/>
                            </a:solidFill>
                            <a:latin typeface="Cambria Math" panose="02040503050406030204" pitchFamily="18" charset="0"/>
                          </a:rPr>
                          <m:t>5π</m:t>
                        </m:r>
                      </m:num>
                      <m:den>
                        <m:r>
                          <a:rPr lang="vi-VN" sz="2400" b="0">
                            <a:solidFill>
                              <a:srgbClr val="1E293B"/>
                            </a:solidFill>
                            <a:latin typeface="Cambria Math" panose="02040503050406030204" pitchFamily="18" charset="0"/>
                          </a:rPr>
                          <m:t>4</m:t>
                        </m:r>
                      </m:den>
                    </m:f>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18" name="TextBox 17"/>
              <p:cNvSpPr txBox="1"/>
              <p:nvPr/>
            </p:nvSpPr>
            <p:spPr>
              <a:xfrm>
                <a:off x="548640" y="5314950"/>
                <a:ext cx="420624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a:t>
                </a:r>
                <a:r>
                  <a:rPr lang="vi-VN"/>
                  <a:t>\frac{13\pi}{4}=\frac{5\pi}{4}+</a:t>
                </a:r>
                <a:r>
                  <a:rPr sz="2400">
                    <a:solidFill>
                      <a:srgbClr val="1E293B"/>
                    </a:solidFill>
                    <a:latin typeface="Calibri"/>
                  </a:rPr>
                  <a:t>?</a:t>
                </a:r>
              </a:p>
            </p:txBody>
          </p:sp>
        </mc:Fallback>
      </mc:AlternateContent>
      <p:sp>
        <p:nvSpPr>
          <p:cNvPr id="19" name="s4_nen"/>
          <p:cNvSpPr/>
          <p:nvPr/>
        </p:nvSpPr>
        <p:spPr>
          <a:xfrm>
            <a:off x="4846320" y="5269230"/>
            <a:ext cx="237744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010912" y="530580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2π</m:t>
                    </m:r>
                  </m:oMath>
                </a14:m>
              </a:p>
            </p:txBody>
          </p:sp>
        </mc:Choice>
        <mc:Fallback>
          <p:sp>
            <p:nvSpPr>
              <p:cNvPr id="20" name="TextBox 19"/>
              <p:cNvSpPr txBox="1"/>
              <p:nvPr/>
            </p:nvSpPr>
            <p:spPr>
              <a:xfrm>
                <a:off x="5010912" y="5305806"/>
                <a:ext cx="204825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2\pi</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3. ĐƯỜNG TRÒN LƯỢNG GIÁC – HĐ4 (SGK TR.10)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8046720" cy="130302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HĐ4.</a:t>
                </a:r>
                <a:r>
                  <a:rPr sz="1900">
                    <a:solidFill>
                      <a:srgbClr val="1E293B"/>
                    </a:solidFill>
                    <a:latin typeface="Calibri"/>
                  </a:rPr>
                  <a:t> Vẽ đường tròn tâm </a:t>
                </a:r>
                <a14:m>
                  <m:oMath xmlns:m="http://schemas.openxmlformats.org/officeDocument/2006/math">
                    <m:r>
                      <a:rPr lang="vi-VN" sz="1900" b="0">
                        <a:solidFill>
                          <a:srgbClr val="1E293B"/>
                        </a:solidFill>
                        <a:latin typeface="Cambria Math" panose="02040503050406030204" pitchFamily="18" charset="0"/>
                      </a:rPr>
                      <m:t>O</m:t>
                    </m:r>
                  </m:oMath>
                </a14:m>
                <a:r>
                  <a:rPr sz="1900">
                    <a:solidFill>
                      <a:srgbClr val="1E293B"/>
                    </a:solidFill>
                    <a:latin typeface="Calibri"/>
                  </a:rPr>
                  <a:t> bán kính 1, điểm gốc </a:t>
                </a:r>
                <a14:m>
                  <m:oMath xmlns:m="http://schemas.openxmlformats.org/officeDocument/2006/math">
                    <m:r>
                      <a:rPr lang="vi-VN" sz="1900" b="0">
                        <a:solidFill>
                          <a:srgbClr val="1E293B"/>
                        </a:solidFill>
                        <a:latin typeface="Cambria Math" panose="02040503050406030204" pitchFamily="18" charset="0"/>
                      </a:rPr>
                      <m:t>A(1;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oMath>
                </a14:m>
                <a:r>
                  <a:rPr sz="1900">
                    <a:solidFill>
                      <a:srgbClr val="1E293B"/>
                    </a:solidFill>
                    <a:latin typeface="Calibri"/>
                  </a:rPr>
                  <a:t>, chiều dương ngược chiều kim đồng hồ. a) Xác định điểm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sao cho </a:t>
                </a:r>
                <a14:m>
                  <m:oMath xmlns:m="http://schemas.openxmlformats.org/officeDocument/2006/math">
                    <m:r>
                      <m:rPr>
                        <m:nor/>
                      </m:rPr>
                      <a:rPr lang="vi-VN" sz="1900" b="0">
                        <a:solidFill>
                          <a:srgbClr val="1E293B"/>
                        </a:solidFill>
                        <a:latin typeface="Cambria Math" panose="02040503050406030204" pitchFamily="18" charset="0"/>
                      </a:rPr>
                      <m:t>sđ </m:t>
                    </m:r>
                    <m:r>
                      <a:rPr lang="vi-VN" sz="1900" b="0">
                        <a:solidFill>
                          <a:srgbClr val="1E293B"/>
                        </a:solidFill>
                        <a:latin typeface="Cambria Math" panose="02040503050406030204" pitchFamily="18" charset="0"/>
                      </a:rPr>
                      <m:t>(OA,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OM)</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5π</m:t>
                        </m:r>
                      </m:num>
                      <m:den>
                        <m:r>
                          <a:rPr lang="vi-VN" sz="1900" b="0">
                            <a:solidFill>
                              <a:srgbClr val="1E293B"/>
                            </a:solidFill>
                            <a:latin typeface="Cambria Math" panose="02040503050406030204" pitchFamily="18" charset="0"/>
                          </a:rPr>
                          <m:t>4</m:t>
                        </m:r>
                      </m:den>
                    </m:f>
                  </m:oMath>
                </a14:m>
                <a:r>
                  <a:rPr sz="1900">
                    <a:solidFill>
                      <a:srgbClr val="1E293B"/>
                    </a:solidFill>
                    <a:latin typeface="Calibri"/>
                  </a:rPr>
                  <a:t>. b) Xác định điểm </a:t>
                </a:r>
                <a14:m>
                  <m:oMath xmlns:m="http://schemas.openxmlformats.org/officeDocument/2006/math">
                    <m:r>
                      <a:rPr lang="vi-VN" sz="1900" b="0">
                        <a:solidFill>
                          <a:srgbClr val="1E293B"/>
                        </a:solidFill>
                        <a:latin typeface="Cambria Math" panose="02040503050406030204" pitchFamily="18" charset="0"/>
                      </a:rPr>
                      <m:t>N</m:t>
                    </m:r>
                  </m:oMath>
                </a14:m>
                <a:r>
                  <a:rPr sz="1900">
                    <a:solidFill>
                      <a:srgbClr val="1E293B"/>
                    </a:solidFill>
                    <a:latin typeface="Calibri"/>
                  </a:rPr>
                  <a:t> sao cho </a:t>
                </a:r>
                <a14:m>
                  <m:oMath xmlns:m="http://schemas.openxmlformats.org/officeDocument/2006/math">
                    <m:r>
                      <m:rPr>
                        <m:nor/>
                      </m:rPr>
                      <a:rPr lang="vi-VN" sz="1900" b="0">
                        <a:solidFill>
                          <a:srgbClr val="1E293B"/>
                        </a:solidFill>
                        <a:latin typeface="Cambria Math" panose="02040503050406030204" pitchFamily="18" charset="0"/>
                      </a:rPr>
                      <m:t>sđ </m:t>
                    </m:r>
                    <m:r>
                      <a:rPr lang="vi-VN" sz="1900" b="0">
                        <a:solidFill>
                          <a:srgbClr val="1E293B"/>
                        </a:solidFill>
                        <a:latin typeface="Cambria Math" panose="02040503050406030204" pitchFamily="18" charset="0"/>
                      </a:rPr>
                      <m:t>(OA,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ON)</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7π</m:t>
                        </m:r>
                      </m:num>
                      <m:den>
                        <m:r>
                          <a:rPr lang="vi-VN" sz="1900" b="0">
                            <a:solidFill>
                              <a:srgbClr val="1E293B"/>
                            </a:solidFill>
                            <a:latin typeface="Cambria Math" panose="02040503050406030204" pitchFamily="18" charset="0"/>
                          </a:rPr>
                          <m:t>4</m:t>
                        </m:r>
                      </m:den>
                    </m:f>
                  </m:oMath>
                </a14:m>
                <a:r>
                  <a:rPr sz="1900">
                    <a:solidFill>
                      <a:srgbClr val="1E293B"/>
                    </a:solidFill>
                    <a:latin typeface="Calibri"/>
                  </a:rPr>
                  <a:t>.</a:t>
                </a:r>
              </a:p>
            </p:txBody>
          </p:sp>
        </mc:Choice>
        <mc:Fallback>
          <p:sp>
            <p:nvSpPr>
              <p:cNvPr id="7" name="TextBox 6"/>
              <p:cNvSpPr txBox="1"/>
              <p:nvPr/>
            </p:nvSpPr>
            <p:spPr>
              <a:xfrm>
                <a:off x="548640" y="1371600"/>
                <a:ext cx="8046720" cy="130302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HĐ4.</a:t>
                </a:r>
                <a:r>
                  <a:rPr sz="1900">
                    <a:solidFill>
                      <a:srgbClr val="1E293B"/>
                    </a:solidFill>
                    <a:latin typeface="Calibri"/>
                  </a:rPr>
                  <a:t> Vẽ đường tròn tâm </a:t>
                </a:r>
                <a:r>
                  <a:rPr lang="vi-VN"/>
                  <a:t>O</a:t>
                </a:r>
                <a:r>
                  <a:rPr sz="1900">
                    <a:solidFill>
                      <a:srgbClr val="1E293B"/>
                    </a:solidFill>
                    <a:latin typeface="Calibri"/>
                  </a:rPr>
                  <a:t> bán kính 1, điểm gốc </a:t>
                </a:r>
                <a:r>
                  <a:rPr lang="vi-VN"/>
                  <a:t>A(1;\ 0)</a:t>
                </a:r>
                <a:r>
                  <a:rPr sz="1900">
                    <a:solidFill>
                      <a:srgbClr val="1E293B"/>
                    </a:solidFill>
                    <a:latin typeface="Calibri"/>
                  </a:rPr>
                  <a:t>, chiều dương ngược chiều kim đồng hồ. a) Xác định điểm </a:t>
                </a:r>
                <a:r>
                  <a:rPr lang="vi-VN"/>
                  <a:t>M</a:t>
                </a:r>
                <a:r>
                  <a:rPr sz="1900">
                    <a:solidFill>
                      <a:srgbClr val="1E293B"/>
                    </a:solidFill>
                    <a:latin typeface="Calibri"/>
                  </a:rPr>
                  <a:t> sao cho </a:t>
                </a:r>
                <a:r>
                  <a:rPr lang="vi-VN"/>
                  <a:t>\text{sđ}\,(OA,\ OM)</a:t>
                </a:r>
                <a:r>
                  <a:rPr sz="1900">
                    <a:solidFill>
                      <a:srgbClr val="1E293B"/>
                    </a:solidFill>
                    <a:latin typeface="Calibri"/>
                  </a:rPr>
                  <a:t> </a:t>
                </a:r>
                <a:r>
                  <a:rPr lang="vi-VN"/>
                  <a:t>=\frac{5\pi}{4}</a:t>
                </a:r>
                <a:r>
                  <a:rPr sz="1900">
                    <a:solidFill>
                      <a:srgbClr val="1E293B"/>
                    </a:solidFill>
                    <a:latin typeface="Calibri"/>
                  </a:rPr>
                  <a:t>. b) Xác định điểm </a:t>
                </a:r>
                <a:r>
                  <a:rPr lang="vi-VN"/>
                  <a:t>N</a:t>
                </a:r>
                <a:r>
                  <a:rPr sz="1900">
                    <a:solidFill>
                      <a:srgbClr val="1E293B"/>
                    </a:solidFill>
                    <a:latin typeface="Calibri"/>
                  </a:rPr>
                  <a:t> sao cho </a:t>
                </a:r>
                <a:r>
                  <a:rPr lang="vi-VN"/>
                  <a:t>\text{sđ}\,(OA,\ ON)</a:t>
                </a:r>
                <a:r>
                  <a:rPr sz="1900">
                    <a:solidFill>
                      <a:srgbClr val="1E293B"/>
                    </a:solidFill>
                    <a:latin typeface="Calibri"/>
                  </a:rPr>
                  <a:t> </a:t>
                </a:r>
                <a:r>
                  <a:rPr lang="vi-VN"/>
                  <a:t>=-\frac{7\pi}{4}</a:t>
                </a:r>
                <a:r>
                  <a:rPr sz="1900">
                    <a:solidFill>
                      <a:srgbClr val="1E293B"/>
                    </a:solidFill>
                    <a:latin typeface="Calibri"/>
                  </a:rPr>
                  <a:t>.</a:t>
                </a:r>
              </a:p>
            </p:txBody>
          </p:sp>
        </mc:Fallback>
      </mc:AlternateContent>
      <p:sp>
        <p:nvSpPr>
          <p:cNvPr id="8" name="s1_nen"/>
          <p:cNvSpPr/>
          <p:nvPr/>
        </p:nvSpPr>
        <p:spPr>
          <a:xfrm>
            <a:off x="548640" y="2729484"/>
            <a:ext cx="8046720" cy="123520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66060"/>
                <a:ext cx="7717536" cy="116205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14:m>
                  <m:oMath xmlns:m="http://schemas.openxmlformats.org/officeDocument/2006/math">
                    <m:f>
                      <m:fPr>
                        <m:type m:val="bar"/>
                      </m:fPr>
                      <m:num>
                        <m:r>
                          <a:rPr lang="vi-VN" sz="1900" b="0">
                            <a:solidFill>
                              <a:srgbClr val="1E293B"/>
                            </a:solidFill>
                            <a:latin typeface="Cambria Math" panose="02040503050406030204" pitchFamily="18" charset="0"/>
                          </a:rPr>
                          <m:t>5π</m:t>
                        </m:r>
                      </m:num>
                      <m:den>
                        <m:r>
                          <a:rPr lang="vi-VN" sz="1900" b="0">
                            <a:solidFill>
                              <a:srgbClr val="1E293B"/>
                            </a:solidFill>
                            <a:latin typeface="Cambria Math" panose="02040503050406030204" pitchFamily="18" charset="0"/>
                          </a:rPr>
                          <m:t>4</m:t>
                        </m:r>
                      </m:den>
                    </m:f>
                    <m:r>
                      <a:rPr lang="vi-VN" sz="1900" b="0">
                        <a:solidFill>
                          <a:srgbClr val="1E293B"/>
                        </a:solidFill>
                        <a:latin typeface="Cambria Math" panose="02040503050406030204" pitchFamily="18" charset="0"/>
                      </a:rPr>
                      <m:t>=π+</m:t>
                    </m:r>
                    <m:f>
                      <m:fPr>
                        <m:type m:val="bar"/>
                      </m:fPr>
                      <m:num>
                        <m:r>
                          <a:rPr lang="vi-VN" sz="1900" b="0">
                            <a:solidFill>
                              <a:srgbClr val="1E293B"/>
                            </a:solidFill>
                            <a:latin typeface="Cambria Math" panose="02040503050406030204" pitchFamily="18" charset="0"/>
                          </a:rPr>
                          <m:t>π</m:t>
                        </m:r>
                      </m:num>
                      <m:den>
                        <m:r>
                          <a:rPr lang="vi-VN" sz="1900" b="0">
                            <a:solidFill>
                              <a:srgbClr val="1E293B"/>
                            </a:solidFill>
                            <a:latin typeface="Cambria Math" panose="02040503050406030204" pitchFamily="18" charset="0"/>
                          </a:rPr>
                          <m:t>4</m:t>
                        </m:r>
                      </m:den>
                    </m:f>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là điểm chính giữa cung nhỏ </a:t>
                </a:r>
                <a14:m>
                  <m:oMath xmlns:m="http://schemas.openxmlformats.org/officeDocument/2006/math">
                    <m:sSup>
                      <m:e>
                        <m:r>
                          <a:rPr lang="vi-VN" sz="1900" b="0">
                            <a:solidFill>
                              <a:srgbClr val="1E293B"/>
                            </a:solidFill>
                            <a:latin typeface="Cambria Math" panose="02040503050406030204" pitchFamily="18" charset="0"/>
                          </a:rPr>
                          <m:t>A</m:t>
                        </m:r>
                      </m:e>
                      <m:sup>
                        <m:r>
                          <a:rPr lang="vi-VN" sz="1900" b="0">
                            <a:solidFill>
                              <a:srgbClr val="1E293B"/>
                            </a:solidFill>
                            <a:latin typeface="Cambria Math" panose="02040503050406030204" pitchFamily="18" charset="0"/>
                          </a:rPr>
                          <m:t>′</m:t>
                        </m:r>
                      </m:sup>
                    </m:sSup>
                    <m:sSup>
                      <m:e>
                        <m:r>
                          <a:rPr lang="vi-VN" sz="1900" b="0">
                            <a:solidFill>
                              <a:srgbClr val="1E293B"/>
                            </a:solidFill>
                            <a:latin typeface="Cambria Math" panose="02040503050406030204" pitchFamily="18" charset="0"/>
                          </a:rPr>
                          <m:t>B</m:t>
                        </m:r>
                      </m:e>
                      <m:sup>
                        <m:r>
                          <a:rPr lang="vi-VN" sz="1900" b="0">
                            <a:solidFill>
                              <a:srgbClr val="1E293B"/>
                            </a:solidFill>
                            <a:latin typeface="Cambria Math" panose="02040503050406030204" pitchFamily="18" charset="0"/>
                          </a:rPr>
                          <m:t>′</m:t>
                        </m:r>
                      </m:sup>
                    </m:sSup>
                  </m:oMath>
                </a14:m>
                <a:r>
                  <a:rPr sz="1900">
                    <a:solidFill>
                      <a:srgbClr val="1E293B"/>
                    </a:solidFill>
                    <a:latin typeface="Calibri"/>
                  </a:rPr>
                  <a:t>. b) </a:t>
                </a:r>
                <a14:m>
                  <m:oMath xmlns:m="http://schemas.openxmlformats.org/officeDocument/2006/math">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7π</m:t>
                        </m:r>
                      </m:num>
                      <m:den>
                        <m:r>
                          <a:rPr lang="vi-VN" sz="1900" b="0">
                            <a:solidFill>
                              <a:srgbClr val="1E293B"/>
                            </a:solidFill>
                            <a:latin typeface="Cambria Math" panose="02040503050406030204" pitchFamily="18" charset="0"/>
                          </a:rPr>
                          <m:t>4</m:t>
                        </m:r>
                      </m:den>
                    </m:f>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π</m:t>
                        </m:r>
                      </m:num>
                      <m:den>
                        <m:r>
                          <a:rPr lang="vi-VN" sz="1900" b="0">
                            <a:solidFill>
                              <a:srgbClr val="1E293B"/>
                            </a:solidFill>
                            <a:latin typeface="Cambria Math" panose="02040503050406030204" pitchFamily="18" charset="0"/>
                          </a:rPr>
                          <m:t>4</m:t>
                        </m:r>
                      </m:den>
                    </m:f>
                    <m:r>
                      <a:rPr lang="vi-VN" sz="1900" b="0">
                        <a:solidFill>
                          <a:srgbClr val="1E293B"/>
                        </a:solidFill>
                        <a:latin typeface="Cambria Math" panose="02040503050406030204" pitchFamily="18" charset="0"/>
                      </a:rPr>
                      <m:t>−2π</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N</m:t>
                    </m:r>
                  </m:oMath>
                </a14:m>
                <a:r>
                  <a:rPr sz="1900">
                    <a:solidFill>
                      <a:srgbClr val="1E293B"/>
                    </a:solidFill>
                    <a:latin typeface="Calibri"/>
                  </a:rPr>
                  <a:t> là điểm chính giữa cung nhỏ </a:t>
                </a:r>
                <a14:m>
                  <m:oMath xmlns:m="http://schemas.openxmlformats.org/officeDocument/2006/math">
                    <m:r>
                      <a:rPr lang="vi-VN" sz="1900" b="0">
                        <a:solidFill>
                          <a:srgbClr val="1E293B"/>
                        </a:solidFill>
                        <a:latin typeface="Cambria Math" panose="02040503050406030204" pitchFamily="18" charset="0"/>
                      </a:rPr>
                      <m:t>AB</m:t>
                    </m:r>
                  </m:oMath>
                </a14:m>
                <a:r>
                  <a:rPr sz="1900">
                    <a:solidFill>
                      <a:srgbClr val="1E293B"/>
                    </a:solidFill>
                    <a:latin typeface="Calibri"/>
                  </a:rPr>
                  <a:t>.</a:t>
                </a:r>
              </a:p>
            </p:txBody>
          </p:sp>
        </mc:Choice>
        <mc:Fallback>
          <p:sp>
            <p:nvSpPr>
              <p:cNvPr id="9" name="TextBox 8"/>
              <p:cNvSpPr txBox="1"/>
              <p:nvPr/>
            </p:nvSpPr>
            <p:spPr>
              <a:xfrm>
                <a:off x="713232" y="2766060"/>
                <a:ext cx="7717536" cy="116205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a) </a:t>
                </a:r>
                <a:r>
                  <a:rPr lang="vi-VN"/>
                  <a:t>\frac{5\pi}{4}=\pi+\frac{\pi}{4}</a:t>
                </a:r>
                <a:r>
                  <a:rPr sz="1900">
                    <a:solidFill>
                      <a:srgbClr val="1E293B"/>
                    </a:solidFill>
                    <a:latin typeface="Calibri"/>
                  </a:rPr>
                  <a:t>: </a:t>
                </a:r>
                <a:r>
                  <a:rPr lang="vi-VN"/>
                  <a:t>M</a:t>
                </a:r>
                <a:r>
                  <a:rPr sz="1900">
                    <a:solidFill>
                      <a:srgbClr val="1E293B"/>
                    </a:solidFill>
                    <a:latin typeface="Calibri"/>
                  </a:rPr>
                  <a:t> là điểm chính giữa cung nhỏ </a:t>
                </a:r>
                <a:r>
                  <a:rPr lang="vi-VN"/>
                  <a:t>A'B'</a:t>
                </a:r>
                <a:r>
                  <a:rPr sz="1900">
                    <a:solidFill>
                      <a:srgbClr val="1E293B"/>
                    </a:solidFill>
                    <a:latin typeface="Calibri"/>
                  </a:rPr>
                  <a:t>. b) </a:t>
                </a:r>
                <a:r>
                  <a:rPr lang="vi-VN"/>
                  <a:t>-\frac{7\pi}{4}=\frac{\pi}{4}-2\pi</a:t>
                </a:r>
                <a:r>
                  <a:rPr sz="1900">
                    <a:solidFill>
                      <a:srgbClr val="1E293B"/>
                    </a:solidFill>
                    <a:latin typeface="Calibri"/>
                  </a:rPr>
                  <a:t>: </a:t>
                </a:r>
                <a:r>
                  <a:rPr lang="vi-VN"/>
                  <a:t>N</a:t>
                </a:r>
                <a:r>
                  <a:rPr sz="1900">
                    <a:solidFill>
                      <a:srgbClr val="1E293B"/>
                    </a:solidFill>
                    <a:latin typeface="Calibri"/>
                  </a:rPr>
                  <a:t> là điểm chính giữa cung nhỏ </a:t>
                </a:r>
                <a:r>
                  <a:rPr lang="vi-VN"/>
                  <a:t>AB</a:t>
                </a:r>
                <a:r>
                  <a:rPr sz="1900">
                    <a:solidFill>
                      <a:srgbClr val="1E293B"/>
                    </a:solidFill>
                    <a:latin typeface="Calibri"/>
                  </a:rPr>
                  <a:t>.</a:t>
                </a:r>
              </a:p>
            </p:txBody>
          </p:sp>
        </mc:Fallback>
      </mc:AlternateContent>
      <p:sp>
        <p:nvSpPr>
          <p:cNvPr id="10" name="s2_nen"/>
          <p:cNvSpPr/>
          <p:nvPr/>
        </p:nvSpPr>
        <p:spPr>
          <a:xfrm>
            <a:off x="548640" y="4019549"/>
            <a:ext cx="8046720" cy="18135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056125"/>
                <a:ext cx="7717536" cy="1740408"/>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Đường tròn lượng giác</a:t>
                </a:r>
                <a:r>
                  <a:rPr sz="1900">
                    <a:solidFill>
                      <a:srgbClr val="1E293B"/>
                    </a:solidFill>
                    <a:latin typeface="Calibri"/>
                  </a:rPr>
                  <a:t> là đường tròn có tâm tại gốc toạ độ, bán kính bằng 1, được định hướng và lấy điểm </a:t>
                </a:r>
                <a14:m>
                  <m:oMath xmlns:m="http://schemas.openxmlformats.org/officeDocument/2006/math">
                    <m:r>
                      <a:rPr lang="vi-VN" sz="1900" b="0">
                        <a:solidFill>
                          <a:srgbClr val="1E293B"/>
                        </a:solidFill>
                        <a:latin typeface="Cambria Math" panose="02040503050406030204" pitchFamily="18" charset="0"/>
                      </a:rPr>
                      <m:t>A(1;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m:t>
                    </m:r>
                  </m:oMath>
                </a14:m>
                <a:r>
                  <a:rPr sz="1900">
                    <a:solidFill>
                      <a:srgbClr val="1E293B"/>
                    </a:solidFill>
                    <a:latin typeface="Calibri"/>
                  </a:rPr>
                  <a:t> làm điểm gốc.</a:t>
                </a:r>
              </a:p>
              <a:p>
                <a:pPr algn="l">
                  <a:spcAft>
                    <a:spcPts val="800"/>
                  </a:spcAft>
                </a:pPr>
                <a:r>
                  <a:rPr sz="1900" b="1">
                    <a:solidFill>
                      <a:srgbClr val="1E293B"/>
                    </a:solidFill>
                    <a:latin typeface="Calibri"/>
                  </a:rPr>
                  <a:t>Điểm biểu diễn</a:t>
                </a:r>
                <a:r>
                  <a:rPr sz="1900">
                    <a:solidFill>
                      <a:srgbClr val="1E293B"/>
                    </a:solidFill>
                    <a:latin typeface="Calibri"/>
                  </a:rPr>
                  <a:t> góc lượng giác có số đo </a:t>
                </a:r>
                <a14:m>
                  <m:oMath xmlns:m="http://schemas.openxmlformats.org/officeDocument/2006/math">
                    <m:r>
                      <a:rPr lang="vi-VN" sz="1900" b="0">
                        <a:solidFill>
                          <a:srgbClr val="1E293B"/>
                        </a:solidFill>
                        <a:latin typeface="Cambria Math" panose="02040503050406030204" pitchFamily="18" charset="0"/>
                      </a:rPr>
                      <m:t>α</m:t>
                    </m:r>
                  </m:oMath>
                </a14:m>
                <a:r>
                  <a:rPr sz="1900">
                    <a:solidFill>
                      <a:srgbClr val="1E293B"/>
                    </a:solidFill>
                    <a:latin typeface="Calibri"/>
                  </a:rPr>
                  <a:t> là điểm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trên đường tròn lượng giác sao cho </a:t>
                </a:r>
                <a14:m>
                  <m:oMath xmlns:m="http://schemas.openxmlformats.org/officeDocument/2006/math">
                    <m:r>
                      <m:rPr>
                        <m:nor/>
                      </m:rPr>
                      <a:rPr lang="vi-VN" sz="1900" b="0">
                        <a:solidFill>
                          <a:srgbClr val="1E293B"/>
                        </a:solidFill>
                        <a:latin typeface="Cambria Math" panose="02040503050406030204" pitchFamily="18" charset="0"/>
                      </a:rPr>
                      <m:t>sđ </m:t>
                    </m:r>
                    <m:r>
                      <a:rPr lang="vi-VN" sz="1900" b="0">
                        <a:solidFill>
                          <a:srgbClr val="1E293B"/>
                        </a:solidFill>
                        <a:latin typeface="Cambria Math" panose="02040503050406030204" pitchFamily="18" charset="0"/>
                      </a:rPr>
                      <m:t>(OA,</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OM)</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=α</m:t>
                    </m:r>
                  </m:oMath>
                </a14:m>
                <a:r>
                  <a:rPr sz="1900">
                    <a:solidFill>
                      <a:srgbClr val="1E293B"/>
                    </a:solidFill>
                    <a:latin typeface="Calibri"/>
                  </a:rPr>
                  <a:t>.</a:t>
                </a:r>
              </a:p>
            </p:txBody>
          </p:sp>
        </mc:Choice>
        <mc:Fallback>
          <p:sp>
            <p:nvSpPr>
              <p:cNvPr id="11" name="TextBox 10"/>
              <p:cNvSpPr txBox="1"/>
              <p:nvPr/>
            </p:nvSpPr>
            <p:spPr>
              <a:xfrm>
                <a:off x="713232" y="4056125"/>
                <a:ext cx="7717536" cy="1740408"/>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Đường tròn lượng giác</a:t>
                </a:r>
                <a:r>
                  <a:rPr sz="1900">
                    <a:solidFill>
                      <a:srgbClr val="1E293B"/>
                    </a:solidFill>
                    <a:latin typeface="Calibri"/>
                  </a:rPr>
                  <a:t> là đường tròn có tâm tại gốc toạ độ, bán kính bằng 1, được định hướng và lấy điểm </a:t>
                </a:r>
                <a:r>
                  <a:rPr lang="vi-VN"/>
                  <a:t>A(1;\ 0)</a:t>
                </a:r>
                <a:r>
                  <a:rPr sz="1900">
                    <a:solidFill>
                      <a:srgbClr val="1E293B"/>
                    </a:solidFill>
                    <a:latin typeface="Calibri"/>
                  </a:rPr>
                  <a:t> làm điểm gốc.</a:t>
                </a:r>
              </a:p>
              <a:p>
                <a:pPr algn="l">
                  <a:spcAft>
                    <a:spcPts val="800"/>
                  </a:spcAft>
                </a:pPr>
                <a:r>
                  <a:rPr sz="1900" b="1">
                    <a:solidFill>
                      <a:srgbClr val="1E293B"/>
                    </a:solidFill>
                    <a:latin typeface="Calibri"/>
                  </a:rPr>
                  <a:t>Điểm biểu diễn</a:t>
                </a:r>
                <a:r>
                  <a:rPr sz="1900">
                    <a:solidFill>
                      <a:srgbClr val="1E293B"/>
                    </a:solidFill>
                    <a:latin typeface="Calibri"/>
                  </a:rPr>
                  <a:t> góc lượng giác có số đo </a:t>
                </a:r>
                <a:r>
                  <a:rPr lang="vi-VN"/>
                  <a:t>\alpha</a:t>
                </a:r>
                <a:r>
                  <a:rPr sz="1900">
                    <a:solidFill>
                      <a:srgbClr val="1E293B"/>
                    </a:solidFill>
                    <a:latin typeface="Calibri"/>
                  </a:rPr>
                  <a:t> là điểm </a:t>
                </a:r>
                <a:r>
                  <a:rPr lang="vi-VN"/>
                  <a:t>M</a:t>
                </a:r>
                <a:r>
                  <a:rPr sz="1900">
                    <a:solidFill>
                      <a:srgbClr val="1E293B"/>
                    </a:solidFill>
                    <a:latin typeface="Calibri"/>
                  </a:rPr>
                  <a:t> trên đường tròn lượng giác sao cho </a:t>
                </a:r>
                <a:r>
                  <a:rPr lang="vi-VN"/>
                  <a:t>\text{sđ}\,(OA,\ OM)</a:t>
                </a:r>
                <a:r>
                  <a:rPr sz="1900">
                    <a:solidFill>
                      <a:srgbClr val="1E293B"/>
                    </a:solidFill>
                    <a:latin typeface="Calibri"/>
                  </a:rPr>
                  <a:t> </a:t>
                </a:r>
                <a:r>
                  <a:rPr lang="vi-VN"/>
                  <a:t>=\alpha</a:t>
                </a:r>
                <a:r>
                  <a:rPr sz="1900">
                    <a:solidFill>
                      <a:srgbClr val="1E293B"/>
                    </a:solidFill>
                    <a:latin typeface="Calibri"/>
                  </a:rPr>
                  <a:t>.</a:t>
                </a:r>
              </a:p>
            </p:txBody>
          </p:sp>
        </mc:Fallback>
      </mc:AlternateContent>
      <p:pic>
        <p:nvPicPr>
          <p:cNvPr id="12" name="Picture 11" descr="b1_h17.png"/>
          <p:cNvPicPr>
            <a:picLocks noChangeAspect="1"/>
          </p:cNvPicPr>
          <p:nvPr/>
        </p:nvPicPr>
        <p:blipFill>
          <a:blip r:embed="rId3"/>
          <a:stretch>
            <a:fillRect/>
          </a:stretch>
        </p:blipFill>
        <p:spPr>
          <a:xfrm>
            <a:off x="8869680" y="1656122"/>
            <a:ext cx="2743200" cy="29056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 LUYỆN TẬP 4 (SGK TR.10)</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19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78638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5.</a:t>
                </a:r>
                <a:r>
                  <a:rPr sz="2100">
                    <a:solidFill>
                      <a:srgbClr val="1E293B"/>
                    </a:solidFill>
                    <a:latin typeface="Calibri"/>
                  </a:rPr>
                  <a:t> Xác định các điểm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trên đường tròn lượng giác biểu diễn các góc lượng giác có số đo </a:t>
                </a:r>
                <a14:m>
                  <m:oMath xmlns:m="http://schemas.openxmlformats.org/officeDocument/2006/math">
                    <m:f>
                      <m:fPr>
                        <m:type m:val="bar"/>
                      </m:fPr>
                      <m:num>
                        <m:r>
                          <a:rPr lang="vi-VN" sz="2100" b="0">
                            <a:solidFill>
                              <a:srgbClr val="1E293B"/>
                            </a:solidFill>
                            <a:latin typeface="Cambria Math" panose="02040503050406030204" pitchFamily="18" charset="0"/>
                          </a:rPr>
                          <m:t>13π</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150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7" name="TextBox 6"/>
              <p:cNvSpPr txBox="1"/>
              <p:nvPr/>
            </p:nvSpPr>
            <p:spPr>
              <a:xfrm>
                <a:off x="548640" y="1371600"/>
                <a:ext cx="7863840" cy="127787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5.</a:t>
                </a:r>
                <a:r>
                  <a:rPr sz="2100">
                    <a:solidFill>
                      <a:srgbClr val="1E293B"/>
                    </a:solidFill>
                    <a:latin typeface="Calibri"/>
                  </a:rPr>
                  <a:t> Xác định các điểm </a:t>
                </a:r>
                <a:r>
                  <a:rPr lang="vi-VN"/>
                  <a:t>M</a:t>
                </a:r>
                <a:r>
                  <a:rPr sz="2100">
                    <a:solidFill>
                      <a:srgbClr val="1E293B"/>
                    </a:solidFill>
                    <a:latin typeface="Calibri"/>
                  </a:rPr>
                  <a:t>, </a:t>
                </a:r>
                <a:r>
                  <a:rPr lang="vi-VN"/>
                  <a:t>N</a:t>
                </a:r>
                <a:r>
                  <a:rPr sz="2100">
                    <a:solidFill>
                      <a:srgbClr val="1E293B"/>
                    </a:solidFill>
                    <a:latin typeface="Calibri"/>
                  </a:rPr>
                  <a:t> trên đường tròn lượng giác biểu diễn các góc lượng giác có số đo </a:t>
                </a:r>
                <a:r>
                  <a:rPr lang="vi-VN"/>
                  <a:t>\frac{13\pi}{4}</a:t>
                </a:r>
                <a:r>
                  <a:rPr sz="2100">
                    <a:solidFill>
                      <a:srgbClr val="1E293B"/>
                    </a:solidFill>
                    <a:latin typeface="Calibri"/>
                  </a:rPr>
                  <a:t> và </a:t>
                </a:r>
                <a:r>
                  <a:rPr lang="vi-VN"/>
                  <a:t>-150^\circ</a:t>
                </a:r>
                <a:r>
                  <a:rPr sz="2100">
                    <a:solidFill>
                      <a:srgbClr val="1E293B"/>
                    </a:solidFill>
                    <a:latin typeface="Calibri"/>
                  </a:rPr>
                  <a:t>.</a:t>
                </a:r>
              </a:p>
            </p:txBody>
          </p:sp>
        </mc:Fallback>
      </mc:AlternateContent>
      <p:sp>
        <p:nvSpPr>
          <p:cNvPr id="8" name="s1_nen"/>
          <p:cNvSpPr/>
          <p:nvPr/>
        </p:nvSpPr>
        <p:spPr>
          <a:xfrm>
            <a:off x="548640" y="2759202"/>
            <a:ext cx="78638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95778"/>
                <a:ext cx="75346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f>
                      <m:fPr>
                        <m:type m:val="bar"/>
                      </m:fPr>
                      <m:num>
                        <m:r>
                          <a:rPr lang="vi-VN" sz="2100" b="0">
                            <a:solidFill>
                              <a:srgbClr val="1E293B"/>
                            </a:solidFill>
                            <a:latin typeface="Cambria Math" panose="02040503050406030204" pitchFamily="18" charset="0"/>
                          </a:rPr>
                          <m:t>13π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5π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+2π</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là điểm chính giữa cung nhỏ </a:t>
                </a:r>
                <a14:m>
                  <m:oMath xmlns:m="http://schemas.openxmlformats.org/officeDocument/2006/math">
                    <m:sSup>
                      <m:e>
                        <m:r>
                          <a:rPr lang="vi-VN" sz="2100" b="0">
                            <a:solidFill>
                              <a:srgbClr val="1E293B"/>
                            </a:solidFill>
                            <a:latin typeface="Cambria Math" panose="02040503050406030204" pitchFamily="18" charset="0"/>
                          </a:rPr>
                          <m:t>A</m:t>
                        </m:r>
                      </m:e>
                      <m:sup>
                        <m:r>
                          <a:rPr lang="vi-VN" sz="2100" b="0">
                            <a:solidFill>
                              <a:srgbClr val="1E293B"/>
                            </a:solidFill>
                            <a:latin typeface="Cambria Math" panose="02040503050406030204" pitchFamily="18" charset="0"/>
                          </a:rPr>
                          <m:t>′</m:t>
                        </m:r>
                      </m:sup>
                    </m:sSup>
                    <m:sSup>
                      <m:e>
                        <m:r>
                          <a:rPr lang="vi-VN" sz="2100" b="0">
                            <a:solidFill>
                              <a:srgbClr val="1E293B"/>
                            </a:solidFill>
                            <a:latin typeface="Cambria Math" panose="02040503050406030204" pitchFamily="18" charset="0"/>
                          </a:rPr>
                          <m:t>B</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ứng với </a:t>
                </a:r>
                <a14:m>
                  <m:oMath xmlns:m="http://schemas.openxmlformats.org/officeDocument/2006/math">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150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(quay chiều âm </a:t>
                </a:r>
                <a14:m>
                  <m:oMath xmlns:m="http://schemas.openxmlformats.org/officeDocument/2006/math">
                    <m:sSup>
                      <m:e>
                        <m:r>
                          <a:rPr lang="vi-VN" sz="2100" b="0">
                            <a:solidFill>
                              <a:srgbClr val="1E293B"/>
                            </a:solidFill>
                            <a:latin typeface="Cambria Math" panose="02040503050406030204" pitchFamily="18" charset="0"/>
                          </a:rPr>
                          <m:t>150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 Hình 1.8.</a:t>
                </a:r>
              </a:p>
            </p:txBody>
          </p:sp>
        </mc:Choice>
        <mc:Fallback>
          <p:sp>
            <p:nvSpPr>
              <p:cNvPr id="9" name="TextBox 8"/>
              <p:cNvSpPr txBox="1"/>
              <p:nvPr/>
            </p:nvSpPr>
            <p:spPr>
              <a:xfrm>
                <a:off x="713232" y="2795778"/>
                <a:ext cx="75346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\frac{13\pi}{4}=\frac{5\pi}{4}+2\pi</a:t>
                </a:r>
                <a:r>
                  <a:rPr sz="2100">
                    <a:solidFill>
                      <a:srgbClr val="1E293B"/>
                    </a:solidFill>
                    <a:latin typeface="Calibri"/>
                  </a:rPr>
                  <a:t>: </a:t>
                </a:r>
                <a:r>
                  <a:rPr lang="vi-VN"/>
                  <a:t>M</a:t>
                </a:r>
                <a:r>
                  <a:rPr sz="2100">
                    <a:solidFill>
                      <a:srgbClr val="1E293B"/>
                    </a:solidFill>
                    <a:latin typeface="Calibri"/>
                  </a:rPr>
                  <a:t> là điểm chính giữa cung nhỏ </a:t>
                </a:r>
                <a:r>
                  <a:rPr lang="vi-VN"/>
                  <a:t>A'B'</a:t>
                </a:r>
                <a:r>
                  <a:rPr sz="2100">
                    <a:solidFill>
                      <a:srgbClr val="1E293B"/>
                    </a:solidFill>
                    <a:latin typeface="Calibri"/>
                  </a:rPr>
                  <a:t>; </a:t>
                </a:r>
                <a:r>
                  <a:rPr lang="vi-VN"/>
                  <a:t>N</a:t>
                </a:r>
                <a:r>
                  <a:rPr sz="2100">
                    <a:solidFill>
                      <a:srgbClr val="1E293B"/>
                    </a:solidFill>
                    <a:latin typeface="Calibri"/>
                  </a:rPr>
                  <a:t> ứng với </a:t>
                </a:r>
                <a:r>
                  <a:rPr lang="vi-VN"/>
                  <a:t>-150^\circ</a:t>
                </a:r>
                <a:r>
                  <a:rPr sz="2100">
                    <a:solidFill>
                      <a:srgbClr val="1E293B"/>
                    </a:solidFill>
                    <a:latin typeface="Calibri"/>
                  </a:rPr>
                  <a:t> (quay chiều âm </a:t>
                </a:r>
                <a:r>
                  <a:rPr lang="vi-VN"/>
                  <a:t>150^\circ</a:t>
                </a:r>
                <a:r>
                  <a:rPr sz="2100">
                    <a:solidFill>
                      <a:srgbClr val="1E293B"/>
                    </a:solidFill>
                    <a:latin typeface="Calibri"/>
                  </a:rPr>
                  <a:t>) – Hình 1.8.</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4062222"/>
                <a:ext cx="786384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Xác định các điểm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biểu diễn các góc lượng giác có số đo </a:t>
                </a:r>
                <a14:m>
                  <m:oMath xmlns:m="http://schemas.openxmlformats.org/officeDocument/2006/math">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15π</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 và </a:t>
                </a:r>
                <a14:m>
                  <m:oMath xmlns:m="http://schemas.openxmlformats.org/officeDocument/2006/math">
                    <m:sSup>
                      <m:e>
                        <m:r>
                          <a:rPr lang="vi-VN" sz="2100" b="0">
                            <a:solidFill>
                              <a:srgbClr val="1E293B"/>
                            </a:solidFill>
                            <a:latin typeface="Cambria Math" panose="02040503050406030204" pitchFamily="18" charset="0"/>
                          </a:rPr>
                          <m:t>420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10" name="TextBox 9"/>
              <p:cNvSpPr txBox="1"/>
              <p:nvPr/>
            </p:nvSpPr>
            <p:spPr>
              <a:xfrm>
                <a:off x="548640" y="4062222"/>
                <a:ext cx="7863840" cy="957834"/>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4.</a:t>
                </a:r>
                <a:r>
                  <a:rPr sz="2100">
                    <a:solidFill>
                      <a:srgbClr val="1E293B"/>
                    </a:solidFill>
                    <a:latin typeface="Calibri"/>
                  </a:rPr>
                  <a:t> Xác định các điểm </a:t>
                </a:r>
                <a:r>
                  <a:rPr lang="vi-VN"/>
                  <a:t>M</a:t>
                </a:r>
                <a:r>
                  <a:rPr sz="2100">
                    <a:solidFill>
                      <a:srgbClr val="1E293B"/>
                    </a:solidFill>
                    <a:latin typeface="Calibri"/>
                  </a:rPr>
                  <a:t>, </a:t>
                </a:r>
                <a:r>
                  <a:rPr lang="vi-VN"/>
                  <a:t>N</a:t>
                </a:r>
                <a:r>
                  <a:rPr sz="2100">
                    <a:solidFill>
                      <a:srgbClr val="1E293B"/>
                    </a:solidFill>
                    <a:latin typeface="Calibri"/>
                  </a:rPr>
                  <a:t> biểu diễn các góc lượng giác có số đo </a:t>
                </a:r>
                <a:r>
                  <a:rPr lang="vi-VN"/>
                  <a:t>-\frac{15\pi}{4}</a:t>
                </a:r>
                <a:r>
                  <a:rPr sz="2100">
                    <a:solidFill>
                      <a:srgbClr val="1E293B"/>
                    </a:solidFill>
                    <a:latin typeface="Calibri"/>
                  </a:rPr>
                  <a:t> và </a:t>
                </a:r>
                <a:r>
                  <a:rPr lang="vi-VN"/>
                  <a:t>420^\circ</a:t>
                </a:r>
                <a:r>
                  <a:rPr sz="2100">
                    <a:solidFill>
                      <a:srgbClr val="1E293B"/>
                    </a:solidFill>
                    <a:latin typeface="Calibri"/>
                  </a:rPr>
                  <a:t>.</a:t>
                </a:r>
              </a:p>
            </p:txBody>
          </p:sp>
        </mc:Fallback>
      </mc:AlternateContent>
      <p:sp>
        <p:nvSpPr>
          <p:cNvPr id="11" name="s3_nen"/>
          <p:cNvSpPr/>
          <p:nvPr/>
        </p:nvSpPr>
        <p:spPr>
          <a:xfrm>
            <a:off x="548640" y="5129783"/>
            <a:ext cx="7863840" cy="119329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166359"/>
                <a:ext cx="75346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15π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−4π</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M</m:t>
                    </m:r>
                  </m:oMath>
                </a14:m>
                <a:r>
                  <a:rPr sz="2100">
                    <a:solidFill>
                      <a:srgbClr val="1E293B"/>
                    </a:solidFill>
                    <a:latin typeface="Calibri"/>
                  </a:rPr>
                  <a:t> là điểm chính giữa cung nhỏ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420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N</m:t>
                    </m:r>
                  </m:oMath>
                </a14:m>
                <a:r>
                  <a:rPr sz="2100">
                    <a:solidFill>
                      <a:srgbClr val="1E293B"/>
                    </a:solidFill>
                    <a:latin typeface="Calibri"/>
                  </a:rPr>
                  <a:t> trên cung nhỏ </a:t>
                </a:r>
                <a14:m>
                  <m:oMath xmlns:m="http://schemas.openxmlformats.org/officeDocument/2006/math">
                    <m:r>
                      <a:rPr lang="vi-VN" sz="2100" b="0">
                        <a:solidFill>
                          <a:srgbClr val="1E293B"/>
                        </a:solidFill>
                        <a:latin typeface="Cambria Math" panose="02040503050406030204" pitchFamily="18" charset="0"/>
                      </a:rPr>
                      <m:t>AB</m:t>
                    </m:r>
                  </m:oMath>
                </a14:m>
                <a:r>
                  <a:rPr sz="2100">
                    <a:solidFill>
                      <a:srgbClr val="1E293B"/>
                    </a:solidFill>
                    <a:latin typeface="Calibri"/>
                  </a:rPr>
                  <a:t> với </a:t>
                </a:r>
                <a14:m>
                  <m:oMath xmlns:m="http://schemas.openxmlformats.org/officeDocument/2006/math">
                    <m:acc>
                      <m:accPr>
                        <m:chr m:val="̂"/>
                      </m:accPr>
                      <m:e>
                        <m:r>
                          <a:rPr lang="vi-VN" sz="2100" b="0">
                            <a:solidFill>
                              <a:srgbClr val="1E293B"/>
                            </a:solidFill>
                            <a:latin typeface="Cambria Math" panose="02040503050406030204" pitchFamily="18" charset="0"/>
                          </a:rPr>
                          <m:t>AON</m:t>
                        </m:r>
                      </m:e>
                    </m:acc>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12" name="TextBox 11"/>
              <p:cNvSpPr txBox="1"/>
              <p:nvPr/>
            </p:nvSpPr>
            <p:spPr>
              <a:xfrm>
                <a:off x="713232" y="5166359"/>
                <a:ext cx="7534656" cy="1120140"/>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-\frac{15\pi}{4}=\frac{\pi}{4}-4\pi</a:t>
                </a:r>
                <a:r>
                  <a:rPr sz="2100">
                    <a:solidFill>
                      <a:srgbClr val="1E293B"/>
                    </a:solidFill>
                    <a:latin typeface="Calibri"/>
                  </a:rPr>
                  <a:t>: </a:t>
                </a:r>
                <a:r>
                  <a:rPr lang="vi-VN"/>
                  <a:t>M</a:t>
                </a:r>
                <a:r>
                  <a:rPr sz="2100">
                    <a:solidFill>
                      <a:srgbClr val="1E293B"/>
                    </a:solidFill>
                    <a:latin typeface="Calibri"/>
                  </a:rPr>
                  <a:t> là điểm chính giữa cung nhỏ </a:t>
                </a:r>
                <a:r>
                  <a:rPr lang="vi-VN"/>
                  <a:t>AB</a:t>
                </a:r>
                <a:r>
                  <a:rPr sz="2100">
                    <a:solidFill>
                      <a:srgbClr val="1E293B"/>
                    </a:solidFill>
                    <a:latin typeface="Calibri"/>
                  </a:rPr>
                  <a:t>; </a:t>
                </a:r>
                <a:r>
                  <a:rPr lang="vi-VN"/>
                  <a:t>420^\circ=60^\circ+360^\circ</a:t>
                </a:r>
                <a:r>
                  <a:rPr sz="2100">
                    <a:solidFill>
                      <a:srgbClr val="1E293B"/>
                    </a:solidFill>
                    <a:latin typeface="Calibri"/>
                  </a:rPr>
                  <a:t>: </a:t>
                </a:r>
                <a:r>
                  <a:rPr lang="vi-VN"/>
                  <a:t>N</a:t>
                </a:r>
                <a:r>
                  <a:rPr sz="2100">
                    <a:solidFill>
                      <a:srgbClr val="1E293B"/>
                    </a:solidFill>
                    <a:latin typeface="Calibri"/>
                  </a:rPr>
                  <a:t> trên cung nhỏ </a:t>
                </a:r>
                <a:r>
                  <a:rPr lang="vi-VN"/>
                  <a:t>AB</a:t>
                </a:r>
                <a:r>
                  <a:rPr sz="2100">
                    <a:solidFill>
                      <a:srgbClr val="1E293B"/>
                    </a:solidFill>
                    <a:latin typeface="Calibri"/>
                  </a:rPr>
                  <a:t> với </a:t>
                </a:r>
                <a:r>
                  <a:rPr lang="vi-VN"/>
                  <a:t>\widehat{AON}=60^\circ</a:t>
                </a:r>
                <a:r>
                  <a:rPr sz="2100">
                    <a:solidFill>
                      <a:srgbClr val="1E293B"/>
                    </a:solidFill>
                    <a:latin typeface="Calibri"/>
                  </a:rPr>
                  <a:t>.</a:t>
                </a:r>
              </a:p>
            </p:txBody>
          </p:sp>
        </mc:Fallback>
      </mc:AlternateContent>
      <p:pic>
        <p:nvPicPr>
          <p:cNvPr id="13" name="Picture 12" descr="b1_h18.png"/>
          <p:cNvPicPr>
            <a:picLocks noChangeAspect="1"/>
          </p:cNvPicPr>
          <p:nvPr/>
        </p:nvPicPr>
        <p:blipFill>
          <a:blip r:embed="rId3"/>
          <a:stretch>
            <a:fillRect/>
          </a:stretch>
        </p:blipFill>
        <p:spPr>
          <a:xfrm>
            <a:off x="8615366" y="1463040"/>
            <a:ext cx="3068947" cy="3108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CÁC GIÁ TRỊ LƯỢNG GIÁC CỦA GÓC LƯỢNG GIÁC (SGK TR.11)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20</a:t>
            </a:r>
          </a:p>
        </p:txBody>
      </p:sp>
      <p:sp>
        <p:nvSpPr>
          <p:cNvPr id="7" name="Rounded Rectangle 6"/>
          <p:cNvSpPr/>
          <p:nvPr/>
        </p:nvSpPr>
        <p:spPr>
          <a:xfrm>
            <a:off x="548640" y="1371600"/>
            <a:ext cx="8229600" cy="2984754"/>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08176"/>
                <a:ext cx="7900416" cy="291160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Giả sử </a:t>
                </a:r>
                <a14:m>
                  <m:oMath xmlns:m="http://schemas.openxmlformats.org/officeDocument/2006/math">
                    <m:r>
                      <a:rPr lang="vi-VN" sz="1900" b="0">
                        <a:solidFill>
                          <a:srgbClr val="1E293B"/>
                        </a:solidFill>
                        <a:latin typeface="Cambria Math" panose="02040503050406030204" pitchFamily="18" charset="0"/>
                      </a:rPr>
                      <m:t>M(x;</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y)</m:t>
                    </m:r>
                  </m:oMath>
                </a14:m>
                <a:r>
                  <a:rPr sz="1900">
                    <a:solidFill>
                      <a:srgbClr val="1E293B"/>
                    </a:solidFill>
                    <a:latin typeface="Calibri"/>
                  </a:rPr>
                  <a:t> là điểm trên đường tròn lượng giác biểu diễn góc lượng giác có số đo </a:t>
                </a:r>
                <a14:m>
                  <m:oMath xmlns:m="http://schemas.openxmlformats.org/officeDocument/2006/math">
                    <m:r>
                      <a:rPr lang="vi-VN" sz="1900" b="0">
                        <a:solidFill>
                          <a:srgbClr val="1E293B"/>
                        </a:solidFill>
                        <a:latin typeface="Cambria Math" panose="02040503050406030204" pitchFamily="18" charset="0"/>
                      </a:rPr>
                      <m:t>α</m:t>
                    </m:r>
                  </m:oMath>
                </a14:m>
                <a:r>
                  <a:rPr sz="1900">
                    <a:solidFill>
                      <a:srgbClr val="1E293B"/>
                    </a:solidFill>
                    <a:latin typeface="Calibri"/>
                  </a:rPr>
                  <a:t> (H.1.9b).</a:t>
                </a:r>
              </a:p>
              <a:p>
                <a:pPr algn="l" marL="365760" indent="-365760">
                  <a:spcAft>
                    <a:spcPts val="800"/>
                  </a:spcAft>
                  <a:buClr>
                    <a:srgbClr val="1E40AF"/>
                  </a:buClr>
                  <a:buFont typeface="Arial"/>
                  <a:buChar char="•"/>
                </a:pPr>
                <a:r>
                  <a:rPr sz="1900">
                    <a:solidFill>
                      <a:srgbClr val="1E293B"/>
                    </a:solidFill>
                    <a:latin typeface="Calibri"/>
                  </a:rPr>
                  <a:t>Hoành độ </a:t>
                </a:r>
                <a14:m>
                  <m:oMath xmlns:m="http://schemas.openxmlformats.org/officeDocument/2006/math">
                    <m:r>
                      <a:rPr lang="vi-VN" sz="1900" b="0">
                        <a:solidFill>
                          <a:srgbClr val="1E293B"/>
                        </a:solidFill>
                        <a:latin typeface="Cambria Math" panose="02040503050406030204" pitchFamily="18" charset="0"/>
                      </a:rPr>
                      <m:t>x</m:t>
                    </m:r>
                  </m:oMath>
                </a14:m>
                <a:r>
                  <a:rPr sz="1900">
                    <a:solidFill>
                      <a:srgbClr val="1E293B"/>
                    </a:solidFill>
                    <a:latin typeface="Calibri"/>
                  </a:rPr>
                  <a:t> của </a:t>
                </a:r>
                <a14:m>
                  <m:oMath xmlns:m="http://schemas.openxmlformats.org/officeDocument/2006/math">
                    <m:r>
                      <a:rPr lang="vi-VN" sz="1900" b="0">
                        <a:solidFill>
                          <a:srgbClr val="1E293B"/>
                        </a:solidFill>
                        <a:latin typeface="Cambria Math" panose="02040503050406030204" pitchFamily="18" charset="0"/>
                      </a:rPr>
                      <m:t>M</m:t>
                    </m:r>
                  </m:oMath>
                </a14:m>
                <a:r>
                  <a:rPr sz="1900">
                    <a:solidFill>
                      <a:srgbClr val="1E293B"/>
                    </a:solidFill>
                    <a:latin typeface="Calibri"/>
                  </a:rPr>
                  <a:t> gọi là </a:t>
                </a:r>
                <a:r>
                  <a:rPr sz="1900" b="1">
                    <a:solidFill>
                      <a:srgbClr val="1E293B"/>
                    </a:solidFill>
                    <a:latin typeface="Calibri"/>
                  </a:rPr>
                  <a:t>côsin</a:t>
                </a:r>
                <a:r>
                  <a:rPr sz="1900">
                    <a:solidFill>
                      <a:srgbClr val="1E293B"/>
                    </a:solidFill>
                    <a:latin typeface="Calibri"/>
                  </a:rPr>
                  <a:t> của </a:t>
                </a:r>
                <a14:m>
                  <m:oMath xmlns:m="http://schemas.openxmlformats.org/officeDocument/2006/math">
                    <m:r>
                      <a:rPr lang="vi-VN" sz="1900" b="0">
                        <a:solidFill>
                          <a:srgbClr val="1E293B"/>
                        </a:solidFill>
                        <a:latin typeface="Cambria Math" panose="02040503050406030204" pitchFamily="18" charset="0"/>
                      </a:rPr>
                      <m:t>α</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α=x</m:t>
                    </m:r>
                  </m:oMath>
                </a14:m>
                <a:r>
                  <a:rPr sz="1900">
                    <a:solidFill>
                      <a:srgbClr val="1E293B"/>
                    </a:solidFill>
                    <a:latin typeface="Calibri"/>
                  </a:rPr>
                  <a:t>. Tung độ </a:t>
                </a:r>
                <a14:m>
                  <m:oMath xmlns:m="http://schemas.openxmlformats.org/officeDocument/2006/math">
                    <m:r>
                      <a:rPr lang="vi-VN" sz="1900" b="0">
                        <a:solidFill>
                          <a:srgbClr val="1E293B"/>
                        </a:solidFill>
                        <a:latin typeface="Cambria Math" panose="02040503050406030204" pitchFamily="18" charset="0"/>
                      </a:rPr>
                      <m:t>y</m:t>
                    </m:r>
                  </m:oMath>
                </a14:m>
                <a:r>
                  <a:rPr sz="1900">
                    <a:solidFill>
                      <a:srgbClr val="1E293B"/>
                    </a:solidFill>
                    <a:latin typeface="Calibri"/>
                  </a:rPr>
                  <a:t> gọi là </a:t>
                </a:r>
                <a:r>
                  <a:rPr sz="1900" b="1">
                    <a:solidFill>
                      <a:srgbClr val="1E293B"/>
                    </a:solidFill>
                    <a:latin typeface="Calibri"/>
                  </a:rPr>
                  <a:t>sin</a:t>
                </a:r>
                <a:r>
                  <a:rPr sz="1900">
                    <a:solidFill>
                      <a:srgbClr val="1E293B"/>
                    </a:solidFill>
                    <a:latin typeface="Calibri"/>
                  </a:rPr>
                  <a:t> của </a:t>
                </a:r>
                <a14:m>
                  <m:oMath xmlns:m="http://schemas.openxmlformats.org/officeDocument/2006/math">
                    <m:r>
                      <a:rPr lang="vi-VN" sz="1900" b="0">
                        <a:solidFill>
                          <a:srgbClr val="1E293B"/>
                        </a:solidFill>
                        <a:latin typeface="Cambria Math" panose="02040503050406030204" pitchFamily="18" charset="0"/>
                      </a:rPr>
                      <m:t>α</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α=y</m:t>
                    </m:r>
                  </m:oMath>
                </a14:m>
                <a:r>
                  <a:rPr sz="1900">
                    <a:solidFill>
                      <a:srgbClr val="1E293B"/>
                    </a:solidFill>
                    <a:latin typeface="Calibri"/>
                  </a:rPr>
                  <a:t>.</a:t>
                </a:r>
              </a:p>
              <a:p>
                <a:pPr algn="l" marL="365760" indent="-365760">
                  <a:spcAft>
                    <a:spcPts val="800"/>
                  </a:spcAft>
                  <a:buClr>
                    <a:srgbClr val="1E40AF"/>
                  </a:buClr>
                  <a:buFont typeface="Arial"/>
                  <a:buChar char="•"/>
                </a:pPr>
                <a:r>
                  <a:rPr sz="1900">
                    <a:solidFill>
                      <a:srgbClr val="1E293B"/>
                    </a:solidFill>
                    <a:latin typeface="Calibri"/>
                  </a:rPr>
                  <a:t>Nếu </a:t>
                </a:r>
                <a14:m>
                  <m:oMath xmlns:m="http://schemas.openxmlformats.org/officeDocument/2006/math">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α≠0</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α=</m:t>
                    </m:r>
                    <m:f>
                      <m:fPr>
                        <m:type m:val="bar"/>
                      </m:fPr>
                      <m:num>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m:t>
                        </m:r>
                      </m:num>
                      <m:den>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m:t>
                        </m:r>
                      </m:den>
                    </m:f>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y</m:t>
                        </m:r>
                      </m:num>
                      <m:den>
                        <m:r>
                          <a:rPr lang="vi-VN" sz="1900" b="0">
                            <a:solidFill>
                              <a:srgbClr val="1E293B"/>
                            </a:solidFill>
                            <a:latin typeface="Cambria Math" panose="02040503050406030204" pitchFamily="18" charset="0"/>
                          </a:rPr>
                          <m:t>x</m:t>
                        </m:r>
                      </m:den>
                    </m:f>
                  </m:oMath>
                </a14:m>
                <a:r>
                  <a:rPr sz="1900">
                    <a:solidFill>
                      <a:srgbClr val="1E293B"/>
                    </a:solidFill>
                    <a:latin typeface="Calibri"/>
                  </a:rPr>
                  <a:t>. Nếu </a:t>
                </a:r>
                <a14:m>
                  <m:oMath xmlns:m="http://schemas.openxmlformats.org/officeDocument/2006/math">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α≠0</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α=</m:t>
                    </m:r>
                    <m:f>
                      <m:fPr>
                        <m:type m:val="bar"/>
                      </m:fPr>
                      <m:num>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m:t>
                        </m:r>
                      </m:num>
                      <m:den>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m:t>
                        </m:r>
                      </m:den>
                    </m:f>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x</m:t>
                        </m:r>
                      </m:num>
                      <m:den>
                        <m:r>
                          <a:rPr lang="vi-VN" sz="1900" b="0">
                            <a:solidFill>
                              <a:srgbClr val="1E293B"/>
                            </a:solidFill>
                            <a:latin typeface="Cambria Math" panose="02040503050406030204" pitchFamily="18" charset="0"/>
                          </a:rPr>
                          <m:t>y</m:t>
                        </m:r>
                      </m:den>
                    </m:f>
                  </m:oMath>
                </a14:m>
                <a:r>
                  <a:rPr sz="1900">
                    <a:solidFill>
                      <a:srgbClr val="1E293B"/>
                    </a:solidFill>
                    <a:latin typeface="Calibri"/>
                  </a:rPr>
                  <a:t>.</a:t>
                </a:r>
              </a:p>
              <a:p>
                <a:pPr algn="l" marL="365760" indent="-365760">
                  <a:spcAft>
                    <a:spcPts val="800"/>
                  </a:spcAft>
                  <a:buClr>
                    <a:srgbClr val="1E40AF"/>
                  </a:buClr>
                  <a:buFont typeface="Arial"/>
                  <a:buChar char="•"/>
                </a:pPr>
                <a:r>
                  <a:rPr sz="1900">
                    <a:solidFill>
                      <a:srgbClr val="1E293B"/>
                    </a:solidFill>
                    <a:latin typeface="Calibri"/>
                  </a:rPr>
                  <a:t>Các giá trị </a:t>
                </a:r>
                <a14:m>
                  <m:oMath xmlns:m="http://schemas.openxmlformats.org/officeDocument/2006/math">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m:t>
                    </m:r>
                    <m:r>
                      <m:rPr>
                        <m:sty m:val="p"/>
                      </m:rPr>
                      <a:rPr lang="vi-VN" sz="1900" b="0">
                        <a:solidFill>
                          <a:srgbClr val="1E293B"/>
                        </a:solidFill>
                        <a:latin typeface="Cambria Math" panose="02040503050406030204" pitchFamily="18" charset="0"/>
                      </a:rPr>
                      <m:t> </m:t>
                    </m:r>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m:t>
                    </m:r>
                    <m:r>
                      <m:rPr>
                        <m:sty m:val="p"/>
                      </m:rPr>
                      <a:rPr lang="vi-VN" sz="1900" b="0">
                        <a:solidFill>
                          <a:srgbClr val="1E293B"/>
                        </a:solidFill>
                        <a:latin typeface="Cambria Math" panose="02040503050406030204" pitchFamily="18" charset="0"/>
                      </a:rPr>
                      <m:t> </m:t>
                    </m:r>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α,</m:t>
                    </m:r>
                    <m:r>
                      <m:rPr>
                        <m:sty m:val="p"/>
                      </m:rPr>
                      <a:rPr lang="vi-VN" sz="1900" b="0">
                        <a:solidFill>
                          <a:srgbClr val="1E293B"/>
                        </a:solidFill>
                        <a:latin typeface="Cambria Math" panose="02040503050406030204" pitchFamily="18" charset="0"/>
                      </a:rPr>
                      <m:t> </m:t>
                    </m:r>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α</m:t>
                    </m:r>
                  </m:oMath>
                </a14:m>
                <a:r>
                  <a:rPr sz="1900">
                    <a:solidFill>
                      <a:srgbClr val="1E293B"/>
                    </a:solidFill>
                    <a:latin typeface="Calibri"/>
                  </a:rPr>
                  <a:t> được gọi là các </a:t>
                </a:r>
                <a:r>
                  <a:rPr sz="1900" b="1">
                    <a:solidFill>
                      <a:srgbClr val="1E293B"/>
                    </a:solidFill>
                    <a:latin typeface="Calibri"/>
                  </a:rPr>
                  <a:t>giá trị lượng giác</a:t>
                </a:r>
                <a:r>
                  <a:rPr sz="1900">
                    <a:solidFill>
                      <a:srgbClr val="1E293B"/>
                    </a:solidFill>
                    <a:latin typeface="Calibri"/>
                  </a:rPr>
                  <a:t> của </a:t>
                </a:r>
                <a14:m>
                  <m:oMath xmlns:m="http://schemas.openxmlformats.org/officeDocument/2006/math">
                    <m:r>
                      <a:rPr lang="vi-VN" sz="1900" b="0">
                        <a:solidFill>
                          <a:srgbClr val="1E293B"/>
                        </a:solidFill>
                        <a:latin typeface="Cambria Math" panose="02040503050406030204" pitchFamily="18" charset="0"/>
                      </a:rPr>
                      <m:t>α</m:t>
                    </m:r>
                  </m:oMath>
                </a14:m>
                <a:r>
                  <a:rPr sz="1900">
                    <a:solidFill>
                      <a:srgbClr val="1E293B"/>
                    </a:solidFill>
                    <a:latin typeface="Calibri"/>
                  </a:rPr>
                  <a:t>.</a:t>
                </a:r>
              </a:p>
            </p:txBody>
          </p:sp>
        </mc:Choice>
        <mc:Fallback>
          <p:sp>
            <p:nvSpPr>
              <p:cNvPr id="8" name="TextBox 7"/>
              <p:cNvSpPr txBox="1"/>
              <p:nvPr/>
            </p:nvSpPr>
            <p:spPr>
              <a:xfrm>
                <a:off x="713232" y="1408176"/>
                <a:ext cx="7900416" cy="2911602"/>
              </a:xfrm>
              <a:prstGeom prst="rect">
                <a:avLst/>
              </a:prstGeom>
              <a:noFill/>
            </p:spPr>
            <p:txBody>
              <a:bodyPr wrap="square" anchor="ctr" lIns="45720" rIns="45720">
                <a:spAutoFit/>
              </a:bodyPr>
              <a:lstStyle/>
              <a:p>
                <a:pPr algn="l">
                  <a:spcAft>
                    <a:spcPts val="800"/>
                  </a:spcAft>
                </a:pPr>
                <a:r>
                  <a:rPr sz="1900">
                    <a:solidFill>
                      <a:srgbClr val="1E293B"/>
                    </a:solidFill>
                    <a:latin typeface="Calibri"/>
                  </a:rPr>
                  <a:t>Giả sử </a:t>
                </a:r>
                <a:r>
                  <a:rPr lang="vi-VN"/>
                  <a:t>M(x;\ y)</a:t>
                </a:r>
                <a:r>
                  <a:rPr sz="1900">
                    <a:solidFill>
                      <a:srgbClr val="1E293B"/>
                    </a:solidFill>
                    <a:latin typeface="Calibri"/>
                  </a:rPr>
                  <a:t> là điểm trên đường tròn lượng giác biểu diễn góc lượng giác có số đo </a:t>
                </a:r>
                <a:r>
                  <a:rPr lang="vi-VN"/>
                  <a:t>\alpha</a:t>
                </a:r>
                <a:r>
                  <a:rPr sz="1900">
                    <a:solidFill>
                      <a:srgbClr val="1E293B"/>
                    </a:solidFill>
                    <a:latin typeface="Calibri"/>
                  </a:rPr>
                  <a:t> (H.1.9b).</a:t>
                </a:r>
              </a:p>
              <a:p>
                <a:pPr algn="l" marL="365760" indent="-365760">
                  <a:spcAft>
                    <a:spcPts val="800"/>
                  </a:spcAft>
                  <a:buClr>
                    <a:srgbClr val="1E40AF"/>
                  </a:buClr>
                  <a:buFont typeface="Arial"/>
                  <a:buChar char="•"/>
                </a:pPr>
                <a:r>
                  <a:rPr sz="1900">
                    <a:solidFill>
                      <a:srgbClr val="1E293B"/>
                    </a:solidFill>
                    <a:latin typeface="Calibri"/>
                  </a:rPr>
                  <a:t>Hoành độ </a:t>
                </a:r>
                <a:r>
                  <a:rPr lang="vi-VN"/>
                  <a:t>x</a:t>
                </a:r>
                <a:r>
                  <a:rPr sz="1900">
                    <a:solidFill>
                      <a:srgbClr val="1E293B"/>
                    </a:solidFill>
                    <a:latin typeface="Calibri"/>
                  </a:rPr>
                  <a:t> của </a:t>
                </a:r>
                <a:r>
                  <a:rPr lang="vi-VN"/>
                  <a:t>M</a:t>
                </a:r>
                <a:r>
                  <a:rPr sz="1900">
                    <a:solidFill>
                      <a:srgbClr val="1E293B"/>
                    </a:solidFill>
                    <a:latin typeface="Calibri"/>
                  </a:rPr>
                  <a:t> gọi là </a:t>
                </a:r>
                <a:r>
                  <a:rPr sz="1900" b="1">
                    <a:solidFill>
                      <a:srgbClr val="1E293B"/>
                    </a:solidFill>
                    <a:latin typeface="Calibri"/>
                  </a:rPr>
                  <a:t>côsin</a:t>
                </a:r>
                <a:r>
                  <a:rPr sz="1900">
                    <a:solidFill>
                      <a:srgbClr val="1E293B"/>
                    </a:solidFill>
                    <a:latin typeface="Calibri"/>
                  </a:rPr>
                  <a:t> của </a:t>
                </a:r>
                <a:r>
                  <a:rPr lang="vi-VN"/>
                  <a:t>\alpha</a:t>
                </a:r>
                <a:r>
                  <a:rPr sz="1900">
                    <a:solidFill>
                      <a:srgbClr val="1E293B"/>
                    </a:solidFill>
                    <a:latin typeface="Calibri"/>
                  </a:rPr>
                  <a:t>: </a:t>
                </a:r>
                <a:r>
                  <a:rPr lang="vi-VN"/>
                  <a:t>\cos\alpha=x</a:t>
                </a:r>
                <a:r>
                  <a:rPr sz="1900">
                    <a:solidFill>
                      <a:srgbClr val="1E293B"/>
                    </a:solidFill>
                    <a:latin typeface="Calibri"/>
                  </a:rPr>
                  <a:t>. Tung độ </a:t>
                </a:r>
                <a:r>
                  <a:rPr lang="vi-VN"/>
                  <a:t>y</a:t>
                </a:r>
                <a:r>
                  <a:rPr sz="1900">
                    <a:solidFill>
                      <a:srgbClr val="1E293B"/>
                    </a:solidFill>
                    <a:latin typeface="Calibri"/>
                  </a:rPr>
                  <a:t> gọi là </a:t>
                </a:r>
                <a:r>
                  <a:rPr sz="1900" b="1">
                    <a:solidFill>
                      <a:srgbClr val="1E293B"/>
                    </a:solidFill>
                    <a:latin typeface="Calibri"/>
                  </a:rPr>
                  <a:t>sin</a:t>
                </a:r>
                <a:r>
                  <a:rPr sz="1900">
                    <a:solidFill>
                      <a:srgbClr val="1E293B"/>
                    </a:solidFill>
                    <a:latin typeface="Calibri"/>
                  </a:rPr>
                  <a:t> của </a:t>
                </a:r>
                <a:r>
                  <a:rPr lang="vi-VN"/>
                  <a:t>\alpha</a:t>
                </a:r>
                <a:r>
                  <a:rPr sz="1900">
                    <a:solidFill>
                      <a:srgbClr val="1E293B"/>
                    </a:solidFill>
                    <a:latin typeface="Calibri"/>
                  </a:rPr>
                  <a:t>: </a:t>
                </a:r>
                <a:r>
                  <a:rPr lang="vi-VN"/>
                  <a:t>\sin\alpha=y</a:t>
                </a:r>
                <a:r>
                  <a:rPr sz="1900">
                    <a:solidFill>
                      <a:srgbClr val="1E293B"/>
                    </a:solidFill>
                    <a:latin typeface="Calibri"/>
                  </a:rPr>
                  <a:t>.</a:t>
                </a:r>
              </a:p>
              <a:p>
                <a:pPr algn="l" marL="365760" indent="-365760">
                  <a:spcAft>
                    <a:spcPts val="800"/>
                  </a:spcAft>
                  <a:buClr>
                    <a:srgbClr val="1E40AF"/>
                  </a:buClr>
                  <a:buFont typeface="Arial"/>
                  <a:buChar char="•"/>
                </a:pPr>
                <a:r>
                  <a:rPr sz="1900">
                    <a:solidFill>
                      <a:srgbClr val="1E293B"/>
                    </a:solidFill>
                    <a:latin typeface="Calibri"/>
                  </a:rPr>
                  <a:t>Nếu </a:t>
                </a:r>
                <a:r>
                  <a:rPr lang="vi-VN"/>
                  <a:t>\cos\alpha\ne 0</a:t>
                </a:r>
                <a:r>
                  <a:rPr sz="1900">
                    <a:solidFill>
                      <a:srgbClr val="1E293B"/>
                    </a:solidFill>
                    <a:latin typeface="Calibri"/>
                  </a:rPr>
                  <a:t>: </a:t>
                </a:r>
                <a:r>
                  <a:rPr lang="vi-VN"/>
                  <a:t>\tan\alpha=\frac{\sin\alpha}{\cos\alpha}=\frac{y}{x}</a:t>
                </a:r>
                <a:r>
                  <a:rPr sz="1900">
                    <a:solidFill>
                      <a:srgbClr val="1E293B"/>
                    </a:solidFill>
                    <a:latin typeface="Calibri"/>
                  </a:rPr>
                  <a:t>. Nếu </a:t>
                </a:r>
                <a:r>
                  <a:rPr lang="vi-VN"/>
                  <a:t>\sin\alpha\ne 0</a:t>
                </a:r>
                <a:r>
                  <a:rPr sz="1900">
                    <a:solidFill>
                      <a:srgbClr val="1E293B"/>
                    </a:solidFill>
                    <a:latin typeface="Calibri"/>
                  </a:rPr>
                  <a:t>: </a:t>
                </a:r>
                <a:r>
                  <a:rPr lang="vi-VN"/>
                  <a:t>\cot\alpha=\frac{\cos\alpha}{\sin\alpha}=\frac{x}{y}</a:t>
                </a:r>
                <a:r>
                  <a:rPr sz="1900">
                    <a:solidFill>
                      <a:srgbClr val="1E293B"/>
                    </a:solidFill>
                    <a:latin typeface="Calibri"/>
                  </a:rPr>
                  <a:t>.</a:t>
                </a:r>
              </a:p>
              <a:p>
                <a:pPr algn="l" marL="365760" indent="-365760">
                  <a:spcAft>
                    <a:spcPts val="800"/>
                  </a:spcAft>
                  <a:buClr>
                    <a:srgbClr val="1E40AF"/>
                  </a:buClr>
                  <a:buFont typeface="Arial"/>
                  <a:buChar char="•"/>
                </a:pPr>
                <a:r>
                  <a:rPr sz="1900">
                    <a:solidFill>
                      <a:srgbClr val="1E293B"/>
                    </a:solidFill>
                    <a:latin typeface="Calibri"/>
                  </a:rPr>
                  <a:t>Các giá trị </a:t>
                </a:r>
                <a:r>
                  <a:rPr lang="vi-VN"/>
                  <a:t>\cos\alpha,\ \sin\alpha,\ \tan\alpha,\ \cot\alpha</a:t>
                </a:r>
                <a:r>
                  <a:rPr sz="1900">
                    <a:solidFill>
                      <a:srgbClr val="1E293B"/>
                    </a:solidFill>
                    <a:latin typeface="Calibri"/>
                  </a:rPr>
                  <a:t> được gọi là các </a:t>
                </a:r>
                <a:r>
                  <a:rPr sz="1900" b="1">
                    <a:solidFill>
                      <a:srgbClr val="1E293B"/>
                    </a:solidFill>
                    <a:latin typeface="Calibri"/>
                  </a:rPr>
                  <a:t>giá trị lượng giác</a:t>
                </a:r>
                <a:r>
                  <a:rPr sz="1900">
                    <a:solidFill>
                      <a:srgbClr val="1E293B"/>
                    </a:solidFill>
                    <a:latin typeface="Calibri"/>
                  </a:rPr>
                  <a:t> của </a:t>
                </a:r>
                <a:r>
                  <a:rPr lang="vi-VN"/>
                  <a:t>\alpha</a:t>
                </a:r>
                <a:r>
                  <a:rPr sz="1900">
                    <a:solidFill>
                      <a:srgbClr val="1E293B"/>
                    </a:solidFill>
                    <a:latin typeface="Calibri"/>
                  </a:rPr>
                  <a:t>.</a:t>
                </a:r>
              </a:p>
            </p:txBody>
          </p:sp>
        </mc:Fallback>
      </mc:AlternateContent>
      <p:sp>
        <p:nvSpPr>
          <p:cNvPr id="9" name="s1_nen"/>
          <p:cNvSpPr/>
          <p:nvPr/>
        </p:nvSpPr>
        <p:spPr>
          <a:xfrm>
            <a:off x="548640" y="4447793"/>
            <a:ext cx="8229600" cy="126415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0" name="s1_chu"/>
              <p:cNvSpPr txBox="1"/>
              <p:nvPr/>
            </p:nvSpPr>
            <p:spPr>
              <a:xfrm>
                <a:off x="713232" y="4484369"/>
                <a:ext cx="7900416" cy="1191006"/>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Chú ý.</a:t>
                </a:r>
                <a:r>
                  <a:rPr sz="1900">
                    <a:solidFill>
                      <a:srgbClr val="1E293B"/>
                    </a:solidFill>
                    <a:latin typeface="Calibri"/>
                  </a:rPr>
                  <a:t> Trục tung là trục sin, trục hoành là trục côsin. </a:t>
                </a:r>
                <a14:m>
                  <m:oMath xmlns:m="http://schemas.openxmlformats.org/officeDocument/2006/math">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α≤1</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α≤1</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(α+k2π)=</m:t>
                    </m:r>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(α+k2π)=</m:t>
                    </m:r>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α</m:t>
                    </m:r>
                  </m:oMath>
                </a14:m>
                <a:r>
                  <a:rPr sz="1900">
                    <a:solidFill>
                      <a:srgbClr val="1E293B"/>
                    </a:solidFill>
                    <a:latin typeface="Calibri"/>
                  </a:rPr>
                  <a:t> xác định khi </a:t>
                </a:r>
                <a14:m>
                  <m:oMath xmlns:m="http://schemas.openxmlformats.org/officeDocument/2006/math">
                    <m:r>
                      <a:rPr lang="vi-VN" sz="1900" b="0">
                        <a:solidFill>
                          <a:srgbClr val="1E293B"/>
                        </a:solidFill>
                        <a:latin typeface="Cambria Math" panose="02040503050406030204" pitchFamily="18" charset="0"/>
                      </a:rPr>
                      <m:t>α≠</m:t>
                    </m:r>
                    <m:f>
                      <m:fPr>
                        <m:type m:val="bar"/>
                      </m:fPr>
                      <m:num>
                        <m:r>
                          <a:rPr lang="vi-VN" sz="1900" b="0">
                            <a:solidFill>
                              <a:srgbClr val="1E293B"/>
                            </a:solidFill>
                            <a:latin typeface="Cambria Math" panose="02040503050406030204" pitchFamily="18" charset="0"/>
                          </a:rPr>
                          <m:t>π</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+kπ</m:t>
                    </m:r>
                  </m:oMath>
                </a14:m>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α</m:t>
                    </m:r>
                  </m:oMath>
                </a14:m>
                <a:r>
                  <a:rPr sz="1900">
                    <a:solidFill>
                      <a:srgbClr val="1E293B"/>
                    </a:solidFill>
                    <a:latin typeface="Calibri"/>
                  </a:rPr>
                  <a:t> xác định khi </a:t>
                </a:r>
                <a14:m>
                  <m:oMath xmlns:m="http://schemas.openxmlformats.org/officeDocument/2006/math">
                    <m:r>
                      <a:rPr lang="vi-VN" sz="1900" b="0">
                        <a:solidFill>
                          <a:srgbClr val="1E293B"/>
                        </a:solidFill>
                        <a:latin typeface="Cambria Math" panose="02040503050406030204" pitchFamily="18" charset="0"/>
                      </a:rPr>
                      <m:t>α≠kπ</m:t>
                    </m:r>
                  </m:oMath>
                </a14:m>
                <a:r>
                  <a:rPr sz="1900">
                    <a:solidFill>
                      <a:srgbClr val="1E293B"/>
                    </a:solidFill>
                    <a:latin typeface="Calibri"/>
                  </a:rPr>
                  <a:t> </a:t>
                </a:r>
                <a14:m>
                  <m:oMath xmlns:m="http://schemas.openxmlformats.org/officeDocument/2006/math">
                    <m:d>
                      <m:dPr>
                        <m:sepChr m:val="∈"/>
                      </m:dPr>
                      <m:e>
                        <m:r>
                          <a:rPr lang="vi-VN" sz="1900" b="0">
                            <a:solidFill>
                              <a:srgbClr val="1E293B"/>
                            </a:solidFill>
                            <a:latin typeface="Cambria Math" panose="02040503050406030204" pitchFamily="18" charset="0"/>
                          </a:rPr>
                          <m:t>k</m:t>
                        </m:r>
                      </m:e>
                      <m:e>
                        <m:r>
                          <a:rPr lang="vi-VN" sz="1900" b="0">
                            <a:solidFill>
                              <a:srgbClr val="1E293B"/>
                            </a:solidFill>
                            <a:latin typeface="Cambria Math" panose="02040503050406030204" pitchFamily="18" charset="0"/>
                          </a:rPr>
                          <m:t>ℤ</m:t>
                        </m:r>
                      </m:e>
                    </m:d>
                  </m:oMath>
                </a14:m>
                <a:r>
                  <a:rPr sz="1900">
                    <a:solidFill>
                      <a:srgbClr val="1E293B"/>
                    </a:solidFill>
                    <a:latin typeface="Calibri"/>
                  </a:rPr>
                  <a:t>.</a:t>
                </a:r>
              </a:p>
            </p:txBody>
          </p:sp>
        </mc:Choice>
        <mc:Fallback>
          <p:sp>
            <p:nvSpPr>
              <p:cNvPr id="10" name="TextBox 9"/>
              <p:cNvSpPr txBox="1"/>
              <p:nvPr/>
            </p:nvSpPr>
            <p:spPr>
              <a:xfrm>
                <a:off x="713232" y="4484369"/>
                <a:ext cx="7900416" cy="1191006"/>
              </a:xfrm>
              <a:prstGeom prst="rect">
                <a:avLst/>
              </a:prstGeom>
              <a:noFill/>
            </p:spPr>
            <p:txBody>
              <a:bodyPr wrap="square" anchor="ctr" lIns="45720" rIns="45720">
                <a:spAutoFit/>
              </a:bodyPr>
              <a:lstStyle/>
              <a:p>
                <a:pPr algn="l">
                  <a:spcAft>
                    <a:spcPts val="800"/>
                  </a:spcAft>
                </a:pPr>
                <a:r>
                  <a:rPr sz="1900" b="1">
                    <a:solidFill>
                      <a:srgbClr val="1E293B"/>
                    </a:solidFill>
                    <a:latin typeface="Calibri"/>
                  </a:rPr>
                  <a:t>Chú ý.</a:t>
                </a:r>
                <a:r>
                  <a:rPr sz="1900">
                    <a:solidFill>
                      <a:srgbClr val="1E293B"/>
                    </a:solidFill>
                    <a:latin typeface="Calibri"/>
                  </a:rPr>
                  <a:t> Trục tung là trục sin, trục hoành là trục côsin. </a:t>
                </a:r>
                <a:r>
                  <a:rPr lang="vi-VN"/>
                  <a:t>-1\le\sin\alpha\le 1</a:t>
                </a:r>
                <a:r>
                  <a:rPr sz="1900">
                    <a:solidFill>
                      <a:srgbClr val="1E293B"/>
                    </a:solidFill>
                    <a:latin typeface="Calibri"/>
                  </a:rPr>
                  <a:t>; </a:t>
                </a:r>
                <a:r>
                  <a:rPr lang="vi-VN"/>
                  <a:t>-1\le\cos\alpha\le 1</a:t>
                </a:r>
                <a:r>
                  <a:rPr sz="1900">
                    <a:solidFill>
                      <a:srgbClr val="1E293B"/>
                    </a:solidFill>
                    <a:latin typeface="Calibri"/>
                  </a:rPr>
                  <a:t>; </a:t>
                </a:r>
                <a:r>
                  <a:rPr lang="vi-VN"/>
                  <a:t>\sin(\alpha+k2\pi)=\sin\alpha</a:t>
                </a:r>
                <a:r>
                  <a:rPr sz="1900">
                    <a:solidFill>
                      <a:srgbClr val="1E293B"/>
                    </a:solidFill>
                    <a:latin typeface="Calibri"/>
                  </a:rPr>
                  <a:t>; </a:t>
                </a:r>
                <a:r>
                  <a:rPr lang="vi-VN"/>
                  <a:t>\cos(\alpha+k2\pi)=\cos\alpha</a:t>
                </a:r>
                <a:r>
                  <a:rPr sz="1900">
                    <a:solidFill>
                      <a:srgbClr val="1E293B"/>
                    </a:solidFill>
                    <a:latin typeface="Calibri"/>
                  </a:rPr>
                  <a:t>. </a:t>
                </a:r>
                <a:r>
                  <a:rPr lang="vi-VN"/>
                  <a:t>\tan\alpha</a:t>
                </a:r>
                <a:r>
                  <a:rPr sz="1900">
                    <a:solidFill>
                      <a:srgbClr val="1E293B"/>
                    </a:solidFill>
                    <a:latin typeface="Calibri"/>
                  </a:rPr>
                  <a:t> xác định khi </a:t>
                </a:r>
                <a:r>
                  <a:rPr lang="vi-VN"/>
                  <a:t>\alpha\ne\frac{\pi}{2}+k\pi</a:t>
                </a:r>
                <a:r>
                  <a:rPr sz="1900">
                    <a:solidFill>
                      <a:srgbClr val="1E293B"/>
                    </a:solidFill>
                    <a:latin typeface="Calibri"/>
                  </a:rPr>
                  <a:t>; </a:t>
                </a:r>
                <a:r>
                  <a:rPr lang="vi-VN"/>
                  <a:t>\cot\alpha</a:t>
                </a:r>
                <a:r>
                  <a:rPr sz="1900">
                    <a:solidFill>
                      <a:srgbClr val="1E293B"/>
                    </a:solidFill>
                    <a:latin typeface="Calibri"/>
                  </a:rPr>
                  <a:t> xác định khi </a:t>
                </a:r>
                <a:r>
                  <a:rPr lang="vi-VN"/>
                  <a:t>\alpha\ne k\pi</a:t>
                </a:r>
                <a:r>
                  <a:rPr sz="1900">
                    <a:solidFill>
                      <a:srgbClr val="1E293B"/>
                    </a:solidFill>
                    <a:latin typeface="Calibri"/>
                  </a:rPr>
                  <a:t> </a:t>
                </a:r>
                <a:r>
                  <a:rPr lang="vi-VN"/>
                  <a:t>(k\in\mathbb{Z})</a:t>
                </a:r>
                <a:r>
                  <a:rPr sz="1900">
                    <a:solidFill>
                      <a:srgbClr val="1E293B"/>
                    </a:solidFill>
                    <a:latin typeface="Calibri"/>
                  </a:rPr>
                  <a:t>.</a:t>
                </a:r>
              </a:p>
            </p:txBody>
          </p:sp>
        </mc:Fallback>
      </mc:AlternateContent>
      <p:pic>
        <p:nvPicPr>
          <p:cNvPr id="11" name="Picture 10" descr="b1_h19b.png"/>
          <p:cNvPicPr>
            <a:picLocks noChangeAspect="1"/>
          </p:cNvPicPr>
          <p:nvPr/>
        </p:nvPicPr>
        <p:blipFill>
          <a:blip r:embed="rId3"/>
          <a:stretch>
            <a:fillRect/>
          </a:stretch>
        </p:blipFill>
        <p:spPr>
          <a:xfrm>
            <a:off x="9052560" y="1629481"/>
            <a:ext cx="2743200" cy="29589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DẤU CỦA CÁC GIÁ TRỊ LƯỢNG GIÁC (SGK TR.12)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21</a:t>
            </a:r>
          </a:p>
        </p:txBody>
      </p:sp>
      <p:pic>
        <p:nvPicPr>
          <p:cNvPr id="7" name="Picture 6" descr="b1_dau.png"/>
          <p:cNvPicPr>
            <a:picLocks noChangeAspect="1"/>
          </p:cNvPicPr>
          <p:nvPr/>
        </p:nvPicPr>
        <p:blipFill>
          <a:blip r:embed="rId3"/>
          <a:stretch>
            <a:fillRect/>
          </a:stretch>
        </p:blipFill>
        <p:spPr>
          <a:xfrm>
            <a:off x="751568" y="1463040"/>
            <a:ext cx="6909344" cy="3108960"/>
          </a:xfrm>
          <a:prstGeom prst="rect">
            <a:avLst/>
          </a:prstGeom>
        </p:spPr>
      </p:pic>
      <p:pic>
        <p:nvPicPr>
          <p:cNvPr id="8" name="Picture 7" descr="b1_h110.png"/>
          <p:cNvPicPr>
            <a:picLocks noChangeAspect="1"/>
          </p:cNvPicPr>
          <p:nvPr/>
        </p:nvPicPr>
        <p:blipFill>
          <a:blip r:embed="rId4"/>
          <a:stretch>
            <a:fillRect/>
          </a:stretch>
        </p:blipFill>
        <p:spPr>
          <a:xfrm>
            <a:off x="8047939" y="1371600"/>
            <a:ext cx="3472281" cy="3657600"/>
          </a:xfrm>
          <a:prstGeom prst="rect">
            <a:avLst/>
          </a:prstGeom>
        </p:spPr>
      </p:pic>
      <p:sp>
        <p:nvSpPr>
          <p:cNvPr id="9" name="s1_nen"/>
          <p:cNvSpPr/>
          <p:nvPr/>
        </p:nvSpPr>
        <p:spPr>
          <a:xfrm>
            <a:off x="548640" y="5212080"/>
            <a:ext cx="11064240" cy="874775"/>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713232" y="5248656"/>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Mẹo nhớ: góc phần tư I – tất cả dương; II – chỉ sin dương; III – tan, cot dương; IV – chỉ cos dương.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6 – LUYỆN TẬP 5 (SGK TR.12)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22</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822960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Ví dụ 6.</a:t>
                </a:r>
                <a:r>
                  <a:rPr sz="1800">
                    <a:solidFill>
                      <a:srgbClr val="1E293B"/>
                    </a:solidFill>
                    <a:latin typeface="Calibri"/>
                  </a:rPr>
                  <a:t> Cho góc lượng giác có số đo </a:t>
                </a:r>
                <a14:m>
                  <m:oMath xmlns:m="http://schemas.openxmlformats.org/officeDocument/2006/math">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3</m:t>
                        </m:r>
                      </m:den>
                    </m:f>
                  </m:oMath>
                </a14:m>
                <a:r>
                  <a:rPr sz="1800">
                    <a:solidFill>
                      <a:srgbClr val="1E293B"/>
                    </a:solidFill>
                    <a:latin typeface="Calibri"/>
                  </a:rPr>
                  <a:t>. a) Xác định điểm </a:t>
                </a:r>
                <a14:m>
                  <m:oMath xmlns:m="http://schemas.openxmlformats.org/officeDocument/2006/math">
                    <m:r>
                      <a:rPr lang="vi-VN" sz="1800" b="0">
                        <a:solidFill>
                          <a:srgbClr val="1E293B"/>
                        </a:solidFill>
                        <a:latin typeface="Cambria Math" panose="02040503050406030204" pitchFamily="18" charset="0"/>
                      </a:rPr>
                      <m:t>M</m:t>
                    </m:r>
                  </m:oMath>
                </a14:m>
                <a:r>
                  <a:rPr sz="1800">
                    <a:solidFill>
                      <a:srgbClr val="1E293B"/>
                    </a:solidFill>
                    <a:latin typeface="Calibri"/>
                  </a:rPr>
                  <a:t> biểu diễn góc đó. b) Tính các giá trị lượng giác.</a:t>
                </a:r>
              </a:p>
            </p:txBody>
          </p:sp>
        </mc:Choice>
        <mc:Fallback>
          <p:sp>
            <p:nvSpPr>
              <p:cNvPr id="7" name="TextBox 6"/>
              <p:cNvSpPr txBox="1"/>
              <p:nvPr/>
            </p:nvSpPr>
            <p:spPr>
              <a:xfrm>
                <a:off x="548640" y="1325880"/>
                <a:ext cx="822960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Ví dụ 6.</a:t>
                </a:r>
                <a:r>
                  <a:rPr sz="1800">
                    <a:solidFill>
                      <a:srgbClr val="1E293B"/>
                    </a:solidFill>
                    <a:latin typeface="Calibri"/>
                  </a:rPr>
                  <a:t> Cho góc lượng giác có số đo </a:t>
                </a:r>
                <a:r>
                  <a:rPr lang="vi-VN"/>
                  <a:t>-\frac{\pi}{3}</a:t>
                </a:r>
                <a:r>
                  <a:rPr sz="1800">
                    <a:solidFill>
                      <a:srgbClr val="1E293B"/>
                    </a:solidFill>
                    <a:latin typeface="Calibri"/>
                  </a:rPr>
                  <a:t>. a) Xác định điểm </a:t>
                </a:r>
                <a:r>
                  <a:rPr lang="vi-VN"/>
                  <a:t>M</a:t>
                </a:r>
                <a:r>
                  <a:rPr sz="1800">
                    <a:solidFill>
                      <a:srgbClr val="1E293B"/>
                    </a:solidFill>
                    <a:latin typeface="Calibri"/>
                  </a:rPr>
                  <a:t> biểu diễn góc đó. b) Tính các giá trị lượng giác.</a:t>
                </a:r>
              </a:p>
            </p:txBody>
          </p:sp>
        </mc:Fallback>
      </mc:AlternateContent>
      <p:sp>
        <p:nvSpPr>
          <p:cNvPr id="8" name="s1_nen"/>
          <p:cNvSpPr/>
          <p:nvPr/>
        </p:nvSpPr>
        <p:spPr>
          <a:xfrm>
            <a:off x="548640" y="2226563"/>
            <a:ext cx="8229600" cy="90982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63139"/>
                <a:ext cx="7900416" cy="83667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Hình 1.11. b) </a:t>
                </a:r>
                <a14:m>
                  <m:oMath xmlns:m="http://schemas.openxmlformats.org/officeDocument/2006/math">
                    <m:r>
                      <m:rPr>
                        <m:sty m:val="p"/>
                      </m:rPr>
                      <a:rPr lang="vi-VN" sz="1800" b="0">
                        <a:solidFill>
                          <a:srgbClr val="1E293B"/>
                        </a:solidFill>
                        <a:latin typeface="Cambria Math" panose="02040503050406030204" pitchFamily="18" charset="0"/>
                      </a:rPr>
                      <m:t>cos</m:t>
                    </m:r>
                    <m:d>
                      <m:dPr>
                        <m:sepChr m:val=""/>
                      </m:dPr>
                      <m:e>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3</m:t>
                            </m:r>
                          </m:den>
                        </m:f>
                      </m:e>
                    </m:d>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1</m:t>
                        </m:r>
                      </m:num>
                      <m:den>
                        <m:r>
                          <a:rPr lang="vi-VN" sz="1800" b="0">
                            <a:solidFill>
                              <a:srgbClr val="1E293B"/>
                            </a:solidFill>
                            <a:latin typeface="Cambria Math" panose="02040503050406030204" pitchFamily="18" charset="0"/>
                          </a:rPr>
                          <m:t>2</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sin</m:t>
                    </m:r>
                    <m:d>
                      <m:dPr>
                        <m:sepChr m:val=""/>
                      </m:dPr>
                      <m:e>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3</m:t>
                            </m:r>
                          </m:den>
                        </m:f>
                      </m:e>
                    </m:d>
                    <m:r>
                      <a:rPr lang="vi-VN" sz="1800" b="0">
                        <a:solidFill>
                          <a:srgbClr val="1E293B"/>
                        </a:solidFill>
                        <a:latin typeface="Cambria Math" panose="02040503050406030204" pitchFamily="18" charset="0"/>
                      </a:rPr>
                      <m:t>=−</m:t>
                    </m:r>
                    <m:f>
                      <m:fPr>
                        <m:type m:val="bar"/>
                      </m:fPr>
                      <m:num>
                        <m:rad>
                          <m:radPr>
                            <m:degHide m:val="on"/>
                          </m:radPr>
                          <m:deg/>
                          <m:e>
                            <m:r>
                              <a:rPr lang="vi-VN" sz="1800" b="0">
                                <a:solidFill>
                                  <a:srgbClr val="1E293B"/>
                                </a:solidFill>
                                <a:latin typeface="Cambria Math" panose="02040503050406030204" pitchFamily="18" charset="0"/>
                              </a:rPr>
                              <m:t>3</m:t>
                            </m:r>
                          </m:e>
                        </m:rad>
                      </m:num>
                      <m:den>
                        <m:r>
                          <a:rPr lang="vi-VN" sz="1800" b="0">
                            <a:solidFill>
                              <a:srgbClr val="1E293B"/>
                            </a:solidFill>
                            <a:latin typeface="Cambria Math" panose="02040503050406030204" pitchFamily="18" charset="0"/>
                          </a:rPr>
                          <m:t>2</m:t>
                        </m:r>
                      </m:den>
                    </m:f>
                  </m:oMath>
                </a14:m>
                <a:r>
                  <a:rPr sz="1800">
                    <a:solidFill>
                      <a:srgbClr val="1E293B"/>
                    </a:solidFill>
                    <a:latin typeface="Calibri"/>
                  </a:rPr>
                  <a:t>;</a:t>
                </a:r>
              </a:p>
            </p:txBody>
          </p:sp>
        </mc:Choice>
        <mc:Fallback>
          <p:sp>
            <p:nvSpPr>
              <p:cNvPr id="9" name="TextBox 8"/>
              <p:cNvSpPr txBox="1"/>
              <p:nvPr/>
            </p:nvSpPr>
            <p:spPr>
              <a:xfrm>
                <a:off x="713232" y="2263139"/>
                <a:ext cx="7900416" cy="83667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Hình 1.11. b) </a:t>
                </a:r>
                <a:r>
                  <a:rPr lang="vi-VN"/>
                  <a:t>\cos\left(-\frac{\pi}{3}\right)=\frac{1}{2}</a:t>
                </a:r>
                <a:r>
                  <a:rPr sz="1800">
                    <a:solidFill>
                      <a:srgbClr val="1E293B"/>
                    </a:solidFill>
                    <a:latin typeface="Calibri"/>
                  </a:rPr>
                  <a:t>; </a:t>
                </a:r>
                <a:r>
                  <a:rPr lang="vi-VN"/>
                  <a:t>\sin\left(-\frac{\pi}{3}\right)=-\frac{\sqrt{3}}{2}</a:t>
                </a:r>
                <a:r>
                  <a:rPr sz="1800">
                    <a:solidFill>
                      <a:srgbClr val="1E293B"/>
                    </a:solidFill>
                    <a:latin typeface="Calibri"/>
                  </a:rPr>
                  <a:t>;</a:t>
                </a:r>
              </a:p>
            </p:txBody>
          </p:sp>
        </mc:Fallback>
      </mc:AlternateContent>
      <p:sp>
        <p:nvSpPr>
          <p:cNvPr id="10" name="s2_nen"/>
          <p:cNvSpPr/>
          <p:nvPr/>
        </p:nvSpPr>
        <p:spPr>
          <a:xfrm>
            <a:off x="548640" y="3191256"/>
            <a:ext cx="8229600" cy="90982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27832"/>
                <a:ext cx="7900416" cy="83667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tan</m:t>
                    </m:r>
                    <m:d>
                      <m:dPr>
                        <m:sepChr m:val=""/>
                      </m:dPr>
                      <m:e>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3</m:t>
                            </m:r>
                          </m:den>
                        </m:f>
                      </m:e>
                    </m:d>
                    <m:r>
                      <a:rPr lang="vi-VN" sz="1800" b="0">
                        <a:solidFill>
                          <a:srgbClr val="1E293B"/>
                        </a:solidFill>
                        <a:latin typeface="Cambria Math" panose="02040503050406030204" pitchFamily="18" charset="0"/>
                      </a:rPr>
                      <m:t>=−</m:t>
                    </m:r>
                    <m:rad>
                      <m:radPr>
                        <m:degHide m:val="on"/>
                      </m:radPr>
                      <m:deg/>
                      <m:e>
                        <m:r>
                          <a:rPr lang="vi-VN" sz="1800" b="0">
                            <a:solidFill>
                              <a:srgbClr val="1E293B"/>
                            </a:solidFill>
                            <a:latin typeface="Cambria Math" panose="02040503050406030204" pitchFamily="18" charset="0"/>
                          </a:rPr>
                          <m:t>3</m:t>
                        </m:r>
                      </m:e>
                    </m:rad>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cot</m:t>
                    </m:r>
                    <m:d>
                      <m:dPr>
                        <m:sepChr m:val=""/>
                      </m:dPr>
                      <m:e>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3</m:t>
                            </m:r>
                          </m:den>
                        </m:f>
                      </m:e>
                    </m:d>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1</m:t>
                        </m:r>
                      </m:num>
                      <m:den>
                        <m:rad>
                          <m:radPr>
                            <m:degHide m:val="on"/>
                          </m:radPr>
                          <m:deg/>
                          <m:e>
                            <m:r>
                              <a:rPr lang="vi-VN" sz="1800" b="0">
                                <a:solidFill>
                                  <a:srgbClr val="1E293B"/>
                                </a:solidFill>
                                <a:latin typeface="Cambria Math" panose="02040503050406030204" pitchFamily="18" charset="0"/>
                              </a:rPr>
                              <m:t>3</m:t>
                            </m:r>
                          </m:e>
                        </m:rad>
                      </m:den>
                    </m:f>
                  </m:oMath>
                </a14:m>
                <a:r>
                  <a:rPr sz="1800">
                    <a:solidFill>
                      <a:srgbClr val="1E293B"/>
                    </a:solidFill>
                    <a:latin typeface="Calibri"/>
                  </a:rPr>
                  <a:t>.</a:t>
                </a:r>
              </a:p>
            </p:txBody>
          </p:sp>
        </mc:Choice>
        <mc:Fallback>
          <p:sp>
            <p:nvSpPr>
              <p:cNvPr id="11" name="TextBox 10"/>
              <p:cNvSpPr txBox="1"/>
              <p:nvPr/>
            </p:nvSpPr>
            <p:spPr>
              <a:xfrm>
                <a:off x="713232" y="3227832"/>
                <a:ext cx="7900416" cy="83667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a:t>
                </a:r>
                <a:r>
                  <a:rPr lang="vi-VN"/>
                  <a:t>\tan\left(-\frac{\pi}{3}\right)=-\sqrt{3}</a:t>
                </a:r>
                <a:r>
                  <a:rPr sz="1800">
                    <a:solidFill>
                      <a:srgbClr val="1E293B"/>
                    </a:solidFill>
                    <a:latin typeface="Calibri"/>
                  </a:rPr>
                  <a:t>; </a:t>
                </a:r>
                <a:r>
                  <a:rPr lang="vi-VN"/>
                  <a:t>\cot\left(-\frac{\pi}{3}\right)=-\frac{1}{\sqrt{3}}</a:t>
                </a:r>
                <a:r>
                  <a:rPr sz="18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155947"/>
                <a:ext cx="822960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Luyện tập 5.</a:t>
                </a:r>
                <a:r>
                  <a:rPr sz="1800">
                    <a:solidFill>
                      <a:srgbClr val="1E293B"/>
                    </a:solidFill>
                    <a:latin typeface="Calibri"/>
                  </a:rPr>
                  <a:t> Cho góc lượng giác có số đo </a:t>
                </a:r>
                <a14:m>
                  <m:oMath xmlns:m="http://schemas.openxmlformats.org/officeDocument/2006/math">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6</m:t>
                        </m:r>
                      </m:den>
                    </m:f>
                  </m:oMath>
                </a14:m>
                <a:r>
                  <a:rPr sz="1800">
                    <a:solidFill>
                      <a:srgbClr val="1E293B"/>
                    </a:solidFill>
                    <a:latin typeface="Calibri"/>
                  </a:rPr>
                  <a:t>. a) Xác định điểm </a:t>
                </a:r>
                <a14:m>
                  <m:oMath xmlns:m="http://schemas.openxmlformats.org/officeDocument/2006/math">
                    <m:r>
                      <a:rPr lang="vi-VN" sz="1800" b="0">
                        <a:solidFill>
                          <a:srgbClr val="1E293B"/>
                        </a:solidFill>
                        <a:latin typeface="Cambria Math" panose="02040503050406030204" pitchFamily="18" charset="0"/>
                      </a:rPr>
                      <m:t>M</m:t>
                    </m:r>
                  </m:oMath>
                </a14:m>
                <a:r>
                  <a:rPr sz="1800">
                    <a:solidFill>
                      <a:srgbClr val="1E293B"/>
                    </a:solidFill>
                    <a:latin typeface="Calibri"/>
                  </a:rPr>
                  <a:t>. b) Tính các giá trị lượng giác.</a:t>
                </a:r>
              </a:p>
            </p:txBody>
          </p:sp>
        </mc:Choice>
        <mc:Fallback>
          <p:sp>
            <p:nvSpPr>
              <p:cNvPr id="12" name="TextBox 11"/>
              <p:cNvSpPr txBox="1"/>
              <p:nvPr/>
            </p:nvSpPr>
            <p:spPr>
              <a:xfrm>
                <a:off x="548640" y="4155947"/>
                <a:ext cx="822960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Luyện tập 5.</a:t>
                </a:r>
                <a:r>
                  <a:rPr sz="1800">
                    <a:solidFill>
                      <a:srgbClr val="1E293B"/>
                    </a:solidFill>
                    <a:latin typeface="Calibri"/>
                  </a:rPr>
                  <a:t> Cho góc lượng giác có số đo </a:t>
                </a:r>
                <a:r>
                  <a:rPr lang="vi-VN"/>
                  <a:t>\frac{5\pi}{6}</a:t>
                </a:r>
                <a:r>
                  <a:rPr sz="1800">
                    <a:solidFill>
                      <a:srgbClr val="1E293B"/>
                    </a:solidFill>
                    <a:latin typeface="Calibri"/>
                  </a:rPr>
                  <a:t>. a) Xác định điểm </a:t>
                </a:r>
                <a:r>
                  <a:rPr lang="vi-VN"/>
                  <a:t>M</a:t>
                </a:r>
                <a:r>
                  <a:rPr sz="1800">
                    <a:solidFill>
                      <a:srgbClr val="1E293B"/>
                    </a:solidFill>
                    <a:latin typeface="Calibri"/>
                  </a:rPr>
                  <a:t>. b) Tính các giá trị lượng giác.</a:t>
                </a:r>
              </a:p>
            </p:txBody>
          </p:sp>
        </mc:Fallback>
      </mc:AlternateContent>
      <p:sp>
        <p:nvSpPr>
          <p:cNvPr id="13" name="s4_nen"/>
          <p:cNvSpPr/>
          <p:nvPr/>
        </p:nvSpPr>
        <p:spPr>
          <a:xfrm>
            <a:off x="548640" y="5056631"/>
            <a:ext cx="8229600" cy="118414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093207"/>
                <a:ext cx="7900416" cy="111099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14:m>
                  <m:oMath xmlns:m="http://schemas.openxmlformats.org/officeDocument/2006/math">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6</m:t>
                        </m:r>
                      </m:den>
                    </m:f>
                    <m:r>
                      <a:rPr lang="vi-VN" sz="1800" b="0">
                        <a:solidFill>
                          <a:srgbClr val="1E293B"/>
                        </a:solidFill>
                        <a:latin typeface="Cambria Math" panose="02040503050406030204" pitchFamily="18" charset="0"/>
                      </a:rPr>
                      <m:t>=</m:t>
                    </m:r>
                    <m:sSup>
                      <m:e>
                        <m:r>
                          <a:rPr lang="vi-VN" sz="1800" b="0">
                            <a:solidFill>
                              <a:srgbClr val="1E293B"/>
                            </a:solidFill>
                            <a:latin typeface="Cambria Math" panose="02040503050406030204" pitchFamily="18" charset="0"/>
                          </a:rPr>
                          <m:t>150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M</m:t>
                    </m:r>
                  </m:oMath>
                </a14:m>
                <a:r>
                  <a:rPr sz="1800">
                    <a:solidFill>
                      <a:srgbClr val="1E293B"/>
                    </a:solidFill>
                    <a:latin typeface="Calibri"/>
                  </a:rPr>
                  <a:t> thuộc góc phần tư II, </a:t>
                </a:r>
                <a14:m>
                  <m:oMath xmlns:m="http://schemas.openxmlformats.org/officeDocument/2006/math">
                    <m:acc>
                      <m:accPr>
                        <m:chr m:val="̂"/>
                      </m:accPr>
                      <m:e>
                        <m:r>
                          <a:rPr lang="vi-VN" sz="1800" b="0">
                            <a:solidFill>
                              <a:srgbClr val="1E293B"/>
                            </a:solidFill>
                            <a:latin typeface="Cambria Math" panose="02040503050406030204" pitchFamily="18" charset="0"/>
                          </a:rPr>
                          <m:t>AOM</m:t>
                        </m:r>
                      </m:e>
                    </m:acc>
                    <m:r>
                      <a:rPr lang="vi-VN" sz="1800" b="0">
                        <a:solidFill>
                          <a:srgbClr val="1E293B"/>
                        </a:solidFill>
                        <a:latin typeface="Cambria Math" panose="02040503050406030204" pitchFamily="18" charset="0"/>
                      </a:rPr>
                      <m:t>=</m:t>
                    </m:r>
                    <m:sSup>
                      <m:e>
                        <m:r>
                          <a:rPr lang="vi-VN" sz="1800" b="0">
                            <a:solidFill>
                              <a:srgbClr val="1E293B"/>
                            </a:solidFill>
                            <a:latin typeface="Cambria Math" panose="02040503050406030204" pitchFamily="18" charset="0"/>
                          </a:rPr>
                          <m:t>150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b) </a:t>
                </a:r>
                <a14:m>
                  <m:oMath xmlns:m="http://schemas.openxmlformats.org/officeDocument/2006/math">
                    <m:r>
                      <m:rPr>
                        <m:sty m:val="p"/>
                      </m:rPr>
                      <a:rPr lang="vi-VN" sz="1800" b="0">
                        <a:solidFill>
                          <a:srgbClr val="1E293B"/>
                        </a:solidFill>
                        <a:latin typeface="Cambria Math" panose="02040503050406030204" pitchFamily="18" charset="0"/>
                      </a:rPr>
                      <m:t>cos</m:t>
                    </m:r>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6</m:t>
                        </m:r>
                      </m:den>
                    </m:f>
                    <m:r>
                      <a:rPr lang="vi-VN" sz="1800" b="0">
                        <a:solidFill>
                          <a:srgbClr val="1E293B"/>
                        </a:solidFill>
                        <a:latin typeface="Cambria Math" panose="02040503050406030204" pitchFamily="18" charset="0"/>
                      </a:rPr>
                      <m:t>=−</m:t>
                    </m:r>
                    <m:f>
                      <m:fPr>
                        <m:type m:val="bar"/>
                      </m:fPr>
                      <m:num>
                        <m:rad>
                          <m:radPr>
                            <m:degHide m:val="on"/>
                          </m:radPr>
                          <m:deg/>
                          <m:e>
                            <m:r>
                              <a:rPr lang="vi-VN" sz="1800" b="0">
                                <a:solidFill>
                                  <a:srgbClr val="1E293B"/>
                                </a:solidFill>
                                <a:latin typeface="Cambria Math" panose="02040503050406030204" pitchFamily="18" charset="0"/>
                              </a:rPr>
                              <m:t>3</m:t>
                            </m:r>
                          </m:e>
                        </m:rad>
                      </m:num>
                      <m:den>
                        <m:r>
                          <a:rPr lang="vi-VN" sz="1800" b="0">
                            <a:solidFill>
                              <a:srgbClr val="1E293B"/>
                            </a:solidFill>
                            <a:latin typeface="Cambria Math" panose="02040503050406030204" pitchFamily="18" charset="0"/>
                          </a:rPr>
                          <m:t>2</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sin</m:t>
                    </m:r>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6</m:t>
                        </m:r>
                      </m:den>
                    </m:f>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1</m:t>
                        </m:r>
                      </m:num>
                      <m:den>
                        <m:r>
                          <a:rPr lang="vi-VN" sz="1800" b="0">
                            <a:solidFill>
                              <a:srgbClr val="1E293B"/>
                            </a:solidFill>
                            <a:latin typeface="Cambria Math" panose="02040503050406030204" pitchFamily="18" charset="0"/>
                          </a:rPr>
                          <m:t>2</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tan</m:t>
                    </m:r>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6</m:t>
                        </m:r>
                      </m:den>
                    </m:f>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1</m:t>
                        </m:r>
                      </m:num>
                      <m:den>
                        <m:rad>
                          <m:radPr>
                            <m:degHide m:val="on"/>
                          </m:radPr>
                          <m:deg/>
                          <m:e>
                            <m:r>
                              <a:rPr lang="vi-VN" sz="1800" b="0">
                                <a:solidFill>
                                  <a:srgbClr val="1E293B"/>
                                </a:solidFill>
                                <a:latin typeface="Cambria Math" panose="02040503050406030204" pitchFamily="18" charset="0"/>
                              </a:rPr>
                              <m:t>3</m:t>
                            </m:r>
                          </m:e>
                        </m:rad>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cot</m:t>
                    </m:r>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6</m:t>
                        </m:r>
                      </m:den>
                    </m:f>
                    <m:r>
                      <a:rPr lang="vi-VN" sz="1800" b="0">
                        <a:solidFill>
                          <a:srgbClr val="1E293B"/>
                        </a:solidFill>
                        <a:latin typeface="Cambria Math" panose="02040503050406030204" pitchFamily="18" charset="0"/>
                      </a:rPr>
                      <m:t>=−</m:t>
                    </m:r>
                    <m:rad>
                      <m:radPr>
                        <m:degHide m:val="on"/>
                      </m:radPr>
                      <m:deg/>
                      <m:e>
                        <m:r>
                          <a:rPr lang="vi-VN" sz="1800" b="0">
                            <a:solidFill>
                              <a:srgbClr val="1E293B"/>
                            </a:solidFill>
                            <a:latin typeface="Cambria Math" panose="02040503050406030204" pitchFamily="18" charset="0"/>
                          </a:rPr>
                          <m:t>3</m:t>
                        </m:r>
                      </m:e>
                    </m:rad>
                  </m:oMath>
                </a14:m>
                <a:r>
                  <a:rPr sz="1800">
                    <a:solidFill>
                      <a:srgbClr val="1E293B"/>
                    </a:solidFill>
                    <a:latin typeface="Calibri"/>
                  </a:rPr>
                  <a:t>.</a:t>
                </a:r>
              </a:p>
            </p:txBody>
          </p:sp>
        </mc:Choice>
        <mc:Fallback>
          <p:sp>
            <p:nvSpPr>
              <p:cNvPr id="14" name="TextBox 13"/>
              <p:cNvSpPr txBox="1"/>
              <p:nvPr/>
            </p:nvSpPr>
            <p:spPr>
              <a:xfrm>
                <a:off x="713232" y="5093207"/>
                <a:ext cx="7900416" cy="111099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r>
                  <a:rPr lang="vi-VN"/>
                  <a:t>\frac{5\pi}{6}=150^\circ</a:t>
                </a:r>
                <a:r>
                  <a:rPr sz="1800">
                    <a:solidFill>
                      <a:srgbClr val="1E293B"/>
                    </a:solidFill>
                    <a:latin typeface="Calibri"/>
                  </a:rPr>
                  <a:t>: </a:t>
                </a:r>
                <a:r>
                  <a:rPr lang="vi-VN"/>
                  <a:t>M</a:t>
                </a:r>
                <a:r>
                  <a:rPr sz="1800">
                    <a:solidFill>
                      <a:srgbClr val="1E293B"/>
                    </a:solidFill>
                    <a:latin typeface="Calibri"/>
                  </a:rPr>
                  <a:t> thuộc góc phần tư II, </a:t>
                </a:r>
                <a:r>
                  <a:rPr lang="vi-VN"/>
                  <a:t>\widehat{AOM}=150^\circ</a:t>
                </a:r>
                <a:r>
                  <a:rPr sz="1800">
                    <a:solidFill>
                      <a:srgbClr val="1E293B"/>
                    </a:solidFill>
                    <a:latin typeface="Calibri"/>
                  </a:rPr>
                  <a:t>. b) </a:t>
                </a:r>
                <a:r>
                  <a:rPr lang="vi-VN"/>
                  <a:t>\cos\frac{5\pi}{6}=-\frac{\sqrt{3}}{2}</a:t>
                </a:r>
                <a:r>
                  <a:rPr sz="1800">
                    <a:solidFill>
                      <a:srgbClr val="1E293B"/>
                    </a:solidFill>
                    <a:latin typeface="Calibri"/>
                  </a:rPr>
                  <a:t>; </a:t>
                </a:r>
                <a:r>
                  <a:rPr lang="vi-VN"/>
                  <a:t>\sin\frac{5\pi}{6}=\frac{1}{2}</a:t>
                </a:r>
                <a:r>
                  <a:rPr sz="1800">
                    <a:solidFill>
                      <a:srgbClr val="1E293B"/>
                    </a:solidFill>
                    <a:latin typeface="Calibri"/>
                  </a:rPr>
                  <a:t>; </a:t>
                </a:r>
                <a:r>
                  <a:rPr lang="vi-VN"/>
                  <a:t>\tan\frac{5\pi}{6}=-\frac{1}{\sqrt{3}}</a:t>
                </a:r>
                <a:r>
                  <a:rPr sz="1800">
                    <a:solidFill>
                      <a:srgbClr val="1E293B"/>
                    </a:solidFill>
                    <a:latin typeface="Calibri"/>
                  </a:rPr>
                  <a:t>; </a:t>
                </a:r>
                <a:r>
                  <a:rPr lang="vi-VN"/>
                  <a:t>\cot\frac{5\pi}{6}=-\sqrt{3}</a:t>
                </a:r>
                <a:r>
                  <a:rPr sz="1800">
                    <a:solidFill>
                      <a:srgbClr val="1E293B"/>
                    </a:solidFill>
                    <a:latin typeface="Calibri"/>
                  </a:rPr>
                  <a:t>.</a:t>
                </a:r>
              </a:p>
            </p:txBody>
          </p:sp>
        </mc:Fallback>
      </mc:AlternateContent>
      <p:pic>
        <p:nvPicPr>
          <p:cNvPr id="15" name="Picture 14" descr="b1_h111.png"/>
          <p:cNvPicPr>
            <a:picLocks noChangeAspect="1"/>
          </p:cNvPicPr>
          <p:nvPr/>
        </p:nvPicPr>
        <p:blipFill>
          <a:blip r:embed="rId3"/>
          <a:stretch>
            <a:fillRect/>
          </a:stretch>
        </p:blipFill>
        <p:spPr>
          <a:xfrm>
            <a:off x="8967183" y="1463040"/>
            <a:ext cx="2731073" cy="2834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GIÁ TRỊ LƯỢNG GIÁC CỦA CÁC GÓC ĐẶC BIỆT (SGK TR.12)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23</a:t>
            </a:r>
          </a:p>
        </p:txBody>
      </p:sp>
      <p:pic>
        <p:nvPicPr>
          <p:cNvPr id="7" name="Picture 6" descr="b1_dacbiet.png"/>
          <p:cNvPicPr>
            <a:picLocks noChangeAspect="1"/>
          </p:cNvPicPr>
          <p:nvPr/>
        </p:nvPicPr>
        <p:blipFill>
          <a:blip r:embed="rId3"/>
          <a:stretch>
            <a:fillRect/>
          </a:stretch>
        </p:blipFill>
        <p:spPr>
          <a:xfrm>
            <a:off x="914400" y="1421454"/>
            <a:ext cx="10332720" cy="43351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ĐƯỜNG TRÒN LƯỢNG GIÁC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24</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(từ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720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đến </a:t>
                </a:r>
                <a14:m>
                  <m:oMath xmlns:m="http://schemas.openxmlformats.org/officeDocument/2006/math">
                    <m:sSup>
                      <m:e>
                        <m:r>
                          <a:rPr lang="vi-VN" sz="2200" b="0">
                            <a:solidFill>
                              <a:srgbClr val="1E293B"/>
                            </a:solidFill>
                            <a:latin typeface="Cambria Math" panose="02040503050406030204" pitchFamily="18" charset="0"/>
                          </a:rPr>
                          <m:t>720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biểu diễn góc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hoành độ </a:t>
                </a:r>
                <a14:m>
                  <m:oMath xmlns:m="http://schemas.openxmlformats.org/officeDocument/2006/math">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α</m:t>
                    </m:r>
                  </m:oMath>
                </a14:m>
                <a:r>
                  <a:rPr sz="2200">
                    <a:solidFill>
                      <a:srgbClr val="1E293B"/>
                    </a:solidFill>
                    <a:latin typeface="Calibri"/>
                  </a:rPr>
                  <a:t>, tung độ </a:t>
                </a:r>
                <a14:m>
                  <m:oMath xmlns:m="http://schemas.openxmlformats.org/officeDocument/2006/math">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sin</m:t>
                    </m:r>
                    <m:r>
                      <a:rPr lang="vi-VN" sz="2200" b="0">
                        <a:solidFill>
                          <a:srgbClr val="1E293B"/>
                        </a:solidFill>
                        <a:latin typeface="Cambria Math" panose="02040503050406030204" pitchFamily="18" charset="0"/>
                      </a:rPr>
                      <m:t>α</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Quan sát dấu của </a:t>
                </a:r>
                <a14:m>
                  <m:oMath xmlns:m="http://schemas.openxmlformats.org/officeDocument/2006/math">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α,</m:t>
                    </m:r>
                    <m:r>
                      <m:rPr>
                        <m:sty m:val="p"/>
                      </m:rPr>
                      <a:rPr lang="vi-VN" sz="2200" b="0">
                        <a:solidFill>
                          <a:srgbClr val="1E293B"/>
                        </a:solidFill>
                        <a:latin typeface="Cambria Math" panose="02040503050406030204" pitchFamily="18" charset="0"/>
                      </a:rPr>
                      <m:t> </m:t>
                    </m:r>
                    <m:r>
                      <m:rPr>
                        <m:sty m:val="p"/>
                      </m:rPr>
                      <a:rPr lang="vi-VN" sz="2200" b="0">
                        <a:solidFill>
                          <a:srgbClr val="1E293B"/>
                        </a:solidFill>
                        <a:latin typeface="Cambria Math" panose="02040503050406030204" pitchFamily="18" charset="0"/>
                      </a:rPr>
                      <m:t>sin</m:t>
                    </m:r>
                    <m:r>
                      <a:rPr lang="vi-VN" sz="2200" b="0">
                        <a:solidFill>
                          <a:srgbClr val="1E293B"/>
                        </a:solidFill>
                        <a:latin typeface="Cambria Math" panose="02040503050406030204" pitchFamily="18" charset="0"/>
                      </a:rPr>
                      <m:t>α</m:t>
                    </m:r>
                  </m:oMath>
                </a14:m>
                <a:r>
                  <a:rPr sz="2200">
                    <a:solidFill>
                      <a:srgbClr val="1E293B"/>
                    </a:solidFill>
                    <a:latin typeface="Calibri"/>
                  </a:rPr>
                  <a:t> theo góc phần tư;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và </a:t>
                </a:r>
                <a14:m>
                  <m:oMath xmlns:m="http://schemas.openxmlformats.org/officeDocument/2006/math">
                    <m:r>
                      <a:rPr lang="vi-VN" sz="2200" b="0">
                        <a:solidFill>
                          <a:srgbClr val="1E293B"/>
                        </a:solidFill>
                        <a:latin typeface="Cambria Math" panose="02040503050406030204" pitchFamily="18" charset="0"/>
                      </a:rPr>
                      <m:t>α+</m:t>
                    </m:r>
                    <m:sSup>
                      <m:e>
                        <m:r>
                          <a:rPr lang="vi-VN" sz="2200" b="0">
                            <a:solidFill>
                              <a:srgbClr val="1E293B"/>
                            </a:solidFill>
                            <a:latin typeface="Cambria Math" panose="02040503050406030204" pitchFamily="18" charset="0"/>
                          </a:rPr>
                          <m:t>360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có cùng điểm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\alpha</a:t>
                </a:r>
                <a:r>
                  <a:rPr sz="2200">
                    <a:solidFill>
                      <a:srgbClr val="1E293B"/>
                    </a:solidFill>
                    <a:latin typeface="Calibri"/>
                  </a:rPr>
                  <a:t> (từ </a:t>
                </a:r>
                <a:r>
                  <a:rPr lang="vi-VN"/>
                  <a:t>-720^\circ</a:t>
                </a:r>
                <a:r>
                  <a:rPr sz="2200">
                    <a:solidFill>
                      <a:srgbClr val="1E293B"/>
                    </a:solidFill>
                    <a:latin typeface="Calibri"/>
                  </a:rPr>
                  <a:t> đến </a:t>
                </a:r>
                <a:r>
                  <a:rPr lang="vi-VN"/>
                  <a:t>720^\circ</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Điểm </a:t>
                </a:r>
                <a:r>
                  <a:rPr lang="vi-VN"/>
                  <a:t>M</a:t>
                </a:r>
                <a:r>
                  <a:rPr sz="2200">
                    <a:solidFill>
                      <a:srgbClr val="1E293B"/>
                    </a:solidFill>
                    <a:latin typeface="Calibri"/>
                  </a:rPr>
                  <a:t> biểu diễn góc </a:t>
                </a:r>
                <a:r>
                  <a:rPr lang="vi-VN"/>
                  <a:t>\alpha</a:t>
                </a:r>
                <a:r>
                  <a:rPr sz="2200">
                    <a:solidFill>
                      <a:srgbClr val="1E293B"/>
                    </a:solidFill>
                    <a:latin typeface="Calibri"/>
                  </a:rPr>
                  <a:t>; hoành độ </a:t>
                </a:r>
                <a:r>
                  <a:rPr lang="vi-VN"/>
                  <a:t>=\cos\alpha</a:t>
                </a:r>
                <a:r>
                  <a:rPr sz="2200">
                    <a:solidFill>
                      <a:srgbClr val="1E293B"/>
                    </a:solidFill>
                    <a:latin typeface="Calibri"/>
                  </a:rPr>
                  <a:t>, tung độ </a:t>
                </a:r>
                <a:r>
                  <a:rPr lang="vi-VN"/>
                  <a:t>=\sin\alpha</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Quan sát dấu của </a:t>
                </a:r>
                <a:r>
                  <a:rPr lang="vi-VN"/>
                  <a:t>\cos\alpha,\ \sin\alpha</a:t>
                </a:r>
                <a:r>
                  <a:rPr sz="2200">
                    <a:solidFill>
                      <a:srgbClr val="1E293B"/>
                    </a:solidFill>
                    <a:latin typeface="Calibri"/>
                  </a:rPr>
                  <a:t> theo góc phần tư; </a:t>
                </a:r>
                <a:r>
                  <a:rPr lang="vi-VN"/>
                  <a:t>\alpha</a:t>
                </a:r>
                <a:r>
                  <a:rPr sz="2200">
                    <a:solidFill>
                      <a:srgbClr val="1E293B"/>
                    </a:solidFill>
                    <a:latin typeface="Calibri"/>
                  </a:rPr>
                  <a:t> và </a:t>
                </a:r>
                <a:r>
                  <a:rPr lang="vi-VN"/>
                  <a:t>\alpha+360^\circ</a:t>
                </a:r>
                <a:r>
                  <a:rPr sz="2200">
                    <a:solidFill>
                      <a:srgbClr val="1E293B"/>
                    </a:solidFill>
                    <a:latin typeface="Calibri"/>
                  </a:rPr>
                  <a:t> có cùng điểm </a:t>
                </a:r>
                <a:r>
                  <a:rPr lang="vi-VN"/>
                  <a:t>M</a:t>
                </a:r>
                <a:r>
                  <a:rPr sz="2200">
                    <a:solidFill>
                      <a:srgbClr val="1E293B"/>
                    </a:solidFill>
                    <a:latin typeface="Calibri"/>
                  </a:rPr>
                  <a:t>.</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1.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b1_h19b.png"/>
          <p:cNvPicPr>
            <a:picLocks noChangeAspect="1"/>
          </p:cNvPicPr>
          <p:nvPr/>
        </p:nvPicPr>
        <p:blipFill>
          <a:blip r:embed="rId5"/>
          <a:stretch>
            <a:fillRect/>
          </a:stretch>
        </p:blipFill>
        <p:spPr>
          <a:xfrm>
            <a:off x="7204234" y="1463040"/>
            <a:ext cx="4153852" cy="448056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SỬ DỤNG MÁY TÍNH CẦM TAY (SGK TR.13)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25</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114604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7.</a:t>
                </a:r>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sin</m:t>
                    </m:r>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9π</m:t>
                            </m:r>
                          </m:num>
                          <m:den>
                            <m:r>
                              <a:rPr lang="vi-VN" sz="2200" b="0">
                                <a:solidFill>
                                  <a:srgbClr val="1E293B"/>
                                </a:solidFill>
                                <a:latin typeface="Cambria Math" panose="02040503050406030204" pitchFamily="18" charset="0"/>
                              </a:rPr>
                              <m:t>4</m:t>
                            </m:r>
                          </m:den>
                        </m:f>
                      </m:e>
                    </m:d>
                    <m:r>
                      <a:rPr lang="vi-VN" sz="2200" b="0">
                        <a:solidFill>
                          <a:srgbClr val="1E293B"/>
                        </a:solidFill>
                        <a:latin typeface="Cambria Math" panose="02040503050406030204" pitchFamily="18" charset="0"/>
                      </a:rPr>
                      <m:t>=−</m:t>
                    </m:r>
                    <m:f>
                      <m:fPr>
                        <m:type m:val="bar"/>
                      </m:fPr>
                      <m:num>
                        <m:rad>
                          <m:radPr>
                            <m:degHide m:val="on"/>
                          </m:radPr>
                          <m:deg/>
                          <m:e>
                            <m:r>
                              <a:rPr lang="vi-VN" sz="2200" b="0">
                                <a:solidFill>
                                  <a:srgbClr val="1E293B"/>
                                </a:solidFill>
                                <a:latin typeface="Cambria Math" panose="02040503050406030204" pitchFamily="18" charset="0"/>
                              </a:rPr>
                              <m:t>2</m:t>
                            </m:r>
                          </m:e>
                        </m:rad>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7071</m:t>
                    </m:r>
                  </m:oMath>
                </a14:m>
                <a:r>
                  <a:rPr sz="2200">
                    <a:solidFill>
                      <a:srgbClr val="1E293B"/>
                    </a:solidFill>
                    <a:latin typeface="Calibri"/>
                  </a:rPr>
                  <a:t> (chế độ rađian); </a:t>
                </a:r>
                <a14:m>
                  <m:oMath xmlns:m="http://schemas.openxmlformats.org/officeDocument/2006/math">
                    <m:r>
                      <m:rPr>
                        <m:sty m:val="p"/>
                      </m:rPr>
                      <a:rPr lang="vi-VN" sz="2200" b="0">
                        <a:solidFill>
                          <a:srgbClr val="1E293B"/>
                        </a:solidFill>
                        <a:latin typeface="Cambria Math" panose="02040503050406030204" pitchFamily="18" charset="0"/>
                      </a:rPr>
                      <m:t>tan</m:t>
                    </m:r>
                    <m:r>
                      <m:rPr>
                        <m:sty m:val="p"/>
                      </m:rPr>
                      <a:rPr lang="vi-VN" sz="2200" b="0">
                        <a:solidFill>
                          <a:srgbClr val="1E293B"/>
                        </a:solidFill>
                        <a:latin typeface="Cambria Math" panose="02040503050406030204" pitchFamily="18" charset="0"/>
                      </a:rPr>
                      <m:t> </m:t>
                    </m:r>
                    <m:sSup>
                      <m:e>
                        <m:r>
                          <a:rPr lang="vi-VN" sz="2200" b="0">
                            <a:solidFill>
                              <a:srgbClr val="1E293B"/>
                            </a:solidFill>
                            <a:latin typeface="Cambria Math" panose="02040503050406030204" pitchFamily="18" charset="0"/>
                          </a:rPr>
                          <m:t>63</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52</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41</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≈2</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0393</m:t>
                    </m:r>
                  </m:oMath>
                </a14:m>
                <a:r>
                  <a:rPr sz="2200">
                    <a:solidFill>
                      <a:srgbClr val="1E293B"/>
                    </a:solidFill>
                    <a:latin typeface="Calibri"/>
                  </a:rPr>
                  <a:t> (chế độ độ).</a:t>
                </a:r>
              </a:p>
            </p:txBody>
          </p:sp>
        </mc:Choice>
        <mc:Fallback>
          <p:sp>
            <p:nvSpPr>
              <p:cNvPr id="7" name="TextBox 6"/>
              <p:cNvSpPr txBox="1"/>
              <p:nvPr/>
            </p:nvSpPr>
            <p:spPr>
              <a:xfrm>
                <a:off x="548640" y="1463040"/>
                <a:ext cx="11064240" cy="114604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7.</a:t>
                </a:r>
                <a:r>
                  <a:rPr sz="2200">
                    <a:solidFill>
                      <a:srgbClr val="1E293B"/>
                    </a:solidFill>
                    <a:latin typeface="Calibri"/>
                  </a:rPr>
                  <a:t> </a:t>
                </a:r>
                <a:r>
                  <a:rPr lang="vi-VN"/>
                  <a:t>\sin\left(-\frac{9\pi}{4}\right)=-\frac{\sqrt{2}}{2}\approx-0{,}7071</a:t>
                </a:r>
                <a:r>
                  <a:rPr sz="2200">
                    <a:solidFill>
                      <a:srgbClr val="1E293B"/>
                    </a:solidFill>
                    <a:latin typeface="Calibri"/>
                  </a:rPr>
                  <a:t> (chế độ rađian); </a:t>
                </a:r>
                <a:r>
                  <a:rPr lang="vi-VN"/>
                  <a:t>\tan 63^\circ 52'41''\approx 2{,}0393</a:t>
                </a:r>
                <a:r>
                  <a:rPr sz="2200">
                    <a:solidFill>
                      <a:srgbClr val="1E293B"/>
                    </a:solidFill>
                    <a:latin typeface="Calibri"/>
                  </a:rPr>
                  <a:t> (chế độ độ).</a:t>
                </a:r>
              </a:p>
            </p:txBody>
          </p:sp>
        </mc:Fallback>
      </mc:AlternateContent>
      <mc:AlternateContent xmlns:mc="http://schemas.openxmlformats.org/markup-compatibility/2006">
        <mc:Choice xmlns:a14="http://schemas.microsoft.com/office/drawing/2010/main" Requires="a14">
          <p:sp>
            <p:nvSpPr>
              <p:cNvPr id="8" name="s1_chu"/>
              <p:cNvSpPr txBox="1"/>
              <p:nvPr/>
            </p:nvSpPr>
            <p:spPr>
              <a:xfrm>
                <a:off x="548640" y="2773680"/>
                <a:ext cx="11064240" cy="81076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8.</a:t>
                </a:r>
                <a:r>
                  <a:rPr sz="2200">
                    <a:solidFill>
                      <a:srgbClr val="1E293B"/>
                    </a:solidFill>
                    <a:latin typeface="Calibri"/>
                  </a:rPr>
                  <a:t> </a:t>
                </a:r>
                <a14:m>
                  <m:oMath xmlns:m="http://schemas.openxmlformats.org/officeDocument/2006/math">
                    <m:sSup>
                      <m:e>
                        <m:r>
                          <a:rPr lang="vi-VN" sz="2200" b="0">
                            <a:solidFill>
                              <a:srgbClr val="1E293B"/>
                            </a:solidFill>
                            <a:latin typeface="Cambria Math" panose="02040503050406030204" pitchFamily="18" charset="0"/>
                          </a:rPr>
                          <m:t>33</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45</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16</m:t>
                        </m:r>
                      </m:den>
                    </m:f>
                    <m:r>
                      <a:rPr lang="vi-VN" sz="2200" b="0">
                        <a:solidFill>
                          <a:srgbClr val="1E293B"/>
                        </a:solidFill>
                        <a:latin typeface="Cambria Math" panose="02040503050406030204" pitchFamily="18" charset="0"/>
                      </a:rPr>
                      <m:t>π</m:t>
                    </m:r>
                  </m:oMath>
                </a14:m>
                <a:r>
                  <a:rPr sz="2200">
                    <a:solidFill>
                      <a:srgbClr val="1E293B"/>
                    </a:solidFill>
                    <a:latin typeface="Calibri"/>
                  </a:rPr>
                  <a:t> (rad); </a:t>
                </a:r>
                <a14:m>
                  <m:oMath xmlns:m="http://schemas.openxmlformats.org/officeDocument/2006/math">
                    <m:f>
                      <m:fPr>
                        <m:type m:val="bar"/>
                      </m:fPr>
                      <m:num>
                        <m:r>
                          <a:rPr lang="vi-VN" sz="2200" b="0">
                            <a:solidFill>
                              <a:srgbClr val="1E293B"/>
                            </a:solidFill>
                            <a:latin typeface="Cambria Math" panose="02040503050406030204" pitchFamily="18" charset="0"/>
                          </a:rPr>
                          <m:t>3</m:t>
                        </m:r>
                      </m:num>
                      <m:den>
                        <m:r>
                          <a:rPr lang="vi-VN" sz="2200" b="0">
                            <a:solidFill>
                              <a:srgbClr val="1E293B"/>
                            </a:solidFill>
                            <a:latin typeface="Cambria Math" panose="02040503050406030204" pitchFamily="18" charset="0"/>
                          </a:rPr>
                          <m:t>4</m:t>
                        </m:r>
                      </m:den>
                    </m:f>
                  </m:oMath>
                </a14:m>
                <a:r>
                  <a:rPr sz="2200">
                    <a:solidFill>
                      <a:srgbClr val="1E293B"/>
                    </a:solidFill>
                    <a:latin typeface="Calibri"/>
                  </a:rPr>
                  <a:t> (rad)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42</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58</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19</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8" name="TextBox 7"/>
              <p:cNvSpPr txBox="1"/>
              <p:nvPr/>
            </p:nvSpPr>
            <p:spPr>
              <a:xfrm>
                <a:off x="548640" y="2773680"/>
                <a:ext cx="11064240" cy="81076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8.</a:t>
                </a:r>
                <a:r>
                  <a:rPr sz="2200">
                    <a:solidFill>
                      <a:srgbClr val="1E293B"/>
                    </a:solidFill>
                    <a:latin typeface="Calibri"/>
                  </a:rPr>
                  <a:t> </a:t>
                </a:r>
                <a:r>
                  <a:rPr lang="vi-VN"/>
                  <a:t>33^\circ 45'=\frac{3}{16}\pi</a:t>
                </a:r>
                <a:r>
                  <a:rPr sz="2200">
                    <a:solidFill>
                      <a:srgbClr val="1E293B"/>
                    </a:solidFill>
                    <a:latin typeface="Calibri"/>
                  </a:rPr>
                  <a:t> (rad); </a:t>
                </a:r>
                <a:r>
                  <a:rPr lang="vi-VN"/>
                  <a:t>\frac{3}{4}</a:t>
                </a:r>
                <a:r>
                  <a:rPr sz="2200">
                    <a:solidFill>
                      <a:srgbClr val="1E293B"/>
                    </a:solidFill>
                    <a:latin typeface="Calibri"/>
                  </a:rPr>
                  <a:t> (rad) </a:t>
                </a:r>
                <a:r>
                  <a:rPr lang="vi-VN"/>
                  <a:t>\approx 42^\circ 58'19''</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s2_chu"/>
              <p:cNvSpPr txBox="1"/>
              <p:nvPr/>
            </p:nvSpPr>
            <p:spPr>
              <a:xfrm>
                <a:off x="548640" y="3749039"/>
                <a:ext cx="11064240" cy="114604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6.</a:t>
                </a:r>
                <a:r>
                  <a:rPr sz="2200">
                    <a:solidFill>
                      <a:srgbClr val="1E293B"/>
                    </a:solidFill>
                    <a:latin typeface="Calibri"/>
                  </a:rPr>
                  <a:t> a) Tính </a:t>
                </a:r>
                <a14:m>
                  <m:oMath xmlns:m="http://schemas.openxmlformats.org/officeDocument/2006/math">
                    <m:r>
                      <m:rPr>
                        <m:sty m:val="p"/>
                      </m:rPr>
                      <a:rPr lang="vi-VN" sz="2200" b="0">
                        <a:solidFill>
                          <a:srgbClr val="1E293B"/>
                        </a:solidFill>
                        <a:latin typeface="Cambria Math" panose="02040503050406030204" pitchFamily="18" charset="0"/>
                      </a:rPr>
                      <m:t>cos</m:t>
                    </m:r>
                    <m:f>
                      <m:fPr>
                        <m:type m:val="bar"/>
                      </m:fPr>
                      <m:num>
                        <m:r>
                          <a:rPr lang="vi-VN" sz="2200" b="0">
                            <a:solidFill>
                              <a:srgbClr val="1E293B"/>
                            </a:solidFill>
                            <a:latin typeface="Cambria Math" panose="02040503050406030204" pitchFamily="18" charset="0"/>
                          </a:rPr>
                          <m:t>3π</m:t>
                        </m:r>
                      </m:num>
                      <m:den>
                        <m:r>
                          <a:rPr lang="vi-VN" sz="2200" b="0">
                            <a:solidFill>
                              <a:srgbClr val="1E293B"/>
                            </a:solidFill>
                            <a:latin typeface="Cambria Math" panose="02040503050406030204" pitchFamily="18" charset="0"/>
                          </a:rPr>
                          <m:t>7</m:t>
                        </m:r>
                      </m:den>
                    </m:f>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tan</m:t>
                    </m:r>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37</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25</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m:t>
                    </m:r>
                  </m:oMath>
                </a14:m>
                <a:r>
                  <a:rPr sz="2200">
                    <a:solidFill>
                      <a:srgbClr val="1E293B"/>
                    </a:solidFill>
                    <a:latin typeface="Calibri"/>
                  </a:rPr>
                  <a:t>. b) Đổi </a:t>
                </a:r>
                <a14:m>
                  <m:oMath xmlns:m="http://schemas.openxmlformats.org/officeDocument/2006/math">
                    <m:sSup>
                      <m:e>
                        <m:r>
                          <a:rPr lang="vi-VN" sz="2200" b="0">
                            <a:solidFill>
                              <a:srgbClr val="1E293B"/>
                            </a:solidFill>
                            <a:latin typeface="Cambria Math" panose="02040503050406030204" pitchFamily="18" charset="0"/>
                          </a:rPr>
                          <m:t>179</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23</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30</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 sang rađian. c) Đổi </a:t>
                </a:r>
                <a14:m>
                  <m:oMath xmlns:m="http://schemas.openxmlformats.org/officeDocument/2006/math">
                    <m:f>
                      <m:fPr>
                        <m:type m:val="bar"/>
                      </m:fPr>
                      <m:num>
                        <m:r>
                          <a:rPr lang="vi-VN" sz="2200" b="0">
                            <a:solidFill>
                              <a:srgbClr val="1E293B"/>
                            </a:solidFill>
                            <a:latin typeface="Cambria Math" panose="02040503050406030204" pitchFamily="18" charset="0"/>
                          </a:rPr>
                          <m:t>7</m:t>
                        </m:r>
                      </m:num>
                      <m:den>
                        <m:r>
                          <a:rPr lang="vi-VN" sz="2200" b="0">
                            <a:solidFill>
                              <a:srgbClr val="1E293B"/>
                            </a:solidFill>
                            <a:latin typeface="Cambria Math" panose="02040503050406030204" pitchFamily="18" charset="0"/>
                          </a:rPr>
                          <m:t>9</m:t>
                        </m:r>
                      </m:den>
                    </m:f>
                  </m:oMath>
                </a14:m>
                <a:r>
                  <a:rPr sz="2200">
                    <a:solidFill>
                      <a:srgbClr val="1E293B"/>
                    </a:solidFill>
                    <a:latin typeface="Calibri"/>
                  </a:rPr>
                  <a:t> (rad) sang độ.</a:t>
                </a:r>
              </a:p>
            </p:txBody>
          </p:sp>
        </mc:Choice>
        <mc:Fallback>
          <p:sp>
            <p:nvSpPr>
              <p:cNvPr id="9" name="TextBox 8"/>
              <p:cNvSpPr txBox="1"/>
              <p:nvPr/>
            </p:nvSpPr>
            <p:spPr>
              <a:xfrm>
                <a:off x="548640" y="3749039"/>
                <a:ext cx="11064240" cy="1146048"/>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6.</a:t>
                </a:r>
                <a:r>
                  <a:rPr sz="2200">
                    <a:solidFill>
                      <a:srgbClr val="1E293B"/>
                    </a:solidFill>
                    <a:latin typeface="Calibri"/>
                  </a:rPr>
                  <a:t> a) Tính </a:t>
                </a:r>
                <a:r>
                  <a:rPr lang="vi-VN"/>
                  <a:t>\cos\frac{3\pi}{7}</a:t>
                </a:r>
                <a:r>
                  <a:rPr sz="2200">
                    <a:solidFill>
                      <a:srgbClr val="1E293B"/>
                    </a:solidFill>
                    <a:latin typeface="Calibri"/>
                  </a:rPr>
                  <a:t>; </a:t>
                </a:r>
                <a:r>
                  <a:rPr lang="vi-VN"/>
                  <a:t>\tan(-37^\circ 25')</a:t>
                </a:r>
                <a:r>
                  <a:rPr sz="2200">
                    <a:solidFill>
                      <a:srgbClr val="1E293B"/>
                    </a:solidFill>
                    <a:latin typeface="Calibri"/>
                  </a:rPr>
                  <a:t>. b) Đổi </a:t>
                </a:r>
                <a:r>
                  <a:rPr lang="vi-VN"/>
                  <a:t>179^\circ 23'30''</a:t>
                </a:r>
                <a:r>
                  <a:rPr sz="2200">
                    <a:solidFill>
                      <a:srgbClr val="1E293B"/>
                    </a:solidFill>
                    <a:latin typeface="Calibri"/>
                  </a:rPr>
                  <a:t> sang rađian. c) Đổi </a:t>
                </a:r>
                <a:r>
                  <a:rPr lang="vi-VN"/>
                  <a:t>\frac{7}{9}</a:t>
                </a:r>
                <a:r>
                  <a:rPr sz="2200">
                    <a:solidFill>
                      <a:srgbClr val="1E293B"/>
                    </a:solidFill>
                    <a:latin typeface="Calibri"/>
                  </a:rPr>
                  <a:t> (rad) sang độ.</a:t>
                </a:r>
              </a:p>
            </p:txBody>
          </p:sp>
        </mc:Fallback>
      </mc:AlternateContent>
      <p:sp>
        <p:nvSpPr>
          <p:cNvPr id="10" name="s3_nen"/>
          <p:cNvSpPr/>
          <p:nvPr/>
        </p:nvSpPr>
        <p:spPr>
          <a:xfrm>
            <a:off x="548640" y="5059680"/>
            <a:ext cx="11064240" cy="108661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3_chu"/>
              <p:cNvSpPr txBox="1"/>
              <p:nvPr/>
            </p:nvSpPr>
            <p:spPr>
              <a:xfrm>
                <a:off x="713232" y="5096256"/>
                <a:ext cx="10735056" cy="1013460"/>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14:m>
                  <m:oMath xmlns:m="http://schemas.openxmlformats.org/officeDocument/2006/math">
                    <m:r>
                      <m:rPr>
                        <m:sty m:val="p"/>
                      </m:rPr>
                      <a:rPr lang="vi-VN" sz="2200" b="0">
                        <a:solidFill>
                          <a:srgbClr val="1E293B"/>
                        </a:solidFill>
                        <a:latin typeface="Cambria Math" panose="02040503050406030204" pitchFamily="18" charset="0"/>
                      </a:rPr>
                      <m:t>cos</m:t>
                    </m:r>
                    <m:f>
                      <m:fPr>
                        <m:type m:val="bar"/>
                      </m:fPr>
                      <m:num>
                        <m:r>
                          <a:rPr lang="vi-VN" sz="2200" b="0">
                            <a:solidFill>
                              <a:srgbClr val="1E293B"/>
                            </a:solidFill>
                            <a:latin typeface="Cambria Math" panose="02040503050406030204" pitchFamily="18" charset="0"/>
                          </a:rPr>
                          <m:t>3π</m:t>
                        </m:r>
                      </m:num>
                      <m:den>
                        <m:r>
                          <a:rPr lang="vi-VN" sz="2200" b="0">
                            <a:solidFill>
                              <a:srgbClr val="1E293B"/>
                            </a:solidFill>
                            <a:latin typeface="Cambria Math" panose="02040503050406030204" pitchFamily="18" charset="0"/>
                          </a:rPr>
                          <m:t>7</m:t>
                        </m:r>
                      </m:den>
                    </m:f>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2225</m:t>
                    </m:r>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tan</m:t>
                    </m:r>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37</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25</m:t>
                        </m:r>
                      </m:e>
                      <m:sup>
                        <m:r>
                          <a:rPr lang="vi-VN" sz="2200" b="0">
                            <a:solidFill>
                              <a:srgbClr val="1E293B"/>
                            </a:solidFill>
                            <a:latin typeface="Cambria Math" panose="02040503050406030204" pitchFamily="18" charset="0"/>
                          </a:rPr>
                          <m:t>′</m:t>
                        </m:r>
                      </m:sup>
                    </m:sSup>
                    <m:r>
                      <a:rPr lang="vi-VN" sz="2200" b="0">
                        <a:solidFill>
                          <a:srgbClr val="1E293B"/>
                        </a:solidFill>
                        <a:latin typeface="Cambria Math" panose="02040503050406030204" pitchFamily="18" charset="0"/>
                      </a:rPr>
                      <m:t>)≈−0</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7650</m:t>
                    </m:r>
                  </m:oMath>
                </a14:m>
                <a:r>
                  <a:rPr sz="2200">
                    <a:solidFill>
                      <a:srgbClr val="1E293B"/>
                    </a:solidFill>
                    <a:latin typeface="Calibri"/>
                  </a:rPr>
                  <a:t>. b) </a:t>
                </a:r>
                <a14:m>
                  <m:oMath xmlns:m="http://schemas.openxmlformats.org/officeDocument/2006/math">
                    <m:r>
                      <a:rPr lang="vi-VN" sz="2200" b="0">
                        <a:solidFill>
                          <a:srgbClr val="1E293B"/>
                        </a:solidFill>
                        <a:latin typeface="Cambria Math" panose="02040503050406030204" pitchFamily="18" charset="0"/>
                      </a:rPr>
                      <m:t>≈3</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1310</m:t>
                    </m:r>
                  </m:oMath>
                </a14:m>
                <a:r>
                  <a:rPr sz="2200">
                    <a:solidFill>
                      <a:srgbClr val="1E293B"/>
                    </a:solidFill>
                    <a:latin typeface="Calibri"/>
                  </a:rPr>
                  <a:t> (rad). c) </a:t>
                </a:r>
                <a14:m>
                  <m:oMath xmlns:m="http://schemas.openxmlformats.org/officeDocument/2006/math">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44</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33</m:t>
                        </m:r>
                      </m:e>
                      <m:sup>
                        <m:r>
                          <a:rPr lang="vi-VN" sz="2200" b="0">
                            <a:solidFill>
                              <a:srgbClr val="1E293B"/>
                            </a:solidFill>
                            <a:latin typeface="Cambria Math" panose="02040503050406030204" pitchFamily="18" charset="0"/>
                          </a:rPr>
                          <m:t>′</m:t>
                        </m:r>
                      </m:sup>
                    </m:sSup>
                    <m:sSup>
                      <m:e>
                        <m:r>
                          <a:rPr lang="vi-VN" sz="2200" b="0">
                            <a:solidFill>
                              <a:srgbClr val="1E293B"/>
                            </a:solidFill>
                            <a:latin typeface="Cambria Math" panose="02040503050406030204" pitchFamily="18" charset="0"/>
                          </a:rPr>
                          <m:t>48</m:t>
                        </m:r>
                      </m:e>
                      <m:sup>
                        <m:r>
                          <a:rPr lang="vi-VN" sz="2200" b="0">
                            <a:solidFill>
                              <a:srgbClr val="1E293B"/>
                            </a:solidFill>
                            <a:latin typeface="Cambria Math" panose="02040503050406030204" pitchFamily="18" charset="0"/>
                          </a:rPr>
                          <m:t>″</m:t>
                        </m:r>
                      </m:sup>
                    </m:sSup>
                  </m:oMath>
                </a14:m>
                <a:r>
                  <a:rPr sz="2200">
                    <a:solidFill>
                      <a:srgbClr val="1E293B"/>
                    </a:solidFill>
                    <a:latin typeface="Calibri"/>
                  </a:rPr>
                  <a:t>.</a:t>
                </a:r>
              </a:p>
            </p:txBody>
          </p:sp>
        </mc:Choice>
        <mc:Fallback>
          <p:sp>
            <p:nvSpPr>
              <p:cNvPr id="11" name="TextBox 10"/>
              <p:cNvSpPr txBox="1"/>
              <p:nvPr/>
            </p:nvSpPr>
            <p:spPr>
              <a:xfrm>
                <a:off x="713232" y="5096256"/>
                <a:ext cx="10735056" cy="1013460"/>
              </a:xfrm>
              <a:prstGeom prst="rect">
                <a:avLst/>
              </a:prstGeom>
              <a:noFill/>
            </p:spPr>
            <p:txBody>
              <a:bodyPr wrap="square" anchor="ctr" lIns="45720" rIns="45720">
                <a:spAutoFit/>
              </a:bodyPr>
              <a:lstStyle/>
              <a:p>
                <a:pPr algn="l">
                  <a:spcAft>
                    <a:spcPts val="800"/>
                  </a:spcAft>
                </a:pPr>
                <a:r>
                  <a:rPr sz="2200">
                    <a:solidFill>
                      <a:srgbClr val="1E293B"/>
                    </a:solidFill>
                    <a:latin typeface="Calibri"/>
                  </a:rPr>
                  <a:t>a) </a:t>
                </a:r>
                <a:r>
                  <a:rPr lang="vi-VN"/>
                  <a:t>\cos\frac{3\pi}{7}\approx 0{,}2225</a:t>
                </a:r>
                <a:r>
                  <a:rPr sz="2200">
                    <a:solidFill>
                      <a:srgbClr val="1E293B"/>
                    </a:solidFill>
                    <a:latin typeface="Calibri"/>
                  </a:rPr>
                  <a:t>; </a:t>
                </a:r>
                <a:r>
                  <a:rPr lang="vi-VN"/>
                  <a:t>\tan(-37^\circ 25')\approx-0{,}7650</a:t>
                </a:r>
                <a:r>
                  <a:rPr sz="2200">
                    <a:solidFill>
                      <a:srgbClr val="1E293B"/>
                    </a:solidFill>
                    <a:latin typeface="Calibri"/>
                  </a:rPr>
                  <a:t>. b) </a:t>
                </a:r>
                <a:r>
                  <a:rPr lang="vi-VN"/>
                  <a:t>\approx 3{,}1310</a:t>
                </a:r>
                <a:r>
                  <a:rPr sz="2200">
                    <a:solidFill>
                      <a:srgbClr val="1E293B"/>
                    </a:solidFill>
                    <a:latin typeface="Calibri"/>
                  </a:rPr>
                  <a:t> (rad). c) </a:t>
                </a:r>
                <a:r>
                  <a:rPr lang="vi-VN"/>
                  <a:t>\approx 44^\circ 33'48''</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26</a:t>
            </a:r>
          </a:p>
        </p:txBody>
      </p:sp>
      <p:sp>
        <p:nvSpPr>
          <p:cNvPr id="7" name="Rounded Rectangle 6"/>
          <p:cNvSpPr/>
          <p:nvPr/>
        </p:nvSpPr>
        <p:spPr>
          <a:xfrm>
            <a:off x="548640" y="1463040"/>
            <a:ext cx="11064240" cy="1338072"/>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264920"/>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r>
                      <a:rPr lang="vi-VN" sz="2200" b="0">
                        <a:solidFill>
                          <a:srgbClr val="1E293B"/>
                        </a:solidFill>
                        <a:latin typeface="Cambria Math" panose="02040503050406030204" pitchFamily="18" charset="0"/>
                      </a:rPr>
                      <m:t>M(x;</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y)</m:t>
                    </m:r>
                  </m:oMath>
                </a14:m>
                <a:r>
                  <a:rPr sz="2200">
                    <a:solidFill>
                      <a:srgbClr val="1E293B"/>
                    </a:solidFill>
                    <a:latin typeface="Calibri"/>
                  </a:rPr>
                  <a:t> biểu diễn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cos</m:t>
                    </m:r>
                    <m:r>
                      <a:rPr lang="vi-VN" sz="2200" b="0">
                        <a:solidFill>
                          <a:srgbClr val="1E293B"/>
                        </a:solidFill>
                        <a:latin typeface="Cambria Math" panose="02040503050406030204" pitchFamily="18" charset="0"/>
                      </a:rPr>
                      <m:t>α=x</m:t>
                    </m:r>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sin</m:t>
                    </m:r>
                    <m:r>
                      <a:rPr lang="vi-VN" sz="2200" b="0">
                        <a:solidFill>
                          <a:srgbClr val="1E293B"/>
                        </a:solidFill>
                        <a:latin typeface="Cambria Math" panose="02040503050406030204" pitchFamily="18" charset="0"/>
                      </a:rPr>
                      <m:t>α=y</m:t>
                    </m:r>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tan</m:t>
                    </m:r>
                    <m:r>
                      <a:rPr lang="vi-VN" sz="2200" b="0">
                        <a:solidFill>
                          <a:srgbClr val="1E293B"/>
                        </a:solidFill>
                        <a:latin typeface="Cambria Math" panose="02040503050406030204" pitchFamily="18" charset="0"/>
                      </a:rPr>
                      <m:t>α=</m:t>
                    </m:r>
                    <m:f>
                      <m:fPr>
                        <m:type m:val="bar"/>
                      </m:fPr>
                      <m:num>
                        <m:r>
                          <a:rPr lang="vi-VN" sz="2200" b="0">
                            <a:solidFill>
                              <a:srgbClr val="1E293B"/>
                            </a:solidFill>
                            <a:latin typeface="Cambria Math" panose="02040503050406030204" pitchFamily="18" charset="0"/>
                          </a:rPr>
                          <m:t>y</m:t>
                        </m:r>
                      </m:num>
                      <m:den>
                        <m:r>
                          <a:rPr lang="vi-VN" sz="2200" b="0">
                            <a:solidFill>
                              <a:srgbClr val="1E293B"/>
                            </a:solidFill>
                            <a:latin typeface="Cambria Math" panose="02040503050406030204" pitchFamily="18" charset="0"/>
                          </a:rPr>
                          <m:t>x</m:t>
                        </m:r>
                      </m:den>
                    </m:f>
                  </m:oMath>
                </a14:m>
                <a:r>
                  <a:rPr sz="2200">
                    <a:solidFill>
                      <a:srgbClr val="1E293B"/>
                    </a:solidFill>
                    <a:latin typeface="Calibri"/>
                  </a:rPr>
                  <a:t>, </a:t>
                </a:r>
                <a14:m>
                  <m:oMath xmlns:m="http://schemas.openxmlformats.org/officeDocument/2006/math">
                    <m:r>
                      <m:rPr>
                        <m:sty m:val="p"/>
                      </m:rPr>
                      <a:rPr lang="vi-VN" sz="2200" b="0">
                        <a:solidFill>
                          <a:srgbClr val="1E293B"/>
                        </a:solidFill>
                        <a:latin typeface="Cambria Math" panose="02040503050406030204" pitchFamily="18" charset="0"/>
                      </a:rPr>
                      <m:t>cot</m:t>
                    </m:r>
                    <m:r>
                      <a:rPr lang="vi-VN" sz="2200" b="0">
                        <a:solidFill>
                          <a:srgbClr val="1E293B"/>
                        </a:solidFill>
                        <a:latin typeface="Cambria Math" panose="02040503050406030204" pitchFamily="18" charset="0"/>
                      </a:rPr>
                      <m:t>α=</m:t>
                    </m:r>
                    <m:f>
                      <m:fPr>
                        <m:type m:val="bar"/>
                      </m:fPr>
                      <m:num>
                        <m:r>
                          <a:rPr lang="vi-VN" sz="2200" b="0">
                            <a:solidFill>
                              <a:srgbClr val="1E293B"/>
                            </a:solidFill>
                            <a:latin typeface="Cambria Math" panose="02040503050406030204" pitchFamily="18" charset="0"/>
                          </a:rPr>
                          <m:t>x</m:t>
                        </m:r>
                      </m:num>
                      <m:den>
                        <m:r>
                          <a:rPr lang="vi-VN" sz="2200" b="0">
                            <a:solidFill>
                              <a:srgbClr val="1E293B"/>
                            </a:solidFill>
                            <a:latin typeface="Cambria Math" panose="02040503050406030204" pitchFamily="18" charset="0"/>
                          </a:rPr>
                          <m:t>y</m:t>
                        </m:r>
                      </m:den>
                    </m:f>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Dấu theo góc phần tư; bảng góc đặc biệt; chọn đúng đơn vị khi bấm máy.</a:t>
                </a:r>
              </a:p>
            </p:txBody>
          </p:sp>
        </mc:Choice>
        <mc:Fallback>
          <p:sp>
            <p:nvSpPr>
              <p:cNvPr id="8" name="TextBox 7"/>
              <p:cNvSpPr txBox="1"/>
              <p:nvPr/>
            </p:nvSpPr>
            <p:spPr>
              <a:xfrm>
                <a:off x="713232" y="1499616"/>
                <a:ext cx="10735056" cy="1264920"/>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M(x;\ y)</a:t>
                </a:r>
                <a:r>
                  <a:rPr sz="2200">
                    <a:solidFill>
                      <a:srgbClr val="1E293B"/>
                    </a:solidFill>
                    <a:latin typeface="Calibri"/>
                  </a:rPr>
                  <a:t> biểu diễn </a:t>
                </a:r>
                <a:r>
                  <a:rPr lang="vi-VN"/>
                  <a:t>\alpha</a:t>
                </a:r>
                <a:r>
                  <a:rPr sz="2200">
                    <a:solidFill>
                      <a:srgbClr val="1E293B"/>
                    </a:solidFill>
                    <a:latin typeface="Calibri"/>
                  </a:rPr>
                  <a:t>: </a:t>
                </a:r>
                <a:r>
                  <a:rPr lang="vi-VN"/>
                  <a:t>\cos\alpha=x</a:t>
                </a:r>
                <a:r>
                  <a:rPr sz="2200">
                    <a:solidFill>
                      <a:srgbClr val="1E293B"/>
                    </a:solidFill>
                    <a:latin typeface="Calibri"/>
                  </a:rPr>
                  <a:t>, </a:t>
                </a:r>
                <a:r>
                  <a:rPr lang="vi-VN"/>
                  <a:t>\sin\alpha=y</a:t>
                </a:r>
                <a:r>
                  <a:rPr sz="2200">
                    <a:solidFill>
                      <a:srgbClr val="1E293B"/>
                    </a:solidFill>
                    <a:latin typeface="Calibri"/>
                  </a:rPr>
                  <a:t>, </a:t>
                </a:r>
                <a:r>
                  <a:rPr lang="vi-VN"/>
                  <a:t>\tan\alpha=\frac{y}{x}</a:t>
                </a:r>
                <a:r>
                  <a:rPr sz="2200">
                    <a:solidFill>
                      <a:srgbClr val="1E293B"/>
                    </a:solidFill>
                    <a:latin typeface="Calibri"/>
                  </a:rPr>
                  <a:t>, </a:t>
                </a:r>
                <a:r>
                  <a:rPr lang="vi-VN"/>
                  <a:t>\cot\alpha=\frac{x}{y}</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Dấu theo góc phần tư; bảng góc đặc biệt; chọn đúng đơn vị khi bấm máy.</a:t>
                </a:r>
              </a:p>
            </p:txBody>
          </p:sp>
        </mc:Fallback>
      </mc:AlternateContent>
      <p:sp>
        <p:nvSpPr>
          <p:cNvPr id="9" name="Rounded Rectangle 8"/>
          <p:cNvSpPr/>
          <p:nvPr/>
        </p:nvSpPr>
        <p:spPr>
          <a:xfrm>
            <a:off x="548640" y="3029712"/>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066288"/>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1.3 (SGK tr.16).</a:t>
            </a:r>
          </a:p>
          <a:p>
            <a:pPr algn="l" marL="365760" indent="-365760">
              <a:spcAft>
                <a:spcPts val="800"/>
              </a:spcAft>
              <a:buClr>
                <a:srgbClr val="1E40AF"/>
              </a:buClr>
              <a:buFont typeface="Arial"/>
              <a:buChar char="•"/>
            </a:pPr>
            <a:r>
              <a:rPr sz="2200">
                <a:solidFill>
                  <a:srgbClr val="1E293B"/>
                </a:solidFill>
                <a:latin typeface="Calibri"/>
              </a:rPr>
              <a:t>Đọc trước mục 4 (SGK tr.13 – 15).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3 (T3)</a:t>
            </a:r>
          </a:p>
          <a:p>
            <a:pPr>
              <a:spcAft>
                <a:spcPts val="600"/>
              </a:spcAft>
            </a:pPr>
            <a:r>
              <a:rPr sz="4000" b="1">
                <a:solidFill>
                  <a:srgbClr val="FFFFFF"/>
                </a:solidFill>
                <a:latin typeface="Cambria"/>
              </a:rPr>
              <a:t>Quan hệ giữa các giá trị lượng giác</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Vận dụng hệ thức cơ bản tính giá trị lượng giác.</a:t>
            </a:r>
          </a:p>
          <a:p>
            <a:pPr algn="l">
              <a:spcAft>
                <a:spcPts val="800"/>
              </a:spcAft>
            </a:pPr>
            <a:r>
              <a:rPr sz="2200">
                <a:solidFill>
                  <a:srgbClr val="E0E7FF"/>
                </a:solidFill>
                <a:latin typeface="Calibri"/>
              </a:rPr>
              <a:t>• Vận dụng công thức các góc có liên quan đặc biệt.</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4. CÁC CÔNG THỨC LƯỢNG GIÁC CƠ BẢN – HĐ6 (SGK TR.13 – 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HĐ6.</a:t>
                </a:r>
                <a:r>
                  <a:rPr sz="2100">
                    <a:solidFill>
                      <a:srgbClr val="1E293B"/>
                    </a:solidFill>
                    <a:latin typeface="Calibri"/>
                  </a:rPr>
                  <a:t> a) Dựa vào định nghĩa của </a:t>
                </a:r>
                <a14:m>
                  <m:oMath xmlns:m="http://schemas.openxmlformats.org/officeDocument/2006/math">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α</m:t>
                    </m:r>
                  </m:oMath>
                </a14:m>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cos</m:t>
                    </m:r>
                    <m:r>
                      <a:rPr lang="vi-VN" sz="2100" b="0">
                        <a:solidFill>
                          <a:srgbClr val="1E293B"/>
                        </a:solidFill>
                        <a:latin typeface="Cambria Math" panose="02040503050406030204" pitchFamily="18" charset="0"/>
                      </a:rPr>
                      <m:t>α</m:t>
                    </m:r>
                  </m:oMath>
                </a14:m>
                <a:r>
                  <a:rPr sz="2100">
                    <a:solidFill>
                      <a:srgbClr val="1E293B"/>
                    </a:solidFill>
                    <a:latin typeface="Calibri"/>
                  </a:rPr>
                  <a:t>, tính </a:t>
                </a:r>
                <a14:m>
                  <m:oMath xmlns:m="http://schemas.openxmlformats.org/officeDocument/2006/math">
                    <m:sSup>
                      <m:e>
                        <m:r>
                          <m:rPr>
                            <m:sty m:val="p"/>
                          </m:rPr>
                          <a:rPr lang="vi-VN" sz="2100" b="0">
                            <a:solidFill>
                              <a:srgbClr val="1E293B"/>
                            </a:solidFill>
                            <a:latin typeface="Cambria Math" panose="02040503050406030204" pitchFamily="18" charset="0"/>
                          </a:rPr>
                          <m:t>sin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sSup>
                      <m:e>
                        <m:r>
                          <m:rPr>
                            <m:sty m:val="p"/>
                          </m:rPr>
                          <a:rPr lang="vi-VN" sz="2100" b="0">
                            <a:solidFill>
                              <a:srgbClr val="1E293B"/>
                            </a:solidFill>
                            <a:latin typeface="Cambria Math" panose="02040503050406030204" pitchFamily="18" charset="0"/>
                          </a:rPr>
                          <m:t>cos</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oMath>
                </a14:m>
                <a:r>
                  <a:rPr sz="2100">
                    <a:solidFill>
                      <a:srgbClr val="1E293B"/>
                    </a:solidFill>
                    <a:latin typeface="Calibri"/>
                  </a:rPr>
                  <a:t>. b) Dùng kết quả HĐ6a và định nghĩa </a:t>
                </a:r>
                <a14:m>
                  <m:oMath xmlns:m="http://schemas.openxmlformats.org/officeDocument/2006/math">
                    <m:r>
                      <m:rPr>
                        <m:sty m:val="p"/>
                      </m:rPr>
                      <a:rPr lang="vi-VN" sz="2100" b="0">
                        <a:solidFill>
                          <a:srgbClr val="1E293B"/>
                        </a:solidFill>
                        <a:latin typeface="Cambria Math" panose="02040503050406030204" pitchFamily="18" charset="0"/>
                      </a:rPr>
                      <m:t>tan</m:t>
                    </m:r>
                    <m:r>
                      <a:rPr lang="vi-VN" sz="2100" b="0">
                        <a:solidFill>
                          <a:srgbClr val="1E293B"/>
                        </a:solidFill>
                        <a:latin typeface="Cambria Math" panose="02040503050406030204" pitchFamily="18" charset="0"/>
                      </a:rPr>
                      <m:t>α</m:t>
                    </m:r>
                  </m:oMath>
                </a14:m>
                <a:r>
                  <a:rPr sz="2100">
                    <a:solidFill>
                      <a:srgbClr val="1E293B"/>
                    </a:solidFill>
                    <a:latin typeface="Calibri"/>
                  </a:rPr>
                  <a:t>, tính </a:t>
                </a:r>
                <a14:m>
                  <m:oMath xmlns:m="http://schemas.openxmlformats.org/officeDocument/2006/math">
                    <m:r>
                      <a:rPr lang="vi-VN" sz="2100" b="0">
                        <a:solidFill>
                          <a:srgbClr val="1E293B"/>
                        </a:solidFill>
                        <a:latin typeface="Cambria Math" panose="02040503050406030204" pitchFamily="18" charset="0"/>
                      </a:rPr>
                      <m:t>1+</m:t>
                    </m:r>
                    <m:sSup>
                      <m:e>
                        <m:r>
                          <m:rPr>
                            <m:sty m:val="p"/>
                          </m:rPr>
                          <a:rPr lang="vi-VN" sz="2100" b="0">
                            <a:solidFill>
                              <a:srgbClr val="1E293B"/>
                            </a:solidFill>
                            <a:latin typeface="Cambria Math" panose="02040503050406030204" pitchFamily="18" charset="0"/>
                          </a:rPr>
                          <m:t>tan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oMath>
                </a14:m>
                <a:r>
                  <a:rPr sz="2100">
                    <a:solidFill>
                      <a:srgbClr val="1E293B"/>
                    </a:solidFill>
                    <a:latin typeface="Calibri"/>
                  </a:rPr>
                  <a:t>.</a:t>
                </a:r>
              </a:p>
            </p:txBody>
          </p:sp>
        </mc:Choice>
        <mc:Fallback>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HĐ6.</a:t>
                </a:r>
                <a:r>
                  <a:rPr sz="2100">
                    <a:solidFill>
                      <a:srgbClr val="1E293B"/>
                    </a:solidFill>
                    <a:latin typeface="Calibri"/>
                  </a:rPr>
                  <a:t> a) Dựa vào định nghĩa của </a:t>
                </a:r>
                <a:r>
                  <a:rPr lang="vi-VN"/>
                  <a:t>\sin\alpha</a:t>
                </a:r>
                <a:r>
                  <a:rPr sz="2100">
                    <a:solidFill>
                      <a:srgbClr val="1E293B"/>
                    </a:solidFill>
                    <a:latin typeface="Calibri"/>
                  </a:rPr>
                  <a:t>, </a:t>
                </a:r>
                <a:r>
                  <a:rPr lang="vi-VN"/>
                  <a:t>\cos\alpha</a:t>
                </a:r>
                <a:r>
                  <a:rPr sz="2100">
                    <a:solidFill>
                      <a:srgbClr val="1E293B"/>
                    </a:solidFill>
                    <a:latin typeface="Calibri"/>
                  </a:rPr>
                  <a:t>, tính </a:t>
                </a:r>
                <a:r>
                  <a:rPr lang="vi-VN"/>
                  <a:t>\sin^2\alpha+\cos^2\alpha</a:t>
                </a:r>
                <a:r>
                  <a:rPr sz="2100">
                    <a:solidFill>
                      <a:srgbClr val="1E293B"/>
                    </a:solidFill>
                    <a:latin typeface="Calibri"/>
                  </a:rPr>
                  <a:t>. b) Dùng kết quả HĐ6a và định nghĩa </a:t>
                </a:r>
                <a:r>
                  <a:rPr lang="vi-VN"/>
                  <a:t>\tan\alpha</a:t>
                </a:r>
                <a:r>
                  <a:rPr sz="2100">
                    <a:solidFill>
                      <a:srgbClr val="1E293B"/>
                    </a:solidFill>
                    <a:latin typeface="Calibri"/>
                  </a:rPr>
                  <a:t>, tính </a:t>
                </a:r>
                <a:r>
                  <a:rPr lang="vi-VN"/>
                  <a:t>1+\tan^2\alpha</a:t>
                </a:r>
                <a:r>
                  <a:rPr sz="2100">
                    <a:solidFill>
                      <a:srgbClr val="1E293B"/>
                    </a:solidFill>
                    <a:latin typeface="Calibri"/>
                  </a:rPr>
                  <a:t>.</a:t>
                </a:r>
              </a:p>
            </p:txBody>
          </p:sp>
        </mc:Fallback>
      </mc:AlternateContent>
      <p:sp>
        <p:nvSpPr>
          <p:cNvPr id="8" name="s1_nen"/>
          <p:cNvSpPr/>
          <p:nvPr/>
        </p:nvSpPr>
        <p:spPr>
          <a:xfrm>
            <a:off x="548640" y="2322576"/>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5915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sSup>
                      <m:e>
                        <m:r>
                          <m:rPr>
                            <m:sty m:val="p"/>
                          </m:rPr>
                          <a:rPr lang="vi-VN" sz="2100" b="0">
                            <a:solidFill>
                              <a:srgbClr val="1E293B"/>
                            </a:solidFill>
                            <a:latin typeface="Cambria Math" panose="02040503050406030204" pitchFamily="18" charset="0"/>
                          </a:rPr>
                          <m:t>sin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sSup>
                      <m:e>
                        <m:r>
                          <m:rPr>
                            <m:sty m:val="p"/>
                          </m:rPr>
                          <a:rPr lang="vi-VN" sz="2100" b="0">
                            <a:solidFill>
                              <a:srgbClr val="1E293B"/>
                            </a:solidFill>
                            <a:latin typeface="Cambria Math" panose="02040503050406030204" pitchFamily="18" charset="0"/>
                          </a:rPr>
                          <m:t>cos</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sSup>
                      <m:e>
                        <m:r>
                          <a:rPr lang="vi-VN" sz="2100" b="0">
                            <a:solidFill>
                              <a:srgbClr val="1E293B"/>
                            </a:solidFill>
                            <a:latin typeface="Cambria Math" panose="02040503050406030204" pitchFamily="18" charset="0"/>
                          </a:rPr>
                          <m:t>y</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x</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=O</m:t>
                    </m:r>
                    <m:sSup>
                      <m:e>
                        <m:r>
                          <a:rPr lang="vi-VN" sz="2100" b="0">
                            <a:solidFill>
                              <a:srgbClr val="1E293B"/>
                            </a:solidFill>
                            <a:latin typeface="Cambria Math" panose="02040503050406030204" pitchFamily="18" charset="0"/>
                          </a:rPr>
                          <m:t>M</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=1</m:t>
                    </m:r>
                  </m:oMath>
                </a14:m>
                <a:r>
                  <a:rPr sz="2100">
                    <a:solidFill>
                      <a:srgbClr val="1E293B"/>
                    </a:solidFill>
                    <a:latin typeface="Calibri"/>
                  </a:rPr>
                  <a:t>. b) </a:t>
                </a:r>
                <a14:m>
                  <m:oMath xmlns:m="http://schemas.openxmlformats.org/officeDocument/2006/math">
                    <m:r>
                      <a:rPr lang="vi-VN" sz="2100" b="0">
                        <a:solidFill>
                          <a:srgbClr val="1E293B"/>
                        </a:solidFill>
                        <a:latin typeface="Cambria Math" panose="02040503050406030204" pitchFamily="18" charset="0"/>
                      </a:rPr>
                      <m:t>1+</m:t>
                    </m:r>
                    <m:sSup>
                      <m:e>
                        <m:r>
                          <m:rPr>
                            <m:sty m:val="p"/>
                          </m:rPr>
                          <a:rPr lang="vi-VN" sz="2100" b="0">
                            <a:solidFill>
                              <a:srgbClr val="1E293B"/>
                            </a:solidFill>
                            <a:latin typeface="Cambria Math" panose="02040503050406030204" pitchFamily="18" charset="0"/>
                          </a:rPr>
                          <m:t>tan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α=1+</m:t>
                    </m:r>
                    <m:f>
                      <m:fPr>
                        <m:type m:val="bar"/>
                      </m:fPr>
                      <m:num>
                        <m:sSup>
                          <m:e>
                            <m:r>
                              <m:rPr>
                                <m:sty m:val="p"/>
                              </m:rPr>
                              <a:rPr lang="vi-VN" sz="2100" b="0">
                                <a:solidFill>
                                  <a:srgbClr val="1E293B"/>
                                </a:solidFill>
                                <a:latin typeface="Cambria Math" panose="02040503050406030204" pitchFamily="18" charset="0"/>
                              </a:rPr>
                              <m:t>sin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num>
                      <m:den>
                        <m:sSup>
                          <m:e>
                            <m:r>
                              <m:rPr>
                                <m:sty m:val="p"/>
                              </m:rPr>
                              <a:rPr lang="vi-VN" sz="2100" b="0">
                                <a:solidFill>
                                  <a:srgbClr val="1E293B"/>
                                </a:solidFill>
                                <a:latin typeface="Cambria Math" panose="02040503050406030204" pitchFamily="18" charset="0"/>
                              </a:rPr>
                              <m:t>cos</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m:t>
                        </m:r>
                      </m:num>
                      <m:den>
                        <m:sSup>
                          <m:e>
                            <m:r>
                              <m:rPr>
                                <m:sty m:val="p"/>
                              </m:rPr>
                              <a:rPr lang="vi-VN" sz="2100" b="0">
                                <a:solidFill>
                                  <a:srgbClr val="1E293B"/>
                                </a:solidFill>
                                <a:latin typeface="Cambria Math" panose="02040503050406030204" pitchFamily="18" charset="0"/>
                              </a:rPr>
                              <m:t>cos</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den>
                    </m:f>
                  </m:oMath>
                </a14:m>
                <a:r>
                  <a:rPr sz="2100">
                    <a:solidFill>
                      <a:srgbClr val="1E293B"/>
                    </a:solidFill>
                    <a:latin typeface="Calibri"/>
                  </a:rPr>
                  <a:t>.</a:t>
                </a:r>
              </a:p>
            </p:txBody>
          </p:sp>
        </mc:Choice>
        <mc:Fallback>
          <p:sp>
            <p:nvSpPr>
              <p:cNvPr id="9" name="TextBox 8"/>
              <p:cNvSpPr txBox="1"/>
              <p:nvPr/>
            </p:nvSpPr>
            <p:spPr>
              <a:xfrm>
                <a:off x="713232" y="235915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\sin^2\alpha+\cos^2\alpha=y^2+x^2=OM^2=1</a:t>
                </a:r>
                <a:r>
                  <a:rPr sz="2100">
                    <a:solidFill>
                      <a:srgbClr val="1E293B"/>
                    </a:solidFill>
                    <a:latin typeface="Calibri"/>
                  </a:rPr>
                  <a:t>. b) </a:t>
                </a:r>
                <a:r>
                  <a:rPr lang="vi-VN"/>
                  <a:t>1+\tan^2\alpha=1+\frac{\sin^2\alpha}{\cos^2\alpha}=\frac{1}{\cos^2\alpha}</a:t>
                </a:r>
                <a:r>
                  <a:rPr sz="2100">
                    <a:solidFill>
                      <a:srgbClr val="1E293B"/>
                    </a:solidFill>
                    <a:latin typeface="Calibri"/>
                  </a:rPr>
                  <a:t>.</a:t>
                </a:r>
              </a:p>
            </p:txBody>
          </p:sp>
        </mc:Fallback>
      </mc:AlternateContent>
      <p:sp>
        <p:nvSpPr>
          <p:cNvPr id="10" name="s2_nen"/>
          <p:cNvSpPr/>
          <p:nvPr/>
        </p:nvSpPr>
        <p:spPr>
          <a:xfrm>
            <a:off x="548640" y="3332988"/>
            <a:ext cx="11064240" cy="242316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369564"/>
                <a:ext cx="10735056" cy="235000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14:m>
                  <m:oMath xmlns:m="http://schemas.openxmlformats.org/officeDocument/2006/math">
                    <m:sSup>
                      <m:e>
                        <m:r>
                          <m:rPr>
                            <m:sty m:val="p"/>
                          </m:rPr>
                          <a:rPr lang="vi-VN" sz="2100" b="0">
                            <a:solidFill>
                              <a:srgbClr val="1E293B"/>
                            </a:solidFill>
                            <a:latin typeface="Cambria Math" panose="02040503050406030204" pitchFamily="18" charset="0"/>
                          </a:rPr>
                          <m:t>sin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sSup>
                      <m:e>
                        <m:r>
                          <m:rPr>
                            <m:sty m:val="p"/>
                          </m:rPr>
                          <a:rPr lang="vi-VN" sz="2100" b="0">
                            <a:solidFill>
                              <a:srgbClr val="1E293B"/>
                            </a:solidFill>
                            <a:latin typeface="Cambria Math" panose="02040503050406030204" pitchFamily="18" charset="0"/>
                          </a:rPr>
                          <m:t>cos</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α=1</m:t>
                    </m:r>
                  </m:oMath>
                </a14:m>
              </a:p>
              <a:p>
                <a:pPr algn="l" marL="365760" indent="-365760">
                  <a:spcAft>
                    <a:spcPts val="800"/>
                  </a:spcAft>
                  <a:buClr>
                    <a:srgbClr val="1E40AF"/>
                  </a:buClr>
                  <a:buFont typeface="Arial"/>
                  <a:buChar char="•"/>
                </a:pPr>
                <a14:m>
                  <m:oMath xmlns:m="http://schemas.openxmlformats.org/officeDocument/2006/math">
                    <m:r>
                      <a:rPr lang="vi-VN" sz="2100" b="0">
                        <a:solidFill>
                          <a:srgbClr val="1E293B"/>
                        </a:solidFill>
                        <a:latin typeface="Cambria Math" panose="02040503050406030204" pitchFamily="18" charset="0"/>
                      </a:rPr>
                      <m:t>1+</m:t>
                    </m:r>
                    <m:sSup>
                      <m:e>
                        <m:r>
                          <m:rPr>
                            <m:sty m:val="p"/>
                          </m:rPr>
                          <a:rPr lang="vi-VN" sz="2100" b="0">
                            <a:solidFill>
                              <a:srgbClr val="1E293B"/>
                            </a:solidFill>
                            <a:latin typeface="Cambria Math" panose="02040503050406030204" pitchFamily="18" charset="0"/>
                          </a:rPr>
                          <m:t>tan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f>
                      <m:fPr>
                        <m:type m:val="bar"/>
                      </m:fPr>
                      <m:num>
                        <m:r>
                          <a:rPr lang="vi-VN" sz="2100" b="0">
                            <a:solidFill>
                              <a:srgbClr val="1E293B"/>
                            </a:solidFill>
                            <a:latin typeface="Cambria Math" panose="02040503050406030204" pitchFamily="18" charset="0"/>
                          </a:rPr>
                          <m:t>1</m:t>
                        </m:r>
                      </m:num>
                      <m:den>
                        <m:sSup>
                          <m:e>
                            <m:r>
                              <m:rPr>
                                <m:sty m:val="p"/>
                              </m:rPr>
                              <a:rPr lang="vi-VN" sz="2100" b="0">
                                <a:solidFill>
                                  <a:srgbClr val="1E293B"/>
                                </a:solidFill>
                                <a:latin typeface="Cambria Math" panose="02040503050406030204" pitchFamily="18" charset="0"/>
                              </a:rPr>
                              <m:t>cos</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den>
                    </m:f>
                  </m:oMath>
                </a14:m>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α</m:t>
                        </m:r>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k</m:t>
                        </m:r>
                        <m:r>
                          <a:rPr lang="vi-VN" sz="2100" b="0">
                            <a:solidFill>
                              <a:srgbClr val="1E293B"/>
                            </a:solidFill>
                            <a:latin typeface="Cambria Math" panose="02040503050406030204" pitchFamily="18" charset="0"/>
                          </a:rPr>
                          <m:t>π</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k</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ℤ</m:t>
                        </m:r>
                      </m:e>
                    </m:d>
                  </m:oMath>
                </a14:m>
              </a:p>
              <a:p>
                <a:pPr algn="l" marL="365760" indent="-365760">
                  <a:spcAft>
                    <a:spcPts val="800"/>
                  </a:spcAft>
                  <a:buClr>
                    <a:srgbClr val="1E40AF"/>
                  </a:buClr>
                  <a:buFont typeface="Arial"/>
                  <a:buChar char="•"/>
                </a:pPr>
                <a14:m>
                  <m:oMath xmlns:m="http://schemas.openxmlformats.org/officeDocument/2006/math">
                    <m:r>
                      <a:rPr lang="vi-VN" sz="2100" b="0">
                        <a:solidFill>
                          <a:srgbClr val="1E293B"/>
                        </a:solidFill>
                        <a:latin typeface="Cambria Math" panose="02040503050406030204" pitchFamily="18" charset="0"/>
                      </a:rPr>
                      <m:t>1+</m:t>
                    </m:r>
                    <m:sSup>
                      <m:e>
                        <m:r>
                          <m:rPr>
                            <m:sty m:val="p"/>
                          </m:rPr>
                          <a:rPr lang="vi-VN" sz="2100" b="0">
                            <a:solidFill>
                              <a:srgbClr val="1E293B"/>
                            </a:solidFill>
                            <a:latin typeface="Cambria Math" panose="02040503050406030204" pitchFamily="18" charset="0"/>
                          </a:rPr>
                          <m:t>cot</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f>
                      <m:fPr>
                        <m:type m:val="bar"/>
                      </m:fPr>
                      <m:num>
                        <m:r>
                          <a:rPr lang="vi-VN" sz="2100" b="0">
                            <a:solidFill>
                              <a:srgbClr val="1E293B"/>
                            </a:solidFill>
                            <a:latin typeface="Cambria Math" panose="02040503050406030204" pitchFamily="18" charset="0"/>
                          </a:rPr>
                          <m:t>1</m:t>
                        </m:r>
                      </m:num>
                      <m:den>
                        <m:sSup>
                          <m:e>
                            <m:r>
                              <m:rPr>
                                <m:sty m:val="p"/>
                              </m:rPr>
                              <a:rPr lang="vi-VN" sz="2100" b="0">
                                <a:solidFill>
                                  <a:srgbClr val="1E293B"/>
                                </a:solidFill>
                                <a:latin typeface="Cambria Math" panose="02040503050406030204" pitchFamily="18" charset="0"/>
                              </a:rPr>
                              <m:t>sin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den>
                    </m:f>
                  </m:oMath>
                </a14:m>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α</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k</m:t>
                        </m:r>
                        <m:r>
                          <a:rPr lang="vi-VN" sz="2100" b="0">
                            <a:solidFill>
                              <a:srgbClr val="1E293B"/>
                            </a:solidFill>
                            <a:latin typeface="Cambria Math" panose="02040503050406030204" pitchFamily="18" charset="0"/>
                          </a:rPr>
                          <m:t>π</m:t>
                        </m:r>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k</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ℤ</m:t>
                        </m:r>
                      </m:e>
                    </m:d>
                  </m:oMath>
                </a14:m>
              </a:p>
              <a:p>
                <a:pPr algn="l" marL="365760" indent="-365760">
                  <a:spcAft>
                    <a:spcPts val="800"/>
                  </a:spcAft>
                  <a:buClr>
                    <a:srgbClr val="1E40AF"/>
                  </a:buClr>
                  <a:buFont typeface="Arial"/>
                  <a:buChar char="•"/>
                </a:pPr>
                <a14:m>
                  <m:oMath xmlns:m="http://schemas.openxmlformats.org/officeDocument/2006/math">
                    <m:r>
                      <m:rPr>
                        <m:sty m:val="p"/>
                      </m:rPr>
                      <a:rPr lang="vi-VN" sz="2100" b="0">
                        <a:solidFill>
                          <a:srgbClr val="1E293B"/>
                        </a:solidFill>
                        <a:latin typeface="Cambria Math" panose="02040503050406030204" pitchFamily="18" charset="0"/>
                      </a:rPr>
                      <m:t>tan</m:t>
                    </m:r>
                    <m:r>
                      <a:rPr lang="vi-VN" sz="2100" b="0">
                        <a:solidFill>
                          <a:srgbClr val="1E293B"/>
                        </a:solidFill>
                        <a:latin typeface="Cambria Math" panose="02040503050406030204" pitchFamily="18" charset="0"/>
                      </a:rPr>
                      <m:t>α·</m:t>
                    </m:r>
                    <m:r>
                      <m:rPr>
                        <m:sty m:val="p"/>
                      </m:rPr>
                      <a:rPr lang="vi-VN" sz="2100" b="0">
                        <a:solidFill>
                          <a:srgbClr val="1E293B"/>
                        </a:solidFill>
                        <a:latin typeface="Cambria Math" panose="02040503050406030204" pitchFamily="18" charset="0"/>
                      </a:rPr>
                      <m:t>cot</m:t>
                    </m:r>
                    <m:r>
                      <a:rPr lang="vi-VN" sz="2100" b="0">
                        <a:solidFill>
                          <a:srgbClr val="1E293B"/>
                        </a:solidFill>
                        <a:latin typeface="Cambria Math" panose="02040503050406030204" pitchFamily="18" charset="0"/>
                      </a:rPr>
                      <m:t>α=1</m:t>
                    </m:r>
                  </m:oMath>
                </a14:m>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α</m:t>
                        </m:r>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kπ</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k</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ℤ</m:t>
                        </m:r>
                      </m:e>
                    </m:d>
                  </m:oMath>
                </a14:m>
              </a:p>
            </p:txBody>
          </p:sp>
        </mc:Choice>
        <mc:Fallback>
          <p:sp>
            <p:nvSpPr>
              <p:cNvPr id="11" name="TextBox 10"/>
              <p:cNvSpPr txBox="1"/>
              <p:nvPr/>
            </p:nvSpPr>
            <p:spPr>
              <a:xfrm>
                <a:off x="713232" y="3369564"/>
                <a:ext cx="10735056" cy="2350008"/>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lang="vi-VN"/>
                  <a:t>\sin^2\alpha+\cos^2\alpha=1</a:t>
                </a:r>
              </a:p>
              <a:p>
                <a:pPr algn="l" marL="365760" indent="-365760">
                  <a:spcAft>
                    <a:spcPts val="800"/>
                  </a:spcAft>
                  <a:buClr>
                    <a:srgbClr val="1E40AF"/>
                  </a:buClr>
                  <a:buFont typeface="Arial"/>
                  <a:buChar char="•"/>
                </a:pPr>
                <a:r>
                  <a:rPr lang="vi-VN"/>
                  <a:t>1+\tan^2\alpha=\frac{1}{\cos^2\alpha}</a:t>
                </a:r>
                <a:r>
                  <a:rPr sz="2100">
                    <a:solidFill>
                      <a:srgbClr val="1E293B"/>
                    </a:solidFill>
                    <a:latin typeface="Calibri"/>
                  </a:rPr>
                  <a:t> </a:t>
                </a:r>
                <a:r>
                  <a:rPr lang="vi-VN"/>
                  <a:t>\left(\alpha\ne\frac{\pi}{2}+k\pi,\ k\in\mathbb{Z}\right)</a:t>
                </a:r>
              </a:p>
              <a:p>
                <a:pPr algn="l" marL="365760" indent="-365760">
                  <a:spcAft>
                    <a:spcPts val="800"/>
                  </a:spcAft>
                  <a:buClr>
                    <a:srgbClr val="1E40AF"/>
                  </a:buClr>
                  <a:buFont typeface="Arial"/>
                  <a:buChar char="•"/>
                </a:pPr>
                <a:r>
                  <a:rPr lang="vi-VN"/>
                  <a:t>1+\cot^2\alpha=\frac{1}{\sin^2\alpha}</a:t>
                </a:r>
                <a:r>
                  <a:rPr sz="2100">
                    <a:solidFill>
                      <a:srgbClr val="1E293B"/>
                    </a:solidFill>
                    <a:latin typeface="Calibri"/>
                  </a:rPr>
                  <a:t> </a:t>
                </a:r>
                <a:r>
                  <a:rPr lang="vi-VN"/>
                  <a:t>(\alpha\ne k\pi,\ k\in\mathbb{Z})</a:t>
                </a:r>
              </a:p>
              <a:p>
                <a:pPr algn="l" marL="365760" indent="-365760">
                  <a:spcAft>
                    <a:spcPts val="800"/>
                  </a:spcAft>
                  <a:buClr>
                    <a:srgbClr val="1E40AF"/>
                  </a:buClr>
                  <a:buFont typeface="Arial"/>
                  <a:buChar char="•"/>
                </a:pPr>
                <a:r>
                  <a:rPr lang="vi-VN"/>
                  <a:t>\tan\alpha\cdot\cot\alpha=1</a:t>
                </a:r>
                <a:r>
                  <a:rPr sz="2100">
                    <a:solidFill>
                      <a:srgbClr val="1E293B"/>
                    </a:solidFill>
                    <a:latin typeface="Calibri"/>
                  </a:rPr>
                  <a:t> </a:t>
                </a:r>
                <a:r>
                  <a:rPr lang="vi-VN"/>
                  <a:t>\left(\alpha\ne\frac{k\pi}{2},\ k\in\mathbb{Z}\right)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9 – LUYỆN TẬP 7 (SGK TR.14)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29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9.</a:t>
                </a:r>
                <a:r>
                  <a:rPr sz="2100">
                    <a:solidFill>
                      <a:srgbClr val="1E293B"/>
                    </a:solidFill>
                    <a:latin typeface="Calibri"/>
                  </a:rPr>
                  <a:t> Tính các giá trị lượng giác của góc </a:t>
                </a:r>
                <a14:m>
                  <m:oMath xmlns:m="http://schemas.openxmlformats.org/officeDocument/2006/math">
                    <m:r>
                      <a:rPr lang="vi-VN" sz="2100" b="0">
                        <a:solidFill>
                          <a:srgbClr val="1E293B"/>
                        </a:solidFill>
                        <a:latin typeface="Cambria Math" panose="02040503050406030204" pitchFamily="18" charset="0"/>
                      </a:rPr>
                      <m:t>α</m:t>
                    </m:r>
                  </m:oMath>
                </a14:m>
                <a:r>
                  <a:rPr sz="2100">
                    <a:solidFill>
                      <a:srgbClr val="1E293B"/>
                    </a:solidFill>
                    <a:latin typeface="Calibri"/>
                  </a:rPr>
                  <a:t>, biết </a:t>
                </a:r>
                <a14:m>
                  <m:oMath xmlns:m="http://schemas.openxmlformats.org/officeDocument/2006/math">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α=</m:t>
                    </m:r>
                    <m:f>
                      <m:fPr>
                        <m:type m:val="ba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5</m:t>
                        </m:r>
                      </m:den>
                    </m:f>
                  </m:oMath>
                </a14:m>
                <a:r>
                  <a:rPr sz="2100">
                    <a:solidFill>
                      <a:srgbClr val="1E293B"/>
                    </a:solidFill>
                    <a:latin typeface="Calibri"/>
                  </a:rPr>
                  <a:t> và </a:t>
                </a:r>
                <a14:m>
                  <m:oMath xmlns:m="http://schemas.openxmlformats.org/officeDocument/2006/math">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&lt;α&lt;</m:t>
                    </m:r>
                    <m:sSup>
                      <m:e>
                        <m:r>
                          <a:rPr lang="vi-VN" sz="2100" b="0">
                            <a:solidFill>
                              <a:srgbClr val="1E293B"/>
                            </a:solidFill>
                            <a:latin typeface="Cambria Math" panose="02040503050406030204" pitchFamily="18" charset="0"/>
                          </a:rPr>
                          <m:t>180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a:t>
                </a:r>
              </a:p>
            </p:txBody>
          </p:sp>
        </mc:Choice>
        <mc:Fallback>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9.</a:t>
                </a:r>
                <a:r>
                  <a:rPr sz="2100">
                    <a:solidFill>
                      <a:srgbClr val="1E293B"/>
                    </a:solidFill>
                    <a:latin typeface="Calibri"/>
                  </a:rPr>
                  <a:t> Tính các giá trị lượng giác của góc </a:t>
                </a:r>
                <a:r>
                  <a:rPr lang="vi-VN"/>
                  <a:t>\alpha</a:t>
                </a:r>
                <a:r>
                  <a:rPr sz="2100">
                    <a:solidFill>
                      <a:srgbClr val="1E293B"/>
                    </a:solidFill>
                    <a:latin typeface="Calibri"/>
                  </a:rPr>
                  <a:t>, biết </a:t>
                </a:r>
                <a:r>
                  <a:rPr lang="vi-VN"/>
                  <a:t>\sin\alpha=\frac{3}{5}</a:t>
                </a:r>
                <a:r>
                  <a:rPr sz="2100">
                    <a:solidFill>
                      <a:srgbClr val="1E293B"/>
                    </a:solidFill>
                    <a:latin typeface="Calibri"/>
                  </a:rPr>
                  <a:t> và </a:t>
                </a:r>
                <a:r>
                  <a:rPr lang="vi-VN"/>
                  <a:t>90^\circ&lt;\alpha&lt;180^\circ</a:t>
                </a:r>
                <a:r>
                  <a:rPr sz="2100">
                    <a:solidFill>
                      <a:srgbClr val="1E293B"/>
                    </a:solidFill>
                    <a:latin typeface="Calibri"/>
                  </a:rPr>
                  <a:t>.</a:t>
                </a:r>
              </a:p>
            </p:txBody>
          </p:sp>
        </mc:Fallback>
      </mc:AlternateContent>
      <p:sp>
        <p:nvSpPr>
          <p:cNvPr id="8" name="s1_nen"/>
          <p:cNvSpPr/>
          <p:nvPr/>
        </p:nvSpPr>
        <p:spPr>
          <a:xfrm>
            <a:off x="548640" y="2082545"/>
            <a:ext cx="11064240" cy="873251"/>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1912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sSup>
                      <m:e>
                        <m:r>
                          <a:rPr lang="vi-VN" sz="2100" b="0">
                            <a:solidFill>
                              <a:srgbClr val="1E293B"/>
                            </a:solidFill>
                            <a:latin typeface="Cambria Math" panose="02040503050406030204" pitchFamily="18" charset="0"/>
                          </a:rPr>
                          <m:t>90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&lt;α&lt;</m:t>
                    </m:r>
                    <m:sSup>
                      <m:e>
                        <m:r>
                          <a:rPr lang="vi-VN" sz="2100" b="0">
                            <a:solidFill>
                              <a:srgbClr val="1E293B"/>
                            </a:solidFill>
                            <a:latin typeface="Cambria Math" panose="02040503050406030204" pitchFamily="18" charset="0"/>
                          </a:rPr>
                          <m:t>180</m:t>
                        </m:r>
                      </m:e>
                      <m:sup>
                        <m:r>
                          <a:rPr lang="vi-VN" sz="2100" b="0">
                            <a:solidFill>
                              <a:srgbClr val="1E293B"/>
                            </a:solidFill>
                            <a:latin typeface="Cambria Math" panose="02040503050406030204" pitchFamily="18" charset="0"/>
                          </a:rPr>
                          <m:t>∘</m:t>
                        </m:r>
                      </m:sup>
                    </m:sSup>
                  </m:oMath>
                </a14:m>
                <a:r>
                  <a:rPr sz="2100">
                    <a:solidFill>
                      <a:srgbClr val="1E293B"/>
                    </a:solidFill>
                    <a:latin typeface="Calibri"/>
                  </a:rPr>
                  <a:t> nên </a:t>
                </a:r>
                <a14:m>
                  <m:oMath xmlns:m="http://schemas.openxmlformats.org/officeDocument/2006/math">
                    <m:r>
                      <m:rPr>
                        <m:sty m:val="p"/>
                      </m:rPr>
                      <a:rPr lang="vi-VN" sz="2100" b="0">
                        <a:solidFill>
                          <a:srgbClr val="1E293B"/>
                        </a:solidFill>
                        <a:latin typeface="Cambria Math" panose="02040503050406030204" pitchFamily="18" charset="0"/>
                      </a:rPr>
                      <m:t>cos</m:t>
                    </m:r>
                    <m:r>
                      <a:rPr lang="vi-VN" sz="2100" b="0">
                        <a:solidFill>
                          <a:srgbClr val="1E293B"/>
                        </a:solidFill>
                        <a:latin typeface="Cambria Math" panose="02040503050406030204" pitchFamily="18" charset="0"/>
                      </a:rPr>
                      <m:t>α&lt;0</m:t>
                    </m:r>
                  </m:oMath>
                </a14:m>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cos</m:t>
                    </m:r>
                    <m:r>
                      <a:rPr lang="vi-VN" sz="2100" b="0">
                        <a:solidFill>
                          <a:srgbClr val="1E293B"/>
                        </a:solidFill>
                        <a:latin typeface="Cambria Math" panose="02040503050406030204" pitchFamily="18" charset="0"/>
                      </a:rPr>
                      <m:t>α=−</m:t>
                    </m:r>
                    <m:rad>
                      <m:radPr>
                        <m:degHide m:val="on"/>
                      </m:radPr>
                      <m:deg/>
                      <m:e>
                        <m:r>
                          <a:rPr lang="vi-VN" sz="2100" b="0">
                            <a:solidFill>
                              <a:srgbClr val="1E293B"/>
                            </a:solidFill>
                            <a:latin typeface="Cambria Math" panose="02040503050406030204" pitchFamily="18" charset="0"/>
                          </a:rPr>
                          <m:t>1−</m:t>
                        </m:r>
                        <m:sSup>
                          <m:e>
                            <m:r>
                              <m:rPr>
                                <m:sty m:val="p"/>
                              </m:rPr>
                              <a:rPr lang="vi-VN" sz="2100" b="0">
                                <a:solidFill>
                                  <a:srgbClr val="1E293B"/>
                                </a:solidFill>
                                <a:latin typeface="Cambria Math" panose="02040503050406030204" pitchFamily="18" charset="0"/>
                              </a:rPr>
                              <m:t>sin</m:t>
                            </m:r>
                          </m:e>
                          <m:sup>
                            <m:r>
                              <a:rPr lang="vi-VN" sz="2100" b="0">
                                <a:solidFill>
                                  <a:srgbClr val="1E293B"/>
                                </a:solidFill>
                                <a:latin typeface="Cambria Math" panose="02040503050406030204" pitchFamily="18" charset="0"/>
                              </a:rPr>
                              <m:t>2</m:t>
                            </m:r>
                          </m:sup>
                        </m:sSup>
                        <m:r>
                          <a:rPr lang="vi-VN" sz="2100" b="0">
                            <a:solidFill>
                              <a:srgbClr val="1E293B"/>
                            </a:solidFill>
                            <a:latin typeface="Cambria Math" panose="02040503050406030204" pitchFamily="18" charset="0"/>
                          </a:rPr>
                          <m:t>α</m:t>
                        </m:r>
                      </m:e>
                    </m:rad>
                    <m:r>
                      <a:rPr lang="vi-VN" sz="2100" b="0">
                        <a:solidFill>
                          <a:srgbClr val="1E293B"/>
                        </a:solidFill>
                        <a:latin typeface="Cambria Math" panose="02040503050406030204" pitchFamily="18" charset="0"/>
                      </a:rPr>
                      <m:t>=−</m:t>
                    </m:r>
                    <m:rad>
                      <m:radPr>
                        <m:degHide m:val="on"/>
                      </m:radPr>
                      <m:deg/>
                      <m:e>
                        <m:r>
                          <a:rPr lang="vi-VN" sz="2100" b="0">
                            <a:solidFill>
                              <a:srgbClr val="1E293B"/>
                            </a:solidFill>
                            <a:latin typeface="Cambria Math" panose="02040503050406030204" pitchFamily="18" charset="0"/>
                          </a:rPr>
                          <m:t>1−</m:t>
                        </m:r>
                        <m:f>
                          <m:fPr>
                            <m:type m:val="bar"/>
                          </m:fPr>
                          <m:num>
                            <m:r>
                              <a:rPr lang="vi-VN" sz="2100" b="0">
                                <a:solidFill>
                                  <a:srgbClr val="1E293B"/>
                                </a:solidFill>
                                <a:latin typeface="Cambria Math" panose="02040503050406030204" pitchFamily="18" charset="0"/>
                              </a:rPr>
                              <m:t>9</m:t>
                            </m:r>
                          </m:num>
                          <m:den>
                            <m:r>
                              <a:rPr lang="vi-VN" sz="2100" b="0">
                                <a:solidFill>
                                  <a:srgbClr val="1E293B"/>
                                </a:solidFill>
                                <a:latin typeface="Cambria Math" panose="02040503050406030204" pitchFamily="18" charset="0"/>
                              </a:rPr>
                              <m:t>25</m:t>
                            </m:r>
                          </m:den>
                        </m:f>
                      </m:e>
                    </m:rad>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4</m:t>
                        </m:r>
                      </m:num>
                      <m:den>
                        <m:r>
                          <a:rPr lang="vi-VN" sz="2100" b="0">
                            <a:solidFill>
                              <a:srgbClr val="1E293B"/>
                            </a:solidFill>
                            <a:latin typeface="Cambria Math" panose="02040503050406030204" pitchFamily="18" charset="0"/>
                          </a:rPr>
                          <m:t>5</m:t>
                        </m:r>
                      </m:den>
                    </m:f>
                  </m:oMath>
                </a14:m>
                <a:r>
                  <a:rPr sz="2100">
                    <a:solidFill>
                      <a:srgbClr val="1E293B"/>
                    </a:solidFill>
                    <a:latin typeface="Calibri"/>
                  </a:rPr>
                  <a:t>.</a:t>
                </a:r>
              </a:p>
            </p:txBody>
          </p:sp>
        </mc:Choice>
        <mc:Fallback>
          <p:sp>
            <p:nvSpPr>
              <p:cNvPr id="9" name="TextBox 8"/>
              <p:cNvSpPr txBox="1"/>
              <p:nvPr/>
            </p:nvSpPr>
            <p:spPr>
              <a:xfrm>
                <a:off x="713232" y="2119122"/>
                <a:ext cx="10735056" cy="800099"/>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90^\circ&lt;\alpha&lt;180^\circ</a:t>
                </a:r>
                <a:r>
                  <a:rPr sz="2100">
                    <a:solidFill>
                      <a:srgbClr val="1E293B"/>
                    </a:solidFill>
                    <a:latin typeface="Calibri"/>
                  </a:rPr>
                  <a:t> nên </a:t>
                </a:r>
                <a:r>
                  <a:rPr lang="vi-VN"/>
                  <a:t>\cos\alpha&lt;0</a:t>
                </a:r>
                <a:r>
                  <a:rPr sz="2100">
                    <a:solidFill>
                      <a:srgbClr val="1E293B"/>
                    </a:solidFill>
                    <a:latin typeface="Calibri"/>
                  </a:rPr>
                  <a:t>: </a:t>
                </a:r>
                <a:r>
                  <a:rPr lang="vi-VN"/>
                  <a:t>\cos\alpha=-\sqrt{1-\sin^2\alpha}=-\sqrt{1-\frac{9}{25}}=-\frac{4}{5}</a:t>
                </a:r>
                <a:r>
                  <a:rPr sz="2100">
                    <a:solidFill>
                      <a:srgbClr val="1E293B"/>
                    </a:solidFill>
                    <a:latin typeface="Calibri"/>
                  </a:rPr>
                  <a:t>.</a:t>
                </a:r>
              </a:p>
            </p:txBody>
          </p:sp>
        </mc:Fallback>
      </mc:AlternateContent>
      <p:sp>
        <p:nvSpPr>
          <p:cNvPr id="10" name="s2_nen"/>
          <p:cNvSpPr/>
          <p:nvPr/>
        </p:nvSpPr>
        <p:spPr>
          <a:xfrm>
            <a:off x="548640" y="3028950"/>
            <a:ext cx="11064240" cy="10172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65526"/>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tan</m:t>
                    </m:r>
                    <m:r>
                      <a:rPr lang="vi-VN" sz="2100" b="0">
                        <a:solidFill>
                          <a:srgbClr val="1E293B"/>
                        </a:solidFill>
                        <a:latin typeface="Cambria Math" panose="02040503050406030204" pitchFamily="18" charset="0"/>
                      </a:rPr>
                      <m:t>α=</m:t>
                    </m:r>
                    <m:f>
                      <m:fPr>
                        <m:type m:val="bar"/>
                      </m:fPr>
                      <m:num>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α</m:t>
                        </m:r>
                      </m:num>
                      <m:den>
                        <m:r>
                          <m:rPr>
                            <m:sty m:val="p"/>
                          </m:rPr>
                          <a:rPr lang="vi-VN" sz="2100" b="0">
                            <a:solidFill>
                              <a:srgbClr val="1E293B"/>
                            </a:solidFill>
                            <a:latin typeface="Cambria Math" panose="02040503050406030204" pitchFamily="18" charset="0"/>
                          </a:rPr>
                          <m:t>cos</m:t>
                        </m:r>
                        <m:r>
                          <a:rPr lang="vi-VN" sz="2100" b="0">
                            <a:solidFill>
                              <a:srgbClr val="1E293B"/>
                            </a:solidFill>
                            <a:latin typeface="Cambria Math" panose="02040503050406030204" pitchFamily="18" charset="0"/>
                          </a:rPr>
                          <m:t>α</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3</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cot</m:t>
                    </m:r>
                    <m:r>
                      <a:rPr lang="vi-VN" sz="2100" b="0">
                        <a:solidFill>
                          <a:srgbClr val="1E293B"/>
                        </a:solidFill>
                        <a:latin typeface="Cambria Math" panose="02040503050406030204" pitchFamily="18" charset="0"/>
                      </a:rPr>
                      <m:t>α=</m:t>
                    </m:r>
                    <m:f>
                      <m:fPr>
                        <m:type m:val="bar"/>
                      </m:fPr>
                      <m:num>
                        <m:r>
                          <a:rPr lang="vi-VN" sz="2100" b="0">
                            <a:solidFill>
                              <a:srgbClr val="1E293B"/>
                            </a:solidFill>
                            <a:latin typeface="Cambria Math" panose="02040503050406030204" pitchFamily="18" charset="0"/>
                          </a:rPr>
                          <m:t>1</m:t>
                        </m:r>
                      </m:num>
                      <m:den>
                        <m:r>
                          <m:rPr>
                            <m:sty m:val="p"/>
                          </m:rPr>
                          <a:rPr lang="vi-VN" sz="2100" b="0">
                            <a:solidFill>
                              <a:srgbClr val="1E293B"/>
                            </a:solidFill>
                            <a:latin typeface="Cambria Math" panose="02040503050406030204" pitchFamily="18" charset="0"/>
                          </a:rPr>
                          <m:t>tan</m:t>
                        </m:r>
                        <m:r>
                          <a:rPr lang="vi-VN" sz="2100" b="0">
                            <a:solidFill>
                              <a:srgbClr val="1E293B"/>
                            </a:solidFill>
                            <a:latin typeface="Cambria Math" panose="02040503050406030204" pitchFamily="18" charset="0"/>
                          </a:rPr>
                          <m:t>α</m:t>
                        </m:r>
                      </m:den>
                    </m:f>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4</m:t>
                        </m:r>
                      </m:num>
                      <m:den>
                        <m:r>
                          <a:rPr lang="vi-VN" sz="2100" b="0">
                            <a:solidFill>
                              <a:srgbClr val="1E293B"/>
                            </a:solidFill>
                            <a:latin typeface="Cambria Math" panose="02040503050406030204" pitchFamily="18" charset="0"/>
                          </a:rPr>
                          <m:t>3</m:t>
                        </m:r>
                      </m:den>
                    </m:f>
                  </m:oMath>
                </a14:m>
                <a:r>
                  <a:rPr sz="2100">
                    <a:solidFill>
                      <a:srgbClr val="1E293B"/>
                    </a:solidFill>
                    <a:latin typeface="Calibri"/>
                  </a:rPr>
                  <a:t>.</a:t>
                </a:r>
              </a:p>
            </p:txBody>
          </p:sp>
        </mc:Choice>
        <mc:Fallback>
          <p:sp>
            <p:nvSpPr>
              <p:cNvPr id="11" name="TextBox 10"/>
              <p:cNvSpPr txBox="1"/>
              <p:nvPr/>
            </p:nvSpPr>
            <p:spPr>
              <a:xfrm>
                <a:off x="713232" y="3065526"/>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\tan\alpha=\frac{\sin\alpha}{\cos\alpha}=-\frac{3}{4}</a:t>
                </a:r>
                <a:r>
                  <a:rPr sz="2100">
                    <a:solidFill>
                      <a:srgbClr val="1E293B"/>
                    </a:solidFill>
                    <a:latin typeface="Calibri"/>
                  </a:rPr>
                  <a:t>; </a:t>
                </a:r>
                <a:r>
                  <a:rPr lang="vi-VN"/>
                  <a:t>\cot\alpha=\frac{1}{\tan\alpha}=-\frac{4}{3}</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119372"/>
                <a:ext cx="11064240" cy="781811"/>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7.</a:t>
                </a:r>
                <a:r>
                  <a:rPr sz="2100">
                    <a:solidFill>
                      <a:srgbClr val="1E293B"/>
                    </a:solidFill>
                    <a:latin typeface="Calibri"/>
                  </a:rPr>
                  <a:t> Tính các giá trị lượng giác của góc </a:t>
                </a:r>
                <a14:m>
                  <m:oMath xmlns:m="http://schemas.openxmlformats.org/officeDocument/2006/math">
                    <m:r>
                      <a:rPr lang="vi-VN" sz="2100" b="0">
                        <a:solidFill>
                          <a:srgbClr val="1E293B"/>
                        </a:solidFill>
                        <a:latin typeface="Cambria Math" panose="02040503050406030204" pitchFamily="18" charset="0"/>
                      </a:rPr>
                      <m:t>α</m:t>
                    </m:r>
                  </m:oMath>
                </a14:m>
                <a:r>
                  <a:rPr sz="2100">
                    <a:solidFill>
                      <a:srgbClr val="1E293B"/>
                    </a:solidFill>
                    <a:latin typeface="Calibri"/>
                  </a:rPr>
                  <a:t>, biết </a:t>
                </a:r>
                <a14:m>
                  <m:oMath xmlns:m="http://schemas.openxmlformats.org/officeDocument/2006/math">
                    <m:r>
                      <m:rPr>
                        <m:sty m:val="p"/>
                      </m:rPr>
                      <a:rPr lang="vi-VN" sz="2100" b="0">
                        <a:solidFill>
                          <a:srgbClr val="1E293B"/>
                        </a:solidFill>
                        <a:latin typeface="Cambria Math" panose="02040503050406030204" pitchFamily="18" charset="0"/>
                      </a:rPr>
                      <m:t>cos</m:t>
                    </m:r>
                    <m:r>
                      <a:rPr lang="vi-VN" sz="2100" b="0">
                        <a:solidFill>
                          <a:srgbClr val="1E293B"/>
                        </a:solidFill>
                        <a:latin typeface="Cambria Math" panose="02040503050406030204" pitchFamily="18" charset="0"/>
                      </a:rPr>
                      <m:t>α=−</m:t>
                    </m:r>
                    <m:f>
                      <m:fPr>
                        <m:type m:val="bar"/>
                      </m:fPr>
                      <m:num>
                        <m:r>
                          <a:rPr lang="vi-VN" sz="2100" b="0">
                            <a:solidFill>
                              <a:srgbClr val="1E293B"/>
                            </a:solidFill>
                            <a:latin typeface="Cambria Math" panose="02040503050406030204" pitchFamily="18" charset="0"/>
                          </a:rPr>
                          <m:t>2</m:t>
                        </m:r>
                      </m:num>
                      <m:den>
                        <m:r>
                          <a:rPr lang="vi-VN" sz="2100" b="0">
                            <a:solidFill>
                              <a:srgbClr val="1E293B"/>
                            </a:solidFill>
                            <a:latin typeface="Cambria Math" panose="02040503050406030204" pitchFamily="18" charset="0"/>
                          </a:rPr>
                          <m:t>3</m:t>
                        </m:r>
                      </m:den>
                    </m:f>
                  </m:oMath>
                </a14:m>
                <a:r>
                  <a:rPr sz="2100">
                    <a:solidFill>
                      <a:srgbClr val="1E293B"/>
                    </a:solidFill>
                    <a:latin typeface="Calibri"/>
                  </a:rPr>
                  <a:t> và </a:t>
                </a:r>
                <a14:m>
                  <m:oMath xmlns:m="http://schemas.openxmlformats.org/officeDocument/2006/math">
                    <m:r>
                      <a:rPr lang="vi-VN" sz="2100" b="0">
                        <a:solidFill>
                          <a:srgbClr val="1E293B"/>
                        </a:solidFill>
                        <a:latin typeface="Cambria Math" panose="02040503050406030204" pitchFamily="18" charset="0"/>
                      </a:rPr>
                      <m:t>π&lt;α&lt;</m:t>
                    </m:r>
                    <m:f>
                      <m:fPr>
                        <m:type m:val="bar"/>
                      </m:fPr>
                      <m:num>
                        <m:r>
                          <a:rPr lang="vi-VN" sz="2100" b="0">
                            <a:solidFill>
                              <a:srgbClr val="1E293B"/>
                            </a:solidFill>
                            <a:latin typeface="Cambria Math" panose="02040503050406030204" pitchFamily="18" charset="0"/>
                          </a:rPr>
                          <m:t>3π</m:t>
                        </m:r>
                      </m:num>
                      <m:den>
                        <m:r>
                          <a:rPr lang="vi-VN" sz="2100" b="0">
                            <a:solidFill>
                              <a:srgbClr val="1E293B"/>
                            </a:solidFill>
                            <a:latin typeface="Cambria Math" panose="02040503050406030204" pitchFamily="18" charset="0"/>
                          </a:rPr>
                          <m:t>2</m:t>
                        </m:r>
                      </m:den>
                    </m:f>
                  </m:oMath>
                </a14:m>
                <a:r>
                  <a:rPr sz="2100">
                    <a:solidFill>
                      <a:srgbClr val="1E293B"/>
                    </a:solidFill>
                    <a:latin typeface="Calibri"/>
                  </a:rPr>
                  <a:t>.</a:t>
                </a:r>
              </a:p>
            </p:txBody>
          </p:sp>
        </mc:Choice>
        <mc:Fallback>
          <p:sp>
            <p:nvSpPr>
              <p:cNvPr id="12" name="TextBox 11"/>
              <p:cNvSpPr txBox="1"/>
              <p:nvPr/>
            </p:nvSpPr>
            <p:spPr>
              <a:xfrm>
                <a:off x="548640" y="4119372"/>
                <a:ext cx="11064240" cy="781811"/>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7.</a:t>
                </a:r>
                <a:r>
                  <a:rPr sz="2100">
                    <a:solidFill>
                      <a:srgbClr val="1E293B"/>
                    </a:solidFill>
                    <a:latin typeface="Calibri"/>
                  </a:rPr>
                  <a:t> Tính các giá trị lượng giác của góc </a:t>
                </a:r>
                <a:r>
                  <a:rPr lang="vi-VN"/>
                  <a:t>\alpha</a:t>
                </a:r>
                <a:r>
                  <a:rPr sz="2100">
                    <a:solidFill>
                      <a:srgbClr val="1E293B"/>
                    </a:solidFill>
                    <a:latin typeface="Calibri"/>
                  </a:rPr>
                  <a:t>, biết </a:t>
                </a:r>
                <a:r>
                  <a:rPr lang="vi-VN"/>
                  <a:t>\cos\alpha=-\frac{2}{3}</a:t>
                </a:r>
                <a:r>
                  <a:rPr sz="2100">
                    <a:solidFill>
                      <a:srgbClr val="1E293B"/>
                    </a:solidFill>
                    <a:latin typeface="Calibri"/>
                  </a:rPr>
                  <a:t> và </a:t>
                </a:r>
                <a:r>
                  <a:rPr lang="vi-VN"/>
                  <a:t>\pi&lt;\alpha&lt;\frac{3\pi}{2}</a:t>
                </a:r>
                <a:r>
                  <a:rPr sz="2100">
                    <a:solidFill>
                      <a:srgbClr val="1E293B"/>
                    </a:solidFill>
                    <a:latin typeface="Calibri"/>
                  </a:rPr>
                  <a:t>.</a:t>
                </a:r>
              </a:p>
            </p:txBody>
          </p:sp>
        </mc:Fallback>
      </mc:AlternateContent>
      <p:sp>
        <p:nvSpPr>
          <p:cNvPr id="13" name="s4_nen"/>
          <p:cNvSpPr/>
          <p:nvPr/>
        </p:nvSpPr>
        <p:spPr>
          <a:xfrm>
            <a:off x="548640" y="4974336"/>
            <a:ext cx="11064240" cy="10172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010912"/>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α&lt;0</m:t>
                    </m:r>
                  </m:oMath>
                </a14:m>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α=−</m:t>
                    </m:r>
                    <m:rad>
                      <m:radPr>
                        <m:degHide m:val="on"/>
                      </m:radPr>
                      <m:deg/>
                      <m:e>
                        <m:r>
                          <a:rPr lang="vi-VN" sz="2100" b="0">
                            <a:solidFill>
                              <a:srgbClr val="1E293B"/>
                            </a:solidFill>
                            <a:latin typeface="Cambria Math" panose="02040503050406030204" pitchFamily="18" charset="0"/>
                          </a:rPr>
                          <m:t>1−</m:t>
                        </m:r>
                        <m:f>
                          <m:fPr>
                            <m:type m:val="bar"/>
                          </m:fPr>
                          <m:num>
                            <m:r>
                              <a:rPr lang="vi-VN" sz="2100" b="0">
                                <a:solidFill>
                                  <a:srgbClr val="1E293B"/>
                                </a:solidFill>
                                <a:latin typeface="Cambria Math" panose="02040503050406030204" pitchFamily="18" charset="0"/>
                              </a:rPr>
                              <m:t>4</m:t>
                            </m:r>
                          </m:num>
                          <m:den>
                            <m:r>
                              <a:rPr lang="vi-VN" sz="2100" b="0">
                                <a:solidFill>
                                  <a:srgbClr val="1E293B"/>
                                </a:solidFill>
                                <a:latin typeface="Cambria Math" panose="02040503050406030204" pitchFamily="18" charset="0"/>
                              </a:rPr>
                              <m:t>9</m:t>
                            </m:r>
                          </m:den>
                        </m:f>
                      </m:e>
                    </m:rad>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5</m:t>
                            </m:r>
                          </m:e>
                        </m:rad>
                      </m:num>
                      <m:den>
                        <m:r>
                          <a:rPr lang="vi-VN" sz="2100" b="0">
                            <a:solidFill>
                              <a:srgbClr val="1E293B"/>
                            </a:solidFill>
                            <a:latin typeface="Cambria Math" panose="02040503050406030204" pitchFamily="18" charset="0"/>
                          </a:rPr>
                          <m:t>3</m:t>
                        </m:r>
                      </m:den>
                    </m:f>
                  </m:oMath>
                </a14:m>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tan</m:t>
                    </m:r>
                    <m:r>
                      <a:rPr lang="vi-VN" sz="2100" b="0">
                        <a:solidFill>
                          <a:srgbClr val="1E293B"/>
                        </a:solidFill>
                        <a:latin typeface="Cambria Math" panose="02040503050406030204" pitchFamily="18" charset="0"/>
                      </a:rPr>
                      <m:t>α=</m:t>
                    </m:r>
                    <m:f>
                      <m:fPr>
                        <m:type m:val="bar"/>
                      </m:fPr>
                      <m:num>
                        <m:rad>
                          <m:radPr>
                            <m:degHide m:val="on"/>
                          </m:radPr>
                          <m:deg/>
                          <m:e>
                            <m:r>
                              <a:rPr lang="vi-VN" sz="2100" b="0">
                                <a:solidFill>
                                  <a:srgbClr val="1E293B"/>
                                </a:solidFill>
                                <a:latin typeface="Cambria Math" panose="02040503050406030204" pitchFamily="18" charset="0"/>
                              </a:rPr>
                              <m:t>5</m:t>
                            </m:r>
                          </m:e>
                        </m:rad>
                      </m:num>
                      <m:den>
                        <m:r>
                          <a:rPr lang="vi-VN" sz="2100" b="0">
                            <a:solidFill>
                              <a:srgbClr val="1E293B"/>
                            </a:solidFill>
                            <a:latin typeface="Cambria Math" panose="02040503050406030204" pitchFamily="18" charset="0"/>
                          </a:rPr>
                          <m:t>2</m:t>
                        </m:r>
                      </m:den>
                    </m:f>
                  </m:oMath>
                </a14:m>
                <a:r>
                  <a:rPr sz="2100">
                    <a:solidFill>
                      <a:srgbClr val="1E293B"/>
                    </a:solidFill>
                    <a:latin typeface="Calibri"/>
                  </a:rPr>
                  <a:t>; </a:t>
                </a:r>
                <a14:m>
                  <m:oMath xmlns:m="http://schemas.openxmlformats.org/officeDocument/2006/math">
                    <m:r>
                      <m:rPr>
                        <m:sty m:val="p"/>
                      </m:rPr>
                      <a:rPr lang="vi-VN" sz="2100" b="0">
                        <a:solidFill>
                          <a:srgbClr val="1E293B"/>
                        </a:solidFill>
                        <a:latin typeface="Cambria Math" panose="02040503050406030204" pitchFamily="18" charset="0"/>
                      </a:rPr>
                      <m:t>cot</m:t>
                    </m:r>
                    <m:r>
                      <a:rPr lang="vi-VN" sz="2100" b="0">
                        <a:solidFill>
                          <a:srgbClr val="1E293B"/>
                        </a:solidFill>
                        <a:latin typeface="Cambria Math" panose="02040503050406030204" pitchFamily="18" charset="0"/>
                      </a:rPr>
                      <m:t>α=</m:t>
                    </m:r>
                    <m:f>
                      <m:fPr>
                        <m:type m:val="bar"/>
                      </m:fPr>
                      <m:num>
                        <m:r>
                          <a:rPr lang="vi-VN" sz="2100" b="0">
                            <a:solidFill>
                              <a:srgbClr val="1E293B"/>
                            </a:solidFill>
                            <a:latin typeface="Cambria Math" panose="02040503050406030204" pitchFamily="18" charset="0"/>
                          </a:rPr>
                          <m:t>2</m:t>
                        </m:r>
                      </m:num>
                      <m:den>
                        <m:rad>
                          <m:radPr>
                            <m:degHide m:val="on"/>
                          </m:radPr>
                          <m:deg/>
                          <m:e>
                            <m:r>
                              <a:rPr lang="vi-VN" sz="2100" b="0">
                                <a:solidFill>
                                  <a:srgbClr val="1E293B"/>
                                </a:solidFill>
                                <a:latin typeface="Cambria Math" panose="02040503050406030204" pitchFamily="18" charset="0"/>
                              </a:rPr>
                              <m:t>5</m:t>
                            </m:r>
                          </m:e>
                        </m:rad>
                      </m:den>
                    </m:f>
                  </m:oMath>
                </a14:m>
                <a:r>
                  <a:rPr sz="2100">
                    <a:solidFill>
                      <a:srgbClr val="1E293B"/>
                    </a:solidFill>
                    <a:latin typeface="Calibri"/>
                  </a:rPr>
                  <a:t>.</a:t>
                </a:r>
              </a:p>
            </p:txBody>
          </p:sp>
        </mc:Choice>
        <mc:Fallback>
          <p:sp>
            <p:nvSpPr>
              <p:cNvPr id="14" name="TextBox 13"/>
              <p:cNvSpPr txBox="1"/>
              <p:nvPr/>
            </p:nvSpPr>
            <p:spPr>
              <a:xfrm>
                <a:off x="713232" y="5010912"/>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 </a:t>
                </a:r>
                <a:r>
                  <a:rPr lang="vi-VN"/>
                  <a:t>\sin\alpha&lt;0</a:t>
                </a:r>
                <a:r>
                  <a:rPr sz="2100">
                    <a:solidFill>
                      <a:srgbClr val="1E293B"/>
                    </a:solidFill>
                    <a:latin typeface="Calibri"/>
                  </a:rPr>
                  <a:t>: </a:t>
                </a:r>
                <a:r>
                  <a:rPr lang="vi-VN"/>
                  <a:t>\sin\alpha=-\sqrt{1-\frac{4}{9}}=-\frac{\sqrt{5}}{3}</a:t>
                </a:r>
                <a:r>
                  <a:rPr sz="2100">
                    <a:solidFill>
                      <a:srgbClr val="1E293B"/>
                    </a:solidFill>
                    <a:latin typeface="Calibri"/>
                  </a:rPr>
                  <a:t>; </a:t>
                </a:r>
                <a:r>
                  <a:rPr lang="vi-VN"/>
                  <a:t>\tan\alpha=\frac{\sqrt{5}}{2}</a:t>
                </a:r>
                <a:r>
                  <a:rPr sz="2100">
                    <a:solidFill>
                      <a:srgbClr val="1E293B"/>
                    </a:solidFill>
                    <a:latin typeface="Calibri"/>
                  </a:rPr>
                  <a:t>; </a:t>
                </a:r>
                <a:r>
                  <a:rPr lang="vi-VN"/>
                  <a:t>\cot\alpha=\frac{2}{\sqrt{5}}</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GIÁ TRỊ LƯỢNG GIÁC CỦA CÁC GÓC CÓ LIÊN QUAN ĐẶC BIỆT (SGK TR.14 – 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30</a:t>
            </a:r>
          </a:p>
        </p:txBody>
      </p:sp>
      <mc:AlternateContent xmlns:mc="http://schemas.openxmlformats.org/markup-compatibility/2006">
        <mc:Choice xmlns:a14="http://schemas.microsoft.com/office/drawing/2010/main" Requires="a14">
          <p:sp>
            <p:nvSpPr>
              <p:cNvPr id="7" name="TextBox 6"/>
              <p:cNvSpPr txBox="1"/>
              <p:nvPr/>
            </p:nvSpPr>
            <p:spPr>
              <a:xfrm>
                <a:off x="548640" y="132588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HĐ7.</a:t>
                </a:r>
                <a:r>
                  <a:rPr sz="2000">
                    <a:solidFill>
                      <a:srgbClr val="1E293B"/>
                    </a:solidFill>
                    <a:latin typeface="Calibri"/>
                  </a:rPr>
                  <a:t> Hai điểm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N</m:t>
                    </m:r>
                  </m:oMath>
                </a14:m>
                <a:r>
                  <a:rPr sz="2000">
                    <a:solidFill>
                      <a:srgbClr val="1E293B"/>
                    </a:solidFill>
                    <a:latin typeface="Calibri"/>
                  </a:rPr>
                  <a:t> xác định bởi hai góc đối nhau </a:t>
                </a:r>
                <a14:m>
                  <m:oMath xmlns:m="http://schemas.openxmlformats.org/officeDocument/2006/math">
                    <m:r>
                      <a:rPr lang="vi-VN" sz="2000" b="0">
                        <a:solidFill>
                          <a:srgbClr val="1E293B"/>
                        </a:solidFill>
                        <a:latin typeface="Cambria Math" panose="02040503050406030204" pitchFamily="18" charset="0"/>
                      </a:rPr>
                      <m:t>α</m:t>
                    </m:r>
                  </m:oMath>
                </a14:m>
                <a:r>
                  <a:rPr sz="2000">
                    <a:solidFill>
                      <a:srgbClr val="1E293B"/>
                    </a:solidFill>
                    <a:latin typeface="Calibri"/>
                  </a:rPr>
                  <a:t> và </a:t>
                </a:r>
                <a14:m>
                  <m:oMath xmlns:m="http://schemas.openxmlformats.org/officeDocument/2006/math">
                    <m:r>
                      <a:rPr lang="vi-VN" sz="2000" b="0">
                        <a:solidFill>
                          <a:srgbClr val="1E293B"/>
                        </a:solidFill>
                        <a:latin typeface="Cambria Math" panose="02040503050406030204" pitchFamily="18" charset="0"/>
                      </a:rPr>
                      <m:t>−α</m:t>
                    </m:r>
                  </m:oMath>
                </a14:m>
                <a:r>
                  <a:rPr sz="2000">
                    <a:solidFill>
                      <a:srgbClr val="1E293B"/>
                    </a:solidFill>
                    <a:latin typeface="Calibri"/>
                  </a:rPr>
                  <a:t> (H.1.12a): nhận xét vị trí của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N</m:t>
                    </m:r>
                  </m:oMath>
                </a14:m>
                <a:r>
                  <a:rPr sz="2000">
                    <a:solidFill>
                      <a:srgbClr val="1E293B"/>
                    </a:solidFill>
                    <a:latin typeface="Calibri"/>
                  </a:rPr>
                  <a:t>; liên hệ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(−α)</m:t>
                    </m:r>
                  </m:oMath>
                </a14:m>
                <a:r>
                  <a:rPr sz="2000">
                    <a:solidFill>
                      <a:srgbClr val="1E293B"/>
                    </a:solidFill>
                    <a:latin typeface="Calibri"/>
                  </a:rPr>
                  <a:t> và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α</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sin</m:t>
                    </m:r>
                    <m:r>
                      <a:rPr lang="vi-VN" sz="2000" b="0">
                        <a:solidFill>
                          <a:srgbClr val="1E293B"/>
                        </a:solidFill>
                        <a:latin typeface="Cambria Math" panose="02040503050406030204" pitchFamily="18" charset="0"/>
                      </a:rPr>
                      <m:t>(−α)</m:t>
                    </m:r>
                  </m:oMath>
                </a14:m>
                <a:r>
                  <a:rPr sz="2000">
                    <a:solidFill>
                      <a:srgbClr val="1E293B"/>
                    </a:solidFill>
                    <a:latin typeface="Calibri"/>
                  </a:rPr>
                  <a:t> và </a:t>
                </a:r>
                <a14:m>
                  <m:oMath xmlns:m="http://schemas.openxmlformats.org/officeDocument/2006/math">
                    <m:r>
                      <m:rPr>
                        <m:sty m:val="p"/>
                      </m:rPr>
                      <a:rPr lang="vi-VN" sz="2000" b="0">
                        <a:solidFill>
                          <a:srgbClr val="1E293B"/>
                        </a:solidFill>
                        <a:latin typeface="Cambria Math" panose="02040503050406030204" pitchFamily="18" charset="0"/>
                      </a:rPr>
                      <m:t>sin</m:t>
                    </m:r>
                    <m:r>
                      <a:rPr lang="vi-VN" sz="2000" b="0">
                        <a:solidFill>
                          <a:srgbClr val="1E293B"/>
                        </a:solidFill>
                        <a:latin typeface="Cambria Math" panose="02040503050406030204" pitchFamily="18" charset="0"/>
                      </a:rPr>
                      <m:t>α</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tan</m:t>
                    </m:r>
                    <m:r>
                      <m:rPr>
                        <m:sty m:val="p"/>
                      </m:rPr>
                      <a:rPr lang="vi-VN" sz="2000" b="0">
                        <a:solidFill>
                          <a:srgbClr val="1E293B"/>
                        </a:solidFill>
                        <a:latin typeface="Cambria Math" panose="02040503050406030204" pitchFamily="18" charset="0"/>
                      </a:rPr>
                      <m:t> </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cot</m:t>
                    </m:r>
                    <m:r>
                      <m:rPr>
                        <m:sty m:val="p"/>
                      </m:rPr>
                      <a:rPr lang="vi-VN" sz="2000" b="0">
                        <a:solidFill>
                          <a:srgbClr val="1E293B"/>
                        </a:solidFill>
                        <a:latin typeface="Cambria Math" panose="02040503050406030204" pitchFamily="18" charset="0"/>
                      </a:rPr>
                      <m:t> </m:t>
                    </m:r>
                  </m:oMath>
                </a14:m>
                <a:r>
                  <a:rPr sz="2000">
                    <a:solidFill>
                      <a:srgbClr val="1E293B"/>
                    </a:solidFill>
                    <a:latin typeface="Calibri"/>
                  </a:rPr>
                  <a:t>.</a:t>
                </a:r>
              </a:p>
            </p:txBody>
          </p:sp>
        </mc:Choice>
        <mc:Fallback>
          <p:sp>
            <p:nvSpPr>
              <p:cNvPr id="7" name="TextBox 6"/>
              <p:cNvSpPr txBox="1"/>
              <p:nvPr/>
            </p:nvSpPr>
            <p:spPr>
              <a:xfrm>
                <a:off x="548640" y="132588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HĐ7.</a:t>
                </a:r>
                <a:r>
                  <a:rPr sz="2000">
                    <a:solidFill>
                      <a:srgbClr val="1E293B"/>
                    </a:solidFill>
                    <a:latin typeface="Calibri"/>
                  </a:rPr>
                  <a:t> Hai điểm </a:t>
                </a:r>
                <a:r>
                  <a:rPr lang="vi-VN"/>
                  <a:t>M</a:t>
                </a:r>
                <a:r>
                  <a:rPr sz="2000">
                    <a:solidFill>
                      <a:srgbClr val="1E293B"/>
                    </a:solidFill>
                    <a:latin typeface="Calibri"/>
                  </a:rPr>
                  <a:t>, </a:t>
                </a:r>
                <a:r>
                  <a:rPr lang="vi-VN"/>
                  <a:t>N</a:t>
                </a:r>
                <a:r>
                  <a:rPr sz="2000">
                    <a:solidFill>
                      <a:srgbClr val="1E293B"/>
                    </a:solidFill>
                    <a:latin typeface="Calibri"/>
                  </a:rPr>
                  <a:t> xác định bởi hai góc đối nhau </a:t>
                </a:r>
                <a:r>
                  <a:rPr lang="vi-VN"/>
                  <a:t>\alpha</a:t>
                </a:r>
                <a:r>
                  <a:rPr sz="2000">
                    <a:solidFill>
                      <a:srgbClr val="1E293B"/>
                    </a:solidFill>
                    <a:latin typeface="Calibri"/>
                  </a:rPr>
                  <a:t> và </a:t>
                </a:r>
                <a:r>
                  <a:rPr lang="vi-VN"/>
                  <a:t>-\alpha</a:t>
                </a:r>
                <a:r>
                  <a:rPr sz="2000">
                    <a:solidFill>
                      <a:srgbClr val="1E293B"/>
                    </a:solidFill>
                    <a:latin typeface="Calibri"/>
                  </a:rPr>
                  <a:t> (H.1.12a): nhận xét vị trí của </a:t>
                </a:r>
                <a:r>
                  <a:rPr lang="vi-VN"/>
                  <a:t>M</a:t>
                </a:r>
                <a:r>
                  <a:rPr sz="2000">
                    <a:solidFill>
                      <a:srgbClr val="1E293B"/>
                    </a:solidFill>
                    <a:latin typeface="Calibri"/>
                  </a:rPr>
                  <a:t>, </a:t>
                </a:r>
                <a:r>
                  <a:rPr lang="vi-VN"/>
                  <a:t>N</a:t>
                </a:r>
                <a:r>
                  <a:rPr sz="2000">
                    <a:solidFill>
                      <a:srgbClr val="1E293B"/>
                    </a:solidFill>
                    <a:latin typeface="Calibri"/>
                  </a:rPr>
                  <a:t>; liên hệ </a:t>
                </a:r>
                <a:r>
                  <a:rPr lang="vi-VN"/>
                  <a:t>\cos(-\alpha)</a:t>
                </a:r>
                <a:r>
                  <a:rPr sz="2000">
                    <a:solidFill>
                      <a:srgbClr val="1E293B"/>
                    </a:solidFill>
                    <a:latin typeface="Calibri"/>
                  </a:rPr>
                  <a:t> và </a:t>
                </a:r>
                <a:r>
                  <a:rPr lang="vi-VN"/>
                  <a:t>\cos\alpha</a:t>
                </a:r>
                <a:r>
                  <a:rPr sz="2000">
                    <a:solidFill>
                      <a:srgbClr val="1E293B"/>
                    </a:solidFill>
                    <a:latin typeface="Calibri"/>
                  </a:rPr>
                  <a:t>; </a:t>
                </a:r>
                <a:r>
                  <a:rPr lang="vi-VN"/>
                  <a:t>\sin(-\alpha)</a:t>
                </a:r>
                <a:r>
                  <a:rPr sz="2000">
                    <a:solidFill>
                      <a:srgbClr val="1E293B"/>
                    </a:solidFill>
                    <a:latin typeface="Calibri"/>
                  </a:rPr>
                  <a:t> và </a:t>
                </a:r>
                <a:r>
                  <a:rPr lang="vi-VN"/>
                  <a:t>\sin\alpha</a:t>
                </a:r>
                <a:r>
                  <a:rPr sz="2000">
                    <a:solidFill>
                      <a:srgbClr val="1E293B"/>
                    </a:solidFill>
                    <a:latin typeface="Calibri"/>
                  </a:rPr>
                  <a:t>; </a:t>
                </a:r>
                <a:r>
                  <a:rPr lang="vi-VN"/>
                  <a:t>\tan</a:t>
                </a:r>
                <a:r>
                  <a:rPr sz="2000">
                    <a:solidFill>
                      <a:srgbClr val="1E293B"/>
                    </a:solidFill>
                    <a:latin typeface="Calibri"/>
                  </a:rPr>
                  <a:t>; </a:t>
                </a:r>
                <a:r>
                  <a:rPr lang="vi-VN"/>
                  <a:t>\cot</a:t>
                </a:r>
                <a:r>
                  <a:rPr sz="2000">
                    <a:solidFill>
                      <a:srgbClr val="1E293B"/>
                    </a:solidFill>
                    <a:latin typeface="Calibri"/>
                  </a:rPr>
                  <a:t>.</a:t>
                </a:r>
              </a:p>
            </p:txBody>
          </p:sp>
        </mc:Fallback>
      </mc:AlternateContent>
      <p:sp>
        <p:nvSpPr>
          <p:cNvPr id="8" name="s1_nen"/>
          <p:cNvSpPr/>
          <p:nvPr/>
        </p:nvSpPr>
        <p:spPr>
          <a:xfrm>
            <a:off x="548640" y="2182368"/>
            <a:ext cx="11064240" cy="56997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18944"/>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M</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N</m:t>
                    </m:r>
                  </m:oMath>
                </a14:m>
                <a:r>
                  <a:rPr sz="2000">
                    <a:solidFill>
                      <a:srgbClr val="1E293B"/>
                    </a:solidFill>
                    <a:latin typeface="Calibri"/>
                  </a:rPr>
                  <a:t> đối xứng qua trục </a:t>
                </a:r>
                <a14:m>
                  <m:oMath xmlns:m="http://schemas.openxmlformats.org/officeDocument/2006/math">
                    <m:r>
                      <a:rPr lang="vi-VN" sz="2000" b="0">
                        <a:solidFill>
                          <a:srgbClr val="1E293B"/>
                        </a:solidFill>
                        <a:latin typeface="Cambria Math" panose="02040503050406030204" pitchFamily="18" charset="0"/>
                      </a:rPr>
                      <m:t>Ox</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(−α)=</m:t>
                    </m:r>
                    <m:r>
                      <m:rPr>
                        <m:sty m:val="p"/>
                      </m:rPr>
                      <a:rPr lang="vi-VN" sz="2000" b="0">
                        <a:solidFill>
                          <a:srgbClr val="1E293B"/>
                        </a:solidFill>
                        <a:latin typeface="Cambria Math" panose="02040503050406030204" pitchFamily="18" charset="0"/>
                      </a:rPr>
                      <m:t>cos</m:t>
                    </m:r>
                    <m:r>
                      <a:rPr lang="vi-VN" sz="2000" b="0">
                        <a:solidFill>
                          <a:srgbClr val="1E293B"/>
                        </a:solidFill>
                        <a:latin typeface="Cambria Math" panose="02040503050406030204" pitchFamily="18" charset="0"/>
                      </a:rPr>
                      <m:t>α</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sin</m:t>
                    </m:r>
                    <m:r>
                      <a:rPr lang="vi-VN" sz="2000" b="0">
                        <a:solidFill>
                          <a:srgbClr val="1E293B"/>
                        </a:solidFill>
                        <a:latin typeface="Cambria Math" panose="02040503050406030204" pitchFamily="18" charset="0"/>
                      </a:rPr>
                      <m:t>(−α)=−</m:t>
                    </m:r>
                    <m:r>
                      <m:rPr>
                        <m:sty m:val="p"/>
                      </m:rPr>
                      <a:rPr lang="vi-VN" sz="2000" b="0">
                        <a:solidFill>
                          <a:srgbClr val="1E293B"/>
                        </a:solidFill>
                        <a:latin typeface="Cambria Math" panose="02040503050406030204" pitchFamily="18" charset="0"/>
                      </a:rPr>
                      <m:t>sin</m:t>
                    </m:r>
                    <m:r>
                      <a:rPr lang="vi-VN" sz="2000" b="0">
                        <a:solidFill>
                          <a:srgbClr val="1E293B"/>
                        </a:solidFill>
                        <a:latin typeface="Cambria Math" panose="02040503050406030204" pitchFamily="18" charset="0"/>
                      </a:rPr>
                      <m:t>α</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tan</m:t>
                    </m:r>
                    <m:r>
                      <a:rPr lang="vi-VN" sz="2000" b="0">
                        <a:solidFill>
                          <a:srgbClr val="1E293B"/>
                        </a:solidFill>
                        <a:latin typeface="Cambria Math" panose="02040503050406030204" pitchFamily="18" charset="0"/>
                      </a:rPr>
                      <m:t>(−α)=−</m:t>
                    </m:r>
                    <m:r>
                      <m:rPr>
                        <m:sty m:val="p"/>
                      </m:rPr>
                      <a:rPr lang="vi-VN" sz="2000" b="0">
                        <a:solidFill>
                          <a:srgbClr val="1E293B"/>
                        </a:solidFill>
                        <a:latin typeface="Cambria Math" panose="02040503050406030204" pitchFamily="18" charset="0"/>
                      </a:rPr>
                      <m:t>tan</m:t>
                    </m:r>
                    <m:r>
                      <a:rPr lang="vi-VN" sz="2000" b="0">
                        <a:solidFill>
                          <a:srgbClr val="1E293B"/>
                        </a:solidFill>
                        <a:latin typeface="Cambria Math" panose="02040503050406030204" pitchFamily="18" charset="0"/>
                      </a:rPr>
                      <m:t>α</m:t>
                    </m:r>
                  </m:oMath>
                </a14:m>
                <a:r>
                  <a:rPr sz="2000">
                    <a:solidFill>
                      <a:srgbClr val="1E293B"/>
                    </a:solidFill>
                    <a:latin typeface="Calibri"/>
                  </a:rPr>
                  <a:t>; </a:t>
                </a:r>
                <a14:m>
                  <m:oMath xmlns:m="http://schemas.openxmlformats.org/officeDocument/2006/math">
                    <m:r>
                      <m:rPr>
                        <m:sty m:val="p"/>
                      </m:rPr>
                      <a:rPr lang="vi-VN" sz="2000" b="0">
                        <a:solidFill>
                          <a:srgbClr val="1E293B"/>
                        </a:solidFill>
                        <a:latin typeface="Cambria Math" panose="02040503050406030204" pitchFamily="18" charset="0"/>
                      </a:rPr>
                      <m:t>cot</m:t>
                    </m:r>
                    <m:r>
                      <a:rPr lang="vi-VN" sz="2000" b="0">
                        <a:solidFill>
                          <a:srgbClr val="1E293B"/>
                        </a:solidFill>
                        <a:latin typeface="Cambria Math" panose="02040503050406030204" pitchFamily="18" charset="0"/>
                      </a:rPr>
                      <m:t>(−α)=−</m:t>
                    </m:r>
                    <m:r>
                      <m:rPr>
                        <m:sty m:val="p"/>
                      </m:rPr>
                      <a:rPr lang="vi-VN" sz="2000" b="0">
                        <a:solidFill>
                          <a:srgbClr val="1E293B"/>
                        </a:solidFill>
                        <a:latin typeface="Cambria Math" panose="02040503050406030204" pitchFamily="18" charset="0"/>
                      </a:rPr>
                      <m:t>cot</m:t>
                    </m:r>
                    <m:r>
                      <a:rPr lang="vi-VN" sz="2000" b="0">
                        <a:solidFill>
                          <a:srgbClr val="1E293B"/>
                        </a:solidFill>
                        <a:latin typeface="Cambria Math" panose="02040503050406030204" pitchFamily="18" charset="0"/>
                      </a:rPr>
                      <m:t>α</m:t>
                    </m:r>
                  </m:oMath>
                </a14:m>
                <a:r>
                  <a:rPr sz="2000">
                    <a:solidFill>
                      <a:srgbClr val="1E293B"/>
                    </a:solidFill>
                    <a:latin typeface="Calibri"/>
                  </a:rPr>
                  <a:t>.</a:t>
                </a:r>
              </a:p>
            </p:txBody>
          </p:sp>
        </mc:Choice>
        <mc:Fallback>
          <p:sp>
            <p:nvSpPr>
              <p:cNvPr id="9" name="TextBox 8"/>
              <p:cNvSpPr txBox="1"/>
              <p:nvPr/>
            </p:nvSpPr>
            <p:spPr>
              <a:xfrm>
                <a:off x="713232" y="2218944"/>
                <a:ext cx="10735056" cy="49682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 </a:t>
                </a:r>
                <a:r>
                  <a:rPr lang="vi-VN"/>
                  <a:t>M</a:t>
                </a:r>
                <a:r>
                  <a:rPr sz="2000">
                    <a:solidFill>
                      <a:srgbClr val="1E293B"/>
                    </a:solidFill>
                    <a:latin typeface="Calibri"/>
                  </a:rPr>
                  <a:t>, </a:t>
                </a:r>
                <a:r>
                  <a:rPr lang="vi-VN"/>
                  <a:t>N</a:t>
                </a:r>
                <a:r>
                  <a:rPr sz="2000">
                    <a:solidFill>
                      <a:srgbClr val="1E293B"/>
                    </a:solidFill>
                    <a:latin typeface="Calibri"/>
                  </a:rPr>
                  <a:t> đối xứng qua trục </a:t>
                </a:r>
                <a:r>
                  <a:rPr lang="vi-VN"/>
                  <a:t>Ox</a:t>
                </a:r>
                <a:r>
                  <a:rPr sz="2000">
                    <a:solidFill>
                      <a:srgbClr val="1E293B"/>
                    </a:solidFill>
                    <a:latin typeface="Calibri"/>
                  </a:rPr>
                  <a:t>: </a:t>
                </a:r>
                <a:r>
                  <a:rPr lang="vi-VN"/>
                  <a:t>\cos(-\alpha)=\cos\alpha</a:t>
                </a:r>
                <a:r>
                  <a:rPr sz="2000">
                    <a:solidFill>
                      <a:srgbClr val="1E293B"/>
                    </a:solidFill>
                    <a:latin typeface="Calibri"/>
                  </a:rPr>
                  <a:t>; </a:t>
                </a:r>
                <a:r>
                  <a:rPr lang="vi-VN"/>
                  <a:t>\sin(-\alpha)=-\sin\alpha</a:t>
                </a:r>
                <a:r>
                  <a:rPr sz="2000">
                    <a:solidFill>
                      <a:srgbClr val="1E293B"/>
                    </a:solidFill>
                    <a:latin typeface="Calibri"/>
                  </a:rPr>
                  <a:t>; </a:t>
                </a:r>
                <a:r>
                  <a:rPr lang="vi-VN"/>
                  <a:t>\tan(-\alpha)=-\tan\alpha</a:t>
                </a:r>
                <a:r>
                  <a:rPr sz="2000">
                    <a:solidFill>
                      <a:srgbClr val="1E293B"/>
                    </a:solidFill>
                    <a:latin typeface="Calibri"/>
                  </a:rPr>
                  <a:t>; </a:t>
                </a:r>
                <a:r>
                  <a:rPr lang="vi-VN"/>
                  <a:t>\cot(-\alpha)=-\cot\alpha</a:t>
                </a:r>
                <a:r>
                  <a:rPr sz="2000">
                    <a:solidFill>
                      <a:srgbClr val="1E293B"/>
                    </a:solidFill>
                    <a:latin typeface="Calibri"/>
                  </a:rPr>
                  <a:t>.</a:t>
                </a:r>
              </a:p>
            </p:txBody>
          </p:sp>
        </mc:Fallback>
      </mc:AlternateContent>
      <p:sp>
        <p:nvSpPr>
          <p:cNvPr id="10" name="s2_nen"/>
          <p:cNvSpPr/>
          <p:nvPr/>
        </p:nvSpPr>
        <p:spPr>
          <a:xfrm>
            <a:off x="548640" y="3017520"/>
            <a:ext cx="3566160" cy="21153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54096"/>
                <a:ext cx="3236976" cy="2042160"/>
              </a:xfrm>
              <a:prstGeom prst="rect">
                <a:avLst/>
              </a:prstGeom>
              <a:noFill/>
            </p:spPr>
            <p:txBody>
              <a:bodyPr wrap="square" anchor="ctr" lIns="45720" rIns="45720">
                <a:spAutoFit/>
              </a:bodyPr>
              <a:lstStyle/>
              <a:p>
                <a:pPr algn="ctr">
                  <a:spcAft>
                    <a:spcPts val="800"/>
                  </a:spcAft>
                </a:pPr>
                <a:r>
                  <a:rPr sz="1900" b="1">
                    <a:solidFill>
                      <a:srgbClr val="1E293B"/>
                    </a:solidFill>
                    <a:latin typeface="Calibri"/>
                  </a:rPr>
                  <a:t>Góc bù nhau</a:t>
                </a:r>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α</m:t>
                    </m:r>
                  </m:oMath>
                </a14:m>
              </a:p>
            </p:txBody>
          </p:sp>
        </mc:Choice>
        <mc:Fallback>
          <p:sp>
            <p:nvSpPr>
              <p:cNvPr id="11" name="TextBox 10"/>
              <p:cNvSpPr txBox="1"/>
              <p:nvPr/>
            </p:nvSpPr>
            <p:spPr>
              <a:xfrm>
                <a:off x="713232" y="3054096"/>
                <a:ext cx="3236976" cy="2042160"/>
              </a:xfrm>
              <a:prstGeom prst="rect">
                <a:avLst/>
              </a:prstGeom>
              <a:noFill/>
            </p:spPr>
            <p:txBody>
              <a:bodyPr wrap="square" anchor="ctr" lIns="45720" rIns="45720">
                <a:spAutoFit/>
              </a:bodyPr>
              <a:lstStyle/>
              <a:p>
                <a:pPr algn="ctr">
                  <a:spcAft>
                    <a:spcPts val="800"/>
                  </a:spcAft>
                </a:pPr>
                <a:r>
                  <a:rPr sz="1900" b="1">
                    <a:solidFill>
                      <a:srgbClr val="1E293B"/>
                    </a:solidFill>
                    <a:latin typeface="Calibri"/>
                  </a:rPr>
                  <a:t>Góc bù nhau</a:t>
                </a:r>
              </a:p>
              <a:p>
                <a:pPr algn="l">
                  <a:spcAft>
                    <a:spcPts val="800"/>
                  </a:spcAft>
                </a:pPr>
                <a:r>
                  <a:rPr sz="1900">
                    <a:solidFill>
                      <a:srgbClr val="1E293B"/>
                    </a:solidFill>
                    <a:latin typeface="Calibri"/>
                  </a:rPr>
                  <a:t> </a:t>
                </a:r>
                <a:r>
                  <a:rPr lang="vi-VN"/>
                  <a:t>\sin(\pi-\alpha)=\sin\alpha</a:t>
                </a:r>
              </a:p>
              <a:p>
                <a:pPr algn="l">
                  <a:spcAft>
                    <a:spcPts val="800"/>
                  </a:spcAft>
                </a:pPr>
                <a:r>
                  <a:rPr sz="1900">
                    <a:solidFill>
                      <a:srgbClr val="1E293B"/>
                    </a:solidFill>
                    <a:latin typeface="Calibri"/>
                  </a:rPr>
                  <a:t> </a:t>
                </a:r>
                <a:r>
                  <a:rPr lang="vi-VN"/>
                  <a:t>\cos(\pi-\alpha)=-\cos\alpha</a:t>
                </a:r>
              </a:p>
              <a:p>
                <a:pPr algn="l">
                  <a:spcAft>
                    <a:spcPts val="800"/>
                  </a:spcAft>
                </a:pPr>
                <a:r>
                  <a:rPr sz="1900">
                    <a:solidFill>
                      <a:srgbClr val="1E293B"/>
                    </a:solidFill>
                    <a:latin typeface="Calibri"/>
                  </a:rPr>
                  <a:t> </a:t>
                </a:r>
                <a:r>
                  <a:rPr lang="vi-VN"/>
                  <a:t>\tan(\pi-\alpha)=-\tan\alpha</a:t>
                </a:r>
              </a:p>
              <a:p>
                <a:pPr algn="l">
                  <a:spcAft>
                    <a:spcPts val="800"/>
                  </a:spcAft>
                </a:pPr>
                <a:r>
                  <a:rPr sz="1900">
                    <a:solidFill>
                      <a:srgbClr val="1E293B"/>
                    </a:solidFill>
                    <a:latin typeface="Calibri"/>
                  </a:rPr>
                  <a:t> </a:t>
                </a:r>
                <a:r>
                  <a:rPr lang="vi-VN"/>
                  <a:t>\cot(\pi-\alpha)=-\cot\alpha</a:t>
                </a:r>
              </a:p>
            </p:txBody>
          </p:sp>
        </mc:Fallback>
      </mc:AlternateContent>
      <p:sp>
        <p:nvSpPr>
          <p:cNvPr id="12" name="s3_nen"/>
          <p:cNvSpPr/>
          <p:nvPr/>
        </p:nvSpPr>
        <p:spPr>
          <a:xfrm>
            <a:off x="4297679" y="3017520"/>
            <a:ext cx="3566160" cy="2636520"/>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s3_chu"/>
              <p:cNvSpPr txBox="1"/>
              <p:nvPr/>
            </p:nvSpPr>
            <p:spPr>
              <a:xfrm>
                <a:off x="4462271" y="3054096"/>
                <a:ext cx="3236976" cy="2563368"/>
              </a:xfrm>
              <a:prstGeom prst="rect">
                <a:avLst/>
              </a:prstGeom>
              <a:noFill/>
            </p:spPr>
            <p:txBody>
              <a:bodyPr wrap="square" anchor="ctr" lIns="45720" rIns="45720">
                <a:spAutoFit/>
              </a:bodyPr>
              <a:lstStyle/>
              <a:p>
                <a:pPr algn="ctr">
                  <a:spcAft>
                    <a:spcPts val="800"/>
                  </a:spcAft>
                </a:pPr>
                <a:r>
                  <a:rPr sz="1900" b="1">
                    <a:solidFill>
                      <a:srgbClr val="1E293B"/>
                    </a:solidFill>
                    <a:latin typeface="Calibri"/>
                  </a:rPr>
                  <a:t>Góc phụ nhau</a:t>
                </a:r>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sin</m:t>
                    </m:r>
                    <m:d>
                      <m:dPr>
                        <m:sepChr m:val=""/>
                      </m:dPr>
                      <m:e>
                        <m:f>
                          <m:fPr>
                            <m:type m:val="bar"/>
                          </m:fPr>
                          <m:num>
                            <m:r>
                              <a:rPr lang="vi-VN" sz="1900" b="0">
                                <a:solidFill>
                                  <a:srgbClr val="1E293B"/>
                                </a:solidFill>
                                <a:latin typeface="Cambria Math" panose="02040503050406030204" pitchFamily="18" charset="0"/>
                              </a:rPr>
                              <m:t>π</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α</m:t>
                        </m:r>
                      </m:e>
                    </m:d>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cos</m:t>
                    </m:r>
                    <m:d>
                      <m:dPr>
                        <m:sepChr m:val=""/>
                      </m:dPr>
                      <m:e>
                        <m:f>
                          <m:fPr>
                            <m:type m:val="bar"/>
                          </m:fPr>
                          <m:num>
                            <m:r>
                              <a:rPr lang="vi-VN" sz="1900" b="0">
                                <a:solidFill>
                                  <a:srgbClr val="1E293B"/>
                                </a:solidFill>
                                <a:latin typeface="Cambria Math" panose="02040503050406030204" pitchFamily="18" charset="0"/>
                              </a:rPr>
                              <m:t>π</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α</m:t>
                        </m:r>
                      </m:e>
                    </m:d>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tan</m:t>
                    </m:r>
                    <m:d>
                      <m:dPr>
                        <m:sepChr m:val=""/>
                      </m:dPr>
                      <m:e>
                        <m:f>
                          <m:fPr>
                            <m:type m:val="bar"/>
                          </m:fPr>
                          <m:num>
                            <m:r>
                              <a:rPr lang="vi-VN" sz="1900" b="0">
                                <a:solidFill>
                                  <a:srgbClr val="1E293B"/>
                                </a:solidFill>
                                <a:latin typeface="Cambria Math" panose="02040503050406030204" pitchFamily="18" charset="0"/>
                              </a:rPr>
                              <m:t>π</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α</m:t>
                        </m:r>
                      </m:e>
                    </m:d>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cot</m:t>
                    </m:r>
                    <m:d>
                      <m:dPr>
                        <m:sepChr m:val=""/>
                      </m:dPr>
                      <m:e>
                        <m:f>
                          <m:fPr>
                            <m:type m:val="bar"/>
                          </m:fPr>
                          <m:num>
                            <m:r>
                              <a:rPr lang="vi-VN" sz="1900" b="0">
                                <a:solidFill>
                                  <a:srgbClr val="1E293B"/>
                                </a:solidFill>
                                <a:latin typeface="Cambria Math" panose="02040503050406030204" pitchFamily="18" charset="0"/>
                              </a:rPr>
                              <m:t>π</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m:t>
                        </m:r>
                        <m:r>
                          <a:rPr lang="vi-VN" sz="1900" b="0">
                            <a:solidFill>
                              <a:srgbClr val="1E293B"/>
                            </a:solidFill>
                            <a:latin typeface="Cambria Math" panose="02040503050406030204" pitchFamily="18" charset="0"/>
                          </a:rPr>
                          <m:t>α</m:t>
                        </m:r>
                      </m:e>
                    </m:d>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α</m:t>
                    </m:r>
                  </m:oMath>
                </a14:m>
              </a:p>
            </p:txBody>
          </p:sp>
        </mc:Choice>
        <mc:Fallback>
          <p:sp>
            <p:nvSpPr>
              <p:cNvPr id="13" name="TextBox 12"/>
              <p:cNvSpPr txBox="1"/>
              <p:nvPr/>
            </p:nvSpPr>
            <p:spPr>
              <a:xfrm>
                <a:off x="4462271" y="3054096"/>
                <a:ext cx="3236976" cy="2563368"/>
              </a:xfrm>
              <a:prstGeom prst="rect">
                <a:avLst/>
              </a:prstGeom>
              <a:noFill/>
            </p:spPr>
            <p:txBody>
              <a:bodyPr wrap="square" anchor="ctr" lIns="45720" rIns="45720">
                <a:spAutoFit/>
              </a:bodyPr>
              <a:lstStyle/>
              <a:p>
                <a:pPr algn="ctr">
                  <a:spcAft>
                    <a:spcPts val="800"/>
                  </a:spcAft>
                </a:pPr>
                <a:r>
                  <a:rPr sz="1900" b="1">
                    <a:solidFill>
                      <a:srgbClr val="1E293B"/>
                    </a:solidFill>
                    <a:latin typeface="Calibri"/>
                  </a:rPr>
                  <a:t>Góc phụ nhau</a:t>
                </a:r>
              </a:p>
              <a:p>
                <a:pPr algn="l">
                  <a:spcAft>
                    <a:spcPts val="800"/>
                  </a:spcAft>
                </a:pPr>
                <a:r>
                  <a:rPr sz="1900">
                    <a:solidFill>
                      <a:srgbClr val="1E293B"/>
                    </a:solidFill>
                    <a:latin typeface="Calibri"/>
                  </a:rPr>
                  <a:t> </a:t>
                </a:r>
                <a:r>
                  <a:rPr lang="vi-VN"/>
                  <a:t>\sin\left(\frac{\pi}{2}-\alpha\right)=\cos\alpha</a:t>
                </a:r>
              </a:p>
              <a:p>
                <a:pPr algn="l">
                  <a:spcAft>
                    <a:spcPts val="800"/>
                  </a:spcAft>
                </a:pPr>
                <a:r>
                  <a:rPr sz="1900">
                    <a:solidFill>
                      <a:srgbClr val="1E293B"/>
                    </a:solidFill>
                    <a:latin typeface="Calibri"/>
                  </a:rPr>
                  <a:t> </a:t>
                </a:r>
                <a:r>
                  <a:rPr lang="vi-VN"/>
                  <a:t>\cos\left(\frac{\pi}{2}-\alpha\right)=\sin\alpha</a:t>
                </a:r>
              </a:p>
              <a:p>
                <a:pPr algn="l">
                  <a:spcAft>
                    <a:spcPts val="800"/>
                  </a:spcAft>
                </a:pPr>
                <a:r>
                  <a:rPr sz="1900">
                    <a:solidFill>
                      <a:srgbClr val="1E293B"/>
                    </a:solidFill>
                    <a:latin typeface="Calibri"/>
                  </a:rPr>
                  <a:t> </a:t>
                </a:r>
                <a:r>
                  <a:rPr lang="vi-VN"/>
                  <a:t>\tan\left(\frac{\pi}{2}-\alpha\right)=\cot\alpha</a:t>
                </a:r>
              </a:p>
              <a:p>
                <a:pPr algn="l">
                  <a:spcAft>
                    <a:spcPts val="800"/>
                  </a:spcAft>
                </a:pPr>
                <a:r>
                  <a:rPr sz="1900">
                    <a:solidFill>
                      <a:srgbClr val="1E293B"/>
                    </a:solidFill>
                    <a:latin typeface="Calibri"/>
                  </a:rPr>
                  <a:t> </a:t>
                </a:r>
                <a:r>
                  <a:rPr lang="vi-VN"/>
                  <a:t>\cot\left(\frac{\pi}{2}-\alpha\right)=\tan\alpha</a:t>
                </a:r>
              </a:p>
            </p:txBody>
          </p:sp>
        </mc:Fallback>
      </mc:AlternateContent>
      <p:sp>
        <p:nvSpPr>
          <p:cNvPr id="14" name="s4_nen"/>
          <p:cNvSpPr/>
          <p:nvPr/>
        </p:nvSpPr>
        <p:spPr>
          <a:xfrm>
            <a:off x="8046719" y="3017520"/>
            <a:ext cx="3566160" cy="21153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4_chu"/>
              <p:cNvSpPr txBox="1"/>
              <p:nvPr/>
            </p:nvSpPr>
            <p:spPr>
              <a:xfrm>
                <a:off x="8211311" y="3054096"/>
                <a:ext cx="3236976" cy="2042160"/>
              </a:xfrm>
              <a:prstGeom prst="rect">
                <a:avLst/>
              </a:prstGeom>
              <a:noFill/>
            </p:spPr>
            <p:txBody>
              <a:bodyPr wrap="square" anchor="ctr" lIns="45720" rIns="45720">
                <a:spAutoFit/>
              </a:bodyPr>
              <a:lstStyle/>
              <a:p>
                <a:pPr algn="ctr">
                  <a:spcAft>
                    <a:spcPts val="800"/>
                  </a:spcAft>
                </a:pPr>
                <a:r>
                  <a:rPr sz="1900" b="1">
                    <a:solidFill>
                      <a:srgbClr val="1E293B"/>
                    </a:solidFill>
                    <a:latin typeface="Calibri"/>
                  </a:rPr>
                  <a:t>Góc hơn kém </a:t>
                </a:r>
                <a14:m>
                  <m:oMath xmlns:m="http://schemas.openxmlformats.org/officeDocument/2006/math">
                    <m:r>
                      <a:rPr lang="vi-VN" sz="1900" b="0">
                        <a:solidFill>
                          <a:srgbClr val="1E293B"/>
                        </a:solidFill>
                        <a:latin typeface="Cambria Math" panose="02040503050406030204" pitchFamily="18" charset="0"/>
                      </a:rPr>
                      <m:t>π</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sin</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cos</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tan</m:t>
                    </m:r>
                    <m:r>
                      <a:rPr lang="vi-VN" sz="1900" b="0">
                        <a:solidFill>
                          <a:srgbClr val="1E293B"/>
                        </a:solidFill>
                        <a:latin typeface="Cambria Math" panose="02040503050406030204" pitchFamily="18" charset="0"/>
                      </a:rPr>
                      <m:t>α</m:t>
                    </m:r>
                  </m:oMath>
                </a14:m>
              </a:p>
              <a:p>
                <a:pPr algn="l">
                  <a:spcAft>
                    <a:spcPts val="800"/>
                  </a:spcAft>
                </a:pPr>
                <a:r>
                  <a:rPr sz="1900">
                    <a:solidFill>
                      <a:srgbClr val="1E293B"/>
                    </a:solidFill>
                    <a:latin typeface="Calibri"/>
                  </a:rPr>
                  <a:t> </a:t>
                </a:r>
                <a14:m>
                  <m:oMath xmlns:m="http://schemas.openxmlformats.org/officeDocument/2006/math">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(π+α)=</m:t>
                    </m:r>
                    <m:r>
                      <m:rPr>
                        <m:sty m:val="p"/>
                      </m:rPr>
                      <a:rPr lang="vi-VN" sz="1900" b="0">
                        <a:solidFill>
                          <a:srgbClr val="1E293B"/>
                        </a:solidFill>
                        <a:latin typeface="Cambria Math" panose="02040503050406030204" pitchFamily="18" charset="0"/>
                      </a:rPr>
                      <m:t>cot</m:t>
                    </m:r>
                    <m:r>
                      <a:rPr lang="vi-VN" sz="1900" b="0">
                        <a:solidFill>
                          <a:srgbClr val="1E293B"/>
                        </a:solidFill>
                        <a:latin typeface="Cambria Math" panose="02040503050406030204" pitchFamily="18" charset="0"/>
                      </a:rPr>
                      <m:t>α</m:t>
                    </m:r>
                  </m:oMath>
                </a14:m>
              </a:p>
            </p:txBody>
          </p:sp>
        </mc:Choice>
        <mc:Fallback>
          <p:sp>
            <p:nvSpPr>
              <p:cNvPr id="15" name="TextBox 14"/>
              <p:cNvSpPr txBox="1"/>
              <p:nvPr/>
            </p:nvSpPr>
            <p:spPr>
              <a:xfrm>
                <a:off x="8211311" y="3054096"/>
                <a:ext cx="3236976" cy="2042160"/>
              </a:xfrm>
              <a:prstGeom prst="rect">
                <a:avLst/>
              </a:prstGeom>
              <a:noFill/>
            </p:spPr>
            <p:txBody>
              <a:bodyPr wrap="square" anchor="ctr" lIns="45720" rIns="45720">
                <a:spAutoFit/>
              </a:bodyPr>
              <a:lstStyle/>
              <a:p>
                <a:pPr algn="ctr">
                  <a:spcAft>
                    <a:spcPts val="800"/>
                  </a:spcAft>
                </a:pPr>
                <a:r>
                  <a:rPr sz="1900" b="1">
                    <a:solidFill>
                      <a:srgbClr val="1E293B"/>
                    </a:solidFill>
                    <a:latin typeface="Calibri"/>
                  </a:rPr>
                  <a:t>Góc hơn kém </a:t>
                </a:r>
                <a:r>
                  <a:rPr lang="vi-VN"/>
                  <a:t>\pi</a:t>
                </a:r>
              </a:p>
              <a:p>
                <a:pPr algn="l">
                  <a:spcAft>
                    <a:spcPts val="800"/>
                  </a:spcAft>
                </a:pPr>
                <a:r>
                  <a:rPr sz="1900">
                    <a:solidFill>
                      <a:srgbClr val="1E293B"/>
                    </a:solidFill>
                    <a:latin typeface="Calibri"/>
                  </a:rPr>
                  <a:t> </a:t>
                </a:r>
                <a:r>
                  <a:rPr lang="vi-VN"/>
                  <a:t>\sin(\pi+\alpha)=-\sin\alpha</a:t>
                </a:r>
              </a:p>
              <a:p>
                <a:pPr algn="l">
                  <a:spcAft>
                    <a:spcPts val="800"/>
                  </a:spcAft>
                </a:pPr>
                <a:r>
                  <a:rPr sz="1900">
                    <a:solidFill>
                      <a:srgbClr val="1E293B"/>
                    </a:solidFill>
                    <a:latin typeface="Calibri"/>
                  </a:rPr>
                  <a:t> </a:t>
                </a:r>
                <a:r>
                  <a:rPr lang="vi-VN"/>
                  <a:t>\cos(\pi+\alpha)=-\cos\alpha</a:t>
                </a:r>
              </a:p>
              <a:p>
                <a:pPr algn="l">
                  <a:spcAft>
                    <a:spcPts val="800"/>
                  </a:spcAft>
                </a:pPr>
                <a:r>
                  <a:rPr sz="1900">
                    <a:solidFill>
                      <a:srgbClr val="1E293B"/>
                    </a:solidFill>
                    <a:latin typeface="Calibri"/>
                  </a:rPr>
                  <a:t> </a:t>
                </a:r>
                <a:r>
                  <a:rPr lang="vi-VN"/>
                  <a:t>\tan(\pi+\alpha)=\tan\alpha</a:t>
                </a:r>
              </a:p>
              <a:p>
                <a:pPr algn="l">
                  <a:spcAft>
                    <a:spcPts val="800"/>
                  </a:spcAft>
                </a:pPr>
                <a:r>
                  <a:rPr sz="1900">
                    <a:solidFill>
                      <a:srgbClr val="1E293B"/>
                    </a:solidFill>
                    <a:latin typeface="Calibri"/>
                  </a:rPr>
                  <a:t> </a:t>
                </a:r>
                <a:r>
                  <a:rPr lang="vi-VN"/>
                  <a:t>\cot(\pi+\alpha)=\cot\alpha</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10 – LUYỆN TẬP 8 (SGK TR.15)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10.</a:t>
                </a:r>
                <a:r>
                  <a:rPr sz="2100">
                    <a:solidFill>
                      <a:srgbClr val="1E293B"/>
                    </a:solidFill>
                    <a:latin typeface="Calibri"/>
                  </a:rPr>
                  <a:t> Tính: a) </a:t>
                </a:r>
                <a14:m>
                  <m:oMath xmlns:m="http://schemas.openxmlformats.org/officeDocument/2006/math">
                    <m:r>
                      <m:rPr>
                        <m:sty m:val="p"/>
                      </m:rPr>
                      <a:rPr lang="vi-VN" sz="2100" b="0">
                        <a:solidFill>
                          <a:srgbClr val="1E293B"/>
                        </a:solidFill>
                        <a:latin typeface="Cambria Math" panose="02040503050406030204" pitchFamily="18" charset="0"/>
                      </a:rPr>
                      <m:t>cos</m:t>
                    </m:r>
                    <m:d>
                      <m:dPr>
                        <m:sepChr m:val=""/>
                      </m:dPr>
                      <m:e>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11π</m:t>
                            </m:r>
                          </m:num>
                          <m:den>
                            <m:r>
                              <a:rPr lang="vi-VN" sz="2100" b="0">
                                <a:solidFill>
                                  <a:srgbClr val="1E293B"/>
                                </a:solidFill>
                                <a:latin typeface="Cambria Math" panose="02040503050406030204" pitchFamily="18" charset="0"/>
                              </a:rPr>
                              <m:t>4</m:t>
                            </m:r>
                          </m:den>
                        </m:f>
                      </m:e>
                    </m:d>
                  </m:oMath>
                </a14:m>
                <a:r>
                  <a:rPr sz="2100">
                    <a:solidFill>
                      <a:srgbClr val="1E293B"/>
                    </a:solidFill>
                    <a:latin typeface="Calibri"/>
                  </a:rPr>
                  <a:t>; b) </a:t>
                </a:r>
                <a14:m>
                  <m:oMath xmlns:m="http://schemas.openxmlformats.org/officeDocument/2006/math">
                    <m:r>
                      <m:rPr>
                        <m:sty m:val="p"/>
                      </m:rPr>
                      <a:rPr lang="vi-VN" sz="2100" b="0">
                        <a:solidFill>
                          <a:srgbClr val="1E293B"/>
                        </a:solidFill>
                        <a:latin typeface="Cambria Math" panose="02040503050406030204" pitchFamily="18" charset="0"/>
                      </a:rPr>
                      <m:t>cot</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675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oMath>
                </a14:m>
                <a:r>
                  <a:rPr sz="2100">
                    <a:solidFill>
                      <a:srgbClr val="1E293B"/>
                    </a:solidFill>
                    <a:latin typeface="Calibri"/>
                  </a:rPr>
                  <a:t>.</a:t>
                </a:r>
              </a:p>
            </p:txBody>
          </p:sp>
        </mc:Choice>
        <mc:Fallback>
          <p:sp>
            <p:nvSpPr>
              <p:cNvPr id="7" name="TextBox 6"/>
              <p:cNvSpPr txBox="1"/>
              <p:nvPr/>
            </p:nvSpPr>
            <p:spPr>
              <a:xfrm>
                <a:off x="548640" y="1371600"/>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Ví dụ 10.</a:t>
                </a:r>
                <a:r>
                  <a:rPr sz="2100">
                    <a:solidFill>
                      <a:srgbClr val="1E293B"/>
                    </a:solidFill>
                    <a:latin typeface="Calibri"/>
                  </a:rPr>
                  <a:t> Tính: a) </a:t>
                </a:r>
                <a:r>
                  <a:rPr lang="vi-VN"/>
                  <a:t>\cos\left(-\frac{11\pi}{4}\right)</a:t>
                </a:r>
                <a:r>
                  <a:rPr sz="2100">
                    <a:solidFill>
                      <a:srgbClr val="1E293B"/>
                    </a:solidFill>
                    <a:latin typeface="Calibri"/>
                  </a:rPr>
                  <a:t>; b) </a:t>
                </a:r>
                <a:r>
                  <a:rPr lang="vi-VN"/>
                  <a:t>\cot(-675^\circ)</a:t>
                </a:r>
                <a:r>
                  <a:rPr sz="2100">
                    <a:solidFill>
                      <a:srgbClr val="1E293B"/>
                    </a:solidFill>
                    <a:latin typeface="Calibri"/>
                  </a:rPr>
                  <a:t>.</a:t>
                </a:r>
              </a:p>
            </p:txBody>
          </p:sp>
        </mc:Fallback>
      </mc:AlternateContent>
      <p:sp>
        <p:nvSpPr>
          <p:cNvPr id="8" name="s1_nen"/>
          <p:cNvSpPr/>
          <p:nvPr/>
        </p:nvSpPr>
        <p:spPr>
          <a:xfrm>
            <a:off x="548640" y="2082545"/>
            <a:ext cx="11064240" cy="10172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119122"/>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m:rPr>
                        <m:sty m:val="p"/>
                      </m:rPr>
                      <a:rPr lang="vi-VN" sz="2100" b="0">
                        <a:solidFill>
                          <a:srgbClr val="1E293B"/>
                        </a:solidFill>
                        <a:latin typeface="Cambria Math" panose="02040503050406030204" pitchFamily="18" charset="0"/>
                      </a:rPr>
                      <m:t>cos</m:t>
                    </m:r>
                    <m:d>
                      <m:dPr>
                        <m:sepChr m:val=""/>
                      </m:dPr>
                      <m:e>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11π</m:t>
                            </m:r>
                          </m:num>
                          <m:den>
                            <m:r>
                              <a:rPr lang="vi-VN" sz="2100" b="0">
                                <a:solidFill>
                                  <a:srgbClr val="1E293B"/>
                                </a:solidFill>
                                <a:latin typeface="Cambria Math" panose="02040503050406030204" pitchFamily="18" charset="0"/>
                              </a:rPr>
                              <m:t>4</m:t>
                            </m:r>
                          </m:den>
                        </m:f>
                      </m:e>
                    </m:d>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cos</m:t>
                    </m:r>
                    <m:f>
                      <m:fPr>
                        <m:type m:val="bar"/>
                      </m:fPr>
                      <m:num>
                        <m:r>
                          <a:rPr lang="vi-VN" sz="2100" b="0">
                            <a:solidFill>
                              <a:srgbClr val="1E293B"/>
                            </a:solidFill>
                            <a:latin typeface="Cambria Math" panose="02040503050406030204" pitchFamily="18" charset="0"/>
                          </a:rPr>
                          <m:t>11π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cos</m:t>
                    </m:r>
                    <m:d>
                      <m:dPr>
                        <m:sepChr m:val="+"/>
                      </m:dPr>
                      <m:e>
                        <m:f>
                          <m:fPr>
                            <m:type m:val="bar"/>
                          </m:fPr>
                          <m:num>
                            <m:r>
                              <a:rPr lang="vi-VN" sz="2100" b="0">
                                <a:solidFill>
                                  <a:srgbClr val="1E293B"/>
                                </a:solidFill>
                                <a:latin typeface="Cambria Math" panose="02040503050406030204" pitchFamily="18" charset="0"/>
                              </a:rPr>
                              <m:t>3π</m:t>
                            </m:r>
                          </m:num>
                          <m:den>
                            <m:r>
                              <a:rPr lang="vi-VN" sz="2100" b="0">
                                <a:solidFill>
                                  <a:srgbClr val="1E293B"/>
                                </a:solidFill>
                                <a:latin typeface="Cambria Math" panose="02040503050406030204" pitchFamily="18" charset="0"/>
                              </a:rPr>
                              <m:t>4</m:t>
                            </m:r>
                          </m:den>
                        </m:f>
                      </m:e>
                      <m:e>
                        <m:r>
                          <a:rPr lang="vi-VN" sz="2100" b="0">
                            <a:solidFill>
                              <a:srgbClr val="1E293B"/>
                            </a:solidFill>
                            <a:latin typeface="Cambria Math" panose="02040503050406030204" pitchFamily="18" charset="0"/>
                          </a:rPr>
                          <m:t>2</m:t>
                        </m:r>
                        <m:r>
                          <a:rPr lang="vi-VN" sz="2100" b="0">
                            <a:solidFill>
                              <a:srgbClr val="1E293B"/>
                            </a:solidFill>
                            <a:latin typeface="Cambria Math" panose="02040503050406030204" pitchFamily="18" charset="0"/>
                          </a:rPr>
                          <m:t>π</m:t>
                        </m:r>
                      </m:e>
                    </m:d>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cos</m:t>
                    </m:r>
                    <m:f>
                      <m:fPr>
                        <m:type m:val="bar"/>
                      </m:fPr>
                      <m:num>
                        <m:r>
                          <a:rPr lang="vi-VN" sz="2100" b="0">
                            <a:solidFill>
                              <a:srgbClr val="1E293B"/>
                            </a:solidFill>
                            <a:latin typeface="Cambria Math" panose="02040503050406030204" pitchFamily="18" charset="0"/>
                          </a:rPr>
                          <m:t>3π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cos</m:t>
                    </m:r>
                    <m:d>
                      <m:dPr>
                        <m:sepChr m:val=""/>
                      </m:dPr>
                      <m:e>
                        <m:r>
                          <a:rPr lang="vi-VN" sz="2100" b="0">
                            <a:solidFill>
                              <a:srgbClr val="1E293B"/>
                            </a:solidFill>
                            <a:latin typeface="Cambria Math" panose="02040503050406030204" pitchFamily="18" charset="0"/>
                          </a:rPr>
                          <m:t>π</m:t>
                        </m:r>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3π</m:t>
                            </m:r>
                          </m:num>
                          <m:den>
                            <m:r>
                              <a:rPr lang="vi-VN" sz="2100" b="0">
                                <a:solidFill>
                                  <a:srgbClr val="1E293B"/>
                                </a:solidFill>
                                <a:latin typeface="Cambria Math" panose="02040503050406030204" pitchFamily="18" charset="0"/>
                              </a:rPr>
                              <m:t>4</m:t>
                            </m:r>
                          </m:den>
                        </m:f>
                      </m:e>
                    </m:d>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cos</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2</m:t>
                            </m:r>
                          </m:e>
                        </m:rad>
                      </m:num>
                      <m:den>
                        <m:r>
                          <a:rPr lang="vi-VN" sz="2100" b="0">
                            <a:solidFill>
                              <a:srgbClr val="1E293B"/>
                            </a:solidFill>
                            <a:latin typeface="Cambria Math" panose="02040503050406030204" pitchFamily="18" charset="0"/>
                          </a:rPr>
                          <m:t>2</m:t>
                        </m:r>
                      </m:den>
                    </m:f>
                  </m:oMath>
                </a14:m>
                <a:r>
                  <a:rPr sz="2100">
                    <a:solidFill>
                      <a:srgbClr val="1E293B"/>
                    </a:solidFill>
                    <a:latin typeface="Calibri"/>
                  </a:rPr>
                  <a:t>.</a:t>
                </a:r>
              </a:p>
            </p:txBody>
          </p:sp>
        </mc:Choice>
        <mc:Fallback>
          <p:sp>
            <p:nvSpPr>
              <p:cNvPr id="9" name="TextBox 8"/>
              <p:cNvSpPr txBox="1"/>
              <p:nvPr/>
            </p:nvSpPr>
            <p:spPr>
              <a:xfrm>
                <a:off x="713232" y="2119122"/>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\cos\left(-\frac{11\pi}{4}\right)=\cos\frac{11\pi}{4}=\cos\left(\frac{3\pi}{4}+2\pi\right)=\cos\frac{3\pi}{4}=-\cos\left(\pi-\frac{3\pi}{4}\right)=-\cos\frac{\pi}{4}=-\frac{\sqrt{2}}{2}</a:t>
                </a:r>
                <a:r>
                  <a:rPr sz="2100">
                    <a:solidFill>
                      <a:srgbClr val="1E293B"/>
                    </a:solidFill>
                    <a:latin typeface="Calibri"/>
                  </a:rPr>
                  <a:t>.</a:t>
                </a:r>
              </a:p>
            </p:txBody>
          </p:sp>
        </mc:Fallback>
      </mc:AlternateContent>
      <p:sp>
        <p:nvSpPr>
          <p:cNvPr id="10" name="s2_nen"/>
          <p:cNvSpPr/>
          <p:nvPr/>
        </p:nvSpPr>
        <p:spPr>
          <a:xfrm>
            <a:off x="548640" y="3172968"/>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09544"/>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14:m>
                  <m:oMath xmlns:m="http://schemas.openxmlformats.org/officeDocument/2006/math">
                    <m:r>
                      <m:rPr>
                        <m:sty m:val="p"/>
                      </m:rPr>
                      <a:rPr lang="vi-VN" sz="2100" b="0">
                        <a:solidFill>
                          <a:srgbClr val="1E293B"/>
                        </a:solidFill>
                        <a:latin typeface="Cambria Math" panose="02040503050406030204" pitchFamily="18" charset="0"/>
                      </a:rPr>
                      <m:t>cot</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675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cot</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m:t>
                    </m:r>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cot</m:t>
                    </m:r>
                    <m:r>
                      <m:rPr>
                        <m:sty m:val="p"/>
                      </m:rPr>
                      <a:rPr lang="vi-VN" sz="2100" b="0">
                        <a:solidFill>
                          <a:srgbClr val="1E293B"/>
                        </a:solidFill>
                        <a:latin typeface="Cambria Math" panose="02040503050406030204" pitchFamily="18" charset="0"/>
                      </a:rPr>
                      <m:t> </m:t>
                    </m:r>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=1</m:t>
                    </m:r>
                  </m:oMath>
                </a14:m>
                <a:r>
                  <a:rPr sz="2100">
                    <a:solidFill>
                      <a:srgbClr val="1E293B"/>
                    </a:solidFill>
                    <a:latin typeface="Calibri"/>
                  </a:rPr>
                  <a:t>.</a:t>
                </a:r>
              </a:p>
            </p:txBody>
          </p:sp>
        </mc:Choice>
        <mc:Fallback>
          <p:sp>
            <p:nvSpPr>
              <p:cNvPr id="11" name="TextBox 10"/>
              <p:cNvSpPr txBox="1"/>
              <p:nvPr/>
            </p:nvSpPr>
            <p:spPr>
              <a:xfrm>
                <a:off x="713232" y="3209544"/>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b) </a:t>
                </a:r>
                <a:r>
                  <a:rPr lang="vi-VN"/>
                  <a:t>\cot(-675^\circ)=\cot(45^\circ-2\cdot 360^\circ)=\cot 45^\circ=1</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3831335"/>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8.</a:t>
                </a:r>
                <a:r>
                  <a:rPr sz="2100">
                    <a:solidFill>
                      <a:srgbClr val="1E293B"/>
                    </a:solidFill>
                    <a:latin typeface="Calibri"/>
                  </a:rPr>
                  <a:t> Tính: a) </a:t>
                </a:r>
                <a14:m>
                  <m:oMath xmlns:m="http://schemas.openxmlformats.org/officeDocument/2006/math">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675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oMath>
                </a14:m>
                <a:r>
                  <a:rPr sz="2100">
                    <a:solidFill>
                      <a:srgbClr val="1E293B"/>
                    </a:solidFill>
                    <a:latin typeface="Calibri"/>
                  </a:rPr>
                  <a:t>; b) </a:t>
                </a:r>
                <a14:m>
                  <m:oMath xmlns:m="http://schemas.openxmlformats.org/officeDocument/2006/math">
                    <m:r>
                      <m:rPr>
                        <m:sty m:val="p"/>
                      </m:rPr>
                      <a:rPr lang="vi-VN" sz="2100" b="0">
                        <a:solidFill>
                          <a:srgbClr val="1E293B"/>
                        </a:solidFill>
                        <a:latin typeface="Cambria Math" panose="02040503050406030204" pitchFamily="18" charset="0"/>
                      </a:rPr>
                      <m:t>tan</m:t>
                    </m:r>
                    <m:f>
                      <m:fPr>
                        <m:type m:val="bar"/>
                      </m:fPr>
                      <m:num>
                        <m:r>
                          <a:rPr lang="vi-VN" sz="2100" b="0">
                            <a:solidFill>
                              <a:srgbClr val="1E293B"/>
                            </a:solidFill>
                            <a:latin typeface="Cambria Math" panose="02040503050406030204" pitchFamily="18" charset="0"/>
                          </a:rPr>
                          <m:t>15π</m:t>
                        </m:r>
                      </m:num>
                      <m:den>
                        <m:r>
                          <a:rPr lang="vi-VN" sz="2100" b="0">
                            <a:solidFill>
                              <a:srgbClr val="1E293B"/>
                            </a:solidFill>
                            <a:latin typeface="Cambria Math" panose="02040503050406030204" pitchFamily="18" charset="0"/>
                          </a:rPr>
                          <m:t>4</m:t>
                        </m:r>
                      </m:den>
                    </m:f>
                  </m:oMath>
                </a14:m>
                <a:r>
                  <a:rPr sz="2100">
                    <a:solidFill>
                      <a:srgbClr val="1E293B"/>
                    </a:solidFill>
                    <a:latin typeface="Calibri"/>
                  </a:rPr>
                  <a:t>.</a:t>
                </a:r>
              </a:p>
            </p:txBody>
          </p:sp>
        </mc:Choice>
        <mc:Fallback>
          <p:sp>
            <p:nvSpPr>
              <p:cNvPr id="12" name="TextBox 11"/>
              <p:cNvSpPr txBox="1"/>
              <p:nvPr/>
            </p:nvSpPr>
            <p:spPr>
              <a:xfrm>
                <a:off x="548640" y="3831335"/>
                <a:ext cx="11064240" cy="637793"/>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Luyện tập 8.</a:t>
                </a:r>
                <a:r>
                  <a:rPr sz="2100">
                    <a:solidFill>
                      <a:srgbClr val="1E293B"/>
                    </a:solidFill>
                    <a:latin typeface="Calibri"/>
                  </a:rPr>
                  <a:t> Tính: a) </a:t>
                </a:r>
                <a:r>
                  <a:rPr lang="vi-VN"/>
                  <a:t>\sin(-675^\circ)</a:t>
                </a:r>
                <a:r>
                  <a:rPr sz="2100">
                    <a:solidFill>
                      <a:srgbClr val="1E293B"/>
                    </a:solidFill>
                    <a:latin typeface="Calibri"/>
                  </a:rPr>
                  <a:t>; b) </a:t>
                </a:r>
                <a:r>
                  <a:rPr lang="vi-VN"/>
                  <a:t>\tan\frac{15\pi}{4}</a:t>
                </a:r>
                <a:r>
                  <a:rPr sz="2100">
                    <a:solidFill>
                      <a:srgbClr val="1E293B"/>
                    </a:solidFill>
                    <a:latin typeface="Calibri"/>
                  </a:rPr>
                  <a:t>.</a:t>
                </a:r>
              </a:p>
            </p:txBody>
          </p:sp>
        </mc:Fallback>
      </mc:AlternateContent>
      <p:sp>
        <p:nvSpPr>
          <p:cNvPr id="13" name="s4_nen"/>
          <p:cNvSpPr/>
          <p:nvPr/>
        </p:nvSpPr>
        <p:spPr>
          <a:xfrm>
            <a:off x="548640" y="4542281"/>
            <a:ext cx="11064240" cy="10172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4578857"/>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675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sin</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45</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−2·</m:t>
                    </m:r>
                    <m:sSup>
                      <m:e>
                        <m:r>
                          <a:rPr lang="vi-VN" sz="2100" b="0">
                            <a:solidFill>
                              <a:srgbClr val="1E293B"/>
                            </a:solidFill>
                            <a:latin typeface="Cambria Math" panose="02040503050406030204" pitchFamily="18" charset="0"/>
                          </a:rPr>
                          <m:t>360</m:t>
                        </m:r>
                      </m:e>
                      <m:sup>
                        <m:r>
                          <a:rPr lang="vi-VN" sz="2100" b="0">
                            <a:solidFill>
                              <a:srgbClr val="1E293B"/>
                            </a:solidFill>
                            <a:latin typeface="Cambria Math" panose="02040503050406030204" pitchFamily="18" charset="0"/>
                          </a:rPr>
                          <m:t>∘</m:t>
                        </m:r>
                      </m:sup>
                    </m:sSup>
                    <m:r>
                      <a:rPr lang="vi-VN" sz="2100" b="0">
                        <a:solidFill>
                          <a:srgbClr val="1E293B"/>
                        </a:solidFill>
                        <a:latin typeface="Cambria Math" panose="02040503050406030204" pitchFamily="18" charset="0"/>
                      </a:rPr>
                      <m:t>)=</m:t>
                    </m:r>
                    <m:f>
                      <m:fPr>
                        <m:type m:val="bar"/>
                      </m:fPr>
                      <m:num>
                        <m:rad>
                          <m:radPr>
                            <m:degHide m:val="on"/>
                          </m:radPr>
                          <m:deg/>
                          <m:e>
                            <m:r>
                              <a:rPr lang="vi-VN" sz="2100" b="0">
                                <a:solidFill>
                                  <a:srgbClr val="1E293B"/>
                                </a:solidFill>
                                <a:latin typeface="Cambria Math" panose="02040503050406030204" pitchFamily="18" charset="0"/>
                              </a:rPr>
                              <m:t>2</m:t>
                            </m:r>
                          </m:e>
                        </m:rad>
                      </m:num>
                      <m:den>
                        <m:r>
                          <a:rPr lang="vi-VN" sz="2100" b="0">
                            <a:solidFill>
                              <a:srgbClr val="1E293B"/>
                            </a:solidFill>
                            <a:latin typeface="Cambria Math" panose="02040503050406030204" pitchFamily="18" charset="0"/>
                          </a:rPr>
                          <m:t>2</m:t>
                        </m:r>
                      </m:den>
                    </m:f>
                  </m:oMath>
                </a14:m>
                <a:r>
                  <a:rPr sz="2100">
                    <a:solidFill>
                      <a:srgbClr val="1E293B"/>
                    </a:solidFill>
                    <a:latin typeface="Calibri"/>
                  </a:rPr>
                  <a:t>. b) </a:t>
                </a:r>
                <a14:m>
                  <m:oMath xmlns:m="http://schemas.openxmlformats.org/officeDocument/2006/math">
                    <m:r>
                      <m:rPr>
                        <m:sty m:val="p"/>
                      </m:rPr>
                      <a:rPr lang="vi-VN" sz="2100" b="0">
                        <a:solidFill>
                          <a:srgbClr val="1E293B"/>
                        </a:solidFill>
                        <a:latin typeface="Cambria Math" panose="02040503050406030204" pitchFamily="18" charset="0"/>
                      </a:rPr>
                      <m:t>tan</m:t>
                    </m:r>
                    <m:f>
                      <m:fPr>
                        <m:type m:val="bar"/>
                      </m:fPr>
                      <m:num>
                        <m:r>
                          <a:rPr lang="vi-VN" sz="2100" b="0">
                            <a:solidFill>
                              <a:srgbClr val="1E293B"/>
                            </a:solidFill>
                            <a:latin typeface="Cambria Math" panose="02040503050406030204" pitchFamily="18" charset="0"/>
                          </a:rPr>
                          <m:t>15π</m:t>
                        </m:r>
                      </m:num>
                      <m:den>
                        <m:r>
                          <a:rPr lang="vi-VN" sz="2100" b="0">
                            <a:solidFill>
                              <a:srgbClr val="1E293B"/>
                            </a:solidFill>
                            <a:latin typeface="Cambria Math" panose="02040503050406030204" pitchFamily="18" charset="0"/>
                          </a:rPr>
                          <m:t>4</m:t>
                        </m:r>
                      </m:den>
                    </m:f>
                    <m:r>
                      <a:rPr lang="vi-VN" sz="2100" b="0">
                        <a:solidFill>
                          <a:srgbClr val="1E293B"/>
                        </a:solidFill>
                        <a:latin typeface="Cambria Math" panose="02040503050406030204" pitchFamily="18" charset="0"/>
                      </a:rPr>
                      <m:t>=</m:t>
                    </m:r>
                    <m:r>
                      <m:rPr>
                        <m:sty m:val="p"/>
                      </m:rPr>
                      <a:rPr lang="vi-VN" sz="2100" b="0">
                        <a:solidFill>
                          <a:srgbClr val="1E293B"/>
                        </a:solidFill>
                        <a:latin typeface="Cambria Math" panose="02040503050406030204" pitchFamily="18" charset="0"/>
                      </a:rPr>
                      <m:t>tan</m:t>
                    </m:r>
                    <m:d>
                      <m:dPr>
                        <m:sepChr m:val="+"/>
                      </m:dPr>
                      <m:e>
                        <m:r>
                          <a:rPr lang="vi-VN" sz="2100" b="0">
                            <a:solidFill>
                              <a:srgbClr val="1E293B"/>
                            </a:solidFill>
                            <a:latin typeface="Cambria Math" panose="02040503050406030204" pitchFamily="18" charset="0"/>
                          </a:rPr>
                          <m:t>−</m:t>
                        </m:r>
                        <m:f>
                          <m:fPr>
                            <m:type m:val="bar"/>
                          </m:fPr>
                          <m:num>
                            <m:r>
                              <a:rPr lang="vi-VN" sz="2100" b="0">
                                <a:solidFill>
                                  <a:srgbClr val="1E293B"/>
                                </a:solidFill>
                                <a:latin typeface="Cambria Math" panose="02040503050406030204" pitchFamily="18" charset="0"/>
                              </a:rPr>
                              <m:t>π</m:t>
                            </m:r>
                          </m:num>
                          <m:den>
                            <m:r>
                              <a:rPr lang="vi-VN" sz="2100" b="0">
                                <a:solidFill>
                                  <a:srgbClr val="1E293B"/>
                                </a:solidFill>
                                <a:latin typeface="Cambria Math" panose="02040503050406030204" pitchFamily="18" charset="0"/>
                              </a:rPr>
                              <m:t>4</m:t>
                            </m:r>
                          </m:den>
                        </m:f>
                      </m:e>
                      <m:e>
                        <m:r>
                          <a:rPr lang="vi-VN" sz="2100" b="0">
                            <a:solidFill>
                              <a:srgbClr val="1E293B"/>
                            </a:solidFill>
                            <a:latin typeface="Cambria Math" panose="02040503050406030204" pitchFamily="18" charset="0"/>
                          </a:rPr>
                          <m:t>4</m:t>
                        </m:r>
                        <m:r>
                          <a:rPr lang="vi-VN" sz="2100" b="0">
                            <a:solidFill>
                              <a:srgbClr val="1E293B"/>
                            </a:solidFill>
                            <a:latin typeface="Cambria Math" panose="02040503050406030204" pitchFamily="18" charset="0"/>
                          </a:rPr>
                          <m:t>π</m:t>
                        </m:r>
                      </m:e>
                    </m:d>
                    <m:r>
                      <a:rPr lang="vi-VN" sz="2100" b="0">
                        <a:solidFill>
                          <a:srgbClr val="1E293B"/>
                        </a:solidFill>
                        <a:latin typeface="Cambria Math" panose="02040503050406030204" pitchFamily="18" charset="0"/>
                      </a:rPr>
                      <m:t>=−1</m:t>
                    </m:r>
                  </m:oMath>
                </a14:m>
                <a:r>
                  <a:rPr sz="2100">
                    <a:solidFill>
                      <a:srgbClr val="1E293B"/>
                    </a:solidFill>
                    <a:latin typeface="Calibri"/>
                  </a:rPr>
                  <a:t>.</a:t>
                </a:r>
              </a:p>
            </p:txBody>
          </p:sp>
        </mc:Choice>
        <mc:Fallback>
          <p:sp>
            <p:nvSpPr>
              <p:cNvPr id="14" name="TextBox 13"/>
              <p:cNvSpPr txBox="1"/>
              <p:nvPr/>
            </p:nvSpPr>
            <p:spPr>
              <a:xfrm>
                <a:off x="713232" y="4578857"/>
                <a:ext cx="10735056" cy="944118"/>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\sin(-675^\circ)=\sin(45^\circ-2\cdot 360^\circ)=\frac{\sqrt{2}}{2}</a:t>
                </a:r>
                <a:r>
                  <a:rPr sz="2100">
                    <a:solidFill>
                      <a:srgbClr val="1E293B"/>
                    </a:solidFill>
                    <a:latin typeface="Calibri"/>
                  </a:rPr>
                  <a:t>. b) </a:t>
                </a:r>
                <a:r>
                  <a:rPr lang="vi-VN"/>
                  <a:t>\tan\frac{15\pi}{4}=\tan\left(-\frac{\pi}{4}+4\pi\right)=-1</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2 – HUYẾT ÁP TÂM TRƯƠNG (SGK TR.16)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32</a:t>
            </a:r>
          </a:p>
        </p:txBody>
      </p:sp>
      <mc:AlternateContent xmlns:mc="http://schemas.openxmlformats.org/markup-compatibility/2006">
        <mc:Choice xmlns:a14="http://schemas.microsoft.com/office/drawing/2010/main" Requires="a14">
          <p:sp>
            <p:nvSpPr>
              <p:cNvPr id="7" name="TextBox 6"/>
              <p:cNvSpPr txBox="1"/>
              <p:nvPr/>
            </p:nvSpPr>
            <p:spPr>
              <a:xfrm>
                <a:off x="548640" y="1554480"/>
                <a:ext cx="11064240" cy="1733550"/>
              </a:xfrm>
              <a:prstGeom prst="rect">
                <a:avLst/>
              </a:prstGeom>
              <a:noFill/>
            </p:spPr>
            <p:txBody>
              <a:bodyPr wrap="square" anchor="t" lIns="45720" rIns="45720">
                <a:spAutoFit/>
              </a:bodyPr>
              <a:lstStyle/>
              <a:p>
                <a:pPr algn="l">
                  <a:spcAft>
                    <a:spcPts val="800"/>
                  </a:spcAft>
                </a:pPr>
                <a:r>
                  <a:rPr sz="2300">
                    <a:solidFill>
                      <a:srgbClr val="1E293B"/>
                    </a:solidFill>
                    <a:latin typeface="Calibri"/>
                  </a:rPr>
                  <a:t>Huyết áp tâm trương của một người ở trạng thái nghỉ ngơi tại thời điểm </a:t>
                </a:r>
                <a14:m>
                  <m:oMath xmlns:m="http://schemas.openxmlformats.org/officeDocument/2006/math">
                    <m:r>
                      <a:rPr lang="vi-VN" sz="2300" b="0">
                        <a:solidFill>
                          <a:srgbClr val="1E293B"/>
                        </a:solidFill>
                        <a:latin typeface="Cambria Math" panose="02040503050406030204" pitchFamily="18" charset="0"/>
                      </a:rPr>
                      <m:t>t</m:t>
                    </m:r>
                  </m:oMath>
                </a14:m>
                <a:r>
                  <a:rPr sz="2300">
                    <a:solidFill>
                      <a:srgbClr val="1E293B"/>
                    </a:solidFill>
                    <a:latin typeface="Calibri"/>
                  </a:rPr>
                  <a:t> (giờ tính từ nửa đêm) là </a:t>
                </a:r>
                <a14:m>
                  <m:oMath xmlns:m="http://schemas.openxmlformats.org/officeDocument/2006/math">
                    <m:r>
                      <a:rPr lang="vi-VN" sz="2300" b="0">
                        <a:solidFill>
                          <a:srgbClr val="1E293B"/>
                        </a:solidFill>
                        <a:latin typeface="Cambria Math" panose="02040503050406030204" pitchFamily="18" charset="0"/>
                      </a:rPr>
                      <m:t>B(t)=80+7</m:t>
                    </m:r>
                    <m:r>
                      <m:rPr>
                        <m:sty m:val="p"/>
                      </m:rPr>
                      <a:rPr lang="vi-VN" sz="2300" b="0">
                        <a:solidFill>
                          <a:srgbClr val="1E293B"/>
                        </a:solidFill>
                        <a:latin typeface="Cambria Math" panose="02040503050406030204" pitchFamily="18" charset="0"/>
                      </a:rPr>
                      <m:t>sin</m:t>
                    </m:r>
                    <m:f>
                      <m:fPr>
                        <m:type m:val="bar"/>
                      </m:fPr>
                      <m:num>
                        <m:r>
                          <a:rPr lang="vi-VN" sz="2300" b="0">
                            <a:solidFill>
                              <a:srgbClr val="1E293B"/>
                            </a:solidFill>
                            <a:latin typeface="Cambria Math" panose="02040503050406030204" pitchFamily="18" charset="0"/>
                          </a:rPr>
                          <m:t>πt</m:t>
                        </m:r>
                      </m:num>
                      <m:den>
                        <m:r>
                          <a:rPr lang="vi-VN" sz="2300" b="0">
                            <a:solidFill>
                              <a:srgbClr val="1E293B"/>
                            </a:solidFill>
                            <a:latin typeface="Cambria Math" panose="02040503050406030204" pitchFamily="18" charset="0"/>
                          </a:rPr>
                          <m:t>12</m:t>
                        </m:r>
                      </m:den>
                    </m:f>
                  </m:oMath>
                </a14:m>
                <a:r>
                  <a:rPr sz="2300">
                    <a:solidFill>
                      <a:srgbClr val="1E293B"/>
                    </a:solidFill>
                    <a:latin typeface="Calibri"/>
                  </a:rPr>
                  <a:t> (mmHg). Tìm huyết áp tâm trương vào: a) 6 giờ sáng; b) 10 giờ 30 phút sáng; c) 12 giờ trưa; d) 8 giờ tối.</a:t>
                </a:r>
              </a:p>
            </p:txBody>
          </p:sp>
        </mc:Choice>
        <mc:Fallback>
          <p:sp>
            <p:nvSpPr>
              <p:cNvPr id="7" name="TextBox 6"/>
              <p:cNvSpPr txBox="1"/>
              <p:nvPr/>
            </p:nvSpPr>
            <p:spPr>
              <a:xfrm>
                <a:off x="548640" y="1554480"/>
                <a:ext cx="11064240" cy="1733550"/>
              </a:xfrm>
              <a:prstGeom prst="rect">
                <a:avLst/>
              </a:prstGeom>
              <a:noFill/>
            </p:spPr>
            <p:txBody>
              <a:bodyPr wrap="square" anchor="t" lIns="45720" rIns="45720">
                <a:spAutoFit/>
              </a:bodyPr>
              <a:lstStyle/>
              <a:p>
                <a:pPr algn="l">
                  <a:spcAft>
                    <a:spcPts val="800"/>
                  </a:spcAft>
                </a:pPr>
                <a:r>
                  <a:rPr sz="2300">
                    <a:solidFill>
                      <a:srgbClr val="1E293B"/>
                    </a:solidFill>
                    <a:latin typeface="Calibri"/>
                  </a:rPr>
                  <a:t>Huyết áp tâm trương của một người ở trạng thái nghỉ ngơi tại thời điểm </a:t>
                </a:r>
                <a:r>
                  <a:rPr lang="vi-VN"/>
                  <a:t>t</a:t>
                </a:r>
                <a:r>
                  <a:rPr sz="2300">
                    <a:solidFill>
                      <a:srgbClr val="1E293B"/>
                    </a:solidFill>
                    <a:latin typeface="Calibri"/>
                  </a:rPr>
                  <a:t> (giờ tính từ nửa đêm) là </a:t>
                </a:r>
                <a:r>
                  <a:rPr lang="vi-VN"/>
                  <a:t>B(t)=80+7\sin\frac{\pi t}{12}</a:t>
                </a:r>
                <a:r>
                  <a:rPr sz="2300">
                    <a:solidFill>
                      <a:srgbClr val="1E293B"/>
                    </a:solidFill>
                    <a:latin typeface="Calibri"/>
                  </a:rPr>
                  <a:t> (mmHg). Tìm huyết áp tâm trương vào: a) 6 giờ sáng; b) 10 giờ 30 phút sáng; c) 12 giờ trưa; d) 8 giờ tối.</a:t>
                </a:r>
              </a:p>
            </p:txBody>
          </p:sp>
        </mc:Fallback>
      </mc:AlternateContent>
      <p:sp>
        <p:nvSpPr>
          <p:cNvPr id="8" name="s1_nen"/>
          <p:cNvSpPr/>
          <p:nvPr/>
        </p:nvSpPr>
        <p:spPr>
          <a:xfrm>
            <a:off x="548640" y="3562350"/>
            <a:ext cx="11064240" cy="143941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598926"/>
                <a:ext cx="10735056" cy="1366266"/>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14:m>
                  <m:oMath xmlns:m="http://schemas.openxmlformats.org/officeDocument/2006/math">
                    <m:r>
                      <a:rPr lang="vi-VN" sz="2300" b="0">
                        <a:solidFill>
                          <a:srgbClr val="1E293B"/>
                        </a:solidFill>
                        <a:latin typeface="Cambria Math" panose="02040503050406030204" pitchFamily="18" charset="0"/>
                      </a:rPr>
                      <m:t>B(6)=80+7</m:t>
                    </m:r>
                    <m:r>
                      <m:rPr>
                        <m:sty m:val="p"/>
                      </m:rPr>
                      <a:rPr lang="vi-VN" sz="2300" b="0">
                        <a:solidFill>
                          <a:srgbClr val="1E293B"/>
                        </a:solidFill>
                        <a:latin typeface="Cambria Math" panose="02040503050406030204" pitchFamily="18" charset="0"/>
                      </a:rPr>
                      <m:t>sin</m:t>
                    </m:r>
                    <m:f>
                      <m:fPr>
                        <m:type m:val="bar"/>
                      </m:fPr>
                      <m:num>
                        <m:r>
                          <a:rPr lang="vi-VN" sz="2300" b="0">
                            <a:solidFill>
                              <a:srgbClr val="1E293B"/>
                            </a:solidFill>
                            <a:latin typeface="Cambria Math" panose="02040503050406030204" pitchFamily="18" charset="0"/>
                          </a:rPr>
                          <m:t>π</m:t>
                        </m:r>
                      </m:num>
                      <m:den>
                        <m:r>
                          <a:rPr lang="vi-VN" sz="2300" b="0">
                            <a:solidFill>
                              <a:srgbClr val="1E293B"/>
                            </a:solidFill>
                            <a:latin typeface="Cambria Math" panose="02040503050406030204" pitchFamily="18" charset="0"/>
                          </a:rPr>
                          <m:t>2</m:t>
                        </m:r>
                      </m:den>
                    </m:f>
                    <m:r>
                      <a:rPr lang="vi-VN" sz="2300" b="0">
                        <a:solidFill>
                          <a:srgbClr val="1E293B"/>
                        </a:solidFill>
                        <a:latin typeface="Cambria Math" panose="02040503050406030204" pitchFamily="18" charset="0"/>
                      </a:rPr>
                      <m:t>=87</m:t>
                    </m:r>
                  </m:oMath>
                </a14:m>
                <a:r>
                  <a:rPr sz="2300">
                    <a:solidFill>
                      <a:srgbClr val="1E293B"/>
                    </a:solidFill>
                    <a:latin typeface="Calibri"/>
                  </a:rPr>
                  <a:t>; b) </a:t>
                </a:r>
                <a14:m>
                  <m:oMath xmlns:m="http://schemas.openxmlformats.org/officeDocument/2006/math">
                    <m:r>
                      <a:rPr lang="vi-VN" sz="2300" b="0">
                        <a:solidFill>
                          <a:srgbClr val="1E293B"/>
                        </a:solidFill>
                        <a:latin typeface="Cambria Math" panose="02040503050406030204" pitchFamily="18" charset="0"/>
                      </a:rPr>
                      <m:t>B(10</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5)=80+7</m:t>
                    </m:r>
                    <m:r>
                      <m:rPr>
                        <m:sty m:val="p"/>
                      </m:rPr>
                      <a:rPr lang="vi-VN" sz="2300" b="0">
                        <a:solidFill>
                          <a:srgbClr val="1E293B"/>
                        </a:solidFill>
                        <a:latin typeface="Cambria Math" panose="02040503050406030204" pitchFamily="18" charset="0"/>
                      </a:rPr>
                      <m:t>sin</m:t>
                    </m:r>
                    <m:f>
                      <m:fPr>
                        <m:type m:val="bar"/>
                      </m:fPr>
                      <m:num>
                        <m:r>
                          <a:rPr lang="vi-VN" sz="2300" b="0">
                            <a:solidFill>
                              <a:srgbClr val="1E293B"/>
                            </a:solidFill>
                            <a:latin typeface="Cambria Math" panose="02040503050406030204" pitchFamily="18" charset="0"/>
                          </a:rPr>
                          <m:t>7π</m:t>
                        </m:r>
                      </m:num>
                      <m:den>
                        <m:r>
                          <a:rPr lang="vi-VN" sz="2300" b="0">
                            <a:solidFill>
                              <a:srgbClr val="1E293B"/>
                            </a:solidFill>
                            <a:latin typeface="Cambria Math" panose="02040503050406030204" pitchFamily="18" charset="0"/>
                          </a:rPr>
                          <m:t>8</m:t>
                        </m:r>
                      </m:den>
                    </m:f>
                    <m:r>
                      <a:rPr lang="vi-VN" sz="2300" b="0">
                        <a:solidFill>
                          <a:srgbClr val="1E293B"/>
                        </a:solidFill>
                        <a:latin typeface="Cambria Math" panose="02040503050406030204" pitchFamily="18" charset="0"/>
                      </a:rPr>
                      <m:t>≈82</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7</m:t>
                    </m:r>
                  </m:oMath>
                </a14:m>
                <a:r>
                  <a:rPr sz="2300">
                    <a:solidFill>
                      <a:srgbClr val="1E293B"/>
                    </a:solidFill>
                    <a:latin typeface="Calibri"/>
                  </a:rPr>
                  <a:t>; c) </a:t>
                </a:r>
                <a14:m>
                  <m:oMath xmlns:m="http://schemas.openxmlformats.org/officeDocument/2006/math">
                    <m:r>
                      <a:rPr lang="vi-VN" sz="2300" b="0">
                        <a:solidFill>
                          <a:srgbClr val="1E293B"/>
                        </a:solidFill>
                        <a:latin typeface="Cambria Math" panose="02040503050406030204" pitchFamily="18" charset="0"/>
                      </a:rPr>
                      <m:t>B(12)=80</m:t>
                    </m:r>
                  </m:oMath>
                </a14:m>
                <a:r>
                  <a:rPr sz="2300">
                    <a:solidFill>
                      <a:srgbClr val="1E293B"/>
                    </a:solidFill>
                    <a:latin typeface="Calibri"/>
                  </a:rPr>
                  <a:t>; d) </a:t>
                </a:r>
                <a14:m>
                  <m:oMath xmlns:m="http://schemas.openxmlformats.org/officeDocument/2006/math">
                    <m:r>
                      <a:rPr lang="vi-VN" sz="2300" b="0">
                        <a:solidFill>
                          <a:srgbClr val="1E293B"/>
                        </a:solidFill>
                        <a:latin typeface="Cambria Math" panose="02040503050406030204" pitchFamily="18" charset="0"/>
                      </a:rPr>
                      <m:t>B(20)=80+7</m:t>
                    </m:r>
                    <m:r>
                      <m:rPr>
                        <m:sty m:val="p"/>
                      </m:rPr>
                      <a:rPr lang="vi-VN" sz="2300" b="0">
                        <a:solidFill>
                          <a:srgbClr val="1E293B"/>
                        </a:solidFill>
                        <a:latin typeface="Cambria Math" panose="02040503050406030204" pitchFamily="18" charset="0"/>
                      </a:rPr>
                      <m:t>sin</m:t>
                    </m:r>
                    <m:f>
                      <m:fPr>
                        <m:type m:val="bar"/>
                      </m:fPr>
                      <m:num>
                        <m:r>
                          <a:rPr lang="vi-VN" sz="2300" b="0">
                            <a:solidFill>
                              <a:srgbClr val="1E293B"/>
                            </a:solidFill>
                            <a:latin typeface="Cambria Math" panose="02040503050406030204" pitchFamily="18" charset="0"/>
                          </a:rPr>
                          <m:t>5π</m:t>
                        </m:r>
                      </m:num>
                      <m:den>
                        <m:r>
                          <a:rPr lang="vi-VN" sz="2300" b="0">
                            <a:solidFill>
                              <a:srgbClr val="1E293B"/>
                            </a:solidFill>
                            <a:latin typeface="Cambria Math" panose="02040503050406030204" pitchFamily="18" charset="0"/>
                          </a:rPr>
                          <m:t>3</m:t>
                        </m:r>
                      </m:den>
                    </m:f>
                    <m:r>
                      <a:rPr lang="vi-VN" sz="2300" b="0">
                        <a:solidFill>
                          <a:srgbClr val="1E293B"/>
                        </a:solidFill>
                        <a:latin typeface="Cambria Math" panose="02040503050406030204" pitchFamily="18" charset="0"/>
                      </a:rPr>
                      <m:t>≈73</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9</m:t>
                    </m:r>
                  </m:oMath>
                </a14:m>
                <a:r>
                  <a:rPr sz="2300">
                    <a:solidFill>
                      <a:srgbClr val="1E293B"/>
                    </a:solidFill>
                    <a:latin typeface="Calibri"/>
                  </a:rPr>
                  <a:t> (mmHg).</a:t>
                </a:r>
              </a:p>
            </p:txBody>
          </p:sp>
        </mc:Choice>
        <mc:Fallback>
          <p:sp>
            <p:nvSpPr>
              <p:cNvPr id="9" name="TextBox 8"/>
              <p:cNvSpPr txBox="1"/>
              <p:nvPr/>
            </p:nvSpPr>
            <p:spPr>
              <a:xfrm>
                <a:off x="713232" y="3598926"/>
                <a:ext cx="10735056" cy="1366266"/>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r>
                  <a:rPr lang="vi-VN"/>
                  <a:t>B(6)=80+7\sin\frac{\pi}{2}=87</a:t>
                </a:r>
                <a:r>
                  <a:rPr sz="2300">
                    <a:solidFill>
                      <a:srgbClr val="1E293B"/>
                    </a:solidFill>
                    <a:latin typeface="Calibri"/>
                  </a:rPr>
                  <a:t>; b) </a:t>
                </a:r>
                <a:r>
                  <a:rPr lang="vi-VN"/>
                  <a:t>B(10{,}5)=80+7\sin\frac{7\pi}{8}\approx 82{,}7</a:t>
                </a:r>
                <a:r>
                  <a:rPr sz="2300">
                    <a:solidFill>
                      <a:srgbClr val="1E293B"/>
                    </a:solidFill>
                    <a:latin typeface="Calibri"/>
                  </a:rPr>
                  <a:t>; c) </a:t>
                </a:r>
                <a:r>
                  <a:rPr lang="vi-VN"/>
                  <a:t>B(12)=80</a:t>
                </a:r>
                <a:r>
                  <a:rPr sz="2300">
                    <a:solidFill>
                      <a:srgbClr val="1E293B"/>
                    </a:solidFill>
                    <a:latin typeface="Calibri"/>
                  </a:rPr>
                  <a:t>; d) </a:t>
                </a:r>
                <a:r>
                  <a:rPr lang="vi-VN"/>
                  <a:t>B(20)=80+7\sin\frac{5\pi}{3}\approx 73{,}9</a:t>
                </a:r>
                <a:r>
                  <a:rPr sz="2300">
                    <a:solidFill>
                      <a:srgbClr val="1E293B"/>
                    </a:solidFill>
                    <a:latin typeface="Calibri"/>
                  </a:rPr>
                  <a:t> (mmHg).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GEOGEBRA</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GEOGEBRA – CÁC GÓC CÓ LIÊN QUAN ĐẶC BIỆT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33</a:t>
            </a:r>
          </a:p>
        </p:txBody>
      </p:sp>
      <mc:AlternateContent xmlns:mc="http://schemas.openxmlformats.org/markup-compatibility/2006">
        <mc:Choice xmlns:a14="http://schemas.microsoft.com/office/drawing/2010/main" Requires="a14">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M</m:t>
                    </m:r>
                  </m:oMath>
                </a14:m>
                <a:r>
                  <a:rPr sz="2200">
                    <a:solidFill>
                      <a:srgbClr val="1E293B"/>
                    </a:solidFill>
                    <a:latin typeface="Calibri"/>
                  </a:rPr>
                  <a:t> biểu diễn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a:t>
                </a:r>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N</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N</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N</m:t>
                        </m:r>
                      </m:e>
                      <m:sub>
                        <m:r>
                          <a:rPr lang="vi-VN" sz="2200" b="0">
                            <a:solidFill>
                              <a:srgbClr val="1E293B"/>
                            </a:solidFill>
                            <a:latin typeface="Cambria Math" panose="02040503050406030204" pitchFamily="18" charset="0"/>
                          </a:rPr>
                          <m:t>3</m:t>
                        </m:r>
                      </m:sub>
                    </m:sSub>
                    <m:r>
                      <a:rPr lang="vi-VN" sz="2200" b="0">
                        <a:solidFill>
                          <a:srgbClr val="1E293B"/>
                        </a:solidFill>
                        <a:latin typeface="Cambria Math" panose="02040503050406030204" pitchFamily="18" charset="0"/>
                      </a:rPr>
                      <m:t>,</m:t>
                    </m:r>
                    <m:r>
                      <m:rPr>
                        <m:sty m:val="p"/>
                      </m:rPr>
                      <a:rPr lang="vi-VN" sz="2200" b="0">
                        <a:solidFill>
                          <a:srgbClr val="1E293B"/>
                        </a:solidFill>
                        <a:latin typeface="Cambria Math" panose="02040503050406030204" pitchFamily="18" charset="0"/>
                      </a:rPr>
                      <m:t> </m:t>
                    </m:r>
                    <m:sSub>
                      <m:e>
                        <m:r>
                          <a:rPr lang="vi-VN" sz="2200" b="0">
                            <a:solidFill>
                              <a:srgbClr val="1E293B"/>
                            </a:solidFill>
                            <a:latin typeface="Cambria Math" panose="02040503050406030204" pitchFamily="18" charset="0"/>
                          </a:rPr>
                          <m:t>N</m:t>
                        </m:r>
                      </m:e>
                      <m:sub>
                        <m:r>
                          <a:rPr lang="vi-VN" sz="2200" b="0">
                            <a:solidFill>
                              <a:srgbClr val="1E293B"/>
                            </a:solidFill>
                            <a:latin typeface="Cambria Math" panose="02040503050406030204" pitchFamily="18" charset="0"/>
                          </a:rPr>
                          <m:t>4</m:t>
                        </m:r>
                      </m:sub>
                    </m:sSub>
                  </m:oMath>
                </a14:m>
                <a:r>
                  <a:rPr sz="2200">
                    <a:solidFill>
                      <a:srgbClr val="1E293B"/>
                    </a:solidFill>
                    <a:latin typeface="Calibri"/>
                  </a:rPr>
                  <a:t> biểu diễn </a:t>
                </a:r>
                <a14:m>
                  <m:oMath xmlns:m="http://schemas.openxmlformats.org/officeDocument/2006/math">
                    <m:r>
                      <a:rPr lang="vi-VN" sz="2200" b="0">
                        <a:solidFill>
                          <a:srgbClr val="1E293B"/>
                        </a:solidFill>
                        <a:latin typeface="Cambria Math" panose="02040503050406030204" pitchFamily="18" charset="0"/>
                      </a:rPr>
                      <m:t>−α</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π−α</m:t>
                    </m:r>
                  </m:oMath>
                </a14:m>
                <a:r>
                  <a:rPr sz="2200">
                    <a:solidFill>
                      <a:srgbClr val="1E293B"/>
                    </a:solidFill>
                    <a:latin typeface="Calibri"/>
                  </a:rPr>
                  <a:t>, </a:t>
                </a:r>
                <a14:m>
                  <m:oMath xmlns:m="http://schemas.openxmlformats.org/officeDocument/2006/math">
                    <m:f>
                      <m:fPr>
                        <m:type m:val="bar"/>
                      </m:fPr>
                      <m:num>
                        <m:r>
                          <a:rPr lang="vi-VN" sz="2200" b="0">
                            <a:solidFill>
                              <a:srgbClr val="1E293B"/>
                            </a:solidFill>
                            <a:latin typeface="Cambria Math" panose="02040503050406030204" pitchFamily="18" charset="0"/>
                          </a:rPr>
                          <m:t>π</m:t>
                        </m:r>
                      </m:num>
                      <m:den>
                        <m:r>
                          <a:rPr lang="vi-VN" sz="2200" b="0">
                            <a:solidFill>
                              <a:srgbClr val="1E293B"/>
                            </a:solidFill>
                            <a:latin typeface="Cambria Math" panose="02040503050406030204" pitchFamily="18" charset="0"/>
                          </a:rPr>
                          <m:t>2</m:t>
                        </m:r>
                      </m:den>
                    </m:f>
                    <m:r>
                      <a:rPr lang="vi-VN" sz="2200" b="0">
                        <a:solidFill>
                          <a:srgbClr val="1E293B"/>
                        </a:solidFill>
                        <a:latin typeface="Cambria Math" panose="02040503050406030204" pitchFamily="18" charset="0"/>
                      </a:rPr>
                      <m:t>−α</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π+α</m:t>
                    </m:r>
                  </m:oMath>
                </a14:m>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Đối xứng qua </a:t>
                </a:r>
                <a14:m>
                  <m:oMath xmlns:m="http://schemas.openxmlformats.org/officeDocument/2006/math">
                    <m:r>
                      <a:rPr lang="vi-VN" sz="2200" b="0">
                        <a:solidFill>
                          <a:srgbClr val="1E293B"/>
                        </a:solidFill>
                        <a:latin typeface="Cambria Math" panose="02040503050406030204" pitchFamily="18" charset="0"/>
                      </a:rPr>
                      <m:t>Ox</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Oy</m:t>
                    </m:r>
                  </m:oMath>
                </a14:m>
                <a:r>
                  <a:rPr sz="2200">
                    <a:solidFill>
                      <a:srgbClr val="1E293B"/>
                    </a:solidFill>
                    <a:latin typeface="Calibri"/>
                  </a:rPr>
                  <a:t>, đường phân giác </a:t>
                </a:r>
                <a14:m>
                  <m:oMath xmlns:m="http://schemas.openxmlformats.org/officeDocument/2006/math">
                    <m:r>
                      <a:rPr lang="vi-VN" sz="2200" b="0">
                        <a:solidFill>
                          <a:srgbClr val="1E293B"/>
                        </a:solidFill>
                        <a:latin typeface="Cambria Math" panose="02040503050406030204" pitchFamily="18" charset="0"/>
                      </a:rPr>
                      <m:t>y=x</m:t>
                    </m:r>
                  </m:oMath>
                </a14:m>
                <a:r>
                  <a:rPr sz="2200">
                    <a:solidFill>
                      <a:srgbClr val="1E293B"/>
                    </a:solidFill>
                    <a:latin typeface="Calibri"/>
                  </a:rPr>
                  <a:t>, gốc </a:t>
                </a:r>
                <a14:m>
                  <m:oMath xmlns:m="http://schemas.openxmlformats.org/officeDocument/2006/math">
                    <m:r>
                      <a:rPr lang="vi-VN" sz="2200" b="0">
                        <a:solidFill>
                          <a:srgbClr val="1E293B"/>
                        </a:solidFill>
                        <a:latin typeface="Cambria Math" panose="02040503050406030204" pitchFamily="18" charset="0"/>
                      </a:rPr>
                      <m:t>O</m:t>
                    </m:r>
                  </m:oMath>
                </a14:m>
                <a:r>
                  <a:rPr sz="2200">
                    <a:solidFill>
                      <a:srgbClr val="1E293B"/>
                    </a:solidFill>
                    <a:latin typeface="Calibri"/>
                  </a:rPr>
                  <a:t> → các công thức.</a:t>
                </a:r>
              </a:p>
            </p:txBody>
          </p:sp>
        </mc:Choice>
        <mc:Fallback>
          <p:sp>
            <p:nvSpPr>
              <p:cNvPr id="7" name="TextBox 6"/>
              <p:cNvSpPr txBox="1"/>
              <p:nvPr/>
            </p:nvSpPr>
            <p:spPr>
              <a:xfrm>
                <a:off x="548640" y="1417320"/>
                <a:ext cx="6035040" cy="356616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a:solidFill>
                      <a:srgbClr val="1E293B"/>
                    </a:solidFill>
                    <a:latin typeface="Calibri"/>
                  </a:rPr>
                  <a:t>Kéo thanh trượt </a:t>
                </a:r>
                <a:r>
                  <a:rPr lang="vi-VN"/>
                  <a:t>\alpha</a:t>
                </a:r>
                <a:r>
                  <a:rPr sz="2200">
                    <a:solidFill>
                      <a:srgbClr val="1E293B"/>
                    </a:solidFill>
                    <a:latin typeface="Calibri"/>
                  </a:rPr>
                  <a:t>: </a:t>
                </a:r>
                <a:r>
                  <a:rPr lang="vi-VN"/>
                  <a:t>M</a:t>
                </a:r>
                <a:r>
                  <a:rPr sz="2200">
                    <a:solidFill>
                      <a:srgbClr val="1E293B"/>
                    </a:solidFill>
                    <a:latin typeface="Calibri"/>
                  </a:rPr>
                  <a:t> biểu diễn </a:t>
                </a:r>
                <a:r>
                  <a:rPr lang="vi-VN"/>
                  <a:t>\alpha</a:t>
                </a:r>
                <a:r>
                  <a:rPr sz="2200">
                    <a:solidFill>
                      <a:srgbClr val="1E293B"/>
                    </a:solidFill>
                    <a:latin typeface="Calibri"/>
                  </a:rPr>
                  <a:t>.</a:t>
                </a:r>
              </a:p>
              <a:p>
                <a:pPr algn="l" marL="365760" indent="-365760">
                  <a:spcAft>
                    <a:spcPts val="800"/>
                  </a:spcAft>
                  <a:buClr>
                    <a:srgbClr val="1E40AF"/>
                  </a:buClr>
                  <a:buFont typeface="Arial"/>
                  <a:buChar char="•"/>
                </a:pPr>
                <a:r>
                  <a:rPr lang="vi-VN"/>
                  <a:t>N_1,\ N_2,\ N_3,\ N_4</a:t>
                </a:r>
                <a:r>
                  <a:rPr sz="2200">
                    <a:solidFill>
                      <a:srgbClr val="1E293B"/>
                    </a:solidFill>
                    <a:latin typeface="Calibri"/>
                  </a:rPr>
                  <a:t> biểu diễn </a:t>
                </a:r>
                <a:r>
                  <a:rPr lang="vi-VN"/>
                  <a:t>-\alpha</a:t>
                </a:r>
                <a:r>
                  <a:rPr sz="2200">
                    <a:solidFill>
                      <a:srgbClr val="1E293B"/>
                    </a:solidFill>
                    <a:latin typeface="Calibri"/>
                  </a:rPr>
                  <a:t>, </a:t>
                </a:r>
                <a:r>
                  <a:rPr lang="vi-VN"/>
                  <a:t>\pi-\alpha</a:t>
                </a:r>
                <a:r>
                  <a:rPr sz="2200">
                    <a:solidFill>
                      <a:srgbClr val="1E293B"/>
                    </a:solidFill>
                    <a:latin typeface="Calibri"/>
                  </a:rPr>
                  <a:t>, </a:t>
                </a:r>
                <a:r>
                  <a:rPr lang="vi-VN"/>
                  <a:t>\frac{\pi}{2}-\alpha</a:t>
                </a:r>
                <a:r>
                  <a:rPr sz="2200">
                    <a:solidFill>
                      <a:srgbClr val="1E293B"/>
                    </a:solidFill>
                    <a:latin typeface="Calibri"/>
                  </a:rPr>
                  <a:t>, </a:t>
                </a:r>
                <a:r>
                  <a:rPr lang="vi-VN"/>
                  <a:t>\pi+\alpha</a:t>
                </a:r>
                <a:r>
                  <a:rPr sz="2200">
                    <a:solidFill>
                      <a:srgbClr val="1E293B"/>
                    </a:solidFill>
                    <a:latin typeface="Calibri"/>
                  </a:rPr>
                  <a:t>.</a:t>
                </a:r>
              </a:p>
              <a:p>
                <a:pPr algn="l" marL="365760" indent="-365760">
                  <a:spcAft>
                    <a:spcPts val="800"/>
                  </a:spcAft>
                  <a:buClr>
                    <a:srgbClr val="1E40AF"/>
                  </a:buClr>
                  <a:buFont typeface="Arial"/>
                  <a:buChar char="•"/>
                </a:pPr>
                <a:r>
                  <a:rPr sz="2200">
                    <a:solidFill>
                      <a:srgbClr val="1E293B"/>
                    </a:solidFill>
                    <a:latin typeface="Calibri"/>
                  </a:rPr>
                  <a:t>Đối xứng qua </a:t>
                </a:r>
                <a:r>
                  <a:rPr lang="vi-VN"/>
                  <a:t>Ox</a:t>
                </a:r>
                <a:r>
                  <a:rPr sz="2200">
                    <a:solidFill>
                      <a:srgbClr val="1E293B"/>
                    </a:solidFill>
                    <a:latin typeface="Calibri"/>
                  </a:rPr>
                  <a:t>, </a:t>
                </a:r>
                <a:r>
                  <a:rPr lang="vi-VN"/>
                  <a:t>Oy</a:t>
                </a:r>
                <a:r>
                  <a:rPr sz="2200">
                    <a:solidFill>
                      <a:srgbClr val="1E293B"/>
                    </a:solidFill>
                    <a:latin typeface="Calibri"/>
                  </a:rPr>
                  <a:t>, đường phân giác </a:t>
                </a:r>
                <a:r>
                  <a:rPr lang="vi-VN"/>
                  <a:t>y=x</a:t>
                </a:r>
                <a:r>
                  <a:rPr sz="2200">
                    <a:solidFill>
                      <a:srgbClr val="1E293B"/>
                    </a:solidFill>
                    <a:latin typeface="Calibri"/>
                  </a:rPr>
                  <a:t>, gốc </a:t>
                </a:r>
                <a:r>
                  <a:rPr lang="vi-VN"/>
                  <a:t>O</a:t>
                </a:r>
                <a:r>
                  <a:rPr sz="2200">
                    <a:solidFill>
                      <a:srgbClr val="1E293B"/>
                    </a:solidFill>
                    <a:latin typeface="Calibri"/>
                  </a:rPr>
                  <a:t> → các công thức.</a:t>
                </a:r>
              </a:p>
            </p:txBody>
          </p:sp>
        </mc:Fallback>
      </mc:AlternateContent>
      <p:sp>
        <p:nvSpPr>
          <p:cNvPr id="8" name="Rounded Rectangle 7">
            <a:hlinkClick r:id="rId3"/>
          </p:cNvPr>
          <p:cNvSpPr/>
          <p:nvPr/>
        </p:nvSpPr>
        <p:spPr>
          <a:xfrm>
            <a:off x="548640" y="5074920"/>
            <a:ext cx="3840480" cy="6858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MỞ GEOGEBRA</a:t>
            </a:r>
          </a:p>
        </p:txBody>
      </p:sp>
      <p:pic>
        <p:nvPicPr>
          <p:cNvPr id="9" name="Picture 8" descr="qr_ggb_2.png"/>
          <p:cNvPicPr>
            <a:picLocks noChangeAspect="1"/>
          </p:cNvPicPr>
          <p:nvPr/>
        </p:nvPicPr>
        <p:blipFill>
          <a:blip r:embed="rId4"/>
          <a:stretch>
            <a:fillRect/>
          </a:stretch>
        </p:blipFill>
        <p:spPr>
          <a:xfrm>
            <a:off x="4572000" y="4572000"/>
            <a:ext cx="1325880" cy="1325880"/>
          </a:xfrm>
          <a:prstGeom prst="rect">
            <a:avLst/>
          </a:prstGeom>
        </p:spPr>
      </p:pic>
      <p:sp>
        <p:nvSpPr>
          <p:cNvPr id="10" name="TextBox 9"/>
          <p:cNvSpPr txBox="1"/>
          <p:nvPr/>
        </p:nvSpPr>
        <p:spPr>
          <a:xfrm>
            <a:off x="548640" y="5806440"/>
            <a:ext cx="3931920" cy="457200"/>
          </a:xfrm>
          <a:prstGeom prst="rect">
            <a:avLst/>
          </a:prstGeom>
          <a:noFill/>
        </p:spPr>
        <p:txBody>
          <a:bodyPr wrap="square" anchor="t" lIns="45720" rIns="45720">
            <a:spAutoFit/>
          </a:bodyPr>
          <a:lstStyle/>
          <a:p>
            <a:pPr algn="l">
              <a:spcAft>
                <a:spcPts val="800"/>
              </a:spcAft>
            </a:pPr>
            <a:r>
              <a:rPr sz="1400">
                <a:solidFill>
                  <a:srgbClr val="64748B"/>
                </a:solidFill>
                <a:latin typeface="Calibri"/>
              </a:rPr>
              <a:t>Quét QR mở trên điện thoại. Kéo điểm để thay đổi hình.</a:t>
            </a:r>
          </a:p>
        </p:txBody>
      </p:sp>
      <p:pic>
        <p:nvPicPr>
          <p:cNvPr id="11" name="Picture 10" descr="b1_h112a.png"/>
          <p:cNvPicPr>
            <a:picLocks noChangeAspect="1"/>
          </p:cNvPicPr>
          <p:nvPr/>
        </p:nvPicPr>
        <p:blipFill>
          <a:blip r:embed="rId5"/>
          <a:stretch>
            <a:fillRect/>
          </a:stretch>
        </p:blipFill>
        <p:spPr>
          <a:xfrm>
            <a:off x="7181855" y="1463040"/>
            <a:ext cx="4198609" cy="448056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VỀ NHÀ 1.1 – 1.3 (SGK TR.16)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18388"/>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1.1.</a:t>
                </a:r>
                <a:r>
                  <a:rPr sz="1800">
                    <a:solidFill>
                      <a:srgbClr val="1E293B"/>
                    </a:solidFill>
                    <a:latin typeface="Calibri"/>
                  </a:rPr>
                  <a:t> Hoàn thành bảng: </a:t>
                </a:r>
                <a14:m>
                  <m:oMath xmlns:m="http://schemas.openxmlformats.org/officeDocument/2006/math">
                    <m:sSup>
                      <m:e>
                        <m:r>
                          <a:rPr lang="vi-VN" sz="1800" b="0">
                            <a:solidFill>
                              <a:srgbClr val="1E293B"/>
                            </a:solidFill>
                            <a:latin typeface="Cambria Math" panose="02040503050406030204" pitchFamily="18" charset="0"/>
                          </a:rPr>
                          <m:t>15</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a:t>
                </a:r>
                <a14:m>
                  <m:oMath xmlns:m="http://schemas.openxmlformats.org/officeDocument/2006/math">
                    <m:f>
                      <m:fPr>
                        <m:type m:val="bar"/>
                      </m:fPr>
                      <m:num>
                        <m:r>
                          <a:rPr lang="vi-VN" sz="1800" b="0">
                            <a:solidFill>
                              <a:srgbClr val="1E293B"/>
                            </a:solidFill>
                            <a:latin typeface="Cambria Math" panose="02040503050406030204" pitchFamily="18" charset="0"/>
                          </a:rPr>
                          <m:t>3π</m:t>
                        </m:r>
                      </m:num>
                      <m:den>
                        <m:r>
                          <a:rPr lang="vi-VN" sz="1800" b="0">
                            <a:solidFill>
                              <a:srgbClr val="1E293B"/>
                            </a:solidFill>
                            <a:latin typeface="Cambria Math" panose="02040503050406030204" pitchFamily="18" charset="0"/>
                          </a:rPr>
                          <m:t>8</m:t>
                        </m:r>
                      </m:den>
                    </m:f>
                  </m:oMath>
                </a14:m>
                <a:r>
                  <a:rPr sz="1800">
                    <a:solidFill>
                      <a:srgbClr val="1E293B"/>
                    </a:solidFill>
                    <a:latin typeface="Calibri"/>
                  </a:rPr>
                  <a:t>; </a:t>
                </a:r>
                <a14:m>
                  <m:oMath xmlns:m="http://schemas.openxmlformats.org/officeDocument/2006/math">
                    <m:sSup>
                      <m:e>
                        <m:r>
                          <a:rPr lang="vi-VN" sz="1800" b="0">
                            <a:solidFill>
                              <a:srgbClr val="1E293B"/>
                            </a:solidFill>
                            <a:latin typeface="Cambria Math" panose="02040503050406030204" pitchFamily="18" charset="0"/>
                          </a:rPr>
                          <m:t>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a:t>
                </a:r>
                <a14:m>
                  <m:oMath xmlns:m="http://schemas.openxmlformats.org/officeDocument/2006/math">
                    <m:sSup>
                      <m:e>
                        <m:r>
                          <a:rPr lang="vi-VN" sz="1800" b="0">
                            <a:solidFill>
                              <a:srgbClr val="1E293B"/>
                            </a:solidFill>
                            <a:latin typeface="Cambria Math" panose="02040503050406030204" pitchFamily="18" charset="0"/>
                          </a:rPr>
                          <m:t>900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7π</m:t>
                        </m:r>
                      </m:num>
                      <m:den>
                        <m:r>
                          <a:rPr lang="vi-VN" sz="1800" b="0">
                            <a:solidFill>
                              <a:srgbClr val="1E293B"/>
                            </a:solidFill>
                            <a:latin typeface="Cambria Math" panose="02040503050406030204" pitchFamily="18" charset="0"/>
                          </a:rPr>
                          <m:t>12</m:t>
                        </m:r>
                      </m:den>
                    </m:f>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11π</m:t>
                        </m:r>
                      </m:num>
                      <m:den>
                        <m:r>
                          <a:rPr lang="vi-VN" sz="1800" b="0">
                            <a:solidFill>
                              <a:srgbClr val="1E293B"/>
                            </a:solidFill>
                            <a:latin typeface="Cambria Math" panose="02040503050406030204" pitchFamily="18" charset="0"/>
                          </a:rPr>
                          <m:t>8</m:t>
                        </m:r>
                      </m:den>
                    </m:f>
                  </m:oMath>
                </a14:m>
                <a:r>
                  <a:rPr sz="1800">
                    <a:solidFill>
                      <a:srgbClr val="1E293B"/>
                    </a:solidFill>
                    <a:latin typeface="Calibri"/>
                  </a:rPr>
                  <a:t> (đổi sang đơn vị còn lại).</a:t>
                </a:r>
              </a:p>
            </p:txBody>
          </p:sp>
        </mc:Choice>
        <mc:Fallback>
          <p:sp>
            <p:nvSpPr>
              <p:cNvPr id="7" name="TextBox 6"/>
              <p:cNvSpPr txBox="1"/>
              <p:nvPr/>
            </p:nvSpPr>
            <p:spPr>
              <a:xfrm>
                <a:off x="548640" y="1371600"/>
                <a:ext cx="11064240" cy="818388"/>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1.1.</a:t>
                </a:r>
                <a:r>
                  <a:rPr sz="1800">
                    <a:solidFill>
                      <a:srgbClr val="1E293B"/>
                    </a:solidFill>
                    <a:latin typeface="Calibri"/>
                  </a:rPr>
                  <a:t> Hoàn thành bảng: </a:t>
                </a:r>
                <a:r>
                  <a:rPr lang="vi-VN"/>
                  <a:t>15^\circ</a:t>
                </a:r>
                <a:r>
                  <a:rPr sz="1800">
                    <a:solidFill>
                      <a:srgbClr val="1E293B"/>
                    </a:solidFill>
                    <a:latin typeface="Calibri"/>
                  </a:rPr>
                  <a:t>; </a:t>
                </a:r>
                <a:r>
                  <a:rPr lang="vi-VN"/>
                  <a:t>\frac{3\pi}{8}</a:t>
                </a:r>
                <a:r>
                  <a:rPr sz="1800">
                    <a:solidFill>
                      <a:srgbClr val="1E293B"/>
                    </a:solidFill>
                    <a:latin typeface="Calibri"/>
                  </a:rPr>
                  <a:t>; </a:t>
                </a:r>
                <a:r>
                  <a:rPr lang="vi-VN"/>
                  <a:t>0^\circ</a:t>
                </a:r>
                <a:r>
                  <a:rPr sz="1800">
                    <a:solidFill>
                      <a:srgbClr val="1E293B"/>
                    </a:solidFill>
                    <a:latin typeface="Calibri"/>
                  </a:rPr>
                  <a:t>; </a:t>
                </a:r>
                <a:r>
                  <a:rPr lang="vi-VN"/>
                  <a:t>900^\circ</a:t>
                </a:r>
                <a:r>
                  <a:rPr sz="1800">
                    <a:solidFill>
                      <a:srgbClr val="1E293B"/>
                    </a:solidFill>
                    <a:latin typeface="Calibri"/>
                  </a:rPr>
                  <a:t>; </a:t>
                </a:r>
                <a:r>
                  <a:rPr lang="vi-VN"/>
                  <a:t>-\frac{7\pi}{12}</a:t>
                </a:r>
                <a:r>
                  <a:rPr sz="1800">
                    <a:solidFill>
                      <a:srgbClr val="1E293B"/>
                    </a:solidFill>
                    <a:latin typeface="Calibri"/>
                  </a:rPr>
                  <a:t>; </a:t>
                </a:r>
                <a:r>
                  <a:rPr lang="vi-VN"/>
                  <a:t>-\frac{11\pi}{8}</a:t>
                </a:r>
                <a:r>
                  <a:rPr sz="1800">
                    <a:solidFill>
                      <a:srgbClr val="1E293B"/>
                    </a:solidFill>
                    <a:latin typeface="Calibri"/>
                  </a:rPr>
                  <a:t> (đổi sang đơn vị còn lại).</a:t>
                </a:r>
              </a:p>
            </p:txBody>
          </p:sp>
        </mc:Fallback>
      </mc:AlternateContent>
      <p:sp>
        <p:nvSpPr>
          <p:cNvPr id="8" name="s1_nen"/>
          <p:cNvSpPr/>
          <p:nvPr/>
        </p:nvSpPr>
        <p:spPr>
          <a:xfrm>
            <a:off x="548640" y="2253996"/>
            <a:ext cx="11064240" cy="90982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90572"/>
                <a:ext cx="10735056" cy="83667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a:t>
                </a:r>
                <a14:m>
                  <m:oMath xmlns:m="http://schemas.openxmlformats.org/officeDocument/2006/math">
                    <m:sSup>
                      <m:e>
                        <m:r>
                          <a:rPr lang="vi-VN" sz="1800" b="0">
                            <a:solidFill>
                              <a:srgbClr val="1E293B"/>
                            </a:solidFill>
                            <a:latin typeface="Cambria Math" panose="02040503050406030204" pitchFamily="18" charset="0"/>
                          </a:rPr>
                          <m:t>15</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12</m:t>
                        </m:r>
                      </m:den>
                    </m:f>
                  </m:oMath>
                </a14:m>
                <a:r>
                  <a:rPr sz="1800">
                    <a:solidFill>
                      <a:srgbClr val="1E293B"/>
                    </a:solidFill>
                    <a:latin typeface="Calibri"/>
                  </a:rPr>
                  <a:t>; </a:t>
                </a:r>
                <a14:m>
                  <m:oMath xmlns:m="http://schemas.openxmlformats.org/officeDocument/2006/math">
                    <m:f>
                      <m:fPr>
                        <m:type m:val="bar"/>
                      </m:fPr>
                      <m:num>
                        <m:r>
                          <a:rPr lang="vi-VN" sz="1800" b="0">
                            <a:solidFill>
                              <a:srgbClr val="1E293B"/>
                            </a:solidFill>
                            <a:latin typeface="Cambria Math" panose="02040503050406030204" pitchFamily="18" charset="0"/>
                          </a:rPr>
                          <m:t>3π</m:t>
                        </m:r>
                      </m:num>
                      <m:den>
                        <m:r>
                          <a:rPr lang="vi-VN" sz="1800" b="0">
                            <a:solidFill>
                              <a:srgbClr val="1E293B"/>
                            </a:solidFill>
                            <a:latin typeface="Cambria Math" panose="02040503050406030204" pitchFamily="18" charset="0"/>
                          </a:rPr>
                          <m:t>8</m:t>
                        </m:r>
                      </m:den>
                    </m:f>
                    <m:r>
                      <a:rPr lang="vi-VN" sz="1800" b="0">
                        <a:solidFill>
                          <a:srgbClr val="1E293B"/>
                        </a:solidFill>
                        <a:latin typeface="Cambria Math" panose="02040503050406030204" pitchFamily="18" charset="0"/>
                      </a:rPr>
                      <m:t>=67</m:t>
                    </m:r>
                    <m:r>
                      <a:rPr lang="vi-VN" sz="1800" b="0">
                        <a:solidFill>
                          <a:srgbClr val="1E293B"/>
                        </a:solidFill>
                        <a:latin typeface="Cambria Math" panose="02040503050406030204" pitchFamily="18" charset="0"/>
                      </a:rPr>
                      <m:t>,</m:t>
                    </m:r>
                    <m:sSup>
                      <m:e>
                        <m:r>
                          <a:rPr lang="vi-VN" sz="1800" b="0">
                            <a:solidFill>
                              <a:srgbClr val="1E293B"/>
                            </a:solidFill>
                            <a:latin typeface="Cambria Math" panose="02040503050406030204" pitchFamily="18" charset="0"/>
                          </a:rPr>
                          <m:t>5</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a:t>
                </a:r>
                <a14:m>
                  <m:oMath xmlns:m="http://schemas.openxmlformats.org/officeDocument/2006/math">
                    <m:sSup>
                      <m:e>
                        <m:r>
                          <a:rPr lang="vi-VN" sz="1800" b="0">
                            <a:solidFill>
                              <a:srgbClr val="1E293B"/>
                            </a:solidFill>
                            <a:latin typeface="Cambria Math" panose="02040503050406030204" pitchFamily="18" charset="0"/>
                          </a:rPr>
                          <m:t>0</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=0</m:t>
                    </m:r>
                  </m:oMath>
                </a14:m>
                <a:r>
                  <a:rPr sz="1800">
                    <a:solidFill>
                      <a:srgbClr val="1E293B"/>
                    </a:solidFill>
                    <a:latin typeface="Calibri"/>
                  </a:rPr>
                  <a:t>; </a:t>
                </a:r>
                <a14:m>
                  <m:oMath xmlns:m="http://schemas.openxmlformats.org/officeDocument/2006/math">
                    <m:sSup>
                      <m:e>
                        <m:r>
                          <a:rPr lang="vi-VN" sz="1800" b="0">
                            <a:solidFill>
                              <a:srgbClr val="1E293B"/>
                            </a:solidFill>
                            <a:latin typeface="Cambria Math" panose="02040503050406030204" pitchFamily="18" charset="0"/>
                          </a:rPr>
                          <m:t>900</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=5π</m:t>
                    </m:r>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7π</m:t>
                        </m:r>
                      </m:num>
                      <m:den>
                        <m:r>
                          <a:rPr lang="vi-VN" sz="1800" b="0">
                            <a:solidFill>
                              <a:srgbClr val="1E293B"/>
                            </a:solidFill>
                            <a:latin typeface="Cambria Math" panose="02040503050406030204" pitchFamily="18" charset="0"/>
                          </a:rPr>
                          <m:t>12</m:t>
                        </m:r>
                      </m:den>
                    </m:f>
                    <m:r>
                      <a:rPr lang="vi-VN" sz="1800" b="0">
                        <a:solidFill>
                          <a:srgbClr val="1E293B"/>
                        </a:solidFill>
                        <a:latin typeface="Cambria Math" panose="02040503050406030204" pitchFamily="18" charset="0"/>
                      </a:rPr>
                      <m:t>=−</m:t>
                    </m:r>
                    <m:sSup>
                      <m:e>
                        <m:r>
                          <a:rPr lang="vi-VN" sz="1800" b="0">
                            <a:solidFill>
                              <a:srgbClr val="1E293B"/>
                            </a:solidFill>
                            <a:latin typeface="Cambria Math" panose="02040503050406030204" pitchFamily="18" charset="0"/>
                          </a:rPr>
                          <m:t>105</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11π</m:t>
                        </m:r>
                      </m:num>
                      <m:den>
                        <m:r>
                          <a:rPr lang="vi-VN" sz="1800" b="0">
                            <a:solidFill>
                              <a:srgbClr val="1E293B"/>
                            </a:solidFill>
                            <a:latin typeface="Cambria Math" panose="02040503050406030204" pitchFamily="18" charset="0"/>
                          </a:rPr>
                          <m:t>8</m:t>
                        </m:r>
                      </m:den>
                    </m:f>
                    <m:r>
                      <a:rPr lang="vi-VN" sz="1800" b="0">
                        <a:solidFill>
                          <a:srgbClr val="1E293B"/>
                        </a:solidFill>
                        <a:latin typeface="Cambria Math" panose="02040503050406030204" pitchFamily="18" charset="0"/>
                      </a:rPr>
                      <m:t>=−247</m:t>
                    </m:r>
                    <m:r>
                      <a:rPr lang="vi-VN" sz="1800" b="0">
                        <a:solidFill>
                          <a:srgbClr val="1E293B"/>
                        </a:solidFill>
                        <a:latin typeface="Cambria Math" panose="02040503050406030204" pitchFamily="18" charset="0"/>
                      </a:rPr>
                      <m:t>,</m:t>
                    </m:r>
                    <m:sSup>
                      <m:e>
                        <m:r>
                          <a:rPr lang="vi-VN" sz="1800" b="0">
                            <a:solidFill>
                              <a:srgbClr val="1E293B"/>
                            </a:solidFill>
                            <a:latin typeface="Cambria Math" panose="02040503050406030204" pitchFamily="18" charset="0"/>
                          </a:rPr>
                          <m:t>5</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a:t>
                </a:r>
              </a:p>
            </p:txBody>
          </p:sp>
        </mc:Choice>
        <mc:Fallback>
          <p:sp>
            <p:nvSpPr>
              <p:cNvPr id="9" name="TextBox 8"/>
              <p:cNvSpPr txBox="1"/>
              <p:nvPr/>
            </p:nvSpPr>
            <p:spPr>
              <a:xfrm>
                <a:off x="713232" y="2290572"/>
                <a:ext cx="10735056" cy="83667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 </a:t>
                </a:r>
                <a:r>
                  <a:rPr lang="vi-VN"/>
                  <a:t>15^\circ=\frac{\pi}{12}</a:t>
                </a:r>
                <a:r>
                  <a:rPr sz="1800">
                    <a:solidFill>
                      <a:srgbClr val="1E293B"/>
                    </a:solidFill>
                    <a:latin typeface="Calibri"/>
                  </a:rPr>
                  <a:t>; </a:t>
                </a:r>
                <a:r>
                  <a:rPr lang="vi-VN"/>
                  <a:t>\frac{3\pi}{8}=67{,}5^\circ</a:t>
                </a:r>
                <a:r>
                  <a:rPr sz="1800">
                    <a:solidFill>
                      <a:srgbClr val="1E293B"/>
                    </a:solidFill>
                    <a:latin typeface="Calibri"/>
                  </a:rPr>
                  <a:t>; </a:t>
                </a:r>
                <a:r>
                  <a:rPr lang="vi-VN"/>
                  <a:t>0^\circ=0</a:t>
                </a:r>
                <a:r>
                  <a:rPr sz="1800">
                    <a:solidFill>
                      <a:srgbClr val="1E293B"/>
                    </a:solidFill>
                    <a:latin typeface="Calibri"/>
                  </a:rPr>
                  <a:t>; </a:t>
                </a:r>
                <a:r>
                  <a:rPr lang="vi-VN"/>
                  <a:t>900^\circ=5\pi</a:t>
                </a:r>
                <a:r>
                  <a:rPr sz="1800">
                    <a:solidFill>
                      <a:srgbClr val="1E293B"/>
                    </a:solidFill>
                    <a:latin typeface="Calibri"/>
                  </a:rPr>
                  <a:t>; </a:t>
                </a:r>
                <a:r>
                  <a:rPr lang="vi-VN"/>
                  <a:t>-\frac{7\pi}{12}=-105^\circ</a:t>
                </a:r>
                <a:r>
                  <a:rPr sz="1800">
                    <a:solidFill>
                      <a:srgbClr val="1E293B"/>
                    </a:solidFill>
                    <a:latin typeface="Calibri"/>
                  </a:rPr>
                  <a:t>; </a:t>
                </a:r>
                <a:r>
                  <a:rPr lang="vi-VN"/>
                  <a:t>-\frac{11\pi}{8}=-247{,}5^\circ</a:t>
                </a:r>
                <a:r>
                  <a:rPr sz="18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227832"/>
                <a:ext cx="11064240" cy="57149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1.2.</a:t>
                </a:r>
                <a:r>
                  <a:rPr sz="1800">
                    <a:solidFill>
                      <a:srgbClr val="1E293B"/>
                    </a:solidFill>
                    <a:latin typeface="Calibri"/>
                  </a:rPr>
                  <a:t> Đường tròn bán kính 20 cm: độ dài cung có số đo a) </a:t>
                </a:r>
                <a14:m>
                  <m:oMath xmlns:m="http://schemas.openxmlformats.org/officeDocument/2006/math">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12</m:t>
                        </m:r>
                      </m:den>
                    </m:f>
                  </m:oMath>
                </a14:m>
                <a:r>
                  <a:rPr sz="1800">
                    <a:solidFill>
                      <a:srgbClr val="1E293B"/>
                    </a:solidFill>
                    <a:latin typeface="Calibri"/>
                  </a:rPr>
                  <a:t>; b) </a:t>
                </a:r>
                <a14:m>
                  <m:oMath xmlns:m="http://schemas.openxmlformats.org/officeDocument/2006/math">
                    <m:r>
                      <a:rPr lang="vi-VN" sz="1800" b="0">
                        <a:solidFill>
                          <a:srgbClr val="1E293B"/>
                        </a:solidFill>
                        <a:latin typeface="Cambria Math" panose="02040503050406030204" pitchFamily="18" charset="0"/>
                      </a:rPr>
                      <m:t>1</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5</m:t>
                    </m:r>
                  </m:oMath>
                </a14:m>
                <a:r>
                  <a:rPr sz="1800">
                    <a:solidFill>
                      <a:srgbClr val="1E293B"/>
                    </a:solidFill>
                    <a:latin typeface="Calibri"/>
                  </a:rPr>
                  <a:t>; c) </a:t>
                </a:r>
                <a14:m>
                  <m:oMath xmlns:m="http://schemas.openxmlformats.org/officeDocument/2006/math">
                    <m:sSup>
                      <m:e>
                        <m:r>
                          <a:rPr lang="vi-VN" sz="1800" b="0">
                            <a:solidFill>
                              <a:srgbClr val="1E293B"/>
                            </a:solidFill>
                            <a:latin typeface="Cambria Math" panose="02040503050406030204" pitchFamily="18" charset="0"/>
                          </a:rPr>
                          <m:t>35</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d) </a:t>
                </a:r>
                <a14:m>
                  <m:oMath xmlns:m="http://schemas.openxmlformats.org/officeDocument/2006/math">
                    <m:sSup>
                      <m:e>
                        <m:r>
                          <a:rPr lang="vi-VN" sz="1800" b="0">
                            <a:solidFill>
                              <a:srgbClr val="1E293B"/>
                            </a:solidFill>
                            <a:latin typeface="Cambria Math" panose="02040503050406030204" pitchFamily="18" charset="0"/>
                          </a:rPr>
                          <m:t>315</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a:t>
                </a:r>
              </a:p>
            </p:txBody>
          </p:sp>
        </mc:Choice>
        <mc:Fallback>
          <p:sp>
            <p:nvSpPr>
              <p:cNvPr id="10" name="TextBox 9"/>
              <p:cNvSpPr txBox="1"/>
              <p:nvPr/>
            </p:nvSpPr>
            <p:spPr>
              <a:xfrm>
                <a:off x="548640" y="3227832"/>
                <a:ext cx="11064240" cy="57149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1.2.</a:t>
                </a:r>
                <a:r>
                  <a:rPr sz="1800">
                    <a:solidFill>
                      <a:srgbClr val="1E293B"/>
                    </a:solidFill>
                    <a:latin typeface="Calibri"/>
                  </a:rPr>
                  <a:t> Đường tròn bán kính 20 cm: độ dài cung có số đo a) </a:t>
                </a:r>
                <a:r>
                  <a:rPr lang="vi-VN"/>
                  <a:t>\frac{\pi}{12}</a:t>
                </a:r>
                <a:r>
                  <a:rPr sz="1800">
                    <a:solidFill>
                      <a:srgbClr val="1E293B"/>
                    </a:solidFill>
                    <a:latin typeface="Calibri"/>
                  </a:rPr>
                  <a:t>; b) </a:t>
                </a:r>
                <a:r>
                  <a:rPr lang="vi-VN"/>
                  <a:t>1{,}5</a:t>
                </a:r>
                <a:r>
                  <a:rPr sz="1800">
                    <a:solidFill>
                      <a:srgbClr val="1E293B"/>
                    </a:solidFill>
                    <a:latin typeface="Calibri"/>
                  </a:rPr>
                  <a:t>; c) </a:t>
                </a:r>
                <a:r>
                  <a:rPr lang="vi-VN"/>
                  <a:t>35^\circ</a:t>
                </a:r>
                <a:r>
                  <a:rPr sz="1800">
                    <a:solidFill>
                      <a:srgbClr val="1E293B"/>
                    </a:solidFill>
                    <a:latin typeface="Calibri"/>
                  </a:rPr>
                  <a:t>; d) </a:t>
                </a:r>
                <a:r>
                  <a:rPr lang="vi-VN"/>
                  <a:t>315^\circ</a:t>
                </a:r>
                <a:r>
                  <a:rPr sz="1800">
                    <a:solidFill>
                      <a:srgbClr val="1E293B"/>
                    </a:solidFill>
                    <a:latin typeface="Calibri"/>
                  </a:rPr>
                  <a:t>.</a:t>
                </a:r>
              </a:p>
            </p:txBody>
          </p:sp>
        </mc:Fallback>
      </mc:AlternateContent>
      <p:sp>
        <p:nvSpPr>
          <p:cNvPr id="11" name="s3_nen"/>
          <p:cNvSpPr/>
          <p:nvPr/>
        </p:nvSpPr>
        <p:spPr>
          <a:xfrm>
            <a:off x="548640" y="3863339"/>
            <a:ext cx="11064240" cy="78638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3899915"/>
                <a:ext cx="10735056" cy="71323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14:m>
                  <m:oMath xmlns:m="http://schemas.openxmlformats.org/officeDocument/2006/math">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3</m:t>
                        </m:r>
                      </m:den>
                    </m:f>
                    <m:r>
                      <a:rPr lang="vi-VN" sz="1800" b="0">
                        <a:solidFill>
                          <a:srgbClr val="1E293B"/>
                        </a:solidFill>
                        <a:latin typeface="Cambria Math" panose="02040503050406030204" pitchFamily="18" charset="0"/>
                      </a:rPr>
                      <m:t>≈5</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24</m:t>
                    </m:r>
                  </m:oMath>
                </a14:m>
                <a:r>
                  <a:rPr sz="1800">
                    <a:solidFill>
                      <a:srgbClr val="1E293B"/>
                    </a:solidFill>
                    <a:latin typeface="Calibri"/>
                  </a:rPr>
                  <a:t>; b) </a:t>
                </a:r>
                <a14:m>
                  <m:oMath xmlns:m="http://schemas.openxmlformats.org/officeDocument/2006/math">
                    <m:r>
                      <a:rPr lang="vi-VN" sz="1800" b="0">
                        <a:solidFill>
                          <a:srgbClr val="1E293B"/>
                        </a:solidFill>
                        <a:latin typeface="Cambria Math" panose="02040503050406030204" pitchFamily="18" charset="0"/>
                      </a:rPr>
                      <m:t>30</m:t>
                    </m:r>
                  </m:oMath>
                </a14:m>
                <a:r>
                  <a:rPr sz="1800">
                    <a:solidFill>
                      <a:srgbClr val="1E293B"/>
                    </a:solidFill>
                    <a:latin typeface="Calibri"/>
                  </a:rPr>
                  <a:t>; c) </a:t>
                </a:r>
                <a14:m>
                  <m:oMath xmlns:m="http://schemas.openxmlformats.org/officeDocument/2006/math">
                    <m:f>
                      <m:fPr>
                        <m:type m:val="bar"/>
                      </m:fPr>
                      <m:num>
                        <m:r>
                          <a:rPr lang="vi-VN" sz="1800" b="0">
                            <a:solidFill>
                              <a:srgbClr val="1E293B"/>
                            </a:solidFill>
                            <a:latin typeface="Cambria Math" panose="02040503050406030204" pitchFamily="18" charset="0"/>
                          </a:rPr>
                          <m:t>35π</m:t>
                        </m:r>
                      </m:num>
                      <m:den>
                        <m:r>
                          <a:rPr lang="vi-VN" sz="1800" b="0">
                            <a:solidFill>
                              <a:srgbClr val="1E293B"/>
                            </a:solidFill>
                            <a:latin typeface="Cambria Math" panose="02040503050406030204" pitchFamily="18" charset="0"/>
                          </a:rPr>
                          <m:t>9</m:t>
                        </m:r>
                      </m:den>
                    </m:f>
                    <m:r>
                      <a:rPr lang="vi-VN" sz="1800" b="0">
                        <a:solidFill>
                          <a:srgbClr val="1E293B"/>
                        </a:solidFill>
                        <a:latin typeface="Cambria Math" panose="02040503050406030204" pitchFamily="18" charset="0"/>
                      </a:rPr>
                      <m:t>≈12</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22</m:t>
                    </m:r>
                  </m:oMath>
                </a14:m>
                <a:r>
                  <a:rPr sz="1800">
                    <a:solidFill>
                      <a:srgbClr val="1E293B"/>
                    </a:solidFill>
                    <a:latin typeface="Calibri"/>
                  </a:rPr>
                  <a:t>; d) </a:t>
                </a:r>
                <a14:m>
                  <m:oMath xmlns:m="http://schemas.openxmlformats.org/officeDocument/2006/math">
                    <m:r>
                      <a:rPr lang="vi-VN" sz="1800" b="0">
                        <a:solidFill>
                          <a:srgbClr val="1E293B"/>
                        </a:solidFill>
                        <a:latin typeface="Cambria Math" panose="02040503050406030204" pitchFamily="18" charset="0"/>
                      </a:rPr>
                      <m:t>35π≈109</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96</m:t>
                    </m:r>
                  </m:oMath>
                </a14:m>
                <a:r>
                  <a:rPr sz="1800">
                    <a:solidFill>
                      <a:srgbClr val="1E293B"/>
                    </a:solidFill>
                    <a:latin typeface="Calibri"/>
                  </a:rPr>
                  <a:t> (cm).</a:t>
                </a:r>
              </a:p>
            </p:txBody>
          </p:sp>
        </mc:Choice>
        <mc:Fallback>
          <p:sp>
            <p:nvSpPr>
              <p:cNvPr id="12" name="TextBox 11"/>
              <p:cNvSpPr txBox="1"/>
              <p:nvPr/>
            </p:nvSpPr>
            <p:spPr>
              <a:xfrm>
                <a:off x="713232" y="3899915"/>
                <a:ext cx="10735056" cy="71323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r>
                  <a:rPr lang="vi-VN"/>
                  <a:t>\frac{5\pi}{3}\approx 5{,}24</a:t>
                </a:r>
                <a:r>
                  <a:rPr sz="1800">
                    <a:solidFill>
                      <a:srgbClr val="1E293B"/>
                    </a:solidFill>
                    <a:latin typeface="Calibri"/>
                  </a:rPr>
                  <a:t>; b) </a:t>
                </a:r>
                <a:r>
                  <a:rPr lang="vi-VN"/>
                  <a:t>30</a:t>
                </a:r>
                <a:r>
                  <a:rPr sz="1800">
                    <a:solidFill>
                      <a:srgbClr val="1E293B"/>
                    </a:solidFill>
                    <a:latin typeface="Calibri"/>
                  </a:rPr>
                  <a:t>; c) </a:t>
                </a:r>
                <a:r>
                  <a:rPr lang="vi-VN"/>
                  <a:t>\frac{35\pi}{9}\approx 12{,}22</a:t>
                </a:r>
                <a:r>
                  <a:rPr sz="1800">
                    <a:solidFill>
                      <a:srgbClr val="1E293B"/>
                    </a:solidFill>
                    <a:latin typeface="Calibri"/>
                  </a:rPr>
                  <a:t>; d) </a:t>
                </a:r>
                <a:r>
                  <a:rPr lang="vi-VN"/>
                  <a:t>35\pi\approx 109{,}96</a:t>
                </a:r>
                <a:r>
                  <a:rPr sz="1800">
                    <a:solidFill>
                      <a:srgbClr val="1E293B"/>
                    </a:solidFill>
                    <a:latin typeface="Calibri"/>
                  </a:rPr>
                  <a:t> (cm).</a:t>
                </a:r>
              </a:p>
            </p:txBody>
          </p:sp>
        </mc:Fallback>
      </mc:AlternateContent>
      <mc:AlternateContent xmlns:mc="http://schemas.openxmlformats.org/markup-compatibility/2006">
        <mc:Choice xmlns:a14="http://schemas.microsoft.com/office/drawing/2010/main" Requires="a14">
          <p:sp>
            <p:nvSpPr>
              <p:cNvPr id="13" name="s4_chu"/>
              <p:cNvSpPr txBox="1"/>
              <p:nvPr/>
            </p:nvSpPr>
            <p:spPr>
              <a:xfrm>
                <a:off x="548640" y="4713731"/>
                <a:ext cx="11064240" cy="694943"/>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1.3.</a:t>
                </a:r>
                <a:r>
                  <a:rPr sz="1800">
                    <a:solidFill>
                      <a:srgbClr val="1E293B"/>
                    </a:solidFill>
                    <a:latin typeface="Calibri"/>
                  </a:rPr>
                  <a:t> Xác định điểm biểu diễn: a) </a:t>
                </a:r>
                <a14:m>
                  <m:oMath xmlns:m="http://schemas.openxmlformats.org/officeDocument/2006/math">
                    <m:f>
                      <m:fPr>
                        <m:type m:val="bar"/>
                      </m:fPr>
                      <m:num>
                        <m:r>
                          <a:rPr lang="vi-VN" sz="1800" b="0">
                            <a:solidFill>
                              <a:srgbClr val="1E293B"/>
                            </a:solidFill>
                            <a:latin typeface="Cambria Math" panose="02040503050406030204" pitchFamily="18" charset="0"/>
                          </a:rPr>
                          <m:t>2π</m:t>
                        </m:r>
                      </m:num>
                      <m:den>
                        <m:r>
                          <a:rPr lang="vi-VN" sz="1800" b="0">
                            <a:solidFill>
                              <a:srgbClr val="1E293B"/>
                            </a:solidFill>
                            <a:latin typeface="Cambria Math" panose="02040503050406030204" pitchFamily="18" charset="0"/>
                          </a:rPr>
                          <m:t>3</m:t>
                        </m:r>
                      </m:den>
                    </m:f>
                  </m:oMath>
                </a14:m>
                <a:r>
                  <a:rPr sz="1800">
                    <a:solidFill>
                      <a:srgbClr val="1E293B"/>
                    </a:solidFill>
                    <a:latin typeface="Calibri"/>
                  </a:rPr>
                  <a:t>; b) </a:t>
                </a:r>
                <a14:m>
                  <m:oMath xmlns:m="http://schemas.openxmlformats.org/officeDocument/2006/math">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11π</m:t>
                        </m:r>
                      </m:num>
                      <m:den>
                        <m:r>
                          <a:rPr lang="vi-VN" sz="1800" b="0">
                            <a:solidFill>
                              <a:srgbClr val="1E293B"/>
                            </a:solidFill>
                            <a:latin typeface="Cambria Math" panose="02040503050406030204" pitchFamily="18" charset="0"/>
                          </a:rPr>
                          <m:t>4</m:t>
                        </m:r>
                      </m:den>
                    </m:f>
                  </m:oMath>
                </a14:m>
                <a:r>
                  <a:rPr sz="1800">
                    <a:solidFill>
                      <a:srgbClr val="1E293B"/>
                    </a:solidFill>
                    <a:latin typeface="Calibri"/>
                  </a:rPr>
                  <a:t>; c) </a:t>
                </a:r>
                <a14:m>
                  <m:oMath xmlns:m="http://schemas.openxmlformats.org/officeDocument/2006/math">
                    <m:sSup>
                      <m:e>
                        <m:r>
                          <a:rPr lang="vi-VN" sz="1800" b="0">
                            <a:solidFill>
                              <a:srgbClr val="1E293B"/>
                            </a:solidFill>
                            <a:latin typeface="Cambria Math" panose="02040503050406030204" pitchFamily="18" charset="0"/>
                          </a:rPr>
                          <m:t>150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d) </a:t>
                </a:r>
                <a14:m>
                  <m:oMath xmlns:m="http://schemas.openxmlformats.org/officeDocument/2006/math">
                    <m:r>
                      <a:rPr lang="vi-VN" sz="1800" b="0">
                        <a:solidFill>
                          <a:srgbClr val="1E293B"/>
                        </a:solidFill>
                        <a:latin typeface="Cambria Math" panose="02040503050406030204" pitchFamily="18" charset="0"/>
                      </a:rPr>
                      <m:t>−</m:t>
                    </m:r>
                    <m:sSup>
                      <m:e>
                        <m:r>
                          <a:rPr lang="vi-VN" sz="1800" b="0">
                            <a:solidFill>
                              <a:srgbClr val="1E293B"/>
                            </a:solidFill>
                            <a:latin typeface="Cambria Math" panose="02040503050406030204" pitchFamily="18" charset="0"/>
                          </a:rPr>
                          <m:t>225</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a:t>
                </a:r>
              </a:p>
            </p:txBody>
          </p:sp>
        </mc:Choice>
        <mc:Fallback>
          <p:sp>
            <p:nvSpPr>
              <p:cNvPr id="13" name="TextBox 12"/>
              <p:cNvSpPr txBox="1"/>
              <p:nvPr/>
            </p:nvSpPr>
            <p:spPr>
              <a:xfrm>
                <a:off x="548640" y="4713731"/>
                <a:ext cx="11064240" cy="694943"/>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1.3.</a:t>
                </a:r>
                <a:r>
                  <a:rPr sz="1800">
                    <a:solidFill>
                      <a:srgbClr val="1E293B"/>
                    </a:solidFill>
                    <a:latin typeface="Calibri"/>
                  </a:rPr>
                  <a:t> Xác định điểm biểu diễn: a) </a:t>
                </a:r>
                <a:r>
                  <a:rPr lang="vi-VN"/>
                  <a:t>\frac{2\pi}{3}</a:t>
                </a:r>
                <a:r>
                  <a:rPr sz="1800">
                    <a:solidFill>
                      <a:srgbClr val="1E293B"/>
                    </a:solidFill>
                    <a:latin typeface="Calibri"/>
                  </a:rPr>
                  <a:t>; b) </a:t>
                </a:r>
                <a:r>
                  <a:rPr lang="vi-VN"/>
                  <a:t>-\frac{11\pi}{4}</a:t>
                </a:r>
                <a:r>
                  <a:rPr sz="1800">
                    <a:solidFill>
                      <a:srgbClr val="1E293B"/>
                    </a:solidFill>
                    <a:latin typeface="Calibri"/>
                  </a:rPr>
                  <a:t>; c) </a:t>
                </a:r>
                <a:r>
                  <a:rPr lang="vi-VN"/>
                  <a:t>150^\circ</a:t>
                </a:r>
                <a:r>
                  <a:rPr sz="1800">
                    <a:solidFill>
                      <a:srgbClr val="1E293B"/>
                    </a:solidFill>
                    <a:latin typeface="Calibri"/>
                  </a:rPr>
                  <a:t>; d) </a:t>
                </a:r>
                <a:r>
                  <a:rPr lang="vi-VN"/>
                  <a:t>-225^\circ</a:t>
                </a:r>
                <a:r>
                  <a:rPr sz="1800">
                    <a:solidFill>
                      <a:srgbClr val="1E293B"/>
                    </a:solidFill>
                    <a:latin typeface="Calibri"/>
                  </a:rPr>
                  <a:t>.</a:t>
                </a:r>
              </a:p>
            </p:txBody>
          </p:sp>
        </mc:Fallback>
      </mc:AlternateContent>
      <p:sp>
        <p:nvSpPr>
          <p:cNvPr id="14" name="s5_nen"/>
          <p:cNvSpPr/>
          <p:nvPr/>
        </p:nvSpPr>
        <p:spPr>
          <a:xfrm>
            <a:off x="548640" y="5472683"/>
            <a:ext cx="11064240" cy="937259"/>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s5_chu"/>
              <p:cNvSpPr txBox="1"/>
              <p:nvPr/>
            </p:nvSpPr>
            <p:spPr>
              <a:xfrm>
                <a:off x="713232" y="5509259"/>
                <a:ext cx="10735056" cy="864108"/>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14:m>
                  <m:oMath xmlns:m="http://schemas.openxmlformats.org/officeDocument/2006/math">
                    <m:sSup>
                      <m:e>
                        <m:r>
                          <a:rPr lang="vi-VN" sz="1800" b="0">
                            <a:solidFill>
                              <a:srgbClr val="1E293B"/>
                            </a:solidFill>
                            <a:latin typeface="Cambria Math" panose="02040503050406030204" pitchFamily="18" charset="0"/>
                          </a:rPr>
                          <m:t>120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góc phần tư II; b) </a:t>
                </a:r>
                <a14:m>
                  <m:oMath xmlns:m="http://schemas.openxmlformats.org/officeDocument/2006/math">
                    <m:f>
                      <m:fPr>
                        <m:type m:val="bar"/>
                      </m:fPr>
                      <m:num>
                        <m:r>
                          <a:rPr lang="vi-VN" sz="1800" b="0">
                            <a:solidFill>
                              <a:srgbClr val="1E293B"/>
                            </a:solidFill>
                            <a:latin typeface="Cambria Math" panose="02040503050406030204" pitchFamily="18" charset="0"/>
                          </a:rPr>
                          <m:t>5π</m:t>
                        </m:r>
                      </m:num>
                      <m:den>
                        <m:r>
                          <a:rPr lang="vi-VN" sz="1800" b="0">
                            <a:solidFill>
                              <a:srgbClr val="1E293B"/>
                            </a:solidFill>
                            <a:latin typeface="Cambria Math" panose="02040503050406030204" pitchFamily="18" charset="0"/>
                          </a:rPr>
                          <m:t>4</m:t>
                        </m:r>
                      </m:den>
                    </m:f>
                    <m:r>
                      <a:rPr lang="vi-VN" sz="1800" b="0">
                        <a:solidFill>
                          <a:srgbClr val="1E293B"/>
                        </a:solidFill>
                        <a:latin typeface="Cambria Math" panose="02040503050406030204" pitchFamily="18" charset="0"/>
                      </a:rPr>
                      <m:t>−4π</m:t>
                    </m:r>
                  </m:oMath>
                </a14:m>
                <a:r>
                  <a:rPr sz="1800">
                    <a:solidFill>
                      <a:srgbClr val="1E293B"/>
                    </a:solidFill>
                    <a:latin typeface="Calibri"/>
                  </a:rPr>
                  <a:t>: điểm chính giữa cung nhỏ </a:t>
                </a:r>
                <a14:m>
                  <m:oMath xmlns:m="http://schemas.openxmlformats.org/officeDocument/2006/math">
                    <m:sSup>
                      <m:e>
                        <m:r>
                          <a:rPr lang="vi-VN" sz="1800" b="0">
                            <a:solidFill>
                              <a:srgbClr val="1E293B"/>
                            </a:solidFill>
                            <a:latin typeface="Cambria Math" panose="02040503050406030204" pitchFamily="18" charset="0"/>
                          </a:rPr>
                          <m:t>A</m:t>
                        </m:r>
                      </m:e>
                      <m:sup>
                        <m:r>
                          <a:rPr lang="vi-VN" sz="1800" b="0">
                            <a:solidFill>
                              <a:srgbClr val="1E293B"/>
                            </a:solidFill>
                            <a:latin typeface="Cambria Math" panose="02040503050406030204" pitchFamily="18" charset="0"/>
                          </a:rPr>
                          <m:t>′</m:t>
                        </m:r>
                      </m:sup>
                    </m:sSup>
                    <m:sSup>
                      <m:e>
                        <m:r>
                          <a:rPr lang="vi-VN" sz="1800" b="0">
                            <a:solidFill>
                              <a:srgbClr val="1E293B"/>
                            </a:solidFill>
                            <a:latin typeface="Cambria Math" panose="02040503050406030204" pitchFamily="18" charset="0"/>
                          </a:rPr>
                          <m:t>B</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c) </a:t>
                </a:r>
                <a14:m>
                  <m:oMath xmlns:m="http://schemas.openxmlformats.org/officeDocument/2006/math">
                    <m:sSup>
                      <m:e>
                        <m:r>
                          <a:rPr lang="vi-VN" sz="1800" b="0">
                            <a:solidFill>
                              <a:srgbClr val="1E293B"/>
                            </a:solidFill>
                            <a:latin typeface="Cambria Math" panose="02040503050406030204" pitchFamily="18" charset="0"/>
                          </a:rPr>
                          <m:t>150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d) </a:t>
                </a:r>
                <a14:m>
                  <m:oMath xmlns:m="http://schemas.openxmlformats.org/officeDocument/2006/math">
                    <m:sSup>
                      <m:e>
                        <m:r>
                          <a:rPr lang="vi-VN" sz="1800" b="0">
                            <a:solidFill>
                              <a:srgbClr val="1E293B"/>
                            </a:solidFill>
                            <a:latin typeface="Cambria Math" panose="02040503050406030204" pitchFamily="18" charset="0"/>
                          </a:rPr>
                          <m:t>135</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m:t>
                    </m:r>
                    <m:sSup>
                      <m:e>
                        <m:r>
                          <a:rPr lang="vi-VN" sz="1800" b="0">
                            <a:solidFill>
                              <a:srgbClr val="1E293B"/>
                            </a:solidFill>
                            <a:latin typeface="Cambria Math" panose="02040503050406030204" pitchFamily="18" charset="0"/>
                          </a:rPr>
                          <m:t>360</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 điểm chính giữa cung nhỏ </a:t>
                </a:r>
                <a14:m>
                  <m:oMath xmlns:m="http://schemas.openxmlformats.org/officeDocument/2006/math">
                    <m:r>
                      <a:rPr lang="vi-VN" sz="1800" b="0">
                        <a:solidFill>
                          <a:srgbClr val="1E293B"/>
                        </a:solidFill>
                        <a:latin typeface="Cambria Math" panose="02040503050406030204" pitchFamily="18" charset="0"/>
                      </a:rPr>
                      <m:t>B</m:t>
                    </m:r>
                    <m:sSup>
                      <m:e>
                        <m:r>
                          <a:rPr lang="vi-VN" sz="1800" b="0">
                            <a:solidFill>
                              <a:srgbClr val="1E293B"/>
                            </a:solidFill>
                            <a:latin typeface="Cambria Math" panose="02040503050406030204" pitchFamily="18" charset="0"/>
                          </a:rPr>
                          <m:t>A</m:t>
                        </m:r>
                      </m:e>
                      <m:sup>
                        <m:r>
                          <a:rPr lang="vi-VN" sz="1800" b="0">
                            <a:solidFill>
                              <a:srgbClr val="1E293B"/>
                            </a:solidFill>
                            <a:latin typeface="Cambria Math" panose="02040503050406030204" pitchFamily="18" charset="0"/>
                          </a:rPr>
                          <m:t>′</m:t>
                        </m:r>
                      </m:sup>
                    </m:sSup>
                  </m:oMath>
                </a14:m>
                <a:r>
                  <a:rPr sz="1800">
                    <a:solidFill>
                      <a:srgbClr val="1E293B"/>
                    </a:solidFill>
                    <a:latin typeface="Calibri"/>
                  </a:rPr>
                  <a:t>.</a:t>
                </a:r>
              </a:p>
            </p:txBody>
          </p:sp>
        </mc:Choice>
        <mc:Fallback>
          <p:sp>
            <p:nvSpPr>
              <p:cNvPr id="15" name="TextBox 14"/>
              <p:cNvSpPr txBox="1"/>
              <p:nvPr/>
            </p:nvSpPr>
            <p:spPr>
              <a:xfrm>
                <a:off x="713232" y="5509259"/>
                <a:ext cx="10735056" cy="864108"/>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r>
                  <a:rPr lang="vi-VN"/>
                  <a:t>120^\circ</a:t>
                </a:r>
                <a:r>
                  <a:rPr sz="1800">
                    <a:solidFill>
                      <a:srgbClr val="1E293B"/>
                    </a:solidFill>
                    <a:latin typeface="Calibri"/>
                  </a:rPr>
                  <a:t>, góc phần tư II; b) </a:t>
                </a:r>
                <a:r>
                  <a:rPr lang="vi-VN"/>
                  <a:t>\frac{5\pi}{4}-4\pi</a:t>
                </a:r>
                <a:r>
                  <a:rPr sz="1800">
                    <a:solidFill>
                      <a:srgbClr val="1E293B"/>
                    </a:solidFill>
                    <a:latin typeface="Calibri"/>
                  </a:rPr>
                  <a:t>: điểm chính giữa cung nhỏ </a:t>
                </a:r>
                <a:r>
                  <a:rPr lang="vi-VN"/>
                  <a:t>A'B'</a:t>
                </a:r>
                <a:r>
                  <a:rPr sz="1800">
                    <a:solidFill>
                      <a:srgbClr val="1E293B"/>
                    </a:solidFill>
                    <a:latin typeface="Calibri"/>
                  </a:rPr>
                  <a:t>; c) </a:t>
                </a:r>
                <a:r>
                  <a:rPr lang="vi-VN"/>
                  <a:t>150^\circ</a:t>
                </a:r>
                <a:r>
                  <a:rPr sz="1800">
                    <a:solidFill>
                      <a:srgbClr val="1E293B"/>
                    </a:solidFill>
                    <a:latin typeface="Calibri"/>
                  </a:rPr>
                  <a:t>; d) </a:t>
                </a:r>
                <a:r>
                  <a:rPr lang="vi-VN"/>
                  <a:t>135^\circ-360^\circ</a:t>
                </a:r>
                <a:r>
                  <a:rPr sz="1800">
                    <a:solidFill>
                      <a:srgbClr val="1E293B"/>
                    </a:solidFill>
                    <a:latin typeface="Calibri"/>
                  </a:rPr>
                  <a:t>: điểm chính giữa cung nhỏ </a:t>
                </a:r>
                <a:r>
                  <a:rPr lang="vi-VN"/>
                  <a:t>BA'</a:t>
                </a:r>
                <a:r>
                  <a:rPr sz="18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VỀ NHÀ 1.4 – 1.6 (SGK TR.16)</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35</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092708"/>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1.4.</a:t>
                </a:r>
                <a:r>
                  <a:rPr sz="1800">
                    <a:solidFill>
                      <a:srgbClr val="1E293B"/>
                    </a:solidFill>
                    <a:latin typeface="Calibri"/>
                  </a:rPr>
                  <a:t> Tính các giá trị lượng giác của </a:t>
                </a:r>
                <a14:m>
                  <m:oMath xmlns:m="http://schemas.openxmlformats.org/officeDocument/2006/math">
                    <m:r>
                      <a:rPr lang="vi-VN" sz="1800" b="0">
                        <a:solidFill>
                          <a:srgbClr val="1E293B"/>
                        </a:solidFill>
                        <a:latin typeface="Cambria Math" panose="02040503050406030204" pitchFamily="18" charset="0"/>
                      </a:rPr>
                      <m:t>α</m:t>
                    </m:r>
                  </m:oMath>
                </a14:m>
                <a:r>
                  <a:rPr sz="1800">
                    <a:solidFill>
                      <a:srgbClr val="1E293B"/>
                    </a:solidFill>
                    <a:latin typeface="Calibri"/>
                  </a:rPr>
                  <a:t>: a) </a:t>
                </a:r>
                <a14:m>
                  <m:oMath xmlns:m="http://schemas.openxmlformats.org/officeDocument/2006/math">
                    <m:r>
                      <m:rPr>
                        <m:sty m:val="p"/>
                      </m:rPr>
                      <a:rPr lang="vi-VN" sz="1800" b="0">
                        <a:solidFill>
                          <a:srgbClr val="1E293B"/>
                        </a:solidFill>
                        <a:latin typeface="Cambria Math" panose="02040503050406030204" pitchFamily="18" charset="0"/>
                      </a:rPr>
                      <m:t>cos</m:t>
                    </m:r>
                    <m:r>
                      <a:rPr lang="vi-VN" sz="1800" b="0">
                        <a:solidFill>
                          <a:srgbClr val="1E293B"/>
                        </a:solidFill>
                        <a:latin typeface="Cambria Math" panose="02040503050406030204" pitchFamily="18" charset="0"/>
                      </a:rPr>
                      <m:t>α=</m:t>
                    </m:r>
                    <m:f>
                      <m:fPr>
                        <m:type m:val="bar"/>
                      </m:fPr>
                      <m:num>
                        <m:r>
                          <a:rPr lang="vi-VN" sz="1800" b="0">
                            <a:solidFill>
                              <a:srgbClr val="1E293B"/>
                            </a:solidFill>
                            <a:latin typeface="Cambria Math" panose="02040503050406030204" pitchFamily="18" charset="0"/>
                          </a:rPr>
                          <m:t>1</m:t>
                        </m:r>
                      </m:num>
                      <m:den>
                        <m:r>
                          <a:rPr lang="vi-VN" sz="1800" b="0">
                            <a:solidFill>
                              <a:srgbClr val="1E293B"/>
                            </a:solidFill>
                            <a:latin typeface="Cambria Math" panose="02040503050406030204" pitchFamily="18" charset="0"/>
                          </a:rPr>
                          <m:t>5</m:t>
                        </m:r>
                      </m:den>
                    </m:f>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0&lt;α&lt;</m:t>
                    </m:r>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2</m:t>
                        </m:r>
                      </m:den>
                    </m:f>
                  </m:oMath>
                </a14:m>
                <a:r>
                  <a:rPr sz="1800">
                    <a:solidFill>
                      <a:srgbClr val="1E293B"/>
                    </a:solidFill>
                    <a:latin typeface="Calibri"/>
                  </a:rPr>
                  <a:t>; b) </a:t>
                </a:r>
                <a14:m>
                  <m:oMath xmlns:m="http://schemas.openxmlformats.org/officeDocument/2006/math">
                    <m:r>
                      <m:rPr>
                        <m:sty m:val="p"/>
                      </m:rPr>
                      <a:rPr lang="vi-VN" sz="1800" b="0">
                        <a:solidFill>
                          <a:srgbClr val="1E293B"/>
                        </a:solidFill>
                        <a:latin typeface="Cambria Math" panose="02040503050406030204" pitchFamily="18" charset="0"/>
                      </a:rPr>
                      <m:t>sin</m:t>
                    </m:r>
                    <m:r>
                      <a:rPr lang="vi-VN" sz="1800" b="0">
                        <a:solidFill>
                          <a:srgbClr val="1E293B"/>
                        </a:solidFill>
                        <a:latin typeface="Cambria Math" panose="02040503050406030204" pitchFamily="18" charset="0"/>
                      </a:rPr>
                      <m:t>α=</m:t>
                    </m:r>
                    <m:f>
                      <m:fPr>
                        <m:type m:val="bar"/>
                      </m:fPr>
                      <m:num>
                        <m:r>
                          <a:rPr lang="vi-VN" sz="1800" b="0">
                            <a:solidFill>
                              <a:srgbClr val="1E293B"/>
                            </a:solidFill>
                            <a:latin typeface="Cambria Math" panose="02040503050406030204" pitchFamily="18" charset="0"/>
                          </a:rPr>
                          <m:t>2</m:t>
                        </m:r>
                      </m:num>
                      <m:den>
                        <m:r>
                          <a:rPr lang="vi-VN" sz="1800" b="0">
                            <a:solidFill>
                              <a:srgbClr val="1E293B"/>
                            </a:solidFill>
                            <a:latin typeface="Cambria Math" panose="02040503050406030204" pitchFamily="18" charset="0"/>
                          </a:rPr>
                          <m:t>3</m:t>
                        </m:r>
                      </m:den>
                    </m:f>
                  </m:oMath>
                </a14:m>
                <a:r>
                  <a:rPr sz="1800">
                    <a:solidFill>
                      <a:srgbClr val="1E293B"/>
                    </a:solidFill>
                    <a:latin typeface="Calibri"/>
                  </a:rPr>
                  <a:t>, </a:t>
                </a:r>
                <a14:m>
                  <m:oMath xmlns:m="http://schemas.openxmlformats.org/officeDocument/2006/math">
                    <m:f>
                      <m:fPr>
                        <m:type m:val="bar"/>
                      </m:fPr>
                      <m:num>
                        <m:r>
                          <a:rPr lang="vi-VN" sz="1800" b="0">
                            <a:solidFill>
                              <a:srgbClr val="1E293B"/>
                            </a:solidFill>
                            <a:latin typeface="Cambria Math" panose="02040503050406030204" pitchFamily="18" charset="0"/>
                          </a:rPr>
                          <m:t>π</m:t>
                        </m:r>
                      </m:num>
                      <m:den>
                        <m:r>
                          <a:rPr lang="vi-VN" sz="1800" b="0">
                            <a:solidFill>
                              <a:srgbClr val="1E293B"/>
                            </a:solidFill>
                            <a:latin typeface="Cambria Math" panose="02040503050406030204" pitchFamily="18" charset="0"/>
                          </a:rPr>
                          <m:t>2</m:t>
                        </m:r>
                      </m:den>
                    </m:f>
                    <m:r>
                      <a:rPr lang="vi-VN" sz="1800" b="0">
                        <a:solidFill>
                          <a:srgbClr val="1E293B"/>
                        </a:solidFill>
                        <a:latin typeface="Cambria Math" panose="02040503050406030204" pitchFamily="18" charset="0"/>
                      </a:rPr>
                      <m:t>&lt;α&lt;π</m:t>
                    </m:r>
                  </m:oMath>
                </a14:m>
                <a:r>
                  <a:rPr sz="1800">
                    <a:solidFill>
                      <a:srgbClr val="1E293B"/>
                    </a:solidFill>
                    <a:latin typeface="Calibri"/>
                  </a:rPr>
                  <a:t>; c) </a:t>
                </a:r>
                <a14:m>
                  <m:oMath xmlns:m="http://schemas.openxmlformats.org/officeDocument/2006/math">
                    <m:r>
                      <m:rPr>
                        <m:sty m:val="p"/>
                      </m:rPr>
                      <a:rPr lang="vi-VN" sz="1800" b="0">
                        <a:solidFill>
                          <a:srgbClr val="1E293B"/>
                        </a:solidFill>
                        <a:latin typeface="Cambria Math" panose="02040503050406030204" pitchFamily="18" charset="0"/>
                      </a:rPr>
                      <m:t>tan</m:t>
                    </m:r>
                    <m:r>
                      <a:rPr lang="vi-VN" sz="1800" b="0">
                        <a:solidFill>
                          <a:srgbClr val="1E293B"/>
                        </a:solidFill>
                        <a:latin typeface="Cambria Math" panose="02040503050406030204" pitchFamily="18" charset="0"/>
                      </a:rPr>
                      <m:t>α=</m:t>
                    </m:r>
                    <m:rad>
                      <m:radPr>
                        <m:degHide m:val="on"/>
                      </m:radPr>
                      <m:deg/>
                      <m:e>
                        <m:r>
                          <a:rPr lang="vi-VN" sz="1800" b="0">
                            <a:solidFill>
                              <a:srgbClr val="1E293B"/>
                            </a:solidFill>
                            <a:latin typeface="Cambria Math" panose="02040503050406030204" pitchFamily="18" charset="0"/>
                          </a:rPr>
                          <m:t>5</m:t>
                        </m:r>
                      </m:e>
                    </m:rad>
                  </m:oMath>
                </a14:m>
                <a:r>
                  <a:rPr sz="1800">
                    <a:solidFill>
                      <a:srgbClr val="1E293B"/>
                    </a:solidFill>
                    <a:latin typeface="Calibri"/>
                  </a:rPr>
                  <a:t>, </a:t>
                </a:r>
                <a14:m>
                  <m:oMath xmlns:m="http://schemas.openxmlformats.org/officeDocument/2006/math">
                    <m:r>
                      <a:rPr lang="vi-VN" sz="1800" b="0">
                        <a:solidFill>
                          <a:srgbClr val="1E293B"/>
                        </a:solidFill>
                        <a:latin typeface="Cambria Math" panose="02040503050406030204" pitchFamily="18" charset="0"/>
                      </a:rPr>
                      <m:t>π&lt;α&lt;</m:t>
                    </m:r>
                    <m:f>
                      <m:fPr>
                        <m:type m:val="bar"/>
                      </m:fPr>
                      <m:num>
                        <m:r>
                          <a:rPr lang="vi-VN" sz="1800" b="0">
                            <a:solidFill>
                              <a:srgbClr val="1E293B"/>
                            </a:solidFill>
                            <a:latin typeface="Cambria Math" panose="02040503050406030204" pitchFamily="18" charset="0"/>
                          </a:rPr>
                          <m:t>3π</m:t>
                        </m:r>
                      </m:num>
                      <m:den>
                        <m:r>
                          <a:rPr lang="vi-VN" sz="1800" b="0">
                            <a:solidFill>
                              <a:srgbClr val="1E293B"/>
                            </a:solidFill>
                            <a:latin typeface="Cambria Math" panose="02040503050406030204" pitchFamily="18" charset="0"/>
                          </a:rPr>
                          <m:t>2</m:t>
                        </m:r>
                      </m:den>
                    </m:f>
                  </m:oMath>
                </a14:m>
                <a:r>
                  <a:rPr sz="1800">
                    <a:solidFill>
                      <a:srgbClr val="1E293B"/>
                    </a:solidFill>
                    <a:latin typeface="Calibri"/>
                  </a:rPr>
                  <a:t>; d) </a:t>
                </a:r>
                <a14:m>
                  <m:oMath xmlns:m="http://schemas.openxmlformats.org/officeDocument/2006/math">
                    <m:r>
                      <m:rPr>
                        <m:sty m:val="p"/>
                      </m:rPr>
                      <a:rPr lang="vi-VN" sz="1800" b="0">
                        <a:solidFill>
                          <a:srgbClr val="1E293B"/>
                        </a:solidFill>
                        <a:latin typeface="Cambria Math" panose="02040503050406030204" pitchFamily="18" charset="0"/>
                      </a:rPr>
                      <m:t>cot</m:t>
                    </m:r>
                    <m:r>
                      <a:rPr lang="vi-VN" sz="1800" b="0">
                        <a:solidFill>
                          <a:srgbClr val="1E293B"/>
                        </a:solidFill>
                        <a:latin typeface="Cambria Math" panose="02040503050406030204" pitchFamily="18" charset="0"/>
                      </a:rPr>
                      <m:t>α=−</m:t>
                    </m:r>
                    <m:f>
                      <m:fPr>
                        <m:type m:val="bar"/>
                      </m:fPr>
                      <m:num>
                        <m:r>
                          <a:rPr lang="vi-VN" sz="1800" b="0">
                            <a:solidFill>
                              <a:srgbClr val="1E293B"/>
                            </a:solidFill>
                            <a:latin typeface="Cambria Math" panose="02040503050406030204" pitchFamily="18" charset="0"/>
                          </a:rPr>
                          <m:t>1</m:t>
                        </m:r>
                      </m:num>
                      <m:den>
                        <m:rad>
                          <m:radPr>
                            <m:degHide m:val="on"/>
                          </m:radPr>
                          <m:deg/>
                          <m:e>
                            <m:r>
                              <a:rPr lang="vi-VN" sz="1800" b="0">
                                <a:solidFill>
                                  <a:srgbClr val="1E293B"/>
                                </a:solidFill>
                                <a:latin typeface="Cambria Math" panose="02040503050406030204" pitchFamily="18" charset="0"/>
                              </a:rPr>
                              <m:t>2</m:t>
                            </m:r>
                          </m:e>
                        </m:rad>
                      </m:den>
                    </m:f>
                  </m:oMath>
                </a14:m>
                <a:r>
                  <a:rPr sz="1800">
                    <a:solidFill>
                      <a:srgbClr val="1E293B"/>
                    </a:solidFill>
                    <a:latin typeface="Calibri"/>
                  </a:rPr>
                  <a:t>, </a:t>
                </a:r>
                <a14:m>
                  <m:oMath xmlns:m="http://schemas.openxmlformats.org/officeDocument/2006/math">
                    <m:f>
                      <m:fPr>
                        <m:type m:val="bar"/>
                      </m:fPr>
                      <m:num>
                        <m:r>
                          <a:rPr lang="vi-VN" sz="1800" b="0">
                            <a:solidFill>
                              <a:srgbClr val="1E293B"/>
                            </a:solidFill>
                            <a:latin typeface="Cambria Math" panose="02040503050406030204" pitchFamily="18" charset="0"/>
                          </a:rPr>
                          <m:t>3π</m:t>
                        </m:r>
                      </m:num>
                      <m:den>
                        <m:r>
                          <a:rPr lang="vi-VN" sz="1800" b="0">
                            <a:solidFill>
                              <a:srgbClr val="1E293B"/>
                            </a:solidFill>
                            <a:latin typeface="Cambria Math" panose="02040503050406030204" pitchFamily="18" charset="0"/>
                          </a:rPr>
                          <m:t>2</m:t>
                        </m:r>
                      </m:den>
                    </m:f>
                    <m:r>
                      <a:rPr lang="vi-VN" sz="1800" b="0">
                        <a:solidFill>
                          <a:srgbClr val="1E293B"/>
                        </a:solidFill>
                        <a:latin typeface="Cambria Math" panose="02040503050406030204" pitchFamily="18" charset="0"/>
                      </a:rPr>
                      <m:t>&lt;α&lt;2π</m:t>
                    </m:r>
                  </m:oMath>
                </a14:m>
                <a:r>
                  <a:rPr sz="1800">
                    <a:solidFill>
                      <a:srgbClr val="1E293B"/>
                    </a:solidFill>
                    <a:latin typeface="Calibri"/>
                  </a:rPr>
                  <a:t>.</a:t>
                </a:r>
              </a:p>
            </p:txBody>
          </p:sp>
        </mc:Choice>
        <mc:Fallback>
          <p:sp>
            <p:nvSpPr>
              <p:cNvPr id="7" name="TextBox 6"/>
              <p:cNvSpPr txBox="1"/>
              <p:nvPr/>
            </p:nvSpPr>
            <p:spPr>
              <a:xfrm>
                <a:off x="548640" y="1371600"/>
                <a:ext cx="11064240" cy="1092708"/>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1.4.</a:t>
                </a:r>
                <a:r>
                  <a:rPr sz="1800">
                    <a:solidFill>
                      <a:srgbClr val="1E293B"/>
                    </a:solidFill>
                    <a:latin typeface="Calibri"/>
                  </a:rPr>
                  <a:t> Tính các giá trị lượng giác của </a:t>
                </a:r>
                <a:r>
                  <a:rPr lang="vi-VN"/>
                  <a:t>\alpha</a:t>
                </a:r>
                <a:r>
                  <a:rPr sz="1800">
                    <a:solidFill>
                      <a:srgbClr val="1E293B"/>
                    </a:solidFill>
                    <a:latin typeface="Calibri"/>
                  </a:rPr>
                  <a:t>: a) </a:t>
                </a:r>
                <a:r>
                  <a:rPr lang="vi-VN"/>
                  <a:t>\cos\alpha=\frac{1}{5}</a:t>
                </a:r>
                <a:r>
                  <a:rPr sz="1800">
                    <a:solidFill>
                      <a:srgbClr val="1E293B"/>
                    </a:solidFill>
                    <a:latin typeface="Calibri"/>
                  </a:rPr>
                  <a:t>, </a:t>
                </a:r>
                <a:r>
                  <a:rPr lang="vi-VN"/>
                  <a:t>0&lt;\alpha&lt;\frac{\pi}{2}</a:t>
                </a:r>
                <a:r>
                  <a:rPr sz="1800">
                    <a:solidFill>
                      <a:srgbClr val="1E293B"/>
                    </a:solidFill>
                    <a:latin typeface="Calibri"/>
                  </a:rPr>
                  <a:t>; b) </a:t>
                </a:r>
                <a:r>
                  <a:rPr lang="vi-VN"/>
                  <a:t>\sin\alpha=\frac{2}{3}</a:t>
                </a:r>
                <a:r>
                  <a:rPr sz="1800">
                    <a:solidFill>
                      <a:srgbClr val="1E293B"/>
                    </a:solidFill>
                    <a:latin typeface="Calibri"/>
                  </a:rPr>
                  <a:t>, </a:t>
                </a:r>
                <a:r>
                  <a:rPr lang="vi-VN"/>
                  <a:t>\frac{\pi}{2}&lt;\alpha&lt;\pi</a:t>
                </a:r>
                <a:r>
                  <a:rPr sz="1800">
                    <a:solidFill>
                      <a:srgbClr val="1E293B"/>
                    </a:solidFill>
                    <a:latin typeface="Calibri"/>
                  </a:rPr>
                  <a:t>; c) </a:t>
                </a:r>
                <a:r>
                  <a:rPr lang="vi-VN"/>
                  <a:t>\tan\alpha=\sqrt{5}</a:t>
                </a:r>
                <a:r>
                  <a:rPr sz="1800">
                    <a:solidFill>
                      <a:srgbClr val="1E293B"/>
                    </a:solidFill>
                    <a:latin typeface="Calibri"/>
                  </a:rPr>
                  <a:t>, </a:t>
                </a:r>
                <a:r>
                  <a:rPr lang="vi-VN"/>
                  <a:t>\pi&lt;\alpha&lt;\frac{3\pi}{2}</a:t>
                </a:r>
                <a:r>
                  <a:rPr sz="1800">
                    <a:solidFill>
                      <a:srgbClr val="1E293B"/>
                    </a:solidFill>
                    <a:latin typeface="Calibri"/>
                  </a:rPr>
                  <a:t>; d) </a:t>
                </a:r>
                <a:r>
                  <a:rPr lang="vi-VN"/>
                  <a:t>\cot\alpha=-\frac{1}{\sqrt{2}}</a:t>
                </a:r>
                <a:r>
                  <a:rPr sz="1800">
                    <a:solidFill>
                      <a:srgbClr val="1E293B"/>
                    </a:solidFill>
                    <a:latin typeface="Calibri"/>
                  </a:rPr>
                  <a:t>, </a:t>
                </a:r>
                <a:r>
                  <a:rPr lang="vi-VN"/>
                  <a:t>\frac{3\pi}{2}&lt;\alpha&lt;2\pi</a:t>
                </a:r>
                <a:r>
                  <a:rPr sz="1800">
                    <a:solidFill>
                      <a:srgbClr val="1E293B"/>
                    </a:solidFill>
                    <a:latin typeface="Calibri"/>
                  </a:rPr>
                  <a:t>.</a:t>
                </a:r>
              </a:p>
            </p:txBody>
          </p:sp>
        </mc:Fallback>
      </mc:AlternateContent>
      <p:sp>
        <p:nvSpPr>
          <p:cNvPr id="8" name="s1_nen"/>
          <p:cNvSpPr/>
          <p:nvPr/>
        </p:nvSpPr>
        <p:spPr>
          <a:xfrm>
            <a:off x="548640" y="2528316"/>
            <a:ext cx="11064240" cy="118414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564892"/>
                <a:ext cx="10735056" cy="111099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14:m>
                  <m:oMath xmlns:m="http://schemas.openxmlformats.org/officeDocument/2006/math">
                    <m:r>
                      <m:rPr>
                        <m:sty m:val="p"/>
                      </m:rPr>
                      <a:rPr lang="vi-VN" sz="1800" b="0">
                        <a:solidFill>
                          <a:srgbClr val="1E293B"/>
                        </a:solidFill>
                        <a:latin typeface="Cambria Math" panose="02040503050406030204" pitchFamily="18" charset="0"/>
                      </a:rPr>
                      <m:t>sin</m:t>
                    </m:r>
                    <m:r>
                      <a:rPr lang="vi-VN" sz="1800" b="0">
                        <a:solidFill>
                          <a:srgbClr val="1E293B"/>
                        </a:solidFill>
                        <a:latin typeface="Cambria Math" panose="02040503050406030204" pitchFamily="18" charset="0"/>
                      </a:rPr>
                      <m:t>α=</m:t>
                    </m:r>
                    <m:f>
                      <m:fPr>
                        <m:type m:val="bar"/>
                      </m:fPr>
                      <m:num>
                        <m:r>
                          <a:rPr lang="vi-VN" sz="1800" b="0">
                            <a:solidFill>
                              <a:srgbClr val="1E293B"/>
                            </a:solidFill>
                            <a:latin typeface="Cambria Math" panose="02040503050406030204" pitchFamily="18" charset="0"/>
                          </a:rPr>
                          <m:t>2</m:t>
                        </m:r>
                        <m:rad>
                          <m:radPr>
                            <m:degHide m:val="on"/>
                          </m:radPr>
                          <m:deg/>
                          <m:e>
                            <m:r>
                              <a:rPr lang="vi-VN" sz="1800" b="0">
                                <a:solidFill>
                                  <a:srgbClr val="1E293B"/>
                                </a:solidFill>
                                <a:latin typeface="Cambria Math" panose="02040503050406030204" pitchFamily="18" charset="0"/>
                              </a:rPr>
                              <m:t>6</m:t>
                            </m:r>
                          </m:e>
                        </m:rad>
                      </m:num>
                      <m:den>
                        <m:r>
                          <a:rPr lang="vi-VN" sz="1800" b="0">
                            <a:solidFill>
                              <a:srgbClr val="1E293B"/>
                            </a:solidFill>
                            <a:latin typeface="Cambria Math" panose="02040503050406030204" pitchFamily="18" charset="0"/>
                          </a:rPr>
                          <m:t>5</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tan</m:t>
                    </m:r>
                    <m:r>
                      <a:rPr lang="vi-VN" sz="1800" b="0">
                        <a:solidFill>
                          <a:srgbClr val="1E293B"/>
                        </a:solidFill>
                        <a:latin typeface="Cambria Math" panose="02040503050406030204" pitchFamily="18" charset="0"/>
                      </a:rPr>
                      <m:t>α=2</m:t>
                    </m:r>
                    <m:rad>
                      <m:radPr>
                        <m:degHide m:val="on"/>
                      </m:radPr>
                      <m:deg/>
                      <m:e>
                        <m:r>
                          <a:rPr lang="vi-VN" sz="1800" b="0">
                            <a:solidFill>
                              <a:srgbClr val="1E293B"/>
                            </a:solidFill>
                            <a:latin typeface="Cambria Math" panose="02040503050406030204" pitchFamily="18" charset="0"/>
                          </a:rPr>
                          <m:t>6</m:t>
                        </m:r>
                      </m:e>
                    </m:rad>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cot</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6</m:t>
                            </m:r>
                          </m:e>
                        </m:rad>
                      </m:num>
                      <m:den>
                        <m:r>
                          <a:rPr lang="vi-VN" sz="1800" b="0">
                            <a:solidFill>
                              <a:srgbClr val="1E293B"/>
                            </a:solidFill>
                            <a:latin typeface="Cambria Math" panose="02040503050406030204" pitchFamily="18" charset="0"/>
                          </a:rPr>
                          <m:t>12</m:t>
                        </m:r>
                      </m:den>
                    </m:f>
                  </m:oMath>
                </a14:m>
                <a:r>
                  <a:rPr sz="1800">
                    <a:solidFill>
                      <a:srgbClr val="1E293B"/>
                    </a:solidFill>
                    <a:latin typeface="Calibri"/>
                  </a:rPr>
                  <a:t>. b) </a:t>
                </a:r>
                <a14:m>
                  <m:oMath xmlns:m="http://schemas.openxmlformats.org/officeDocument/2006/math">
                    <m:r>
                      <m:rPr>
                        <m:sty m:val="p"/>
                      </m:rPr>
                      <a:rPr lang="vi-VN" sz="1800" b="0">
                        <a:solidFill>
                          <a:srgbClr val="1E293B"/>
                        </a:solidFill>
                        <a:latin typeface="Cambria Math" panose="02040503050406030204" pitchFamily="18" charset="0"/>
                      </a:rPr>
                      <m:t>cos</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5</m:t>
                            </m:r>
                          </m:e>
                        </m:rad>
                      </m:num>
                      <m:den>
                        <m:r>
                          <a:rPr lang="vi-VN" sz="1800" b="0">
                            <a:solidFill>
                              <a:srgbClr val="1E293B"/>
                            </a:solidFill>
                            <a:latin typeface="Cambria Math" panose="02040503050406030204" pitchFamily="18" charset="0"/>
                          </a:rPr>
                          <m:t>3</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tan</m:t>
                    </m:r>
                    <m:r>
                      <a:rPr lang="vi-VN" sz="1800" b="0">
                        <a:solidFill>
                          <a:srgbClr val="1E293B"/>
                        </a:solidFill>
                        <a:latin typeface="Cambria Math" panose="02040503050406030204" pitchFamily="18" charset="0"/>
                      </a:rPr>
                      <m:t>α=−</m:t>
                    </m:r>
                    <m:f>
                      <m:fPr>
                        <m:type m:val="bar"/>
                      </m:fPr>
                      <m:num>
                        <m:r>
                          <a:rPr lang="vi-VN" sz="1800" b="0">
                            <a:solidFill>
                              <a:srgbClr val="1E293B"/>
                            </a:solidFill>
                            <a:latin typeface="Cambria Math" panose="02040503050406030204" pitchFamily="18" charset="0"/>
                          </a:rPr>
                          <m:t>2</m:t>
                        </m:r>
                        <m:rad>
                          <m:radPr>
                            <m:degHide m:val="on"/>
                          </m:radPr>
                          <m:deg/>
                          <m:e>
                            <m:r>
                              <a:rPr lang="vi-VN" sz="1800" b="0">
                                <a:solidFill>
                                  <a:srgbClr val="1E293B"/>
                                </a:solidFill>
                                <a:latin typeface="Cambria Math" panose="02040503050406030204" pitchFamily="18" charset="0"/>
                              </a:rPr>
                              <m:t>5</m:t>
                            </m:r>
                          </m:e>
                        </m:rad>
                      </m:num>
                      <m:den>
                        <m:r>
                          <a:rPr lang="vi-VN" sz="1800" b="0">
                            <a:solidFill>
                              <a:srgbClr val="1E293B"/>
                            </a:solidFill>
                            <a:latin typeface="Cambria Math" panose="02040503050406030204" pitchFamily="18" charset="0"/>
                          </a:rPr>
                          <m:t>5</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cot</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5</m:t>
                            </m:r>
                          </m:e>
                        </m:rad>
                      </m:num>
                      <m:den>
                        <m:r>
                          <a:rPr lang="vi-VN" sz="1800" b="0">
                            <a:solidFill>
                              <a:srgbClr val="1E293B"/>
                            </a:solidFill>
                            <a:latin typeface="Cambria Math" panose="02040503050406030204" pitchFamily="18" charset="0"/>
                          </a:rPr>
                          <m:t>2</m:t>
                        </m:r>
                      </m:den>
                    </m:f>
                  </m:oMath>
                </a14:m>
                <a:r>
                  <a:rPr sz="1800">
                    <a:solidFill>
                      <a:srgbClr val="1E293B"/>
                    </a:solidFill>
                    <a:latin typeface="Calibri"/>
                  </a:rPr>
                  <a:t>. c) </a:t>
                </a:r>
                <a14:m>
                  <m:oMath xmlns:m="http://schemas.openxmlformats.org/officeDocument/2006/math">
                    <m:r>
                      <m:rPr>
                        <m:sty m:val="p"/>
                      </m:rPr>
                      <a:rPr lang="vi-VN" sz="1800" b="0">
                        <a:solidFill>
                          <a:srgbClr val="1E293B"/>
                        </a:solidFill>
                        <a:latin typeface="Cambria Math" panose="02040503050406030204" pitchFamily="18" charset="0"/>
                      </a:rPr>
                      <m:t>cos</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6</m:t>
                            </m:r>
                          </m:e>
                        </m:rad>
                      </m:num>
                      <m:den>
                        <m:r>
                          <a:rPr lang="vi-VN" sz="1800" b="0">
                            <a:solidFill>
                              <a:srgbClr val="1E293B"/>
                            </a:solidFill>
                            <a:latin typeface="Cambria Math" panose="02040503050406030204" pitchFamily="18" charset="0"/>
                          </a:rPr>
                          <m:t>6</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sin</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30</m:t>
                            </m:r>
                          </m:e>
                        </m:rad>
                      </m:num>
                      <m:den>
                        <m:r>
                          <a:rPr lang="vi-VN" sz="1800" b="0">
                            <a:solidFill>
                              <a:srgbClr val="1E293B"/>
                            </a:solidFill>
                            <a:latin typeface="Cambria Math" panose="02040503050406030204" pitchFamily="18" charset="0"/>
                          </a:rPr>
                          <m:t>6</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cot</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5</m:t>
                            </m:r>
                          </m:e>
                        </m:rad>
                      </m:num>
                      <m:den>
                        <m:r>
                          <a:rPr lang="vi-VN" sz="1800" b="0">
                            <a:solidFill>
                              <a:srgbClr val="1E293B"/>
                            </a:solidFill>
                            <a:latin typeface="Cambria Math" panose="02040503050406030204" pitchFamily="18" charset="0"/>
                          </a:rPr>
                          <m:t>5</m:t>
                        </m:r>
                      </m:den>
                    </m:f>
                  </m:oMath>
                </a14:m>
                <a:r>
                  <a:rPr sz="1800">
                    <a:solidFill>
                      <a:srgbClr val="1E293B"/>
                    </a:solidFill>
                    <a:latin typeface="Calibri"/>
                  </a:rPr>
                  <a:t>. d) </a:t>
                </a:r>
                <a14:m>
                  <m:oMath xmlns:m="http://schemas.openxmlformats.org/officeDocument/2006/math">
                    <m:r>
                      <m:rPr>
                        <m:sty m:val="p"/>
                      </m:rPr>
                      <a:rPr lang="vi-VN" sz="1800" b="0">
                        <a:solidFill>
                          <a:srgbClr val="1E293B"/>
                        </a:solidFill>
                        <a:latin typeface="Cambria Math" panose="02040503050406030204" pitchFamily="18" charset="0"/>
                      </a:rPr>
                      <m:t>tan</m:t>
                    </m:r>
                    <m:r>
                      <a:rPr lang="vi-VN" sz="1800" b="0">
                        <a:solidFill>
                          <a:srgbClr val="1E293B"/>
                        </a:solidFill>
                        <a:latin typeface="Cambria Math" panose="02040503050406030204" pitchFamily="18" charset="0"/>
                      </a:rPr>
                      <m:t>α=−</m:t>
                    </m:r>
                    <m:rad>
                      <m:radPr>
                        <m:degHide m:val="on"/>
                      </m:radPr>
                      <m:deg/>
                      <m:e>
                        <m:r>
                          <a:rPr lang="vi-VN" sz="1800" b="0">
                            <a:solidFill>
                              <a:srgbClr val="1E293B"/>
                            </a:solidFill>
                            <a:latin typeface="Cambria Math" panose="02040503050406030204" pitchFamily="18" charset="0"/>
                          </a:rPr>
                          <m:t>2</m:t>
                        </m:r>
                      </m:e>
                    </m:rad>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sin</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6</m:t>
                            </m:r>
                          </m:e>
                        </m:rad>
                      </m:num>
                      <m:den>
                        <m:r>
                          <a:rPr lang="vi-VN" sz="1800" b="0">
                            <a:solidFill>
                              <a:srgbClr val="1E293B"/>
                            </a:solidFill>
                            <a:latin typeface="Cambria Math" panose="02040503050406030204" pitchFamily="18" charset="0"/>
                          </a:rPr>
                          <m:t>3</m:t>
                        </m:r>
                      </m:den>
                    </m:f>
                  </m:oMath>
                </a14:m>
                <a:r>
                  <a:rPr sz="1800">
                    <a:solidFill>
                      <a:srgbClr val="1E293B"/>
                    </a:solidFill>
                    <a:latin typeface="Calibri"/>
                  </a:rPr>
                  <a:t>, </a:t>
                </a:r>
                <a14:m>
                  <m:oMath xmlns:m="http://schemas.openxmlformats.org/officeDocument/2006/math">
                    <m:r>
                      <m:rPr>
                        <m:sty m:val="p"/>
                      </m:rPr>
                      <a:rPr lang="vi-VN" sz="1800" b="0">
                        <a:solidFill>
                          <a:srgbClr val="1E293B"/>
                        </a:solidFill>
                        <a:latin typeface="Cambria Math" panose="02040503050406030204" pitchFamily="18" charset="0"/>
                      </a:rPr>
                      <m:t>cos</m:t>
                    </m:r>
                    <m:r>
                      <a:rPr lang="vi-VN" sz="1800" b="0">
                        <a:solidFill>
                          <a:srgbClr val="1E293B"/>
                        </a:solidFill>
                        <a:latin typeface="Cambria Math" panose="02040503050406030204" pitchFamily="18" charset="0"/>
                      </a:rPr>
                      <m:t>α=</m:t>
                    </m:r>
                    <m:f>
                      <m:fPr>
                        <m:type m:val="bar"/>
                      </m:fPr>
                      <m:num>
                        <m:rad>
                          <m:radPr>
                            <m:degHide m:val="on"/>
                          </m:radPr>
                          <m:deg/>
                          <m:e>
                            <m:r>
                              <a:rPr lang="vi-VN" sz="1800" b="0">
                                <a:solidFill>
                                  <a:srgbClr val="1E293B"/>
                                </a:solidFill>
                                <a:latin typeface="Cambria Math" panose="02040503050406030204" pitchFamily="18" charset="0"/>
                              </a:rPr>
                              <m:t>3</m:t>
                            </m:r>
                          </m:e>
                        </m:rad>
                      </m:num>
                      <m:den>
                        <m:r>
                          <a:rPr lang="vi-VN" sz="1800" b="0">
                            <a:solidFill>
                              <a:srgbClr val="1E293B"/>
                            </a:solidFill>
                            <a:latin typeface="Cambria Math" panose="02040503050406030204" pitchFamily="18" charset="0"/>
                          </a:rPr>
                          <m:t>3</m:t>
                        </m:r>
                      </m:den>
                    </m:f>
                  </m:oMath>
                </a14:m>
                <a:r>
                  <a:rPr sz="1800">
                    <a:solidFill>
                      <a:srgbClr val="1E293B"/>
                    </a:solidFill>
                    <a:latin typeface="Calibri"/>
                  </a:rPr>
                  <a:t>.</a:t>
                </a:r>
              </a:p>
            </p:txBody>
          </p:sp>
        </mc:Choice>
        <mc:Fallback>
          <p:sp>
            <p:nvSpPr>
              <p:cNvPr id="9" name="TextBox 8"/>
              <p:cNvSpPr txBox="1"/>
              <p:nvPr/>
            </p:nvSpPr>
            <p:spPr>
              <a:xfrm>
                <a:off x="713232" y="2564892"/>
                <a:ext cx="10735056" cy="1110996"/>
              </a:xfrm>
              <a:prstGeom prst="rect">
                <a:avLst/>
              </a:prstGeom>
              <a:noFill/>
            </p:spPr>
            <p:txBody>
              <a:bodyPr wrap="square" anchor="ctr" lIns="45720" rIns="45720">
                <a:spAutoFit/>
              </a:bodyPr>
              <a:lstStyle/>
              <a:p>
                <a:pPr algn="l">
                  <a:spcAft>
                    <a:spcPts val="800"/>
                  </a:spcAft>
                </a:pPr>
                <a:r>
                  <a:rPr sz="1800">
                    <a:solidFill>
                      <a:srgbClr val="1E293B"/>
                    </a:solidFill>
                    <a:latin typeface="Calibri"/>
                  </a:rPr>
                  <a:t>a) </a:t>
                </a:r>
                <a:r>
                  <a:rPr lang="vi-VN"/>
                  <a:t>\sin\alpha=\frac{2\sqrt{6}}{5}</a:t>
                </a:r>
                <a:r>
                  <a:rPr sz="1800">
                    <a:solidFill>
                      <a:srgbClr val="1E293B"/>
                    </a:solidFill>
                    <a:latin typeface="Calibri"/>
                  </a:rPr>
                  <a:t>, </a:t>
                </a:r>
                <a:r>
                  <a:rPr lang="vi-VN"/>
                  <a:t>\tan\alpha=2\sqrt{6}</a:t>
                </a:r>
                <a:r>
                  <a:rPr sz="1800">
                    <a:solidFill>
                      <a:srgbClr val="1E293B"/>
                    </a:solidFill>
                    <a:latin typeface="Calibri"/>
                  </a:rPr>
                  <a:t>, </a:t>
                </a:r>
                <a:r>
                  <a:rPr lang="vi-VN"/>
                  <a:t>\cot\alpha=\frac{\sqrt{6}}{12}</a:t>
                </a:r>
                <a:r>
                  <a:rPr sz="1800">
                    <a:solidFill>
                      <a:srgbClr val="1E293B"/>
                    </a:solidFill>
                    <a:latin typeface="Calibri"/>
                  </a:rPr>
                  <a:t>. b) </a:t>
                </a:r>
                <a:r>
                  <a:rPr lang="vi-VN"/>
                  <a:t>\cos\alpha=-\frac{\sqrt{5}}{3}</a:t>
                </a:r>
                <a:r>
                  <a:rPr sz="1800">
                    <a:solidFill>
                      <a:srgbClr val="1E293B"/>
                    </a:solidFill>
                    <a:latin typeface="Calibri"/>
                  </a:rPr>
                  <a:t>, </a:t>
                </a:r>
                <a:r>
                  <a:rPr lang="vi-VN"/>
                  <a:t>\tan\alpha=-\frac{2\sqrt{5}}{5}</a:t>
                </a:r>
                <a:r>
                  <a:rPr sz="1800">
                    <a:solidFill>
                      <a:srgbClr val="1E293B"/>
                    </a:solidFill>
                    <a:latin typeface="Calibri"/>
                  </a:rPr>
                  <a:t>, </a:t>
                </a:r>
                <a:r>
                  <a:rPr lang="vi-VN"/>
                  <a:t>\cot\alpha=-\frac{\sqrt{5}}{2}</a:t>
                </a:r>
                <a:r>
                  <a:rPr sz="1800">
                    <a:solidFill>
                      <a:srgbClr val="1E293B"/>
                    </a:solidFill>
                    <a:latin typeface="Calibri"/>
                  </a:rPr>
                  <a:t>. c) </a:t>
                </a:r>
                <a:r>
                  <a:rPr lang="vi-VN"/>
                  <a:t>\cos\alpha=-\frac{\sqrt{6}}{6}</a:t>
                </a:r>
                <a:r>
                  <a:rPr sz="1800">
                    <a:solidFill>
                      <a:srgbClr val="1E293B"/>
                    </a:solidFill>
                    <a:latin typeface="Calibri"/>
                  </a:rPr>
                  <a:t>, </a:t>
                </a:r>
                <a:r>
                  <a:rPr lang="vi-VN"/>
                  <a:t>\sin\alpha=-\frac{\sqrt{30}}{6}</a:t>
                </a:r>
                <a:r>
                  <a:rPr sz="1800">
                    <a:solidFill>
                      <a:srgbClr val="1E293B"/>
                    </a:solidFill>
                    <a:latin typeface="Calibri"/>
                  </a:rPr>
                  <a:t>, </a:t>
                </a:r>
                <a:r>
                  <a:rPr lang="vi-VN"/>
                  <a:t>\cot\alpha=\frac{\sqrt{5}}{5}</a:t>
                </a:r>
                <a:r>
                  <a:rPr sz="1800">
                    <a:solidFill>
                      <a:srgbClr val="1E293B"/>
                    </a:solidFill>
                    <a:latin typeface="Calibri"/>
                  </a:rPr>
                  <a:t>. d) </a:t>
                </a:r>
                <a:r>
                  <a:rPr lang="vi-VN"/>
                  <a:t>\tan\alpha=-\sqrt{2}</a:t>
                </a:r>
                <a:r>
                  <a:rPr sz="1800">
                    <a:solidFill>
                      <a:srgbClr val="1E293B"/>
                    </a:solidFill>
                    <a:latin typeface="Calibri"/>
                  </a:rPr>
                  <a:t>, </a:t>
                </a:r>
                <a:r>
                  <a:rPr lang="vi-VN"/>
                  <a:t>\sin\alpha=-\frac{\sqrt{6}}{3}</a:t>
                </a:r>
                <a:r>
                  <a:rPr sz="1800">
                    <a:solidFill>
                      <a:srgbClr val="1E293B"/>
                    </a:solidFill>
                    <a:latin typeface="Calibri"/>
                  </a:rPr>
                  <a:t>, </a:t>
                </a:r>
                <a:r>
                  <a:rPr lang="vi-VN"/>
                  <a:t>\cos\alpha=\frac{\sqrt{3}}{3}</a:t>
                </a:r>
                <a:r>
                  <a:rPr sz="18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776472"/>
                <a:ext cx="1106424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1.5.</a:t>
                </a:r>
                <a:r>
                  <a:rPr sz="1800">
                    <a:solidFill>
                      <a:srgbClr val="1E293B"/>
                    </a:solidFill>
                    <a:latin typeface="Calibri"/>
                  </a:rPr>
                  <a:t> Chứng minh: a) </a:t>
                </a:r>
                <a14:m>
                  <m:oMath xmlns:m="http://schemas.openxmlformats.org/officeDocument/2006/math">
                    <m:sSup>
                      <m:e>
                        <m:r>
                          <m:rPr>
                            <m:sty m:val="p"/>
                          </m:rPr>
                          <a:rPr lang="vi-VN" sz="1800" b="0">
                            <a:solidFill>
                              <a:srgbClr val="1E293B"/>
                            </a:solidFill>
                            <a:latin typeface="Cambria Math" panose="02040503050406030204" pitchFamily="18" charset="0"/>
                          </a:rPr>
                          <m:t>cos</m:t>
                        </m:r>
                      </m:e>
                      <m:sup>
                        <m:r>
                          <a:rPr lang="vi-VN" sz="1800" b="0">
                            <a:solidFill>
                              <a:srgbClr val="1E293B"/>
                            </a:solidFill>
                            <a:latin typeface="Cambria Math" panose="02040503050406030204" pitchFamily="18" charset="0"/>
                          </a:rPr>
                          <m:t>4</m:t>
                        </m:r>
                      </m:sup>
                    </m:sSup>
                    <m:r>
                      <a:rPr lang="vi-VN" sz="1800" b="0">
                        <a:solidFill>
                          <a:srgbClr val="1E293B"/>
                        </a:solidFill>
                        <a:latin typeface="Cambria Math" panose="02040503050406030204" pitchFamily="18" charset="0"/>
                      </a:rPr>
                      <m:t>α−</m:t>
                    </m:r>
                    <m:sSup>
                      <m:e>
                        <m:r>
                          <m:rPr>
                            <m:sty m:val="p"/>
                          </m:rPr>
                          <a:rPr lang="vi-VN" sz="1800" b="0">
                            <a:solidFill>
                              <a:srgbClr val="1E293B"/>
                            </a:solidFill>
                            <a:latin typeface="Cambria Math" panose="02040503050406030204" pitchFamily="18" charset="0"/>
                          </a:rPr>
                          <m:t>sin</m:t>
                        </m:r>
                      </m:e>
                      <m:sup>
                        <m:r>
                          <a:rPr lang="vi-VN" sz="1800" b="0">
                            <a:solidFill>
                              <a:srgbClr val="1E293B"/>
                            </a:solidFill>
                            <a:latin typeface="Cambria Math" panose="02040503050406030204" pitchFamily="18" charset="0"/>
                          </a:rPr>
                          <m:t>4</m:t>
                        </m:r>
                      </m:sup>
                    </m:sSup>
                    <m:r>
                      <a:rPr lang="vi-VN" sz="1800" b="0">
                        <a:solidFill>
                          <a:srgbClr val="1E293B"/>
                        </a:solidFill>
                        <a:latin typeface="Cambria Math" panose="02040503050406030204" pitchFamily="18" charset="0"/>
                      </a:rPr>
                      <m:t>α=2</m:t>
                    </m:r>
                    <m:sSup>
                      <m:e>
                        <m:r>
                          <m:rPr>
                            <m:sty m:val="p"/>
                          </m:rPr>
                          <a:rPr lang="vi-VN" sz="1800" b="0">
                            <a:solidFill>
                              <a:srgbClr val="1E293B"/>
                            </a:solidFill>
                            <a:latin typeface="Cambria Math" panose="02040503050406030204" pitchFamily="18" charset="0"/>
                          </a:rPr>
                          <m:t>cos</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α−1</m:t>
                    </m:r>
                  </m:oMath>
                </a14:m>
                <a:r>
                  <a:rPr sz="1800">
                    <a:solidFill>
                      <a:srgbClr val="1E293B"/>
                    </a:solidFill>
                    <a:latin typeface="Calibri"/>
                  </a:rPr>
                  <a:t>; b) </a:t>
                </a:r>
                <a14:m>
                  <m:oMath xmlns:m="http://schemas.openxmlformats.org/officeDocument/2006/math">
                    <m:f>
                      <m:fPr>
                        <m:type m:val="bar"/>
                      </m:fPr>
                      <m:num>
                        <m:sSup>
                          <m:e>
                            <m:r>
                              <m:rPr>
                                <m:sty m:val="p"/>
                              </m:rPr>
                              <a:rPr lang="vi-VN" sz="1800" b="0">
                                <a:solidFill>
                                  <a:srgbClr val="1E293B"/>
                                </a:solidFill>
                                <a:latin typeface="Cambria Math" panose="02040503050406030204" pitchFamily="18" charset="0"/>
                              </a:rPr>
                              <m:t>cos</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sSup>
                          <m:e>
                            <m:r>
                              <m:rPr>
                                <m:sty m:val="p"/>
                              </m:rPr>
                              <a:rPr lang="vi-VN" sz="1800" b="0">
                                <a:solidFill>
                                  <a:srgbClr val="1E293B"/>
                                </a:solidFill>
                                <a:latin typeface="Cambria Math" panose="02040503050406030204" pitchFamily="18" charset="0"/>
                              </a:rPr>
                              <m:t>tan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α−1</m:t>
                        </m:r>
                      </m:num>
                      <m:den>
                        <m:sSup>
                          <m:e>
                            <m:r>
                              <m:rPr>
                                <m:sty m:val="p"/>
                              </m:rPr>
                              <a:rPr lang="vi-VN" sz="1800" b="0">
                                <a:solidFill>
                                  <a:srgbClr val="1E293B"/>
                                </a:solidFill>
                                <a:latin typeface="Cambria Math" panose="02040503050406030204" pitchFamily="18" charset="0"/>
                              </a:rPr>
                              <m:t>sin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den>
                    </m:f>
                    <m:r>
                      <a:rPr lang="vi-VN" sz="1800" b="0">
                        <a:solidFill>
                          <a:srgbClr val="1E293B"/>
                        </a:solidFill>
                        <a:latin typeface="Cambria Math" panose="02040503050406030204" pitchFamily="18" charset="0"/>
                      </a:rPr>
                      <m:t>=</m:t>
                    </m:r>
                    <m:sSup>
                      <m:e>
                        <m:r>
                          <m:rPr>
                            <m:sty m:val="p"/>
                          </m:rPr>
                          <a:rPr lang="vi-VN" sz="1800" b="0">
                            <a:solidFill>
                              <a:srgbClr val="1E293B"/>
                            </a:solidFill>
                            <a:latin typeface="Cambria Math" panose="02040503050406030204" pitchFamily="18" charset="0"/>
                          </a:rPr>
                          <m:t>tan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oMath>
                </a14:m>
                <a:r>
                  <a:rPr sz="1800">
                    <a:solidFill>
                      <a:srgbClr val="1E293B"/>
                    </a:solidFill>
                    <a:latin typeface="Calibri"/>
                  </a:rPr>
                  <a:t>. </a:t>
                </a:r>
                <a:r>
                  <a:rPr sz="1800" b="1">
                    <a:solidFill>
                      <a:srgbClr val="1E293B"/>
                    </a:solidFill>
                    <a:latin typeface="Calibri"/>
                  </a:rPr>
                  <a:t>1.6.</a:t>
                </a:r>
                <a:r>
                  <a:rPr sz="1800">
                    <a:solidFill>
                      <a:srgbClr val="1E293B"/>
                    </a:solidFill>
                    <a:latin typeface="Calibri"/>
                  </a:rPr>
                  <a:t> Bánh xe đạp quay 11 vòng trong 5 giây; đường kính 680 mm. a) Góc quay trong 1 giây. b) Quãng đường đi trong 1 phút.</a:t>
                </a:r>
              </a:p>
            </p:txBody>
          </p:sp>
        </mc:Choice>
        <mc:Fallback>
          <p:sp>
            <p:nvSpPr>
              <p:cNvPr id="10" name="TextBox 9"/>
              <p:cNvSpPr txBox="1"/>
              <p:nvPr/>
            </p:nvSpPr>
            <p:spPr>
              <a:xfrm>
                <a:off x="548640" y="3776472"/>
                <a:ext cx="11064240" cy="845819"/>
              </a:xfrm>
              <a:prstGeom prst="rect">
                <a:avLst/>
              </a:prstGeom>
              <a:noFill/>
            </p:spPr>
            <p:txBody>
              <a:bodyPr wrap="square" anchor="t" lIns="45720" rIns="45720">
                <a:spAutoFit/>
              </a:bodyPr>
              <a:lstStyle/>
              <a:p>
                <a:pPr algn="l">
                  <a:spcAft>
                    <a:spcPts val="800"/>
                  </a:spcAft>
                </a:pPr>
                <a:r>
                  <a:rPr sz="1800" b="1">
                    <a:solidFill>
                      <a:srgbClr val="1E293B"/>
                    </a:solidFill>
                    <a:latin typeface="Calibri"/>
                  </a:rPr>
                  <a:t>1.5.</a:t>
                </a:r>
                <a:r>
                  <a:rPr sz="1800">
                    <a:solidFill>
                      <a:srgbClr val="1E293B"/>
                    </a:solidFill>
                    <a:latin typeface="Calibri"/>
                  </a:rPr>
                  <a:t> Chứng minh: a) </a:t>
                </a:r>
                <a:r>
                  <a:rPr lang="vi-VN"/>
                  <a:t>\cos^4\alpha-\sin^4\alpha=2\cos^2\alpha-1</a:t>
                </a:r>
                <a:r>
                  <a:rPr sz="1800">
                    <a:solidFill>
                      <a:srgbClr val="1E293B"/>
                    </a:solidFill>
                    <a:latin typeface="Calibri"/>
                  </a:rPr>
                  <a:t>; b) </a:t>
                </a:r>
                <a:r>
                  <a:rPr lang="vi-VN"/>
                  <a:t>\frac{\cos^2\alpha+\tan^2\alpha-1}{\sin^2\alpha}=\tan^2\alpha</a:t>
                </a:r>
                <a:r>
                  <a:rPr sz="1800">
                    <a:solidFill>
                      <a:srgbClr val="1E293B"/>
                    </a:solidFill>
                    <a:latin typeface="Calibri"/>
                  </a:rPr>
                  <a:t>. </a:t>
                </a:r>
                <a:r>
                  <a:rPr sz="1800" b="1">
                    <a:solidFill>
                      <a:srgbClr val="1E293B"/>
                    </a:solidFill>
                    <a:latin typeface="Calibri"/>
                  </a:rPr>
                  <a:t>1.6.</a:t>
                </a:r>
                <a:r>
                  <a:rPr sz="1800">
                    <a:solidFill>
                      <a:srgbClr val="1E293B"/>
                    </a:solidFill>
                    <a:latin typeface="Calibri"/>
                  </a:rPr>
                  <a:t> Bánh xe đạp quay 11 vòng trong 5 giây; đường kính 680 mm. a) Góc quay trong 1 giây. b) Quãng đường đi trong 1 phút.</a:t>
                </a:r>
              </a:p>
            </p:txBody>
          </p:sp>
        </mc:Fallback>
      </mc:AlternateContent>
      <p:sp>
        <p:nvSpPr>
          <p:cNvPr id="11" name="s3_nen"/>
          <p:cNvSpPr/>
          <p:nvPr/>
        </p:nvSpPr>
        <p:spPr>
          <a:xfrm>
            <a:off x="548640" y="4686300"/>
            <a:ext cx="11064240" cy="106070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722876"/>
                <a:ext cx="10735056" cy="98755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1.5a) </a:t>
                </a:r>
                <a14:m>
                  <m:oMath xmlns:m="http://schemas.openxmlformats.org/officeDocument/2006/math">
                    <m:d>
                      <m:dPr>
                        <m:sepChr m:val=""/>
                      </m:dPr>
                      <m:e>
                        <m:sSup>
                          <m:e>
                            <m:r>
                              <m:rPr>
                                <m:sty m:val="p"/>
                              </m:rPr>
                              <a:rPr lang="vi-VN" sz="1800" b="0">
                                <a:solidFill>
                                  <a:srgbClr val="1E293B"/>
                                </a:solidFill>
                                <a:latin typeface="Cambria Math" panose="02040503050406030204" pitchFamily="18" charset="0"/>
                              </a:rPr>
                              <m:t>cos</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r>
                          <a:rPr lang="vi-VN" sz="1800" b="0">
                            <a:solidFill>
                              <a:srgbClr val="1E293B"/>
                            </a:solidFill>
                            <a:latin typeface="Cambria Math" panose="02040503050406030204" pitchFamily="18" charset="0"/>
                          </a:rPr>
                          <m:t>−</m:t>
                        </m:r>
                        <m:sSup>
                          <m:e>
                            <m:r>
                              <m:rPr>
                                <m:sty m:val="p"/>
                              </m:rPr>
                              <a:rPr lang="vi-VN" sz="1800" b="0">
                                <a:solidFill>
                                  <a:srgbClr val="1E293B"/>
                                </a:solidFill>
                                <a:latin typeface="Cambria Math" panose="02040503050406030204" pitchFamily="18" charset="0"/>
                              </a:rPr>
                              <m:t>sin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m:t>
                        </m:r>
                        <m:sSup>
                          <m:e>
                            <m:r>
                              <m:rPr>
                                <m:sty m:val="p"/>
                              </m:rPr>
                              <a:rPr lang="vi-VN" sz="1800" b="0">
                                <a:solidFill>
                                  <a:srgbClr val="1E293B"/>
                                </a:solidFill>
                                <a:latin typeface="Cambria Math" panose="02040503050406030204" pitchFamily="18" charset="0"/>
                              </a:rPr>
                              <m:t>cos</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r>
                          <a:rPr lang="vi-VN" sz="1800" b="0">
                            <a:solidFill>
                              <a:srgbClr val="1E293B"/>
                            </a:solidFill>
                            <a:latin typeface="Cambria Math" panose="02040503050406030204" pitchFamily="18" charset="0"/>
                          </a:rPr>
                          <m:t>+</m:t>
                        </m:r>
                        <m:sSup>
                          <m:e>
                            <m:r>
                              <m:rPr>
                                <m:sty m:val="p"/>
                              </m:rPr>
                              <a:rPr lang="vi-VN" sz="1800" b="0">
                                <a:solidFill>
                                  <a:srgbClr val="1E293B"/>
                                </a:solidFill>
                                <a:latin typeface="Cambria Math" panose="02040503050406030204" pitchFamily="18" charset="0"/>
                              </a:rPr>
                              <m:t>sin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m:t>
                        </m:r>
                        <m:sSup>
                          <m:e>
                            <m:r>
                              <m:rPr>
                                <m:sty m:val="p"/>
                              </m:rPr>
                              <a:rPr lang="vi-VN" sz="1800" b="0">
                                <a:solidFill>
                                  <a:srgbClr val="1E293B"/>
                                </a:solidFill>
                                <a:latin typeface="Cambria Math" panose="02040503050406030204" pitchFamily="18" charset="0"/>
                              </a:rPr>
                              <m:t>cos</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m:t>
                        </m:r>
                        <m:r>
                          <a:rPr lang="vi-VN" sz="1800" b="0">
                            <a:solidFill>
                              <a:srgbClr val="1E293B"/>
                            </a:solidFill>
                            <a:latin typeface="Cambria Math" panose="02040503050406030204" pitchFamily="18" charset="0"/>
                          </a:rPr>
                          <m:t>1</m:t>
                        </m:r>
                        <m:r>
                          <a:rPr lang="vi-VN" sz="1800" b="0">
                            <a:solidFill>
                              <a:srgbClr val="1E293B"/>
                            </a:solidFill>
                            <a:latin typeface="Cambria Math" panose="02040503050406030204" pitchFamily="18" charset="0"/>
                          </a:rPr>
                          <m:t>−</m:t>
                        </m:r>
                        <m:sSup>
                          <m:e>
                            <m:r>
                              <m:rPr>
                                <m:sty m:val="p"/>
                              </m:rPr>
                              <a:rPr lang="vi-VN" sz="1800" b="0">
                                <a:solidFill>
                                  <a:srgbClr val="1E293B"/>
                                </a:solidFill>
                                <a:latin typeface="Cambria Math" panose="02040503050406030204" pitchFamily="18" charset="0"/>
                              </a:rPr>
                              <m:t>cos</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e>
                    </m:d>
                  </m:oMath>
                </a14:m>
                <a:r>
                  <a:rPr sz="1800">
                    <a:solidFill>
                      <a:srgbClr val="1E293B"/>
                    </a:solidFill>
                    <a:latin typeface="Calibri"/>
                  </a:rPr>
                  <a:t>. b) Tử </a:t>
                </a:r>
                <a14:m>
                  <m:oMath xmlns:m="http://schemas.openxmlformats.org/officeDocument/2006/math">
                    <m:r>
                      <a:rPr lang="vi-VN" sz="1800" b="0">
                        <a:solidFill>
                          <a:srgbClr val="1E293B"/>
                        </a:solidFill>
                        <a:latin typeface="Cambria Math" panose="02040503050406030204" pitchFamily="18" charset="0"/>
                      </a:rPr>
                      <m:t>=</m:t>
                    </m:r>
                    <m:sSup>
                      <m:e>
                        <m:r>
                          <m:rPr>
                            <m:sty m:val="p"/>
                          </m:rPr>
                          <a:rPr lang="vi-VN" sz="1800" b="0">
                            <a:solidFill>
                              <a:srgbClr val="1E293B"/>
                            </a:solidFill>
                            <a:latin typeface="Cambria Math" panose="02040503050406030204" pitchFamily="18" charset="0"/>
                          </a:rPr>
                          <m:t>tan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sSup>
                      <m:e>
                        <m:r>
                          <m:rPr>
                            <m:sty m:val="p"/>
                          </m:rPr>
                          <a:rPr lang="vi-VN" sz="1800" b="0">
                            <a:solidFill>
                              <a:srgbClr val="1E293B"/>
                            </a:solidFill>
                            <a:latin typeface="Cambria Math" panose="02040503050406030204" pitchFamily="18" charset="0"/>
                          </a:rPr>
                          <m:t>sin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sSup>
                      <m:e>
                        <m:r>
                          <m:rPr>
                            <m:sty m:val="p"/>
                          </m:rPr>
                          <a:rPr lang="vi-VN" sz="1800" b="0">
                            <a:solidFill>
                              <a:srgbClr val="1E293B"/>
                            </a:solidFill>
                            <a:latin typeface="Cambria Math" panose="02040503050406030204" pitchFamily="18" charset="0"/>
                          </a:rPr>
                          <m:t>sin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sSup>
                      <m:e>
                        <m:r>
                          <m:rPr>
                            <m:sty m:val="p"/>
                          </m:rPr>
                          <a:rPr lang="vi-VN" sz="1800" b="0">
                            <a:solidFill>
                              <a:srgbClr val="1E293B"/>
                            </a:solidFill>
                            <a:latin typeface="Cambria Math" panose="02040503050406030204" pitchFamily="18" charset="0"/>
                          </a:rPr>
                          <m:t>tan</m:t>
                        </m:r>
                      </m:e>
                      <m:sup>
                        <m:r>
                          <a:rPr lang="vi-VN" sz="1800" b="0">
                            <a:solidFill>
                              <a:srgbClr val="1E293B"/>
                            </a:solidFill>
                            <a:latin typeface="Cambria Math" panose="02040503050406030204" pitchFamily="18" charset="0"/>
                          </a:rPr>
                          <m:t>2</m:t>
                        </m:r>
                      </m:sup>
                    </m:sSup>
                    <m:r>
                      <a:rPr lang="vi-VN" sz="1800" b="0">
                        <a:solidFill>
                          <a:srgbClr val="1E293B"/>
                        </a:solidFill>
                        <a:latin typeface="Cambria Math" panose="02040503050406030204" pitchFamily="18" charset="0"/>
                      </a:rPr>
                      <m:t>α</m:t>
                    </m:r>
                  </m:oMath>
                </a14:m>
                <a:r>
                  <a:rPr sz="1800">
                    <a:solidFill>
                      <a:srgbClr val="1E293B"/>
                    </a:solidFill>
                    <a:latin typeface="Calibri"/>
                  </a:rPr>
                  <a:t>. 1.6a) </a:t>
                </a:r>
                <a14:m>
                  <m:oMath xmlns:m="http://schemas.openxmlformats.org/officeDocument/2006/math">
                    <m:sSup>
                      <m:e>
                        <m:r>
                          <a:rPr lang="vi-VN" sz="1800" b="0">
                            <a:solidFill>
                              <a:srgbClr val="1E293B"/>
                            </a:solidFill>
                            <a:latin typeface="Cambria Math" panose="02040503050406030204" pitchFamily="18" charset="0"/>
                          </a:rPr>
                          <m:t>792</m:t>
                        </m:r>
                      </m:e>
                      <m:sup>
                        <m:r>
                          <a:rPr lang="vi-VN" sz="1800" b="0">
                            <a:solidFill>
                              <a:srgbClr val="1E293B"/>
                            </a:solidFill>
                            <a:latin typeface="Cambria Math" panose="02040503050406030204" pitchFamily="18" charset="0"/>
                          </a:rPr>
                          <m:t>∘</m:t>
                        </m:r>
                      </m:sup>
                    </m:sSup>
                    <m:r>
                      <a:rPr lang="vi-VN" sz="1800" b="0">
                        <a:solidFill>
                          <a:srgbClr val="1E293B"/>
                        </a:solidFill>
                        <a:latin typeface="Cambria Math" panose="02040503050406030204" pitchFamily="18" charset="0"/>
                      </a:rPr>
                      <m:t>=</m:t>
                    </m:r>
                    <m:f>
                      <m:fPr>
                        <m:type m:val="bar"/>
                      </m:fPr>
                      <m:num>
                        <m:r>
                          <a:rPr lang="vi-VN" sz="1800" b="0">
                            <a:solidFill>
                              <a:srgbClr val="1E293B"/>
                            </a:solidFill>
                            <a:latin typeface="Cambria Math" panose="02040503050406030204" pitchFamily="18" charset="0"/>
                          </a:rPr>
                          <m:t>22π</m:t>
                        </m:r>
                      </m:num>
                      <m:den>
                        <m:r>
                          <a:rPr lang="vi-VN" sz="1800" b="0">
                            <a:solidFill>
                              <a:srgbClr val="1E293B"/>
                            </a:solidFill>
                            <a:latin typeface="Cambria Math" panose="02040503050406030204" pitchFamily="18" charset="0"/>
                          </a:rPr>
                          <m:t>5</m:t>
                        </m:r>
                      </m:den>
                    </m:f>
                  </m:oMath>
                </a14:m>
                <a:r>
                  <a:rPr sz="1800">
                    <a:solidFill>
                      <a:srgbClr val="1E293B"/>
                    </a:solidFill>
                    <a:latin typeface="Calibri"/>
                  </a:rPr>
                  <a:t> rad. b) </a:t>
                </a:r>
                <a14:m>
                  <m:oMath xmlns:m="http://schemas.openxmlformats.org/officeDocument/2006/math">
                    <m:r>
                      <a:rPr lang="vi-VN" sz="1800" b="0">
                        <a:solidFill>
                          <a:srgbClr val="1E293B"/>
                        </a:solidFill>
                        <a:latin typeface="Cambria Math" panose="02040503050406030204" pitchFamily="18" charset="0"/>
                      </a:rPr>
                      <m:t>340·60·</m:t>
                    </m:r>
                    <m:f>
                      <m:fPr>
                        <m:type m:val="bar"/>
                      </m:fPr>
                      <m:num>
                        <m:r>
                          <a:rPr lang="vi-VN" sz="1800" b="0">
                            <a:solidFill>
                              <a:srgbClr val="1E293B"/>
                            </a:solidFill>
                            <a:latin typeface="Cambria Math" panose="02040503050406030204" pitchFamily="18" charset="0"/>
                          </a:rPr>
                          <m:t>22π</m:t>
                        </m:r>
                      </m:num>
                      <m:den>
                        <m:r>
                          <a:rPr lang="vi-VN" sz="1800" b="0">
                            <a:solidFill>
                              <a:srgbClr val="1E293B"/>
                            </a:solidFill>
                            <a:latin typeface="Cambria Math" panose="02040503050406030204" pitchFamily="18" charset="0"/>
                          </a:rPr>
                          <m:t>5</m:t>
                        </m:r>
                      </m:den>
                    </m:f>
                    <m:r>
                      <a:rPr lang="vi-VN" sz="1800" b="0">
                        <a:solidFill>
                          <a:srgbClr val="1E293B"/>
                        </a:solidFill>
                        <a:latin typeface="Cambria Math" panose="02040503050406030204" pitchFamily="18" charset="0"/>
                      </a:rPr>
                      <m:t>=89</m:t>
                    </m:r>
                    <m:r>
                      <m:rPr>
                        <m:sty m:val="p"/>
                      </m:rPr>
                      <a:rPr lang="vi-VN" sz="1800" b="0">
                        <a:solidFill>
                          <a:srgbClr val="1E293B"/>
                        </a:solidFill>
                        <a:latin typeface="Cambria Math" panose="02040503050406030204" pitchFamily="18" charset="0"/>
                      </a:rPr>
                      <m:t> </m:t>
                    </m:r>
                    <m:r>
                      <a:rPr lang="vi-VN" sz="1800" b="0">
                        <a:solidFill>
                          <a:srgbClr val="1E293B"/>
                        </a:solidFill>
                        <a:latin typeface="Cambria Math" panose="02040503050406030204" pitchFamily="18" charset="0"/>
                      </a:rPr>
                      <m:t>760π</m:t>
                    </m:r>
                  </m:oMath>
                </a14:m>
                <a:r>
                  <a:rPr sz="1800">
                    <a:solidFill>
                      <a:srgbClr val="1E293B"/>
                    </a:solidFill>
                    <a:latin typeface="Calibri"/>
                  </a:rPr>
                  <a:t> mm </a:t>
                </a:r>
                <a14:m>
                  <m:oMath xmlns:m="http://schemas.openxmlformats.org/officeDocument/2006/math">
                    <m:r>
                      <a:rPr lang="vi-VN" sz="1800" b="0">
                        <a:solidFill>
                          <a:srgbClr val="1E293B"/>
                        </a:solidFill>
                        <a:latin typeface="Cambria Math" panose="02040503050406030204" pitchFamily="18" charset="0"/>
                      </a:rPr>
                      <m:t>≈282</m:t>
                    </m:r>
                  </m:oMath>
                </a14:m>
                <a:r>
                  <a:rPr sz="1800">
                    <a:solidFill>
                      <a:srgbClr val="1E293B"/>
                    </a:solidFill>
                    <a:latin typeface="Calibri"/>
                  </a:rPr>
                  <a:t> m.</a:t>
                </a:r>
              </a:p>
            </p:txBody>
          </p:sp>
        </mc:Choice>
        <mc:Fallback>
          <p:sp>
            <p:nvSpPr>
              <p:cNvPr id="12" name="TextBox 11"/>
              <p:cNvSpPr txBox="1"/>
              <p:nvPr/>
            </p:nvSpPr>
            <p:spPr>
              <a:xfrm>
                <a:off x="713232" y="4722876"/>
                <a:ext cx="10735056" cy="987551"/>
              </a:xfrm>
              <a:prstGeom prst="rect">
                <a:avLst/>
              </a:prstGeom>
              <a:noFill/>
            </p:spPr>
            <p:txBody>
              <a:bodyPr wrap="square" anchor="ctr" lIns="45720" rIns="45720">
                <a:spAutoFit/>
              </a:bodyPr>
              <a:lstStyle/>
              <a:p>
                <a:pPr algn="l">
                  <a:spcAft>
                    <a:spcPts val="800"/>
                  </a:spcAft>
                </a:pPr>
                <a:r>
                  <a:rPr sz="1800">
                    <a:solidFill>
                      <a:srgbClr val="1E293B"/>
                    </a:solidFill>
                    <a:latin typeface="Calibri"/>
                  </a:rPr>
                  <a:t>1.5a) </a:t>
                </a:r>
                <a:r>
                  <a:rPr lang="vi-VN"/>
                  <a:t>(\cos^2\alpha-\sin^2\alpha)(\cos^2\alpha+\sin^2\alpha)=\cos^2\alpha-(1-\cos^2\alpha)</a:t>
                </a:r>
                <a:r>
                  <a:rPr sz="1800">
                    <a:solidFill>
                      <a:srgbClr val="1E293B"/>
                    </a:solidFill>
                    <a:latin typeface="Calibri"/>
                  </a:rPr>
                  <a:t>. b) Tử </a:t>
                </a:r>
                <a:r>
                  <a:rPr lang="vi-VN"/>
                  <a:t>=\tan^2\alpha-\sin^2\alpha=\sin^2\alpha\tan^2\alpha</a:t>
                </a:r>
                <a:r>
                  <a:rPr sz="1800">
                    <a:solidFill>
                      <a:srgbClr val="1E293B"/>
                    </a:solidFill>
                    <a:latin typeface="Calibri"/>
                  </a:rPr>
                  <a:t>. 1.6a) </a:t>
                </a:r>
                <a:r>
                  <a:rPr lang="vi-VN"/>
                  <a:t>792^\circ=\frac{22\pi}{5}</a:t>
                </a:r>
                <a:r>
                  <a:rPr sz="1800">
                    <a:solidFill>
                      <a:srgbClr val="1E293B"/>
                    </a:solidFill>
                    <a:latin typeface="Calibri"/>
                  </a:rPr>
                  <a:t> rad. b) </a:t>
                </a:r>
                <a:r>
                  <a:rPr lang="vi-VN"/>
                  <a:t>340\cdot 60\cdot\frac{22\pi}{5}=89\ 760\pi</a:t>
                </a:r>
                <a:r>
                  <a:rPr sz="1800">
                    <a:solidFill>
                      <a:srgbClr val="1E293B"/>
                    </a:solidFill>
                    <a:latin typeface="Calibri"/>
                  </a:rPr>
                  <a:t> mm </a:t>
                </a:r>
                <a:r>
                  <a:rPr lang="vi-VN"/>
                  <a:t>\approx 282</a:t>
                </a:r>
                <a:r>
                  <a:rPr sz="1800">
                    <a:solidFill>
                      <a:srgbClr val="1E293B"/>
                    </a:solidFill>
                    <a:latin typeface="Calibri"/>
                  </a:rPr>
                  <a:t> m.</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36</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37</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Số đo rađian của góc </a:t>
                </a:r>
                <a14:m>
                  <m:oMath xmlns:m="http://schemas.openxmlformats.org/officeDocument/2006/math">
                    <m:sSup>
                      <m:e>
                        <m:r>
                          <a:rPr lang="vi-VN" sz="2600" b="0">
                            <a:solidFill>
                              <a:srgbClr val="1E293B"/>
                            </a:solidFill>
                            <a:latin typeface="Cambria Math" panose="02040503050406030204" pitchFamily="18" charset="0"/>
                          </a:rPr>
                          <m:t>210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là</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Số đo rađian của góc </a:t>
                </a:r>
                <a:r>
                  <a:rPr lang="vi-VN"/>
                  <a:t>210^\circ</a:t>
                </a:r>
                <a:r>
                  <a:rPr sz="2600">
                    <a:solidFill>
                      <a:srgbClr val="1E293B"/>
                    </a:solidFill>
                    <a:latin typeface="Calibri"/>
                  </a:rPr>
                  <a:t> là</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7π</m:t>
                        </m:r>
                      </m:num>
                      <m:den>
                        <m:r>
                          <a:rPr lang="vi-VN" sz="2400" b="0">
                            <a:solidFill>
                              <a:srgbClr val="1E293B"/>
                            </a:solidFill>
                            <a:latin typeface="Cambria Math" panose="02040503050406030204" pitchFamily="18" charset="0"/>
                          </a:rPr>
                          <m:t>6</m:t>
                        </m:r>
                      </m:den>
                    </m:f>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\frac{7\pi}{6}</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5π</m:t>
                        </m:r>
                      </m:num>
                      <m:den>
                        <m:r>
                          <a:rPr lang="vi-VN" sz="2400" b="0">
                            <a:solidFill>
                              <a:srgbClr val="1E293B"/>
                            </a:solidFill>
                            <a:latin typeface="Cambria Math" panose="02040503050406030204" pitchFamily="18" charset="0"/>
                          </a:rPr>
                          <m:t>6</m:t>
                        </m:r>
                      </m:den>
                    </m:f>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\frac{5\pi}{6}</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7π</m:t>
                        </m:r>
                      </m:num>
                      <m:den>
                        <m:r>
                          <a:rPr lang="vi-VN" sz="2400" b="0">
                            <a:solidFill>
                              <a:srgbClr val="1E293B"/>
                            </a:solidFill>
                            <a:latin typeface="Cambria Math" panose="02040503050406030204" pitchFamily="18" charset="0"/>
                          </a:rPr>
                          <m:t>3</m:t>
                        </m:r>
                      </m:den>
                    </m:f>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\frac{7\pi}{3}</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6π</m:t>
                        </m:r>
                      </m:num>
                      <m:den>
                        <m:r>
                          <a:rPr lang="vi-VN" sz="2400" b="0">
                            <a:solidFill>
                              <a:srgbClr val="1E293B"/>
                            </a:solidFill>
                            <a:latin typeface="Cambria Math" panose="02040503050406030204" pitchFamily="18" charset="0"/>
                          </a:rPr>
                          <m:t>7</m:t>
                        </m:r>
                      </m:den>
                    </m:f>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\frac{6\pi}{7}</a:t>
                </a:r>
              </a:p>
            </p:txBody>
          </p:sp>
        </mc:Fallback>
      </mc:AlternateContent>
      <p:sp>
        <p:nvSpPr>
          <p:cNvPr id="16" name="s1_nen"/>
          <p:cNvSpPr/>
          <p:nvPr/>
        </p:nvSpPr>
        <p:spPr>
          <a:xfrm>
            <a:off x="548640" y="4617720"/>
            <a:ext cx="11064240" cy="90220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82905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210·</m:t>
                    </m:r>
                    <m:f>
                      <m:fPr>
                        <m:type m:val="bar"/>
                      </m:fPr>
                      <m:num>
                        <m:r>
                          <a:rPr lang="vi-VN" sz="2200" b="0">
                            <a:solidFill>
                              <a:srgbClr val="1E293B"/>
                            </a:solidFill>
                            <a:latin typeface="Cambria Math" panose="02040503050406030204" pitchFamily="18" charset="0"/>
                          </a:rPr>
                          <m:t>π</m:t>
                        </m:r>
                      </m:num>
                      <m:den>
                        <m:r>
                          <a:rPr lang="vi-VN" sz="2200" b="0">
                            <a:solidFill>
                              <a:srgbClr val="1E293B"/>
                            </a:solidFill>
                            <a:latin typeface="Cambria Math" panose="02040503050406030204" pitchFamily="18" charset="0"/>
                          </a:rPr>
                          <m:t>180</m:t>
                        </m:r>
                      </m:den>
                    </m:f>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7π</m:t>
                        </m:r>
                      </m:num>
                      <m:den>
                        <m:r>
                          <a:rPr lang="vi-VN" sz="2200" b="0">
                            <a:solidFill>
                              <a:srgbClr val="1E293B"/>
                            </a:solidFill>
                            <a:latin typeface="Cambria Math" panose="02040503050406030204" pitchFamily="18" charset="0"/>
                          </a:rPr>
                          <m:t>6</m:t>
                        </m:r>
                      </m:den>
                    </m:f>
                  </m:oMath>
                </a14:m>
                <a:r>
                  <a:rPr sz="2200">
                    <a:solidFill>
                      <a:srgbClr val="1E293B"/>
                    </a:solidFill>
                    <a:latin typeface="Calibri"/>
                  </a:rPr>
                  <a:t>.</a:t>
                </a:r>
              </a:p>
            </p:txBody>
          </p:sp>
        </mc:Choice>
        <mc:Fallback>
          <p:sp>
            <p:nvSpPr>
              <p:cNvPr id="17" name="TextBox 16"/>
              <p:cNvSpPr txBox="1"/>
              <p:nvPr/>
            </p:nvSpPr>
            <p:spPr>
              <a:xfrm>
                <a:off x="713232" y="4654296"/>
                <a:ext cx="10735056" cy="82905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A.</a:t>
                </a:r>
                <a:r>
                  <a:rPr sz="2200">
                    <a:solidFill>
                      <a:srgbClr val="1E293B"/>
                    </a:solidFill>
                    <a:latin typeface="Calibri"/>
                  </a:rPr>
                  <a:t> </a:t>
                </a:r>
                <a:r>
                  <a:rPr lang="vi-VN"/>
                  <a:t>210\cdot\frac{\pi}{180}=\frac{7\pi}{6}</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38</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14:m>
                  <m:oMath xmlns:m="http://schemas.openxmlformats.org/officeDocument/2006/math">
                    <m:f>
                      <m:fPr>
                        <m:type m:val="bar"/>
                      </m:fPr>
                      <m:num>
                        <m:r>
                          <a:rPr lang="vi-VN" sz="2600" b="0">
                            <a:solidFill>
                              <a:srgbClr val="1E293B"/>
                            </a:solidFill>
                            <a:latin typeface="Cambria Math" panose="02040503050406030204" pitchFamily="18" charset="0"/>
                          </a:rPr>
                          <m:t>π</m:t>
                        </m:r>
                      </m:num>
                      <m:den>
                        <m:r>
                          <a:rPr lang="vi-VN" sz="2600" b="0">
                            <a:solidFill>
                              <a:srgbClr val="1E293B"/>
                            </a:solidFill>
                            <a:latin typeface="Cambria Math" panose="02040503050406030204" pitchFamily="18" charset="0"/>
                          </a:rPr>
                          <m:t>2</m:t>
                        </m:r>
                      </m:den>
                    </m:f>
                    <m:r>
                      <a:rPr lang="vi-VN" sz="2600" b="0">
                        <a:solidFill>
                          <a:srgbClr val="1E293B"/>
                        </a:solidFill>
                        <a:latin typeface="Cambria Math" panose="02040503050406030204" pitchFamily="18" charset="0"/>
                      </a:rPr>
                      <m:t>&lt;α&lt;π</m:t>
                    </m:r>
                  </m:oMath>
                </a14:m>
                <a:r>
                  <a:rPr sz="2600">
                    <a:solidFill>
                      <a:srgbClr val="1E293B"/>
                    </a:solidFill>
                    <a:latin typeface="Calibri"/>
                  </a:rPr>
                  <a:t>. Khẳng định nào sau đây đúng?</a:t>
                </a:r>
              </a:p>
            </p:txBody>
          </p:sp>
        </mc:Choice>
        <mc:Fallback>
          <p:sp>
            <p:nvSpPr>
              <p:cNvPr id="7" name="TextBox 6"/>
              <p:cNvSpPr txBox="1"/>
              <p:nvPr/>
            </p:nvSpPr>
            <p:spPr>
              <a:xfrm>
                <a:off x="548640" y="1371600"/>
                <a:ext cx="11064240" cy="748283"/>
              </a:xfrm>
              <a:prstGeom prst="rect">
                <a:avLst/>
              </a:prstGeom>
              <a:noFill/>
            </p:spPr>
            <p:txBody>
              <a:bodyPr wrap="square" anchor="t" lIns="45720" rIns="45720">
                <a:spAutoFit/>
              </a:bodyPr>
              <a:lstStyle/>
              <a:p>
                <a:pPr algn="l">
                  <a:spcAft>
                    <a:spcPts val="800"/>
                  </a:spcAft>
                </a:pPr>
                <a:r>
                  <a:rPr sz="2600">
                    <a:solidFill>
                      <a:srgbClr val="1E293B"/>
                    </a:solidFill>
                    <a:latin typeface="Calibri"/>
                  </a:rPr>
                  <a:t>Cho </a:t>
                </a:r>
                <a:r>
                  <a:rPr lang="vi-VN"/>
                  <a:t>\frac{\pi}{2}&lt;\alpha&lt;\pi</a:t>
                </a:r>
                <a:r>
                  <a:rPr sz="2600">
                    <a:solidFill>
                      <a:srgbClr val="1E293B"/>
                    </a:solidFill>
                    <a:latin typeface="Calibri"/>
                  </a:rPr>
                  <a:t>. Khẳng định nào sau đây đúng?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m:rPr>
                        <m:sty m:val="p"/>
                      </m:rPr>
                      <a:rPr lang="vi-VN" sz="2400" b="0">
                        <a:solidFill>
                          <a:srgbClr val="1E293B"/>
                        </a:solidFill>
                        <a:latin typeface="Cambria Math" panose="02040503050406030204" pitchFamily="18" charset="0"/>
                      </a:rPr>
                      <m:t>sin</m:t>
                    </m:r>
                    <m:r>
                      <a:rPr lang="vi-VN" sz="2400" b="0">
                        <a:solidFill>
                          <a:srgbClr val="1E293B"/>
                        </a:solidFill>
                        <a:latin typeface="Cambria Math" panose="02040503050406030204" pitchFamily="18" charset="0"/>
                      </a:rPr>
                      <m:t>α&lt;0</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\sin\alpha&lt;0</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m:rPr>
                        <m:sty m:val="p"/>
                      </m:rPr>
                      <a:rPr lang="vi-VN" sz="2400" b="0">
                        <a:solidFill>
                          <a:srgbClr val="1E293B"/>
                        </a:solidFill>
                        <a:latin typeface="Cambria Math" panose="02040503050406030204" pitchFamily="18" charset="0"/>
                      </a:rPr>
                      <m:t>cos</m:t>
                    </m:r>
                    <m:r>
                      <a:rPr lang="vi-VN" sz="2400" b="0">
                        <a:solidFill>
                          <a:srgbClr val="1E293B"/>
                        </a:solidFill>
                        <a:latin typeface="Cambria Math" panose="02040503050406030204" pitchFamily="18" charset="0"/>
                      </a:rPr>
                      <m:t>α&gt;0</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\cos\alpha&gt;0</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m:rPr>
                        <m:sty m:val="p"/>
                      </m:rPr>
                      <a:rPr lang="vi-VN" sz="2400" b="0">
                        <a:solidFill>
                          <a:srgbClr val="1E293B"/>
                        </a:solidFill>
                        <a:latin typeface="Cambria Math" panose="02040503050406030204" pitchFamily="18" charset="0"/>
                      </a:rPr>
                      <m:t>tan</m:t>
                    </m:r>
                    <m:r>
                      <a:rPr lang="vi-VN" sz="2400" b="0">
                        <a:solidFill>
                          <a:srgbClr val="1E293B"/>
                        </a:solidFill>
                        <a:latin typeface="Cambria Math" panose="02040503050406030204" pitchFamily="18" charset="0"/>
                      </a:rPr>
                      <m:t>α&lt;0</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\tan\alpha&lt;0</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m:rPr>
                        <m:sty m:val="p"/>
                      </m:rPr>
                      <a:rPr lang="vi-VN" sz="2400" b="0">
                        <a:solidFill>
                          <a:srgbClr val="1E293B"/>
                        </a:solidFill>
                        <a:latin typeface="Cambria Math" panose="02040503050406030204" pitchFamily="18" charset="0"/>
                      </a:rPr>
                      <m:t>cot</m:t>
                    </m:r>
                    <m:r>
                      <a:rPr lang="vi-VN" sz="2400" b="0">
                        <a:solidFill>
                          <a:srgbClr val="1E293B"/>
                        </a:solidFill>
                        <a:latin typeface="Cambria Math" panose="02040503050406030204" pitchFamily="18" charset="0"/>
                      </a:rPr>
                      <m:t>α&gt;0</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\cot\alpha&gt;0</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Góc phần tư II: chỉ </a:t>
                </a:r>
                <a14:m>
                  <m:oMath xmlns:m="http://schemas.openxmlformats.org/officeDocument/2006/math">
                    <m:r>
                      <m:rPr>
                        <m:sty m:val="p"/>
                      </m:rPr>
                      <a:rPr lang="vi-VN" sz="2200" b="0">
                        <a:solidFill>
                          <a:srgbClr val="1E293B"/>
                        </a:solidFill>
                        <a:latin typeface="Cambria Math" panose="02040503050406030204" pitchFamily="18" charset="0"/>
                      </a:rPr>
                      <m:t>sin</m:t>
                    </m:r>
                    <m:r>
                      <m:rPr>
                        <m:sty m:val="p"/>
                      </m:rPr>
                      <a:rPr lang="vi-VN" sz="2200" b="0">
                        <a:solidFill>
                          <a:srgbClr val="1E293B"/>
                        </a:solidFill>
                        <a:latin typeface="Cambria Math" panose="02040503050406030204" pitchFamily="18" charset="0"/>
                      </a:rPr>
                      <m:t> </m:t>
                    </m:r>
                  </m:oMath>
                </a14:m>
                <a:r>
                  <a:rPr sz="2200">
                    <a:solidFill>
                      <a:srgbClr val="1E293B"/>
                    </a:solidFill>
                    <a:latin typeface="Calibri"/>
                  </a:rPr>
                  <a:t> dương.</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C.</a:t>
                </a:r>
                <a:r>
                  <a:rPr sz="2200">
                    <a:solidFill>
                      <a:srgbClr val="1E293B"/>
                    </a:solidFill>
                    <a:latin typeface="Calibri"/>
                  </a:rPr>
                  <a:t> Góc phần tư II: chỉ </a:t>
                </a:r>
                <a:r>
                  <a:rPr lang="vi-VN"/>
                  <a:t>\sin</a:t>
                </a:r>
                <a:r>
                  <a:rPr sz="2200">
                    <a:solidFill>
                      <a:srgbClr val="1E293B"/>
                    </a:solidFill>
                    <a:latin typeface="Calibri"/>
                  </a:rPr>
                  <a:t> dương.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39</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68679"/>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a:t>
                </a:r>
                <a14:m>
                  <m:oMath xmlns:m="http://schemas.openxmlformats.org/officeDocument/2006/math">
                    <m:r>
                      <m:rPr>
                        <m:sty m:val="p"/>
                      </m:rPr>
                      <a:rPr lang="vi-VN" sz="2400" b="0">
                        <a:solidFill>
                          <a:srgbClr val="1E293B"/>
                        </a:solidFill>
                        <a:latin typeface="Cambria Math" panose="02040503050406030204" pitchFamily="18" charset="0"/>
                      </a:rPr>
                      <m:t>sin</m:t>
                    </m:r>
                    <m:r>
                      <a:rPr lang="vi-VN" sz="2400" b="0">
                        <a:solidFill>
                          <a:srgbClr val="1E293B"/>
                        </a:solidFill>
                        <a:latin typeface="Cambria Math" panose="02040503050406030204" pitchFamily="18" charset="0"/>
                      </a:rPr>
                      <m:t>α=</m:t>
                    </m:r>
                    <m:f>
                      <m:fPr>
                        <m:type m:val="bar"/>
                      </m:fPr>
                      <m:num>
                        <m:r>
                          <a:rPr lang="vi-VN" sz="2400" b="0">
                            <a:solidFill>
                              <a:srgbClr val="1E293B"/>
                            </a:solidFill>
                            <a:latin typeface="Cambria Math" panose="02040503050406030204" pitchFamily="18" charset="0"/>
                          </a:rPr>
                          <m:t>4</m:t>
                        </m:r>
                      </m:num>
                      <m:den>
                        <m:r>
                          <a:rPr lang="vi-VN" sz="2400" b="0">
                            <a:solidFill>
                              <a:srgbClr val="1E293B"/>
                            </a:solidFill>
                            <a:latin typeface="Cambria Math" panose="02040503050406030204" pitchFamily="18" charset="0"/>
                          </a:rPr>
                          <m:t>5</m:t>
                        </m:r>
                      </m:den>
                    </m:f>
                  </m:oMath>
                </a14:m>
                <a:r>
                  <a:rPr sz="2400">
                    <a:solidFill>
                      <a:srgbClr val="1E293B"/>
                    </a:solidFill>
                    <a:latin typeface="Calibri"/>
                  </a:rPr>
                  <a:t>, </a:t>
                </a:r>
                <a14:m>
                  <m:oMath xmlns:m="http://schemas.openxmlformats.org/officeDocument/2006/math">
                    <m:f>
                      <m:fPr>
                        <m:type m:val="bar"/>
                      </m:fPr>
                      <m:num>
                        <m:r>
                          <a:rPr lang="vi-VN" sz="2400" b="0">
                            <a:solidFill>
                              <a:srgbClr val="1E293B"/>
                            </a:solidFill>
                            <a:latin typeface="Cambria Math" panose="02040503050406030204" pitchFamily="18" charset="0"/>
                          </a:rPr>
                          <m:t>π</m:t>
                        </m:r>
                      </m:num>
                      <m:den>
                        <m:r>
                          <a:rPr lang="vi-VN" sz="2400" b="0">
                            <a:solidFill>
                              <a:srgbClr val="1E293B"/>
                            </a:solidFill>
                            <a:latin typeface="Cambria Math" panose="02040503050406030204" pitchFamily="18" charset="0"/>
                          </a:rPr>
                          <m:t>2</m:t>
                        </m:r>
                      </m:den>
                    </m:f>
                    <m:r>
                      <a:rPr lang="vi-VN" sz="2400" b="0">
                        <a:solidFill>
                          <a:srgbClr val="1E293B"/>
                        </a:solidFill>
                        <a:latin typeface="Cambria Math" panose="02040503050406030204" pitchFamily="18" charset="0"/>
                      </a:rPr>
                      <m:t>&lt;α&lt;π</m:t>
                    </m:r>
                  </m:oMath>
                </a14:m>
                <a:r>
                  <a:rPr sz="2400">
                    <a:solidFill>
                      <a:srgbClr val="1E293B"/>
                    </a:solidFill>
                    <a:latin typeface="Calibri"/>
                  </a:rPr>
                  <a:t>. Xét tính đúng, sai:</a:t>
                </a:r>
              </a:p>
            </p:txBody>
          </p:sp>
        </mc:Choice>
        <mc:Fallback>
          <p:sp>
            <p:nvSpPr>
              <p:cNvPr id="7" name="TextBox 6"/>
              <p:cNvSpPr txBox="1"/>
              <p:nvPr/>
            </p:nvSpPr>
            <p:spPr>
              <a:xfrm>
                <a:off x="548640" y="1371600"/>
                <a:ext cx="11064240" cy="868679"/>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a:t>
                </a:r>
                <a:r>
                  <a:rPr lang="vi-VN"/>
                  <a:t>\sin\alpha=\frac{4}{5}</a:t>
                </a:r>
                <a:r>
                  <a:rPr sz="2400">
                    <a:solidFill>
                      <a:srgbClr val="1E293B"/>
                    </a:solidFill>
                    <a:latin typeface="Calibri"/>
                  </a:rPr>
                  <a:t>, </a:t>
                </a:r>
                <a:r>
                  <a:rPr lang="vi-VN"/>
                  <a:t>\frac{\pi}{2}&lt;\alpha&lt;\pi</a:t>
                </a:r>
                <a:r>
                  <a:rPr sz="2400">
                    <a:solidFill>
                      <a:srgbClr val="1E293B"/>
                    </a:solidFill>
                    <a:latin typeface="Calibri"/>
                  </a:rPr>
                  <a:t>.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33172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14:m>
                  <m:oMath xmlns:m="http://schemas.openxmlformats.org/officeDocument/2006/math">
                    <m:r>
                      <m:rPr>
                        <m:sty m:val="p"/>
                      </m:rPr>
                      <a:rPr lang="vi-VN" sz="2300" b="0">
                        <a:solidFill>
                          <a:srgbClr val="1E293B"/>
                        </a:solidFill>
                        <a:latin typeface="Cambria Math" panose="02040503050406030204" pitchFamily="18" charset="0"/>
                      </a:rPr>
                      <m:t>cos</m:t>
                    </m:r>
                    <m:r>
                      <a:rPr lang="vi-VN" sz="2300" b="0">
                        <a:solidFill>
                          <a:srgbClr val="1E293B"/>
                        </a:solidFill>
                        <a:latin typeface="Cambria Math" panose="02040503050406030204" pitchFamily="18" charset="0"/>
                      </a:rPr>
                      <m:t>α=−</m:t>
                    </m:r>
                    <m:f>
                      <m:fPr>
                        <m:type m:val="bar"/>
                      </m:fPr>
                      <m:num>
                        <m:r>
                          <a:rPr lang="vi-VN" sz="2300" b="0">
                            <a:solidFill>
                              <a:srgbClr val="1E293B"/>
                            </a:solidFill>
                            <a:latin typeface="Cambria Math" panose="02040503050406030204" pitchFamily="18" charset="0"/>
                          </a:rPr>
                          <m:t>3</m:t>
                        </m:r>
                      </m:num>
                      <m:den>
                        <m:r>
                          <a:rPr lang="vi-VN" sz="2300" b="0">
                            <a:solidFill>
                              <a:srgbClr val="1E293B"/>
                            </a:solidFill>
                            <a:latin typeface="Cambria Math" panose="02040503050406030204" pitchFamily="18" charset="0"/>
                          </a:rPr>
                          <m:t>5</m:t>
                        </m:r>
                      </m:den>
                    </m:f>
                  </m:oMath>
                </a14:m>
                <a:r>
                  <a:rPr sz="2300">
                    <a:solidFill>
                      <a:srgbClr val="1E293B"/>
                    </a:solidFill>
                    <a:latin typeface="Calibri"/>
                  </a:rPr>
                  <a:t>.</a:t>
                </a:r>
              </a:p>
            </p:txBody>
          </p:sp>
        </mc:Choice>
        <mc:Fallback>
          <p:sp>
            <p:nvSpPr>
              <p:cNvPr id="8" name="TextBox 7"/>
              <p:cNvSpPr txBox="1"/>
              <p:nvPr/>
            </p:nvSpPr>
            <p:spPr>
              <a:xfrm>
                <a:off x="548640" y="233172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a) </a:t>
                </a:r>
                <a:r>
                  <a:rPr lang="vi-VN"/>
                  <a:t>\cos\alpha=-\frac{3}{5}</a:t>
                </a:r>
                <a:r>
                  <a:rPr sz="2300">
                    <a:solidFill>
                      <a:srgbClr val="1E293B"/>
                    </a:solidFill>
                    <a:latin typeface="Calibri"/>
                  </a:rPr>
                  <a:t>.</a:t>
                </a:r>
              </a:p>
            </p:txBody>
          </p:sp>
        </mc:Fallback>
      </mc:AlternateContent>
      <p:sp>
        <p:nvSpPr>
          <p:cNvPr id="9" name="s1_nen"/>
          <p:cNvSpPr/>
          <p:nvPr/>
        </p:nvSpPr>
        <p:spPr>
          <a:xfrm>
            <a:off x="8412480" y="2304288"/>
            <a:ext cx="3200400" cy="7886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340864"/>
            <a:ext cx="2871216" cy="715518"/>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330327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14:m>
                  <m:oMath xmlns:m="http://schemas.openxmlformats.org/officeDocument/2006/math">
                    <m:r>
                      <m:rPr>
                        <m:sty m:val="p"/>
                      </m:rPr>
                      <a:rPr lang="vi-VN" sz="2300" b="0">
                        <a:solidFill>
                          <a:srgbClr val="1E293B"/>
                        </a:solidFill>
                        <a:latin typeface="Cambria Math" panose="02040503050406030204" pitchFamily="18" charset="0"/>
                      </a:rPr>
                      <m:t>tan</m:t>
                    </m:r>
                    <m:r>
                      <a:rPr lang="vi-VN" sz="2300" b="0">
                        <a:solidFill>
                          <a:srgbClr val="1E293B"/>
                        </a:solidFill>
                        <a:latin typeface="Cambria Math" panose="02040503050406030204" pitchFamily="18" charset="0"/>
                      </a:rPr>
                      <m:t>α=</m:t>
                    </m:r>
                    <m:f>
                      <m:fPr>
                        <m:type m:val="bar"/>
                      </m:fPr>
                      <m:num>
                        <m:r>
                          <a:rPr lang="vi-VN" sz="2300" b="0">
                            <a:solidFill>
                              <a:srgbClr val="1E293B"/>
                            </a:solidFill>
                            <a:latin typeface="Cambria Math" panose="02040503050406030204" pitchFamily="18" charset="0"/>
                          </a:rPr>
                          <m:t>4</m:t>
                        </m:r>
                      </m:num>
                      <m:den>
                        <m:r>
                          <a:rPr lang="vi-VN" sz="2300" b="0">
                            <a:solidFill>
                              <a:srgbClr val="1E293B"/>
                            </a:solidFill>
                            <a:latin typeface="Cambria Math" panose="02040503050406030204" pitchFamily="18" charset="0"/>
                          </a:rPr>
                          <m:t>3</m:t>
                        </m:r>
                      </m:den>
                    </m:f>
                  </m:oMath>
                </a14:m>
                <a:r>
                  <a:rPr sz="2300">
                    <a:solidFill>
                      <a:srgbClr val="1E293B"/>
                    </a:solidFill>
                    <a:latin typeface="Calibri"/>
                  </a:rPr>
                  <a:t>.</a:t>
                </a:r>
              </a:p>
            </p:txBody>
          </p:sp>
        </mc:Choice>
        <mc:Fallback>
          <p:sp>
            <p:nvSpPr>
              <p:cNvPr id="11" name="TextBox 10"/>
              <p:cNvSpPr txBox="1"/>
              <p:nvPr/>
            </p:nvSpPr>
            <p:spPr>
              <a:xfrm>
                <a:off x="548640" y="330327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r>
                  <a:rPr lang="vi-VN"/>
                  <a:t>\tan\alpha=\frac{4}{3}</a:t>
                </a:r>
                <a:r>
                  <a:rPr sz="2300">
                    <a:solidFill>
                      <a:srgbClr val="1E293B"/>
                    </a:solidFill>
                    <a:latin typeface="Calibri"/>
                  </a:rPr>
                  <a:t>.</a:t>
                </a:r>
              </a:p>
            </p:txBody>
          </p:sp>
        </mc:Fallback>
      </mc:AlternateContent>
      <p:sp>
        <p:nvSpPr>
          <p:cNvPr id="12" name="s2_nen"/>
          <p:cNvSpPr/>
          <p:nvPr/>
        </p:nvSpPr>
        <p:spPr>
          <a:xfrm>
            <a:off x="8412480" y="3275838"/>
            <a:ext cx="3200400" cy="7886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3312414"/>
            <a:ext cx="2871216" cy="715518"/>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(−4/3)</a:t>
            </a:r>
          </a:p>
        </p:txBody>
      </p:sp>
      <mc:AlternateContent xmlns:mc="http://schemas.openxmlformats.org/markup-compatibility/2006">
        <mc:Choice xmlns:a14="http://schemas.microsoft.com/office/drawing/2010/main" Requires="a14">
          <p:sp>
            <p:nvSpPr>
              <p:cNvPr id="14" name="TextBox 13"/>
              <p:cNvSpPr txBox="1"/>
              <p:nvPr/>
            </p:nvSpPr>
            <p:spPr>
              <a:xfrm>
                <a:off x="548640" y="427482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14:m>
                  <m:oMath xmlns:m="http://schemas.openxmlformats.org/officeDocument/2006/math">
                    <m:r>
                      <m:rPr>
                        <m:sty m:val="p"/>
                      </m:rPr>
                      <a:rPr lang="vi-VN" sz="2300" b="0">
                        <a:solidFill>
                          <a:srgbClr val="1E293B"/>
                        </a:solidFill>
                        <a:latin typeface="Cambria Math" panose="02040503050406030204" pitchFamily="18" charset="0"/>
                      </a:rPr>
                      <m:t>sin</m:t>
                    </m:r>
                    <m:r>
                      <a:rPr lang="vi-VN" sz="2300" b="0">
                        <a:solidFill>
                          <a:srgbClr val="1E293B"/>
                        </a:solidFill>
                        <a:latin typeface="Cambria Math" panose="02040503050406030204" pitchFamily="18" charset="0"/>
                      </a:rPr>
                      <m:t>(π−α)=</m:t>
                    </m:r>
                    <m:f>
                      <m:fPr>
                        <m:type m:val="bar"/>
                      </m:fPr>
                      <m:num>
                        <m:r>
                          <a:rPr lang="vi-VN" sz="2300" b="0">
                            <a:solidFill>
                              <a:srgbClr val="1E293B"/>
                            </a:solidFill>
                            <a:latin typeface="Cambria Math" panose="02040503050406030204" pitchFamily="18" charset="0"/>
                          </a:rPr>
                          <m:t>4</m:t>
                        </m:r>
                      </m:num>
                      <m:den>
                        <m:r>
                          <a:rPr lang="vi-VN" sz="2300" b="0">
                            <a:solidFill>
                              <a:srgbClr val="1E293B"/>
                            </a:solidFill>
                            <a:latin typeface="Cambria Math" panose="02040503050406030204" pitchFamily="18" charset="0"/>
                          </a:rPr>
                          <m:t>5</m:t>
                        </m:r>
                      </m:den>
                    </m:f>
                  </m:oMath>
                </a14:m>
                <a:r>
                  <a:rPr sz="2300">
                    <a:solidFill>
                      <a:srgbClr val="1E293B"/>
                    </a:solidFill>
                    <a:latin typeface="Calibri"/>
                  </a:rPr>
                  <a:t>.</a:t>
                </a:r>
              </a:p>
            </p:txBody>
          </p:sp>
        </mc:Choice>
        <mc:Fallback>
          <p:sp>
            <p:nvSpPr>
              <p:cNvPr id="14" name="TextBox 13"/>
              <p:cNvSpPr txBox="1"/>
              <p:nvPr/>
            </p:nvSpPr>
            <p:spPr>
              <a:xfrm>
                <a:off x="548640" y="427482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r>
                  <a:rPr lang="vi-VN"/>
                  <a:t>\sin(\pi-\alpha)=\frac{4}{5}</a:t>
                </a:r>
                <a:r>
                  <a:rPr sz="2300">
                    <a:solidFill>
                      <a:srgbClr val="1E293B"/>
                    </a:solidFill>
                    <a:latin typeface="Calibri"/>
                  </a:rPr>
                  <a:t>.</a:t>
                </a:r>
              </a:p>
            </p:txBody>
          </p:sp>
        </mc:Fallback>
      </mc:AlternateContent>
      <p:sp>
        <p:nvSpPr>
          <p:cNvPr id="15" name="s3_nen"/>
          <p:cNvSpPr/>
          <p:nvPr/>
        </p:nvSpPr>
        <p:spPr>
          <a:xfrm>
            <a:off x="8412480" y="4247388"/>
            <a:ext cx="3200400" cy="7886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4283964"/>
            <a:ext cx="2871216" cy="715518"/>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7" name="TextBox 16"/>
              <p:cNvSpPr txBox="1"/>
              <p:nvPr/>
            </p:nvSpPr>
            <p:spPr>
              <a:xfrm>
                <a:off x="548640" y="524637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d) </a:t>
                </a:r>
                <a14:m>
                  <m:oMath xmlns:m="http://schemas.openxmlformats.org/officeDocument/2006/math">
                    <m:r>
                      <m:rPr>
                        <m:sty m:val="p"/>
                      </m:rPr>
                      <a:rPr lang="vi-VN" sz="2300" b="0">
                        <a:solidFill>
                          <a:srgbClr val="1E293B"/>
                        </a:solidFill>
                        <a:latin typeface="Cambria Math" panose="02040503050406030204" pitchFamily="18" charset="0"/>
                      </a:rPr>
                      <m:t>cos</m:t>
                    </m:r>
                    <m:r>
                      <a:rPr lang="vi-VN" sz="2300" b="0">
                        <a:solidFill>
                          <a:srgbClr val="1E293B"/>
                        </a:solidFill>
                        <a:latin typeface="Cambria Math" panose="02040503050406030204" pitchFamily="18" charset="0"/>
                      </a:rPr>
                      <m:t>(−α)=</m:t>
                    </m:r>
                    <m:f>
                      <m:fPr>
                        <m:type m:val="bar"/>
                      </m:fPr>
                      <m:num>
                        <m:r>
                          <a:rPr lang="vi-VN" sz="2300" b="0">
                            <a:solidFill>
                              <a:srgbClr val="1E293B"/>
                            </a:solidFill>
                            <a:latin typeface="Cambria Math" panose="02040503050406030204" pitchFamily="18" charset="0"/>
                          </a:rPr>
                          <m:t>3</m:t>
                        </m:r>
                      </m:num>
                      <m:den>
                        <m:r>
                          <a:rPr lang="vi-VN" sz="2300" b="0">
                            <a:solidFill>
                              <a:srgbClr val="1E293B"/>
                            </a:solidFill>
                            <a:latin typeface="Cambria Math" panose="02040503050406030204" pitchFamily="18" charset="0"/>
                          </a:rPr>
                          <m:t>5</m:t>
                        </m:r>
                      </m:den>
                    </m:f>
                  </m:oMath>
                </a14:m>
                <a:r>
                  <a:rPr sz="2300">
                    <a:solidFill>
                      <a:srgbClr val="1E293B"/>
                    </a:solidFill>
                    <a:latin typeface="Calibri"/>
                  </a:rPr>
                  <a:t>.</a:t>
                </a:r>
              </a:p>
            </p:txBody>
          </p:sp>
        </mc:Choice>
        <mc:Fallback>
          <p:sp>
            <p:nvSpPr>
              <p:cNvPr id="17" name="TextBox 16"/>
              <p:cNvSpPr txBox="1"/>
              <p:nvPr/>
            </p:nvSpPr>
            <p:spPr>
              <a:xfrm>
                <a:off x="548640" y="5246370"/>
                <a:ext cx="7680960" cy="925830"/>
              </a:xfrm>
              <a:prstGeom prst="rect">
                <a:avLst/>
              </a:prstGeom>
              <a:noFill/>
            </p:spPr>
            <p:txBody>
              <a:bodyPr wrap="square" anchor="t" lIns="45720" rIns="45720">
                <a:spAutoFit/>
              </a:bodyPr>
              <a:lstStyle/>
              <a:p>
                <a:pPr algn="l">
                  <a:spcAft>
                    <a:spcPts val="800"/>
                  </a:spcAft>
                </a:pPr>
                <a:r>
                  <a:rPr sz="2300">
                    <a:solidFill>
                      <a:srgbClr val="1E293B"/>
                    </a:solidFill>
                    <a:latin typeface="Calibri"/>
                  </a:rPr>
                  <a:t>d) </a:t>
                </a:r>
                <a:r>
                  <a:rPr lang="vi-VN"/>
                  <a:t>\cos(-\alpha)=\frac{3}{5}</a:t>
                </a:r>
                <a:r>
                  <a:rPr sz="2300">
                    <a:solidFill>
                      <a:srgbClr val="1E293B"/>
                    </a:solidFill>
                    <a:latin typeface="Calibri"/>
                  </a:rPr>
                  <a:t>.</a:t>
                </a:r>
              </a:p>
            </p:txBody>
          </p:sp>
        </mc:Fallback>
      </mc:AlternateContent>
      <p:sp>
        <p:nvSpPr>
          <p:cNvPr id="18" name="s4_nen"/>
          <p:cNvSpPr/>
          <p:nvPr/>
        </p:nvSpPr>
        <p:spPr>
          <a:xfrm>
            <a:off x="8412480" y="5218938"/>
            <a:ext cx="3200400" cy="78867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5255514"/>
            <a:ext cx="2871216" cy="715518"/>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(−3/5)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40</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độ dài (cm) cung có số đo </a:t>
                </a:r>
                <a14:m>
                  <m:oMath xmlns:m="http://schemas.openxmlformats.org/officeDocument/2006/math">
                    <m:sSup>
                      <m:e>
                        <m:r>
                          <a:rPr lang="vi-VN" sz="2600" b="0">
                            <a:solidFill>
                              <a:srgbClr val="1E293B"/>
                            </a:solidFill>
                            <a:latin typeface="Cambria Math" panose="02040503050406030204" pitchFamily="18" charset="0"/>
                          </a:rPr>
                          <m:t>60</m:t>
                        </m:r>
                      </m:e>
                      <m:sup>
                        <m:r>
                          <a:rPr lang="vi-VN" sz="2600" b="0">
                            <a:solidFill>
                              <a:srgbClr val="1E293B"/>
                            </a:solidFill>
                            <a:latin typeface="Cambria Math" panose="02040503050406030204" pitchFamily="18" charset="0"/>
                          </a:rPr>
                          <m:t>∘</m:t>
                        </m:r>
                      </m:sup>
                    </m:sSup>
                  </m:oMath>
                </a14:m>
                <a:r>
                  <a:rPr sz="2600">
                    <a:solidFill>
                      <a:srgbClr val="1E293B"/>
                    </a:solidFill>
                    <a:latin typeface="Calibri"/>
                  </a:rPr>
                  <a:t> của đường tròn bán kính 9 cm (làm tròn đến hàng phần trăm).</a:t>
                </a:r>
              </a:p>
            </p:txBody>
          </p:sp>
        </mc:Choice>
        <mc:Fallback>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độ dài (cm) cung có số đo </a:t>
                </a:r>
                <a:r>
                  <a:rPr lang="vi-VN"/>
                  <a:t>60^\circ</a:t>
                </a:r>
                <a:r>
                  <a:rPr sz="2600">
                    <a:solidFill>
                      <a:srgbClr val="1E293B"/>
                    </a:solidFill>
                    <a:latin typeface="Calibri"/>
                  </a:rPr>
                  <a:t> của đường tròn bán kính 9 cm (làm tròn đến hàng phần trăm).</a:t>
                </a:r>
              </a:p>
            </p:txBody>
          </p:sp>
        </mc:Fallback>
      </mc:AlternateContent>
      <p:sp>
        <p:nvSpPr>
          <p:cNvPr id="8" name="s1_nen"/>
          <p:cNvSpPr/>
          <p:nvPr/>
        </p:nvSpPr>
        <p:spPr>
          <a:xfrm>
            <a:off x="548640" y="3931920"/>
            <a:ext cx="11064240" cy="795527"/>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9,42.</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l=9·</m:t>
                    </m:r>
                    <m:f>
                      <m:fPr>
                        <m:type m:val="bar"/>
                      </m:fPr>
                      <m:num>
                        <m:r>
                          <a:rPr lang="vi-VN" sz="2400" b="0">
                            <a:solidFill>
                              <a:srgbClr val="1E293B"/>
                            </a:solidFill>
                            <a:latin typeface="Cambria Math" panose="02040503050406030204" pitchFamily="18" charset="0"/>
                          </a:rPr>
                          <m:t>π</m:t>
                        </m:r>
                      </m:num>
                      <m:den>
                        <m:r>
                          <a:rPr lang="vi-VN" sz="2400" b="0">
                            <a:solidFill>
                              <a:srgbClr val="1E293B"/>
                            </a:solidFill>
                            <a:latin typeface="Cambria Math" panose="02040503050406030204" pitchFamily="18" charset="0"/>
                          </a:rPr>
                          <m:t>3</m:t>
                        </m:r>
                      </m:den>
                    </m:f>
                    <m:r>
                      <a:rPr lang="vi-VN" sz="2400" b="0">
                        <a:solidFill>
                          <a:srgbClr val="1E293B"/>
                        </a:solidFill>
                        <a:latin typeface="Cambria Math" panose="02040503050406030204" pitchFamily="18" charset="0"/>
                      </a:rPr>
                      <m:t>=3π≈9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42</m:t>
                    </m:r>
                  </m:oMath>
                </a14:m>
                <a:r>
                  <a:rPr sz="2400">
                    <a:solidFill>
                      <a:srgbClr val="1E293B"/>
                    </a:solidFill>
                    <a:latin typeface="Calibri"/>
                  </a:rPr>
                  <a:t> cm.</a:t>
                </a:r>
              </a:p>
            </p:txBody>
          </p:sp>
        </mc:Choice>
        <mc:Fallback>
          <p:sp>
            <p:nvSpPr>
              <p:cNvPr id="9" name="TextBox 8"/>
              <p:cNvSpPr txBox="1"/>
              <p:nvPr/>
            </p:nvSpPr>
            <p:spPr>
              <a:xfrm>
                <a:off x="713232" y="3968496"/>
                <a:ext cx="10735056" cy="722375"/>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9,42.</a:t>
                </a:r>
                <a:r>
                  <a:rPr sz="2400">
                    <a:solidFill>
                      <a:srgbClr val="1E293B"/>
                    </a:solidFill>
                    <a:latin typeface="Calibri"/>
                  </a:rPr>
                  <a:t> </a:t>
                </a:r>
                <a:r>
                  <a:rPr lang="vi-VN"/>
                  <a:t>l=9\cdot\frac{\pi}{3}=3\pi\approx 9{,}42</a:t>
                </a:r>
                <a:r>
                  <a:rPr sz="2400">
                    <a:solidFill>
                      <a:srgbClr val="1E293B"/>
                    </a:solidFill>
                    <a:latin typeface="Calibri"/>
                  </a:rPr>
                  <a:t> cm.</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41</a:t>
            </a:r>
          </a:p>
        </p:txBody>
      </p:sp>
      <p:sp>
        <p:nvSpPr>
          <p:cNvPr id="7" name="TextBox 6"/>
          <p:cNvSpPr txBox="1"/>
          <p:nvPr/>
        </p:nvSpPr>
        <p:spPr>
          <a:xfrm>
            <a:off x="548640" y="1463040"/>
            <a:ext cx="11064240" cy="1362456"/>
          </a:xfrm>
          <a:prstGeom prst="rect">
            <a:avLst/>
          </a:prstGeom>
          <a:noFill/>
        </p:spPr>
        <p:txBody>
          <a:bodyPr wrap="square" anchor="t" lIns="45720" rIns="45720">
            <a:spAutoFit/>
          </a:bodyPr>
          <a:lstStyle/>
          <a:p>
            <a:pPr algn="l">
              <a:spcAft>
                <a:spcPts val="800"/>
              </a:spcAft>
            </a:pPr>
            <a:r>
              <a:rPr sz="2600">
                <a:solidFill>
                  <a:srgbClr val="1E293B"/>
                </a:solidFill>
                <a:latin typeface="Calibri"/>
              </a:rPr>
              <a:t>Guồng nước có bán kính 2 m quay đều 5 vòng mỗi phút. Một điểm trên vành guồng đi được bao nhiêu mét trong 1 phút (làm tròn đến hàng phần mười)?</a:t>
            </a:r>
          </a:p>
        </p:txBody>
      </p:sp>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62,8.</a:t>
                </a:r>
                <a:r>
                  <a:rPr sz="2400">
                    <a:solidFill>
                      <a:srgbClr val="1E293B"/>
                    </a:solidFill>
                    <a:latin typeface="Calibri"/>
                  </a:rPr>
                  <a:t> Góc quay </a:t>
                </a:r>
                <a14:m>
                  <m:oMath xmlns:m="http://schemas.openxmlformats.org/officeDocument/2006/math">
                    <m:r>
                      <a:rPr lang="vi-VN" sz="2400" b="0">
                        <a:solidFill>
                          <a:srgbClr val="1E293B"/>
                        </a:solidFill>
                        <a:latin typeface="Cambria Math" panose="02040503050406030204" pitchFamily="18" charset="0"/>
                      </a:rPr>
                      <m:t>5·2π=10π</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l=2·10π=20π≈62</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8</m:t>
                    </m:r>
                  </m:oMath>
                </a14:m>
                <a:r>
                  <a:rPr sz="2400">
                    <a:solidFill>
                      <a:srgbClr val="1E293B"/>
                    </a:solidFill>
                    <a:latin typeface="Calibri"/>
                  </a:rPr>
                  <a:t> m.</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62,8.</a:t>
                </a:r>
                <a:r>
                  <a:rPr sz="2400">
                    <a:solidFill>
                      <a:srgbClr val="1E293B"/>
                    </a:solidFill>
                    <a:latin typeface="Calibri"/>
                  </a:rPr>
                  <a:t> Góc quay </a:t>
                </a:r>
                <a:r>
                  <a:rPr lang="vi-VN"/>
                  <a:t>5\cdot 2\pi=10\pi</a:t>
                </a:r>
                <a:r>
                  <a:rPr sz="2400">
                    <a:solidFill>
                      <a:srgbClr val="1E293B"/>
                    </a:solidFill>
                    <a:latin typeface="Calibri"/>
                  </a:rPr>
                  <a:t>; </a:t>
                </a:r>
                <a:r>
                  <a:rPr lang="vi-VN"/>
                  <a:t>l=2\cdot 10\pi=20\pi\approx 62{,}8</a:t>
                </a:r>
                <a:r>
                  <a:rPr sz="2400">
                    <a:solidFill>
                      <a:srgbClr val="1E293B"/>
                    </a:solidFill>
                    <a:latin typeface="Calibri"/>
                  </a:rPr>
                  <a:t> m.</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42</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https://trangtu66.github.io/Taode_thi_online/cc_bai1_t11.html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1.1 – 1.6.</a:t>
            </a:r>
          </a:p>
          <a:p>
            <a:pPr algn="l" marL="365760" indent="-365760">
              <a:spcAft>
                <a:spcPts val="800"/>
              </a:spcAft>
              <a:buClr>
                <a:srgbClr val="1E40AF"/>
              </a:buClr>
              <a:buFont typeface="Arial"/>
              <a:buChar char="•"/>
            </a:pPr>
            <a:r>
              <a:rPr sz="2200">
                <a:solidFill>
                  <a:srgbClr val="1E293B"/>
                </a:solidFill>
                <a:latin typeface="Calibri"/>
              </a:rPr>
              <a:t>Đọc trước </a:t>
            </a:r>
            <a:r>
              <a:rPr sz="2200" b="1">
                <a:solidFill>
                  <a:srgbClr val="1E293B"/>
                </a:solidFill>
                <a:latin typeface="Calibri"/>
              </a:rPr>
              <a:t>Bài 2. Công thức lượng giác</a:t>
            </a:r>
            <a:r>
              <a:rPr sz="2200">
                <a:solidFill>
                  <a:srgbClr val="1E293B"/>
                </a:solidFill>
                <a:latin typeface="Calibri"/>
              </a:rPr>
              <a:t> (SGK tr.17).</a:t>
            </a:r>
          </a:p>
        </p:txBody>
      </p:sp>
      <p:pic>
        <p:nvPicPr>
          <p:cNvPr id="8" name="Picture 7" descr="QR_CungCo_Bai1_Toan11.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43</a:t>
            </a:r>
          </a:p>
        </p:txBody>
      </p:sp>
      <p:pic>
        <p:nvPicPr>
          <p:cNvPr id="7" name="Picture 6" descr="SoDoTuDuy_TOAN11_Bai1_GocLuongGiac_T1-3.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44</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Quên dấu âm khi góc quay cùng chiều kim đồng hồ (Ví dụ 1, Luyện tập 1b).</a:t>
                </a:r>
              </a:p>
              <a:p>
                <a:pPr algn="l" marL="365760" indent="-365760">
                  <a:spcAft>
                    <a:spcPts val="800"/>
                  </a:spcAft>
                  <a:buClr>
                    <a:srgbClr val="1E40AF"/>
                  </a:buClr>
                  <a:buFont typeface="Arial"/>
                  <a:buChar char="•"/>
                </a:pPr>
                <a:r>
                  <a:rPr sz="2100">
                    <a:solidFill>
                      <a:srgbClr val="1E293B"/>
                    </a:solidFill>
                    <a:latin typeface="Calibri"/>
                  </a:rPr>
                  <a:t>Tính độ dài cung với </a:t>
                </a:r>
                <a14:m>
                  <m:oMath xmlns:m="http://schemas.openxmlformats.org/officeDocument/2006/math">
                    <m:r>
                      <a:rPr lang="vi-VN" sz="2100" b="0">
                        <a:solidFill>
                          <a:srgbClr val="1E293B"/>
                        </a:solidFill>
                        <a:latin typeface="Cambria Math" panose="02040503050406030204" pitchFamily="18" charset="0"/>
                      </a:rPr>
                      <m:t>α</m:t>
                    </m:r>
                  </m:oMath>
                </a14:m>
                <a:r>
                  <a:rPr sz="2100">
                    <a:solidFill>
                      <a:srgbClr val="1E293B"/>
                    </a:solidFill>
                    <a:latin typeface="Calibri"/>
                  </a:rPr>
                  <a:t> tính bằng độ; lấy bán kính quỹ đạo ISS là 6 400 km.</a:t>
                </a:r>
              </a:p>
              <a:p>
                <a:pPr algn="l" marL="365760" indent="-365760">
                  <a:spcAft>
                    <a:spcPts val="800"/>
                  </a:spcAft>
                  <a:buClr>
                    <a:srgbClr val="1E40AF"/>
                  </a:buClr>
                  <a:buFont typeface="Arial"/>
                  <a:buChar char="•"/>
                </a:pPr>
                <a:r>
                  <a:rPr sz="2100">
                    <a:solidFill>
                      <a:srgbClr val="1E293B"/>
                    </a:solidFill>
                    <a:latin typeface="Calibri"/>
                  </a:rPr>
                  <a:t>Khai căn quên xét dấu theo góc phần tư (Ví dụ 9, Luyện tập 7).</a:t>
                </a:r>
              </a:p>
              <a:p>
                <a:pPr algn="l" marL="365760" indent="-365760">
                  <a:spcAft>
                    <a:spcPts val="800"/>
                  </a:spcAft>
                  <a:buClr>
                    <a:srgbClr val="1E40AF"/>
                  </a:buClr>
                  <a:buFont typeface="Arial"/>
                  <a:buChar char="•"/>
                </a:pPr>
                <a:r>
                  <a:rPr sz="2100">
                    <a:solidFill>
                      <a:srgbClr val="1E293B"/>
                    </a:solidFill>
                    <a:latin typeface="Calibri"/>
                  </a:rPr>
                  <a:t>Bấm máy sai chế độ (độ/rađian).</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Quên dấu âm khi góc quay cùng chiều kim đồng hồ (Ví dụ 1, Luyện tập 1b).</a:t>
                </a:r>
              </a:p>
              <a:p>
                <a:pPr algn="l" marL="365760" indent="-365760">
                  <a:spcAft>
                    <a:spcPts val="800"/>
                  </a:spcAft>
                  <a:buClr>
                    <a:srgbClr val="1E40AF"/>
                  </a:buClr>
                  <a:buFont typeface="Arial"/>
                  <a:buChar char="•"/>
                </a:pPr>
                <a:r>
                  <a:rPr sz="2100">
                    <a:solidFill>
                      <a:srgbClr val="1E293B"/>
                    </a:solidFill>
                    <a:latin typeface="Calibri"/>
                  </a:rPr>
                  <a:t>Tính độ dài cung với </a:t>
                </a:r>
                <a:r>
                  <a:rPr lang="vi-VN"/>
                  <a:t>\alpha</a:t>
                </a:r>
                <a:r>
                  <a:rPr sz="2100">
                    <a:solidFill>
                      <a:srgbClr val="1E293B"/>
                    </a:solidFill>
                    <a:latin typeface="Calibri"/>
                  </a:rPr>
                  <a:t> tính bằng độ; lấy bán kính quỹ đạo ISS là 6 400 km.</a:t>
                </a:r>
              </a:p>
              <a:p>
                <a:pPr algn="l" marL="365760" indent="-365760">
                  <a:spcAft>
                    <a:spcPts val="800"/>
                  </a:spcAft>
                  <a:buClr>
                    <a:srgbClr val="1E40AF"/>
                  </a:buClr>
                  <a:buFont typeface="Arial"/>
                  <a:buChar char="•"/>
                </a:pPr>
                <a:r>
                  <a:rPr sz="2100">
                    <a:solidFill>
                      <a:srgbClr val="1E293B"/>
                    </a:solidFill>
                    <a:latin typeface="Calibri"/>
                  </a:rPr>
                  <a:t>Khai căn quên xét dấu theo góc phần tư (Ví dụ 9, Luyện tập 7).</a:t>
                </a:r>
              </a:p>
              <a:p>
                <a:pPr algn="l" marL="365760" indent="-365760">
                  <a:spcAft>
                    <a:spcPts val="800"/>
                  </a:spcAft>
                  <a:buClr>
                    <a:srgbClr val="1E40AF"/>
                  </a:buClr>
                  <a:buFont typeface="Arial"/>
                  <a:buChar char="•"/>
                </a:pPr>
                <a:r>
                  <a:rPr sz="2100">
                    <a:solidFill>
                      <a:srgbClr val="1E293B"/>
                    </a:solidFill>
                    <a:latin typeface="Calibri"/>
                  </a:rPr>
                  <a:t>Bấm máy sai chế độ (độ/rađian).</a:t>
                </a: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1. Giá trị lượng giác của góc lượng giác – Toán 11          45</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bảng góc đặc biệt, bảng dấu in sẵn; Ví dụ 3, Luyện tập 3, 5.</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Luyện tập 7, 8, Bài 1.4c, d, 1.5; khám phá GeoGebra.</a:t>
            </a:r>
          </a:p>
          <a:p>
            <a:pPr algn="l" marL="365760" indent="-365760">
              <a:spcAft>
                <a:spcPts val="800"/>
              </a:spcAft>
              <a:buClr>
                <a:srgbClr val="1E40AF"/>
              </a:buClr>
              <a:buFont typeface="Arial"/>
              <a:buChar char="•"/>
            </a:pPr>
            <a:r>
              <a:rPr sz="2000">
                <a:solidFill>
                  <a:srgbClr val="1E293B"/>
                </a:solidFill>
                <a:latin typeface="Calibri"/>
              </a:rPr>
              <a:t>Khối 11 không có HS khuyết tật; HS yếu ngồi gần bảng, được hỗ trợ theo cặp.</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đồng hồ thật, sợi dây minh hoạ rađian; máy tính cầm tay thay GeoGebra.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