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300" r:id="rId52"/>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HS dự đoán (chia khoảng điểm rồi đếm…); GV chưa kết luận – giải ở mục 2.</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hyperlink" Target="https://trangtu66.github.io/Taode_thi_online/cc_bai8_t11.html"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91695" cy="228600"/>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280160"/>
            <a:ext cx="10515600" cy="1371600"/>
          </a:xfrm>
          <a:prstGeom prst="rect">
            <a:avLst/>
          </a:prstGeom>
          <a:noFill/>
        </p:spPr>
        <p:txBody>
          <a:bodyPr wrap="square">
            <a:spAutoFit/>
          </a:bodyPr>
          <a:lstStyle/>
          <a:p>
            <a:r>
              <a:rPr sz="4000" b="1">
                <a:solidFill>
                  <a:srgbClr val="1E40AF"/>
                </a:solidFill>
                <a:latin typeface="Arial"/>
              </a:rPr>
              <a:t>BÀI 8. MẪU SỐ LIỆU GHÉP NHÓM</a:t>
            </a:r>
          </a:p>
        </p:txBody>
      </p:sp>
      <p:sp>
        <p:nvSpPr>
          <p:cNvPr id="4" name="TextBox 3"/>
          <p:cNvSpPr txBox="1"/>
          <p:nvPr/>
        </p:nvSpPr>
        <p:spPr>
          <a:xfrm>
            <a:off x="822960" y="2560320"/>
            <a:ext cx="10515600" cy="822960"/>
          </a:xfrm>
          <a:prstGeom prst="rect">
            <a:avLst/>
          </a:prstGeom>
          <a:noFill/>
        </p:spPr>
        <p:txBody>
          <a:bodyPr wrap="square" anchor="t" lIns="45720" rIns="45720">
            <a:spAutoFit/>
          </a:bodyPr>
          <a:lstStyle/>
          <a:p>
            <a:pPr algn="l">
              <a:spcAft>
                <a:spcPts val="800"/>
              </a:spcAft>
            </a:pPr>
            <a:r>
              <a:rPr sz="2800" b="1">
                <a:solidFill>
                  <a:srgbClr val="1E293B"/>
                </a:solidFill>
                <a:latin typeface="Calibri"/>
              </a:rPr>
              <a:t>Chương III. Các số đặc trưng đo xu thế trung tâm của mẫu số liệu ghép nhóm</a:t>
            </a:r>
          </a:p>
        </p:txBody>
      </p:sp>
      <p:sp>
        <p:nvSpPr>
          <p:cNvPr id="5" name="Rectangle 4"/>
          <p:cNvSpPr/>
          <p:nvPr/>
        </p:nvSpPr>
        <p:spPr>
          <a:xfrm>
            <a:off x="868680" y="3474720"/>
            <a:ext cx="2286000" cy="36576"/>
          </a:xfrm>
          <a:prstGeom prst="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3749039"/>
            <a:ext cx="10515600" cy="2011680"/>
          </a:xfrm>
          <a:prstGeom prst="rect">
            <a:avLst/>
          </a:prstGeom>
          <a:noFill/>
        </p:spPr>
        <p:txBody>
          <a:bodyPr wrap="square" anchor="t" lIns="45720" rIns="45720">
            <a:spAutoFit/>
          </a:bodyPr>
          <a:lstStyle/>
          <a:p>
            <a:pPr algn="l">
              <a:spcAft>
                <a:spcPts val="800"/>
              </a:spcAft>
            </a:pPr>
            <a:r>
              <a:rPr sz="2200">
                <a:solidFill>
                  <a:srgbClr val="1E293B"/>
                </a:solidFill>
                <a:latin typeface="Calibri"/>
              </a:rPr>
              <a:t>Môn Toán – Lớp 11 (Kết nối tri thức với cuộc sống)</a:t>
            </a:r>
          </a:p>
          <a:p>
            <a:pPr algn="l">
              <a:spcAft>
                <a:spcPts val="800"/>
              </a:spcAft>
            </a:pPr>
            <a:r>
              <a:rPr sz="2200">
                <a:solidFill>
                  <a:srgbClr val="1E293B"/>
                </a:solidFill>
                <a:latin typeface="Calibri"/>
              </a:rPr>
              <a:t>Tiết 18 theo PPCT · Năm học 2026 – 2027</a:t>
            </a:r>
          </a:p>
          <a:p>
            <a:pPr algn="l">
              <a:spcAft>
                <a:spcPts val="800"/>
              </a:spcAft>
            </a:pPr>
            <a:r>
              <a:rPr sz="2200">
                <a:solidFill>
                  <a:srgbClr val="1E293B"/>
                </a:solidFill>
                <a:latin typeface="Calibri"/>
              </a:rPr>
              <a:t>GV soạn: TTT – Trường THPT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972800" cy="868680"/>
          </a:xfrm>
          <a:prstGeom prst="rect">
            <a:avLst/>
          </a:prstGeom>
          <a:noFill/>
        </p:spPr>
        <p:txBody>
          <a:bodyPr wrap="square" anchor="ctr">
            <a:spAutoFit/>
          </a:bodyPr>
          <a:lstStyle/>
          <a:p>
            <a:r>
              <a:rPr sz="3600" b="1">
                <a:solidFill>
                  <a:srgbClr val="1E40AF"/>
                </a:solidFill>
                <a:latin typeface="Arial"/>
              </a:rPr>
              <a:t>MỤC TIÊU BÀI HỌC</a:t>
            </a:r>
          </a:p>
        </p:txBody>
      </p:sp>
      <p:sp>
        <p:nvSpPr>
          <p:cNvPr id="4" name="Rectangle 3"/>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8. Mẫu số liệu ghép nhóm          2</a:t>
            </a:r>
          </a:p>
        </p:txBody>
      </p:sp>
      <mc:AlternateContent xmlns:mc="http://schemas.openxmlformats.org/markup-compatibility/2006">
        <mc:Choice xmlns:a14="http://schemas.microsoft.com/office/drawing/2010/main" Requires="a14">
          <p:sp>
            <p:nvSpPr>
              <p:cNvPr id="6" name="TextBox 5"/>
              <p:cNvSpPr txBox="1"/>
              <p:nvPr/>
            </p:nvSpPr>
            <p:spPr>
              <a:xfrm>
                <a:off x="731520" y="1463040"/>
                <a:ext cx="10789920" cy="202387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Đọc và giải thích được </a:t>
                </a:r>
                <a:r>
                  <a:rPr sz="2400" b="1">
                    <a:solidFill>
                      <a:srgbClr val="1E293B"/>
                    </a:solidFill>
                    <a:latin typeface="Calibri"/>
                  </a:rPr>
                  <a:t>mẫu số liệu ghép nhóm</a:t>
                </a:r>
              </a:p>
              <a:p>
                <a:pPr algn="l" marL="365760" indent="-365760">
                  <a:spcAft>
                    <a:spcPts val="800"/>
                  </a:spcAft>
                  <a:buClr>
                    <a:srgbClr val="1E40AF"/>
                  </a:buClr>
                  <a:buFont typeface="Arial"/>
                  <a:buChar char="•"/>
                </a:pPr>
                <a:r>
                  <a:rPr sz="2400">
                    <a:solidFill>
                      <a:srgbClr val="1E293B"/>
                    </a:solidFill>
                    <a:latin typeface="Calibri"/>
                  </a:rPr>
                  <a:t>Nắm các khái niệm: nhóm </a:t>
                </a:r>
                <a14:m>
                  <m:oMath xmlns:m="http://schemas.openxmlformats.org/officeDocument/2006/math">
                    <m:r>
                      <a:rPr lang="vi-VN" sz="2400" b="0">
                        <a:solidFill>
                          <a:srgbClr val="1E293B"/>
                        </a:solidFill>
                        <a:latin typeface="Cambria Math" panose="02040503050406030204" pitchFamily="18" charset="0"/>
                      </a:rPr>
                      <m:t>[a;</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b)</m:t>
                    </m:r>
                  </m:oMath>
                </a14:m>
                <a:r>
                  <a:rPr sz="2400">
                    <a:solidFill>
                      <a:srgbClr val="1E293B"/>
                    </a:solidFill>
                    <a:latin typeface="Calibri"/>
                  </a:rPr>
                  <a:t>, đầu mút, độ dài nhóm, tần số</a:t>
                </a:r>
              </a:p>
              <a:p>
                <a:pPr algn="l" marL="365760" indent="-365760">
                  <a:spcAft>
                    <a:spcPts val="800"/>
                  </a:spcAft>
                  <a:buClr>
                    <a:srgbClr val="1E40AF"/>
                  </a:buClr>
                  <a:buFont typeface="Arial"/>
                  <a:buChar char="•"/>
                </a:pPr>
                <a:r>
                  <a:rPr sz="2400" b="1">
                    <a:solidFill>
                      <a:srgbClr val="1E293B"/>
                    </a:solidFill>
                    <a:latin typeface="Calibri"/>
                  </a:rPr>
                  <a:t>Ghép nhóm</a:t>
                </a:r>
                <a:r>
                  <a:rPr sz="2400">
                    <a:solidFill>
                      <a:srgbClr val="1E293B"/>
                    </a:solidFill>
                    <a:latin typeface="Calibri"/>
                  </a:rPr>
                  <a:t> mẫu số liệu theo 2 bước</a:t>
                </a:r>
              </a:p>
              <a:p>
                <a:pPr algn="l" marL="365760" indent="-365760">
                  <a:spcAft>
                    <a:spcPts val="800"/>
                  </a:spcAft>
                  <a:buClr>
                    <a:srgbClr val="1E40AF"/>
                  </a:buClr>
                  <a:buFont typeface="Arial"/>
                  <a:buChar char="•"/>
                </a:pPr>
                <a:r>
                  <a:rPr sz="2400">
                    <a:solidFill>
                      <a:srgbClr val="1E293B"/>
                    </a:solidFill>
                    <a:latin typeface="Calibri"/>
                  </a:rPr>
                  <a:t>Vận dụng: ước lượng tỉ lệ cỡ áo, sản lượng cà phê</a:t>
                </a:r>
              </a:p>
            </p:txBody>
          </p:sp>
        </mc:Choice>
        <mc:Fallback>
          <p:sp>
            <p:nvSpPr>
              <p:cNvPr id="6" name="TextBox 5"/>
              <p:cNvSpPr txBox="1"/>
              <p:nvPr/>
            </p:nvSpPr>
            <p:spPr>
              <a:xfrm>
                <a:off x="731520" y="1463040"/>
                <a:ext cx="10789920" cy="202387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Đọc và giải thích được </a:t>
                </a:r>
                <a:r>
                  <a:rPr sz="2400" b="1">
                    <a:solidFill>
                      <a:srgbClr val="1E293B"/>
                    </a:solidFill>
                    <a:latin typeface="Calibri"/>
                  </a:rPr>
                  <a:t>mẫu số liệu ghép nhóm</a:t>
                </a:r>
              </a:p>
              <a:p>
                <a:pPr algn="l" marL="365760" indent="-365760">
                  <a:spcAft>
                    <a:spcPts val="800"/>
                  </a:spcAft>
                  <a:buClr>
                    <a:srgbClr val="1E40AF"/>
                  </a:buClr>
                  <a:buFont typeface="Arial"/>
                  <a:buChar char="•"/>
                </a:pPr>
                <a:r>
                  <a:rPr sz="2400">
                    <a:solidFill>
                      <a:srgbClr val="1E293B"/>
                    </a:solidFill>
                    <a:latin typeface="Calibri"/>
                  </a:rPr>
                  <a:t>Nắm các khái niệm: nhóm </a:t>
                </a:r>
                <a:r>
                  <a:rPr lang="vi-VN"/>
                  <a:t>[a;\,b)</a:t>
                </a:r>
                <a:r>
                  <a:rPr sz="2400">
                    <a:solidFill>
                      <a:srgbClr val="1E293B"/>
                    </a:solidFill>
                    <a:latin typeface="Calibri"/>
                  </a:rPr>
                  <a:t>, đầu mút, độ dài nhóm, tần số</a:t>
                </a:r>
              </a:p>
              <a:p>
                <a:pPr algn="l" marL="365760" indent="-365760">
                  <a:spcAft>
                    <a:spcPts val="800"/>
                  </a:spcAft>
                  <a:buClr>
                    <a:srgbClr val="1E40AF"/>
                  </a:buClr>
                  <a:buFont typeface="Arial"/>
                  <a:buChar char="•"/>
                </a:pPr>
                <a:r>
                  <a:rPr sz="2400" b="1">
                    <a:solidFill>
                      <a:srgbClr val="1E293B"/>
                    </a:solidFill>
                    <a:latin typeface="Calibri"/>
                  </a:rPr>
                  <a:t>Ghép nhóm</a:t>
                </a:r>
                <a:r>
                  <a:rPr sz="2400">
                    <a:solidFill>
                      <a:srgbClr val="1E293B"/>
                    </a:solidFill>
                    <a:latin typeface="Calibri"/>
                  </a:rPr>
                  <a:t> mẫu số liệu theo 2 bước</a:t>
                </a:r>
              </a:p>
              <a:p>
                <a:pPr algn="l" marL="365760" indent="-365760">
                  <a:spcAft>
                    <a:spcPts val="800"/>
                  </a:spcAft>
                  <a:buClr>
                    <a:srgbClr val="1E40AF"/>
                  </a:buClr>
                  <a:buFont typeface="Arial"/>
                  <a:buChar char="•"/>
                </a:pPr>
                <a:r>
                  <a:rPr sz="2400">
                    <a:solidFill>
                      <a:srgbClr val="1E293B"/>
                    </a:solidFill>
                    <a:latin typeface="Calibri"/>
                  </a:rPr>
                  <a:t>Vận dụng: ước lượng tỉ lệ cỡ áo, sản lượng cà phê</a:t>
                </a:r>
              </a:p>
            </p:txBody>
          </p:sp>
        </mc:Fallback>
      </mc:AlternateContent>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344607" y="457200"/>
            <a:ext cx="1298448"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KHỞI ĐỘNG</a:t>
            </a:r>
          </a:p>
        </p:txBody>
      </p:sp>
      <p:sp>
        <p:nvSpPr>
          <p:cNvPr id="4" name="TextBox 3"/>
          <p:cNvSpPr txBox="1"/>
          <p:nvPr/>
        </p:nvSpPr>
        <p:spPr>
          <a:xfrm>
            <a:off x="731520" y="274320"/>
            <a:ext cx="9674352" cy="868680"/>
          </a:xfrm>
          <a:prstGeom prst="rect">
            <a:avLst/>
          </a:prstGeom>
          <a:noFill/>
        </p:spPr>
        <p:txBody>
          <a:bodyPr wrap="square" anchor="ctr">
            <a:spAutoFit/>
          </a:bodyPr>
          <a:lstStyle/>
          <a:p>
            <a:r>
              <a:rPr sz="3600" b="1">
                <a:solidFill>
                  <a:srgbClr val="1E40AF"/>
                </a:solidFill>
                <a:latin typeface="Arial"/>
              </a:rPr>
              <a:t>KHỞI ĐỘNG: 344 752 THÍ SINH</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8. Mẫu số liệu ghép nhóm          3</a:t>
            </a:r>
          </a:p>
        </p:txBody>
      </p:sp>
      <p:sp>
        <p:nvSpPr>
          <p:cNvPr id="7" name="TextBox 6"/>
          <p:cNvSpPr txBox="1"/>
          <p:nvPr/>
        </p:nvSpPr>
        <p:spPr>
          <a:xfrm>
            <a:off x="731520" y="1463040"/>
            <a:ext cx="10789920" cy="902208"/>
          </a:xfrm>
          <a:prstGeom prst="rect">
            <a:avLst/>
          </a:prstGeom>
          <a:noFill/>
        </p:spPr>
        <p:txBody>
          <a:bodyPr wrap="square" anchor="t" lIns="45720" rIns="45720">
            <a:spAutoFit/>
          </a:bodyPr>
          <a:lstStyle/>
          <a:p>
            <a:pPr algn="l">
              <a:spcAft>
                <a:spcPts val="800"/>
              </a:spcAft>
            </a:pPr>
            <a:r>
              <a:rPr sz="2400">
                <a:solidFill>
                  <a:srgbClr val="1E293B"/>
                </a:solidFill>
                <a:latin typeface="Calibri"/>
              </a:rPr>
              <a:t>Thi tốt nghiệp THPT 2021 (đợt 1) có 344 752 thí sinh thi cả Toán, Vật lí, Hoá học. Điểm thi cho trong bảng:</a:t>
            </a:r>
          </a:p>
        </p:txBody>
      </p:sp>
      <p:sp>
        <p:nvSpPr>
          <p:cNvPr id="8" name="Rounded Rectangle 7"/>
          <p:cNvSpPr/>
          <p:nvPr/>
        </p:nvSpPr>
        <p:spPr>
          <a:xfrm>
            <a:off x="731520" y="2502408"/>
            <a:ext cx="9601200" cy="11887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502408"/>
            <a:ext cx="9235440" cy="11887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Biểu diễn tổng điểm thế nào để thấy bức tranh tổng thể về kết quả thi?</a:t>
            </a:r>
          </a:p>
        </p:txBody>
      </p:sp>
      <p:pic>
        <p:nvPicPr>
          <p:cNvPr id="10" name="Picture 9" descr="bang_mo.png"/>
          <p:cNvPicPr>
            <a:picLocks noChangeAspect="1"/>
          </p:cNvPicPr>
          <p:nvPr/>
        </p:nvPicPr>
        <p:blipFill>
          <a:blip r:embed="rId2"/>
          <a:stretch>
            <a:fillRect/>
          </a:stretch>
        </p:blipFill>
        <p:spPr>
          <a:xfrm>
            <a:off x="2388900" y="3828288"/>
            <a:ext cx="7383720" cy="2435352"/>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822960" y="2651760"/>
            <a:ext cx="128016" cy="1371600"/>
          </a:xfrm>
          <a:prstGeom prst="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2468880"/>
            <a:ext cx="10058400" cy="1097280"/>
          </a:xfrm>
          <a:prstGeom prst="rect">
            <a:avLst/>
          </a:prstGeom>
          <a:noFill/>
        </p:spPr>
        <p:txBody>
          <a:bodyPr wrap="square">
            <a:spAutoFit/>
          </a:bodyPr>
          <a:lstStyle/>
          <a:p>
            <a:r>
              <a:rPr sz="4000" b="1">
                <a:solidFill>
                  <a:srgbClr val="1E40AF"/>
                </a:solidFill>
                <a:latin typeface="Arial"/>
              </a:rPr>
              <a:t>1. MẪU SỐ LIỆU GHÉP NHÓM</a:t>
            </a:r>
          </a:p>
        </p:txBody>
      </p:sp>
      <p:sp>
        <p:nvSpPr>
          <p:cNvPr id="4" name="TextBox 3"/>
          <p:cNvSpPr txBox="1"/>
          <p:nvPr/>
        </p:nvSpPr>
        <p:spPr>
          <a:xfrm>
            <a:off x="1188720" y="3474720"/>
            <a:ext cx="10058400" cy="731520"/>
          </a:xfrm>
          <a:prstGeom prst="rect">
            <a:avLst/>
          </a:prstGeom>
          <a:noFill/>
        </p:spPr>
        <p:txBody>
          <a:bodyPr wrap="square" anchor="t" lIns="45720" rIns="45720">
            <a:spAutoFit/>
          </a:bodyPr>
          <a:lstStyle/>
          <a:p>
            <a:pPr algn="l">
              <a:spcAft>
                <a:spcPts val="800"/>
              </a:spcAft>
            </a:pPr>
            <a:r>
              <a:rPr sz="2200">
                <a:solidFill>
                  <a:srgbClr val="64748B"/>
                </a:solidFill>
                <a:latin typeface="Calibri"/>
              </a:rPr>
              <a:t>Tiết 1 (T18)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HĐ1: ĐỌC BẢNG TỔNG ĐIỂM</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8. Mẫu số liệu ghép nhóm          5</a:t>
            </a:r>
          </a:p>
        </p:txBody>
      </p:sp>
      <p:sp>
        <p:nvSpPr>
          <p:cNvPr id="7" name="TextBox 6"/>
          <p:cNvSpPr txBox="1"/>
          <p:nvPr/>
        </p:nvSpPr>
        <p:spPr>
          <a:xfrm>
            <a:off x="731520" y="1463040"/>
            <a:ext cx="10789920" cy="191414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a) Mẫu số liệu tổng điểm (T) có bao nhiêu giá trị?</a:t>
            </a:r>
          </a:p>
          <a:p>
            <a:pPr algn="l" marL="365760" indent="-365760">
              <a:spcAft>
                <a:spcPts val="800"/>
              </a:spcAft>
              <a:buClr>
                <a:srgbClr val="1E40AF"/>
              </a:buClr>
              <a:buFont typeface="Arial"/>
              <a:buChar char="•"/>
            </a:pPr>
            <a:r>
              <a:rPr sz="2400">
                <a:solidFill>
                  <a:srgbClr val="1E293B"/>
                </a:solidFill>
                <a:latin typeface="Calibri"/>
              </a:rPr>
              <a:t>b) Lập bảng tần số cho (T) có dễ hình dung bức tranh tổng thể không? Vì sao?</a:t>
            </a:r>
          </a:p>
          <a:p>
            <a:pPr algn="l" marL="365760" indent="-365760">
              <a:spcAft>
                <a:spcPts val="800"/>
              </a:spcAft>
              <a:buClr>
                <a:srgbClr val="1E40AF"/>
              </a:buClr>
              <a:buFont typeface="Arial"/>
              <a:buChar char="•"/>
            </a:pPr>
            <a:r>
              <a:rPr sz="2400">
                <a:solidFill>
                  <a:srgbClr val="1E293B"/>
                </a:solidFill>
                <a:latin typeface="Calibri"/>
              </a:rPr>
              <a:t>c) Đọc và giải thích bảng thống kê sau:</a:t>
            </a:r>
          </a:p>
        </p:txBody>
      </p:sp>
      <p:pic>
        <p:nvPicPr>
          <p:cNvPr id="8" name="Picture 7" descr="bang_hd1.png"/>
          <p:cNvPicPr>
            <a:picLocks noChangeAspect="1"/>
          </p:cNvPicPr>
          <p:nvPr/>
        </p:nvPicPr>
        <p:blipFill>
          <a:blip r:embed="rId2"/>
          <a:stretch>
            <a:fillRect/>
          </a:stretch>
        </p:blipFill>
        <p:spPr>
          <a:xfrm>
            <a:off x="731520" y="4166649"/>
            <a:ext cx="10698480" cy="1444685"/>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HĐ1: ĐỌC BẢNG TỔNG ĐIỂM</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8. Mẫu số liệu ghép nhóm          6</a:t>
            </a:r>
          </a:p>
        </p:txBody>
      </p:sp>
      <p:sp>
        <p:nvSpPr>
          <p:cNvPr id="7" name="TextBox 6"/>
          <p:cNvSpPr txBox="1"/>
          <p:nvPr/>
        </p:nvSpPr>
        <p:spPr>
          <a:xfrm>
            <a:off x="731520" y="1463040"/>
            <a:ext cx="10789920" cy="178206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a) (T) có 344 752 giá trị</a:t>
            </a:r>
          </a:p>
          <a:p>
            <a:pPr algn="l" marL="365760" indent="-365760">
              <a:spcAft>
                <a:spcPts val="800"/>
              </a:spcAft>
              <a:buClr>
                <a:srgbClr val="1E40AF"/>
              </a:buClr>
              <a:buFont typeface="Arial"/>
              <a:buChar char="•"/>
            </a:pPr>
            <a:r>
              <a:rPr sz="2200">
                <a:solidFill>
                  <a:srgbClr val="1E293B"/>
                </a:solidFill>
                <a:latin typeface="Calibri"/>
              </a:rPr>
              <a:t>b) Không: tổng điểm có rất nhiều giá trị khác nhau, bảng tần số rất dài</a:t>
            </a:r>
          </a:p>
          <a:p>
            <a:pPr algn="l" marL="365760" indent="-365760">
              <a:spcAft>
                <a:spcPts val="800"/>
              </a:spcAft>
              <a:buClr>
                <a:srgbClr val="1E40AF"/>
              </a:buClr>
              <a:buFont typeface="Arial"/>
              <a:buChar char="•"/>
            </a:pPr>
            <a:r>
              <a:rPr sz="2200">
                <a:solidFill>
                  <a:srgbClr val="1E293B"/>
                </a:solidFill>
                <a:latin typeface="Calibri"/>
              </a:rPr>
              <a:t>c) 23 thí sinh dưới 6 điểm; 69 thí sinh từ 6 đến dưới 7; …; 12 thí sinh từ 29 đến 30</a:t>
            </a:r>
          </a:p>
        </p:txBody>
      </p:sp>
      <p:sp>
        <p:nvSpPr>
          <p:cNvPr id="8" name="Rounded Rectangle 7"/>
          <p:cNvSpPr/>
          <p:nvPr/>
        </p:nvSpPr>
        <p:spPr>
          <a:xfrm>
            <a:off x="731520" y="3382264"/>
            <a:ext cx="9601200" cy="6934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382264"/>
            <a:ext cx="9235440" cy="693420"/>
          </a:xfrm>
          <a:prstGeom prst="rect">
            <a:avLst/>
          </a:prstGeom>
          <a:noFill/>
        </p:spPr>
        <p:txBody>
          <a:bodyPr wrap="square" anchor="ctr" lIns="45720" rIns="45720">
            <a:spAutoFit/>
          </a:bodyPr>
          <a:lstStyle/>
          <a:p>
            <a:pPr algn="l">
              <a:spcAft>
                <a:spcPts val="400"/>
              </a:spcAft>
            </a:pPr>
            <a:r>
              <a:rPr sz="2200" b="1">
                <a:solidFill>
                  <a:srgbClr val="991B1B"/>
                </a:solidFill>
                <a:latin typeface="Calibri"/>
              </a:rPr>
              <a:t>Ghép các giá trị thành nhóm giúp nhìn rõ bức tranh tổng thể</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582351" y="457200"/>
            <a:ext cx="1060704"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GHI NHỚ</a:t>
            </a:r>
          </a:p>
        </p:txBody>
      </p:sp>
      <p:sp>
        <p:nvSpPr>
          <p:cNvPr id="4" name="TextBox 3"/>
          <p:cNvSpPr txBox="1"/>
          <p:nvPr/>
        </p:nvSpPr>
        <p:spPr>
          <a:xfrm>
            <a:off x="731520" y="274320"/>
            <a:ext cx="9912096" cy="868680"/>
          </a:xfrm>
          <a:prstGeom prst="rect">
            <a:avLst/>
          </a:prstGeom>
          <a:noFill/>
        </p:spPr>
        <p:txBody>
          <a:bodyPr wrap="square" anchor="ctr">
            <a:spAutoFit/>
          </a:bodyPr>
          <a:lstStyle/>
          <a:p>
            <a:r>
              <a:rPr sz="3600" b="1">
                <a:solidFill>
                  <a:srgbClr val="1E40AF"/>
                </a:solidFill>
                <a:latin typeface="Arial"/>
              </a:rPr>
              <a:t>MẪU SỐ LIỆU GHÉP NHÓM</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8. Mẫu số liệu ghép nhóm          7</a:t>
            </a:r>
          </a:p>
        </p:txBody>
      </p:sp>
      <p:sp>
        <p:nvSpPr>
          <p:cNvPr id="7" name="Rounded Rectangle 6"/>
          <p:cNvSpPr/>
          <p:nvPr/>
        </p:nvSpPr>
        <p:spPr>
          <a:xfrm>
            <a:off x="731520" y="1463040"/>
            <a:ext cx="9601200" cy="25603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8" name="TextBox 7"/>
              <p:cNvSpPr txBox="1"/>
              <p:nvPr/>
            </p:nvSpPr>
            <p:spPr>
              <a:xfrm>
                <a:off x="914400" y="1463040"/>
                <a:ext cx="9235440" cy="25603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Mẫu số liệu ghép nhóm</a:t>
                </a:r>
                <a:r>
                  <a:rPr sz="2400" b="1">
                    <a:solidFill>
                      <a:srgbClr val="991B1B"/>
                    </a:solidFill>
                    <a:latin typeface="Calibri"/>
                  </a:rPr>
                  <a:t> là mẫu số liệu cho dưới dạng bảng tần số của các nhóm số liệu. Mỗi nhóm số liệu là tập hợp gồm các giá trị của số liệu được ghép nhóm theo một tiêu chí xác định. Nhóm số liệu thường được cho dưới dạng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1">
                        <a:solidFill>
                          <a:srgbClr val="991B1B"/>
                        </a:solidFill>
                        <a:latin typeface="Cambria Math" panose="02040503050406030204" pitchFamily="18" charset="0"/>
                      </a:rPr>
                      <m:t>[a;</m:t>
                    </m:r>
                    <m:r>
                      <m:rPr>
                        <m:sty m:val="p"/>
                      </m:rPr>
                      <a:rPr lang="vi-VN" sz="2400" b="1">
                        <a:solidFill>
                          <a:srgbClr val="991B1B"/>
                        </a:solidFill>
                        <a:latin typeface="Cambria Math" panose="02040503050406030204" pitchFamily="18" charset="0"/>
                      </a:rPr>
                      <m:t> </m:t>
                    </m:r>
                    <m:r>
                      <a:rPr lang="vi-VN" sz="2400" b="1">
                        <a:solidFill>
                          <a:srgbClr val="991B1B"/>
                        </a:solidFill>
                        <a:latin typeface="Cambria Math" panose="02040503050406030204" pitchFamily="18" charset="0"/>
                      </a:rPr>
                      <m:t>b)</m:t>
                    </m:r>
                  </m:oMath>
                </a14:m>
                <a:r>
                  <a:rPr sz="2400" b="1">
                    <a:solidFill>
                      <a:srgbClr val="991B1B"/>
                    </a:solidFill>
                    <a:latin typeface="Calibri"/>
                  </a:rPr>
                  <a:t>, trong đó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1">
                        <a:solidFill>
                          <a:srgbClr val="991B1B"/>
                        </a:solidFill>
                        <a:latin typeface="Cambria Math" panose="02040503050406030204" pitchFamily="18" charset="0"/>
                      </a:rPr>
                      <m:t>a</m:t>
                    </m:r>
                  </m:oMath>
                </a14:m>
                <a:r>
                  <a:rPr sz="2400" b="1">
                    <a:solidFill>
                      <a:srgbClr val="991B1B"/>
                    </a:solidFill>
                    <a:latin typeface="Calibri"/>
                  </a:rPr>
                  <a:t> là đầu mút trái,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1">
                        <a:solidFill>
                          <a:srgbClr val="991B1B"/>
                        </a:solidFill>
                        <a:latin typeface="Cambria Math" panose="02040503050406030204" pitchFamily="18" charset="0"/>
                      </a:rPr>
                      <m:t>b</m:t>
                    </m:r>
                  </m:oMath>
                </a14:m>
                <a:r>
                  <a:rPr sz="2400" b="1">
                    <a:solidFill>
                      <a:srgbClr val="991B1B"/>
                    </a:solidFill>
                    <a:latin typeface="Calibri"/>
                  </a:rPr>
                  <a:t> là đầu mút phải.</a:t>
                </a:r>
              </a:p>
            </p:txBody>
          </p:sp>
        </mc:Choice>
        <mc:Fallback>
          <p:sp>
            <p:nvSpPr>
              <p:cNvPr id="8" name="TextBox 7"/>
              <p:cNvSpPr txBox="1"/>
              <p:nvPr/>
            </p:nvSpPr>
            <p:spPr>
              <a:xfrm>
                <a:off x="914400" y="1463040"/>
                <a:ext cx="9235440" cy="25603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Mẫu số liệu ghép nhóm</a:t>
                </a:r>
                <a:r>
                  <a:rPr sz="2400" b="1">
                    <a:solidFill>
                      <a:srgbClr val="991B1B"/>
                    </a:solidFill>
                    <a:latin typeface="Calibri"/>
                  </a:rPr>
                  <a:t> là mẫu số liệu cho dưới dạng bảng tần số của các nhóm số liệu. Mỗi nhóm số liệu là tập hợp gồm các giá trị của số liệu được ghép nhóm theo một tiêu chí xác định. Nhóm số liệu thường được cho dưới dạng </a:t>
                </a:r>
                <a:r>
                  <a:rPr lang="vi-VN"/>
                  <a:t>[a; b)</a:t>
                </a:r>
                <a:r>
                  <a:rPr sz="2400" b="1">
                    <a:solidFill>
                      <a:srgbClr val="991B1B"/>
                    </a:solidFill>
                    <a:latin typeface="Calibri"/>
                  </a:rPr>
                  <a:t>, trong đó </a:t>
                </a:r>
                <a:r>
                  <a:rPr lang="vi-VN"/>
                  <a:t>a</a:t>
                </a:r>
                <a:r>
                  <a:rPr sz="2400" b="1">
                    <a:solidFill>
                      <a:srgbClr val="991B1B"/>
                    </a:solidFill>
                    <a:latin typeface="Calibri"/>
                  </a:rPr>
                  <a:t> là đầu mút trái, </a:t>
                </a:r>
                <a:r>
                  <a:rPr lang="vi-VN"/>
                  <a:t>b</a:t>
                </a:r>
                <a:r>
                  <a:rPr sz="2400" b="1">
                    <a:solidFill>
                      <a:srgbClr val="991B1B"/>
                    </a:solidFill>
                    <a:latin typeface="Calibri"/>
                  </a:rPr>
                  <a:t> là đầu mút phải.</a:t>
                </a:r>
              </a:p>
            </p:txBody>
          </p:sp>
        </mc:Fallback>
      </mc:AlternateContent>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972800" cy="868680"/>
          </a:xfrm>
          <a:prstGeom prst="rect">
            <a:avLst/>
          </a:prstGeom>
          <a:noFill/>
        </p:spPr>
        <p:txBody>
          <a:bodyPr wrap="square" anchor="ctr">
            <a:spAutoFit/>
          </a:bodyPr>
          <a:lstStyle/>
          <a:p>
            <a:r>
              <a:rPr sz="3600" b="1">
                <a:solidFill>
                  <a:srgbClr val="1E40AF"/>
                </a:solidFill>
                <a:latin typeface="Arial"/>
              </a:rPr>
              <a:t>NHẬN XÉT</a:t>
            </a:r>
          </a:p>
        </p:txBody>
      </p:sp>
      <p:sp>
        <p:nvSpPr>
          <p:cNvPr id="4" name="Rectangle 3"/>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8. Mẫu số liệu ghép nhóm          8</a:t>
            </a:r>
          </a:p>
        </p:txBody>
      </p:sp>
      <mc:AlternateContent xmlns:mc="http://schemas.openxmlformats.org/markup-compatibility/2006">
        <mc:Choice xmlns:a14="http://schemas.microsoft.com/office/drawing/2010/main" Requires="a14">
          <p:sp>
            <p:nvSpPr>
              <p:cNvPr id="6" name="TextBox 5"/>
              <p:cNvSpPr txBox="1"/>
              <p:nvPr/>
            </p:nvSpPr>
            <p:spPr>
              <a:xfrm>
                <a:off x="731520" y="1463040"/>
                <a:ext cx="10789920" cy="1804416"/>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Dùng khi </a:t>
                </a:r>
                <a:r>
                  <a:rPr sz="2400" b="1">
                    <a:solidFill>
                      <a:srgbClr val="1E293B"/>
                    </a:solidFill>
                    <a:latin typeface="Calibri"/>
                  </a:rPr>
                  <a:t>không thu thập được số liệu chính xác</a:t>
                </a:r>
                <a:r>
                  <a:rPr sz="2400">
                    <a:solidFill>
                      <a:srgbClr val="1E293B"/>
                    </a:solidFill>
                    <a:latin typeface="Calibri"/>
                  </a:rPr>
                  <a:t> hoặc cần ghép nhóm để thuận lợi cho tổ chức, đọc, phân tích số liệu</a:t>
                </a:r>
              </a:p>
              <a:p>
                <a:pPr algn="l" marL="365760" indent="-365760">
                  <a:spcAft>
                    <a:spcPts val="800"/>
                  </a:spcAft>
                  <a:buClr>
                    <a:srgbClr val="1E40AF"/>
                  </a:buClr>
                  <a:buFont typeface="Arial"/>
                  <a:buChar char="•"/>
                </a:pPr>
                <a:r>
                  <a:rPr sz="2400">
                    <a:solidFill>
                      <a:srgbClr val="1E293B"/>
                    </a:solidFill>
                    <a:latin typeface="Calibri"/>
                  </a:rPr>
                  <a:t>Trong một số trường hợp, </a:t>
                </a:r>
                <a:r>
                  <a:rPr sz="2400" b="1">
                    <a:solidFill>
                      <a:srgbClr val="1E293B"/>
                    </a:solidFill>
                    <a:latin typeface="Calibri"/>
                  </a:rPr>
                  <a:t>nhóm cuối cùng có thể lấy đầu mút bên phải</a:t>
                </a:r>
                <a:r>
                  <a:rPr sz="2400">
                    <a:solidFill>
                      <a:srgbClr val="1E293B"/>
                    </a:solidFill>
                    <a:latin typeface="Calibri"/>
                  </a:rPr>
                  <a:t>, ví dụ </a:t>
                </a:r>
                <a14:m>
                  <m:oMath xmlns:m="http://schemas.openxmlformats.org/officeDocument/2006/math">
                    <m:d>
                      <m:dPr>
                        <m:begChr m:val="["/>
                        <m:sepChr m:val=""/>
                        <m:endChr m:val="]"/>
                      </m:dPr>
                      <m:e>
                        <m:r>
                          <a:rPr lang="vi-VN" sz="2400" b="0">
                            <a:solidFill>
                              <a:srgbClr val="1E293B"/>
                            </a:solidFill>
                            <a:latin typeface="Cambria Math" panose="02040503050406030204" pitchFamily="18" charset="0"/>
                          </a:rPr>
                          <m:t>29</m:t>
                        </m:r>
                        <m:r>
                          <a:rPr lang="vi-VN" sz="2400" b="0">
                            <a:solidFill>
                              <a:srgbClr val="1E293B"/>
                            </a:solidFill>
                            <a:latin typeface="Cambria Math" panose="02040503050406030204" pitchFamily="18" charset="0"/>
                          </a:rPr>
                          <m:t>;</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30</m:t>
                        </m:r>
                      </m:e>
                    </m:d>
                  </m:oMath>
                </a14:m>
              </a:p>
            </p:txBody>
          </p:sp>
        </mc:Choice>
        <mc:Fallback>
          <p:sp>
            <p:nvSpPr>
              <p:cNvPr id="6" name="TextBox 5"/>
              <p:cNvSpPr txBox="1"/>
              <p:nvPr/>
            </p:nvSpPr>
            <p:spPr>
              <a:xfrm>
                <a:off x="731520" y="1463040"/>
                <a:ext cx="10789920" cy="1804416"/>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Dùng khi </a:t>
                </a:r>
                <a:r>
                  <a:rPr sz="2400" b="1">
                    <a:solidFill>
                      <a:srgbClr val="1E293B"/>
                    </a:solidFill>
                    <a:latin typeface="Calibri"/>
                  </a:rPr>
                  <a:t>không thu thập được số liệu chính xác</a:t>
                </a:r>
                <a:r>
                  <a:rPr sz="2400">
                    <a:solidFill>
                      <a:srgbClr val="1E293B"/>
                    </a:solidFill>
                    <a:latin typeface="Calibri"/>
                  </a:rPr>
                  <a:t> hoặc cần ghép nhóm để thuận lợi cho tổ chức, đọc, phân tích số liệu</a:t>
                </a:r>
              </a:p>
              <a:p>
                <a:pPr algn="l" marL="365760" indent="-365760">
                  <a:spcAft>
                    <a:spcPts val="800"/>
                  </a:spcAft>
                  <a:buClr>
                    <a:srgbClr val="1E40AF"/>
                  </a:buClr>
                  <a:buFont typeface="Arial"/>
                  <a:buChar char="•"/>
                </a:pPr>
                <a:r>
                  <a:rPr sz="2400">
                    <a:solidFill>
                      <a:srgbClr val="1E293B"/>
                    </a:solidFill>
                    <a:latin typeface="Calibri"/>
                  </a:rPr>
                  <a:t>Trong một số trường hợp, </a:t>
                </a:r>
                <a:r>
                  <a:rPr sz="2400" b="1">
                    <a:solidFill>
                      <a:srgbClr val="1E293B"/>
                    </a:solidFill>
                    <a:latin typeface="Calibri"/>
                  </a:rPr>
                  <a:t>nhóm cuối cùng có thể lấy đầu mút bên phải</a:t>
                </a:r>
                <a:r>
                  <a:rPr sz="2400">
                    <a:solidFill>
                      <a:srgbClr val="1E293B"/>
                    </a:solidFill>
                    <a:latin typeface="Calibri"/>
                  </a:rPr>
                  <a:t>, ví dụ </a:t>
                </a:r>
                <a:r>
                  <a:rPr lang="vi-VN"/>
                  <a:t>[29;\,30]</a:t>
                </a:r>
              </a:p>
            </p:txBody>
          </p:sp>
        </mc:Fallback>
      </mc:AlternateContent>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VÍ DỤ 1: DÂN SỐ VIỆT NAM 2019</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8. Mẫu số liệu ghép nhóm          9</a:t>
            </a:r>
          </a:p>
        </p:txBody>
      </p:sp>
      <p:sp>
        <p:nvSpPr>
          <p:cNvPr id="7" name="TextBox 6"/>
          <p:cNvSpPr txBox="1"/>
          <p:nvPr/>
        </p:nvSpPr>
        <p:spPr>
          <a:xfrm>
            <a:off x="731520" y="1463040"/>
            <a:ext cx="10789920" cy="1418844"/>
          </a:xfrm>
          <a:prstGeom prst="rect">
            <a:avLst/>
          </a:prstGeom>
          <a:noFill/>
        </p:spPr>
        <p:txBody>
          <a:bodyPr wrap="square" anchor="t" lIns="45720" rIns="45720">
            <a:spAutoFit/>
          </a:bodyPr>
          <a:lstStyle/>
          <a:p>
            <a:pPr algn="l">
              <a:spcAft>
                <a:spcPts val="800"/>
              </a:spcAft>
            </a:pPr>
            <a:r>
              <a:rPr sz="2200">
                <a:solidFill>
                  <a:srgbClr val="1E293B"/>
                </a:solidFill>
                <a:latin typeface="Calibri"/>
              </a:rPr>
              <a:t>Mẫu số liệu sau cho biết phân bố theo độ tuổi của dân số Việt Nam năm 2019.</a:t>
            </a:r>
          </a:p>
          <a:p>
            <a:pPr algn="l" marL="365760" indent="-365760">
              <a:spcAft>
                <a:spcPts val="800"/>
              </a:spcAft>
              <a:buClr>
                <a:srgbClr val="1E40AF"/>
              </a:buClr>
              <a:buFont typeface="Arial"/>
              <a:buChar char="•"/>
            </a:pPr>
            <a:r>
              <a:rPr sz="2200">
                <a:solidFill>
                  <a:srgbClr val="1E293B"/>
                </a:solidFill>
                <a:latin typeface="Calibri"/>
              </a:rPr>
              <a:t>a) Mẫu số liệu đã cho có là mẫu số liệu ghép nhóm hay không?</a:t>
            </a:r>
          </a:p>
          <a:p>
            <a:pPr algn="l" marL="365760" indent="-365760">
              <a:spcAft>
                <a:spcPts val="800"/>
              </a:spcAft>
              <a:buClr>
                <a:srgbClr val="1E40AF"/>
              </a:buClr>
              <a:buFont typeface="Arial"/>
              <a:buChar char="•"/>
            </a:pPr>
            <a:r>
              <a:rPr sz="2200">
                <a:solidFill>
                  <a:srgbClr val="1E293B"/>
                </a:solidFill>
                <a:latin typeface="Calibri"/>
              </a:rPr>
              <a:t>b) Nêu các nhóm và tần số tương ứng. Dân số Việt Nam năm 2019 là bao nhiêu?</a:t>
            </a:r>
          </a:p>
        </p:txBody>
      </p:sp>
      <p:pic>
        <p:nvPicPr>
          <p:cNvPr id="8" name="Picture 7" descr="bang_vd1.png"/>
          <p:cNvPicPr>
            <a:picLocks noChangeAspect="1"/>
          </p:cNvPicPr>
          <p:nvPr/>
        </p:nvPicPr>
        <p:blipFill>
          <a:blip r:embed="rId2"/>
          <a:stretch>
            <a:fillRect/>
          </a:stretch>
        </p:blipFill>
        <p:spPr>
          <a:xfrm>
            <a:off x="731520" y="3983357"/>
            <a:ext cx="10698480" cy="1315969"/>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VÍ DỤ 1: DÂN SỐ VIỆT NAM 2019</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8. Mẫu số liệu ghép nhóm          10</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91414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a) Đây là mẫu số liệu ghép nhóm</a:t>
                </a:r>
              </a:p>
              <a:p>
                <a:pPr algn="l" marL="365760" indent="-365760">
                  <a:spcAft>
                    <a:spcPts val="800"/>
                  </a:spcAft>
                  <a:buClr>
                    <a:srgbClr val="1E40AF"/>
                  </a:buClr>
                  <a:buFont typeface="Arial"/>
                  <a:buChar char="•"/>
                </a:pPr>
                <a:r>
                  <a:rPr sz="2400">
                    <a:solidFill>
                      <a:srgbClr val="1E293B"/>
                    </a:solidFill>
                    <a:latin typeface="Calibri"/>
                  </a:rPr>
                  <a:t>b) Ba nhóm: Dưới 15 tuổi (23 371 882 người); Từ 15 đến dưới 65 tuổi (65 420 451 người); Từ 65 tuổi trở lên (7 416 651 người)</a:t>
                </a:r>
              </a:p>
              <a:p>
                <a:pPr algn="l" marL="365760" indent="-365760">
                  <a:spcAft>
                    <a:spcPts val="800"/>
                  </a:spcAft>
                  <a:buClr>
                    <a:srgbClr val="1E40AF"/>
                  </a:buClr>
                  <a:buFont typeface="Arial"/>
                  <a:buChar char="•"/>
                </a:pPr>
                <a14:m>
                  <m:oMath xmlns:m="http://schemas.openxmlformats.org/officeDocument/2006/math">
                    <m:r>
                      <a:rPr lang="vi-VN" sz="2400" b="0">
                        <a:solidFill>
                          <a:srgbClr val="1E293B"/>
                        </a:solidFill>
                        <a:latin typeface="Cambria Math" panose="02040503050406030204" pitchFamily="18" charset="0"/>
                      </a:rPr>
                      <m:t>23</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371</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882+65</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420</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451+7</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416</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651=96</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208</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984</m:t>
                    </m:r>
                  </m:oMath>
                </a14:m>
              </a:p>
            </p:txBody>
          </p:sp>
        </mc:Choice>
        <mc:Fallback>
          <p:sp>
            <p:nvSpPr>
              <p:cNvPr id="7" name="TextBox 6"/>
              <p:cNvSpPr txBox="1"/>
              <p:nvPr/>
            </p:nvSpPr>
            <p:spPr>
              <a:xfrm>
                <a:off x="731520" y="1463040"/>
                <a:ext cx="10789920" cy="191414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a) Đây là mẫu số liệu ghép nhóm</a:t>
                </a:r>
              </a:p>
              <a:p>
                <a:pPr algn="l" marL="365760" indent="-365760">
                  <a:spcAft>
                    <a:spcPts val="800"/>
                  </a:spcAft>
                  <a:buClr>
                    <a:srgbClr val="1E40AF"/>
                  </a:buClr>
                  <a:buFont typeface="Arial"/>
                  <a:buChar char="•"/>
                </a:pPr>
                <a:r>
                  <a:rPr sz="2400">
                    <a:solidFill>
                      <a:srgbClr val="1E293B"/>
                    </a:solidFill>
                    <a:latin typeface="Calibri"/>
                  </a:rPr>
                  <a:t>b) Ba nhóm: Dưới 15 tuổi (23 371 882 người); Từ 15 đến dưới 65 tuổi (65 420 451 người); Từ 65 tuổi trở lên (7 416 651 người)</a:t>
                </a:r>
              </a:p>
              <a:p>
                <a:pPr algn="l" marL="365760" indent="-365760">
                  <a:spcAft>
                    <a:spcPts val="800"/>
                  </a:spcAft>
                  <a:buClr>
                    <a:srgbClr val="1E40AF"/>
                  </a:buClr>
                  <a:buFont typeface="Arial"/>
                  <a:buChar char="•"/>
                </a:pPr>
                <a:r>
                  <a:rPr lang="vi-VN"/>
                  <a:t>23\,371\,882+65\,420\,451+7\,416\,651=96\,208\,984</a:t>
                </a:r>
              </a:p>
            </p:txBody>
          </p:sp>
        </mc:Fallback>
      </mc:AlternateContent>
      <p:sp>
        <p:nvSpPr>
          <p:cNvPr id="8" name="Rounded Rectangle 7"/>
          <p:cNvSpPr/>
          <p:nvPr/>
        </p:nvSpPr>
        <p:spPr>
          <a:xfrm>
            <a:off x="731520" y="3514343"/>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514343"/>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Dân số Việt Nam năm 2019 là 96 208 984 người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LUYỆN TẬP 1: THỜI GIAN ĐI LÀM</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8. Mẫu số liệu ghép nhóm          11</a:t>
            </a:r>
          </a:p>
        </p:txBody>
      </p:sp>
      <p:sp>
        <p:nvSpPr>
          <p:cNvPr id="7" name="TextBox 6"/>
          <p:cNvSpPr txBox="1"/>
          <p:nvPr/>
        </p:nvSpPr>
        <p:spPr>
          <a:xfrm>
            <a:off x="731520" y="1463040"/>
            <a:ext cx="10789920" cy="1408176"/>
          </a:xfrm>
          <a:prstGeom prst="rect">
            <a:avLst/>
          </a:prstGeom>
          <a:noFill/>
        </p:spPr>
        <p:txBody>
          <a:bodyPr wrap="square" anchor="t" lIns="45720" rIns="45720">
            <a:spAutoFit/>
          </a:bodyPr>
          <a:lstStyle/>
          <a:p>
            <a:pPr algn="l">
              <a:spcAft>
                <a:spcPts val="800"/>
              </a:spcAft>
            </a:pPr>
            <a:r>
              <a:rPr sz="2400">
                <a:solidFill>
                  <a:srgbClr val="1E293B"/>
                </a:solidFill>
                <a:latin typeface="Calibri"/>
              </a:rPr>
              <a:t>Mẫu số liệu ghép nhóm về thời gian (phút) đi từ nhà đến nơi làm việc của nhân viên một công ty. Đọc và giải thích mẫu số liệu này.</a:t>
            </a:r>
          </a:p>
          <a:p>
            <a:pPr algn="l">
              <a:spcAft>
                <a:spcPts val="800"/>
              </a:spcAft>
            </a:pPr>
            <a:r>
              <a:rPr sz="2400" b="1">
                <a:solidFill>
                  <a:srgbClr val="1E40AF"/>
                </a:solidFill>
                <a:latin typeface="Calibri"/>
              </a:rPr>
              <a:t>Gợi mở: Có bao nhiêu nhóm? Mỗi nhóm dài bao nhiêu phút?</a:t>
            </a:r>
          </a:p>
        </p:txBody>
      </p:sp>
      <p:pic>
        <p:nvPicPr>
          <p:cNvPr id="8" name="Picture 7" descr="bang_lt1.png"/>
          <p:cNvPicPr>
            <a:picLocks noChangeAspect="1"/>
          </p:cNvPicPr>
          <p:nvPr/>
        </p:nvPicPr>
        <p:blipFill>
          <a:blip r:embed="rId2"/>
          <a:stretch>
            <a:fillRect/>
          </a:stretch>
        </p:blipFill>
        <p:spPr>
          <a:xfrm>
            <a:off x="731520" y="4126950"/>
            <a:ext cx="10698480" cy="1018116"/>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LUYỆN TẬP 1: THỜI GIAN ĐI LÀM</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8. Mẫu số liệu ghép nhóm          12</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91414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7 nhóm, mỗi nhóm dài 5 phút</a:t>
                </a:r>
              </a:p>
              <a:p>
                <a:pPr algn="l" marL="365760" indent="-365760">
                  <a:spcAft>
                    <a:spcPts val="800"/>
                  </a:spcAft>
                  <a:buClr>
                    <a:srgbClr val="1E40AF"/>
                  </a:buClr>
                  <a:buFont typeface="Arial"/>
                  <a:buChar char="•"/>
                </a:pPr>
                <a:r>
                  <a:rPr sz="2400">
                    <a:solidFill>
                      <a:srgbClr val="1E293B"/>
                    </a:solidFill>
                    <a:latin typeface="Calibri"/>
                  </a:rPr>
                  <a:t>Ví dụ: 6 nhân viên đi mất từ 15 đến dưới 20 phút; …; 9 nhân viên đi mất từ 45 đến dưới 50 phút</a:t>
                </a:r>
              </a:p>
              <a:p>
                <a:pPr algn="l" marL="365760" indent="-365760">
                  <a:spcAft>
                    <a:spcPts val="800"/>
                  </a:spcAft>
                  <a:buClr>
                    <a:srgbClr val="1E40AF"/>
                  </a:buClr>
                  <a:buFont typeface="Arial"/>
                  <a:buChar char="•"/>
                </a:pPr>
                <a:r>
                  <a:rPr sz="2400">
                    <a:solidFill>
                      <a:srgbClr val="1E293B"/>
                    </a:solidFill>
                    <a:latin typeface="Calibri"/>
                  </a:rPr>
                  <a:t>Cỡ mẫu </a:t>
                </a:r>
                <a14:m>
                  <m:oMath xmlns:m="http://schemas.openxmlformats.org/officeDocument/2006/math">
                    <m:r>
                      <a:rPr lang="vi-VN" sz="2400" b="0">
                        <a:solidFill>
                          <a:srgbClr val="1E293B"/>
                        </a:solidFill>
                        <a:latin typeface="Cambria Math" panose="02040503050406030204" pitchFamily="18" charset="0"/>
                      </a:rPr>
                      <m:t>6+14+25+37+21+13+9=125</m:t>
                    </m:r>
                  </m:oMath>
                </a14:m>
              </a:p>
            </p:txBody>
          </p:sp>
        </mc:Choice>
        <mc:Fallback>
          <p:sp>
            <p:nvSpPr>
              <p:cNvPr id="7" name="TextBox 6"/>
              <p:cNvSpPr txBox="1"/>
              <p:nvPr/>
            </p:nvSpPr>
            <p:spPr>
              <a:xfrm>
                <a:off x="731520" y="1463040"/>
                <a:ext cx="10789920" cy="191414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7 nhóm, mỗi nhóm dài 5 phút</a:t>
                </a:r>
              </a:p>
              <a:p>
                <a:pPr algn="l" marL="365760" indent="-365760">
                  <a:spcAft>
                    <a:spcPts val="800"/>
                  </a:spcAft>
                  <a:buClr>
                    <a:srgbClr val="1E40AF"/>
                  </a:buClr>
                  <a:buFont typeface="Arial"/>
                  <a:buChar char="•"/>
                </a:pPr>
                <a:r>
                  <a:rPr sz="2400">
                    <a:solidFill>
                      <a:srgbClr val="1E293B"/>
                    </a:solidFill>
                    <a:latin typeface="Calibri"/>
                  </a:rPr>
                  <a:t>Ví dụ: 6 nhân viên đi mất từ 15 đến dưới 20 phút; …; 9 nhân viên đi mất từ 45 đến dưới 50 phút</a:t>
                </a:r>
              </a:p>
              <a:p>
                <a:pPr algn="l" marL="365760" indent="-365760">
                  <a:spcAft>
                    <a:spcPts val="800"/>
                  </a:spcAft>
                  <a:buClr>
                    <a:srgbClr val="1E40AF"/>
                  </a:buClr>
                  <a:buFont typeface="Arial"/>
                  <a:buChar char="•"/>
                </a:pPr>
                <a:r>
                  <a:rPr sz="2400">
                    <a:solidFill>
                      <a:srgbClr val="1E293B"/>
                    </a:solidFill>
                    <a:latin typeface="Calibri"/>
                  </a:rPr>
                  <a:t>Cỡ mẫu </a:t>
                </a:r>
                <a:r>
                  <a:rPr lang="vi-VN"/>
                  <a:t>6+14+25+37+21+13+9=125</a:t>
                </a:r>
              </a:p>
            </p:txBody>
          </p:sp>
        </mc:Fallback>
      </mc:AlternateContent>
      <p:sp>
        <p:nvSpPr>
          <p:cNvPr id="8" name="Rounded Rectangle 7"/>
          <p:cNvSpPr/>
          <p:nvPr/>
        </p:nvSpPr>
        <p:spPr>
          <a:xfrm>
            <a:off x="731520" y="3514343"/>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914400" y="3514343"/>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Nhóm </a:t>
                </a:r>
                <a14:m>
                  <m:oMath xmlns:m="http://schemas.openxmlformats.org/officeDocument/2006/math">
                    <m:r>
                      <a:rPr lang="vi-VN" sz="2400" b="1">
                        <a:solidFill>
                          <a:srgbClr val="991B1B"/>
                        </a:solidFill>
                        <a:latin typeface="Cambria Math" panose="02040503050406030204" pitchFamily="18" charset="0"/>
                      </a:rPr>
                      <m:t>[30;</m:t>
                    </m:r>
                    <m:r>
                      <m:rPr>
                        <m:sty m:val="p"/>
                      </m:rPr>
                      <a:rPr lang="vi-VN" sz="2400" b="1">
                        <a:solidFill>
                          <a:srgbClr val="991B1B"/>
                        </a:solidFill>
                        <a:latin typeface="Cambria Math" panose="02040503050406030204" pitchFamily="18" charset="0"/>
                      </a:rPr>
                      <m:t> </m:t>
                    </m:r>
                    <m:r>
                      <a:rPr lang="vi-VN" sz="2400" b="1">
                        <a:solidFill>
                          <a:srgbClr val="991B1B"/>
                        </a:solidFill>
                        <a:latin typeface="Cambria Math" panose="02040503050406030204" pitchFamily="18" charset="0"/>
                      </a:rPr>
                      <m:t>35)</m:t>
                    </m:r>
                  </m:oMath>
                </a14:m>
                <a:r>
                  <a:rPr sz="2400" b="1">
                    <a:solidFill>
                      <a:srgbClr val="991B1B"/>
                    </a:solidFill>
                    <a:latin typeface="Calibri"/>
                  </a:rPr>
                  <a:t> có nhiều nhân viên nhất (37 người)</a:t>
                </a:r>
              </a:p>
            </p:txBody>
          </p:sp>
        </mc:Choice>
        <mc:Fallback>
          <p:sp>
            <p:nvSpPr>
              <p:cNvPr id="9" name="TextBox 8"/>
              <p:cNvSpPr txBox="1"/>
              <p:nvPr/>
            </p:nvSpPr>
            <p:spPr>
              <a:xfrm>
                <a:off x="914400" y="3514343"/>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Nhóm </a:t>
                </a:r>
                <a:r>
                  <a:rPr lang="vi-VN"/>
                  <a:t>[30;\,35)</a:t>
                </a:r>
                <a:r>
                  <a:rPr sz="2400" b="1">
                    <a:solidFill>
                      <a:srgbClr val="991B1B"/>
                    </a:solidFill>
                    <a:latin typeface="Calibri"/>
                  </a:rPr>
                  <a:t> có nhiều nhân viên nhất (37 người)</a:t>
                </a:r>
              </a:p>
            </p:txBody>
          </p:sp>
        </mc:Fallback>
      </mc:AlternateContent>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822960" y="2651760"/>
            <a:ext cx="128016" cy="1371600"/>
          </a:xfrm>
          <a:prstGeom prst="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2468880"/>
            <a:ext cx="10058400" cy="1097280"/>
          </a:xfrm>
          <a:prstGeom prst="rect">
            <a:avLst/>
          </a:prstGeom>
          <a:noFill/>
        </p:spPr>
        <p:txBody>
          <a:bodyPr wrap="square">
            <a:spAutoFit/>
          </a:bodyPr>
          <a:lstStyle/>
          <a:p>
            <a:r>
              <a:rPr sz="4000" b="1">
                <a:solidFill>
                  <a:srgbClr val="1E40AF"/>
                </a:solidFill>
                <a:latin typeface="Arial"/>
              </a:rPr>
              <a:t>2. GHÉP NHÓM MẪU SỐ LIỆU</a:t>
            </a:r>
          </a:p>
        </p:txBody>
      </p:sp>
      <p:sp>
        <p:nvSpPr>
          <p:cNvPr id="4" name="TextBox 3"/>
          <p:cNvSpPr txBox="1"/>
          <p:nvPr/>
        </p:nvSpPr>
        <p:spPr>
          <a:xfrm>
            <a:off x="1188720" y="3474720"/>
            <a:ext cx="10058400" cy="731520"/>
          </a:xfrm>
          <a:prstGeom prst="rect">
            <a:avLst/>
          </a:prstGeom>
          <a:noFill/>
        </p:spPr>
        <p:txBody>
          <a:bodyPr wrap="square" anchor="t" lIns="45720" rIns="45720">
            <a:spAutoFit/>
          </a:bodyPr>
          <a:lstStyle/>
          <a:p>
            <a:pPr algn="l">
              <a:spcAft>
                <a:spcPts val="800"/>
              </a:spcAft>
            </a:pPr>
            <a:r>
              <a:rPr sz="2200">
                <a:solidFill>
                  <a:srgbClr val="64748B"/>
                </a:solidFill>
                <a:latin typeface="Calibri"/>
              </a:rPr>
              <a:t>Tiết 1 (T18)</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HĐ2: CHỈ SỐ BMI</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8. Mẫu số liệu ghép nhóm          14</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816352"/>
              </a:xfrm>
              <a:prstGeom prst="rect">
                <a:avLst/>
              </a:prstGeom>
              <a:noFill/>
            </p:spPr>
            <p:txBody>
              <a:bodyPr wrap="square" anchor="t" lIns="45720" rIns="45720">
                <a:spAutoFit/>
              </a:bodyPr>
              <a:lstStyle/>
              <a:p>
                <a:pPr algn="l">
                  <a:spcAft>
                    <a:spcPts val="800"/>
                  </a:spcAft>
                </a:pPr>
                <a:r>
                  <a:rPr sz="2400">
                    <a:solidFill>
                      <a:srgbClr val="1E293B"/>
                    </a:solidFill>
                    <a:latin typeface="Calibri"/>
                  </a:rPr>
                  <a:t>BMI của các học sinh trong một tổ: </a:t>
                </a:r>
                <a14:m>
                  <m:oMath xmlns:m="http://schemas.openxmlformats.org/officeDocument/2006/math">
                    <m:r>
                      <a:rPr lang="vi-VN" sz="2400" b="0">
                        <a:solidFill>
                          <a:srgbClr val="1E293B"/>
                        </a:solidFill>
                        <a:latin typeface="Cambria Math" panose="02040503050406030204" pitchFamily="18" charset="0"/>
                      </a:rPr>
                      <m:t>19</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2</m:t>
                    </m:r>
                  </m:oMath>
                </a14:m>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21</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1</m:t>
                    </m:r>
                  </m:oMath>
                </a14:m>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16</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8</m:t>
                    </m:r>
                  </m:oMath>
                </a14:m>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23</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5</m:t>
                    </m:r>
                  </m:oMath>
                </a14:m>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20</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6</m:t>
                    </m:r>
                  </m:oMath>
                </a14:m>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25</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2</m:t>
                    </m:r>
                  </m:oMath>
                </a14:m>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18</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7</m:t>
                    </m:r>
                  </m:oMath>
                </a14:m>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19</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1</m:t>
                    </m:r>
                  </m:oMath>
                </a14:m>
                <a:r>
                  <a:rPr sz="2400">
                    <a:solidFill>
                      <a:srgbClr val="1E293B"/>
                    </a:solidFill>
                    <a:latin typeface="Calibri"/>
                  </a:rPr>
                  <a:t>.</a:t>
                </a:r>
              </a:p>
              <a:p>
                <a:pPr algn="l" marL="365760" indent="-365760">
                  <a:spcAft>
                    <a:spcPts val="800"/>
                  </a:spcAft>
                  <a:buClr>
                    <a:srgbClr val="1E40AF"/>
                  </a:buClr>
                  <a:buFont typeface="Arial"/>
                  <a:buChar char="•"/>
                </a:pPr>
                <a:r>
                  <a:rPr sz="2400">
                    <a:solidFill>
                      <a:srgbClr val="1E293B"/>
                    </a:solidFill>
                    <a:latin typeface="Calibri"/>
                  </a:rPr>
                  <a:t>Dưới </a:t>
                </a:r>
                <a14:m>
                  <m:oMath xmlns:m="http://schemas.openxmlformats.org/officeDocument/2006/math">
                    <m:r>
                      <a:rPr lang="vi-VN" sz="2400" b="0">
                        <a:solidFill>
                          <a:srgbClr val="1E293B"/>
                        </a:solidFill>
                        <a:latin typeface="Cambria Math" panose="02040503050406030204" pitchFamily="18" charset="0"/>
                      </a:rPr>
                      <m:t>18</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5</m:t>
                    </m:r>
                  </m:oMath>
                </a14:m>
                <a:r>
                  <a:rPr sz="2400">
                    <a:solidFill>
                      <a:srgbClr val="1E293B"/>
                    </a:solidFill>
                    <a:latin typeface="Calibri"/>
                  </a:rPr>
                  <a:t>: thiếu cân; từ </a:t>
                </a:r>
                <a14:m>
                  <m:oMath xmlns:m="http://schemas.openxmlformats.org/officeDocument/2006/math">
                    <m:r>
                      <a:rPr lang="vi-VN" sz="2400" b="0">
                        <a:solidFill>
                          <a:srgbClr val="1E293B"/>
                        </a:solidFill>
                        <a:latin typeface="Cambria Math" panose="02040503050406030204" pitchFamily="18" charset="0"/>
                      </a:rPr>
                      <m:t>18</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5</m:t>
                    </m:r>
                  </m:oMath>
                </a14:m>
                <a:r>
                  <a:rPr sz="2400">
                    <a:solidFill>
                      <a:srgbClr val="1E293B"/>
                    </a:solidFill>
                    <a:latin typeface="Calibri"/>
                  </a:rPr>
                  <a:t> đến dưới 23: lí tưởng; từ 23 trở lên: thừa cân</a:t>
                </a:r>
              </a:p>
              <a:p>
                <a:pPr algn="l" marL="365760" indent="-365760">
                  <a:spcAft>
                    <a:spcPts val="800"/>
                  </a:spcAft>
                  <a:buClr>
                    <a:srgbClr val="1E40AF"/>
                  </a:buClr>
                  <a:buFont typeface="Arial"/>
                  <a:buChar char="•"/>
                </a:pPr>
                <a:r>
                  <a:rPr sz="2400">
                    <a:solidFill>
                      <a:srgbClr val="1E293B"/>
                    </a:solidFill>
                    <a:latin typeface="Calibri"/>
                  </a:rPr>
                  <a:t>Lập mẫu số liệu ghép nhóm biểu diễn tình trạng cân nặng của tổ</a:t>
                </a:r>
              </a:p>
              <a:p>
                <a:pPr algn="l">
                  <a:spcAft>
                    <a:spcPts val="800"/>
                  </a:spcAft>
                </a:pPr>
                <a:r>
                  <a:rPr sz="2400" b="1">
                    <a:solidFill>
                      <a:srgbClr val="1E40AF"/>
                    </a:solidFill>
                    <a:latin typeface="Calibri"/>
                  </a:rPr>
                  <a:t>Gợi mở: Xếp từng giá trị vào một trong ba nhóm</a:t>
                </a:r>
              </a:p>
            </p:txBody>
          </p:sp>
        </mc:Choice>
        <mc:Fallback>
          <p:sp>
            <p:nvSpPr>
              <p:cNvPr id="7" name="TextBox 6"/>
              <p:cNvSpPr txBox="1"/>
              <p:nvPr/>
            </p:nvSpPr>
            <p:spPr>
              <a:xfrm>
                <a:off x="731520" y="1463040"/>
                <a:ext cx="10789920" cy="2816352"/>
              </a:xfrm>
              <a:prstGeom prst="rect">
                <a:avLst/>
              </a:prstGeom>
              <a:noFill/>
            </p:spPr>
            <p:txBody>
              <a:bodyPr wrap="square" anchor="t" lIns="45720" rIns="45720">
                <a:spAutoFit/>
              </a:bodyPr>
              <a:lstStyle/>
              <a:p>
                <a:pPr algn="l">
                  <a:spcAft>
                    <a:spcPts val="800"/>
                  </a:spcAft>
                </a:pPr>
                <a:r>
                  <a:rPr sz="2400">
                    <a:solidFill>
                      <a:srgbClr val="1E293B"/>
                    </a:solidFill>
                    <a:latin typeface="Calibri"/>
                  </a:rPr>
                  <a:t>BMI của các học sinh trong một tổ: </a:t>
                </a:r>
                <a:r>
                  <a:rPr lang="vi-VN"/>
                  <a:t>19{,}2</a:t>
                </a:r>
                <a:r>
                  <a:rPr sz="2400">
                    <a:solidFill>
                      <a:srgbClr val="1E293B"/>
                    </a:solidFill>
                    <a:latin typeface="Calibri"/>
                  </a:rPr>
                  <a:t>; </a:t>
                </a:r>
                <a:r>
                  <a:rPr lang="vi-VN"/>
                  <a:t>21{,}1</a:t>
                </a:r>
                <a:r>
                  <a:rPr sz="2400">
                    <a:solidFill>
                      <a:srgbClr val="1E293B"/>
                    </a:solidFill>
                    <a:latin typeface="Calibri"/>
                  </a:rPr>
                  <a:t>; </a:t>
                </a:r>
                <a:r>
                  <a:rPr lang="vi-VN"/>
                  <a:t>16{,}8</a:t>
                </a:r>
                <a:r>
                  <a:rPr sz="2400">
                    <a:solidFill>
                      <a:srgbClr val="1E293B"/>
                    </a:solidFill>
                    <a:latin typeface="Calibri"/>
                  </a:rPr>
                  <a:t>; </a:t>
                </a:r>
                <a:r>
                  <a:rPr lang="vi-VN"/>
                  <a:t>23{,}5</a:t>
                </a:r>
                <a:r>
                  <a:rPr sz="2400">
                    <a:solidFill>
                      <a:srgbClr val="1E293B"/>
                    </a:solidFill>
                    <a:latin typeface="Calibri"/>
                  </a:rPr>
                  <a:t>; </a:t>
                </a:r>
                <a:r>
                  <a:rPr lang="vi-VN"/>
                  <a:t>20{,}6</a:t>
                </a:r>
                <a:r>
                  <a:rPr sz="2400">
                    <a:solidFill>
                      <a:srgbClr val="1E293B"/>
                    </a:solidFill>
                    <a:latin typeface="Calibri"/>
                  </a:rPr>
                  <a:t>; </a:t>
                </a:r>
                <a:r>
                  <a:rPr lang="vi-VN"/>
                  <a:t>25{,}2</a:t>
                </a:r>
                <a:r>
                  <a:rPr sz="2400">
                    <a:solidFill>
                      <a:srgbClr val="1E293B"/>
                    </a:solidFill>
                    <a:latin typeface="Calibri"/>
                  </a:rPr>
                  <a:t>; </a:t>
                </a:r>
                <a:r>
                  <a:rPr lang="vi-VN"/>
                  <a:t>18{,}7</a:t>
                </a:r>
                <a:r>
                  <a:rPr sz="2400">
                    <a:solidFill>
                      <a:srgbClr val="1E293B"/>
                    </a:solidFill>
                    <a:latin typeface="Calibri"/>
                  </a:rPr>
                  <a:t>; </a:t>
                </a:r>
                <a:r>
                  <a:rPr lang="vi-VN"/>
                  <a:t>19{,}1</a:t>
                </a:r>
                <a:r>
                  <a:rPr sz="2400">
                    <a:solidFill>
                      <a:srgbClr val="1E293B"/>
                    </a:solidFill>
                    <a:latin typeface="Calibri"/>
                  </a:rPr>
                  <a:t>.</a:t>
                </a:r>
              </a:p>
              <a:p>
                <a:pPr algn="l" marL="365760" indent="-365760">
                  <a:spcAft>
                    <a:spcPts val="800"/>
                  </a:spcAft>
                  <a:buClr>
                    <a:srgbClr val="1E40AF"/>
                  </a:buClr>
                  <a:buFont typeface="Arial"/>
                  <a:buChar char="•"/>
                </a:pPr>
                <a:r>
                  <a:rPr sz="2400">
                    <a:solidFill>
                      <a:srgbClr val="1E293B"/>
                    </a:solidFill>
                    <a:latin typeface="Calibri"/>
                  </a:rPr>
                  <a:t>Dưới </a:t>
                </a:r>
                <a:r>
                  <a:rPr lang="vi-VN"/>
                  <a:t>18{,}5</a:t>
                </a:r>
                <a:r>
                  <a:rPr sz="2400">
                    <a:solidFill>
                      <a:srgbClr val="1E293B"/>
                    </a:solidFill>
                    <a:latin typeface="Calibri"/>
                  </a:rPr>
                  <a:t>: thiếu cân; từ </a:t>
                </a:r>
                <a:r>
                  <a:rPr lang="vi-VN"/>
                  <a:t>18{,}5</a:t>
                </a:r>
                <a:r>
                  <a:rPr sz="2400">
                    <a:solidFill>
                      <a:srgbClr val="1E293B"/>
                    </a:solidFill>
                    <a:latin typeface="Calibri"/>
                  </a:rPr>
                  <a:t> đến dưới 23: lí tưởng; từ 23 trở lên: thừa cân</a:t>
                </a:r>
              </a:p>
              <a:p>
                <a:pPr algn="l" marL="365760" indent="-365760">
                  <a:spcAft>
                    <a:spcPts val="800"/>
                  </a:spcAft>
                  <a:buClr>
                    <a:srgbClr val="1E40AF"/>
                  </a:buClr>
                  <a:buFont typeface="Arial"/>
                  <a:buChar char="•"/>
                </a:pPr>
                <a:r>
                  <a:rPr sz="2400">
                    <a:solidFill>
                      <a:srgbClr val="1E293B"/>
                    </a:solidFill>
                    <a:latin typeface="Calibri"/>
                  </a:rPr>
                  <a:t>Lập mẫu số liệu ghép nhóm biểu diễn tình trạng cân nặng của tổ</a:t>
                </a:r>
              </a:p>
              <a:p>
                <a:pPr algn="l">
                  <a:spcAft>
                    <a:spcPts val="800"/>
                  </a:spcAft>
                </a:pPr>
                <a:r>
                  <a:rPr sz="2400" b="1">
                    <a:solidFill>
                      <a:srgbClr val="1E40AF"/>
                    </a:solidFill>
                    <a:latin typeface="Calibri"/>
                  </a:rPr>
                  <a:t>Gợi mở: Xếp từng giá trị vào một trong ba nhóm</a:t>
                </a:r>
              </a:p>
            </p:txBody>
          </p:sp>
        </mc:Fallback>
      </mc:AlternateContent>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HĐ2: CHỈ SỐ BMI</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8. Mẫu số liệu ghép nhóm          15</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Thiếu cân: </a:t>
                </a:r>
                <a14:m>
                  <m:oMath xmlns:m="http://schemas.openxmlformats.org/officeDocument/2006/math">
                    <m:r>
                      <a:rPr lang="vi-VN" sz="2400" b="0">
                        <a:solidFill>
                          <a:srgbClr val="1E293B"/>
                        </a:solidFill>
                        <a:latin typeface="Cambria Math" panose="02040503050406030204" pitchFamily="18" charset="0"/>
                      </a:rPr>
                      <m:t>16</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8</m:t>
                    </m:r>
                  </m:oMath>
                </a14:m>
                <a:r>
                  <a:rPr sz="2400">
                    <a:solidFill>
                      <a:srgbClr val="1E293B"/>
                    </a:solidFill>
                    <a:latin typeface="Calibri"/>
                  </a:rPr>
                  <a:t> → 1 HS</a:t>
                </a:r>
              </a:p>
              <a:p>
                <a:pPr algn="l" marL="365760" indent="-365760">
                  <a:spcAft>
                    <a:spcPts val="800"/>
                  </a:spcAft>
                  <a:buClr>
                    <a:srgbClr val="1E40AF"/>
                  </a:buClr>
                  <a:buFont typeface="Arial"/>
                  <a:buChar char="•"/>
                </a:pPr>
                <a:r>
                  <a:rPr sz="2400">
                    <a:solidFill>
                      <a:srgbClr val="1E293B"/>
                    </a:solidFill>
                    <a:latin typeface="Calibri"/>
                  </a:rPr>
                  <a:t>Lí tưởng: </a:t>
                </a:r>
                <a14:m>
                  <m:oMath xmlns:m="http://schemas.openxmlformats.org/officeDocument/2006/math">
                    <m:r>
                      <a:rPr lang="vi-VN" sz="2400" b="0">
                        <a:solidFill>
                          <a:srgbClr val="1E293B"/>
                        </a:solidFill>
                        <a:latin typeface="Cambria Math" panose="02040503050406030204" pitchFamily="18" charset="0"/>
                      </a:rPr>
                      <m:t>19</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2</m:t>
                    </m:r>
                  </m:oMath>
                </a14:m>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21</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1</m:t>
                    </m:r>
                  </m:oMath>
                </a14:m>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20</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6</m:t>
                    </m:r>
                  </m:oMath>
                </a14:m>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18</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7</m:t>
                    </m:r>
                  </m:oMath>
                </a14:m>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19</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1</m:t>
                    </m:r>
                  </m:oMath>
                </a14:m>
                <a:r>
                  <a:rPr sz="2400">
                    <a:solidFill>
                      <a:srgbClr val="1E293B"/>
                    </a:solidFill>
                    <a:latin typeface="Calibri"/>
                  </a:rPr>
                  <a:t> → 5 HS</a:t>
                </a:r>
              </a:p>
              <a:p>
                <a:pPr algn="l" marL="365760" indent="-365760">
                  <a:spcAft>
                    <a:spcPts val="800"/>
                  </a:spcAft>
                  <a:buClr>
                    <a:srgbClr val="1E40AF"/>
                  </a:buClr>
                  <a:buFont typeface="Arial"/>
                  <a:buChar char="•"/>
                </a:pPr>
                <a:r>
                  <a:rPr sz="2400">
                    <a:solidFill>
                      <a:srgbClr val="1E293B"/>
                    </a:solidFill>
                    <a:latin typeface="Calibri"/>
                  </a:rPr>
                  <a:t>Thừa cân: </a:t>
                </a:r>
                <a14:m>
                  <m:oMath xmlns:m="http://schemas.openxmlformats.org/officeDocument/2006/math">
                    <m:r>
                      <a:rPr lang="vi-VN" sz="2400" b="0">
                        <a:solidFill>
                          <a:srgbClr val="1E293B"/>
                        </a:solidFill>
                        <a:latin typeface="Cambria Math" panose="02040503050406030204" pitchFamily="18" charset="0"/>
                      </a:rPr>
                      <m:t>23</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5</m:t>
                    </m:r>
                  </m:oMath>
                </a14:m>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25</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2</m:t>
                    </m:r>
                  </m:oMath>
                </a14:m>
                <a:r>
                  <a:rPr sz="2400">
                    <a:solidFill>
                      <a:srgbClr val="1E293B"/>
                    </a:solidFill>
                    <a:latin typeface="Calibri"/>
                  </a:rPr>
                  <a:t> → 2 HS</a:t>
                </a:r>
              </a:p>
            </p:txBody>
          </p:sp>
        </mc:Choice>
        <mc:Fallback>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Thiếu cân: </a:t>
                </a:r>
                <a:r>
                  <a:rPr lang="vi-VN"/>
                  <a:t>16{,}8</a:t>
                </a:r>
                <a:r>
                  <a:rPr sz="2400">
                    <a:solidFill>
                      <a:srgbClr val="1E293B"/>
                    </a:solidFill>
                    <a:latin typeface="Calibri"/>
                  </a:rPr>
                  <a:t> → 1 HS</a:t>
                </a:r>
              </a:p>
              <a:p>
                <a:pPr algn="l" marL="365760" indent="-365760">
                  <a:spcAft>
                    <a:spcPts val="800"/>
                  </a:spcAft>
                  <a:buClr>
                    <a:srgbClr val="1E40AF"/>
                  </a:buClr>
                  <a:buFont typeface="Arial"/>
                  <a:buChar char="•"/>
                </a:pPr>
                <a:r>
                  <a:rPr sz="2400">
                    <a:solidFill>
                      <a:srgbClr val="1E293B"/>
                    </a:solidFill>
                    <a:latin typeface="Calibri"/>
                  </a:rPr>
                  <a:t>Lí tưởng: </a:t>
                </a:r>
                <a:r>
                  <a:rPr lang="vi-VN"/>
                  <a:t>19{,}2</a:t>
                </a:r>
                <a:r>
                  <a:rPr sz="2400">
                    <a:solidFill>
                      <a:srgbClr val="1E293B"/>
                    </a:solidFill>
                    <a:latin typeface="Calibri"/>
                  </a:rPr>
                  <a:t>; </a:t>
                </a:r>
                <a:r>
                  <a:rPr lang="vi-VN"/>
                  <a:t>21{,}1</a:t>
                </a:r>
                <a:r>
                  <a:rPr sz="2400">
                    <a:solidFill>
                      <a:srgbClr val="1E293B"/>
                    </a:solidFill>
                    <a:latin typeface="Calibri"/>
                  </a:rPr>
                  <a:t>; </a:t>
                </a:r>
                <a:r>
                  <a:rPr lang="vi-VN"/>
                  <a:t>20{,}6</a:t>
                </a:r>
                <a:r>
                  <a:rPr sz="2400">
                    <a:solidFill>
                      <a:srgbClr val="1E293B"/>
                    </a:solidFill>
                    <a:latin typeface="Calibri"/>
                  </a:rPr>
                  <a:t>; </a:t>
                </a:r>
                <a:r>
                  <a:rPr lang="vi-VN"/>
                  <a:t>18{,}7</a:t>
                </a:r>
                <a:r>
                  <a:rPr sz="2400">
                    <a:solidFill>
                      <a:srgbClr val="1E293B"/>
                    </a:solidFill>
                    <a:latin typeface="Calibri"/>
                  </a:rPr>
                  <a:t>; </a:t>
                </a:r>
                <a:r>
                  <a:rPr lang="vi-VN"/>
                  <a:t>19{,}1</a:t>
                </a:r>
                <a:r>
                  <a:rPr sz="2400">
                    <a:solidFill>
                      <a:srgbClr val="1E293B"/>
                    </a:solidFill>
                    <a:latin typeface="Calibri"/>
                  </a:rPr>
                  <a:t> → 5 HS</a:t>
                </a:r>
              </a:p>
              <a:p>
                <a:pPr algn="l" marL="365760" indent="-365760">
                  <a:spcAft>
                    <a:spcPts val="800"/>
                  </a:spcAft>
                  <a:buClr>
                    <a:srgbClr val="1E40AF"/>
                  </a:buClr>
                  <a:buFont typeface="Arial"/>
                  <a:buChar char="•"/>
                </a:pPr>
                <a:r>
                  <a:rPr sz="2400">
                    <a:solidFill>
                      <a:srgbClr val="1E293B"/>
                    </a:solidFill>
                    <a:latin typeface="Calibri"/>
                  </a:rPr>
                  <a:t>Thừa cân: </a:t>
                </a:r>
                <a:r>
                  <a:rPr lang="vi-VN"/>
                  <a:t>23{,}5</a:t>
                </a:r>
                <a:r>
                  <a:rPr sz="2400">
                    <a:solidFill>
                      <a:srgbClr val="1E293B"/>
                    </a:solidFill>
                    <a:latin typeface="Calibri"/>
                  </a:rPr>
                  <a:t>; </a:t>
                </a:r>
                <a:r>
                  <a:rPr lang="vi-VN"/>
                  <a:t>25{,}2</a:t>
                </a:r>
                <a:r>
                  <a:rPr sz="2400">
                    <a:solidFill>
                      <a:srgbClr val="1E293B"/>
                    </a:solidFill>
                    <a:latin typeface="Calibri"/>
                  </a:rPr>
                  <a:t> → 2 HS</a:t>
                </a:r>
              </a:p>
            </p:txBody>
          </p:sp>
        </mc:Fallback>
      </mc:AlternateContent>
      <p:sp>
        <p:nvSpPr>
          <p:cNvPr id="8" name="Rounded Rectangle 7"/>
          <p:cNvSpPr/>
          <p:nvPr/>
        </p:nvSpPr>
        <p:spPr>
          <a:xfrm>
            <a:off x="731520" y="3118104"/>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914400" y="3118104"/>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Tổng </a:t>
                </a:r>
                <a14:m>
                  <m:oMath xmlns:m="http://schemas.openxmlformats.org/officeDocument/2006/math">
                    <m:r>
                      <a:rPr lang="vi-VN" sz="2400" b="1">
                        <a:solidFill>
                          <a:srgbClr val="991B1B"/>
                        </a:solidFill>
                        <a:latin typeface="Cambria Math" panose="02040503050406030204" pitchFamily="18" charset="0"/>
                      </a:rPr>
                      <m:t>1+5+2=8</m:t>
                    </m:r>
                  </m:oMath>
                </a14:m>
                <a:r>
                  <a:rPr sz="2400" b="1">
                    <a:solidFill>
                      <a:srgbClr val="991B1B"/>
                    </a:solidFill>
                    <a:latin typeface="Calibri"/>
                  </a:rPr>
                  <a:t> = số học sinh của tổ</a:t>
                </a:r>
              </a:p>
            </p:txBody>
          </p:sp>
        </mc:Choice>
        <mc:Fallback>
          <p:sp>
            <p:nvSpPr>
              <p:cNvPr id="9" name="TextBox 8"/>
              <p:cNvSpPr txBox="1"/>
              <p:nvPr/>
            </p:nvSpPr>
            <p:spPr>
              <a:xfrm>
                <a:off x="914400" y="3118104"/>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Tổng </a:t>
                </a:r>
                <a:r>
                  <a:rPr lang="vi-VN"/>
                  <a:t>1+5+2=8</a:t>
                </a:r>
                <a:r>
                  <a:rPr sz="2400" b="1">
                    <a:solidFill>
                      <a:srgbClr val="991B1B"/>
                    </a:solidFill>
                    <a:latin typeface="Calibri"/>
                  </a:rPr>
                  <a:t> = số học sinh của tổ</a:t>
                </a:r>
              </a:p>
            </p:txBody>
          </p:sp>
        </mc:Fallback>
      </mc:AlternateContent>
      <p:pic>
        <p:nvPicPr>
          <p:cNvPr id="10" name="Picture 9" descr="bang_hd2.png"/>
          <p:cNvPicPr>
            <a:picLocks noChangeAspect="1"/>
          </p:cNvPicPr>
          <p:nvPr/>
        </p:nvPicPr>
        <p:blipFill>
          <a:blip r:embed="rId2"/>
          <a:stretch>
            <a:fillRect/>
          </a:stretch>
        </p:blipFill>
        <p:spPr>
          <a:xfrm>
            <a:off x="731520" y="4272835"/>
            <a:ext cx="10698480" cy="1704753"/>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582351" y="457200"/>
            <a:ext cx="1060704"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GHI NHỚ</a:t>
            </a:r>
          </a:p>
        </p:txBody>
      </p:sp>
      <p:sp>
        <p:nvSpPr>
          <p:cNvPr id="4" name="TextBox 3"/>
          <p:cNvSpPr txBox="1"/>
          <p:nvPr/>
        </p:nvSpPr>
        <p:spPr>
          <a:xfrm>
            <a:off x="731520" y="274320"/>
            <a:ext cx="9912096" cy="868680"/>
          </a:xfrm>
          <a:prstGeom prst="rect">
            <a:avLst/>
          </a:prstGeom>
          <a:noFill/>
        </p:spPr>
        <p:txBody>
          <a:bodyPr wrap="square" anchor="ctr">
            <a:spAutoFit/>
          </a:bodyPr>
          <a:lstStyle/>
          <a:p>
            <a:r>
              <a:rPr sz="3600" b="1">
                <a:solidFill>
                  <a:srgbClr val="1E40AF"/>
                </a:solidFill>
                <a:latin typeface="Arial"/>
              </a:rPr>
              <a:t>CÁCH GHÉP NHÓM</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8. Mẫu số liệu ghép nhóm          16</a:t>
            </a:r>
          </a:p>
        </p:txBody>
      </p:sp>
      <p:sp>
        <p:nvSpPr>
          <p:cNvPr id="7" name="Rounded Rectangle 6"/>
          <p:cNvSpPr/>
          <p:nvPr/>
        </p:nvSpPr>
        <p:spPr>
          <a:xfrm>
            <a:off x="731520" y="1463040"/>
            <a:ext cx="9601200" cy="3017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463040"/>
            <a:ext cx="9235440" cy="3017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Để chuyển mẫu số liệu không ghép nhóm sang mẫu số liệu ghép nhóm, ta làm như sau:</a:t>
            </a:r>
          </a:p>
          <a:p>
            <a:pPr algn="l">
              <a:spcAft>
                <a:spcPts val="400"/>
              </a:spcAft>
            </a:pPr>
            <a:r>
              <a:rPr sz="2400" b="1" i="1">
                <a:solidFill>
                  <a:srgbClr val="991B1B"/>
                </a:solidFill>
                <a:latin typeface="Calibri"/>
              </a:rPr>
              <a:t>Bước 1.</a:t>
            </a:r>
            <a:r>
              <a:rPr sz="2400" b="1">
                <a:solidFill>
                  <a:srgbClr val="991B1B"/>
                </a:solidFill>
                <a:latin typeface="Calibri"/>
              </a:rPr>
              <a:t> Chia miền giá trị của mẫu số liệu thành một số nhóm theo tiêu chí cho trước.</a:t>
            </a:r>
          </a:p>
          <a:p>
            <a:pPr algn="l">
              <a:spcAft>
                <a:spcPts val="400"/>
              </a:spcAft>
            </a:pPr>
            <a:r>
              <a:rPr sz="2400" b="1" i="1">
                <a:solidFill>
                  <a:srgbClr val="991B1B"/>
                </a:solidFill>
                <a:latin typeface="Calibri"/>
              </a:rPr>
              <a:t>Bước 2.</a:t>
            </a:r>
            <a:r>
              <a:rPr sz="2400" b="1">
                <a:solidFill>
                  <a:srgbClr val="991B1B"/>
                </a:solidFill>
                <a:latin typeface="Calibri"/>
              </a:rPr>
              <a:t> Đếm số giá trị của mẫu số liệu thuộc mỗi nhóm (tần số) và lập bảng thống kê cho mẫu số liệu ghép nhóm.</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582351" y="457200"/>
            <a:ext cx="1060704"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GHI NHỚ</a:t>
            </a:r>
          </a:p>
        </p:txBody>
      </p:sp>
      <p:sp>
        <p:nvSpPr>
          <p:cNvPr id="4" name="TextBox 3"/>
          <p:cNvSpPr txBox="1"/>
          <p:nvPr/>
        </p:nvSpPr>
        <p:spPr>
          <a:xfrm>
            <a:off x="731520" y="274320"/>
            <a:ext cx="9912096" cy="868680"/>
          </a:xfrm>
          <a:prstGeom prst="rect">
            <a:avLst/>
          </a:prstGeom>
          <a:noFill/>
        </p:spPr>
        <p:txBody>
          <a:bodyPr wrap="square" anchor="ctr">
            <a:spAutoFit/>
          </a:bodyPr>
          <a:lstStyle/>
          <a:p>
            <a:r>
              <a:rPr sz="3600" b="1">
                <a:solidFill>
                  <a:srgbClr val="1E40AF"/>
                </a:solidFill>
                <a:latin typeface="Arial"/>
              </a:rPr>
              <a:t>LƯU Ý KHI CHỌN NHÓM</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8. Mẫu số liệu ghép nhóm          17</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Độ dài của nhóm </a:t>
                </a:r>
                <a14:m>
                  <m:oMath xmlns:m="http://schemas.openxmlformats.org/officeDocument/2006/math">
                    <m:r>
                      <a:rPr lang="vi-VN" sz="2400" b="0">
                        <a:solidFill>
                          <a:srgbClr val="1E293B"/>
                        </a:solidFill>
                        <a:latin typeface="Cambria Math" panose="02040503050406030204" pitchFamily="18" charset="0"/>
                      </a:rPr>
                      <m:t>[a;</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b)</m:t>
                    </m:r>
                  </m:oMath>
                </a14:m>
                <a:r>
                  <a:rPr sz="2400">
                    <a:solidFill>
                      <a:srgbClr val="1E293B"/>
                    </a:solidFill>
                    <a:latin typeface="Calibri"/>
                  </a:rPr>
                  <a:t> là </a:t>
                </a:r>
                <a14:m>
                  <m:oMath xmlns:m="http://schemas.openxmlformats.org/officeDocument/2006/math">
                    <m:r>
                      <a:rPr lang="vi-VN" sz="2400" b="0">
                        <a:solidFill>
                          <a:srgbClr val="1E293B"/>
                        </a:solidFill>
                        <a:latin typeface="Cambria Math" panose="02040503050406030204" pitchFamily="18" charset="0"/>
                      </a:rPr>
                      <m:t>b−a</m:t>
                    </m:r>
                  </m:oMath>
                </a14:m>
              </a:p>
              <a:p>
                <a:pPr algn="l" marL="365760" indent="-365760">
                  <a:spcAft>
                    <a:spcPts val="800"/>
                  </a:spcAft>
                  <a:buClr>
                    <a:srgbClr val="1E40AF"/>
                  </a:buClr>
                  <a:buFont typeface="Arial"/>
                  <a:buChar char="•"/>
                </a:pPr>
                <a:r>
                  <a:rPr sz="2400">
                    <a:solidFill>
                      <a:srgbClr val="1E293B"/>
                    </a:solidFill>
                    <a:latin typeface="Calibri"/>
                  </a:rPr>
                  <a:t>Không nên chia </a:t>
                </a:r>
                <a:r>
                  <a:rPr sz="2400" b="1">
                    <a:solidFill>
                      <a:srgbClr val="1E293B"/>
                    </a:solidFill>
                    <a:latin typeface="Calibri"/>
                  </a:rPr>
                  <a:t>quá nhiều</a:t>
                </a:r>
                <a:r>
                  <a:rPr sz="2400">
                    <a:solidFill>
                      <a:srgbClr val="1E293B"/>
                    </a:solidFill>
                    <a:latin typeface="Calibri"/>
                  </a:rPr>
                  <a:t> hoặc </a:t>
                </a:r>
                <a:r>
                  <a:rPr sz="2400" b="1">
                    <a:solidFill>
                      <a:srgbClr val="1E293B"/>
                    </a:solidFill>
                    <a:latin typeface="Calibri"/>
                  </a:rPr>
                  <a:t>quá ít</a:t>
                </a:r>
                <a:r>
                  <a:rPr sz="2400">
                    <a:solidFill>
                      <a:srgbClr val="1E293B"/>
                    </a:solidFill>
                    <a:latin typeface="Calibri"/>
                  </a:rPr>
                  <a:t> nhóm</a:t>
                </a:r>
              </a:p>
              <a:p>
                <a:pPr algn="l" marL="365760" indent="-365760">
                  <a:spcAft>
                    <a:spcPts val="800"/>
                  </a:spcAft>
                  <a:buClr>
                    <a:srgbClr val="1E40AF"/>
                  </a:buClr>
                  <a:buFont typeface="Arial"/>
                  <a:buChar char="•"/>
                </a:pPr>
                <a:r>
                  <a:rPr sz="2400">
                    <a:solidFill>
                      <a:srgbClr val="1E293B"/>
                    </a:solidFill>
                    <a:latin typeface="Calibri"/>
                  </a:rPr>
                  <a:t>Các nhóm </a:t>
                </a:r>
                <a:r>
                  <a:rPr sz="2400" b="1">
                    <a:solidFill>
                      <a:srgbClr val="1E293B"/>
                    </a:solidFill>
                    <a:latin typeface="Calibri"/>
                  </a:rPr>
                  <a:t>không giao nhau</a:t>
                </a:r>
                <a:r>
                  <a:rPr sz="2400">
                    <a:solidFill>
                      <a:srgbClr val="1E293B"/>
                    </a:solidFill>
                    <a:latin typeface="Calibri"/>
                  </a:rPr>
                  <a:t>, nên có </a:t>
                </a:r>
                <a:r>
                  <a:rPr sz="2400" b="1">
                    <a:solidFill>
                      <a:srgbClr val="1E293B"/>
                    </a:solidFill>
                    <a:latin typeface="Calibri"/>
                  </a:rPr>
                  <a:t>độ dài như nhau</a:t>
                </a:r>
              </a:p>
            </p:txBody>
          </p:sp>
        </mc:Choice>
        <mc:Fallback>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Độ dài của nhóm </a:t>
                </a:r>
                <a:r>
                  <a:rPr lang="vi-VN"/>
                  <a:t>[a;\,b)</a:t>
                </a:r>
                <a:r>
                  <a:rPr sz="2400">
                    <a:solidFill>
                      <a:srgbClr val="1E293B"/>
                    </a:solidFill>
                    <a:latin typeface="Calibri"/>
                  </a:rPr>
                  <a:t> là </a:t>
                </a:r>
                <a:r>
                  <a:rPr lang="vi-VN"/>
                  <a:t>b-a</a:t>
                </a:r>
              </a:p>
              <a:p>
                <a:pPr algn="l" marL="365760" indent="-365760">
                  <a:spcAft>
                    <a:spcPts val="800"/>
                  </a:spcAft>
                  <a:buClr>
                    <a:srgbClr val="1E40AF"/>
                  </a:buClr>
                  <a:buFont typeface="Arial"/>
                  <a:buChar char="•"/>
                </a:pPr>
                <a:r>
                  <a:rPr sz="2400">
                    <a:solidFill>
                      <a:srgbClr val="1E293B"/>
                    </a:solidFill>
                    <a:latin typeface="Calibri"/>
                  </a:rPr>
                  <a:t>Không nên chia </a:t>
                </a:r>
                <a:r>
                  <a:rPr sz="2400" b="1">
                    <a:solidFill>
                      <a:srgbClr val="1E293B"/>
                    </a:solidFill>
                    <a:latin typeface="Calibri"/>
                  </a:rPr>
                  <a:t>quá nhiều</a:t>
                </a:r>
                <a:r>
                  <a:rPr sz="2400">
                    <a:solidFill>
                      <a:srgbClr val="1E293B"/>
                    </a:solidFill>
                    <a:latin typeface="Calibri"/>
                  </a:rPr>
                  <a:t> hoặc </a:t>
                </a:r>
                <a:r>
                  <a:rPr sz="2400" b="1">
                    <a:solidFill>
                      <a:srgbClr val="1E293B"/>
                    </a:solidFill>
                    <a:latin typeface="Calibri"/>
                  </a:rPr>
                  <a:t>quá ít</a:t>
                </a:r>
                <a:r>
                  <a:rPr sz="2400">
                    <a:solidFill>
                      <a:srgbClr val="1E293B"/>
                    </a:solidFill>
                    <a:latin typeface="Calibri"/>
                  </a:rPr>
                  <a:t> nhóm</a:t>
                </a:r>
              </a:p>
              <a:p>
                <a:pPr algn="l" marL="365760" indent="-365760">
                  <a:spcAft>
                    <a:spcPts val="800"/>
                  </a:spcAft>
                  <a:buClr>
                    <a:srgbClr val="1E40AF"/>
                  </a:buClr>
                  <a:buFont typeface="Arial"/>
                  <a:buChar char="•"/>
                </a:pPr>
                <a:r>
                  <a:rPr sz="2400">
                    <a:solidFill>
                      <a:srgbClr val="1E293B"/>
                    </a:solidFill>
                    <a:latin typeface="Calibri"/>
                  </a:rPr>
                  <a:t>Các nhóm </a:t>
                </a:r>
                <a:r>
                  <a:rPr sz="2400" b="1">
                    <a:solidFill>
                      <a:srgbClr val="1E293B"/>
                    </a:solidFill>
                    <a:latin typeface="Calibri"/>
                  </a:rPr>
                  <a:t>không giao nhau</a:t>
                </a:r>
                <a:r>
                  <a:rPr sz="2400">
                    <a:solidFill>
                      <a:srgbClr val="1E293B"/>
                    </a:solidFill>
                    <a:latin typeface="Calibri"/>
                  </a:rPr>
                  <a:t>, nên có </a:t>
                </a:r>
                <a:r>
                  <a:rPr sz="2400" b="1">
                    <a:solidFill>
                      <a:srgbClr val="1E293B"/>
                    </a:solidFill>
                    <a:latin typeface="Calibri"/>
                  </a:rPr>
                  <a:t>độ dài như nhau</a:t>
                </a:r>
              </a:p>
            </p:txBody>
          </p:sp>
        </mc:Fallback>
      </mc:AlternateContent>
      <p:sp>
        <p:nvSpPr>
          <p:cNvPr id="8" name="Rounded Rectangle 7"/>
          <p:cNvSpPr/>
          <p:nvPr/>
        </p:nvSpPr>
        <p:spPr>
          <a:xfrm>
            <a:off x="731520" y="3118104"/>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118104"/>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Tổng độ dài các nhóm &gt; khoảng biến thiên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VÍ DỤ 2: CHẠY MARATHON</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8. Mẫu số liệu ghép nhóm          18</a:t>
            </a:r>
          </a:p>
        </p:txBody>
      </p:sp>
      <p:sp>
        <p:nvSpPr>
          <p:cNvPr id="7" name="TextBox 6"/>
          <p:cNvSpPr txBox="1"/>
          <p:nvPr/>
        </p:nvSpPr>
        <p:spPr>
          <a:xfrm>
            <a:off x="731520" y="1463040"/>
            <a:ext cx="10789920" cy="1408176"/>
          </a:xfrm>
          <a:prstGeom prst="rect">
            <a:avLst/>
          </a:prstGeom>
          <a:noFill/>
        </p:spPr>
        <p:txBody>
          <a:bodyPr wrap="square" anchor="t" lIns="45720" rIns="45720">
            <a:spAutoFit/>
          </a:bodyPr>
          <a:lstStyle/>
          <a:p>
            <a:pPr algn="l">
              <a:spcAft>
                <a:spcPts val="800"/>
              </a:spcAft>
            </a:pPr>
            <a:r>
              <a:rPr sz="2400">
                <a:solidFill>
                  <a:srgbClr val="1E293B"/>
                </a:solidFill>
                <a:latin typeface="Calibri"/>
              </a:rPr>
              <a:t>Thời gian chạy (phút) của 30 VĐV. Chuyển sang mẫu số liệu ghép nhóm gồm sáu nhóm có độ dài bằng nhau và bằng 3.</a:t>
            </a:r>
          </a:p>
          <a:p>
            <a:pPr algn="l">
              <a:spcAft>
                <a:spcPts val="800"/>
              </a:spcAft>
            </a:pPr>
            <a:r>
              <a:rPr sz="2400" b="1">
                <a:solidFill>
                  <a:srgbClr val="1E40AF"/>
                </a:solidFill>
                <a:latin typeface="Calibri"/>
              </a:rPr>
              <a:t>Gợi mở: Khoảng biến thiên là bao nhiêu? Tổng độ dài 6 nhóm?</a:t>
            </a:r>
          </a:p>
        </p:txBody>
      </p:sp>
      <p:pic>
        <p:nvPicPr>
          <p:cNvPr id="8" name="Picture 7" descr="bang_vd2.png"/>
          <p:cNvPicPr>
            <a:picLocks noChangeAspect="1"/>
          </p:cNvPicPr>
          <p:nvPr/>
        </p:nvPicPr>
        <p:blipFill>
          <a:blip r:embed="rId2"/>
          <a:stretch>
            <a:fillRect/>
          </a:stretch>
        </p:blipFill>
        <p:spPr>
          <a:xfrm>
            <a:off x="731520" y="4094942"/>
            <a:ext cx="10698480" cy="1082131"/>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VÍ DỤ 2: CHẠY MARATHON</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8. Mẫu số liệu ghép nhóm          19</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309116"/>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Khoảng biến thiên </a:t>
                </a:r>
                <a14:m>
                  <m:oMath xmlns:m="http://schemas.openxmlformats.org/officeDocument/2006/math">
                    <m:r>
                      <a:rPr lang="vi-VN" sz="2200" b="0">
                        <a:solidFill>
                          <a:srgbClr val="1E293B"/>
                        </a:solidFill>
                        <a:latin typeface="Cambria Math" panose="02040503050406030204" pitchFamily="18" charset="0"/>
                      </a:rPr>
                      <m:t>145−129=16</m:t>
                    </m:r>
                  </m:oMath>
                </a14:m>
                <a:r>
                  <a:rPr sz="2200">
                    <a:solidFill>
                      <a:srgbClr val="1E293B"/>
                    </a:solidFill>
                    <a:latin typeface="Calibri"/>
                  </a:rPr>
                  <a:t>; tổng độ dài 6 nhóm là </a:t>
                </a:r>
                <a14:m>
                  <m:oMath xmlns:m="http://schemas.openxmlformats.org/officeDocument/2006/math">
                    <m:r>
                      <a:rPr lang="vi-VN" sz="2200" b="0">
                        <a:solidFill>
                          <a:srgbClr val="1E293B"/>
                        </a:solidFill>
                        <a:latin typeface="Cambria Math" panose="02040503050406030204" pitchFamily="18" charset="0"/>
                      </a:rPr>
                      <m:t>18&gt;16</m:t>
                    </m:r>
                  </m:oMath>
                </a14:m>
              </a:p>
              <a:p>
                <a:pPr algn="l" marL="365760" indent="-365760">
                  <a:spcAft>
                    <a:spcPts val="800"/>
                  </a:spcAft>
                  <a:buClr>
                    <a:srgbClr val="1E40AF"/>
                  </a:buClr>
                  <a:buFont typeface="Arial"/>
                  <a:buChar char="•"/>
                </a:pPr>
                <a:r>
                  <a:rPr sz="2200">
                    <a:solidFill>
                      <a:srgbClr val="1E293B"/>
                    </a:solidFill>
                    <a:latin typeface="Calibri"/>
                  </a:rPr>
                  <a:t>Chọn đầu mút trái </a:t>
                </a:r>
                <a14:m>
                  <m:oMath xmlns:m="http://schemas.openxmlformats.org/officeDocument/2006/math">
                    <m:r>
                      <a:rPr lang="vi-VN" sz="2200" b="0">
                        <a:solidFill>
                          <a:srgbClr val="1E293B"/>
                        </a:solidFill>
                        <a:latin typeface="Cambria Math" panose="02040503050406030204" pitchFamily="18" charset="0"/>
                      </a:rPr>
                      <m:t>127</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5</m:t>
                    </m:r>
                  </m:oMath>
                </a14:m>
                <a:r>
                  <a:rPr sz="2200">
                    <a:solidFill>
                      <a:srgbClr val="1E293B"/>
                    </a:solidFill>
                    <a:latin typeface="Calibri"/>
                  </a:rPr>
                  <a:t>, đầu mút phải </a:t>
                </a:r>
                <a14:m>
                  <m:oMath xmlns:m="http://schemas.openxmlformats.org/officeDocument/2006/math">
                    <m:r>
                      <a:rPr lang="vi-VN" sz="2200" b="0">
                        <a:solidFill>
                          <a:srgbClr val="1E293B"/>
                        </a:solidFill>
                        <a:latin typeface="Cambria Math" panose="02040503050406030204" pitchFamily="18" charset="0"/>
                      </a:rPr>
                      <m:t>145</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5</m:t>
                    </m:r>
                  </m:oMath>
                </a14:m>
                <a:r>
                  <a:rPr sz="2200">
                    <a:solidFill>
                      <a:srgbClr val="1E293B"/>
                    </a:solidFill>
                    <a:latin typeface="Calibri"/>
                  </a:rPr>
                  <a:t>: các nhóm </a:t>
                </a:r>
                <a14:m>
                  <m:oMath xmlns:m="http://schemas.openxmlformats.org/officeDocument/2006/math">
                    <m:r>
                      <a:rPr lang="vi-VN" sz="2200" b="0">
                        <a:solidFill>
                          <a:srgbClr val="1E293B"/>
                        </a:solidFill>
                        <a:latin typeface="Cambria Math" panose="02040503050406030204" pitchFamily="18" charset="0"/>
                      </a:rPr>
                      <m:t>[127</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5;</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130</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5)</m:t>
                    </m:r>
                  </m:oMath>
                </a14:m>
                <a:r>
                  <a:rPr sz="2200">
                    <a:solidFill>
                      <a:srgbClr val="1E293B"/>
                    </a:solidFill>
                    <a:latin typeface="Calibri"/>
                  </a:rPr>
                  <a:t>, …, </a:t>
                </a:r>
                <a14:m>
                  <m:oMath xmlns:m="http://schemas.openxmlformats.org/officeDocument/2006/math">
                    <m:r>
                      <a:rPr lang="vi-VN" sz="2200" b="0">
                        <a:solidFill>
                          <a:srgbClr val="1E293B"/>
                        </a:solidFill>
                        <a:latin typeface="Cambria Math" panose="02040503050406030204" pitchFamily="18" charset="0"/>
                      </a:rPr>
                      <m:t>[142</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5;</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145</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5)</m:t>
                    </m:r>
                  </m:oMath>
                </a14:m>
              </a:p>
            </p:txBody>
          </p:sp>
        </mc:Choice>
        <mc:Fallback>
          <p:sp>
            <p:nvSpPr>
              <p:cNvPr id="7" name="TextBox 6"/>
              <p:cNvSpPr txBox="1"/>
              <p:nvPr/>
            </p:nvSpPr>
            <p:spPr>
              <a:xfrm>
                <a:off x="731520" y="1463040"/>
                <a:ext cx="10789920" cy="1309116"/>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Khoảng biến thiên </a:t>
                </a:r>
                <a:r>
                  <a:rPr lang="vi-VN"/>
                  <a:t>145-129=16</a:t>
                </a:r>
                <a:r>
                  <a:rPr sz="2200">
                    <a:solidFill>
                      <a:srgbClr val="1E293B"/>
                    </a:solidFill>
                    <a:latin typeface="Calibri"/>
                  </a:rPr>
                  <a:t>; tổng độ dài 6 nhóm là </a:t>
                </a:r>
                <a:r>
                  <a:rPr lang="vi-VN"/>
                  <a:t>18&gt;16</a:t>
                </a:r>
              </a:p>
              <a:p>
                <a:pPr algn="l" marL="365760" indent="-365760">
                  <a:spcAft>
                    <a:spcPts val="800"/>
                  </a:spcAft>
                  <a:buClr>
                    <a:srgbClr val="1E40AF"/>
                  </a:buClr>
                  <a:buFont typeface="Arial"/>
                  <a:buChar char="•"/>
                </a:pPr>
                <a:r>
                  <a:rPr sz="2200">
                    <a:solidFill>
                      <a:srgbClr val="1E293B"/>
                    </a:solidFill>
                    <a:latin typeface="Calibri"/>
                  </a:rPr>
                  <a:t>Chọn đầu mút trái </a:t>
                </a:r>
                <a:r>
                  <a:rPr lang="vi-VN"/>
                  <a:t>127{,}5</a:t>
                </a:r>
                <a:r>
                  <a:rPr sz="2200">
                    <a:solidFill>
                      <a:srgbClr val="1E293B"/>
                    </a:solidFill>
                    <a:latin typeface="Calibri"/>
                  </a:rPr>
                  <a:t>, đầu mút phải </a:t>
                </a:r>
                <a:r>
                  <a:rPr lang="vi-VN"/>
                  <a:t>145{,}5</a:t>
                </a:r>
                <a:r>
                  <a:rPr sz="2200">
                    <a:solidFill>
                      <a:srgbClr val="1E293B"/>
                    </a:solidFill>
                    <a:latin typeface="Calibri"/>
                  </a:rPr>
                  <a:t>: các nhóm </a:t>
                </a:r>
                <a:r>
                  <a:rPr lang="vi-VN"/>
                  <a:t>[127{,}5;\,130{,}5)</a:t>
                </a:r>
                <a:r>
                  <a:rPr sz="2200">
                    <a:solidFill>
                      <a:srgbClr val="1E293B"/>
                    </a:solidFill>
                    <a:latin typeface="Calibri"/>
                  </a:rPr>
                  <a:t>, …, </a:t>
                </a:r>
                <a:r>
                  <a:rPr lang="vi-VN"/>
                  <a:t>[142{,}5;\,145{,}5)</a:t>
                </a:r>
              </a:p>
            </p:txBody>
          </p:sp>
        </mc:Fallback>
      </mc:AlternateContent>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VÍ DỤ 2: CHẠY MARATHON (TIẾP)</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8. Mẫu số liệu ghép nhóm          20</a:t>
            </a:r>
          </a:p>
        </p:txBody>
      </p:sp>
      <p:sp>
        <p:nvSpPr>
          <p:cNvPr id="7" name="TextBox 6"/>
          <p:cNvSpPr txBox="1"/>
          <p:nvPr/>
        </p:nvSpPr>
        <p:spPr>
          <a:xfrm>
            <a:off x="731520" y="1463040"/>
            <a:ext cx="10789920" cy="472948"/>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Đếm số giá trị thuộc mỗi nhóm:</a:t>
            </a:r>
          </a:p>
        </p:txBody>
      </p:sp>
      <p:sp>
        <p:nvSpPr>
          <p:cNvPr id="8" name="Rounded Rectangle 7"/>
          <p:cNvSpPr/>
          <p:nvPr/>
        </p:nvSpPr>
        <p:spPr>
          <a:xfrm>
            <a:off x="731520" y="2073148"/>
            <a:ext cx="9601200" cy="6934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073148"/>
            <a:ext cx="9235440" cy="693420"/>
          </a:xfrm>
          <a:prstGeom prst="rect">
            <a:avLst/>
          </a:prstGeom>
          <a:noFill/>
        </p:spPr>
        <p:txBody>
          <a:bodyPr wrap="square" anchor="ctr" lIns="45720" rIns="45720">
            <a:spAutoFit/>
          </a:bodyPr>
          <a:lstStyle/>
          <a:p>
            <a:pPr algn="l">
              <a:spcAft>
                <a:spcPts val="400"/>
              </a:spcAft>
            </a:pPr>
            <a:r>
              <a:rPr sz="2200" b="1">
                <a:solidFill>
                  <a:srgbClr val="991B1B"/>
                </a:solidFill>
                <a:latin typeface="Calibri"/>
              </a:rPr>
              <a:t>Tần số: 3; 1; 4; 3; 7; 12 (tổng 30)</a:t>
            </a:r>
          </a:p>
        </p:txBody>
      </p:sp>
      <p:pic>
        <p:nvPicPr>
          <p:cNvPr id="10" name="Picture 9" descr="bang_vd2g.png"/>
          <p:cNvPicPr>
            <a:picLocks noChangeAspect="1"/>
          </p:cNvPicPr>
          <p:nvPr/>
        </p:nvPicPr>
        <p:blipFill>
          <a:blip r:embed="rId2"/>
          <a:stretch>
            <a:fillRect/>
          </a:stretch>
        </p:blipFill>
        <p:spPr>
          <a:xfrm>
            <a:off x="731520" y="4167532"/>
            <a:ext cx="10698480" cy="832303"/>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LUYỆN TẬP 2: CÂN NẶNG 35 NGƯỜI</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8. Mẫu số liệu ghép nhóm          21</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310383"/>
              </a:xfrm>
              <a:prstGeom prst="rect">
                <a:avLst/>
              </a:prstGeom>
              <a:noFill/>
            </p:spPr>
            <p:txBody>
              <a:bodyPr wrap="square" anchor="t" lIns="45720" rIns="45720">
                <a:spAutoFit/>
              </a:bodyPr>
              <a:lstStyle/>
              <a:p>
                <a:pPr algn="l">
                  <a:spcAft>
                    <a:spcPts val="800"/>
                  </a:spcAft>
                </a:pPr>
                <a:r>
                  <a:rPr sz="2400">
                    <a:solidFill>
                      <a:srgbClr val="1E293B"/>
                    </a:solidFill>
                    <a:latin typeface="Calibri"/>
                  </a:rPr>
                  <a:t>Cân nặng (kg): 43 51 47 62 48 40 50 62 53 56 40 48 56 53 50 42 55 52 48 46 45 54 52 50 47 44 54 55 60 63 58 55 60 58 53.</a:t>
                </a:r>
              </a:p>
              <a:p>
                <a:pPr algn="l" marL="365760" indent="-365760">
                  <a:spcAft>
                    <a:spcPts val="800"/>
                  </a:spcAft>
                  <a:buClr>
                    <a:srgbClr val="1E40AF"/>
                  </a:buClr>
                  <a:buFont typeface="Arial"/>
                  <a:buChar char="•"/>
                </a:pPr>
                <a:r>
                  <a:rPr sz="2400">
                    <a:solidFill>
                      <a:srgbClr val="1E293B"/>
                    </a:solidFill>
                    <a:latin typeface="Calibri"/>
                  </a:rPr>
                  <a:t>Chuyển sang dạng ghép nhóm, các nhóm có độ dài bằng nhau, trong đó có nhóm </a:t>
                </a:r>
                <a14:m>
                  <m:oMath xmlns:m="http://schemas.openxmlformats.org/officeDocument/2006/math">
                    <m:r>
                      <a:rPr lang="vi-VN" sz="2400" b="0">
                        <a:solidFill>
                          <a:srgbClr val="1E293B"/>
                        </a:solidFill>
                        <a:latin typeface="Cambria Math" panose="02040503050406030204" pitchFamily="18" charset="0"/>
                      </a:rPr>
                      <m:t>[40;</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45)</m:t>
                    </m:r>
                  </m:oMath>
                </a14:m>
                <a:r>
                  <a:rPr sz="2400">
                    <a:solidFill>
                      <a:srgbClr val="1E293B"/>
                    </a:solidFill>
                    <a:latin typeface="Calibri"/>
                  </a:rPr>
                  <a:t>.</a:t>
                </a:r>
              </a:p>
              <a:p>
                <a:pPr algn="l">
                  <a:spcAft>
                    <a:spcPts val="800"/>
                  </a:spcAft>
                </a:pPr>
                <a:r>
                  <a:rPr sz="2400" b="1">
                    <a:solidFill>
                      <a:srgbClr val="1E40AF"/>
                    </a:solidFill>
                    <a:latin typeface="Calibri"/>
                  </a:rPr>
                  <a:t>Gợi mở: Nhóm </a:t>
                </a:r>
                <a14:m>
                  <m:oMath xmlns:m="http://schemas.openxmlformats.org/officeDocument/2006/math">
                    <m:r>
                      <a:rPr lang="vi-VN" sz="2400" b="1">
                        <a:solidFill>
                          <a:srgbClr val="1E40AF"/>
                        </a:solidFill>
                        <a:latin typeface="Cambria Math" panose="02040503050406030204" pitchFamily="18" charset="0"/>
                      </a:rPr>
                      <m:t>[40;</m:t>
                    </m:r>
                    <m:r>
                      <m:rPr>
                        <m:sty m:val="p"/>
                      </m:rPr>
                      <a:rPr lang="vi-VN" sz="2400" b="1">
                        <a:solidFill>
                          <a:srgbClr val="1E40AF"/>
                        </a:solidFill>
                        <a:latin typeface="Cambria Math" panose="02040503050406030204" pitchFamily="18" charset="0"/>
                      </a:rPr>
                      <m:t> </m:t>
                    </m:r>
                    <m:r>
                      <a:rPr lang="vi-VN" sz="2400" b="1">
                        <a:solidFill>
                          <a:srgbClr val="1E40AF"/>
                        </a:solidFill>
                        <a:latin typeface="Cambria Math" panose="02040503050406030204" pitchFamily="18" charset="0"/>
                      </a:rPr>
                      <m:t>45)</m:t>
                    </m:r>
                  </m:oMath>
                </a14:m>
                <a:r>
                  <a:rPr sz="2400" b="1">
                    <a:solidFill>
                      <a:srgbClr val="1E40AF"/>
                    </a:solidFill>
                    <a:latin typeface="Calibri"/>
                  </a:rPr>
                  <a:t> dài 5; giá trị lớn nhất là 63</a:t>
                </a:r>
              </a:p>
            </p:txBody>
          </p:sp>
        </mc:Choice>
        <mc:Fallback>
          <p:sp>
            <p:nvSpPr>
              <p:cNvPr id="7" name="TextBox 6"/>
              <p:cNvSpPr txBox="1"/>
              <p:nvPr/>
            </p:nvSpPr>
            <p:spPr>
              <a:xfrm>
                <a:off x="731520" y="1463040"/>
                <a:ext cx="10789920" cy="2310383"/>
              </a:xfrm>
              <a:prstGeom prst="rect">
                <a:avLst/>
              </a:prstGeom>
              <a:noFill/>
            </p:spPr>
            <p:txBody>
              <a:bodyPr wrap="square" anchor="t" lIns="45720" rIns="45720">
                <a:spAutoFit/>
              </a:bodyPr>
              <a:lstStyle/>
              <a:p>
                <a:pPr algn="l">
                  <a:spcAft>
                    <a:spcPts val="800"/>
                  </a:spcAft>
                </a:pPr>
                <a:r>
                  <a:rPr sz="2400">
                    <a:solidFill>
                      <a:srgbClr val="1E293B"/>
                    </a:solidFill>
                    <a:latin typeface="Calibri"/>
                  </a:rPr>
                  <a:t>Cân nặng (kg): 43 51 47 62 48 40 50 62 53 56 40 48 56 53 50 42 55 52 48 46 45 54 52 50 47 44 54 55 60 63 58 55 60 58 53.</a:t>
                </a:r>
              </a:p>
              <a:p>
                <a:pPr algn="l" marL="365760" indent="-365760">
                  <a:spcAft>
                    <a:spcPts val="800"/>
                  </a:spcAft>
                  <a:buClr>
                    <a:srgbClr val="1E40AF"/>
                  </a:buClr>
                  <a:buFont typeface="Arial"/>
                  <a:buChar char="•"/>
                </a:pPr>
                <a:r>
                  <a:rPr sz="2400">
                    <a:solidFill>
                      <a:srgbClr val="1E293B"/>
                    </a:solidFill>
                    <a:latin typeface="Calibri"/>
                  </a:rPr>
                  <a:t>Chuyển sang dạng ghép nhóm, các nhóm có độ dài bằng nhau, trong đó có nhóm </a:t>
                </a:r>
                <a:r>
                  <a:rPr lang="vi-VN"/>
                  <a:t>[40;\,45)</a:t>
                </a:r>
                <a:r>
                  <a:rPr sz="2400">
                    <a:solidFill>
                      <a:srgbClr val="1E293B"/>
                    </a:solidFill>
                    <a:latin typeface="Calibri"/>
                  </a:rPr>
                  <a:t>.</a:t>
                </a:r>
              </a:p>
              <a:p>
                <a:pPr algn="l">
                  <a:spcAft>
                    <a:spcPts val="800"/>
                  </a:spcAft>
                </a:pPr>
                <a:r>
                  <a:rPr sz="2400" b="1">
                    <a:solidFill>
                      <a:srgbClr val="1E40AF"/>
                    </a:solidFill>
                    <a:latin typeface="Calibri"/>
                  </a:rPr>
                  <a:t>Gợi mở: Nhóm </a:t>
                </a:r>
                <a:r>
                  <a:rPr lang="vi-VN"/>
                  <a:t>[40;\,45)</a:t>
                </a:r>
                <a:r>
                  <a:rPr sz="2400" b="1">
                    <a:solidFill>
                      <a:srgbClr val="1E40AF"/>
                    </a:solidFill>
                    <a:latin typeface="Calibri"/>
                  </a:rPr>
                  <a:t> dài 5; giá trị lớn nhất là 63</a:t>
                </a:r>
              </a:p>
            </p:txBody>
          </p:sp>
        </mc:Fallback>
      </mc:AlternateContent>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LUYỆN TẬP 2: CÂN NẶNG 35 NGƯỜI</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8. Mẫu số liệu ghép nhóm          22</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408176"/>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Nhỏ nhất 40, lớn nhất 63 → các nhóm độ dài 5: </a:t>
                </a:r>
                <a14:m>
                  <m:oMath xmlns:m="http://schemas.openxmlformats.org/officeDocument/2006/math">
                    <m:r>
                      <a:rPr lang="vi-VN" sz="2400" b="0">
                        <a:solidFill>
                          <a:srgbClr val="1E293B"/>
                        </a:solidFill>
                        <a:latin typeface="Cambria Math" panose="02040503050406030204" pitchFamily="18" charset="0"/>
                      </a:rPr>
                      <m:t>[40;45)</m:t>
                    </m:r>
                  </m:oMath>
                </a14:m>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[45;50)</m:t>
                    </m:r>
                  </m:oMath>
                </a14:m>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[50;55)</m:t>
                    </m:r>
                  </m:oMath>
                </a14:m>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[55;60)</m:t>
                    </m:r>
                  </m:oMath>
                </a14:m>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[60;65)</m:t>
                    </m:r>
                  </m:oMath>
                </a14:m>
              </a:p>
              <a:p>
                <a:pPr algn="l" marL="365760" indent="-365760">
                  <a:spcAft>
                    <a:spcPts val="800"/>
                  </a:spcAft>
                  <a:buClr>
                    <a:srgbClr val="1E40AF"/>
                  </a:buClr>
                  <a:buFont typeface="Arial"/>
                  <a:buChar char="•"/>
                </a:pPr>
                <a:r>
                  <a:rPr sz="2400">
                    <a:solidFill>
                      <a:srgbClr val="1E293B"/>
                    </a:solidFill>
                    <a:latin typeface="Calibri"/>
                  </a:rPr>
                  <a:t>Đếm tần số từng nhóm:</a:t>
                </a:r>
              </a:p>
            </p:txBody>
          </p:sp>
        </mc:Choice>
        <mc:Fallback>
          <p:sp>
            <p:nvSpPr>
              <p:cNvPr id="7" name="TextBox 6"/>
              <p:cNvSpPr txBox="1"/>
              <p:nvPr/>
            </p:nvSpPr>
            <p:spPr>
              <a:xfrm>
                <a:off x="731520" y="1463040"/>
                <a:ext cx="10789920" cy="1408176"/>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Nhỏ nhất 40, lớn nhất 63 → các nhóm độ dài 5: </a:t>
                </a:r>
                <a:r>
                  <a:rPr lang="vi-VN"/>
                  <a:t>[40;45)</a:t>
                </a:r>
                <a:r>
                  <a:rPr sz="2400">
                    <a:solidFill>
                      <a:srgbClr val="1E293B"/>
                    </a:solidFill>
                    <a:latin typeface="Calibri"/>
                  </a:rPr>
                  <a:t>, </a:t>
                </a:r>
                <a:r>
                  <a:rPr lang="vi-VN"/>
                  <a:t>[45;50)</a:t>
                </a:r>
                <a:r>
                  <a:rPr sz="2400">
                    <a:solidFill>
                      <a:srgbClr val="1E293B"/>
                    </a:solidFill>
                    <a:latin typeface="Calibri"/>
                  </a:rPr>
                  <a:t>, </a:t>
                </a:r>
                <a:r>
                  <a:rPr lang="vi-VN"/>
                  <a:t>[50;55)</a:t>
                </a:r>
                <a:r>
                  <a:rPr sz="2400">
                    <a:solidFill>
                      <a:srgbClr val="1E293B"/>
                    </a:solidFill>
                    <a:latin typeface="Calibri"/>
                  </a:rPr>
                  <a:t>, </a:t>
                </a:r>
                <a:r>
                  <a:rPr lang="vi-VN"/>
                  <a:t>[55;60)</a:t>
                </a:r>
                <a:r>
                  <a:rPr sz="2400">
                    <a:solidFill>
                      <a:srgbClr val="1E293B"/>
                    </a:solidFill>
                    <a:latin typeface="Calibri"/>
                  </a:rPr>
                  <a:t>, </a:t>
                </a:r>
                <a:r>
                  <a:rPr lang="vi-VN"/>
                  <a:t>[60;65)</a:t>
                </a:r>
              </a:p>
              <a:p>
                <a:pPr algn="l" marL="365760" indent="-365760">
                  <a:spcAft>
                    <a:spcPts val="800"/>
                  </a:spcAft>
                  <a:buClr>
                    <a:srgbClr val="1E40AF"/>
                  </a:buClr>
                  <a:buFont typeface="Arial"/>
                  <a:buChar char="•"/>
                </a:pPr>
                <a:r>
                  <a:rPr sz="2400">
                    <a:solidFill>
                      <a:srgbClr val="1E293B"/>
                    </a:solidFill>
                    <a:latin typeface="Calibri"/>
                  </a:rPr>
                  <a:t>Đếm tần số từng nhóm:</a:t>
                </a:r>
              </a:p>
            </p:txBody>
          </p:sp>
        </mc:Fallback>
      </mc:AlternateContent>
      <p:sp>
        <p:nvSpPr>
          <p:cNvPr id="8" name="Rounded Rectangle 7"/>
          <p:cNvSpPr/>
          <p:nvPr/>
        </p:nvSpPr>
        <p:spPr>
          <a:xfrm>
            <a:off x="731520" y="3008376"/>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914400" y="3008376"/>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Kiểm tra: </a:t>
                </a:r>
                <a14:m>
                  <m:oMath xmlns:m="http://schemas.openxmlformats.org/officeDocument/2006/math">
                    <m:r>
                      <a:rPr lang="vi-VN" sz="2400" b="1">
                        <a:solidFill>
                          <a:srgbClr val="991B1B"/>
                        </a:solidFill>
                        <a:latin typeface="Cambria Math" panose="02040503050406030204" pitchFamily="18" charset="0"/>
                      </a:rPr>
                      <m:t>5+7+11+7+5=35</m:t>
                    </m:r>
                  </m:oMath>
                </a14:m>
                <a:r>
                  <a:rPr sz="2400" b="1">
                    <a:solidFill>
                      <a:srgbClr val="991B1B"/>
                    </a:solidFill>
                    <a:latin typeface="Calibri"/>
                  </a:rPr>
                  <a:t> = cỡ mẫu</a:t>
                </a:r>
              </a:p>
            </p:txBody>
          </p:sp>
        </mc:Choice>
        <mc:Fallback>
          <p:sp>
            <p:nvSpPr>
              <p:cNvPr id="9" name="TextBox 8"/>
              <p:cNvSpPr txBox="1"/>
              <p:nvPr/>
            </p:nvSpPr>
            <p:spPr>
              <a:xfrm>
                <a:off x="914400" y="3008376"/>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Kiểm tra: </a:t>
                </a:r>
                <a:r>
                  <a:rPr lang="vi-VN"/>
                  <a:t>5+7+11+7+5=35</a:t>
                </a:r>
                <a:r>
                  <a:rPr sz="2400" b="1">
                    <a:solidFill>
                      <a:srgbClr val="991B1B"/>
                    </a:solidFill>
                    <a:latin typeface="Calibri"/>
                  </a:rPr>
                  <a:t> = cỡ mẫu</a:t>
                </a:r>
              </a:p>
            </p:txBody>
          </p:sp>
        </mc:Fallback>
      </mc:AlternateContent>
      <p:pic>
        <p:nvPicPr>
          <p:cNvPr id="10" name="Picture 9" descr="bang_lt2.png"/>
          <p:cNvPicPr>
            <a:picLocks noChangeAspect="1"/>
          </p:cNvPicPr>
          <p:nvPr/>
        </p:nvPicPr>
        <p:blipFill>
          <a:blip r:embed="rId2"/>
          <a:stretch>
            <a:fillRect/>
          </a:stretch>
        </p:blipFill>
        <p:spPr>
          <a:xfrm>
            <a:off x="731520" y="4411487"/>
            <a:ext cx="10698480" cy="1317722"/>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972800" cy="868680"/>
          </a:xfrm>
          <a:prstGeom prst="rect">
            <a:avLst/>
          </a:prstGeom>
          <a:noFill/>
        </p:spPr>
        <p:txBody>
          <a:bodyPr wrap="square" anchor="ctr">
            <a:spAutoFit/>
          </a:bodyPr>
          <a:lstStyle/>
          <a:p>
            <a:r>
              <a:rPr sz="3600" b="1">
                <a:solidFill>
                  <a:srgbClr val="1E40AF"/>
                </a:solidFill>
                <a:latin typeface="Arial"/>
              </a:rPr>
              <a:t>GIẢI BÀI TOÁN MỞ ĐẦU</a:t>
            </a:r>
          </a:p>
        </p:txBody>
      </p:sp>
      <p:sp>
        <p:nvSpPr>
          <p:cNvPr id="4" name="Rectangle 3"/>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8. Mẫu số liệu ghép nhóm          23</a:t>
            </a:r>
          </a:p>
        </p:txBody>
      </p:sp>
      <mc:AlternateContent xmlns:mc="http://schemas.openxmlformats.org/markup-compatibility/2006">
        <mc:Choice xmlns:a14="http://schemas.microsoft.com/office/drawing/2010/main" Requires="a14">
          <p:sp>
            <p:nvSpPr>
              <p:cNvPr id="6" name="TextBox 5"/>
              <p:cNvSpPr txBox="1"/>
              <p:nvPr/>
            </p:nvSpPr>
            <p:spPr>
              <a:xfrm>
                <a:off x="731520" y="1463040"/>
                <a:ext cx="10789920" cy="1011936"/>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Chia tổng điểm thành các nhóm </a:t>
                </a:r>
                <a14:m>
                  <m:oMath xmlns:m="http://schemas.openxmlformats.org/officeDocument/2006/math">
                    <m:r>
                      <a:rPr lang="vi-VN" sz="2400" b="0">
                        <a:solidFill>
                          <a:srgbClr val="1E293B"/>
                        </a:solidFill>
                        <a:latin typeface="Cambria Math" panose="02040503050406030204" pitchFamily="18" charset="0"/>
                      </a:rPr>
                      <m:t>[6;7)</m:t>
                    </m:r>
                  </m:oMath>
                </a14:m>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[7;8)</m:t>
                    </m:r>
                  </m:oMath>
                </a14:m>
                <a:r>
                  <a:rPr sz="2400">
                    <a:solidFill>
                      <a:srgbClr val="1E293B"/>
                    </a:solidFill>
                    <a:latin typeface="Calibri"/>
                  </a:rPr>
                  <a:t>, …, </a:t>
                </a:r>
                <a14:m>
                  <m:oMath xmlns:m="http://schemas.openxmlformats.org/officeDocument/2006/math">
                    <m:d>
                      <m:dPr>
                        <m:begChr m:val="["/>
                        <m:sepChr m:val=""/>
                        <m:endChr m:val="]"/>
                      </m:dPr>
                      <m:e>
                        <m:r>
                          <a:rPr lang="vi-VN" sz="2400" b="0">
                            <a:solidFill>
                              <a:srgbClr val="1E293B"/>
                            </a:solidFill>
                            <a:latin typeface="Cambria Math" panose="02040503050406030204" pitchFamily="18" charset="0"/>
                          </a:rPr>
                          <m:t>29</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30</m:t>
                        </m:r>
                      </m:e>
                    </m:d>
                  </m:oMath>
                </a14:m>
              </a:p>
              <a:p>
                <a:pPr algn="l" marL="365760" indent="-365760">
                  <a:spcAft>
                    <a:spcPts val="800"/>
                  </a:spcAft>
                  <a:buClr>
                    <a:srgbClr val="1E40AF"/>
                  </a:buClr>
                  <a:buFont typeface="Arial"/>
                  <a:buChar char="•"/>
                </a:pPr>
                <a:r>
                  <a:rPr sz="2400">
                    <a:solidFill>
                      <a:srgbClr val="1E293B"/>
                    </a:solidFill>
                    <a:latin typeface="Calibri"/>
                  </a:rPr>
                  <a:t>Đếm số thí sinh mỗi nhóm → mẫu số liệu ghép nhóm (bảng HĐ1c)</a:t>
                </a:r>
              </a:p>
            </p:txBody>
          </p:sp>
        </mc:Choice>
        <mc:Fallback>
          <p:sp>
            <p:nvSpPr>
              <p:cNvPr id="6" name="TextBox 5"/>
              <p:cNvSpPr txBox="1"/>
              <p:nvPr/>
            </p:nvSpPr>
            <p:spPr>
              <a:xfrm>
                <a:off x="731520" y="1463040"/>
                <a:ext cx="10789920" cy="1011936"/>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Chia tổng điểm thành các nhóm </a:t>
                </a:r>
                <a:r>
                  <a:rPr lang="vi-VN"/>
                  <a:t>[6;7)</a:t>
                </a:r>
                <a:r>
                  <a:rPr sz="2400">
                    <a:solidFill>
                      <a:srgbClr val="1E293B"/>
                    </a:solidFill>
                    <a:latin typeface="Calibri"/>
                  </a:rPr>
                  <a:t>, </a:t>
                </a:r>
                <a:r>
                  <a:rPr lang="vi-VN"/>
                  <a:t>[7;8)</a:t>
                </a:r>
                <a:r>
                  <a:rPr sz="2400">
                    <a:solidFill>
                      <a:srgbClr val="1E293B"/>
                    </a:solidFill>
                    <a:latin typeface="Calibri"/>
                  </a:rPr>
                  <a:t>, …, </a:t>
                </a:r>
                <a:r>
                  <a:rPr lang="vi-VN"/>
                  <a:t>[29;30]</a:t>
                </a:r>
              </a:p>
              <a:p>
                <a:pPr algn="l" marL="365760" indent="-365760">
                  <a:spcAft>
                    <a:spcPts val="800"/>
                  </a:spcAft>
                  <a:buClr>
                    <a:srgbClr val="1E40AF"/>
                  </a:buClr>
                  <a:buFont typeface="Arial"/>
                  <a:buChar char="•"/>
                </a:pPr>
                <a:r>
                  <a:rPr sz="2400">
                    <a:solidFill>
                      <a:srgbClr val="1E293B"/>
                    </a:solidFill>
                    <a:latin typeface="Calibri"/>
                  </a:rPr>
                  <a:t>Đếm số thí sinh mỗi nhóm → mẫu số liệu ghép nhóm (bảng HĐ1c)</a:t>
                </a:r>
              </a:p>
            </p:txBody>
          </p:sp>
        </mc:Fallback>
      </mc:AlternateContent>
      <p:pic>
        <p:nvPicPr>
          <p:cNvPr id="7" name="Picture 6" descr="bang_hd1.png"/>
          <p:cNvPicPr>
            <a:picLocks noChangeAspect="1"/>
          </p:cNvPicPr>
          <p:nvPr/>
        </p:nvPicPr>
        <p:blipFill>
          <a:blip r:embed="rId2"/>
          <a:stretch>
            <a:fillRect/>
          </a:stretch>
        </p:blipFill>
        <p:spPr>
          <a:xfrm>
            <a:off x="731520" y="3715545"/>
            <a:ext cx="10698480" cy="1444685"/>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822960" y="2651760"/>
            <a:ext cx="128016" cy="1371600"/>
          </a:xfrm>
          <a:prstGeom prst="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2468880"/>
            <a:ext cx="10058400" cy="1097280"/>
          </a:xfrm>
          <a:prstGeom prst="rect">
            <a:avLst/>
          </a:prstGeom>
          <a:noFill/>
        </p:spPr>
        <p:txBody>
          <a:bodyPr wrap="square">
            <a:spAutoFit/>
          </a:bodyPr>
          <a:lstStyle/>
          <a:p>
            <a:r>
              <a:rPr sz="4000" b="1">
                <a:solidFill>
                  <a:srgbClr val="1E40AF"/>
                </a:solidFill>
                <a:latin typeface="Arial"/>
              </a:rPr>
              <a:t>LUYỆN TẬP</a:t>
            </a:r>
          </a:p>
        </p:txBody>
      </p:sp>
      <p:sp>
        <p:nvSpPr>
          <p:cNvPr id="4" name="TextBox 3"/>
          <p:cNvSpPr txBox="1"/>
          <p:nvPr/>
        </p:nvSpPr>
        <p:spPr>
          <a:xfrm>
            <a:off x="1188720" y="3474720"/>
            <a:ext cx="10058400" cy="731520"/>
          </a:xfrm>
          <a:prstGeom prst="rect">
            <a:avLst/>
          </a:prstGeom>
          <a:noFill/>
        </p:spPr>
        <p:txBody>
          <a:bodyPr wrap="square" anchor="t" lIns="45720" rIns="45720">
            <a:spAutoFit/>
          </a:bodyPr>
          <a:lstStyle/>
          <a:p>
            <a:pPr algn="l">
              <a:spcAft>
                <a:spcPts val="800"/>
              </a:spcAft>
            </a:pPr>
            <a:r>
              <a:rPr sz="2200">
                <a:solidFill>
                  <a:srgbClr val="64748B"/>
                </a:solidFill>
                <a:latin typeface="Calibri"/>
              </a:rPr>
              <a:t>Phiếu học tập số 1 – Bài tập phân hoá 3 mức</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BÀI 3.1A: CƯỚC ĐIỆN THOẠI (MỨC 1)</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8. Mẫu số liệu ghép nhóm          25</a:t>
            </a:r>
          </a:p>
        </p:txBody>
      </p:sp>
      <p:sp>
        <p:nvSpPr>
          <p:cNvPr id="7" name="TextBox 6"/>
          <p:cNvSpPr txBox="1"/>
          <p:nvPr/>
        </p:nvSpPr>
        <p:spPr>
          <a:xfrm>
            <a:off x="731520" y="1463040"/>
            <a:ext cx="10789920" cy="902208"/>
          </a:xfrm>
          <a:prstGeom prst="rect">
            <a:avLst/>
          </a:prstGeom>
          <a:noFill/>
        </p:spPr>
        <p:txBody>
          <a:bodyPr wrap="square" anchor="t" lIns="45720" rIns="45720">
            <a:spAutoFit/>
          </a:bodyPr>
          <a:lstStyle/>
          <a:p>
            <a:pPr algn="l">
              <a:spcAft>
                <a:spcPts val="800"/>
              </a:spcAft>
            </a:pPr>
            <a:r>
              <a:rPr sz="2400">
                <a:solidFill>
                  <a:srgbClr val="1E293B"/>
                </a:solidFill>
                <a:latin typeface="Calibri"/>
              </a:rPr>
              <a:t>Mẫu số liệu sau có là mẫu số liệu ghép nhóm không? Đọc và giải thích: số tiền sinh viên chi cho cước điện thoại trong tháng.</a:t>
            </a:r>
          </a:p>
        </p:txBody>
      </p:sp>
      <p:pic>
        <p:nvPicPr>
          <p:cNvPr id="8" name="Picture 7" descr="bang_31a.png"/>
          <p:cNvPicPr>
            <a:picLocks noChangeAspect="1"/>
          </p:cNvPicPr>
          <p:nvPr/>
        </p:nvPicPr>
        <p:blipFill>
          <a:blip r:embed="rId2"/>
          <a:stretch>
            <a:fillRect/>
          </a:stretch>
        </p:blipFill>
        <p:spPr>
          <a:xfrm>
            <a:off x="731520" y="3822021"/>
            <a:ext cx="10698480" cy="1122006"/>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BÀI 3.1A: CƯỚC ĐIỆN THOẠI (MỨC 1)</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8. Mẫu số liệu ghép nhóm          26</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011936"/>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Là mẫu số liệu ghép nhóm: 5 nhóm, mỗi nhóm dài 50 nghìn đồng</a:t>
                </a:r>
              </a:p>
              <a:p>
                <a:pPr algn="l" marL="365760" indent="-365760">
                  <a:spcAft>
                    <a:spcPts val="800"/>
                  </a:spcAft>
                  <a:buClr>
                    <a:srgbClr val="1E40AF"/>
                  </a:buClr>
                  <a:buFont typeface="Arial"/>
                  <a:buChar char="•"/>
                </a:pPr>
                <a:r>
                  <a:rPr sz="2400">
                    <a:solidFill>
                      <a:srgbClr val="1E293B"/>
                    </a:solidFill>
                    <a:latin typeface="Calibri"/>
                  </a:rPr>
                  <a:t>Cỡ mẫu </a:t>
                </a:r>
                <a14:m>
                  <m:oMath xmlns:m="http://schemas.openxmlformats.org/officeDocument/2006/math">
                    <m:r>
                      <a:rPr lang="vi-VN" sz="2400" b="0">
                        <a:solidFill>
                          <a:srgbClr val="1E293B"/>
                        </a:solidFill>
                        <a:latin typeface="Cambria Math" panose="02040503050406030204" pitchFamily="18" charset="0"/>
                      </a:rPr>
                      <m:t>5+12+23+17+3=60</m:t>
                    </m:r>
                  </m:oMath>
                </a14:m>
                <a:r>
                  <a:rPr sz="2400">
                    <a:solidFill>
                      <a:srgbClr val="1E293B"/>
                    </a:solidFill>
                    <a:latin typeface="Calibri"/>
                  </a:rPr>
                  <a:t> sinh viên</a:t>
                </a:r>
              </a:p>
            </p:txBody>
          </p:sp>
        </mc:Choice>
        <mc:Fallback>
          <p:sp>
            <p:nvSpPr>
              <p:cNvPr id="7" name="TextBox 6"/>
              <p:cNvSpPr txBox="1"/>
              <p:nvPr/>
            </p:nvSpPr>
            <p:spPr>
              <a:xfrm>
                <a:off x="731520" y="1463040"/>
                <a:ext cx="10789920" cy="1011936"/>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Là mẫu số liệu ghép nhóm: 5 nhóm, mỗi nhóm dài 50 nghìn đồng</a:t>
                </a:r>
              </a:p>
              <a:p>
                <a:pPr algn="l" marL="365760" indent="-365760">
                  <a:spcAft>
                    <a:spcPts val="800"/>
                  </a:spcAft>
                  <a:buClr>
                    <a:srgbClr val="1E40AF"/>
                  </a:buClr>
                  <a:buFont typeface="Arial"/>
                  <a:buChar char="•"/>
                </a:pPr>
                <a:r>
                  <a:rPr sz="2400">
                    <a:solidFill>
                      <a:srgbClr val="1E293B"/>
                    </a:solidFill>
                    <a:latin typeface="Calibri"/>
                  </a:rPr>
                  <a:t>Cỡ mẫu </a:t>
                </a:r>
                <a:r>
                  <a:rPr lang="vi-VN"/>
                  <a:t>5+12+23+17+3=60</a:t>
                </a:r>
                <a:r>
                  <a:rPr sz="2400">
                    <a:solidFill>
                      <a:srgbClr val="1E293B"/>
                    </a:solidFill>
                    <a:latin typeface="Calibri"/>
                  </a:rPr>
                  <a:t> sinh viên</a:t>
                </a:r>
              </a:p>
            </p:txBody>
          </p:sp>
        </mc:Fallback>
      </mc:AlternateContent>
      <p:sp>
        <p:nvSpPr>
          <p:cNvPr id="8" name="Rounded Rectangle 7"/>
          <p:cNvSpPr/>
          <p:nvPr/>
        </p:nvSpPr>
        <p:spPr>
          <a:xfrm>
            <a:off x="731520" y="2612136"/>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914400" y="2612136"/>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Nhiều nhất: nhóm </a:t>
                </a:r>
                <a14:m>
                  <m:oMath xmlns:m="http://schemas.openxmlformats.org/officeDocument/2006/math">
                    <m:r>
                      <a:rPr lang="vi-VN" sz="2400" b="1">
                        <a:solidFill>
                          <a:srgbClr val="991B1B"/>
                        </a:solidFill>
                        <a:latin typeface="Cambria Math" panose="02040503050406030204" pitchFamily="18" charset="0"/>
                      </a:rPr>
                      <m:t>[100;</m:t>
                    </m:r>
                    <m:r>
                      <m:rPr>
                        <m:sty m:val="p"/>
                      </m:rPr>
                      <a:rPr lang="vi-VN" sz="2400" b="1">
                        <a:solidFill>
                          <a:srgbClr val="991B1B"/>
                        </a:solidFill>
                        <a:latin typeface="Cambria Math" panose="02040503050406030204" pitchFamily="18" charset="0"/>
                      </a:rPr>
                      <m:t> </m:t>
                    </m:r>
                    <m:r>
                      <a:rPr lang="vi-VN" sz="2400" b="1">
                        <a:solidFill>
                          <a:srgbClr val="991B1B"/>
                        </a:solidFill>
                        <a:latin typeface="Cambria Math" panose="02040503050406030204" pitchFamily="18" charset="0"/>
                      </a:rPr>
                      <m:t>150)</m:t>
                    </m:r>
                  </m:oMath>
                </a14:m>
                <a:r>
                  <a:rPr sz="2400" b="1">
                    <a:solidFill>
                      <a:srgbClr val="991B1B"/>
                    </a:solidFill>
                    <a:latin typeface="Calibri"/>
                  </a:rPr>
                  <a:t> – 23 sinh viên</a:t>
                </a:r>
              </a:p>
            </p:txBody>
          </p:sp>
        </mc:Choice>
        <mc:Fallback>
          <p:sp>
            <p:nvSpPr>
              <p:cNvPr id="9" name="TextBox 8"/>
              <p:cNvSpPr txBox="1"/>
              <p:nvPr/>
            </p:nvSpPr>
            <p:spPr>
              <a:xfrm>
                <a:off x="914400" y="2612136"/>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Nhiều nhất: nhóm </a:t>
                </a:r>
                <a:r>
                  <a:rPr lang="vi-VN"/>
                  <a:t>[100;\,150)</a:t>
                </a:r>
                <a:r>
                  <a:rPr sz="2400" b="1">
                    <a:solidFill>
                      <a:srgbClr val="991B1B"/>
                    </a:solidFill>
                    <a:latin typeface="Calibri"/>
                  </a:rPr>
                  <a:t> – 23 sinh viên</a:t>
                </a:r>
              </a:p>
            </p:txBody>
          </p:sp>
        </mc:Fallback>
      </mc:AlternateContent>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BÀI 3.1B: NHIỆT ĐỘ 40 NGÀY (MỨC 1)</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8. Mẫu số liệu ghép nhóm          27</a:t>
            </a:r>
          </a:p>
        </p:txBody>
      </p:sp>
      <p:sp>
        <p:nvSpPr>
          <p:cNvPr id="7" name="TextBox 6"/>
          <p:cNvSpPr txBox="1"/>
          <p:nvPr/>
        </p:nvSpPr>
        <p:spPr>
          <a:xfrm>
            <a:off x="731520" y="1463040"/>
            <a:ext cx="10789920" cy="902208"/>
          </a:xfrm>
          <a:prstGeom prst="rect">
            <a:avLst/>
          </a:prstGeom>
          <a:noFill/>
        </p:spPr>
        <p:txBody>
          <a:bodyPr wrap="square" anchor="t" lIns="45720" rIns="45720">
            <a:spAutoFit/>
          </a:bodyPr>
          <a:lstStyle/>
          <a:p>
            <a:pPr algn="l">
              <a:spcAft>
                <a:spcPts val="800"/>
              </a:spcAft>
            </a:pPr>
            <a:r>
              <a:rPr sz="2400">
                <a:solidFill>
                  <a:srgbClr val="1E293B"/>
                </a:solidFill>
                <a:latin typeface="Calibri"/>
              </a:rPr>
              <a:t>Thống kê nhiệt độ tại một địa điểm trong 40 ngày. Đọc và giải thích mẫu số liệu.</a:t>
            </a:r>
          </a:p>
        </p:txBody>
      </p:sp>
      <p:pic>
        <p:nvPicPr>
          <p:cNvPr id="8" name="Picture 7" descr="bang_31b.png"/>
          <p:cNvPicPr>
            <a:picLocks noChangeAspect="1"/>
          </p:cNvPicPr>
          <p:nvPr/>
        </p:nvPicPr>
        <p:blipFill>
          <a:blip r:embed="rId2"/>
          <a:stretch>
            <a:fillRect/>
          </a:stretch>
        </p:blipFill>
        <p:spPr>
          <a:xfrm>
            <a:off x="731520" y="3604417"/>
            <a:ext cx="10698480" cy="1557213"/>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BÀI 3.1B: NHIỆT ĐỘ 40 NGÀY (MỨC 1)</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8. Mẫu số liệu ghép nhóm          28</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011936"/>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Là mẫu số liệu ghép nhóm: 4 nhóm, mỗi nhóm dài 3°C</a:t>
                </a:r>
              </a:p>
              <a:p>
                <a:pPr algn="l" marL="365760" indent="-365760">
                  <a:spcAft>
                    <a:spcPts val="800"/>
                  </a:spcAft>
                  <a:buClr>
                    <a:srgbClr val="1E40AF"/>
                  </a:buClr>
                  <a:buFont typeface="Arial"/>
                  <a:buChar char="•"/>
                </a:pPr>
                <a14:m>
                  <m:oMath xmlns:m="http://schemas.openxmlformats.org/officeDocument/2006/math">
                    <m:r>
                      <a:rPr lang="vi-VN" sz="2400" b="0">
                        <a:solidFill>
                          <a:srgbClr val="1E293B"/>
                        </a:solidFill>
                        <a:latin typeface="Cambria Math" panose="02040503050406030204" pitchFamily="18" charset="0"/>
                      </a:rPr>
                      <m:t>7+15+12+6=40</m:t>
                    </m:r>
                  </m:oMath>
                </a14:m>
                <a:r>
                  <a:rPr sz="2400">
                    <a:solidFill>
                      <a:srgbClr val="1E293B"/>
                    </a:solidFill>
                    <a:latin typeface="Calibri"/>
                  </a:rPr>
                  <a:t> ngày</a:t>
                </a:r>
              </a:p>
            </p:txBody>
          </p:sp>
        </mc:Choice>
        <mc:Fallback>
          <p:sp>
            <p:nvSpPr>
              <p:cNvPr id="7" name="TextBox 6"/>
              <p:cNvSpPr txBox="1"/>
              <p:nvPr/>
            </p:nvSpPr>
            <p:spPr>
              <a:xfrm>
                <a:off x="731520" y="1463040"/>
                <a:ext cx="10789920" cy="1011936"/>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Là mẫu số liệu ghép nhóm: 4 nhóm, mỗi nhóm dài 3°C</a:t>
                </a:r>
              </a:p>
              <a:p>
                <a:pPr algn="l" marL="365760" indent="-365760">
                  <a:spcAft>
                    <a:spcPts val="800"/>
                  </a:spcAft>
                  <a:buClr>
                    <a:srgbClr val="1E40AF"/>
                  </a:buClr>
                  <a:buFont typeface="Arial"/>
                  <a:buChar char="•"/>
                </a:pPr>
                <a:r>
                  <a:rPr lang="vi-VN"/>
                  <a:t>7+15+12+6=40</a:t>
                </a:r>
                <a:r>
                  <a:rPr sz="2400">
                    <a:solidFill>
                      <a:srgbClr val="1E293B"/>
                    </a:solidFill>
                    <a:latin typeface="Calibri"/>
                  </a:rPr>
                  <a:t> ngày</a:t>
                </a:r>
              </a:p>
            </p:txBody>
          </p:sp>
        </mc:Fallback>
      </mc:AlternateContent>
      <p:sp>
        <p:nvSpPr>
          <p:cNvPr id="8" name="Rounded Rectangle 7"/>
          <p:cNvSpPr/>
          <p:nvPr/>
        </p:nvSpPr>
        <p:spPr>
          <a:xfrm>
            <a:off x="731520" y="2612136"/>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914400" y="2612136"/>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Nhiều nhất: nhóm </a:t>
                </a:r>
                <a14:m>
                  <m:oMath xmlns:m="http://schemas.openxmlformats.org/officeDocument/2006/math">
                    <m:r>
                      <a:rPr lang="vi-VN" sz="2400" b="1">
                        <a:solidFill>
                          <a:srgbClr val="991B1B"/>
                        </a:solidFill>
                        <a:latin typeface="Cambria Math" panose="02040503050406030204" pitchFamily="18" charset="0"/>
                      </a:rPr>
                      <m:t>[22;</m:t>
                    </m:r>
                    <m:r>
                      <m:rPr>
                        <m:sty m:val="p"/>
                      </m:rPr>
                      <a:rPr lang="vi-VN" sz="2400" b="1">
                        <a:solidFill>
                          <a:srgbClr val="991B1B"/>
                        </a:solidFill>
                        <a:latin typeface="Cambria Math" panose="02040503050406030204" pitchFamily="18" charset="0"/>
                      </a:rPr>
                      <m:t> </m:t>
                    </m:r>
                    <m:r>
                      <a:rPr lang="vi-VN" sz="2400" b="1">
                        <a:solidFill>
                          <a:srgbClr val="991B1B"/>
                        </a:solidFill>
                        <a:latin typeface="Cambria Math" panose="02040503050406030204" pitchFamily="18" charset="0"/>
                      </a:rPr>
                      <m:t>25)</m:t>
                    </m:r>
                  </m:oMath>
                </a14:m>
                <a:r>
                  <a:rPr sz="2400" b="1">
                    <a:solidFill>
                      <a:srgbClr val="991B1B"/>
                    </a:solidFill>
                    <a:latin typeface="Calibri"/>
                  </a:rPr>
                  <a:t> – 15 ngày</a:t>
                </a:r>
              </a:p>
            </p:txBody>
          </p:sp>
        </mc:Choice>
        <mc:Fallback>
          <p:sp>
            <p:nvSpPr>
              <p:cNvPr id="9" name="TextBox 8"/>
              <p:cNvSpPr txBox="1"/>
              <p:nvPr/>
            </p:nvSpPr>
            <p:spPr>
              <a:xfrm>
                <a:off x="914400" y="2612136"/>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Nhiều nhất: nhóm </a:t>
                </a:r>
                <a:r>
                  <a:rPr lang="vi-VN"/>
                  <a:t>[22;\,25)</a:t>
                </a:r>
                <a:r>
                  <a:rPr sz="2400" b="1">
                    <a:solidFill>
                      <a:srgbClr val="991B1B"/>
                    </a:solidFill>
                    <a:latin typeface="Calibri"/>
                  </a:rPr>
                  <a:t> – 15 ngày</a:t>
                </a:r>
              </a:p>
            </p:txBody>
          </p:sp>
        </mc:Fallback>
      </mc:AlternateContent>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BÀI 3.2: SẢN PHẨM (MỨC 2)</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8. Mẫu số liệu ghép nhóm          29</a:t>
            </a:r>
          </a:p>
        </p:txBody>
      </p:sp>
      <p:sp>
        <p:nvSpPr>
          <p:cNvPr id="7" name="TextBox 6"/>
          <p:cNvSpPr txBox="1"/>
          <p:nvPr/>
        </p:nvSpPr>
        <p:spPr>
          <a:xfrm>
            <a:off x="731520" y="1463040"/>
            <a:ext cx="10789920" cy="1914144"/>
          </a:xfrm>
          <a:prstGeom prst="rect">
            <a:avLst/>
          </a:prstGeom>
          <a:noFill/>
        </p:spPr>
        <p:txBody>
          <a:bodyPr wrap="square" anchor="t" lIns="45720" rIns="45720">
            <a:spAutoFit/>
          </a:bodyPr>
          <a:lstStyle/>
          <a:p>
            <a:pPr algn="l">
              <a:spcAft>
                <a:spcPts val="800"/>
              </a:spcAft>
            </a:pPr>
            <a:r>
              <a:rPr sz="2400">
                <a:solidFill>
                  <a:srgbClr val="1E293B"/>
                </a:solidFill>
                <a:latin typeface="Calibri"/>
              </a:rPr>
              <a:t>Số sản phẩm mỗi công nhân làm được trong một ngày: 18 25 39 12 54 27 46 25 19 8 36 22 20 19 17 44 5 18 23 28 25 34 46 27 16.</a:t>
            </a:r>
          </a:p>
          <a:p>
            <a:pPr algn="l" marL="365760" indent="-365760">
              <a:spcAft>
                <a:spcPts val="800"/>
              </a:spcAft>
              <a:buClr>
                <a:srgbClr val="1E40AF"/>
              </a:buClr>
              <a:buFont typeface="Arial"/>
              <a:buChar char="•"/>
            </a:pPr>
            <a:r>
              <a:rPr sz="2400">
                <a:solidFill>
                  <a:srgbClr val="1E293B"/>
                </a:solidFill>
                <a:latin typeface="Calibri"/>
              </a:rPr>
              <a:t>Chuyển sang dạng ghép nhóm với sáu nhóm có độ dài bằng nhau.</a:t>
            </a:r>
          </a:p>
          <a:p>
            <a:pPr algn="l">
              <a:spcAft>
                <a:spcPts val="800"/>
              </a:spcAft>
            </a:pPr>
            <a:r>
              <a:rPr sz="2400" b="1">
                <a:solidFill>
                  <a:srgbClr val="1E40AF"/>
                </a:solidFill>
                <a:latin typeface="Calibri"/>
              </a:rPr>
              <a:t>Gợi mở: Khoảng biến thiên chia cho 6, làm tròn lên</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BÀI 3.2: SẢN PHẨM (MỨC 2)</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8. Mẫu số liệu ghép nhóm          30</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011936"/>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Nhỏ nhất 5, lớn nhất 54, khoảng biến thiên 49</a:t>
                </a:r>
              </a:p>
              <a:p>
                <a:pPr algn="l" marL="365760" indent="-365760">
                  <a:spcAft>
                    <a:spcPts val="800"/>
                  </a:spcAft>
                  <a:buClr>
                    <a:srgbClr val="1E40AF"/>
                  </a:buClr>
                  <a:buFont typeface="Arial"/>
                  <a:buChar char="•"/>
                </a:pPr>
                <a:r>
                  <a:rPr sz="2400">
                    <a:solidFill>
                      <a:srgbClr val="1E293B"/>
                    </a:solidFill>
                    <a:latin typeface="Calibri"/>
                  </a:rPr>
                  <a:t>6 nhóm độ dài 9 (tổng </a:t>
                </a:r>
                <a14:m>
                  <m:oMath xmlns:m="http://schemas.openxmlformats.org/officeDocument/2006/math">
                    <m:r>
                      <a:rPr lang="vi-VN" sz="2400" b="0">
                        <a:solidFill>
                          <a:srgbClr val="1E293B"/>
                        </a:solidFill>
                        <a:latin typeface="Cambria Math" panose="02040503050406030204" pitchFamily="18" charset="0"/>
                      </a:rPr>
                      <m:t>54&gt;49</m:t>
                    </m:r>
                  </m:oMath>
                </a14:m>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[5;14)</m:t>
                    </m:r>
                  </m:oMath>
                </a14:m>
                <a:r>
                  <a:rPr sz="2400">
                    <a:solidFill>
                      <a:srgbClr val="1E293B"/>
                    </a:solidFill>
                    <a:latin typeface="Calibri"/>
                  </a:rPr>
                  <a:t>, …, </a:t>
                </a:r>
                <a14:m>
                  <m:oMath xmlns:m="http://schemas.openxmlformats.org/officeDocument/2006/math">
                    <m:r>
                      <a:rPr lang="vi-VN" sz="2400" b="0">
                        <a:solidFill>
                          <a:srgbClr val="1E293B"/>
                        </a:solidFill>
                        <a:latin typeface="Cambria Math" panose="02040503050406030204" pitchFamily="18" charset="0"/>
                      </a:rPr>
                      <m:t>[50;59)</m:t>
                    </m:r>
                  </m:oMath>
                </a14:m>
              </a:p>
            </p:txBody>
          </p:sp>
        </mc:Choice>
        <mc:Fallback>
          <p:sp>
            <p:nvSpPr>
              <p:cNvPr id="7" name="TextBox 6"/>
              <p:cNvSpPr txBox="1"/>
              <p:nvPr/>
            </p:nvSpPr>
            <p:spPr>
              <a:xfrm>
                <a:off x="731520" y="1463040"/>
                <a:ext cx="10789920" cy="1011936"/>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Nhỏ nhất 5, lớn nhất 54, khoảng biến thiên 49</a:t>
                </a:r>
              </a:p>
              <a:p>
                <a:pPr algn="l" marL="365760" indent="-365760">
                  <a:spcAft>
                    <a:spcPts val="800"/>
                  </a:spcAft>
                  <a:buClr>
                    <a:srgbClr val="1E40AF"/>
                  </a:buClr>
                  <a:buFont typeface="Arial"/>
                  <a:buChar char="•"/>
                </a:pPr>
                <a:r>
                  <a:rPr sz="2400">
                    <a:solidFill>
                      <a:srgbClr val="1E293B"/>
                    </a:solidFill>
                    <a:latin typeface="Calibri"/>
                  </a:rPr>
                  <a:t>6 nhóm độ dài 9 (tổng </a:t>
                </a:r>
                <a:r>
                  <a:rPr lang="vi-VN"/>
                  <a:t>54&gt;49</a:t>
                </a:r>
                <a:r>
                  <a:rPr sz="2400">
                    <a:solidFill>
                      <a:srgbClr val="1E293B"/>
                    </a:solidFill>
                    <a:latin typeface="Calibri"/>
                  </a:rPr>
                  <a:t>): </a:t>
                </a:r>
                <a:r>
                  <a:rPr lang="vi-VN"/>
                  <a:t>[5;14)</a:t>
                </a:r>
                <a:r>
                  <a:rPr sz="2400">
                    <a:solidFill>
                      <a:srgbClr val="1E293B"/>
                    </a:solidFill>
                    <a:latin typeface="Calibri"/>
                  </a:rPr>
                  <a:t>, …, </a:t>
                </a:r>
                <a:r>
                  <a:rPr lang="vi-VN"/>
                  <a:t>[50;59)</a:t>
                </a:r>
              </a:p>
            </p:txBody>
          </p:sp>
        </mc:Fallback>
      </mc:AlternateContent>
      <p:sp>
        <p:nvSpPr>
          <p:cNvPr id="8" name="Rounded Rectangle 7"/>
          <p:cNvSpPr/>
          <p:nvPr/>
        </p:nvSpPr>
        <p:spPr>
          <a:xfrm>
            <a:off x="731520" y="2612136"/>
            <a:ext cx="9601200" cy="11887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612136"/>
            <a:ext cx="9235440" cy="11887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Tần số: 3; 8; 7; 3; 3; 1 (tổng 25) – có nhiều cách ghép đúng</a:t>
            </a:r>
          </a:p>
        </p:txBody>
      </p:sp>
      <p:pic>
        <p:nvPicPr>
          <p:cNvPr id="10" name="Picture 9" descr="bang_32.png"/>
          <p:cNvPicPr>
            <a:picLocks noChangeAspect="1"/>
          </p:cNvPicPr>
          <p:nvPr/>
        </p:nvPicPr>
        <p:blipFill>
          <a:blip r:embed="rId2"/>
          <a:stretch>
            <a:fillRect/>
          </a:stretch>
        </p:blipFill>
        <p:spPr>
          <a:xfrm>
            <a:off x="731520" y="4516298"/>
            <a:ext cx="10698480" cy="116906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BÀI 3.3: THỜI GIAN RA SÂN (MỨC 3)</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8. Mẫu số liệu ghép nhóm          31</a:t>
            </a:r>
          </a:p>
        </p:txBody>
      </p:sp>
      <p:sp>
        <p:nvSpPr>
          <p:cNvPr id="7" name="TextBox 6"/>
          <p:cNvSpPr txBox="1"/>
          <p:nvPr/>
        </p:nvSpPr>
        <p:spPr>
          <a:xfrm>
            <a:off x="731520" y="1463040"/>
            <a:ext cx="10789920" cy="2310383"/>
          </a:xfrm>
          <a:prstGeom prst="rect">
            <a:avLst/>
          </a:prstGeom>
          <a:noFill/>
        </p:spPr>
        <p:txBody>
          <a:bodyPr wrap="square" anchor="t" lIns="45720" rIns="45720">
            <a:spAutoFit/>
          </a:bodyPr>
          <a:lstStyle/>
          <a:p>
            <a:pPr algn="l">
              <a:spcAft>
                <a:spcPts val="800"/>
              </a:spcAft>
            </a:pPr>
            <a:r>
              <a:rPr sz="2400">
                <a:solidFill>
                  <a:srgbClr val="1E293B"/>
                </a:solidFill>
                <a:latin typeface="Calibri"/>
              </a:rPr>
              <a:t>Thời gian ra sân (giờ): 653 632 609 572 565 535 516 514 508 505 504 504 503 499 496 492.</a:t>
            </a:r>
          </a:p>
          <a:p>
            <a:pPr algn="l" marL="365760" indent="-365760">
              <a:spcAft>
                <a:spcPts val="800"/>
              </a:spcAft>
              <a:buClr>
                <a:srgbClr val="1E40AF"/>
              </a:buClr>
              <a:buFont typeface="Arial"/>
              <a:buChar char="•"/>
            </a:pPr>
            <a:r>
              <a:rPr sz="2400">
                <a:solidFill>
                  <a:srgbClr val="1E293B"/>
                </a:solidFill>
                <a:latin typeface="Calibri"/>
              </a:rPr>
              <a:t>Chuyển sang dạng ghép nhóm với bảy nhóm có độ dài bằng nhau.</a:t>
            </a:r>
          </a:p>
          <a:p>
            <a:pPr algn="l">
              <a:spcAft>
                <a:spcPts val="800"/>
              </a:spcAft>
            </a:pPr>
            <a:r>
              <a:rPr sz="2400" b="1">
                <a:solidFill>
                  <a:srgbClr val="1E40AF"/>
                </a:solidFill>
                <a:latin typeface="Calibri"/>
              </a:rPr>
              <a:t>Gợi mở: Khoảng biến thiên 161; 7 nhóm thì mỗi nhóm dài ít nhất bao nhiêu?</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BÀI 3.3: THỜI GIAN RA SÂN (MỨC 3)</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8. Mẫu số liệu ghép nhóm          32</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011936"/>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Khoảng biến thiên </a:t>
                </a:r>
                <a14:m>
                  <m:oMath xmlns:m="http://schemas.openxmlformats.org/officeDocument/2006/math">
                    <m:r>
                      <a:rPr lang="vi-VN" sz="2400" b="0">
                        <a:solidFill>
                          <a:srgbClr val="1E293B"/>
                        </a:solidFill>
                        <a:latin typeface="Cambria Math" panose="02040503050406030204" pitchFamily="18" charset="0"/>
                      </a:rPr>
                      <m:t>653−492=161</m:t>
                    </m:r>
                  </m:oMath>
                </a14:m>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161:7=23</m:t>
                    </m:r>
                  </m:oMath>
                </a14:m>
                <a:r>
                  <a:rPr sz="2400">
                    <a:solidFill>
                      <a:srgbClr val="1E293B"/>
                    </a:solidFill>
                    <a:latin typeface="Calibri"/>
                  </a:rPr>
                  <a:t> → chọn độ dài 24 (tổng </a:t>
                </a:r>
                <a14:m>
                  <m:oMath xmlns:m="http://schemas.openxmlformats.org/officeDocument/2006/math">
                    <m:r>
                      <a:rPr lang="vi-VN" sz="2400" b="0">
                        <a:solidFill>
                          <a:srgbClr val="1E293B"/>
                        </a:solidFill>
                        <a:latin typeface="Cambria Math" panose="02040503050406030204" pitchFamily="18" charset="0"/>
                      </a:rPr>
                      <m:t>168&gt;161</m:t>
                    </m:r>
                  </m:oMath>
                </a14:m>
                <a:r>
                  <a:rPr sz="2400">
                    <a:solidFill>
                      <a:srgbClr val="1E293B"/>
                    </a:solidFill>
                    <a:latin typeface="Calibri"/>
                  </a:rPr>
                  <a:t>)</a:t>
                </a:r>
              </a:p>
              <a:p>
                <a:pPr algn="l" marL="365760" indent="-365760">
                  <a:spcAft>
                    <a:spcPts val="800"/>
                  </a:spcAft>
                  <a:buClr>
                    <a:srgbClr val="1E40AF"/>
                  </a:buClr>
                  <a:buFont typeface="Arial"/>
                  <a:buChar char="•"/>
                </a:pPr>
                <a:r>
                  <a:rPr sz="2400">
                    <a:solidFill>
                      <a:srgbClr val="1E293B"/>
                    </a:solidFill>
                    <a:latin typeface="Calibri"/>
                  </a:rPr>
                  <a:t>Các nhóm </a:t>
                </a:r>
                <a14:m>
                  <m:oMath xmlns:m="http://schemas.openxmlformats.org/officeDocument/2006/math">
                    <m:r>
                      <a:rPr lang="vi-VN" sz="2400" b="0">
                        <a:solidFill>
                          <a:srgbClr val="1E293B"/>
                        </a:solidFill>
                        <a:latin typeface="Cambria Math" panose="02040503050406030204" pitchFamily="18" charset="0"/>
                      </a:rPr>
                      <m:t>[490;514)</m:t>
                    </m:r>
                  </m:oMath>
                </a14:m>
                <a:r>
                  <a:rPr sz="2400">
                    <a:solidFill>
                      <a:srgbClr val="1E293B"/>
                    </a:solidFill>
                    <a:latin typeface="Calibri"/>
                  </a:rPr>
                  <a:t>, …, </a:t>
                </a:r>
                <a14:m>
                  <m:oMath xmlns:m="http://schemas.openxmlformats.org/officeDocument/2006/math">
                    <m:r>
                      <a:rPr lang="vi-VN" sz="2400" b="0">
                        <a:solidFill>
                          <a:srgbClr val="1E293B"/>
                        </a:solidFill>
                        <a:latin typeface="Cambria Math" panose="02040503050406030204" pitchFamily="18" charset="0"/>
                      </a:rPr>
                      <m:t>[634;658)</m:t>
                    </m:r>
                  </m:oMath>
                </a14:m>
                <a:r>
                  <a:rPr sz="2400">
                    <a:solidFill>
                      <a:srgbClr val="1E293B"/>
                    </a:solidFill>
                    <a:latin typeface="Calibri"/>
                  </a:rPr>
                  <a:t>:</a:t>
                </a:r>
              </a:p>
            </p:txBody>
          </p:sp>
        </mc:Choice>
        <mc:Fallback>
          <p:sp>
            <p:nvSpPr>
              <p:cNvPr id="7" name="TextBox 6"/>
              <p:cNvSpPr txBox="1"/>
              <p:nvPr/>
            </p:nvSpPr>
            <p:spPr>
              <a:xfrm>
                <a:off x="731520" y="1463040"/>
                <a:ext cx="10789920" cy="1011936"/>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Khoảng biến thiên </a:t>
                </a:r>
                <a:r>
                  <a:rPr lang="vi-VN"/>
                  <a:t>653-492=161</a:t>
                </a:r>
                <a:r>
                  <a:rPr sz="2400">
                    <a:solidFill>
                      <a:srgbClr val="1E293B"/>
                    </a:solidFill>
                    <a:latin typeface="Calibri"/>
                  </a:rPr>
                  <a:t>; </a:t>
                </a:r>
                <a:r>
                  <a:rPr lang="vi-VN"/>
                  <a:t>161:7=23</a:t>
                </a:r>
                <a:r>
                  <a:rPr sz="2400">
                    <a:solidFill>
                      <a:srgbClr val="1E293B"/>
                    </a:solidFill>
                    <a:latin typeface="Calibri"/>
                  </a:rPr>
                  <a:t> → chọn độ dài 24 (tổng </a:t>
                </a:r>
                <a:r>
                  <a:rPr lang="vi-VN"/>
                  <a:t>168&gt;161</a:t>
                </a:r>
                <a:r>
                  <a:rPr sz="2400">
                    <a:solidFill>
                      <a:srgbClr val="1E293B"/>
                    </a:solidFill>
                    <a:latin typeface="Calibri"/>
                  </a:rPr>
                  <a:t>)</a:t>
                </a:r>
              </a:p>
              <a:p>
                <a:pPr algn="l" marL="365760" indent="-365760">
                  <a:spcAft>
                    <a:spcPts val="800"/>
                  </a:spcAft>
                  <a:buClr>
                    <a:srgbClr val="1E40AF"/>
                  </a:buClr>
                  <a:buFont typeface="Arial"/>
                  <a:buChar char="•"/>
                </a:pPr>
                <a:r>
                  <a:rPr sz="2400">
                    <a:solidFill>
                      <a:srgbClr val="1E293B"/>
                    </a:solidFill>
                    <a:latin typeface="Calibri"/>
                  </a:rPr>
                  <a:t>Các nhóm </a:t>
                </a:r>
                <a:r>
                  <a:rPr lang="vi-VN"/>
                  <a:t>[490;514)</a:t>
                </a:r>
                <a:r>
                  <a:rPr sz="2400">
                    <a:solidFill>
                      <a:srgbClr val="1E293B"/>
                    </a:solidFill>
                    <a:latin typeface="Calibri"/>
                  </a:rPr>
                  <a:t>, …, </a:t>
                </a:r>
                <a:r>
                  <a:rPr lang="vi-VN"/>
                  <a:t>[634;658)</a:t>
                </a:r>
                <a:r>
                  <a:rPr sz="2400">
                    <a:solidFill>
                      <a:srgbClr val="1E293B"/>
                    </a:solidFill>
                    <a:latin typeface="Calibri"/>
                  </a:rPr>
                  <a:t>:</a:t>
                </a:r>
              </a:p>
            </p:txBody>
          </p:sp>
        </mc:Fallback>
      </mc:AlternateContent>
      <p:sp>
        <p:nvSpPr>
          <p:cNvPr id="8" name="Rounded Rectangle 7"/>
          <p:cNvSpPr/>
          <p:nvPr/>
        </p:nvSpPr>
        <p:spPr>
          <a:xfrm>
            <a:off x="731520" y="2612136"/>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612136"/>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Tần số: 8; 3; 0; 2; 1; 1; 1 (tổng 16)</a:t>
            </a:r>
          </a:p>
        </p:txBody>
      </p:sp>
      <p:pic>
        <p:nvPicPr>
          <p:cNvPr id="10" name="Picture 9" descr="bang_33.png"/>
          <p:cNvPicPr>
            <a:picLocks noChangeAspect="1"/>
          </p:cNvPicPr>
          <p:nvPr/>
        </p:nvPicPr>
        <p:blipFill>
          <a:blip r:embed="rId2"/>
          <a:stretch>
            <a:fillRect/>
          </a:stretch>
        </p:blipFill>
        <p:spPr>
          <a:xfrm>
            <a:off x="731520" y="4439328"/>
            <a:ext cx="10698480" cy="865800"/>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TRẠM AI: LỜI GIẢI SỐ 1</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8. Mẫu số liệu ghép nhóm          33</a:t>
            </a:r>
          </a:p>
        </p:txBody>
      </p:sp>
      <p:sp>
        <p:nvSpPr>
          <p:cNvPr id="7" name="TextBox 6"/>
          <p:cNvSpPr txBox="1"/>
          <p:nvPr/>
        </p:nvSpPr>
        <p:spPr>
          <a:xfrm>
            <a:off x="731520" y="1463040"/>
            <a:ext cx="10789920" cy="1408176"/>
          </a:xfrm>
          <a:prstGeom prst="rect">
            <a:avLst/>
          </a:prstGeom>
          <a:noFill/>
        </p:spPr>
        <p:txBody>
          <a:bodyPr wrap="square" anchor="t" lIns="45720" rIns="45720">
            <a:spAutoFit/>
          </a:bodyPr>
          <a:lstStyle/>
          <a:p>
            <a:pPr algn="l">
              <a:spcAft>
                <a:spcPts val="800"/>
              </a:spcAft>
            </a:pPr>
            <a:r>
              <a:rPr sz="2400">
                <a:solidFill>
                  <a:srgbClr val="1E293B"/>
                </a:solidFill>
                <a:latin typeface="Calibri"/>
              </a:rPr>
              <a:t>Đề: Luyện tập 2. Chatbot AI trả lời bằng bảng sau. Chỉ ra chỗ sai, giải thích và sửa lại.</a:t>
            </a:r>
          </a:p>
          <a:p>
            <a:pPr algn="l">
              <a:spcAft>
                <a:spcPts val="800"/>
              </a:spcAft>
            </a:pPr>
            <a:r>
              <a:rPr sz="2400" b="1">
                <a:solidFill>
                  <a:srgbClr val="1E40AF"/>
                </a:solidFill>
                <a:latin typeface="Calibri"/>
              </a:rPr>
              <a:t>Gợi mở: Giá trị 45 thuộc nhóm nào?</a:t>
            </a:r>
          </a:p>
        </p:txBody>
      </p:sp>
      <p:pic>
        <p:nvPicPr>
          <p:cNvPr id="8" name="Picture 7" descr="bang_ai1.png"/>
          <p:cNvPicPr>
            <a:picLocks noChangeAspect="1"/>
          </p:cNvPicPr>
          <p:nvPr/>
        </p:nvPicPr>
        <p:blipFill>
          <a:blip r:embed="rId2"/>
          <a:stretch>
            <a:fillRect/>
          </a:stretch>
        </p:blipFill>
        <p:spPr>
          <a:xfrm>
            <a:off x="731520" y="3959121"/>
            <a:ext cx="10698480" cy="1353774"/>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TRẠM AI: LỜI GIẢI SỐ 1</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8. Mẫu số liệu ghép nhóm          34</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408176"/>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Sai: các nhóm đóng hai đầu nên giao nhau – 45, 50, 55, 60 bị đếm hai lần</a:t>
                </a:r>
              </a:p>
              <a:p>
                <a:pPr algn="l" marL="365760" indent="-365760">
                  <a:spcAft>
                    <a:spcPts val="800"/>
                  </a:spcAft>
                  <a:buClr>
                    <a:srgbClr val="1E40AF"/>
                  </a:buClr>
                  <a:buFont typeface="Arial"/>
                  <a:buChar char="•"/>
                </a:pPr>
                <a:r>
                  <a:rPr sz="2400">
                    <a:solidFill>
                      <a:srgbClr val="1E293B"/>
                    </a:solidFill>
                    <a:latin typeface="Calibri"/>
                  </a:rPr>
                  <a:t>Tổng tần số </a:t>
                </a:r>
                <a14:m>
                  <m:oMath xmlns:m="http://schemas.openxmlformats.org/officeDocument/2006/math">
                    <m:r>
                      <a:rPr lang="vi-VN" sz="2400" b="0">
                        <a:solidFill>
                          <a:srgbClr val="1E293B"/>
                        </a:solidFill>
                        <a:latin typeface="Cambria Math" panose="02040503050406030204" pitchFamily="18" charset="0"/>
                      </a:rPr>
                      <m:t>44≠35</m:t>
                    </m:r>
                  </m:oMath>
                </a14:m>
              </a:p>
            </p:txBody>
          </p:sp>
        </mc:Choice>
        <mc:Fallback>
          <p:sp>
            <p:nvSpPr>
              <p:cNvPr id="7" name="TextBox 6"/>
              <p:cNvSpPr txBox="1"/>
              <p:nvPr/>
            </p:nvSpPr>
            <p:spPr>
              <a:xfrm>
                <a:off x="731520" y="1463040"/>
                <a:ext cx="10789920" cy="1408176"/>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Sai: các nhóm đóng hai đầu nên giao nhau – 45, 50, 55, 60 bị đếm hai lần</a:t>
                </a:r>
              </a:p>
              <a:p>
                <a:pPr algn="l" marL="365760" indent="-365760">
                  <a:spcAft>
                    <a:spcPts val="800"/>
                  </a:spcAft>
                  <a:buClr>
                    <a:srgbClr val="1E40AF"/>
                  </a:buClr>
                  <a:buFont typeface="Arial"/>
                  <a:buChar char="•"/>
                </a:pPr>
                <a:r>
                  <a:rPr sz="2400">
                    <a:solidFill>
                      <a:srgbClr val="1E293B"/>
                    </a:solidFill>
                    <a:latin typeface="Calibri"/>
                  </a:rPr>
                  <a:t>Tổng tần số </a:t>
                </a:r>
                <a:r>
                  <a:rPr lang="vi-VN"/>
                  <a:t>44\ne 35</a:t>
                </a:r>
              </a:p>
            </p:txBody>
          </p:sp>
        </mc:Fallback>
      </mc:AlternateContent>
      <p:sp>
        <p:nvSpPr>
          <p:cNvPr id="8" name="Rounded Rectangle 7"/>
          <p:cNvSpPr/>
          <p:nvPr/>
        </p:nvSpPr>
        <p:spPr>
          <a:xfrm>
            <a:off x="731520" y="3008376"/>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914400" y="3008376"/>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Dùng nhóm nửa khoảng </a:t>
                </a:r>
                <a14:m>
                  <m:oMath xmlns:m="http://schemas.openxmlformats.org/officeDocument/2006/math">
                    <m:r>
                      <a:rPr lang="vi-VN" sz="2400" b="1">
                        <a:solidFill>
                          <a:srgbClr val="991B1B"/>
                        </a:solidFill>
                        <a:latin typeface="Cambria Math" panose="02040503050406030204" pitchFamily="18" charset="0"/>
                      </a:rPr>
                      <m:t>[a;</m:t>
                    </m:r>
                    <m:r>
                      <m:rPr>
                        <m:sty m:val="p"/>
                      </m:rPr>
                      <a:rPr lang="vi-VN" sz="2400" b="1">
                        <a:solidFill>
                          <a:srgbClr val="991B1B"/>
                        </a:solidFill>
                        <a:latin typeface="Cambria Math" panose="02040503050406030204" pitchFamily="18" charset="0"/>
                      </a:rPr>
                      <m:t> </m:t>
                    </m:r>
                    <m:r>
                      <a:rPr lang="vi-VN" sz="2400" b="1">
                        <a:solidFill>
                          <a:srgbClr val="991B1B"/>
                        </a:solidFill>
                        <a:latin typeface="Cambria Math" panose="02040503050406030204" pitchFamily="18" charset="0"/>
                      </a:rPr>
                      <m:t>b)</m:t>
                    </m:r>
                  </m:oMath>
                </a14:m>
                <a:r>
                  <a:rPr sz="2400" b="1">
                    <a:solidFill>
                      <a:srgbClr val="991B1B"/>
                    </a:solidFill>
                    <a:latin typeface="Calibri"/>
                  </a:rPr>
                  <a:t>: tần số 5; 7; 11; 7; 5</a:t>
                </a:r>
              </a:p>
            </p:txBody>
          </p:sp>
        </mc:Choice>
        <mc:Fallback>
          <p:sp>
            <p:nvSpPr>
              <p:cNvPr id="9" name="TextBox 8"/>
              <p:cNvSpPr txBox="1"/>
              <p:nvPr/>
            </p:nvSpPr>
            <p:spPr>
              <a:xfrm>
                <a:off x="914400" y="3008376"/>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Dùng nhóm nửa khoảng </a:t>
                </a:r>
                <a:r>
                  <a:rPr lang="vi-VN"/>
                  <a:t>[a;\,b)</a:t>
                </a:r>
                <a:r>
                  <a:rPr sz="2400" b="1">
                    <a:solidFill>
                      <a:srgbClr val="991B1B"/>
                    </a:solidFill>
                    <a:latin typeface="Calibri"/>
                  </a:rPr>
                  <a:t>: tần số 5; 7; 11; 7; 5</a:t>
                </a:r>
              </a:p>
            </p:txBody>
          </p:sp>
        </mc:Fallback>
      </mc:AlternateContent>
      <p:pic>
        <p:nvPicPr>
          <p:cNvPr id="10" name="Picture 9" descr="bang_lt2.png"/>
          <p:cNvPicPr>
            <a:picLocks noChangeAspect="1"/>
          </p:cNvPicPr>
          <p:nvPr/>
        </p:nvPicPr>
        <p:blipFill>
          <a:blip r:embed="rId2"/>
          <a:stretch>
            <a:fillRect/>
          </a:stretch>
        </p:blipFill>
        <p:spPr>
          <a:xfrm>
            <a:off x="731520" y="4411487"/>
            <a:ext cx="10698480" cy="1317722"/>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TRẠM AI: LỜI GIẢI SỐ 2</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8. Mẫu số liệu ghép nhóm          35</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a:spcAft>
                    <a:spcPts val="800"/>
                  </a:spcAft>
                </a:pPr>
                <a:r>
                  <a:rPr sz="2400">
                    <a:solidFill>
                      <a:srgbClr val="1E293B"/>
                    </a:solidFill>
                    <a:latin typeface="Calibri"/>
                  </a:rPr>
                  <a:t>Đề: Vận dụng b (may 500 áo). Chatbot AI trả lời:</a:t>
                </a:r>
              </a:p>
              <a:p>
                <a:pPr algn="l" marL="365760" indent="-365760">
                  <a:spcAft>
                    <a:spcPts val="800"/>
                  </a:spcAft>
                  <a:buClr>
                    <a:srgbClr val="1E40AF"/>
                  </a:buClr>
                  <a:buFont typeface="Arial"/>
                  <a:buChar char="•"/>
                </a:pPr>
                <a:r>
                  <a:rPr sz="2400">
                    <a:solidFill>
                      <a:srgbClr val="1E293B"/>
                    </a:solidFill>
                    <a:latin typeface="Calibri"/>
                  </a:rPr>
                  <a:t>"Có 5 cỡ áo S, M, L, XL, XXL nên mỗi cỡ may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500:5=100</m:t>
                    </m:r>
                  </m:oMath>
                </a14:m>
                <a:r>
                  <a:rPr sz="2400">
                    <a:solidFill>
                      <a:srgbClr val="1E293B"/>
                    </a:solidFill>
                    <a:latin typeface="Calibri"/>
                  </a:rPr>
                  <a:t> chiếc."</a:t>
                </a:r>
              </a:p>
              <a:p>
                <a:pPr algn="l">
                  <a:spcAft>
                    <a:spcPts val="800"/>
                  </a:spcAft>
                </a:pPr>
                <a:r>
                  <a:rPr sz="2400" b="1">
                    <a:solidFill>
                      <a:srgbClr val="1E40AF"/>
                    </a:solidFill>
                    <a:latin typeface="Calibri"/>
                  </a:rPr>
                  <a:t>Gợi mở: Số học sinh mỗi cỡ có bằng nhau không?</a:t>
                </a:r>
              </a:p>
            </p:txBody>
          </p:sp>
        </mc:Choice>
        <mc:Fallback>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a:spcAft>
                    <a:spcPts val="800"/>
                  </a:spcAft>
                </a:pPr>
                <a:r>
                  <a:rPr sz="2400">
                    <a:solidFill>
                      <a:srgbClr val="1E293B"/>
                    </a:solidFill>
                    <a:latin typeface="Calibri"/>
                  </a:rPr>
                  <a:t>Đề: Vận dụng b (may 500 áo). Chatbot AI trả lời:</a:t>
                </a:r>
              </a:p>
              <a:p>
                <a:pPr algn="l" marL="365760" indent="-365760">
                  <a:spcAft>
                    <a:spcPts val="800"/>
                  </a:spcAft>
                  <a:buClr>
                    <a:srgbClr val="1E40AF"/>
                  </a:buClr>
                  <a:buFont typeface="Arial"/>
                  <a:buChar char="•"/>
                </a:pPr>
                <a:r>
                  <a:rPr sz="2400">
                    <a:solidFill>
                      <a:srgbClr val="1E293B"/>
                    </a:solidFill>
                    <a:latin typeface="Calibri"/>
                  </a:rPr>
                  <a:t>"Có 5 cỡ áo S, M, L, XL, XXL nên mỗi cỡ may </a:t>
                </a:r>
                <a:r>
                  <a:rPr lang="vi-VN"/>
                  <a:t>500:5=100</a:t>
                </a:r>
                <a:r>
                  <a:rPr sz="2400">
                    <a:solidFill>
                      <a:srgbClr val="1E293B"/>
                    </a:solidFill>
                    <a:latin typeface="Calibri"/>
                  </a:rPr>
                  <a:t> chiếc."</a:t>
                </a:r>
              </a:p>
              <a:p>
                <a:pPr algn="l">
                  <a:spcAft>
                    <a:spcPts val="800"/>
                  </a:spcAft>
                </a:pPr>
                <a:r>
                  <a:rPr sz="2400" b="1">
                    <a:solidFill>
                      <a:srgbClr val="1E40AF"/>
                    </a:solidFill>
                    <a:latin typeface="Calibri"/>
                  </a:rPr>
                  <a:t>Gợi mở: Số học sinh mỗi cỡ có bằng nhau không?</a:t>
                </a:r>
              </a:p>
            </p:txBody>
          </p:sp>
        </mc:Fallback>
      </mc:AlternateContent>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TRẠM AI: LỜI GIẢI SỐ 2</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8. Mẫu số liệu ghép nhóm          36</a:t>
            </a:r>
          </a:p>
        </p:txBody>
      </p:sp>
      <p:sp>
        <p:nvSpPr>
          <p:cNvPr id="7" name="TextBox 6"/>
          <p:cNvSpPr txBox="1"/>
          <p:nvPr/>
        </p:nvSpPr>
        <p:spPr>
          <a:xfrm>
            <a:off x="731520" y="1463040"/>
            <a:ext cx="10789920" cy="1011936"/>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Sai: chia đều không dựa vào số liệu</a:t>
            </a:r>
          </a:p>
          <a:p>
            <a:pPr algn="l" marL="365760" indent="-365760">
              <a:spcAft>
                <a:spcPts val="800"/>
              </a:spcAft>
              <a:buClr>
                <a:srgbClr val="1E40AF"/>
              </a:buClr>
              <a:buFont typeface="Arial"/>
              <a:buChar char="•"/>
            </a:pPr>
            <a:r>
              <a:rPr sz="2400">
                <a:solidFill>
                  <a:srgbClr val="1E293B"/>
                </a:solidFill>
                <a:latin typeface="Calibri"/>
              </a:rPr>
              <a:t>Phải phân bổ theo tỉ lệ tần số của từng cỡ</a:t>
            </a:r>
          </a:p>
        </p:txBody>
      </p:sp>
      <p:sp>
        <p:nvSpPr>
          <p:cNvPr id="8" name="Rounded Rectangle 7"/>
          <p:cNvSpPr/>
          <p:nvPr/>
        </p:nvSpPr>
        <p:spPr>
          <a:xfrm>
            <a:off x="731520" y="2612136"/>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612136"/>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M khoảng 306, L khoảng 111, XL khoảng 83 chiếc</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VẬN DỤNG: MAY ÁO ĐỒNG PHỤC</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8. Mẫu số liệu ghép nhóm          37</a:t>
            </a:r>
          </a:p>
        </p:txBody>
      </p:sp>
      <p:sp>
        <p:nvSpPr>
          <p:cNvPr id="7" name="TextBox 6"/>
          <p:cNvSpPr txBox="1"/>
          <p:nvPr/>
        </p:nvSpPr>
        <p:spPr>
          <a:xfrm>
            <a:off x="731520" y="1463040"/>
            <a:ext cx="10789920" cy="1672336"/>
          </a:xfrm>
          <a:prstGeom prst="rect">
            <a:avLst/>
          </a:prstGeom>
          <a:noFill/>
        </p:spPr>
        <p:txBody>
          <a:bodyPr wrap="square" anchor="t" lIns="45720" rIns="45720">
            <a:spAutoFit/>
          </a:bodyPr>
          <a:lstStyle/>
          <a:p>
            <a:pPr algn="l">
              <a:spcAft>
                <a:spcPts val="800"/>
              </a:spcAft>
            </a:pPr>
            <a:r>
              <a:rPr sz="2200">
                <a:solidFill>
                  <a:srgbClr val="1E293B"/>
                </a:solidFill>
                <a:latin typeface="Calibri"/>
              </a:rPr>
              <a:t>Cỡ áo theo chiều cao (bảng). Chiều cao (cm) của 36 HS nam lớp 11: 160 161 161 162 162 162 163 163 163 164 164 164 164 165 165 165 165 165 166 166 166 166 167 167 168 168 168 168 169 169 170 171 171 172 172 174.</a:t>
            </a:r>
          </a:p>
          <a:p>
            <a:pPr algn="l" marL="365760" indent="-365760">
              <a:spcAft>
                <a:spcPts val="800"/>
              </a:spcAft>
              <a:buClr>
                <a:srgbClr val="1E40AF"/>
              </a:buClr>
              <a:buFont typeface="Arial"/>
              <a:buChar char="•"/>
            </a:pPr>
            <a:r>
              <a:rPr sz="2200">
                <a:solidFill>
                  <a:srgbClr val="1E293B"/>
                </a:solidFill>
                <a:latin typeface="Calibri"/>
              </a:rPr>
              <a:t>a) Lập bảng tần số ghép nhóm với các nhóm đã cho.</a:t>
            </a:r>
          </a:p>
        </p:txBody>
      </p:sp>
      <p:pic>
        <p:nvPicPr>
          <p:cNvPr id="8" name="Picture 7" descr="bang_coao.png"/>
          <p:cNvPicPr>
            <a:picLocks noChangeAspect="1"/>
          </p:cNvPicPr>
          <p:nvPr/>
        </p:nvPicPr>
        <p:blipFill>
          <a:blip r:embed="rId2"/>
          <a:stretch>
            <a:fillRect/>
          </a:stretch>
        </p:blipFill>
        <p:spPr>
          <a:xfrm>
            <a:off x="731520" y="4194069"/>
            <a:ext cx="10698480" cy="1148038"/>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VẬN DỤNG (TIẾP)</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8. Mẫu số liệu ghép nhóm          38</a:t>
            </a:r>
          </a:p>
        </p:txBody>
      </p:sp>
      <p:sp>
        <p:nvSpPr>
          <p:cNvPr id="7" name="TextBox 6"/>
          <p:cNvSpPr txBox="1"/>
          <p:nvPr/>
        </p:nvSpPr>
        <p:spPr>
          <a:xfrm>
            <a:off x="731520" y="1463040"/>
            <a:ext cx="10789920" cy="472948"/>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b) May 500 áo thì mỗi cỡ nên may bao nhiêu chiếc?</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VẬN DỤNG: MAY ÁO ĐỒNG PHỤC</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8. Mẫu số liệu ghép nhóm          39</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472948"/>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a) Đếm: </a:t>
                </a:r>
                <a14:m>
                  <m:oMath xmlns:m="http://schemas.openxmlformats.org/officeDocument/2006/math">
                    <m:r>
                      <a:rPr lang="vi-VN" sz="2200" b="0">
                        <a:solidFill>
                          <a:srgbClr val="1E293B"/>
                        </a:solidFill>
                        <a:latin typeface="Cambria Math" panose="02040503050406030204" pitchFamily="18" charset="0"/>
                      </a:rPr>
                      <m:t>[160;167)</m:t>
                    </m:r>
                  </m:oMath>
                </a14:m>
                <a:r>
                  <a:rPr sz="2200">
                    <a:solidFill>
                      <a:srgbClr val="1E293B"/>
                    </a:solidFill>
                    <a:latin typeface="Calibri"/>
                  </a:rPr>
                  <a:t> có 22, </a:t>
                </a:r>
                <a14:m>
                  <m:oMath xmlns:m="http://schemas.openxmlformats.org/officeDocument/2006/math">
                    <m:r>
                      <a:rPr lang="vi-VN" sz="2200" b="0">
                        <a:solidFill>
                          <a:srgbClr val="1E293B"/>
                        </a:solidFill>
                        <a:latin typeface="Cambria Math" panose="02040503050406030204" pitchFamily="18" charset="0"/>
                      </a:rPr>
                      <m:t>[167;170)</m:t>
                    </m:r>
                  </m:oMath>
                </a14:m>
                <a:r>
                  <a:rPr sz="2200">
                    <a:solidFill>
                      <a:srgbClr val="1E293B"/>
                    </a:solidFill>
                    <a:latin typeface="Calibri"/>
                  </a:rPr>
                  <a:t> có 8, </a:t>
                </a:r>
                <a14:m>
                  <m:oMath xmlns:m="http://schemas.openxmlformats.org/officeDocument/2006/math">
                    <m:r>
                      <a:rPr lang="vi-VN" sz="2200" b="0">
                        <a:solidFill>
                          <a:srgbClr val="1E293B"/>
                        </a:solidFill>
                        <a:latin typeface="Cambria Math" panose="02040503050406030204" pitchFamily="18" charset="0"/>
                      </a:rPr>
                      <m:t>[170;175)</m:t>
                    </m:r>
                  </m:oMath>
                </a14:m>
                <a:r>
                  <a:rPr sz="2200">
                    <a:solidFill>
                      <a:srgbClr val="1E293B"/>
                    </a:solidFill>
                    <a:latin typeface="Calibri"/>
                  </a:rPr>
                  <a:t> có 6 HS</a:t>
                </a:r>
              </a:p>
            </p:txBody>
          </p:sp>
        </mc:Choice>
        <mc:Fallback>
          <p:sp>
            <p:nvSpPr>
              <p:cNvPr id="7" name="TextBox 6"/>
              <p:cNvSpPr txBox="1"/>
              <p:nvPr/>
            </p:nvSpPr>
            <p:spPr>
              <a:xfrm>
                <a:off x="731520" y="1463040"/>
                <a:ext cx="10789920" cy="472948"/>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a) Đếm: </a:t>
                </a:r>
                <a:r>
                  <a:rPr lang="vi-VN"/>
                  <a:t>[160;167)</a:t>
                </a:r>
                <a:r>
                  <a:rPr sz="2200">
                    <a:solidFill>
                      <a:srgbClr val="1E293B"/>
                    </a:solidFill>
                    <a:latin typeface="Calibri"/>
                  </a:rPr>
                  <a:t> có 22, </a:t>
                </a:r>
                <a:r>
                  <a:rPr lang="vi-VN"/>
                  <a:t>[167;170)</a:t>
                </a:r>
                <a:r>
                  <a:rPr sz="2200">
                    <a:solidFill>
                      <a:srgbClr val="1E293B"/>
                    </a:solidFill>
                    <a:latin typeface="Calibri"/>
                  </a:rPr>
                  <a:t> có 8, </a:t>
                </a:r>
                <a:r>
                  <a:rPr lang="vi-VN"/>
                  <a:t>[170;175)</a:t>
                </a:r>
                <a:r>
                  <a:rPr sz="2200">
                    <a:solidFill>
                      <a:srgbClr val="1E293B"/>
                    </a:solidFill>
                    <a:latin typeface="Calibri"/>
                  </a:rPr>
                  <a:t> có 6 HS</a:t>
                </a:r>
              </a:p>
            </p:txBody>
          </p:sp>
        </mc:Fallback>
      </mc:AlternateContent>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VẬN DỤNG (TIẾP)</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8. Mẫu số liệu ghép nhóm          40</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32651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b) Cỡ M: </a:t>
                </a:r>
                <a14:m>
                  <m:oMath xmlns:m="http://schemas.openxmlformats.org/officeDocument/2006/math">
                    <m:r>
                      <a:rPr lang="vi-VN" sz="2200" b="0">
                        <a:solidFill>
                          <a:srgbClr val="1E293B"/>
                        </a:solidFill>
                        <a:latin typeface="Cambria Math" panose="02040503050406030204" pitchFamily="18" charset="0"/>
                      </a:rPr>
                      <m:t>500·</m:t>
                    </m:r>
                    <m:f>
                      <m:fPr>
                        <m:type m:val="bar"/>
                      </m:fPr>
                      <m:num>
                        <m:r>
                          <a:rPr lang="vi-VN" sz="2200" b="0">
                            <a:solidFill>
                              <a:srgbClr val="1E293B"/>
                            </a:solidFill>
                            <a:latin typeface="Cambria Math" panose="02040503050406030204" pitchFamily="18" charset="0"/>
                          </a:rPr>
                          <m:t>22</m:t>
                        </m:r>
                      </m:num>
                      <m:den>
                        <m:r>
                          <a:rPr lang="vi-VN" sz="2200" b="0">
                            <a:solidFill>
                              <a:srgbClr val="1E293B"/>
                            </a:solidFill>
                            <a:latin typeface="Cambria Math" panose="02040503050406030204" pitchFamily="18" charset="0"/>
                          </a:rPr>
                          <m:t>36</m:t>
                        </m:r>
                      </m:den>
                    </m:f>
                    <m:r>
                      <a:rPr lang="vi-VN" sz="2200" b="0">
                        <a:solidFill>
                          <a:srgbClr val="1E293B"/>
                        </a:solidFill>
                        <a:latin typeface="Cambria Math" panose="02040503050406030204" pitchFamily="18" charset="0"/>
                      </a:rPr>
                      <m:t>≈306</m:t>
                    </m:r>
                  </m:oMath>
                </a14:m>
                <a:r>
                  <a:rPr sz="2200">
                    <a:solidFill>
                      <a:srgbClr val="1E293B"/>
                    </a:solidFill>
                    <a:latin typeface="Calibri"/>
                  </a:rPr>
                  <a:t>; cỡ L: </a:t>
                </a:r>
                <a14:m>
                  <m:oMath xmlns:m="http://schemas.openxmlformats.org/officeDocument/2006/math">
                    <m:r>
                      <a:rPr lang="vi-VN" sz="2200" b="0">
                        <a:solidFill>
                          <a:srgbClr val="1E293B"/>
                        </a:solidFill>
                        <a:latin typeface="Cambria Math" panose="02040503050406030204" pitchFamily="18" charset="0"/>
                      </a:rPr>
                      <m:t>500·</m:t>
                    </m:r>
                    <m:f>
                      <m:fPr>
                        <m:type m:val="bar"/>
                      </m:fPr>
                      <m:num>
                        <m:r>
                          <a:rPr lang="vi-VN" sz="2200" b="0">
                            <a:solidFill>
                              <a:srgbClr val="1E293B"/>
                            </a:solidFill>
                            <a:latin typeface="Cambria Math" panose="02040503050406030204" pitchFamily="18" charset="0"/>
                          </a:rPr>
                          <m:t>8</m:t>
                        </m:r>
                      </m:num>
                      <m:den>
                        <m:r>
                          <a:rPr lang="vi-VN" sz="2200" b="0">
                            <a:solidFill>
                              <a:srgbClr val="1E293B"/>
                            </a:solidFill>
                            <a:latin typeface="Cambria Math" panose="02040503050406030204" pitchFamily="18" charset="0"/>
                          </a:rPr>
                          <m:t>36</m:t>
                        </m:r>
                      </m:den>
                    </m:f>
                    <m:r>
                      <a:rPr lang="vi-VN" sz="2200" b="0">
                        <a:solidFill>
                          <a:srgbClr val="1E293B"/>
                        </a:solidFill>
                        <a:latin typeface="Cambria Math" panose="02040503050406030204" pitchFamily="18" charset="0"/>
                      </a:rPr>
                      <m:t>≈111</m:t>
                    </m:r>
                  </m:oMath>
                </a14:m>
                <a:r>
                  <a:rPr sz="2200">
                    <a:solidFill>
                      <a:srgbClr val="1E293B"/>
                    </a:solidFill>
                    <a:latin typeface="Calibri"/>
                  </a:rPr>
                  <a:t>; cỡ XL: </a:t>
                </a:r>
                <a14:m>
                  <m:oMath xmlns:m="http://schemas.openxmlformats.org/officeDocument/2006/math">
                    <m:r>
                      <a:rPr lang="vi-VN" sz="2200" b="0">
                        <a:solidFill>
                          <a:srgbClr val="1E293B"/>
                        </a:solidFill>
                        <a:latin typeface="Cambria Math" panose="02040503050406030204" pitchFamily="18" charset="0"/>
                      </a:rPr>
                      <m:t>500·</m:t>
                    </m:r>
                    <m:f>
                      <m:fPr>
                        <m:type m:val="bar"/>
                      </m:fPr>
                      <m:num>
                        <m:r>
                          <a:rPr lang="vi-VN" sz="2200" b="0">
                            <a:solidFill>
                              <a:srgbClr val="1E293B"/>
                            </a:solidFill>
                            <a:latin typeface="Cambria Math" panose="02040503050406030204" pitchFamily="18" charset="0"/>
                          </a:rPr>
                          <m:t>6</m:t>
                        </m:r>
                      </m:num>
                      <m:den>
                        <m:r>
                          <a:rPr lang="vi-VN" sz="2200" b="0">
                            <a:solidFill>
                              <a:srgbClr val="1E293B"/>
                            </a:solidFill>
                            <a:latin typeface="Cambria Math" panose="02040503050406030204" pitchFamily="18" charset="0"/>
                          </a:rPr>
                          <m:t>36</m:t>
                        </m:r>
                      </m:den>
                    </m:f>
                    <m:r>
                      <a:rPr lang="vi-VN" sz="2200" b="0">
                        <a:solidFill>
                          <a:srgbClr val="1E293B"/>
                        </a:solidFill>
                        <a:latin typeface="Cambria Math" panose="02040503050406030204" pitchFamily="18" charset="0"/>
                      </a:rPr>
                      <m:t>≈83</m:t>
                    </m:r>
                  </m:oMath>
                </a14:m>
              </a:p>
            </p:txBody>
          </p:sp>
        </mc:Choice>
        <mc:Fallback>
          <p:sp>
            <p:nvSpPr>
              <p:cNvPr id="7" name="TextBox 6"/>
              <p:cNvSpPr txBox="1"/>
              <p:nvPr/>
            </p:nvSpPr>
            <p:spPr>
              <a:xfrm>
                <a:off x="731520" y="1463040"/>
                <a:ext cx="10789920" cy="132651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b) Cỡ M: </a:t>
                </a:r>
                <a:r>
                  <a:rPr lang="vi-VN"/>
                  <a:t>500\cdot\frac{22}{36}\approx 306</a:t>
                </a:r>
                <a:r>
                  <a:rPr sz="2200">
                    <a:solidFill>
                      <a:srgbClr val="1E293B"/>
                    </a:solidFill>
                    <a:latin typeface="Calibri"/>
                  </a:rPr>
                  <a:t>; cỡ L: </a:t>
                </a:r>
                <a:r>
                  <a:rPr lang="vi-VN"/>
                  <a:t>500\cdot\frac{8}{36}\approx 111</a:t>
                </a:r>
                <a:r>
                  <a:rPr sz="2200">
                    <a:solidFill>
                      <a:srgbClr val="1E293B"/>
                    </a:solidFill>
                    <a:latin typeface="Calibri"/>
                  </a:rPr>
                  <a:t>; cỡ XL: </a:t>
                </a:r>
                <a:r>
                  <a:rPr lang="vi-VN"/>
                  <a:t>500\cdot\frac{6}{36}\approx 83</a:t>
                </a:r>
              </a:p>
            </p:txBody>
          </p:sp>
        </mc:Fallback>
      </mc:AlternateContent>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VẬN DỤNG (TIẾP)</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8. Mẫu số liệu ghép nhóm          41</a:t>
            </a:r>
          </a:p>
        </p:txBody>
      </p:sp>
      <p:sp>
        <p:nvSpPr>
          <p:cNvPr id="7" name="Rounded Rectangle 6"/>
          <p:cNvSpPr/>
          <p:nvPr/>
        </p:nvSpPr>
        <p:spPr>
          <a:xfrm>
            <a:off x="731520" y="1463040"/>
            <a:ext cx="9601200" cy="1112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463040"/>
            <a:ext cx="9235440" cy="1112520"/>
          </a:xfrm>
          <a:prstGeom prst="rect">
            <a:avLst/>
          </a:prstGeom>
          <a:noFill/>
        </p:spPr>
        <p:txBody>
          <a:bodyPr wrap="square" anchor="ctr" lIns="45720" rIns="45720">
            <a:spAutoFit/>
          </a:bodyPr>
          <a:lstStyle/>
          <a:p>
            <a:pPr algn="l">
              <a:spcAft>
                <a:spcPts val="400"/>
              </a:spcAft>
            </a:pPr>
            <a:r>
              <a:rPr sz="2200" b="1">
                <a:solidFill>
                  <a:srgbClr val="991B1B"/>
                </a:solidFill>
                <a:latin typeface="Calibri"/>
              </a:rPr>
              <a:t>M: 306 chiếc, L: 111 chiếc, XL: 83 chiếc (cỡ S, XXL không cần may)</a:t>
            </a:r>
          </a:p>
        </p:txBody>
      </p:sp>
      <p:pic>
        <p:nvPicPr>
          <p:cNvPr id="9" name="Picture 8" descr="bang_cao.png"/>
          <p:cNvPicPr>
            <a:picLocks noChangeAspect="1"/>
          </p:cNvPicPr>
          <p:nvPr/>
        </p:nvPicPr>
        <p:blipFill>
          <a:blip r:embed="rId2"/>
          <a:stretch>
            <a:fillRect/>
          </a:stretch>
        </p:blipFill>
        <p:spPr>
          <a:xfrm>
            <a:off x="731520" y="3650422"/>
            <a:ext cx="10698480" cy="1675516"/>
          </a:xfrm>
          <a:prstGeom prst="rect">
            <a:avLst/>
          </a:prstGeom>
        </p:spPr>
      </p:pic>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VẬN DỤNG</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NHIỆM VỤ NHÓM VỀ NHÀ</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8. Mẫu số liệu ghép nhóm          42</a:t>
            </a:r>
          </a:p>
        </p:txBody>
      </p:sp>
      <p:sp>
        <p:nvSpPr>
          <p:cNvPr id="7" name="TextBox 6"/>
          <p:cNvSpPr txBox="1"/>
          <p:nvPr/>
        </p:nvSpPr>
        <p:spPr>
          <a:xfrm>
            <a:off x="731520" y="1463040"/>
            <a:ext cx="10789920" cy="191414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b="1">
                <a:solidFill>
                  <a:srgbClr val="1E293B"/>
                </a:solidFill>
                <a:latin typeface="Calibri"/>
              </a:rPr>
              <a:t>Sản lượng cà phê của thôn em</a:t>
            </a:r>
            <a:r>
              <a:rPr sz="2400">
                <a:solidFill>
                  <a:srgbClr val="1E293B"/>
                </a:solidFill>
                <a:latin typeface="Calibri"/>
              </a:rPr>
              <a:t>: thu thập sản lượng cà phê nhân (hoặc hồ tiêu) của ít nhất 20 hộ, ghi nguồn</a:t>
            </a:r>
          </a:p>
          <a:p>
            <a:pPr algn="l" marL="365760" indent="-365760">
              <a:spcAft>
                <a:spcPts val="800"/>
              </a:spcAft>
              <a:buClr>
                <a:srgbClr val="1E40AF"/>
              </a:buClr>
              <a:buFont typeface="Arial"/>
              <a:buChar char="•"/>
            </a:pPr>
            <a:r>
              <a:rPr sz="2400">
                <a:solidFill>
                  <a:srgbClr val="1E293B"/>
                </a:solidFill>
                <a:latin typeface="Calibri"/>
              </a:rPr>
              <a:t>Lập bảng tần số ghép nhóm (5 – 6 nhóm cùng độ dài) trên Google Sheets</a:t>
            </a:r>
          </a:p>
          <a:p>
            <a:pPr algn="l" marL="365760" indent="-365760">
              <a:spcAft>
                <a:spcPts val="800"/>
              </a:spcAft>
              <a:buClr>
                <a:srgbClr val="1E40AF"/>
              </a:buClr>
              <a:buFont typeface="Arial"/>
              <a:buChar char="•"/>
            </a:pPr>
            <a:r>
              <a:rPr sz="2400">
                <a:solidFill>
                  <a:srgbClr val="1E293B"/>
                </a:solidFill>
                <a:latin typeface="Calibri"/>
              </a:rPr>
              <a:t>Nhận xét nhóm có nhiều hộ nhất</a:t>
            </a:r>
          </a:p>
        </p:txBody>
      </p:sp>
      <p:sp>
        <p:nvSpPr>
          <p:cNvPr id="8" name="Rounded Rectangle 7"/>
          <p:cNvSpPr/>
          <p:nvPr/>
        </p:nvSpPr>
        <p:spPr>
          <a:xfrm>
            <a:off x="731520" y="3514343"/>
            <a:ext cx="9601200" cy="11887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514343"/>
            <a:ext cx="9235440" cy="11887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Nộp 3–5 slide kèm Nhật ký sử dụng AI trên Google Classroom/Padlet trong 1 tuần</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972800" cy="868680"/>
          </a:xfrm>
          <a:prstGeom prst="rect">
            <a:avLst/>
          </a:prstGeom>
          <a:noFill/>
        </p:spPr>
        <p:txBody>
          <a:bodyPr wrap="square" anchor="ctr">
            <a:spAutoFit/>
          </a:bodyPr>
          <a:lstStyle/>
          <a:p>
            <a:r>
              <a:rPr sz="3600" b="1">
                <a:solidFill>
                  <a:srgbClr val="1E40AF"/>
                </a:solidFill>
                <a:latin typeface="Arial"/>
              </a:rPr>
              <a:t>SƠ ĐỒ TƯ DUY – CỦNG CỐ</a:t>
            </a:r>
          </a:p>
        </p:txBody>
      </p:sp>
      <p:sp>
        <p:nvSpPr>
          <p:cNvPr id="4" name="Rectangle 3"/>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8. Mẫu số liệu ghép nhóm          43</a:t>
            </a:r>
          </a:p>
        </p:txBody>
      </p:sp>
      <p:pic>
        <p:nvPicPr>
          <p:cNvPr id="6" name="Picture 5" descr="img02.png"/>
          <p:cNvPicPr>
            <a:picLocks noChangeAspect="1"/>
          </p:cNvPicPr>
          <p:nvPr/>
        </p:nvPicPr>
        <p:blipFill>
          <a:blip r:embed="rId2"/>
          <a:stretch>
            <a:fillRect/>
          </a:stretch>
        </p:blipFill>
        <p:spPr>
          <a:xfrm>
            <a:off x="2213218" y="1417320"/>
            <a:ext cx="7735084" cy="4343400"/>
          </a:xfrm>
          <a:prstGeom prst="rect">
            <a:avLst/>
          </a:prstGeom>
        </p:spPr>
      </p:pic>
      <p:sp>
        <p:nvSpPr>
          <p:cNvPr id="7" name="TextBox 6"/>
          <p:cNvSpPr txBox="1"/>
          <p:nvPr/>
        </p:nvSpPr>
        <p:spPr>
          <a:xfrm>
            <a:off x="731520" y="5806440"/>
            <a:ext cx="10698480" cy="457200"/>
          </a:xfrm>
          <a:prstGeom prst="rect">
            <a:avLst/>
          </a:prstGeom>
          <a:noFill/>
        </p:spPr>
        <p:txBody>
          <a:bodyPr wrap="square" anchor="t" lIns="45720" rIns="45720">
            <a:spAutoFit/>
          </a:bodyPr>
          <a:lstStyle/>
          <a:p>
            <a:pPr algn="ctr">
              <a:spcAft>
                <a:spcPts val="800"/>
              </a:spcAft>
            </a:pPr>
            <a:r>
              <a:rPr sz="2000" b="1">
                <a:solidFill>
                  <a:srgbClr val="1E40AF"/>
                </a:solidFill>
                <a:latin typeface="Calibri"/>
              </a:rPr>
              <a:t>Nêu nội dung từng nhánh</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972800" cy="868680"/>
          </a:xfrm>
          <a:prstGeom prst="rect">
            <a:avLst/>
          </a:prstGeom>
          <a:noFill/>
        </p:spPr>
        <p:txBody>
          <a:bodyPr wrap="square" anchor="ctr">
            <a:spAutoFit/>
          </a:bodyPr>
          <a:lstStyle/>
          <a:p>
            <a:r>
              <a:rPr sz="3600" b="1">
                <a:solidFill>
                  <a:srgbClr val="1E40AF"/>
                </a:solidFill>
                <a:latin typeface="Arial"/>
              </a:rPr>
              <a:t>BÀI TẬP CỦA BẠN</a:t>
            </a:r>
          </a:p>
        </p:txBody>
      </p:sp>
      <p:sp>
        <p:nvSpPr>
          <p:cNvPr id="4" name="Rectangle 3"/>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8. Mẫu số liệu ghép nhóm          44</a:t>
            </a:r>
          </a:p>
        </p:txBody>
      </p:sp>
      <p:sp>
        <p:nvSpPr>
          <p:cNvPr id="6" name="Rectangle 5"/>
          <p:cNvSpPr/>
          <p:nvPr/>
        </p:nvSpPr>
        <p:spPr>
          <a:xfrm>
            <a:off x="731520" y="1463040"/>
            <a:ext cx="4572000" cy="4572000"/>
          </a:xfrm>
          <a:prstGeom prst="rect">
            <a:avLst/>
          </a:prstGeom>
          <a:solidFill>
            <a:srgbClr val="F8FAFC"/>
          </a:solidFill>
          <a:ln w="190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QR_CungCo_Bai8_Toan11.png"/>
          <p:cNvPicPr>
            <a:picLocks noChangeAspect="1"/>
          </p:cNvPicPr>
          <p:nvPr/>
        </p:nvPicPr>
        <p:blipFill>
          <a:blip r:embed="rId2"/>
          <a:stretch>
            <a:fillRect/>
          </a:stretch>
        </p:blipFill>
        <p:spPr>
          <a:xfrm>
            <a:off x="960120" y="1691640"/>
            <a:ext cx="4114800" cy="4114800"/>
          </a:xfrm>
          <a:prstGeom prst="rect">
            <a:avLst/>
          </a:prstGeom>
        </p:spPr>
      </p:pic>
      <p:sp>
        <p:nvSpPr>
          <p:cNvPr id="8" name="TextBox 7"/>
          <p:cNvSpPr txBox="1"/>
          <p:nvPr/>
        </p:nvSpPr>
        <p:spPr>
          <a:xfrm>
            <a:off x="5760720" y="1554480"/>
            <a:ext cx="6035040" cy="310896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600">
                <a:solidFill>
                  <a:srgbClr val="1E293B"/>
                </a:solidFill>
                <a:latin typeface="Calibri"/>
              </a:rPr>
              <a:t>Quét mã QR bằng điện thoại</a:t>
            </a:r>
          </a:p>
          <a:p>
            <a:pPr algn="l" marL="365760" indent="-365760">
              <a:spcAft>
                <a:spcPts val="800"/>
              </a:spcAft>
              <a:buClr>
                <a:srgbClr val="1E40AF"/>
              </a:buClr>
              <a:buFont typeface="Arial"/>
              <a:buChar char="•"/>
            </a:pPr>
            <a:r>
              <a:rPr sz="2600">
                <a:solidFill>
                  <a:srgbClr val="1E293B"/>
                </a:solidFill>
                <a:latin typeface="Calibri"/>
              </a:rPr>
              <a:t>Nhập họ tên và lớp</a:t>
            </a:r>
          </a:p>
          <a:p>
            <a:pPr algn="l" marL="365760" indent="-365760">
              <a:spcAft>
                <a:spcPts val="800"/>
              </a:spcAft>
              <a:buClr>
                <a:srgbClr val="1E40AF"/>
              </a:buClr>
              <a:buFont typeface="Arial"/>
              <a:buChar char="•"/>
            </a:pPr>
            <a:r>
              <a:rPr sz="2600">
                <a:solidFill>
                  <a:srgbClr val="1E293B"/>
                </a:solidFill>
                <a:latin typeface="Calibri"/>
              </a:rPr>
              <a:t>7 câu – làm trong 7 phút</a:t>
            </a:r>
          </a:p>
          <a:p>
            <a:pPr algn="l" marL="365760" indent="-365760">
              <a:spcAft>
                <a:spcPts val="800"/>
              </a:spcAft>
              <a:buClr>
                <a:srgbClr val="1E40AF"/>
              </a:buClr>
              <a:buFont typeface="Arial"/>
              <a:buChar char="•"/>
            </a:pPr>
            <a:r>
              <a:rPr sz="2600">
                <a:solidFill>
                  <a:srgbClr val="1E293B"/>
                </a:solidFill>
                <a:latin typeface="Calibri"/>
              </a:rPr>
              <a:t>Nộp bài, xem lời giải</a:t>
            </a:r>
          </a:p>
        </p:txBody>
      </p:sp>
      <p:sp>
        <p:nvSpPr>
          <p:cNvPr id="9" name="TextBox 8"/>
          <p:cNvSpPr txBox="1"/>
          <p:nvPr/>
        </p:nvSpPr>
        <p:spPr>
          <a:xfrm>
            <a:off x="5760720" y="4754880"/>
            <a:ext cx="6035040" cy="1188720"/>
          </a:xfrm>
          <a:prstGeom prst="rect">
            <a:avLst/>
          </a:prstGeom>
          <a:noFill/>
        </p:spPr>
        <p:txBody>
          <a:bodyPr wrap="square" anchor="t" lIns="45720" rIns="45720">
            <a:spAutoFit/>
          </a:bodyPr>
          <a:lstStyle/>
          <a:p>
            <a:pPr algn="l">
              <a:spcAft>
                <a:spcPts val="800"/>
              </a:spcAft>
            </a:pPr>
            <a:r>
              <a:rPr sz="1800" b="1">
                <a:solidFill>
                  <a:srgbClr val="1E40AF"/>
                </a:solidFill>
                <a:latin typeface="Calibri"/>
                <a:hlinkClick r:id="rId3"/>
              </a:rPr>
              <a:t>trangtu66.github.io/Taode_thi_online/cc_bai8_t11.html</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28600"/>
            <a:ext cx="11277295" cy="731520"/>
          </a:xfrm>
          <a:prstGeom prst="rect">
            <a:avLst/>
          </a:prstGeom>
          <a:noFill/>
        </p:spPr>
        <p:txBody>
          <a:bodyPr wrap="none">
            <a:spAutoFit/>
          </a:bodyPr>
          <a:lstStyle/>
          <a:p>
            <a:r>
              <a:rPr sz="3600" b="1">
                <a:solidFill>
                  <a:srgbClr val="1E40AF"/>
                </a:solidFill>
                <a:latin typeface="Arial"/>
              </a:rPr>
              <a:t>SƠ ĐỒ TƯ DUY BÀI HỌC</a:t>
            </a:r>
          </a:p>
        </p:txBody>
      </p:sp>
      <p:cxnSp>
        <p:nvCxnSpPr>
          <p:cNvPr id="3" name="Connector 2"/>
          <p:cNvCxnSpPr/>
          <p:nvPr/>
        </p:nvCxnSpPr>
        <p:spPr>
          <a:xfrm flipH="1" flipV="1">
            <a:off x="4349389" y="2423160"/>
            <a:ext cx="1746458" cy="1417320"/>
          </a:xfrm>
          <a:prstGeom prst="line">
            <a:avLst/>
          </a:prstGeom>
          <a:ln w="44450">
            <a:solidFill>
              <a:srgbClr val="A4133C"/>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H="1" flipV="1">
            <a:off x="3390954" y="1679204"/>
            <a:ext cx="958435" cy="743956"/>
          </a:xfrm>
          <a:prstGeom prst="line">
            <a:avLst/>
          </a:prstGeom>
          <a:ln w="15875">
            <a:solidFill>
              <a:srgbClr val="8B0A2A"/>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521234" y="1476207"/>
            <a:ext cx="2869720" cy="405993"/>
          </a:xfrm>
          <a:prstGeom prst="ellipse">
            <a:avLst/>
          </a:prstGeom>
          <a:solidFill>
            <a:srgbClr val="FFF1F3"/>
          </a:solidFill>
          <a:ln w="15875">
            <a:solidFill>
              <a:srgbClr val="8B0A2A"/>
            </a:solid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18000" bIns="18000"/>
          <a:lstStyle/>
          <a:p>
            <a:pPr algn="ctr"/>
            <a:r>
              <a:rPr sz="1200" b="1">
                <a:solidFill>
                  <a:srgbClr val="8B0000"/>
                </a:solidFill>
                <a:latin typeface="Calibri"/>
              </a:rPr>
              <a:t>Bảng tần số của các nhóm</a:t>
            </a:r>
          </a:p>
        </p:txBody>
      </p:sp>
      <p:cxnSp>
        <p:nvCxnSpPr>
          <p:cNvPr id="6" name="Connector 5"/>
          <p:cNvCxnSpPr/>
          <p:nvPr/>
        </p:nvCxnSpPr>
        <p:spPr>
          <a:xfrm flipH="1" flipV="1">
            <a:off x="3192834" y="2276856"/>
            <a:ext cx="1156555" cy="146304"/>
          </a:xfrm>
          <a:prstGeom prst="line">
            <a:avLst/>
          </a:prstGeom>
          <a:ln w="15875">
            <a:solidFill>
              <a:srgbClr val="8B0A2A"/>
            </a:solidFill>
          </a:ln>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719354" y="1927555"/>
            <a:ext cx="2473480" cy="698601"/>
          </a:xfrm>
          <a:prstGeom prst="ellipse">
            <a:avLst/>
          </a:prstGeom>
          <a:solidFill>
            <a:srgbClr val="FFF1F3"/>
          </a:solidFill>
          <a:ln w="15875">
            <a:solidFill>
              <a:srgbClr val="8B0A2A"/>
            </a:solid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18000" bIns="18000"/>
          <a:lstStyle/>
          <a:p>
            <a:pPr algn="ctr"/>
            <a:r>
              <a:rPr sz="1200" b="0">
                <a:solidFill>
                  <a:srgbClr val="0F172A"/>
                </a:solidFill>
                <a:latin typeface="Calibri"/>
              </a:rPr>
              <a:t>Nhóm [a; b): a đầu mút</a:t>
            </a:r>
          </a:p>
          <a:p>
            <a:pPr algn="ctr"/>
            <a:r>
              <a:rPr sz="1200" b="0">
                <a:solidFill>
                  <a:srgbClr val="0F172A"/>
                </a:solidFill>
                <a:latin typeface="Calibri"/>
              </a:rPr>
              <a:t>trái, b đầu mút phải</a:t>
            </a:r>
          </a:p>
        </p:txBody>
      </p:sp>
      <p:cxnSp>
        <p:nvCxnSpPr>
          <p:cNvPr id="8" name="Connector 7"/>
          <p:cNvCxnSpPr/>
          <p:nvPr/>
        </p:nvCxnSpPr>
        <p:spPr>
          <a:xfrm flipH="1">
            <a:off x="3295857" y="2423160"/>
            <a:ext cx="1053532" cy="597651"/>
          </a:xfrm>
          <a:prstGeom prst="line">
            <a:avLst/>
          </a:prstGeom>
          <a:ln w="15875">
            <a:solidFill>
              <a:srgbClr val="8B0A2A"/>
            </a:solidFill>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616331" y="2671511"/>
            <a:ext cx="2679525" cy="698601"/>
          </a:xfrm>
          <a:prstGeom prst="ellipse">
            <a:avLst/>
          </a:prstGeom>
          <a:solidFill>
            <a:srgbClr val="FFF1F3"/>
          </a:solidFill>
          <a:ln w="15875">
            <a:solidFill>
              <a:srgbClr val="8B0A2A"/>
            </a:solid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18000" bIns="18000"/>
          <a:lstStyle/>
          <a:p>
            <a:pPr algn="ctr"/>
            <a:r>
              <a:rPr sz="1200" b="0">
                <a:solidFill>
                  <a:srgbClr val="0F172A"/>
                </a:solidFill>
                <a:latin typeface="Calibri"/>
              </a:rPr>
              <a:t>Nhóm cuối có thể lấy đầu</a:t>
            </a:r>
          </a:p>
          <a:p>
            <a:pPr algn="ctr"/>
            <a:r>
              <a:rPr sz="1200" b="0">
                <a:solidFill>
                  <a:srgbClr val="0F172A"/>
                </a:solidFill>
                <a:latin typeface="Calibri"/>
              </a:rPr>
              <a:t>mút phải</a:t>
            </a:r>
          </a:p>
        </p:txBody>
      </p:sp>
      <p:sp>
        <p:nvSpPr>
          <p:cNvPr id="10" name="Oval 9"/>
          <p:cNvSpPr/>
          <p:nvPr/>
        </p:nvSpPr>
        <p:spPr>
          <a:xfrm>
            <a:off x="3621817" y="2183587"/>
            <a:ext cx="1455143" cy="479145"/>
          </a:xfrm>
          <a:prstGeom prst="ellipse">
            <a:avLst/>
          </a:prstGeom>
          <a:gradFill rotWithShape="1">
            <a:gsLst>
              <a:gs pos="0">
                <a:srgbClr val="A4133C"/>
              </a:gs>
              <a:gs pos="100000">
                <a:srgbClr val="5C0017"/>
              </a:gs>
            </a:gsLst>
            <a:lin scaled="0" ang="16200000"/>
          </a:gradFill>
          <a:ln w="285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18000" bIns="18000"/>
          <a:lstStyle/>
          <a:p>
            <a:pPr algn="ctr"/>
            <a:r>
              <a:rPr sz="1500" b="1">
                <a:solidFill>
                  <a:srgbClr val="FFFFFF"/>
                </a:solidFill>
                <a:latin typeface="Calibri"/>
              </a:rPr>
              <a:t>Khái niệm</a:t>
            </a:r>
          </a:p>
        </p:txBody>
      </p:sp>
      <p:cxnSp>
        <p:nvCxnSpPr>
          <p:cNvPr id="11" name="Connector 10"/>
          <p:cNvCxnSpPr/>
          <p:nvPr/>
        </p:nvCxnSpPr>
        <p:spPr>
          <a:xfrm flipV="1">
            <a:off x="6095847" y="2423160"/>
            <a:ext cx="1746458" cy="1417320"/>
          </a:xfrm>
          <a:prstGeom prst="line">
            <a:avLst/>
          </a:prstGeom>
          <a:ln w="44450">
            <a:solidFill>
              <a:srgbClr val="0B3D91"/>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7842305" y="1679204"/>
            <a:ext cx="1053532" cy="743956"/>
          </a:xfrm>
          <a:prstGeom prst="line">
            <a:avLst/>
          </a:prstGeom>
          <a:ln w="15875">
            <a:solidFill>
              <a:srgbClr val="0B3D91"/>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8895837" y="1329903"/>
            <a:ext cx="2679525" cy="698601"/>
          </a:xfrm>
          <a:prstGeom prst="ellipse">
            <a:avLst/>
          </a:prstGeom>
          <a:solidFill>
            <a:srgbClr val="EEF3FC"/>
          </a:solidFill>
          <a:ln w="15875">
            <a:solidFill>
              <a:srgbClr val="0B3D91"/>
            </a:solid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18000" bIns="18000"/>
          <a:lstStyle/>
          <a:p>
            <a:pPr algn="ctr"/>
            <a:r>
              <a:rPr sz="1200" b="0">
                <a:solidFill>
                  <a:srgbClr val="0F172A"/>
                </a:solidFill>
                <a:latin typeface="Calibri"/>
              </a:rPr>
              <a:t>Tên nhóm và tần số tương</a:t>
            </a:r>
          </a:p>
          <a:p>
            <a:pPr algn="ctr"/>
            <a:r>
              <a:rPr sz="1200" b="0">
                <a:solidFill>
                  <a:srgbClr val="0F172A"/>
                </a:solidFill>
                <a:latin typeface="Calibri"/>
              </a:rPr>
              <a:t>ứng</a:t>
            </a:r>
          </a:p>
        </p:txBody>
      </p:sp>
      <p:cxnSp>
        <p:nvCxnSpPr>
          <p:cNvPr id="14" name="Connector 13"/>
          <p:cNvCxnSpPr/>
          <p:nvPr/>
        </p:nvCxnSpPr>
        <p:spPr>
          <a:xfrm>
            <a:off x="7842305" y="2423160"/>
            <a:ext cx="1259577" cy="0"/>
          </a:xfrm>
          <a:prstGeom prst="line">
            <a:avLst/>
          </a:prstGeom>
          <a:ln w="15875">
            <a:solidFill>
              <a:srgbClr val="0B3D91"/>
            </a:solidFill>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9101882" y="2073859"/>
            <a:ext cx="2267435" cy="698601"/>
          </a:xfrm>
          <a:prstGeom prst="ellipse">
            <a:avLst/>
          </a:prstGeom>
          <a:solidFill>
            <a:srgbClr val="EEF3FC"/>
          </a:solidFill>
          <a:ln w="15875">
            <a:solidFill>
              <a:srgbClr val="0B3D91"/>
            </a:solid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18000" bIns="18000"/>
          <a:lstStyle/>
          <a:p>
            <a:pPr algn="ctr"/>
            <a:r>
              <a:rPr sz="1200" b="0">
                <a:solidFill>
                  <a:srgbClr val="0F172A"/>
                </a:solidFill>
                <a:latin typeface="Calibri"/>
              </a:rPr>
              <a:t>Tổng các tần số = cỡ</a:t>
            </a:r>
          </a:p>
          <a:p>
            <a:pPr algn="ctr"/>
            <a:r>
              <a:rPr sz="1200" b="0">
                <a:solidFill>
                  <a:srgbClr val="0F172A"/>
                </a:solidFill>
                <a:latin typeface="Calibri"/>
              </a:rPr>
              <a:t>mẫu</a:t>
            </a:r>
          </a:p>
        </p:txBody>
      </p:sp>
      <p:cxnSp>
        <p:nvCxnSpPr>
          <p:cNvPr id="16" name="Connector 15"/>
          <p:cNvCxnSpPr/>
          <p:nvPr/>
        </p:nvCxnSpPr>
        <p:spPr>
          <a:xfrm>
            <a:off x="7842305" y="2423160"/>
            <a:ext cx="1259577" cy="743955"/>
          </a:xfrm>
          <a:prstGeom prst="line">
            <a:avLst/>
          </a:prstGeom>
          <a:ln w="15875">
            <a:solidFill>
              <a:srgbClr val="0B3D91"/>
            </a:solidFill>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9101882" y="2817815"/>
            <a:ext cx="2267435" cy="698601"/>
          </a:xfrm>
          <a:prstGeom prst="ellipse">
            <a:avLst/>
          </a:prstGeom>
          <a:solidFill>
            <a:srgbClr val="EEF3FC"/>
          </a:solidFill>
          <a:ln w="15875">
            <a:solidFill>
              <a:srgbClr val="0B3D91"/>
            </a:solid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18000" bIns="18000"/>
          <a:lstStyle/>
          <a:p>
            <a:pPr algn="ctr"/>
            <a:r>
              <a:rPr sz="1200" b="0">
                <a:solidFill>
                  <a:srgbClr val="0F172A"/>
                </a:solidFill>
                <a:latin typeface="Calibri"/>
              </a:rPr>
              <a:t>Dùng khi không có số</a:t>
            </a:r>
          </a:p>
          <a:p>
            <a:pPr algn="ctr"/>
            <a:r>
              <a:rPr sz="1200" b="0">
                <a:solidFill>
                  <a:srgbClr val="0F172A"/>
                </a:solidFill>
                <a:latin typeface="Calibri"/>
              </a:rPr>
              <a:t>liệu chính xác</a:t>
            </a:r>
          </a:p>
        </p:txBody>
      </p:sp>
      <p:sp>
        <p:nvSpPr>
          <p:cNvPr id="18" name="Oval 17"/>
          <p:cNvSpPr/>
          <p:nvPr/>
        </p:nvSpPr>
        <p:spPr>
          <a:xfrm>
            <a:off x="6698681" y="2183587"/>
            <a:ext cx="2287247" cy="479145"/>
          </a:xfrm>
          <a:prstGeom prst="ellipse">
            <a:avLst/>
          </a:prstGeom>
          <a:gradFill rotWithShape="1">
            <a:gsLst>
              <a:gs pos="0">
                <a:srgbClr val="0B3D91"/>
              </a:gs>
              <a:gs pos="100000">
                <a:srgbClr val="001233"/>
              </a:gs>
            </a:gsLst>
            <a:lin scaled="0" ang="16200000"/>
          </a:gradFill>
          <a:ln w="285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18000" bIns="18000"/>
          <a:lstStyle/>
          <a:p>
            <a:pPr algn="ctr"/>
            <a:r>
              <a:rPr sz="1500" b="1">
                <a:solidFill>
                  <a:srgbClr val="FFFFFF"/>
                </a:solidFill>
                <a:latin typeface="Calibri"/>
              </a:rPr>
              <a:t>Đọc, giải thích</a:t>
            </a:r>
          </a:p>
        </p:txBody>
      </p:sp>
      <p:cxnSp>
        <p:nvCxnSpPr>
          <p:cNvPr id="19" name="Connector 18"/>
          <p:cNvCxnSpPr/>
          <p:nvPr/>
        </p:nvCxnSpPr>
        <p:spPr>
          <a:xfrm flipH="1">
            <a:off x="4349389" y="3840480"/>
            <a:ext cx="1746458" cy="1417320"/>
          </a:xfrm>
          <a:prstGeom prst="line">
            <a:avLst/>
          </a:prstGeom>
          <a:ln w="44450">
            <a:solidFill>
              <a:srgbClr val="A4133C"/>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flipV="1">
            <a:off x="3141323" y="4660148"/>
            <a:ext cx="1208066" cy="597652"/>
          </a:xfrm>
          <a:prstGeom prst="line">
            <a:avLst/>
          </a:prstGeom>
          <a:ln w="15875">
            <a:solidFill>
              <a:srgbClr val="8B0A2A"/>
            </a:solidFill>
          </a:ln>
        </p:spPr>
        <p:style>
          <a:lnRef idx="2">
            <a:schemeClr val="accent1"/>
          </a:lnRef>
          <a:fillRef idx="0">
            <a:schemeClr val="accent1"/>
          </a:fillRef>
          <a:effectRef idx="1">
            <a:schemeClr val="accent1"/>
          </a:effectRef>
          <a:fontRef idx="minor">
            <a:schemeClr val="tx1"/>
          </a:fontRef>
        </p:style>
      </p:cxnSp>
      <p:sp>
        <p:nvSpPr>
          <p:cNvPr id="21" name="Oval 20"/>
          <p:cNvSpPr/>
          <p:nvPr/>
        </p:nvSpPr>
        <p:spPr>
          <a:xfrm>
            <a:off x="770865" y="4310847"/>
            <a:ext cx="2370458" cy="698601"/>
          </a:xfrm>
          <a:prstGeom prst="ellipse">
            <a:avLst/>
          </a:prstGeom>
          <a:solidFill>
            <a:srgbClr val="FFF1F3"/>
          </a:solidFill>
          <a:ln w="15875">
            <a:solidFill>
              <a:srgbClr val="8B0A2A"/>
            </a:solid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18000" bIns="18000"/>
          <a:lstStyle/>
          <a:p>
            <a:pPr algn="ctr"/>
            <a:r>
              <a:rPr sz="1200" b="0">
                <a:solidFill>
                  <a:srgbClr val="0F172A"/>
                </a:solidFill>
                <a:latin typeface="Calibri"/>
              </a:rPr>
              <a:t>B1: chia miền giá trị</a:t>
            </a:r>
          </a:p>
          <a:p>
            <a:pPr algn="ctr"/>
            <a:r>
              <a:rPr sz="1200" b="0">
                <a:solidFill>
                  <a:srgbClr val="0F172A"/>
                </a:solidFill>
                <a:latin typeface="Calibri"/>
              </a:rPr>
              <a:t>thành các nhóm</a:t>
            </a:r>
          </a:p>
        </p:txBody>
      </p:sp>
      <p:cxnSp>
        <p:nvCxnSpPr>
          <p:cNvPr id="22" name="Connector 21"/>
          <p:cNvCxnSpPr/>
          <p:nvPr/>
        </p:nvCxnSpPr>
        <p:spPr>
          <a:xfrm flipH="1">
            <a:off x="3390954" y="5257800"/>
            <a:ext cx="958435" cy="0"/>
          </a:xfrm>
          <a:prstGeom prst="line">
            <a:avLst/>
          </a:prstGeom>
          <a:ln w="15875">
            <a:solidFill>
              <a:srgbClr val="8B0A2A"/>
            </a:solidFill>
          </a:ln>
        </p:spPr>
        <p:style>
          <a:lnRef idx="2">
            <a:schemeClr val="accent1"/>
          </a:lnRef>
          <a:fillRef idx="0">
            <a:schemeClr val="accent1"/>
          </a:fillRef>
          <a:effectRef idx="1">
            <a:schemeClr val="accent1"/>
          </a:effectRef>
          <a:fontRef idx="minor">
            <a:schemeClr val="tx1"/>
          </a:fontRef>
        </p:style>
      </p:cxnSp>
      <p:sp>
        <p:nvSpPr>
          <p:cNvPr id="23" name="Oval 22"/>
          <p:cNvSpPr/>
          <p:nvPr/>
        </p:nvSpPr>
        <p:spPr>
          <a:xfrm>
            <a:off x="521234" y="5054803"/>
            <a:ext cx="2869720" cy="405993"/>
          </a:xfrm>
          <a:prstGeom prst="ellipse">
            <a:avLst/>
          </a:prstGeom>
          <a:solidFill>
            <a:srgbClr val="FFF1F3"/>
          </a:solidFill>
          <a:ln w="15875">
            <a:solidFill>
              <a:srgbClr val="8B0A2A"/>
            </a:solid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18000" bIns="18000"/>
          <a:lstStyle/>
          <a:p>
            <a:pPr algn="ctr"/>
            <a:r>
              <a:rPr sz="1200" b="1">
                <a:solidFill>
                  <a:srgbClr val="8B0000"/>
                </a:solidFill>
                <a:latin typeface="Calibri"/>
              </a:rPr>
              <a:t>B2: đếm tần số, lập bảng</a:t>
            </a:r>
          </a:p>
        </p:txBody>
      </p:sp>
      <p:cxnSp>
        <p:nvCxnSpPr>
          <p:cNvPr id="24" name="Connector 23"/>
          <p:cNvCxnSpPr/>
          <p:nvPr/>
        </p:nvCxnSpPr>
        <p:spPr>
          <a:xfrm flipH="1">
            <a:off x="3141323" y="5257800"/>
            <a:ext cx="1208066" cy="597651"/>
          </a:xfrm>
          <a:prstGeom prst="line">
            <a:avLst/>
          </a:prstGeom>
          <a:ln w="15875">
            <a:solidFill>
              <a:srgbClr val="8B0A2A"/>
            </a:solidFill>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770865" y="5506151"/>
            <a:ext cx="2370458" cy="698601"/>
          </a:xfrm>
          <a:prstGeom prst="ellipse">
            <a:avLst/>
          </a:prstGeom>
          <a:solidFill>
            <a:srgbClr val="FFF1F3"/>
          </a:solidFill>
          <a:ln w="15875">
            <a:solidFill>
              <a:srgbClr val="8B0A2A"/>
            </a:solid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18000" bIns="18000"/>
          <a:lstStyle/>
          <a:p>
            <a:pPr algn="ctr"/>
            <a:r>
              <a:rPr sz="1200" b="0">
                <a:solidFill>
                  <a:srgbClr val="0F172A"/>
                </a:solidFill>
                <a:latin typeface="Calibri"/>
              </a:rPr>
              <a:t>Độ dài nhóm [a; b) là</a:t>
            </a:r>
          </a:p>
          <a:p>
            <a:pPr algn="ctr"/>
            <a:r>
              <a:rPr sz="1200" b="0">
                <a:solidFill>
                  <a:srgbClr val="0F172A"/>
                </a:solidFill>
                <a:latin typeface="Calibri"/>
              </a:rPr>
              <a:t>b − a</a:t>
            </a:r>
          </a:p>
        </p:txBody>
      </p:sp>
      <p:sp>
        <p:nvSpPr>
          <p:cNvPr id="26" name="Oval 25"/>
          <p:cNvSpPr/>
          <p:nvPr/>
        </p:nvSpPr>
        <p:spPr>
          <a:xfrm>
            <a:off x="3621817" y="5018227"/>
            <a:ext cx="1455143" cy="479145"/>
          </a:xfrm>
          <a:prstGeom prst="ellipse">
            <a:avLst/>
          </a:prstGeom>
          <a:gradFill rotWithShape="1">
            <a:gsLst>
              <a:gs pos="0">
                <a:srgbClr val="A4133C"/>
              </a:gs>
              <a:gs pos="100000">
                <a:srgbClr val="5C0017"/>
              </a:gs>
            </a:gsLst>
            <a:lin scaled="0" ang="16200000"/>
          </a:gradFill>
          <a:ln w="285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18000" bIns="18000"/>
          <a:lstStyle/>
          <a:p>
            <a:pPr algn="ctr"/>
            <a:r>
              <a:rPr sz="1500" b="1">
                <a:solidFill>
                  <a:srgbClr val="FFFFFF"/>
                </a:solidFill>
                <a:latin typeface="Calibri"/>
              </a:rPr>
              <a:t>Ghép nhóm</a:t>
            </a:r>
          </a:p>
        </p:txBody>
      </p:sp>
      <p:cxnSp>
        <p:nvCxnSpPr>
          <p:cNvPr id="27" name="Connector 26"/>
          <p:cNvCxnSpPr/>
          <p:nvPr/>
        </p:nvCxnSpPr>
        <p:spPr>
          <a:xfrm>
            <a:off x="6095847" y="3840480"/>
            <a:ext cx="1746458" cy="1417320"/>
          </a:xfrm>
          <a:prstGeom prst="line">
            <a:avLst/>
          </a:prstGeom>
          <a:ln w="44450">
            <a:solidFill>
              <a:srgbClr val="0B3D91"/>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7842305" y="4660148"/>
            <a:ext cx="1105043" cy="597652"/>
          </a:xfrm>
          <a:prstGeom prst="line">
            <a:avLst/>
          </a:prstGeom>
          <a:ln w="15875">
            <a:solidFill>
              <a:srgbClr val="0B3D91"/>
            </a:solidFill>
          </a:ln>
        </p:spPr>
        <p:style>
          <a:lnRef idx="2">
            <a:schemeClr val="accent1"/>
          </a:lnRef>
          <a:fillRef idx="0">
            <a:schemeClr val="accent1"/>
          </a:fillRef>
          <a:effectRef idx="1">
            <a:schemeClr val="accent1"/>
          </a:effectRef>
          <a:fontRef idx="minor">
            <a:schemeClr val="tx1"/>
          </a:fontRef>
        </p:style>
      </p:cxnSp>
      <p:sp>
        <p:nvSpPr>
          <p:cNvPr id="29" name="Oval 28"/>
          <p:cNvSpPr/>
          <p:nvPr/>
        </p:nvSpPr>
        <p:spPr>
          <a:xfrm>
            <a:off x="8947348" y="4310847"/>
            <a:ext cx="2576502" cy="698601"/>
          </a:xfrm>
          <a:prstGeom prst="ellipse">
            <a:avLst/>
          </a:prstGeom>
          <a:solidFill>
            <a:srgbClr val="EEF3FC"/>
          </a:solidFill>
          <a:ln w="15875">
            <a:solidFill>
              <a:srgbClr val="0B3D91"/>
            </a:solid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18000" bIns="18000"/>
          <a:lstStyle/>
          <a:p>
            <a:pPr algn="ctr"/>
            <a:r>
              <a:rPr sz="1200" b="0">
                <a:solidFill>
                  <a:srgbClr val="0F172A"/>
                </a:solidFill>
                <a:latin typeface="Calibri"/>
              </a:rPr>
              <a:t>Không quá nhiều, quá ít</a:t>
            </a:r>
          </a:p>
          <a:p>
            <a:pPr algn="ctr"/>
            <a:r>
              <a:rPr sz="1200" b="0">
                <a:solidFill>
                  <a:srgbClr val="0F172A"/>
                </a:solidFill>
                <a:latin typeface="Calibri"/>
              </a:rPr>
              <a:t>nhóm</a:t>
            </a:r>
          </a:p>
        </p:txBody>
      </p:sp>
      <p:cxnSp>
        <p:nvCxnSpPr>
          <p:cNvPr id="30" name="Connector 29"/>
          <p:cNvCxnSpPr/>
          <p:nvPr/>
        </p:nvCxnSpPr>
        <p:spPr>
          <a:xfrm>
            <a:off x="7842305" y="5257800"/>
            <a:ext cx="1053532" cy="0"/>
          </a:xfrm>
          <a:prstGeom prst="line">
            <a:avLst/>
          </a:prstGeom>
          <a:ln w="15875">
            <a:solidFill>
              <a:srgbClr val="0B3D91"/>
            </a:solidFill>
          </a:ln>
        </p:spPr>
        <p:style>
          <a:lnRef idx="2">
            <a:schemeClr val="accent1"/>
          </a:lnRef>
          <a:fillRef idx="0">
            <a:schemeClr val="accent1"/>
          </a:fillRef>
          <a:effectRef idx="1">
            <a:schemeClr val="accent1"/>
          </a:effectRef>
          <a:fontRef idx="minor">
            <a:schemeClr val="tx1"/>
          </a:fontRef>
        </p:style>
      </p:cxnSp>
      <p:sp>
        <p:nvSpPr>
          <p:cNvPr id="31" name="Oval 30"/>
          <p:cNvSpPr/>
          <p:nvPr/>
        </p:nvSpPr>
        <p:spPr>
          <a:xfrm>
            <a:off x="8895837" y="5054803"/>
            <a:ext cx="2679525" cy="405993"/>
          </a:xfrm>
          <a:prstGeom prst="ellipse">
            <a:avLst/>
          </a:prstGeom>
          <a:solidFill>
            <a:srgbClr val="EEF3FC"/>
          </a:solidFill>
          <a:ln w="15875">
            <a:solidFill>
              <a:srgbClr val="0B3D91"/>
            </a:solid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18000" bIns="18000"/>
          <a:lstStyle/>
          <a:p>
            <a:pPr algn="ctr"/>
            <a:r>
              <a:rPr sz="1200" b="0">
                <a:solidFill>
                  <a:srgbClr val="0F172A"/>
                </a:solidFill>
                <a:latin typeface="Calibri"/>
              </a:rPr>
              <a:t>Các nhóm không giao nhau</a:t>
            </a:r>
          </a:p>
        </p:txBody>
      </p:sp>
      <p:cxnSp>
        <p:nvCxnSpPr>
          <p:cNvPr id="32" name="Connector 31"/>
          <p:cNvCxnSpPr/>
          <p:nvPr/>
        </p:nvCxnSpPr>
        <p:spPr>
          <a:xfrm>
            <a:off x="7842305" y="5257800"/>
            <a:ext cx="1180329" cy="597651"/>
          </a:xfrm>
          <a:prstGeom prst="line">
            <a:avLst/>
          </a:prstGeom>
          <a:ln w="15875">
            <a:solidFill>
              <a:srgbClr val="0B3D91"/>
            </a:solidFill>
          </a:ln>
        </p:spPr>
        <p:style>
          <a:lnRef idx="2">
            <a:schemeClr val="accent1"/>
          </a:lnRef>
          <a:fillRef idx="0">
            <a:schemeClr val="accent1"/>
          </a:fillRef>
          <a:effectRef idx="1">
            <a:schemeClr val="accent1"/>
          </a:effectRef>
          <a:fontRef idx="minor">
            <a:schemeClr val="tx1"/>
          </a:fontRef>
        </p:style>
      </p:cxnSp>
      <p:sp>
        <p:nvSpPr>
          <p:cNvPr id="33" name="Oval 32"/>
          <p:cNvSpPr/>
          <p:nvPr/>
        </p:nvSpPr>
        <p:spPr>
          <a:xfrm>
            <a:off x="9022634" y="5506151"/>
            <a:ext cx="2425931" cy="698601"/>
          </a:xfrm>
          <a:prstGeom prst="ellipse">
            <a:avLst/>
          </a:prstGeom>
          <a:solidFill>
            <a:srgbClr val="EEF3FC"/>
          </a:solidFill>
          <a:ln w="15875">
            <a:solidFill>
              <a:srgbClr val="0B3D91"/>
            </a:solid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18000" bIns="18000"/>
          <a:lstStyle/>
          <a:p>
            <a:pPr algn="ctr"/>
            <a:r>
              <a:rPr sz="1200" b="1">
                <a:solidFill>
                  <a:srgbClr val="8B0000"/>
                </a:solidFill>
                <a:latin typeface="Calibri"/>
              </a:rPr>
              <a:t>Tổng độ dài &gt; khoảng</a:t>
            </a:r>
          </a:p>
          <a:p>
            <a:pPr algn="ctr"/>
            <a:r>
              <a:rPr sz="1200" b="1">
                <a:solidFill>
                  <a:srgbClr val="8B0000"/>
                </a:solidFill>
                <a:latin typeface="Calibri"/>
              </a:rPr>
              <a:t>biến thiên</a:t>
            </a:r>
          </a:p>
        </p:txBody>
      </p:sp>
      <p:sp>
        <p:nvSpPr>
          <p:cNvPr id="34" name="Oval 33"/>
          <p:cNvSpPr/>
          <p:nvPr/>
        </p:nvSpPr>
        <p:spPr>
          <a:xfrm>
            <a:off x="7392101" y="5018227"/>
            <a:ext cx="900407" cy="479145"/>
          </a:xfrm>
          <a:prstGeom prst="ellipse">
            <a:avLst/>
          </a:prstGeom>
          <a:gradFill rotWithShape="1">
            <a:gsLst>
              <a:gs pos="0">
                <a:srgbClr val="0B3D91"/>
              </a:gs>
              <a:gs pos="100000">
                <a:srgbClr val="001233"/>
              </a:gs>
            </a:gsLst>
            <a:lin scaled="0" ang="16200000"/>
          </a:gradFill>
          <a:ln w="285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18000" bIns="18000"/>
          <a:lstStyle/>
          <a:p>
            <a:pPr algn="ctr"/>
            <a:r>
              <a:rPr sz="1500" b="1">
                <a:solidFill>
                  <a:srgbClr val="FFFFFF"/>
                </a:solidFill>
                <a:latin typeface="Calibri"/>
              </a:rPr>
              <a:t>Lưu ý</a:t>
            </a:r>
          </a:p>
        </p:txBody>
      </p:sp>
      <p:sp>
        <p:nvSpPr>
          <p:cNvPr id="35" name="Oval 34"/>
          <p:cNvSpPr/>
          <p:nvPr/>
        </p:nvSpPr>
        <p:spPr>
          <a:xfrm>
            <a:off x="4892127" y="3369259"/>
            <a:ext cx="2407440" cy="942441"/>
          </a:xfrm>
          <a:prstGeom prst="ellipse">
            <a:avLst/>
          </a:prstGeom>
          <a:gradFill rotWithShape="1">
            <a:gsLst>
              <a:gs pos="0">
                <a:srgbClr val="0B3D91"/>
              </a:gs>
              <a:gs pos="100000">
                <a:srgbClr val="001233"/>
              </a:gs>
            </a:gsLst>
            <a:lin scaled="0" ang="16200000"/>
          </a:gradFill>
          <a:ln w="31750">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18000" bIns="18000"/>
          <a:lstStyle/>
          <a:p>
            <a:pPr algn="ctr"/>
            <a:r>
              <a:rPr sz="1700" b="1">
                <a:solidFill>
                  <a:srgbClr val="FFFFFF"/>
                </a:solidFill>
                <a:latin typeface="Calibri"/>
              </a:rPr>
              <a:t>BÀI 8 MẪU SỐ</a:t>
            </a:r>
          </a:p>
          <a:p>
            <a:pPr algn="ctr"/>
            <a:r>
              <a:rPr sz="1700" b="1">
                <a:solidFill>
                  <a:srgbClr val="FFFFFF"/>
                </a:solidFill>
                <a:latin typeface="Calibri"/>
              </a:rPr>
              <a:t>LIỆU GHÉP NHÓM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TTT</dc:creator>
  <cp:keywords/>
  <dc:description>generated using python-pptx</dc:description>
  <cp:lastModifiedBy>TTT</cp:lastModifiedBy>
  <cp:revision>1</cp:revision>
  <dcterms:created xsi:type="dcterms:W3CDTF">2013-01-27T09:14:16Z</dcterms:created>
  <dcterms:modified xsi:type="dcterms:W3CDTF">2013-01-27T09:15:58Z</dcterms:modified>
  <cp:category/>
</cp:coreProperties>
</file>