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hyperlink" Target="https://trangtu66.github.io/Taode_thi_online/cc_cd1bai3_t11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PHÉP ĐỐI XỨNG TRỤC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Chuyên đề 1. Phép biến hình phẳng – Bài 3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566160"/>
            <a:ext cx="2286000" cy="300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Chuyên đề học tập Toán 11 (Kết nối tri thức với cuộc sống)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Tiết 5 – 6 (chuyên đề) · Năm học 2026 – 2027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GV soạn: TTT – Trường THPT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3. Phép đối xứng trục  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685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Hiểu phép đối xứng trục Đ</a:t>
            </a:r>
            <a:r>
              <a:rPr sz="2600" baseline="-25000">
                <a:solidFill>
                  <a:srgbClr val="1E293B"/>
                </a:solidFill>
                <a:latin typeface="Calibri"/>
              </a:rPr>
              <a:t>d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Nhận biết trục đối xứng của hình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Tìm ảnh qua Đ</a:t>
            </a:r>
            <a:r>
              <a:rPr sz="2600" baseline="-25000">
                <a:solidFill>
                  <a:srgbClr val="1E293B"/>
                </a:solidFill>
                <a:latin typeface="Calibri"/>
              </a:rPr>
              <a:t>Ox</a:t>
            </a:r>
            <a:r>
              <a:rPr sz="2600">
                <a:solidFill>
                  <a:srgbClr val="1E293B"/>
                </a:solidFill>
                <a:latin typeface="Calibri"/>
              </a:rPr>
              <a:t>, Đ</a:t>
            </a:r>
            <a:r>
              <a:rPr sz="2600" baseline="-25000">
                <a:solidFill>
                  <a:srgbClr val="1E293B"/>
                </a:solidFill>
                <a:latin typeface="Calibri"/>
              </a:rPr>
              <a:t>Oy</a:t>
            </a:r>
            <a:r>
              <a:rPr sz="2600">
                <a:solidFill>
                  <a:srgbClr val="1E293B"/>
                </a:solidFill>
                <a:latin typeface="Calibri"/>
              </a:rPr>
              <a:t>, Đ</a:t>
            </a:r>
            <a:r>
              <a:rPr sz="2600" baseline="-25000">
                <a:solidFill>
                  <a:srgbClr val="1E293B"/>
                </a:solidFill>
                <a:latin typeface="Calibri"/>
              </a:rPr>
              <a:t>Δ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Nắm tính chất bảo toàn khoảng cách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Giải bài toán đường đi ngắn nhất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Thiết kế hình cân đối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ĐỘNG: SỰ CÂN ĐỐI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3. Phép đối xứng trục        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Nhà Rông có trục đối xứng?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Gấp theo trục: điểm nào trùng?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9776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Diễn đạt sự cân đối bằng Toán</a:t>
            </a:r>
          </a:p>
        </p:txBody>
      </p:sp>
      <p:pic>
        <p:nvPicPr>
          <p:cNvPr id="9" name="Picture 8" descr="rI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997039"/>
            <a:ext cx="4389120" cy="364116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1. PHÉP ĐỐI XỨNG TRỤC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3. Phép đối xứng trục        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Kí hiệu: Đ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d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H nhận d làm trục ⇔ Đ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d</a:t>
            </a:r>
            <a:r>
              <a:rPr sz="2400">
                <a:solidFill>
                  <a:srgbClr val="1E293B"/>
                </a:solidFill>
                <a:latin typeface="Calibri"/>
              </a:rPr>
              <a:t>(H) = 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Cầu Ponte Sisto và bóng dưới sông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d là trung trực của MM′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M ∈ d thì Đ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d</a:t>
            </a:r>
            <a:r>
              <a:rPr sz="2400" b="1">
                <a:solidFill>
                  <a:srgbClr val="991B1B"/>
                </a:solidFill>
                <a:latin typeface="Calibri"/>
              </a:rPr>
              <a:t>(M) = M</a:t>
            </a:r>
          </a:p>
        </p:txBody>
      </p:sp>
      <p:pic>
        <p:nvPicPr>
          <p:cNvPr id="9" name="Picture 8" descr="rId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623060"/>
            <a:ext cx="43891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BIỂU THỨC TỌA ĐỘ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3. Phép đối xứng trục         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Luyện tập 1: Đ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Ox</a:t>
            </a:r>
            <a:r>
              <a:rPr sz="2400">
                <a:solidFill>
                  <a:srgbClr val="1E293B"/>
                </a:solidFill>
                <a:latin typeface="Calibri"/>
              </a:rPr>
              <a:t>(A(1; 2)) = A′(1; −2)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Luyện tập 2: 3x − y − 1 = 0 ↦ 3x + y − 1 = 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9776"/>
            <a:ext cx="6400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6035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Đ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Ox</a:t>
            </a:r>
            <a:r>
              <a:rPr sz="2400" b="1">
                <a:solidFill>
                  <a:srgbClr val="991B1B"/>
                </a:solidFill>
                <a:latin typeface="Calibri"/>
              </a:rPr>
              <a:t>: M(x; y) ↦ M′(x; −y)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Đ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Oy</a:t>
            </a:r>
            <a:r>
              <a:rPr sz="2400" b="1">
                <a:solidFill>
                  <a:srgbClr val="991B1B"/>
                </a:solidFill>
                <a:latin typeface="Calibri"/>
              </a:rPr>
              <a:t>: M(x; y) ↦ M′(−x; y)</a:t>
            </a:r>
          </a:p>
        </p:txBody>
      </p:sp>
      <p:pic>
        <p:nvPicPr>
          <p:cNvPr id="9" name="Picture 8" descr="rId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553170"/>
            <a:ext cx="4389120" cy="45289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3. Phép đối xứng trục          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226771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Δ: x + 3y − 15 = 0,   N(−1; 2)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Trung điểm I của NN′ thuộc Δ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N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⟂Δ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cùng phương </a:t>
                </a:r>
                <a14:m>
                  <m:oMath xmlns:m="http://schemas.openxmlformats.org/officeDocument/2006/math">
                    <m:limUp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li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</m:lim>
                    </m:limUp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=(1;3)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N′(−1 + t; 2 + 3t) ⇒ t = 2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226771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Δ: x + 3y − 15 = 0,   N(−1; 2)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Trung điểm I của NN′ thuộc Δ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NN'\perp\Delta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cùng phương </a:t>
                </a:r>
                <a:r>
                  <a:rPr lang="vi-VN"/>
                  <a:t>\vec{n}=(1;3)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N′(−1 + t; 2 + 3t) ⇒ t = 2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913632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N′(1; 8)</a:t>
            </a:r>
          </a:p>
        </p:txBody>
      </p:sp>
      <p:pic>
        <p:nvPicPr>
          <p:cNvPr id="9" name="Picture 8" descr="rId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950474"/>
            <a:ext cx="4389120" cy="373429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2. TÍNH CHẤT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3. Phép đối xứng trục         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Đoạn thẳng, tam giác ↦ hình bằng nó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Đường tròn ↦ đường tròn cùng bán kính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Đường thẳng ↦ đường thẳng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Bảo toàn khoảng cách: M′N′ = MN</a:t>
            </a:r>
          </a:p>
        </p:txBody>
      </p:sp>
      <p:pic>
        <p:nvPicPr>
          <p:cNvPr id="9" name="Picture 8" descr="rId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2406" y="4169664"/>
            <a:ext cx="4036708" cy="20482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3. Phép đối xứng trục         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(C): (x − 3)² + (y − 5)² = 36,   Δ: x + 2y − 3 = 0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Tâm A(3; 5) ↦ A′(−1; −3) qua Δ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Bán kính giữ nguyên R =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(C′): (x + 1)² + (y + 3)² = 36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3: ĐƯỜNG ĐI NGẮN NHẤT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3. Phép đối xứng trục         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Tìm M ∈ Δ để MA + MB nhỏ nhất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A, B khác phía: M = AB ∩ Δ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A, B cùng phía: lấy A′ = Đ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Δ</a:t>
            </a:r>
            <a:r>
              <a:rPr sz="2400">
                <a:solidFill>
                  <a:srgbClr val="1E293B"/>
                </a:solidFill>
                <a:latin typeface="Calibri"/>
              </a:rPr>
              <a:t>(A)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MA + MB = MA′ + MB ≥ A′B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13632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M = A′B ∩ Δ</a:t>
            </a:r>
          </a:p>
        </p:txBody>
      </p:sp>
      <p:pic>
        <p:nvPicPr>
          <p:cNvPr id="9" name="Picture 8" descr="rId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090249"/>
            <a:ext cx="4389120" cy="345474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1.6 – 1.9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3. Phép đối xứng trục        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1.6: đối xứng qua trung trực AB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1.7: trung trực của O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1</a:t>
            </a:r>
            <a:r>
              <a:rPr sz="2400">
                <a:solidFill>
                  <a:srgbClr val="1E293B"/>
                </a:solidFill>
                <a:latin typeface="Calibri"/>
              </a:rPr>
              <a:t>O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2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1.8: ABMN là hình thang cân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1.9: d: x − 2y − 1 = 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13632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Đ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Ox</a:t>
            </a:r>
            <a:r>
              <a:rPr sz="2400" b="1">
                <a:solidFill>
                  <a:srgbClr val="991B1B"/>
                </a:solidFill>
                <a:latin typeface="Calibri"/>
              </a:rPr>
              <a:t>: thay y bởi −y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3. Phép đối xứng trục         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Tìm lỗi trong lời giải 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chỉ dùng “trung điểm thuộc Δ”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Đ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Ox</a:t>
            </a:r>
            <a:r>
              <a:rPr sz="2400">
                <a:solidFill>
                  <a:srgbClr val="1E293B"/>
                </a:solidFill>
                <a:latin typeface="Calibri"/>
              </a:rPr>
              <a:t>: (x; y) ↦ (−x; 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Thiếu NN′ ⊥ Δ; đúng: N′(1; 8)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Đ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Ox</a:t>
            </a:r>
            <a:r>
              <a:rPr sz="2400" b="1">
                <a:solidFill>
                  <a:srgbClr val="991B1B"/>
                </a:solidFill>
                <a:latin typeface="Calibri"/>
              </a:rPr>
              <a:t>: (x; y) ↦ (x; −y)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NHIỆM VỤ NHÓM: NHÀ RÔNG VÀ TRẠM BƠM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3. Phép đối xứng trục        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401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Vẽ nửa mặt tiền nhà Rông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Dùng Reflect qua trục Oy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Kiểm tra bằng biểu thức tọa độ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Đặt trạm bơm: MA + MB nhỏ nhất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Tính chi phí ống 25 000 đồng/m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Nộp tệp GeoGebra, Nhật ký 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3. Phép đối xứng trục          13</a:t>
            </a:r>
          </a:p>
        </p:txBody>
      </p:sp>
      <p:cxnSp>
        <p:nvCxnSpPr>
          <p:cNvPr id="6" name="Connector 5"/>
          <p:cNvCxnSpPr/>
          <p:nvPr/>
        </p:nvCxnSpPr>
        <p:spPr>
          <a:xfrm flipH="1" flipV="1">
            <a:off x="4338888" y="2670962"/>
            <a:ext cx="1688379" cy="1283818"/>
          </a:xfrm>
          <a:prstGeom prst="line">
            <a:avLst/>
          </a:prstGeom>
          <a:ln w="44450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 flipV="1">
            <a:off x="2593073" y="2043450"/>
            <a:ext cx="1745815" cy="627512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019568" y="1867849"/>
            <a:ext cx="1573505" cy="351200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Trục đối xứng d</a:t>
            </a:r>
          </a:p>
        </p:txBody>
      </p:sp>
      <p:cxnSp>
        <p:nvCxnSpPr>
          <p:cNvPr id="9" name="Connector 8"/>
          <p:cNvCxnSpPr/>
          <p:nvPr/>
        </p:nvCxnSpPr>
        <p:spPr>
          <a:xfrm flipH="1" flipV="1">
            <a:off x="2642603" y="2570251"/>
            <a:ext cx="1696285" cy="100711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70038" y="2293940"/>
            <a:ext cx="1672565" cy="552622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d là trung trực</a:t>
            </a:r>
          </a:p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của MM'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2593073" y="2670962"/>
            <a:ext cx="1745815" cy="526801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019568" y="2921452"/>
            <a:ext cx="1573505" cy="552622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Điểm trên d bất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động</a:t>
            </a:r>
          </a:p>
        </p:txBody>
      </p:sp>
      <p:sp>
        <p:nvSpPr>
          <p:cNvPr id="13" name="Oval 12"/>
          <p:cNvSpPr/>
          <p:nvPr/>
        </p:nvSpPr>
        <p:spPr>
          <a:xfrm>
            <a:off x="3502606" y="2427575"/>
            <a:ext cx="1672565" cy="486773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Định nghĩa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6027267" y="2670962"/>
            <a:ext cx="1688379" cy="1283818"/>
          </a:xfrm>
          <a:prstGeom prst="line">
            <a:avLst/>
          </a:prstGeom>
          <a:ln w="44450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7715646" y="1942739"/>
            <a:ext cx="1788741" cy="728223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504387" y="1666427"/>
            <a:ext cx="1487653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Qua Ox: (x; y)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↦ (x; −y)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7715646" y="2570251"/>
            <a:ext cx="1788741" cy="100711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504387" y="2293940"/>
            <a:ext cx="1487653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Qua Oy: (x; y)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↦ (−x; y)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15646" y="2670962"/>
            <a:ext cx="1874593" cy="627512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590239" y="2921452"/>
            <a:ext cx="1315949" cy="754044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Qua y = x: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(x; y) ↦ (y;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x)</a:t>
            </a:r>
          </a:p>
        </p:txBody>
      </p:sp>
      <p:sp>
        <p:nvSpPr>
          <p:cNvPr id="21" name="Oval 20"/>
          <p:cNvSpPr/>
          <p:nvPr/>
        </p:nvSpPr>
        <p:spPr>
          <a:xfrm>
            <a:off x="6671337" y="2259078"/>
            <a:ext cx="2088617" cy="823767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Biểu thức toạ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độ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4338888" y="3954780"/>
            <a:ext cx="1688379" cy="1283817"/>
          </a:xfrm>
          <a:prstGeom prst="line">
            <a:avLst/>
          </a:prstGeom>
          <a:ln w="444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2635999" y="4711796"/>
            <a:ext cx="1702889" cy="526801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76642" y="4536196"/>
            <a:ext cx="1659357" cy="351200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Là phép dời hình</a:t>
            </a:r>
          </a:p>
        </p:txBody>
      </p:sp>
      <p:cxnSp>
        <p:nvCxnSpPr>
          <p:cNvPr id="25" name="Connector 24"/>
          <p:cNvCxnSpPr/>
          <p:nvPr/>
        </p:nvCxnSpPr>
        <p:spPr>
          <a:xfrm flipH="1" flipV="1">
            <a:off x="2464295" y="5137886"/>
            <a:ext cx="1874593" cy="100711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148346" y="4962286"/>
            <a:ext cx="1315949" cy="351200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Bảo toàn góc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2635999" y="5238597"/>
            <a:ext cx="1702889" cy="426090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76642" y="5388376"/>
            <a:ext cx="1659357" cy="552622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Hình có trục đối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xứng</a:t>
            </a:r>
          </a:p>
        </p:txBody>
      </p:sp>
      <p:sp>
        <p:nvSpPr>
          <p:cNvPr id="29" name="Oval 28"/>
          <p:cNvSpPr/>
          <p:nvPr/>
        </p:nvSpPr>
        <p:spPr>
          <a:xfrm>
            <a:off x="3571948" y="4995210"/>
            <a:ext cx="1533881" cy="486773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Tính chất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27267" y="3954780"/>
            <a:ext cx="1688379" cy="1283817"/>
          </a:xfrm>
          <a:prstGeom prst="line">
            <a:avLst/>
          </a:prstGeom>
          <a:ln w="444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7715646" y="4711796"/>
            <a:ext cx="1659963" cy="526801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375609" y="4435485"/>
            <a:ext cx="1745209" cy="552622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Cầu, nhà, đền đối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xứng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715646" y="5238597"/>
            <a:ext cx="1831667" cy="0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547313" y="5062997"/>
            <a:ext cx="1401801" cy="351200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Hoa văn, logo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715646" y="5238597"/>
            <a:ext cx="1659963" cy="526801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375609" y="5489087"/>
            <a:ext cx="1745209" cy="552622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Bài toán đường đi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ngắn nhất</a:t>
            </a:r>
          </a:p>
        </p:txBody>
      </p:sp>
      <p:sp>
        <p:nvSpPr>
          <p:cNvPr id="37" name="Oval 36"/>
          <p:cNvSpPr/>
          <p:nvPr/>
        </p:nvSpPr>
        <p:spPr>
          <a:xfrm>
            <a:off x="7018047" y="4995210"/>
            <a:ext cx="1395197" cy="486773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Ứng dụng</a:t>
            </a:r>
          </a:p>
        </p:txBody>
      </p:sp>
      <p:sp>
        <p:nvSpPr>
          <p:cNvPr id="38" name="Oval 37"/>
          <p:cNvSpPr/>
          <p:nvPr/>
        </p:nvSpPr>
        <p:spPr>
          <a:xfrm>
            <a:off x="4862765" y="3089696"/>
            <a:ext cx="2329003" cy="1730166"/>
          </a:xfrm>
          <a:prstGeom prst="ellipse">
            <a:avLst/>
          </a:prstGeom>
          <a:solidFill>
            <a:srgbClr val="002060"/>
          </a:solidFill>
          <a:ln w="25400">
            <a:solidFill>
              <a:srgbClr val="000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CHUYÊN ĐỀ 1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– BÀI 3: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PHÉP ĐỐI XỨNG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TRỤC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Chuyên đề 1 – Bài 3. Phép đối xứng trục         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572000" cy="45720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CungCo_CD1_Bai3_Toan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9164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1554480"/>
            <a:ext cx="6035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Quét mã QR bằng điện thoại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Nhập họ tên và lớp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7 câu – làm trong 7 phút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Nộp bài, xem lời giải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754880"/>
            <a:ext cx="6035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E40AF"/>
                </a:solidFill>
                <a:latin typeface="Calibri"/>
                <a:hlinkClick r:id="rId3"/>
              </a:rPr>
              <a:t>trangtu66.github.io/Taode_thi_online/cc_cd1bai3_t11.html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TTT</dc:creator>
  <cp:keywords/>
  <dc:description>generated using python-pptx</dc:description>
  <cp:lastModifiedBy>TTT</cp:lastModifiedBy>
  <cp:revision>1</cp:revision>
  <dcterms:created xsi:type="dcterms:W3CDTF">2013-01-27T09:14:16Z</dcterms:created>
  <dcterms:modified xsi:type="dcterms:W3CDTF">2013-01-27T09:15:58Z</dcterms:modified>
  <cp:category/>
</cp:coreProperties>
</file>