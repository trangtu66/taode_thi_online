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Khởi động 5' – HĐ1, dãy vô hạn 8' – Ví dụ 1: 3' – HĐ2, dãy hữu hạn, Ví dụ 2, LT1: 8' – HĐ3, các cách cho dãy số 6' – Ví dụ 3 – 6: 8' – LT2: 4' – Tổng kết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5'. Gợi mở: P1, P2, P3,... có đặc điểm gì? Năm 2030 ứng với n bằng bao nhiêu? Giải ở Ví dụ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HĐ1: click 1. Chốt khung, Chú ý (click 2). Ví dụ 1: click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HĐ2: click 1. Chốt khung (click 2). Ví dụ 2: click 3. LT1: click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HĐ3: click 1.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trình bày. Click 1–4. Ví dụ 4: số nguyên tố – phương pháp mô tả (chưa có công thức tổng quát).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3'. Click 1,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Chú ý trục số 2' – HĐ4, tăng giảm, Ví dụ 7, LT3: 9' – HĐ5, bị chặn, Ví dụ 8, LT4: 9' – Vận dụng 4' – Bài tập 2.3, 2.4, 2.6, 2.7: 8' – Rung chuông vàng 9' – Củng cố 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Dãy $u_n=(-1)^n/2^n$: các số hạng lần lượt trái – phải điểm 0 và dồn về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HĐ4: click 1. Chốt khung (click 2). Ví dụ 7: click 3. LT3: click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HĐ5: click 1. Chốt khung (click 2). Ví dụ 8: click 3. LT4: click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Click 1, 2. Liên hệ: lương, thưởng tăng dần theo năm.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Chữa nhanh, click hiện đáp án (đối chiếu KHBD;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hiện đáp án (đã kiểm tra bằng Python). 2.7: lãi tính trên số tiền còn nợ.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5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 – Đ – S –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1/VIDEO_MoDau_TOAN11_Bai5_DaySo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hyperlink" Target="https://trangtu66.github.io/Taode_thi_online/cc_bai5_t11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II. DÃY SỐ. CẤP SỐ CỘNG VÀ CẤP SỐ NHÂN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BÀI 5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DÃY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2 tiết: T11 – T12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257860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25054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tr.42)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dãy số hữu hạn, dãy số vô hạn.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Thể hiện cách cho dãy số bằng liệt kê các số hạng; bằng công thức tổng quát; bằng hệ thức truy hồi; bằng cách mô tả.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tính chất tăng, giảm, bị chặn của dãy số trong những trường hợp đơn giản.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24528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(dân số, lương, tiết kiệm, trả góp); giải quyết vấn đề; sử dụng công cụ (máy tính cầm tay, bảng tính).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2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1. Định nghĩa dãy số (vô hạn, hữu hạn). 2. Các cách cho một dãy số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Ai nhanh hơn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3. Dãy số tăng, giảm, bị chặn; Vận dụng; bài tập; Em có biết (Fibonacci)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Rung chuông vàng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(T11)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Định nghĩa dãy số. Các cách cho một dãy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Nhận biết dãy số vô hạn, hữu hạn.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Cho dãy số bằng liệt kê, công thức, mô tả, truy hồi.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DÂN SỐ THÀNH PHỐ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Năm 2020, số dân của một thành phố trực thuộc tỉnh là khoảng 500 nghìn người. Người ta ước tính số dân tăng trưởng với tốc độ khoảng 2% mỗi năm. Khi đó số dân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(nghìn người) sau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năm, kể từ năm 2020, được tính bằng công thức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=500(1+0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02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Hỏi nếu tăng trưởng theo quy luật như vậy thì vào năm 2030, số dân của thành phố đó là khoảng bao nhiêu nghìn người?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tr.42)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Năm 2020, số dân của một thành phố trực thuộc tỉnh là khoảng 500 nghìn người. Người ta ước tính số dân tăng trưởng với tốc độ khoảng 2% mỗi năm. Khi đó số dân </a:t>
                </a:r>
                <a:r>
                  <a:rPr lang="vi-VN"/>
                  <a:t>P_n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(nghìn người) sau </a:t>
                </a:r>
                <a:r>
                  <a:rPr lang="vi-VN"/>
                  <a:t>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năm, kể từ năm 2020, được tính bằng công thức </a:t>
                </a:r>
                <a:r>
                  <a:rPr lang="vi-VN"/>
                  <a:t>P_n=500(1+0{,}02)^n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Hỏi nếu tăng trưởng theo quy luật như vậy thì vào năm 2030, số dân của thành phố đó là khoảng bao nhiêu nghìn người?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tr.42)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hc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492883"/>
            <a:ext cx="4389120" cy="19636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1. ĐỊNH NGHĨA DÃY SỐ – HĐ1 (SGK TR.42)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Viết năm số chính phương đầu theo thứ tự tăng dần. Từ đó, dự đoán công thức tính số chính phương thứ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Viết năm số chính phương đầu theo thứ tự tăng dần. Từ đó, dự đoán công thức tính số chính phương thứ </a:t>
                </a:r>
                <a:r>
                  <a:rPr lang="vi-VN"/>
                  <a:t>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048255"/>
            <a:ext cx="11064240" cy="5394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084831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số chính phương thứ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084831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1,\ 4,\ 9,\ 16,\ 25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số chính phương thứ </a:t>
                </a:r>
                <a:r>
                  <a:rPr lang="vi-VN"/>
                  <a:t>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u_n=n^2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2633471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2670047"/>
                <a:ext cx="10735056" cy="1664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Mỗi hàm số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xác định trên tập các số nguyên dương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được gọi là một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dãy số vô hạn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(gọi tắt là dãy số), kí hiệu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u=u(n)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Ta thường viết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thay cho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u(n)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kí hiệu dãy số là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viết dưới dạng khai triển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Số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gọi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số hạng đầu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số hạng thứ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gọi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số hạng tổng quát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∀n∈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=c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thì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18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được gọi là dãy số không đổi.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2670047"/>
                <a:ext cx="10735056" cy="166420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Mỗi hàm số </a:t>
                </a:r>
                <a:r>
                  <a:rPr lang="vi-VN"/>
                  <a:t>u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xác định trên tập các số nguyên dương </a:t>
                </a:r>
                <a:r>
                  <a:rPr lang="vi-VN"/>
                  <a:t>\mathbb{N}^*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được gọi là một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dãy số vô hạn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(gọi tắt là dãy số), kí hiệu </a:t>
                </a:r>
                <a:r>
                  <a:rPr lang="vi-VN"/>
                  <a:t>u=u(n)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Ta thường viết </a:t>
                </a:r>
                <a:r>
                  <a:rPr lang="vi-VN"/>
                  <a:t>u_n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thay cho </a:t>
                </a:r>
                <a:r>
                  <a:rPr lang="vi-VN"/>
                  <a:t>u(n)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kí hiệu dãy số là </a:t>
                </a:r>
                <a:r>
                  <a:rPr lang="vi-VN"/>
                  <a:t>(u_n)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viết dưới dạng khai triển </a:t>
                </a:r>
                <a:r>
                  <a:rPr lang="vi-VN"/>
                  <a:t>u_1,\ u_2,\ u_3,\ldots,\ u_n,\ldots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Số </a:t>
                </a:r>
                <a:r>
                  <a:rPr lang="vi-VN"/>
                  <a:t>u_1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gọi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số hạng đầu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là số hạng thứ </a:t>
                </a:r>
                <a:r>
                  <a:rPr lang="vi-VN"/>
                  <a:t>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gọi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số hạng tổng quát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\forall n\in\mathbb{N}^*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u_n=c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thì </a:t>
                </a:r>
                <a:r>
                  <a:rPr lang="vi-VN"/>
                  <a:t>(u_n)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được gọi là dãy số không đổi.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4416551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Xác định số hạng đầu và số hạng tổng quát: a) các số tự nhiên lẻ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7,…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các số nguyên dương chia hết cho 5: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10,</m:t>
                    </m:r>
                    <m:r>
                      <m:rPr>
                        <m:sty m:val="p"/>
                      </m:rP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15,…</m:t>
                    </m:r>
                  </m:oMath>
                </a14:m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4416551"/>
                <a:ext cx="11064240" cy="7223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Xác định số hạng đầu và số hạng tổng quát: a) các số tự nhiên lẻ </a:t>
                </a:r>
                <a:r>
                  <a:rPr lang="vi-VN"/>
                  <a:t>1,\ 3,\ 5,\ 7,\ldots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; b) các số nguyên dương chia hết cho 5: </a:t>
                </a:r>
                <a:r>
                  <a:rPr lang="vi-VN"/>
                  <a:t>5,\ 10,\ 15,\ldots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5184647"/>
            <a:ext cx="11064240" cy="5394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221223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=2n−1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=5n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221223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u_1=1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u_n=2n-1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v_1=5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v_n=5n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DÃY SỐ HỮU HẠN – HĐ2 (SGK TR.43)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Liệt kê các số chính phương nhỏ hơn 50 theo thứ tự tăng dần. b) Viết công thức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nêu điều kiện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Liệt kê các số chính phương nhỏ hơn 50 theo thứ tự tăng dần. b) Viết công thức </a:t>
                </a:r>
                <a:r>
                  <a:rPr lang="vi-VN"/>
                  <a:t>u_n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nêu điều kiện của </a:t>
                </a:r>
                <a:r>
                  <a:rPr lang="vi-VN"/>
                  <a:t>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82368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18944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25,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36,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n∈{1;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2;…;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7}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18944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1,\ 4,\ 9,\ 16,\ 25,\ 36,\ 49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u_n=n^2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n\in\{1;\ 2;\ldots;\ 7\}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2825496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2862072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Mỗi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xác định trên tập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M={1;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3;…;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m}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m∈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được gọi là một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hữu hạn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Dạng khai triển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số hạng đầu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số hạng cuối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2862072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Mỗi hàm số </a:t>
                </a:r>
                <a:r>
                  <a:rPr lang="vi-VN"/>
                  <a:t>u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xác định trên tập </a:t>
                </a:r>
                <a:r>
                  <a:rPr lang="vi-VN"/>
                  <a:t>M=\{1;\ 2;\ 3;\ldots;\ m\}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m\in\mathbb{N}^*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được gọi là một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dãy số hữu hạn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Dạng khai triển </a:t>
                </a:r>
                <a:r>
                  <a:rPr lang="vi-VN"/>
                  <a:t>u_1,\ u_2,\ldots,\ u_m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số hạng đầu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số hạng cuối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3773424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Dãy số hữu hạn các số tự nhiên lẻ nhỏ hơn 20: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5,…,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số hạng đầu 1, số hạng cuối 19.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773424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Dãy số hữu hạn các số tự nhiên lẻ nhỏ hơn 20: </a:t>
                </a:r>
                <a:r>
                  <a:rPr lang="vi-VN"/>
                  <a:t>1,\ 3,\ 5,\ldots,\ 19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số hạng đầu 1, số hạng cuối 19.</a:t>
                </a:r>
              </a:p>
            </p:txBody>
          </p:sp>
        </mc:Fallback>
      </mc:AlternateContent>
      <p:sp>
        <p:nvSpPr>
          <p:cNvPr id="13" name="s4_chu"/>
          <p:cNvSpPr txBox="1"/>
          <p:nvPr/>
        </p:nvSpPr>
        <p:spPr>
          <a:xfrm>
            <a:off x="548640" y="4629912"/>
            <a:ext cx="11064240" cy="78333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Luyện tập 1.</a:t>
            </a:r>
            <a:r>
              <a:rPr sz="2000">
                <a:solidFill>
                  <a:srgbClr val="1E293B"/>
                </a:solidFill>
                <a:latin typeface="Calibri"/>
              </a:rPr>
              <a:t> a) Dãy các số tự nhiên chia cho 5 dư 1, tăng dần: số hạng tổng quát? b) Viết dãy hữu hạn gồm năm số hạng đầu; số hạng đầu, cuối.</a:t>
            </a:r>
          </a:p>
        </p:txBody>
      </p:sp>
      <p:sp>
        <p:nvSpPr>
          <p:cNvPr id="14" name="s5_nen"/>
          <p:cNvSpPr/>
          <p:nvPr/>
        </p:nvSpPr>
        <p:spPr>
          <a:xfrm>
            <a:off x="548640" y="5486400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5_chu"/>
              <p:cNvSpPr txBox="1"/>
              <p:nvPr/>
            </p:nvSpPr>
            <p:spPr>
              <a:xfrm>
                <a:off x="713232" y="5522976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16,…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=5n−4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ℕ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*</m:t>
                            </m:r>
                          </m:sup>
                        </m:sSup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số hạng đầu 1, số hạng cuối 21.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522976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1,\ 6,\ 11,\ 16,\ldots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u_n=5n-4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(n\in\mathbb{N}^*)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1,\ 6,\ 11,\ 16,\ 21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số hạng đầu 1, số hạng cuối 21.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2. CÁC CÁCH CHO MỘT DÃY SỐ – HĐ3 (SGK TR.43 – 44)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1795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Dãy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các số nguyên dương chia hết cho 5: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20,…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a) Viết số hạng tổng quát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Xác định số hạng đầu và viết công thức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theo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hệ thức truy hồi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1795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Dãy </a:t>
                </a:r>
                <a:r>
                  <a:rPr lang="vi-VN"/>
                  <a:t>(u_n)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các số nguyên dương chia hết cho 5: </a:t>
                </a:r>
                <a:r>
                  <a:rPr lang="vi-VN"/>
                  <a:t>5,\ 10,\ 15,\ 20,\ldots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a) Viết số hạng tổng quát </a:t>
                </a:r>
                <a:r>
                  <a:rPr lang="vi-VN"/>
                  <a:t>u_n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Xác định số hạng đầu và viết công thức tính </a:t>
                </a:r>
                <a:r>
                  <a:rPr lang="vi-VN"/>
                  <a:t>u_n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theo </a:t>
                </a:r>
                <a:r>
                  <a:rPr lang="vi-VN"/>
                  <a:t>u_{n-1}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hệ thức truy hồi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779776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816352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=5n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816352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u_n=5n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u_1=5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u_n=u_{n-1}+5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517392"/>
            <a:ext cx="11064240" cy="234391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2_chu"/>
          <p:cNvSpPr txBox="1"/>
          <p:nvPr/>
        </p:nvSpPr>
        <p:spPr>
          <a:xfrm>
            <a:off x="713232" y="3553968"/>
            <a:ext cx="10735056" cy="2270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Một dãy số có thể cho bằng: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Liệt kê các số hạng (chỉ dùng cho các dãy số hữu hạn và có ít số hạng);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Công thức của số hạng tổng quát;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Phương pháp mô tả;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Phương pháp truy hồi.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3 – VÍ DỤ 6 (SGK TR.44)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Năm số hạng đầu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Năm số hạng đầu và </a:t>
                </a:r>
                <a:r>
                  <a:rPr lang="vi-VN"/>
                  <a:t>u_{100}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</a:t>
                </a:r>
                <a:r>
                  <a:rPr lang="vi-VN"/>
                  <a:t>u_n=2n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u_n=\frac{(-1)^n}{n}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00834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13741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13741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2,\ 4,\ 6,\ 8,\ 10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u_{100}=200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-1,\ \frac{1}{2},\ -\frac{1}{3},\ \frac{1}{4},\ -\frac{1}{5}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u_{100}=\frac{1}{100}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209544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Năm số hạng đầu của dãy các số nguyên tố tăng dần. 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viết ba số hạng đầu.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209544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Năm số hạng đầu của dãy các số nguyên tố tăng dần. 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u_1=1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u_n=3u_{n-1}+2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viết ba số hạng đầu.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114800"/>
            <a:ext cx="110642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151376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Ví dụ 5: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=3·1+2=5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=3·5+2=17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151376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:r>
                  <a:rPr lang="vi-VN"/>
                  <a:t>2,\ 3,\ 5,\ 7,\ 11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Ví dụ 5: </a:t>
                </a:r>
                <a:r>
                  <a:rPr lang="vi-VN"/>
                  <a:t>u_1=1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u_2=3\cdot 1+2=5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u_3=3\cdot 5+2=17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chu"/>
          <p:cNvSpPr txBox="1"/>
          <p:nvPr/>
        </p:nvSpPr>
        <p:spPr>
          <a:xfrm>
            <a:off x="548640" y="4791455"/>
            <a:ext cx="11064240" cy="49377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Ví dụ 6.</a:t>
            </a:r>
            <a:r>
              <a:rPr sz="2100">
                <a:solidFill>
                  <a:srgbClr val="1E293B"/>
                </a:solidFill>
                <a:latin typeface="Calibri"/>
              </a:rPr>
              <a:t> Giải bài toán ở tình huống mở đầu.</a:t>
            </a:r>
          </a:p>
        </p:txBody>
      </p:sp>
      <p:sp>
        <p:nvSpPr>
          <p:cNvPr id="14" name="s5_nen"/>
          <p:cNvSpPr/>
          <p:nvPr/>
        </p:nvSpPr>
        <p:spPr>
          <a:xfrm>
            <a:off x="548640" y="5376671"/>
            <a:ext cx="110642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5_chu"/>
              <p:cNvSpPr txBox="1"/>
              <p:nvPr/>
            </p:nvSpPr>
            <p:spPr>
              <a:xfrm>
                <a:off x="713232" y="5413247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n=2030−2020=10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=500·(1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02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≈609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(nghìn người).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413247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n=2030-2020=10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P_{10}=500\cdot(1{,}02)^{10}\approx 609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(nghìn người).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2 (SGK TR.44)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8595360" cy="1271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năm số hạng đầu của dãy số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=n!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b) Viết năm số hạng đầu của dãy số Fibonacci: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n−2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8595360" cy="1271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Viết năm số hạng đầu của dãy số </a:t>
                </a:r>
                <a:r>
                  <a:rPr lang="vi-VN"/>
                  <a:t>(u_n)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u_n=n!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b) Viết năm số hạng đầu của dãy số Fibonacci: </a:t>
                </a:r>
                <a:r>
                  <a:rPr lang="vi-VN"/>
                  <a:t>F_1=1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F_2=1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F_n=F_{n-1}+F_{n-2}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3)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054096"/>
            <a:ext cx="859536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090672"/>
                <a:ext cx="826617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24,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090672"/>
                <a:ext cx="826617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1,\ 2,\ 6,\ 24,\ 120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913631"/>
            <a:ext cx="859536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950207"/>
                <a:ext cx="826617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950207"/>
                <a:ext cx="826617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1,\ 1,\ 2,\ 3,\ 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5_fi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076" y="1463040"/>
            <a:ext cx="1973048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18320" y="477316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Fibonacci (1170 – 1250)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AI NHANH HƠN?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Từng cặp ghi đáp án lên bảng con. Mỗi câu 20 giây.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=3n−1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:r>
                  <a:rPr lang="vi-VN"/>
                  <a:t>u_n=3n-1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u_1=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5029200" y="2423160"/>
            <a:ext cx="31089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1_chu"/>
              <p:cNvSpPr txBox="1"/>
              <p:nvPr/>
            </p:nvSpPr>
            <p:spPr>
              <a:xfrm>
                <a:off x="5193792" y="245973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193792" y="245973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2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u_{10}=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13" name="s2_nen"/>
          <p:cNvSpPr/>
          <p:nvPr/>
        </p:nvSpPr>
        <p:spPr>
          <a:xfrm>
            <a:off x="5029200" y="3371850"/>
            <a:ext cx="31089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2_chu"/>
              <p:cNvSpPr txBox="1"/>
              <p:nvPr/>
            </p:nvSpPr>
            <p:spPr>
              <a:xfrm>
                <a:off x="5193792" y="340842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193792" y="340842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29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48640" y="4366259"/>
            <a:ext cx="4389120" cy="85725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3.</a:t>
            </a:r>
            <a:r>
              <a:rPr sz="2400">
                <a:solidFill>
                  <a:srgbClr val="1E293B"/>
                </a:solidFill>
                <a:latin typeface="Calibri"/>
              </a:rPr>
              <a:t> Số 59 là số hạng thứ mấy?</a:t>
            </a:r>
          </a:p>
        </p:txBody>
      </p:sp>
      <p:sp>
        <p:nvSpPr>
          <p:cNvPr id="16" name="s3_nen"/>
          <p:cNvSpPr/>
          <p:nvPr/>
        </p:nvSpPr>
        <p:spPr>
          <a:xfrm>
            <a:off x="5029200" y="4320540"/>
            <a:ext cx="31089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3_chu"/>
              <p:cNvSpPr txBox="1"/>
              <p:nvPr/>
            </p:nvSpPr>
            <p:spPr>
              <a:xfrm>
                <a:off x="5193792" y="435711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193792" y="435711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20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48640" y="5314950"/>
            <a:ext cx="4389120" cy="85725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E293B"/>
                </a:solidFill>
                <a:latin typeface="Calibri"/>
              </a:rPr>
              <a:t>4.</a:t>
            </a:r>
            <a:r>
              <a:rPr sz="2400">
                <a:solidFill>
                  <a:srgbClr val="1E293B"/>
                </a:solidFill>
                <a:latin typeface="Calibri"/>
              </a:rPr>
              <a:t> Hệ thức truy hồi?</a:t>
            </a:r>
          </a:p>
        </p:txBody>
      </p:sp>
      <p:sp>
        <p:nvSpPr>
          <p:cNvPr id="19" name="s4_nen"/>
          <p:cNvSpPr/>
          <p:nvPr/>
        </p:nvSpPr>
        <p:spPr>
          <a:xfrm>
            <a:off x="5029200" y="5269230"/>
            <a:ext cx="31089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s4_chu"/>
              <p:cNvSpPr txBox="1"/>
              <p:nvPr/>
            </p:nvSpPr>
            <p:spPr>
              <a:xfrm>
                <a:off x="5193792" y="530580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5193792" y="5305806"/>
                <a:ext cx="27797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u_n=u_{n-1}+3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03632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9631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Dãy số vô hạn: hàm số trên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dãy hữu hạn: hàm số trên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Bốn cách cho dãy số: liệt kê, công thức tổng quát, mô tả, truy hồi.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9631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Dãy số vô hạn: hàm số trên </a:t>
                </a:r>
                <a:r>
                  <a:rPr lang="vi-VN"/>
                  <a:t>\mathbb{N}^*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dãy hữu hạn: hàm số trên </a:t>
                </a:r>
                <a:r>
                  <a:rPr lang="vi-VN"/>
                  <a:t>\{1;\ 2;\ldots;\ m\}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Bốn cách cho dãy số: liệt kê, công thức tổng quát, mô tả, truy hồi.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272796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6453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2.1, 2.2, 2.5 (SGK tr.46).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mục 3 (SGK tr.45 – 46).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(T12)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Dãy số tăng, dãy số giảm và dãy số bị chặn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Xét tính tăng, giảm của dãy số.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Xét tính bị chặn của dãy số.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BIỂU DIỄN DÃY SỐ TRÊN TRỤC SỐ (SGK TR.45)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37160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có hình ảnh trực quan về dãy số, ta thường biểu diễn các số hạng trên trục số. Với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137160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có hình ảnh trực quan về dãy số, ta thường biểu diễn các số hạng trên trục số. Với </a:t>
                </a:r>
                <a:r>
                  <a:rPr lang="vi-VN"/>
                  <a:t>u_n=\frac{(-1)^n}{2^n}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u_1=-\frac{1}{2}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u_2=\frac{1}{4}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u_3=-\frac{1}{8}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u_4=\frac{1}{16}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u_5=-\frac{1}{32}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8" name="Picture 7" descr="b5_truc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2066"/>
            <a:ext cx="11064240" cy="11939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3. DÃY SỐ TĂNG, DÃY SỐ GIẢM – HĐ4 (SGK TR.45)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=3n−1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so sánh với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so sánh với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a) </a:t>
                </a:r>
                <a:r>
                  <a:rPr lang="vi-VN"/>
                  <a:t>u_n=3n-1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tính </a:t>
                </a:r>
                <a:r>
                  <a:rPr lang="vi-VN"/>
                  <a:t>u_{n+1}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so sánh với </a:t>
                </a:r>
                <a:r>
                  <a:rPr lang="vi-VN"/>
                  <a:t>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v_n=\frac{1}{n^2}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tính </a:t>
                </a:r>
                <a:r>
                  <a:rPr lang="vi-VN"/>
                  <a:t>v_{n+1}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so sánh với </a:t>
                </a:r>
                <a:r>
                  <a:rPr lang="vi-VN"/>
                  <a:t>v_n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1919478"/>
            <a:ext cx="11064240" cy="8153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1956054"/>
                <a:ext cx="10735056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=3n+2&gt;3n−1=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1956054"/>
                <a:ext cx="10735056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u_{n+1}=3n+2&gt;3n-1=u_n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v_{n+1}=\frac{1}{(n+1)^2}&lt;\frac{1}{n^2}=v_n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2780537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2817114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Dãy số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dãy số tăng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n∈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dãy số giảm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n∈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2817114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Dãy số </a:t>
                </a:r>
                <a:r>
                  <a:rPr lang="vi-VN"/>
                  <a:t>(u_n)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dãy số tăng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u_{n+1}&gt;u_n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n\in\mathbb{N}^*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dãy số giảm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u_{n+1}&lt;u_n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n\in\mathbb{N}^*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3670553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=−2n+5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Xét tính tăng, giảm.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670553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u_n=-2n+5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u_n=\frac{1}{n+1}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Xét tính tăng, giảm.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309872"/>
            <a:ext cx="1106424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346448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Ví dụ 7: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=−2&lt;0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dãy số giảm.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346448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Ví dụ 7: </a:t>
                </a:r>
                <a:r>
                  <a:rPr lang="vi-VN"/>
                  <a:t>u_{n+1}-u_n=-2&lt;0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dãy số giảm.</a:t>
                </a:r>
              </a:p>
            </p:txBody>
          </p:sp>
        </mc:Fallback>
      </mc:AlternateContent>
      <p:sp>
        <p:nvSpPr>
          <p:cNvPr id="15" name="s5_nen"/>
          <p:cNvSpPr/>
          <p:nvPr/>
        </p:nvSpPr>
        <p:spPr>
          <a:xfrm>
            <a:off x="548640" y="4910327"/>
            <a:ext cx="11064240" cy="94564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5_chu"/>
              <p:cNvSpPr txBox="1"/>
              <p:nvPr/>
            </p:nvSpPr>
            <p:spPr>
              <a:xfrm>
                <a:off x="713232" y="4946903"/>
                <a:ext cx="10735056" cy="87249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Luyện tập 3: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n+2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d>
                          <m:dPr>
                            <m:sepChr m:val=""/>
                          </m:dPr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dãy số giảm.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4946903"/>
                <a:ext cx="10735056" cy="87249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Luyện tập 3: </a:t>
                </a:r>
                <a:r>
                  <a:rPr lang="vi-VN"/>
                  <a:t>u_{n+1}-u_n=\frac{1}{n+2}-\frac{1}{n+1}=\frac{-1}{(n+1)(n+2)}&lt;0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dãy số giảm.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DÃY SỐ BỊ CHẶN – HĐ5 (SGK TR.45 – 46)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a) So sánh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1. b) So sánh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2.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u_n=\frac{n+1}{n}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a) So sánh </a:t>
                </a:r>
                <a:r>
                  <a:rPr lang="vi-VN"/>
                  <a:t>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1. b) So sánh </a:t>
                </a:r>
                <a:r>
                  <a:rPr lang="vi-VN"/>
                  <a:t>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2.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1919478"/>
            <a:ext cx="11064240" cy="68503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1956054"/>
                <a:ext cx="10735056" cy="61188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(dấu bằng khi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1956054"/>
                <a:ext cx="10735056" cy="61188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u_n=1+\frac{1}{n}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a) </a:t>
                </a:r>
                <a:r>
                  <a:rPr lang="vi-VN"/>
                  <a:t>u_n&gt;1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u_n\le 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(dấu bằng khi </a:t>
                </a:r>
                <a:r>
                  <a:rPr lang="vi-VN"/>
                  <a:t>n=1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2650235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2686811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bị chặn trên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tồn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∀n∈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bị chặn dưới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tồn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∀n∈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bị chặn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vừa bị chặn trên vừa bị chặn dưới: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m≤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∀n∈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2686811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(u_n)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bị chặn trên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tồn tại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u_n\le 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\forall n\in\mathbb{N}^*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bị chặn dưới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tồn tại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u_n\ge 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\forall n\in\mathbb{N}^*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bị chặn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vừa bị chặn trên vừa bị chặn dưới: </a:t>
                </a:r>
                <a:r>
                  <a:rPr lang="vi-VN"/>
                  <a:t>m\le u_n\le 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\forall n\in\mathbb{N}^*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3540251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8.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=2n−1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Xét tính bị chặn.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540251"/>
                <a:ext cx="11064240" cy="59359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8.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u_n=\frac{n-1}{n}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u_n=2n-1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Xét tính bị chặn.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179569"/>
            <a:ext cx="11064240" cy="68503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216146"/>
                <a:ext cx="10735056" cy="61188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Ví dụ 8: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dãy số bị chặn.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216146"/>
                <a:ext cx="10735056" cy="61188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Ví dụ 8: </a:t>
                </a:r>
                <a:r>
                  <a:rPr lang="vi-VN"/>
                  <a:t>u_n=1-\frac{1}{n}&lt;1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u_n\ge 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dãy số bị chặn.</a:t>
                </a:r>
              </a:p>
            </p:txBody>
          </p:sp>
        </mc:Fallback>
      </mc:AlternateContent>
      <p:sp>
        <p:nvSpPr>
          <p:cNvPr id="15" name="s5_nen"/>
          <p:cNvSpPr/>
          <p:nvPr/>
        </p:nvSpPr>
        <p:spPr>
          <a:xfrm>
            <a:off x="548640" y="4910327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5_chu"/>
              <p:cNvSpPr txBox="1"/>
              <p:nvPr/>
            </p:nvSpPr>
            <p:spPr>
              <a:xfrm>
                <a:off x="713232" y="4946903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Luyện tập 4: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(bị chặn dưới);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lớn tuỳ ý nên không bị chặn trên – dãy số không bị chặn.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4946903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Luyện tập 4: </a:t>
                </a:r>
                <a:r>
                  <a:rPr lang="vi-VN"/>
                  <a:t>u_n\ge 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(bị chặn dưới); </a:t>
                </a:r>
                <a:r>
                  <a:rPr lang="vi-VN"/>
                  <a:t>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lớn tuỳ ý nên không bị chặn trên – dãy số không bị chặn.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VẬN DỤNG – LƯƠNG CỦA ANH THANH (SGK TR.46)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15758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Anh Thanh được cam kết lương năm đầu là 200 triệu đồng, mỗi năm tiếp theo tăng thêm 25 triệu đồng. Gọi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(triệu đồng) là lương năm thứ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+25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a) Tính lương năm thứ 5. b) Chứng minh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sSub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dãy số tăng; ý nghĩa thực tế.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15758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Anh Thanh được cam kết lương năm đầu là 200 triệu đồng, mỗi năm tiếp theo tăng thêm 25 triệu đồng. Gọi </a:t>
                </a:r>
                <a:r>
                  <a:rPr lang="vi-VN"/>
                  <a:t>s_n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(triệu đồng) là lương năm thứ </a:t>
                </a:r>
                <a:r>
                  <a:rPr lang="vi-VN"/>
                  <a:t>n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s_1=200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s_n=s_{n-1}+25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a) Tính lương năm thứ 5. b) Chứng minh </a:t>
                </a:r>
                <a:r>
                  <a:rPr lang="vi-VN"/>
                  <a:t>(s_n)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dãy số tăng; ý nghĩa thực tế.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358896"/>
            <a:ext cx="11064240" cy="615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395472"/>
                <a:ext cx="10735056" cy="542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=200+4·25=300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(triệu đồng).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395472"/>
                <a:ext cx="10735056" cy="542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s_5=200+4\cdot 25=300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(triệu đồng).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203192"/>
            <a:ext cx="11064240" cy="615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239768"/>
                <a:ext cx="10735056" cy="542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=25&gt;0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: dãy số tăng – lương năm sau luôn cao hơn năm trước.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239768"/>
                <a:ext cx="10735056" cy="542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s_n-s_{n-1}=25&gt;0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: dãy số tăng – lương năm sau luôn cao hơn năm trước.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2.1 – 2.4 (SGK TR.46)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831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2.1.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Năm số hạng đầu và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3n−2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3·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sepChr m:val="+"/>
                          </m:dPr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2.2.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=n·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năm số hạng đầu, dự đoán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831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2.1.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Năm số hạng đầu và </a:t>
                </a:r>
                <a:r>
                  <a:rPr lang="vi-VN"/>
                  <a:t>u_{100}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a) </a:t>
                </a:r>
                <a:r>
                  <a:rPr lang="vi-VN"/>
                  <a:t>3n-2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3\cdot 2^n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\left(1+\frac{1}{n}\right)^n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2.2.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u_1=1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u_n=n\cdot u_{n-1}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năm số hạng đầu, dự đoán </a:t>
                </a:r>
                <a:r>
                  <a:rPr lang="vi-VN"/>
                  <a:t>u_n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18766"/>
            <a:ext cx="11064240" cy="9745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55342"/>
                <a:ext cx="1073505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2.1.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=298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24,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48,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=3·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101</m:t>
                                </m:r>
                              </m:num>
                              <m:den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7048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2.2.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24,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=n!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55342"/>
                <a:ext cx="10735056" cy="9014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2.1. a) </a:t>
                </a:r>
                <a:r>
                  <a:rPr lang="vi-VN"/>
                  <a:t>1,\ 4,\ 7,\ 10,\ 13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u_{100}=298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6,\ 12,\ 24,\ 48,\ 96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u_{100}=3\cdot 2^{100}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c) </a:t>
                </a:r>
                <a:r>
                  <a:rPr lang="vi-VN"/>
                  <a:t>u_{100}=\left(\frac{101}{100}\right)^{100}\approx 2{,}7048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2.2. </a:t>
                </a:r>
                <a:r>
                  <a:rPr lang="vi-VN"/>
                  <a:t>1,\ 2,\ 6,\ 24,\ 120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u_n=n!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357372"/>
                <a:ext cx="11064240" cy="10134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Tăng, giảm: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2n−1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−3n+2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n−1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p>
                        </m:sSup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Bị chặn: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n−1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n+2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d>
                      <m:dPr>
                        <m:sepChr m:val=""/>
                        <m:endChr m:val="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n−1</m:t>
                            </m:r>
                          </m:sup>
                        </m:sSup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357372"/>
                <a:ext cx="11064240" cy="10134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Tăng, giảm: a) </a:t>
                </a:r>
                <a:r>
                  <a:rPr lang="vi-VN"/>
                  <a:t>2n-1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-3n+2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\frac{(-1)^{n-1}}{2^n}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Bị chặn: a) </a:t>
                </a:r>
                <a:r>
                  <a:rPr lang="vi-VN"/>
                  <a:t>n-1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\frac{n+1}{n+2}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\sin 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(-1)^{n-1}n^2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434840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471416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2.3. a) tăng; b) giảm; c) không tăng, không giảm (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). 2.4. a) chặn dưới; b) bị chặn (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); c) bị chặn; d) không bị chặn trên, không bị chặn dưới.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471416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2.3. a) tăng; b) giảm; c) không tăng, không giảm (</a:t>
                </a:r>
                <a:r>
                  <a:rPr lang="vi-VN"/>
                  <a:t>u_1&gt;u_2&lt;u_3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). 2.4. a) chặn dưới; b) bị chặn (</a:t>
                </a:r>
                <a:r>
                  <a:rPr lang="vi-VN"/>
                  <a:t>0&lt;u_n&lt;1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); c) bị chặn; d) không bị chặn trên, không bị chặn dưới.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2.5 – 2.7 (SGK TR.46 – 47)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831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Dãy tăng các số nguyên dương: a) chia hết cho 3; b) chia 4 dư 1.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Gửi 100 triệu, lãi 6%/năm, kì hạn 1 tháng: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sSup>
                      <m:e>
                        <m:d>
                          <m:dPr>
                            <m:sepChr m:val="+"/>
                          </m:dPr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06</m:t>
                                </m:r>
                              </m:num>
                              <m:den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a) Sau tháng 1, tháng 2. b) Sau 1 năm.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8315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2.5.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Dãy tăng các số nguyên dương: a) chia hết cho 3; b) chia 4 dư 1.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2.6.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Gửi 100 triệu, lãi 6%/năm, kì hạn 1 tháng: </a:t>
                </a:r>
                <a:r>
                  <a:rPr lang="vi-VN"/>
                  <a:t>A_n=100\left(1+\frac{0{,}06}{12}\right)^n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a) Sau tháng 1, tháng 2. b) Sau 1 năm.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18766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5534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2.5. 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=3n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=4n−3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2.6.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≈101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0025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đồng).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≈106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triệu đồng.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5534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2.5. a) </a:t>
                </a:r>
                <a:r>
                  <a:rPr lang="vi-VN"/>
                  <a:t>u_n=3n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u_n=4n-3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2.6. a) </a:t>
                </a:r>
                <a:r>
                  <a:rPr lang="vi-VN"/>
                  <a:t>100{,}5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\approx 101{,}0025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đồng). b) </a:t>
                </a:r>
                <a:r>
                  <a:rPr lang="vi-VN"/>
                  <a:t>A_{12}\approx 106{,}17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triệu đồng.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22707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Vay 100 triệu, trả 2 triệu mỗi tháng, lãi 0,8% số tiền còn lại mỗi tháng. a)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Dự đoán hệ thức truy hồi.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227070"/>
                <a:ext cx="110642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2.7.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Vay 100 triệu, trả 2 triệu mỗi tháng, lãi 0,8% số tiền còn lại mỗi tháng. a) Tính </a:t>
                </a:r>
                <a:r>
                  <a:rPr lang="vi-VN"/>
                  <a:t>A_0,\ldots,\ A_6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Dự đoán hệ thức truy hồi.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043934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080510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=98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≈97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59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≈96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371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≈95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142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≈93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903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≈92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654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đồng). 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008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080510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A_0=100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A_1=98{,}8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A_2\approx 97{,}59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A_3\approx 96{,}371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A_4\approx 95{,}142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A_5\approx 93{,}903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A_6\approx 92{,}654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(triệu đồng). b) </a:t>
                </a:r>
                <a:r>
                  <a:rPr lang="vi-VN"/>
                  <a:t>A_n=1{,}008A_{n-1}-2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1)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:r>
                  <a:rPr lang="vi-VN"/>
                  <a:t>u_n=\frac{n}{n+1}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Số hạng </a:t>
                </a:r>
                <a:r>
                  <a:rPr lang="vi-VN"/>
                  <a:t>u_3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\frac{3}{4}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\frac{1}{4}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\frac{4}{3}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\frac{2}{3}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u_3=\frac{3}{4}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2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Dãy số nào sau đây là dãy số tăng?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u_n=\frac{1}{n}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=(−1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u_n=(-1)^n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=2n+3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u_n=2n+3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u_n=-n^2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u_{n+1}-u_n=2&gt;0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3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≥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dãy số </a:t>
                </a:r>
                <a:r>
                  <a:rPr lang="vi-VN"/>
                  <a:t>u_1=2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u_n=2u_{n-1}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(n\ge 2)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u_3=8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1975104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011680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u_n=2^n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296265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299923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7680960" cy="9418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c) Dãy số bị chặn trên.</a:t>
            </a:r>
          </a:p>
        </p:txBody>
      </p:sp>
      <p:sp>
        <p:nvSpPr>
          <p:cNvPr id="15" name="s3_nen"/>
          <p:cNvSpPr/>
          <p:nvPr/>
        </p:nvSpPr>
        <p:spPr>
          <a:xfrm>
            <a:off x="8412480" y="3950207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3986783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65192"/>
            <a:ext cx="7680960" cy="9418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d) Dãy số giảm.</a:t>
            </a:r>
          </a:p>
        </p:txBody>
      </p:sp>
      <p:sp>
        <p:nvSpPr>
          <p:cNvPr id="18" name="s4_nen"/>
          <p:cNvSpPr/>
          <p:nvPr/>
        </p:nvSpPr>
        <p:spPr>
          <a:xfrm>
            <a:off x="8412480" y="4937759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497433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(tăng)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4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Fibonacci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n−2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Cho dãy Fibonacci </a:t>
                </a:r>
                <a:r>
                  <a:rPr lang="vi-VN"/>
                  <a:t>F_1=F_2=1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F_n=F_{n-1}+F_{n-2}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F_8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13,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1,\ 1,\ 2,\ 3,\ 5,\ 8,\ 13,\ 21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5 (THỰC TẾ)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662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Một vườn ươm có 1 000 cây cà phê giống, mỗi tháng ươm thêm 150 cây. Sau 6 tháng vườn có bao nhiêu cây?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1900.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n−1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+150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000+6·150=1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1900.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u_n=u_{n-1}+150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u_0=1\ 000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u_6=1\ 000+6\cdot 150=1\ 900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https://trangtu66.github.io/Taode_thi_online/cc_bai5_t11.html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tập 2.1 – 2.7.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</a:t>
            </a:r>
            <a:r>
              <a:rPr sz="2200" b="1">
                <a:solidFill>
                  <a:srgbClr val="1E293B"/>
                </a:solidFill>
                <a:latin typeface="Calibri"/>
              </a:rPr>
              <a:t>Em có biết – Dãy số Fibonacci</a:t>
            </a:r>
            <a:r>
              <a:rPr sz="2200">
                <a:solidFill>
                  <a:srgbClr val="1E293B"/>
                </a:solidFill>
                <a:latin typeface="Calibri"/>
              </a:rPr>
              <a:t> (SGK tr.47); 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6. Cấp số cộng</a:t>
            </a:r>
            <a:r>
              <a:rPr sz="2200">
                <a:solidFill>
                  <a:srgbClr val="1E293B"/>
                </a:solidFill>
                <a:latin typeface="Calibri"/>
              </a:rPr>
              <a:t> (SGK tr.48).</a:t>
            </a:r>
          </a:p>
        </p:txBody>
      </p:sp>
      <p:pic>
        <p:nvPicPr>
          <p:cNvPr id="8" name="Picture 7" descr="QR_CungCo_Bai5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BÀI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27</a:t>
            </a:r>
          </a:p>
        </p:txBody>
      </p:sp>
      <p:pic>
        <p:nvPicPr>
          <p:cNvPr id="7" name="Picture 6" descr="SoDoTuDuy_TOAN11_Bai5_DaySo_T11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Kết luận dãy tăng chỉ từ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(phải xét với mọi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n+1</m:t>
                        </m:r>
                      </m:sub>
                    </m:sSub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Bị chặn: chỉ chứng minh một phía rồi kết luận "bị chặn".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2.7: tính lãi trên số tiền vay ban đầu thay vì số tiền còn nợ.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Kết luận dãy tăng chỉ từ </a:t>
                </a:r>
                <a:r>
                  <a:rPr lang="vi-VN"/>
                  <a:t>u_1&lt;u_2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(phải xét với mọi </a:t>
                </a:r>
                <a:r>
                  <a:rPr lang="vi-VN"/>
                  <a:t>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</a:t>
                </a:r>
                <a:r>
                  <a:rPr lang="vi-VN"/>
                  <a:t>u_{n+1}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u_n+1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Bị chặn: chỉ chứng minh một phía rồi kết luận "bị chặn".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2.7: tính lãi trên số tiền vay ban đầu thay vì số tiền còn nợ.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5. Dãy số – Toán 11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HĐ1 – HĐ3, Ví dụ 3, LT2, Bài 2.1a.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LT3, LT4, Bài 2.3c, 2.4d, 2.7; bảng tính Excel cho 2.6, 2.7.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KHBD in; máy tính cầm tay.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