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nhóm trình chiếu sơ đồ tư duy số đã chuẩn bị (mỗi nhóm 1 phút) trước khi hỏi nhanh.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nhóm trình chiếu sơ đồ tư duy số đã chuẩn bị (mỗi nhóm 1 phút) trước khi hỏi nhanh.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nhóm trình chiếu sơ đồ tư duy số đã chuẩn bị (mỗi nhóm 1 phút) trước khi hỏi nhanh.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Trò chơi "Ai nhanh hơn": mỗi câu 1 phút, HS giơ thẻ A, B, C, 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Trò chơi "Ai nhanh hơn": mỗi câu 1 phút, HS giơ thẻ A, B, C, 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Phương án A, B, C, D đọc trên SGK tr.43 (slide chỉ hiện bảng biến thiên).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Phương án A, B, C, D đọc trên SGK tr.43 (slide chỉ hiện bảng biến thiên).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1, 2 làm 1.40a, b; nhóm 3, 4 làm 1.40c, d và 1.42; nhóm 5, 6 làm 1.41.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1, 2 làm 1.40a, b; nhóm 3, 4 làm 1.40c, d và 1.42; nhóm 5, 6 làm 1.41.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1, 2 câu a; nhóm 3, 4 câu b; nhóm 5, 6 câu c; vẽ trên giấy kẻ ô A3, kiểm chứng GeoGebra.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1, 2 câu a; nhóm 3, 4 câu b; nhóm 5, 6 câu c; vẽ trên giấy kẻ ô A3, kiểm chứng GeoGebra.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lẻ nhận lời giải số 1, nhóm chẵn nhận lời giải số 2 (Phiếu học tập số 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lẻ nhận lời giải số 1, nhóm chẵn nhận lời giải số 2 (Phiếu học tập số 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Liên môn Vật lí 11; nhóm 1,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Liên môn Vật lí 11; nhóm 1, 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Liên môn Vật lí 11; nhóm 1, 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Liên môn Vật lí 11; nhóm 1,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SGK tr.44 (Bài 1.46) – slide tóm lược đủ dữ kiện để vừa khung hình.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SGK tr.44 (Bài 1.46) – slide tóm lược đủ dữ kiện để vừa khung hình.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SGK tr.44 (Bài 1.46) – slide tóm lược đủ dữ kiện để vừa khung hình.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Tiêu chí đánh giá ở mục IV của KHBD; nộp lên Classroom/Padlet kèm Nhật ký sử dụng AI.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Tiêu chí đánh giá ở mục IV của KHBD; nộp lên Classroom/Padlet kèm Nhật ký sử dụng AI.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trangtu66.github.io/Taode_thi_online/cc_chuong1_t12.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15600" cy="1371600"/>
          </a:xfrm>
          <a:prstGeom prst="rect">
            <a:avLst/>
          </a:prstGeom>
          <a:noFill/>
        </p:spPr>
        <p:txBody>
          <a:bodyPr wrap="square">
            <a:spAutoFit/>
          </a:bodyPr>
          <a:lstStyle/>
          <a:p>
            <a:r>
              <a:rPr sz="4000" b="1">
                <a:solidFill>
                  <a:srgbClr val="1E40AF"/>
                </a:solidFill>
                <a:latin typeface="Arial"/>
              </a:rPr>
              <a:t>BÀI TẬP CUỐI CHƯƠNG I</a:t>
            </a:r>
          </a:p>
        </p:txBody>
      </p:sp>
      <p:sp>
        <p:nvSpPr>
          <p:cNvPr id="4" name="TextBox 3"/>
          <p:cNvSpPr txBox="1"/>
          <p:nvPr/>
        </p:nvSpPr>
        <p:spPr>
          <a:xfrm>
            <a:off x="822960" y="2560320"/>
            <a:ext cx="10515600" cy="822960"/>
          </a:xfrm>
          <a:prstGeom prst="rect">
            <a:avLst/>
          </a:prstGeom>
          <a:noFill/>
        </p:spPr>
        <p:txBody>
          <a:bodyPr wrap="square" anchor="t" lIns="45720" rIns="45720">
            <a:spAutoFit/>
          </a:bodyPr>
          <a:lstStyle/>
          <a:p>
            <a:pPr algn="l">
              <a:spcAft>
                <a:spcPts val="800"/>
              </a:spcAft>
            </a:pPr>
            <a:r>
              <a:rPr sz="2800" b="1">
                <a:solidFill>
                  <a:srgbClr val="1E293B"/>
                </a:solidFill>
                <a:latin typeface="Calibri"/>
              </a:rPr>
              <a:t>Chương I. Ứng dụng đạo hàm để khảo sát và vẽ đồ thị hàm số</a:t>
            </a:r>
          </a:p>
        </p:txBody>
      </p:sp>
      <p:sp>
        <p:nvSpPr>
          <p:cNvPr id="5" name="Rectangle 4"/>
          <p:cNvSpPr/>
          <p:nvPr/>
        </p:nvSpPr>
        <p:spPr>
          <a:xfrm>
            <a:off x="868680" y="3474720"/>
            <a:ext cx="2286000" cy="36576"/>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10515600" cy="20116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Môn Toán – Lớp 12 (Kết nối tri thức với cuộc sống)</a:t>
            </a:r>
          </a:p>
          <a:p>
            <a:pPr algn="l">
              <a:spcAft>
                <a:spcPts val="800"/>
              </a:spcAft>
            </a:pPr>
            <a:r>
              <a:rPr sz="2200">
                <a:solidFill>
                  <a:srgbClr val="1E293B"/>
                </a:solidFill>
                <a:latin typeface="Calibri"/>
              </a:rPr>
              <a:t>Tiết 23, 24 theo PPCT · Năm học 2026 – 2027</a:t>
            </a:r>
          </a:p>
          <a:p>
            <a:pPr algn="l">
              <a:spcAft>
                <a:spcPts val="800"/>
              </a:spcAft>
            </a:pPr>
            <a:r>
              <a:rPr sz="2200">
                <a:solidFill>
                  <a:srgbClr val="1E293B"/>
                </a:solidFill>
                <a:latin typeface="Calibri"/>
              </a:rPr>
              <a:t>Trường THPT – Tổ Toán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MỤC TIÊU BÀI HỌC</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2</a:t>
            </a:r>
          </a:p>
        </p:txBody>
      </p:sp>
      <p:sp>
        <p:nvSpPr>
          <p:cNvPr id="6" name="TextBox 5"/>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Hệ thống kiến thức Chương I: đơn điệu – cực trị, GTLN – GTNN, tiệm cận, khảo sát hàm số</a:t>
            </a:r>
          </a:p>
          <a:p>
            <a:pPr algn="l" marL="365760" indent="-365760">
              <a:spcAft>
                <a:spcPts val="800"/>
              </a:spcAft>
              <a:buClr>
                <a:srgbClr val="1E40AF"/>
              </a:buClr>
              <a:buFont typeface="Arial"/>
              <a:buChar char="•"/>
            </a:pPr>
            <a:r>
              <a:rPr sz="2400">
                <a:solidFill>
                  <a:srgbClr val="1E293B"/>
                </a:solidFill>
                <a:latin typeface="Calibri"/>
              </a:rPr>
              <a:t>Nhắc lại phương pháp giải từng dạng toán và các lưu ý thường gặp</a:t>
            </a:r>
          </a:p>
          <a:p>
            <a:pPr algn="l" marL="365760" indent="-365760">
              <a:spcAft>
                <a:spcPts val="800"/>
              </a:spcAft>
              <a:buClr>
                <a:srgbClr val="1E40AF"/>
              </a:buClr>
              <a:buFont typeface="Arial"/>
              <a:buChar char="•"/>
            </a:pPr>
            <a:r>
              <a:rPr sz="2400">
                <a:solidFill>
                  <a:srgbClr val="1E293B"/>
                </a:solidFill>
                <a:latin typeface="Calibri"/>
              </a:rPr>
              <a:t>Giải các bài tập tổng hợp SGK (Bài 1.30 – 1.46)</a:t>
            </a:r>
          </a:p>
          <a:p>
            <a:pPr algn="l" marL="365760" indent="-365760">
              <a:spcAft>
                <a:spcPts val="800"/>
              </a:spcAft>
              <a:buClr>
                <a:srgbClr val="1E40AF"/>
              </a:buClr>
              <a:buFont typeface="Arial"/>
              <a:buChar char="•"/>
            </a:pPr>
            <a:r>
              <a:rPr sz="2400">
                <a:solidFill>
                  <a:srgbClr val="1E293B"/>
                </a:solidFill>
                <a:latin typeface="Calibri"/>
              </a:rPr>
              <a:t>Vận dụng đạo hàm vào bài toán thực tiễn ở địa phương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HỆ THỐNG KIẾN THỨC – TRẮC NGHIỆM</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KHỞI ĐỘNG: CÂU HỎI NHANH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Hàm số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(x)≥0</m:t>
                    </m:r>
                  </m:oMath>
                </a14:m>
                <a:r>
                  <a:rPr sz="2200">
                    <a:solidFill>
                      <a:srgbClr val="1E293B"/>
                    </a:solidFill>
                    <a:latin typeface="Calibri"/>
                  </a:rPr>
                  <a:t> trên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200" b="0">
                            <a:solidFill>
                              <a:srgbClr val="1E293B"/>
                            </a:solidFill>
                            <a:latin typeface="Cambria Math" panose="02040503050406030204" pitchFamily="18" charset="0"/>
                          </a:rPr>
                          <m:t>a</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b</m:t>
                        </m:r>
                      </m:e>
                    </m:d>
                  </m:oMath>
                </a14:m>
                <a:r>
                  <a:rPr sz="2200">
                    <a:solidFill>
                      <a:srgbClr val="1E293B"/>
                    </a:solidFill>
                    <a:latin typeface="Calibri"/>
                  </a:rPr>
                  <a:t>, dấu bằng chỉ xảy ra tại hữu hạn điểm thì hàm số đồng biến hay nghịch biến trên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200" b="0">
                            <a:solidFill>
                              <a:srgbClr val="1E293B"/>
                            </a:solidFill>
                            <a:latin typeface="Cambria Math" panose="02040503050406030204" pitchFamily="18" charset="0"/>
                          </a:rPr>
                          <m:t>a</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b</m:t>
                        </m:r>
                      </m:e>
                    </m:d>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Muốn tìm giá trị lớn nhất của hàm số liên tục trên đoạn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begChr m:val="["/>
                        <m:sepChr m:val=""/>
                        <m:endChr m:val="]"/>
                      </m:dPr>
                      <m:e>
                        <m:r>
                          <a:rPr lang="vi-VN" sz="2200" b="0">
                            <a:solidFill>
                              <a:srgbClr val="1E293B"/>
                            </a:solidFill>
                            <a:latin typeface="Cambria Math" panose="02040503050406030204" pitchFamily="18" charset="0"/>
                          </a:rPr>
                          <m:t>a</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b</m:t>
                        </m:r>
                      </m:e>
                    </m:d>
                  </m:oMath>
                </a14:m>
                <a:r>
                  <a:rPr sz="2200">
                    <a:solidFill>
                      <a:srgbClr val="1E293B"/>
                    </a:solidFill>
                    <a:latin typeface="Calibri"/>
                  </a:rPr>
                  <a:t> ta cần so sánh giá trị của hàm số tại những điểm nào?</a:t>
                </a:r>
              </a:p>
              <a:p>
                <a:pPr algn="l" marL="365760" indent="-365760">
                  <a:spcAft>
                    <a:spcPts val="800"/>
                  </a:spcAft>
                  <a:buClr>
                    <a:srgbClr val="1E40AF"/>
                  </a:buClr>
                  <a:buFont typeface="Arial"/>
                  <a:buChar char="•"/>
                </a:pPr>
                <a:r>
                  <a:rPr sz="2200">
                    <a:solidFill>
                      <a:srgbClr val="1E293B"/>
                    </a:solidFill>
                    <a:latin typeface="Calibri"/>
                  </a:rPr>
                  <a:t>Đường thẳng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y=ax+b</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200" b="0">
                            <a:solidFill>
                              <a:srgbClr val="1E293B"/>
                            </a:solidFill>
                            <a:latin typeface="Cambria Math" panose="02040503050406030204" pitchFamily="18" charset="0"/>
                          </a:rPr>
                          <m:t>a</m:t>
                        </m:r>
                      </m:e>
                      <m:e>
                        <m:r>
                          <a:rPr lang="vi-VN" sz="2200" b="0">
                            <a:solidFill>
                              <a:srgbClr val="1E293B"/>
                            </a:solidFill>
                            <a:latin typeface="Cambria Math" panose="02040503050406030204" pitchFamily="18" charset="0"/>
                          </a:rPr>
                          <m:t>0</m:t>
                        </m:r>
                      </m:e>
                    </m:d>
                  </m:oMath>
                </a14:m>
                <a:r>
                  <a:rPr sz="2200">
                    <a:solidFill>
                      <a:srgbClr val="1E293B"/>
                    </a:solidFill>
                    <a:latin typeface="Calibri"/>
                  </a:rPr>
                  <a:t> là tiệm cận xiên của đồ thị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y=f(x)</m:t>
                    </m:r>
                  </m:oMath>
                </a14:m>
                <a:r>
                  <a:rPr sz="2200">
                    <a:solidFill>
                      <a:srgbClr val="1E293B"/>
                    </a:solidFill>
                    <a:latin typeface="Calibri"/>
                  </a:rPr>
                  <a:t> khi nào?</a:t>
                </a:r>
              </a:p>
            </p:txBody>
          </p:sp>
        </mc:Choice>
        <mc:Fallback>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Hàm số có </a:t>
                </a:r>
                <a:r>
                  <a:rPr lang="vi-VN"/>
                  <a:t>f^′(x)≥0</a:t>
                </a:r>
                <a:r>
                  <a:rPr sz="2200">
                    <a:solidFill>
                      <a:srgbClr val="1E293B"/>
                    </a:solidFill>
                    <a:latin typeface="Calibri"/>
                  </a:rPr>
                  <a:t> trên </a:t>
                </a:r>
                <a:r>
                  <a:rPr lang="vi-VN"/>
                  <a:t>(a;b)</a:t>
                </a:r>
                <a:r>
                  <a:rPr sz="2200">
                    <a:solidFill>
                      <a:srgbClr val="1E293B"/>
                    </a:solidFill>
                    <a:latin typeface="Calibri"/>
                  </a:rPr>
                  <a:t>, dấu bằng chỉ xảy ra tại hữu hạn điểm thì hàm số đồng biến hay nghịch biến trên </a:t>
                </a:r>
                <a:r>
                  <a:rPr lang="vi-VN"/>
                  <a:t>(a;b)</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Muốn tìm giá trị lớn nhất của hàm số liên tục trên đoạn </a:t>
                </a:r>
                <a:r>
                  <a:rPr lang="vi-VN"/>
                  <a:t>[a;b]</a:t>
                </a:r>
                <a:r>
                  <a:rPr sz="2200">
                    <a:solidFill>
                      <a:srgbClr val="1E293B"/>
                    </a:solidFill>
                    <a:latin typeface="Calibri"/>
                  </a:rPr>
                  <a:t> ta cần so sánh giá trị của hàm số tại những điểm nào?</a:t>
                </a:r>
              </a:p>
              <a:p>
                <a:pPr algn="l" marL="365760" indent="-365760">
                  <a:spcAft>
                    <a:spcPts val="800"/>
                  </a:spcAft>
                  <a:buClr>
                    <a:srgbClr val="1E40AF"/>
                  </a:buClr>
                  <a:buFont typeface="Arial"/>
                  <a:buChar char="•"/>
                </a:pPr>
                <a:r>
                  <a:rPr sz="2200">
                    <a:solidFill>
                      <a:srgbClr val="1E293B"/>
                    </a:solidFill>
                    <a:latin typeface="Calibri"/>
                  </a:rPr>
                  <a:t>Đường thẳng </a:t>
                </a:r>
                <a:r>
                  <a:rPr lang="vi-VN"/>
                  <a:t>y=ax+b</a:t>
                </a:r>
                <a:r>
                  <a:rPr sz="2200">
                    <a:solidFill>
                      <a:srgbClr val="1E293B"/>
                    </a:solidFill>
                    <a:latin typeface="Calibri"/>
                  </a:rPr>
                  <a:t> </a:t>
                </a:r>
                <a:r>
                  <a:rPr lang="vi-VN"/>
                  <a:t>(a 0)</a:t>
                </a:r>
                <a:r>
                  <a:rPr sz="2200">
                    <a:solidFill>
                      <a:srgbClr val="1E293B"/>
                    </a:solidFill>
                    <a:latin typeface="Calibri"/>
                  </a:rPr>
                  <a:t> là tiệm cận xiên của đồ thị hàm số </a:t>
                </a:r>
                <a:r>
                  <a:rPr lang="vi-VN"/>
                  <a:t>y=f(x)</a:t>
                </a:r>
                <a:r>
                  <a:rPr sz="2200">
                    <a:solidFill>
                      <a:srgbClr val="1E293B"/>
                    </a:solidFill>
                    <a:latin typeface="Calibri"/>
                  </a:rPr>
                  <a:t> khi nào?</a:t>
                </a: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KHỞI ĐỘNG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5</a:t>
            </a:r>
          </a:p>
        </p:txBody>
      </p:sp>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Nêu 3 bước giải một bài toán tối ưu hoá thực tiễn.</a:t>
            </a:r>
          </a:p>
          <a:p>
            <a:pPr algn="l">
              <a:spcAft>
                <a:spcPts val="800"/>
              </a:spcAft>
            </a:pPr>
            <a:r>
              <a:rPr sz="2200" b="1">
                <a:solidFill>
                  <a:srgbClr val="1E40AF"/>
                </a:solidFill>
                <a:latin typeface="Calibri"/>
              </a:rPr>
              <a:t>Gợi mở: Trả lời bằng thẻ hoặc giơ tay; mỗi câu 30 giây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KHỞI ĐỘNG: CÂU HỎI NHANH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9179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Đồng biến trên </a:t>
                </a:r>
                <a14:m>
                  <m:oMath xmlns:m="http://schemas.openxmlformats.org/officeDocument/2006/math">
                    <m:d>
                      <m:dPr>
                        <m:sepChr m:val=""/>
                      </m:dPr>
                      <m:e>
                        <m:r>
                          <a:rPr lang="vi-VN" sz="2200" b="0">
                            <a:solidFill>
                              <a:srgbClr val="1E293B"/>
                            </a:solidFill>
                            <a:latin typeface="Cambria Math" panose="02040503050406030204" pitchFamily="18" charset="0"/>
                          </a:rPr>
                          <m:t>a</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b</m:t>
                        </m:r>
                      </m:e>
                    </m:d>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(x)≥0</m:t>
                    </m:r>
                  </m:oMath>
                </a14:m>
                <a:r>
                  <a:rPr sz="2200">
                    <a:solidFill>
                      <a:srgbClr val="1E293B"/>
                    </a:solidFill>
                    <a:latin typeface="Calibri"/>
                  </a:rPr>
                  <a:t>, dấu bằng tại hữu hạn điểm)</a:t>
                </a:r>
              </a:p>
              <a:p>
                <a:pPr algn="l" marL="365760" indent="-365760">
                  <a:spcAft>
                    <a:spcPts val="800"/>
                  </a:spcAft>
                  <a:buClr>
                    <a:srgbClr val="1E40AF"/>
                  </a:buClr>
                  <a:buFont typeface="Arial"/>
                  <a:buChar char="•"/>
                </a:pPr>
                <a:r>
                  <a:rPr sz="2200">
                    <a:solidFill>
                      <a:srgbClr val="1E293B"/>
                    </a:solidFill>
                    <a:latin typeface="Calibri"/>
                  </a:rPr>
                  <a:t>So sánh giá trị tại các điểm tới hạn thuộc đoạn và tại hai đầu mút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b</m:t>
                    </m:r>
                  </m:oMath>
                </a14:m>
              </a:p>
              <a:p>
                <a:pPr algn="l" marL="365760" indent="-365760">
                  <a:spcAft>
                    <a:spcPts val="800"/>
                  </a:spcAft>
                  <a:buClr>
                    <a:srgbClr val="1E40AF"/>
                  </a:buClr>
                  <a:buFont typeface="Arial"/>
                  <a:buChar char="•"/>
                </a:pPr>
                <a14:m>
                  <m:oMath xmlns:m="http://schemas.openxmlformats.org/officeDocument/2006/math">
                    <m:limLow>
                      <m:e>
                        <m:r>
                          <m:rPr>
                            <m:sty m:val="p"/>
                          </m:rP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x→+∞</m:t>
                        </m:r>
                      </m:lim>
                    </m:limLow>
                    <m:r>
                      <a:rPr lang="vi-VN" sz="2200" b="0">
                        <a:solidFill>
                          <a:srgbClr val="1E293B"/>
                        </a:solidFill>
                        <a:latin typeface="Cambria Math" panose="02040503050406030204" pitchFamily="18" charset="0"/>
                      </a:rPr>
                      <m:t>[f(x)−(ax+b)]=0</m:t>
                    </m:r>
                  </m:oMath>
                </a14:m>
                <a:r>
                  <a:rPr sz="2200">
                    <a:solidFill>
                      <a:srgbClr val="1E293B"/>
                    </a:solidFill>
                    <a:latin typeface="Calibri"/>
                  </a:rPr>
                  <a:t> hoặc </a:t>
                </a:r>
                <a14:m>
                  <m:oMath xmlns:m="http://schemas.openxmlformats.org/officeDocument/2006/math">
                    <m:limLow>
                      <m:e>
                        <m:r>
                          <m:rPr>
                            <m:sty m:val="p"/>
                          </m:rP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x→−∞</m:t>
                        </m:r>
                      </m:lim>
                    </m:limLow>
                    <m:r>
                      <a:rPr lang="vi-VN" sz="2200" b="0">
                        <a:solidFill>
                          <a:srgbClr val="1E293B"/>
                        </a:solidFill>
                        <a:latin typeface="Cambria Math" panose="02040503050406030204" pitchFamily="18" charset="0"/>
                      </a:rPr>
                      <m:t>[f(x)−(ax+b)]=0</m:t>
                    </m:r>
                  </m:oMath>
                </a14:m>
              </a:p>
              <a:p>
                <a:pPr algn="l" marL="365760" indent="-365760">
                  <a:spcAft>
                    <a:spcPts val="800"/>
                  </a:spcAft>
                  <a:buClr>
                    <a:srgbClr val="1E40AF"/>
                  </a:buClr>
                  <a:buFont typeface="Arial"/>
                  <a:buChar char="•"/>
                </a:pPr>
                <a:r>
                  <a:rPr sz="2200">
                    <a:solidFill>
                      <a:srgbClr val="1E293B"/>
                    </a:solidFill>
                    <a:latin typeface="Calibri"/>
                  </a:rPr>
                  <a:t>Chọn đại lượng </a:t>
                </a:r>
                <a14:m>
                  <m:oMath xmlns:m="http://schemas.openxmlformats.org/officeDocument/2006/math">
                    <m:r>
                      <a:rPr lang="vi-VN" sz="2200" b="0">
                        <a:solidFill>
                          <a:srgbClr val="1E293B"/>
                        </a:solidFill>
                        <a:latin typeface="Cambria Math" panose="02040503050406030204" pitchFamily="18" charset="0"/>
                      </a:rPr>
                      <m:t>Q</m:t>
                    </m:r>
                  </m:oMath>
                </a14:m>
                <a:r>
                  <a:rPr sz="2200">
                    <a:solidFill>
                      <a:srgbClr val="1E293B"/>
                    </a:solidFill>
                    <a:latin typeface="Calibri"/>
                  </a:rPr>
                  <a:t> → lập </a:t>
                </a:r>
                <a14:m>
                  <m:oMath xmlns:m="http://schemas.openxmlformats.org/officeDocument/2006/math">
                    <m:r>
                      <a:rPr lang="vi-VN" sz="2200" b="0">
                        <a:solidFill>
                          <a:srgbClr val="1E293B"/>
                        </a:solidFill>
                        <a:latin typeface="Cambria Math" panose="02040503050406030204" pitchFamily="18" charset="0"/>
                      </a:rPr>
                      <m:t>Q=Q(x)</m:t>
                    </m:r>
                  </m:oMath>
                </a14:m>
                <a:r>
                  <a:rPr sz="2200">
                    <a:solidFill>
                      <a:srgbClr val="1E293B"/>
                    </a:solidFill>
                    <a:latin typeface="Calibri"/>
                  </a:rPr>
                  <a:t>, tìm tập xác định → tìm GTLN, GTNN của </a:t>
                </a:r>
                <a14:m>
                  <m:oMath xmlns:m="http://schemas.openxmlformats.org/officeDocument/2006/math">
                    <m:r>
                      <a:rPr lang="vi-VN" sz="2200" b="0">
                        <a:solidFill>
                          <a:srgbClr val="1E293B"/>
                        </a:solidFill>
                        <a:latin typeface="Cambria Math" panose="02040503050406030204" pitchFamily="18" charset="0"/>
                      </a:rPr>
                      <m:t>Q</m:t>
                    </m:r>
                  </m:oMath>
                </a14:m>
              </a:p>
            </p:txBody>
          </p:sp>
        </mc:Choice>
        <mc:Fallback>
          <p:sp>
            <p:nvSpPr>
              <p:cNvPr id="7" name="TextBox 6"/>
              <p:cNvSpPr txBox="1"/>
              <p:nvPr/>
            </p:nvSpPr>
            <p:spPr>
              <a:xfrm>
                <a:off x="731520" y="1463040"/>
                <a:ext cx="10789920" cy="189179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Đồng biến trên </a:t>
                </a:r>
                <a:r>
                  <a:rPr lang="vi-VN"/>
                  <a:t>(a;b)</a:t>
                </a:r>
                <a:r>
                  <a:rPr sz="2200">
                    <a:solidFill>
                      <a:srgbClr val="1E293B"/>
                    </a:solidFill>
                    <a:latin typeface="Calibri"/>
                  </a:rPr>
                  <a:t> (</a:t>
                </a:r>
                <a:r>
                  <a:rPr lang="vi-VN"/>
                  <a:t>f'(x)\ge 0</a:t>
                </a:r>
                <a:r>
                  <a:rPr sz="2200">
                    <a:solidFill>
                      <a:srgbClr val="1E293B"/>
                    </a:solidFill>
                    <a:latin typeface="Calibri"/>
                  </a:rPr>
                  <a:t>, dấu bằng tại hữu hạn điểm)</a:t>
                </a:r>
              </a:p>
              <a:p>
                <a:pPr algn="l" marL="365760" indent="-365760">
                  <a:spcAft>
                    <a:spcPts val="800"/>
                  </a:spcAft>
                  <a:buClr>
                    <a:srgbClr val="1E40AF"/>
                  </a:buClr>
                  <a:buFont typeface="Arial"/>
                  <a:buChar char="•"/>
                </a:pPr>
                <a:r>
                  <a:rPr sz="2200">
                    <a:solidFill>
                      <a:srgbClr val="1E293B"/>
                    </a:solidFill>
                    <a:latin typeface="Calibri"/>
                  </a:rPr>
                  <a:t>So sánh giá trị tại các điểm tới hạn thuộc đoạn và tại hai đầu mút </a:t>
                </a:r>
                <a:r>
                  <a:rPr lang="vi-VN"/>
                  <a:t>a</a:t>
                </a:r>
                <a:r>
                  <a:rPr sz="2200">
                    <a:solidFill>
                      <a:srgbClr val="1E293B"/>
                    </a:solidFill>
                    <a:latin typeface="Calibri"/>
                  </a:rPr>
                  <a:t>, </a:t>
                </a:r>
                <a:r>
                  <a:rPr lang="vi-VN"/>
                  <a:t>b</a:t>
                </a:r>
              </a:p>
              <a:p>
                <a:pPr algn="l" marL="365760" indent="-365760">
                  <a:spcAft>
                    <a:spcPts val="800"/>
                  </a:spcAft>
                  <a:buClr>
                    <a:srgbClr val="1E40AF"/>
                  </a:buClr>
                  <a:buFont typeface="Arial"/>
                  <a:buChar char="•"/>
                </a:pPr>
                <a:r>
                  <a:rPr lang="vi-VN"/>
                  <a:t>\lim_{x\to+\infty}[f(x)-(ax+b)]=0</a:t>
                </a:r>
                <a:r>
                  <a:rPr sz="2200">
                    <a:solidFill>
                      <a:srgbClr val="1E293B"/>
                    </a:solidFill>
                    <a:latin typeface="Calibri"/>
                  </a:rPr>
                  <a:t> hoặc </a:t>
                </a:r>
                <a:r>
                  <a:rPr lang="vi-VN"/>
                  <a:t>\lim_{x\to-\infty}[f(x)-(ax+b)]=0</a:t>
                </a:r>
              </a:p>
              <a:p>
                <a:pPr algn="l" marL="365760" indent="-365760">
                  <a:spcAft>
                    <a:spcPts val="800"/>
                  </a:spcAft>
                  <a:buClr>
                    <a:srgbClr val="1E40AF"/>
                  </a:buClr>
                  <a:buFont typeface="Arial"/>
                  <a:buChar char="•"/>
                </a:pPr>
                <a:r>
                  <a:rPr sz="2200">
                    <a:solidFill>
                      <a:srgbClr val="1E293B"/>
                    </a:solidFill>
                    <a:latin typeface="Calibri"/>
                  </a:rPr>
                  <a:t>Chọn đại lượng </a:t>
                </a:r>
                <a:r>
                  <a:rPr lang="vi-VN"/>
                  <a:t>Q</a:t>
                </a:r>
                <a:r>
                  <a:rPr sz="2200">
                    <a:solidFill>
                      <a:srgbClr val="1E293B"/>
                    </a:solidFill>
                    <a:latin typeface="Calibri"/>
                  </a:rPr>
                  <a:t> → lập </a:t>
                </a:r>
                <a:r>
                  <a:rPr lang="vi-VN"/>
                  <a:t>Q=Q(x)</a:t>
                </a:r>
                <a:r>
                  <a:rPr sz="2200">
                    <a:solidFill>
                      <a:srgbClr val="1E293B"/>
                    </a:solidFill>
                    <a:latin typeface="Calibri"/>
                  </a:rPr>
                  <a:t>, tìm tập xác định → tìm GTLN, GTNN của </a:t>
                </a:r>
                <a:r>
                  <a:rPr lang="vi-VN"/>
                  <a:t>Q</a:t>
                </a:r>
              </a:p>
            </p:txBody>
          </p:sp>
        </mc:Fallback>
      </mc:AlternateContent>
      <p:sp>
        <p:nvSpPr>
          <p:cNvPr id="8" name="Rounded Rectangle 7"/>
          <p:cNvSpPr/>
          <p:nvPr/>
        </p:nvSpPr>
        <p:spPr>
          <a:xfrm>
            <a:off x="731520" y="3491992"/>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491992"/>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 </a:t>
                </a:r>
                <a14:m>
                  <m:oMath xmlns:m="http://schemas.openxmlformats.org/officeDocument/2006/math">
                    <m:sSup>
                      <m:e>
                        <m:r>
                          <a:rPr lang="vi-VN" sz="2200" b="1">
                            <a:solidFill>
                              <a:srgbClr val="991B1B"/>
                            </a:solidFill>
                            <a:latin typeface="Cambria Math" panose="02040503050406030204" pitchFamily="18" charset="0"/>
                          </a:rPr>
                          <m:t>f</m:t>
                        </m:r>
                      </m:e>
                      <m:sup>
                        <m:r>
                          <a:rPr lang="vi-VN" sz="2200" b="1">
                            <a:solidFill>
                              <a:srgbClr val="991B1B"/>
                            </a:solidFill>
                            <a:latin typeface="Cambria Math" panose="02040503050406030204" pitchFamily="18" charset="0"/>
                          </a:rPr>
                          <m:t>′</m:t>
                        </m:r>
                      </m:sup>
                    </m:sSup>
                    <m:r>
                      <a:rPr lang="vi-VN" sz="2200" b="1">
                        <a:solidFill>
                          <a:srgbClr val="991B1B"/>
                        </a:solidFill>
                        <a:latin typeface="Cambria Math" panose="02040503050406030204" pitchFamily="18" charset="0"/>
                      </a:rPr>
                      <m:t>(x)&gt;0</m:t>
                    </m:r>
                  </m:oMath>
                </a14:m>
                <a:r>
                  <a:rPr sz="2200" b="1">
                    <a:solidFill>
                      <a:srgbClr val="991B1B"/>
                    </a:solidFill>
                    <a:latin typeface="Calibri"/>
                  </a:rPr>
                  <a:t> chỉ là điều kiện đủ; </a:t>
                </a:r>
                <a14:m>
                  <m:oMath xmlns:m="http://schemas.openxmlformats.org/officeDocument/2006/math">
                    <m:sSup>
                      <m:e>
                        <m:r>
                          <a:rPr lang="vi-VN" sz="2200" b="1">
                            <a:solidFill>
                              <a:srgbClr val="991B1B"/>
                            </a:solidFill>
                            <a:latin typeface="Cambria Math" panose="02040503050406030204" pitchFamily="18" charset="0"/>
                          </a:rPr>
                          <m:t>f</m:t>
                        </m:r>
                      </m:e>
                      <m:sup>
                        <m:r>
                          <a:rPr lang="vi-VN" sz="2200" b="1">
                            <a:solidFill>
                              <a:srgbClr val="991B1B"/>
                            </a:solidFill>
                            <a:latin typeface="Cambria Math" panose="02040503050406030204" pitchFamily="18" charset="0"/>
                          </a:rPr>
                          <m:t>′</m:t>
                        </m:r>
                      </m:sup>
                    </m:sSup>
                    <m:r>
                      <a:rPr lang="vi-VN" sz="2200" b="1">
                        <a:solidFill>
                          <a:srgbClr val="991B1B"/>
                        </a:solidFill>
                        <a:latin typeface="Cambria Math" panose="02040503050406030204" pitchFamily="18" charset="0"/>
                      </a:rPr>
                      <m:t>(</m:t>
                    </m:r>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0</m:t>
                        </m:r>
                      </m:sub>
                    </m:sSub>
                    <m:r>
                      <a:rPr lang="vi-VN" sz="2200" b="1">
                        <a:solidFill>
                          <a:srgbClr val="991B1B"/>
                        </a:solidFill>
                        <a:latin typeface="Cambria Math" panose="02040503050406030204" pitchFamily="18" charset="0"/>
                      </a:rPr>
                      <m:t>)=0</m:t>
                    </m:r>
                  </m:oMath>
                </a14:m>
                <a:r>
                  <a:rPr sz="2200" b="1">
                    <a:solidFill>
                      <a:srgbClr val="991B1B"/>
                    </a:solidFill>
                    <a:latin typeface="Calibri"/>
                  </a:rPr>
                  <a:t> chưa chắc </a:t>
                </a:r>
                <a14:m>
                  <m:oMath xmlns:m="http://schemas.openxmlformats.org/officeDocument/2006/math">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0</m:t>
                        </m:r>
                      </m:sub>
                    </m:sSub>
                  </m:oMath>
                </a14:m>
                <a:r>
                  <a:rPr sz="2200" b="1">
                    <a:solidFill>
                      <a:srgbClr val="991B1B"/>
                    </a:solidFill>
                    <a:latin typeface="Calibri"/>
                  </a:rPr>
                  <a:t> là điểm cực trị</a:t>
                </a:r>
              </a:p>
            </p:txBody>
          </p:sp>
        </mc:Choice>
        <mc:Fallback>
          <p:sp>
            <p:nvSpPr>
              <p:cNvPr id="9" name="TextBox 8"/>
              <p:cNvSpPr txBox="1"/>
              <p:nvPr/>
            </p:nvSpPr>
            <p:spPr>
              <a:xfrm>
                <a:off x="914400" y="3491992"/>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 </a:t>
                </a:r>
                <a:r>
                  <a:rPr lang="vi-VN"/>
                  <a:t>f'(x)&gt;0</a:t>
                </a:r>
                <a:r>
                  <a:rPr sz="2200" b="1">
                    <a:solidFill>
                      <a:srgbClr val="991B1B"/>
                    </a:solidFill>
                    <a:latin typeface="Calibri"/>
                  </a:rPr>
                  <a:t> chỉ là điều kiện đủ; </a:t>
                </a:r>
                <a:r>
                  <a:rPr lang="vi-VN"/>
                  <a:t>f'(x_0)=0</a:t>
                </a:r>
                <a:r>
                  <a:rPr sz="2200" b="1">
                    <a:solidFill>
                      <a:srgbClr val="991B1B"/>
                    </a:solidFill>
                    <a:latin typeface="Calibri"/>
                  </a:rPr>
                  <a:t> chưa chắc </a:t>
                </a:r>
                <a:r>
                  <a:rPr lang="vi-VN"/>
                  <a:t>x_0</a:t>
                </a:r>
                <a:r>
                  <a:rPr sz="2200" b="1">
                    <a:solidFill>
                      <a:srgbClr val="991B1B"/>
                    </a:solidFill>
                    <a:latin typeface="Calibri"/>
                  </a:rPr>
                  <a:t> là điểm cực trị</a:t>
                </a: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1.30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639568"/>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1.30.</a:t>
                </a:r>
                <a:r>
                  <a:rPr sz="2000">
                    <a:solidFill>
                      <a:srgbClr val="1E293B"/>
                    </a:solidFill>
                    <a:latin typeface="Calibri"/>
                  </a:rPr>
                  <a:t> Cho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y=f(x)</m:t>
                    </m:r>
                  </m:oMath>
                </a14:m>
                <a:r>
                  <a:rPr sz="2000">
                    <a:solidFill>
                      <a:srgbClr val="1E293B"/>
                    </a:solidFill>
                    <a:latin typeface="Calibri"/>
                  </a:rPr>
                  <a:t> có đạo hàm trên khoảng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b</m:t>
                        </m:r>
                      </m:e>
                    </m:d>
                  </m:oMath>
                </a14:m>
                <a:r>
                  <a:rPr sz="2000">
                    <a:solidFill>
                      <a:srgbClr val="1E293B"/>
                    </a:solidFill>
                    <a:latin typeface="Calibri"/>
                  </a:rPr>
                  <a:t>. Phát biểu nào sau đây là đúng?</a:t>
                </a:r>
              </a:p>
              <a:p>
                <a:pPr algn="l">
                  <a:spcAft>
                    <a:spcPts val="800"/>
                  </a:spcAft>
                </a:pPr>
                <a:r>
                  <a:rPr sz="2000">
                    <a:solidFill>
                      <a:srgbClr val="1E293B"/>
                    </a:solidFill>
                    <a:latin typeface="Calibri"/>
                  </a:rPr>
                  <a:t>A. Nếu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(x)≥0</m:t>
                    </m:r>
                  </m:oMath>
                </a14:m>
                <a:r>
                  <a:rPr sz="2000">
                    <a:solidFill>
                      <a:srgbClr val="1E293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x</m:t>
                    </m:r>
                  </m:oMath>
                </a14:m>
                <a:r>
                  <a:rPr sz="2000">
                    <a:solidFill>
                      <a:srgbClr val="1E293B"/>
                    </a:solidFill>
                    <a:latin typeface="Calibri"/>
                  </a:rPr>
                  <a:t> thuộc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b</m:t>
                        </m:r>
                      </m:e>
                    </m:d>
                  </m:oMath>
                </a14:m>
                <a:r>
                  <a:rPr sz="2000">
                    <a:solidFill>
                      <a:srgbClr val="1E293B"/>
                    </a:solidFill>
                    <a:latin typeface="Calibri"/>
                  </a:rPr>
                  <a:t> thì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y=f(x)</m:t>
                    </m:r>
                  </m:oMath>
                </a14:m>
                <a:r>
                  <a:rPr sz="2000">
                    <a:solidFill>
                      <a:srgbClr val="1E293B"/>
                    </a:solidFill>
                    <a:latin typeface="Calibri"/>
                  </a:rPr>
                  <a:t> đồng biến trên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b</m:t>
                        </m:r>
                      </m:e>
                    </m:d>
                  </m:oMath>
                </a14:m>
                <a:r>
                  <a:rPr sz="2000">
                    <a:solidFill>
                      <a:srgbClr val="1E293B"/>
                    </a:solidFill>
                    <a:latin typeface="Calibri"/>
                  </a:rPr>
                  <a:t>.</a:t>
                </a:r>
              </a:p>
              <a:p>
                <a:pPr algn="l">
                  <a:spcAft>
                    <a:spcPts val="800"/>
                  </a:spcAft>
                </a:pPr>
                <a:r>
                  <a:rPr sz="2000">
                    <a:solidFill>
                      <a:srgbClr val="1E293B"/>
                    </a:solidFill>
                    <a:latin typeface="Calibri"/>
                  </a:rPr>
                  <a:t>B. Nếu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(x)&gt;0</m:t>
                    </m:r>
                  </m:oMath>
                </a14:m>
                <a:r>
                  <a:rPr sz="2000">
                    <a:solidFill>
                      <a:srgbClr val="1E293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x</m:t>
                    </m:r>
                  </m:oMath>
                </a14:m>
                <a:r>
                  <a:rPr sz="2000">
                    <a:solidFill>
                      <a:srgbClr val="1E293B"/>
                    </a:solidFill>
                    <a:latin typeface="Calibri"/>
                  </a:rPr>
                  <a:t> thuộc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b</m:t>
                        </m:r>
                      </m:e>
                    </m:d>
                  </m:oMath>
                </a14:m>
                <a:r>
                  <a:rPr sz="2000">
                    <a:solidFill>
                      <a:srgbClr val="1E293B"/>
                    </a:solidFill>
                    <a:latin typeface="Calibri"/>
                  </a:rPr>
                  <a:t> thì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y=f(x)</m:t>
                    </m:r>
                  </m:oMath>
                </a14:m>
                <a:r>
                  <a:rPr sz="2000">
                    <a:solidFill>
                      <a:srgbClr val="1E293B"/>
                    </a:solidFill>
                    <a:latin typeface="Calibri"/>
                  </a:rPr>
                  <a:t> đồng biến trên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b</m:t>
                        </m:r>
                      </m:e>
                    </m:d>
                  </m:oMath>
                </a14:m>
                <a:r>
                  <a:rPr sz="2000">
                    <a:solidFill>
                      <a:srgbClr val="1E293B"/>
                    </a:solidFill>
                    <a:latin typeface="Calibri"/>
                  </a:rPr>
                  <a:t>.</a:t>
                </a:r>
              </a:p>
              <a:p>
                <a:pPr algn="l">
                  <a:spcAft>
                    <a:spcPts val="800"/>
                  </a:spcAft>
                </a:pPr>
                <a:r>
                  <a:rPr sz="2000">
                    <a:solidFill>
                      <a:srgbClr val="1E293B"/>
                    </a:solidFill>
                    <a:latin typeface="Calibri"/>
                  </a:rPr>
                  <a:t>C.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y=f(x)</m:t>
                    </m:r>
                  </m:oMath>
                </a14:m>
                <a:r>
                  <a:rPr sz="2000">
                    <a:solidFill>
                      <a:srgbClr val="1E293B"/>
                    </a:solidFill>
                    <a:latin typeface="Calibri"/>
                  </a:rPr>
                  <a:t> đồng biến trên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b</m:t>
                        </m:r>
                      </m:e>
                    </m:d>
                  </m:oMath>
                </a14:m>
                <a:r>
                  <a:rPr sz="2000">
                    <a:solidFill>
                      <a:srgbClr val="1E293B"/>
                    </a:solidFill>
                    <a:latin typeface="Calibri"/>
                  </a:rPr>
                  <a:t> khi và chỉ khi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(x)≥0</m:t>
                    </m:r>
                  </m:oMath>
                </a14:m>
                <a:r>
                  <a:rPr sz="2000">
                    <a:solidFill>
                      <a:srgbClr val="1E293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x</m:t>
                    </m:r>
                  </m:oMath>
                </a14:m>
                <a:r>
                  <a:rPr sz="2000">
                    <a:solidFill>
                      <a:srgbClr val="1E293B"/>
                    </a:solidFill>
                    <a:latin typeface="Calibri"/>
                  </a:rPr>
                  <a:t> thuộc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b</m:t>
                        </m:r>
                      </m:e>
                    </m:d>
                  </m:oMath>
                </a14:m>
                <a:r>
                  <a:rPr sz="2000">
                    <a:solidFill>
                      <a:srgbClr val="1E293B"/>
                    </a:solidFill>
                    <a:latin typeface="Calibri"/>
                  </a:rPr>
                  <a:t>.</a:t>
                </a:r>
              </a:p>
              <a:p>
                <a:pPr algn="l">
                  <a:spcAft>
                    <a:spcPts val="800"/>
                  </a:spcAft>
                </a:pPr>
                <a:r>
                  <a:rPr sz="2000">
                    <a:solidFill>
                      <a:srgbClr val="1E293B"/>
                    </a:solidFill>
                    <a:latin typeface="Calibri"/>
                  </a:rPr>
                  <a:t>D.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y=f(x)</m:t>
                    </m:r>
                  </m:oMath>
                </a14:m>
                <a:r>
                  <a:rPr sz="2000">
                    <a:solidFill>
                      <a:srgbClr val="1E293B"/>
                    </a:solidFill>
                    <a:latin typeface="Calibri"/>
                  </a:rPr>
                  <a:t> đồng biến trên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b</m:t>
                        </m:r>
                      </m:e>
                    </m:d>
                  </m:oMath>
                </a14:m>
                <a:r>
                  <a:rPr sz="2000">
                    <a:solidFill>
                      <a:srgbClr val="1E293B"/>
                    </a:solidFill>
                    <a:latin typeface="Calibri"/>
                  </a:rPr>
                  <a:t> khi và chỉ khi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000" b="0">
                            <a:solidFill>
                              <a:srgbClr val="1E293B"/>
                            </a:solidFill>
                            <a:latin typeface="Cambria Math" panose="02040503050406030204" pitchFamily="18" charset="0"/>
                          </a:rPr>
                          <m:t>f</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(x)&gt;0</m:t>
                    </m:r>
                  </m:oMath>
                </a14:m>
                <a:r>
                  <a:rPr sz="2000">
                    <a:solidFill>
                      <a:srgbClr val="1E293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000" b="0">
                        <a:solidFill>
                          <a:srgbClr val="1E293B"/>
                        </a:solidFill>
                        <a:latin typeface="Cambria Math" panose="02040503050406030204" pitchFamily="18" charset="0"/>
                      </a:rPr>
                      <m:t>x</m:t>
                    </m:r>
                  </m:oMath>
                </a14:m>
                <a:r>
                  <a:rPr sz="2000">
                    <a:solidFill>
                      <a:srgbClr val="1E293B"/>
                    </a:solidFill>
                    <a:latin typeface="Calibri"/>
                  </a:rPr>
                  <a:t> thuộc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r>
                          <a:rPr lang="vi-VN" sz="2000" b="0">
                            <a:solidFill>
                              <a:srgbClr val="1E293B"/>
                            </a:solidFill>
                            <a:latin typeface="Cambria Math" panose="02040503050406030204" pitchFamily="18" charset="0"/>
                          </a:rPr>
                          <m:t>a</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b</m:t>
                        </m:r>
                      </m:e>
                    </m:d>
                  </m:oMath>
                </a14:m>
                <a:r>
                  <a:rPr sz="2000">
                    <a:solidFill>
                      <a:srgbClr val="1E293B"/>
                    </a:solidFill>
                    <a:latin typeface="Calibri"/>
                  </a:rPr>
                  <a:t>.</a:t>
                </a:r>
              </a:p>
              <a:p>
                <a:pPr algn="l">
                  <a:spcAft>
                    <a:spcPts val="800"/>
                  </a:spcAft>
                </a:pPr>
                <a:r>
                  <a:rPr sz="2000" b="1">
                    <a:solidFill>
                      <a:srgbClr val="1E40AF"/>
                    </a:solidFill>
                    <a:latin typeface="Calibri"/>
                  </a:rPr>
                  <a:t>Gợi mở: Điều kiện đủ hay điều kiện cần?</a:t>
                </a:r>
              </a:p>
            </p:txBody>
          </p:sp>
        </mc:Choice>
        <mc:Fallback>
          <p:sp>
            <p:nvSpPr>
              <p:cNvPr id="7" name="TextBox 6"/>
              <p:cNvSpPr txBox="1"/>
              <p:nvPr/>
            </p:nvSpPr>
            <p:spPr>
              <a:xfrm>
                <a:off x="731520" y="1463040"/>
                <a:ext cx="10789920" cy="2639568"/>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1.30.</a:t>
                </a:r>
                <a:r>
                  <a:rPr sz="2000">
                    <a:solidFill>
                      <a:srgbClr val="1E293B"/>
                    </a:solidFill>
                    <a:latin typeface="Calibri"/>
                  </a:rPr>
                  <a:t> Cho hàm số </a:t>
                </a:r>
                <a:r>
                  <a:rPr lang="vi-VN"/>
                  <a:t>y=f(x)</a:t>
                </a:r>
                <a:r>
                  <a:rPr sz="2000">
                    <a:solidFill>
                      <a:srgbClr val="1E293B"/>
                    </a:solidFill>
                    <a:latin typeface="Calibri"/>
                  </a:rPr>
                  <a:t> có đạo hàm trên khoảng </a:t>
                </a:r>
                <a:r>
                  <a:rPr lang="vi-VN"/>
                  <a:t>(a;b)</a:t>
                </a:r>
                <a:r>
                  <a:rPr sz="2000">
                    <a:solidFill>
                      <a:srgbClr val="1E293B"/>
                    </a:solidFill>
                    <a:latin typeface="Calibri"/>
                  </a:rPr>
                  <a:t>. Phát biểu nào sau đây là đúng?</a:t>
                </a:r>
              </a:p>
              <a:p>
                <a:pPr algn="l">
                  <a:spcAft>
                    <a:spcPts val="800"/>
                  </a:spcAft>
                </a:pPr>
                <a:r>
                  <a:rPr sz="2000">
                    <a:solidFill>
                      <a:srgbClr val="1E293B"/>
                    </a:solidFill>
                    <a:latin typeface="Calibri"/>
                  </a:rPr>
                  <a:t>A. Nếu </a:t>
                </a:r>
                <a:r>
                  <a:rPr lang="vi-VN"/>
                  <a:t>f^′(x)≥0</a:t>
                </a:r>
                <a:r>
                  <a:rPr sz="2000">
                    <a:solidFill>
                      <a:srgbClr val="1E293B"/>
                    </a:solidFill>
                    <a:latin typeface="Calibri"/>
                  </a:rPr>
                  <a:t> với mọi </a:t>
                </a:r>
                <a:r>
                  <a:rPr lang="vi-VN"/>
                  <a:t>x</a:t>
                </a:r>
                <a:r>
                  <a:rPr sz="2000">
                    <a:solidFill>
                      <a:srgbClr val="1E293B"/>
                    </a:solidFill>
                    <a:latin typeface="Calibri"/>
                  </a:rPr>
                  <a:t> thuộc </a:t>
                </a:r>
                <a:r>
                  <a:rPr lang="vi-VN"/>
                  <a:t>(a;b)</a:t>
                </a:r>
                <a:r>
                  <a:rPr sz="2000">
                    <a:solidFill>
                      <a:srgbClr val="1E293B"/>
                    </a:solidFill>
                    <a:latin typeface="Calibri"/>
                  </a:rPr>
                  <a:t> thì hàm số </a:t>
                </a:r>
                <a:r>
                  <a:rPr lang="vi-VN"/>
                  <a:t>y=f(x)</a:t>
                </a:r>
                <a:r>
                  <a:rPr sz="2000">
                    <a:solidFill>
                      <a:srgbClr val="1E293B"/>
                    </a:solidFill>
                    <a:latin typeface="Calibri"/>
                  </a:rPr>
                  <a:t> đồng biến trên </a:t>
                </a:r>
                <a:r>
                  <a:rPr lang="vi-VN"/>
                  <a:t>(a;b)</a:t>
                </a:r>
                <a:r>
                  <a:rPr sz="2000">
                    <a:solidFill>
                      <a:srgbClr val="1E293B"/>
                    </a:solidFill>
                    <a:latin typeface="Calibri"/>
                  </a:rPr>
                  <a:t>.</a:t>
                </a:r>
              </a:p>
              <a:p>
                <a:pPr algn="l">
                  <a:spcAft>
                    <a:spcPts val="800"/>
                  </a:spcAft>
                </a:pPr>
                <a:r>
                  <a:rPr sz="2000">
                    <a:solidFill>
                      <a:srgbClr val="1E293B"/>
                    </a:solidFill>
                    <a:latin typeface="Calibri"/>
                  </a:rPr>
                  <a:t>B. Nếu </a:t>
                </a:r>
                <a:r>
                  <a:rPr lang="vi-VN"/>
                  <a:t>f^′(x)&gt;0</a:t>
                </a:r>
                <a:r>
                  <a:rPr sz="2000">
                    <a:solidFill>
                      <a:srgbClr val="1E293B"/>
                    </a:solidFill>
                    <a:latin typeface="Calibri"/>
                  </a:rPr>
                  <a:t> với mọi </a:t>
                </a:r>
                <a:r>
                  <a:rPr lang="vi-VN"/>
                  <a:t>x</a:t>
                </a:r>
                <a:r>
                  <a:rPr sz="2000">
                    <a:solidFill>
                      <a:srgbClr val="1E293B"/>
                    </a:solidFill>
                    <a:latin typeface="Calibri"/>
                  </a:rPr>
                  <a:t> thuộc </a:t>
                </a:r>
                <a:r>
                  <a:rPr lang="vi-VN"/>
                  <a:t>(a;b)</a:t>
                </a:r>
                <a:r>
                  <a:rPr sz="2000">
                    <a:solidFill>
                      <a:srgbClr val="1E293B"/>
                    </a:solidFill>
                    <a:latin typeface="Calibri"/>
                  </a:rPr>
                  <a:t> thì hàm số </a:t>
                </a:r>
                <a:r>
                  <a:rPr lang="vi-VN"/>
                  <a:t>y=f(x)</a:t>
                </a:r>
                <a:r>
                  <a:rPr sz="2000">
                    <a:solidFill>
                      <a:srgbClr val="1E293B"/>
                    </a:solidFill>
                    <a:latin typeface="Calibri"/>
                  </a:rPr>
                  <a:t> đồng biến trên </a:t>
                </a:r>
                <a:r>
                  <a:rPr lang="vi-VN"/>
                  <a:t>(a;b)</a:t>
                </a:r>
                <a:r>
                  <a:rPr sz="2000">
                    <a:solidFill>
                      <a:srgbClr val="1E293B"/>
                    </a:solidFill>
                    <a:latin typeface="Calibri"/>
                  </a:rPr>
                  <a:t>.</a:t>
                </a:r>
              </a:p>
              <a:p>
                <a:pPr algn="l">
                  <a:spcAft>
                    <a:spcPts val="800"/>
                  </a:spcAft>
                </a:pPr>
                <a:r>
                  <a:rPr sz="2000">
                    <a:solidFill>
                      <a:srgbClr val="1E293B"/>
                    </a:solidFill>
                    <a:latin typeface="Calibri"/>
                  </a:rPr>
                  <a:t>C. Hàm số </a:t>
                </a:r>
                <a:r>
                  <a:rPr lang="vi-VN"/>
                  <a:t>y=f(x)</a:t>
                </a:r>
                <a:r>
                  <a:rPr sz="2000">
                    <a:solidFill>
                      <a:srgbClr val="1E293B"/>
                    </a:solidFill>
                    <a:latin typeface="Calibri"/>
                  </a:rPr>
                  <a:t> đồng biến trên </a:t>
                </a:r>
                <a:r>
                  <a:rPr lang="vi-VN"/>
                  <a:t>(a;b)</a:t>
                </a:r>
                <a:r>
                  <a:rPr sz="2000">
                    <a:solidFill>
                      <a:srgbClr val="1E293B"/>
                    </a:solidFill>
                    <a:latin typeface="Calibri"/>
                  </a:rPr>
                  <a:t> khi và chỉ khi </a:t>
                </a:r>
                <a:r>
                  <a:rPr lang="vi-VN"/>
                  <a:t>f^′(x)≥0</a:t>
                </a:r>
                <a:r>
                  <a:rPr sz="2000">
                    <a:solidFill>
                      <a:srgbClr val="1E293B"/>
                    </a:solidFill>
                    <a:latin typeface="Calibri"/>
                  </a:rPr>
                  <a:t> với mọi </a:t>
                </a:r>
                <a:r>
                  <a:rPr lang="vi-VN"/>
                  <a:t>x</a:t>
                </a:r>
                <a:r>
                  <a:rPr sz="2000">
                    <a:solidFill>
                      <a:srgbClr val="1E293B"/>
                    </a:solidFill>
                    <a:latin typeface="Calibri"/>
                  </a:rPr>
                  <a:t> thuộc </a:t>
                </a:r>
                <a:r>
                  <a:rPr lang="vi-VN"/>
                  <a:t>(a;b)</a:t>
                </a:r>
                <a:r>
                  <a:rPr sz="2000">
                    <a:solidFill>
                      <a:srgbClr val="1E293B"/>
                    </a:solidFill>
                    <a:latin typeface="Calibri"/>
                  </a:rPr>
                  <a:t>.</a:t>
                </a:r>
              </a:p>
              <a:p>
                <a:pPr algn="l">
                  <a:spcAft>
                    <a:spcPts val="800"/>
                  </a:spcAft>
                </a:pPr>
                <a:r>
                  <a:rPr sz="2000">
                    <a:solidFill>
                      <a:srgbClr val="1E293B"/>
                    </a:solidFill>
                    <a:latin typeface="Calibri"/>
                  </a:rPr>
                  <a:t>D. Hàm số </a:t>
                </a:r>
                <a:r>
                  <a:rPr lang="vi-VN"/>
                  <a:t>y=f(x)</a:t>
                </a:r>
                <a:r>
                  <a:rPr sz="2000">
                    <a:solidFill>
                      <a:srgbClr val="1E293B"/>
                    </a:solidFill>
                    <a:latin typeface="Calibri"/>
                  </a:rPr>
                  <a:t> đồng biến trên </a:t>
                </a:r>
                <a:r>
                  <a:rPr lang="vi-VN"/>
                  <a:t>(a;b)</a:t>
                </a:r>
                <a:r>
                  <a:rPr sz="2000">
                    <a:solidFill>
                      <a:srgbClr val="1E293B"/>
                    </a:solidFill>
                    <a:latin typeface="Calibri"/>
                  </a:rPr>
                  <a:t> khi và chỉ khi </a:t>
                </a:r>
                <a:r>
                  <a:rPr lang="vi-VN"/>
                  <a:t>f^′(x)&gt;0</a:t>
                </a:r>
                <a:r>
                  <a:rPr sz="2000">
                    <a:solidFill>
                      <a:srgbClr val="1E293B"/>
                    </a:solidFill>
                    <a:latin typeface="Calibri"/>
                  </a:rPr>
                  <a:t> với mọi </a:t>
                </a:r>
                <a:r>
                  <a:rPr lang="vi-VN"/>
                  <a:t>x</a:t>
                </a:r>
                <a:r>
                  <a:rPr sz="2000">
                    <a:solidFill>
                      <a:srgbClr val="1E293B"/>
                    </a:solidFill>
                    <a:latin typeface="Calibri"/>
                  </a:rPr>
                  <a:t> thuộc </a:t>
                </a:r>
                <a:r>
                  <a:rPr lang="vi-VN"/>
                  <a:t>(a;b)</a:t>
                </a:r>
                <a:r>
                  <a:rPr sz="2000">
                    <a:solidFill>
                      <a:srgbClr val="1E293B"/>
                    </a:solidFill>
                    <a:latin typeface="Calibri"/>
                  </a:rPr>
                  <a:t>.</a:t>
                </a:r>
              </a:p>
              <a:p>
                <a:pPr algn="l">
                  <a:spcAft>
                    <a:spcPts val="800"/>
                  </a:spcAft>
                </a:pPr>
                <a:r>
                  <a:rPr sz="2000" b="1">
                    <a:solidFill>
                      <a:srgbClr val="1E40AF"/>
                    </a:solidFill>
                    <a:latin typeface="Calibri"/>
                  </a:rPr>
                  <a:t>Gợi mở: Điều kiện đủ hay điều kiện cần?</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1.30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f</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(x)&gt;0</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x∈(a;b)</m:t>
                    </m:r>
                  </m:oMath>
                </a14:m>
                <a:r>
                  <a:rPr sz="2400">
                    <a:solidFill>
                      <a:srgbClr val="1E293B"/>
                    </a:solidFill>
                    <a:latin typeface="Calibri"/>
                  </a:rPr>
                  <a:t> là điều kiện đủ để hàm số đồng biến trên </a:t>
                </a:r>
                <a14:m>
                  <m:oMath xmlns:m="http://schemas.openxmlformats.org/officeDocument/2006/math">
                    <m:d>
                      <m:dPr>
                        <m:sepChr m:val=""/>
                      </m:dPr>
                      <m:e>
                        <m:r>
                          <a:rPr lang="vi-VN" sz="2400" b="0">
                            <a:solidFill>
                              <a:srgbClr val="1E293B"/>
                            </a:solidFill>
                            <a:latin typeface="Cambria Math" panose="02040503050406030204" pitchFamily="18" charset="0"/>
                          </a:rPr>
                          <m:t>a</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b</m:t>
                        </m:r>
                      </m:e>
                    </m:d>
                  </m:oMath>
                </a14:m>
              </a:p>
              <a:p>
                <a:pPr algn="l" marL="365760" indent="-365760">
                  <a:spcAft>
                    <a:spcPts val="800"/>
                  </a:spcAft>
                  <a:buClr>
                    <a:srgbClr val="1E40AF"/>
                  </a:buClr>
                  <a:buFont typeface="Arial"/>
                  <a:buChar char="•"/>
                </a:pPr>
                <a:r>
                  <a:rPr sz="2400">
                    <a:solidFill>
                      <a:srgbClr val="1E293B"/>
                    </a:solidFill>
                    <a:latin typeface="Calibri"/>
                  </a:rPr>
                  <a:t>A sai: nếu </a:t>
                </a:r>
                <a14:m>
                  <m:oMath xmlns:m="http://schemas.openxmlformats.org/officeDocument/2006/math">
                    <m:sSup>
                      <m:e>
                        <m:r>
                          <a:rPr lang="vi-VN" sz="2400" b="0">
                            <a:solidFill>
                              <a:srgbClr val="1E293B"/>
                            </a:solidFill>
                            <a:latin typeface="Cambria Math" panose="02040503050406030204" pitchFamily="18" charset="0"/>
                          </a:rPr>
                          <m:t>f</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(x)=0</m:t>
                    </m:r>
                  </m:oMath>
                </a14:m>
                <a:r>
                  <a:rPr sz="2400">
                    <a:solidFill>
                      <a:srgbClr val="1E293B"/>
                    </a:solidFill>
                    <a:latin typeface="Calibri"/>
                  </a:rPr>
                  <a:t> trên cả một khoảng con thì hàm số hằng trên khoảng đó</a:t>
                </a:r>
              </a:p>
              <a:p>
                <a:pPr algn="l" marL="365760" indent="-365760">
                  <a:spcAft>
                    <a:spcPts val="800"/>
                  </a:spcAft>
                  <a:buClr>
                    <a:srgbClr val="1E40AF"/>
                  </a:buClr>
                  <a:buFont typeface="Arial"/>
                  <a:buChar char="•"/>
                </a:pPr>
                <a:r>
                  <a:rPr sz="2400">
                    <a:solidFill>
                      <a:srgbClr val="1E293B"/>
                    </a:solidFill>
                    <a:latin typeface="Calibri"/>
                  </a:rPr>
                  <a:t>C, D sai: </a:t>
                </a:r>
                <a14:m>
                  <m:oMath xmlns:m="http://schemas.openxmlformats.org/officeDocument/2006/math">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oMath>
                </a14:m>
                <a:r>
                  <a:rPr sz="2400">
                    <a:solidFill>
                      <a:srgbClr val="1E293B"/>
                    </a:solidFill>
                    <a:latin typeface="Calibri"/>
                  </a:rPr>
                  <a:t> đồng biến trên </a:t>
                </a:r>
                <a14:m>
                  <m:oMath xmlns:m="http://schemas.openxmlformats.org/officeDocument/2006/math">
                    <m:r>
                      <a:rPr lang="vi-VN" sz="2400" b="0">
                        <a:solidFill>
                          <a:srgbClr val="1E293B"/>
                        </a:solidFill>
                        <a:latin typeface="Cambria Math" panose="02040503050406030204" pitchFamily="18" charset="0"/>
                      </a:rPr>
                      <m:t>ℝ</m:t>
                    </m:r>
                  </m:oMath>
                </a14:m>
                <a:r>
                  <a:rPr sz="2400">
                    <a:solidFill>
                      <a:srgbClr val="1E293B"/>
                    </a:solidFill>
                    <a:latin typeface="Calibri"/>
                  </a:rPr>
                  <a:t> nhưng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(0)=0</m:t>
                    </m:r>
                  </m:oMath>
                </a14:m>
              </a:p>
            </p:txBody>
          </p:sp>
        </mc:Choice>
        <mc:Fallback>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f'(x)&gt;0</a:t>
                </a:r>
                <a:r>
                  <a:rPr sz="2400">
                    <a:solidFill>
                      <a:srgbClr val="1E293B"/>
                    </a:solidFill>
                    <a:latin typeface="Calibri"/>
                  </a:rPr>
                  <a:t> với mọi </a:t>
                </a:r>
                <a:r>
                  <a:rPr lang="vi-VN"/>
                  <a:t>x\in(a;b)</a:t>
                </a:r>
                <a:r>
                  <a:rPr sz="2400">
                    <a:solidFill>
                      <a:srgbClr val="1E293B"/>
                    </a:solidFill>
                    <a:latin typeface="Calibri"/>
                  </a:rPr>
                  <a:t> là điều kiện đủ để hàm số đồng biến trên </a:t>
                </a:r>
                <a:r>
                  <a:rPr lang="vi-VN"/>
                  <a:t>(a;b)</a:t>
                </a:r>
              </a:p>
              <a:p>
                <a:pPr algn="l" marL="365760" indent="-365760">
                  <a:spcAft>
                    <a:spcPts val="800"/>
                  </a:spcAft>
                  <a:buClr>
                    <a:srgbClr val="1E40AF"/>
                  </a:buClr>
                  <a:buFont typeface="Arial"/>
                  <a:buChar char="•"/>
                </a:pPr>
                <a:r>
                  <a:rPr sz="2400">
                    <a:solidFill>
                      <a:srgbClr val="1E293B"/>
                    </a:solidFill>
                    <a:latin typeface="Calibri"/>
                  </a:rPr>
                  <a:t>A sai: nếu </a:t>
                </a:r>
                <a:r>
                  <a:rPr lang="vi-VN"/>
                  <a:t>f'(x)=0</a:t>
                </a:r>
                <a:r>
                  <a:rPr sz="2400">
                    <a:solidFill>
                      <a:srgbClr val="1E293B"/>
                    </a:solidFill>
                    <a:latin typeface="Calibri"/>
                  </a:rPr>
                  <a:t> trên cả một khoảng con thì hàm số hằng trên khoảng đó</a:t>
                </a:r>
              </a:p>
              <a:p>
                <a:pPr algn="l" marL="365760" indent="-365760">
                  <a:spcAft>
                    <a:spcPts val="800"/>
                  </a:spcAft>
                  <a:buClr>
                    <a:srgbClr val="1E40AF"/>
                  </a:buClr>
                  <a:buFont typeface="Arial"/>
                  <a:buChar char="•"/>
                </a:pPr>
                <a:r>
                  <a:rPr sz="2400">
                    <a:solidFill>
                      <a:srgbClr val="1E293B"/>
                    </a:solidFill>
                    <a:latin typeface="Calibri"/>
                  </a:rPr>
                  <a:t>C, D sai: </a:t>
                </a:r>
                <a:r>
                  <a:rPr lang="vi-VN"/>
                  <a:t>y=x^3</a:t>
                </a:r>
                <a:r>
                  <a:rPr sz="2400">
                    <a:solidFill>
                      <a:srgbClr val="1E293B"/>
                    </a:solidFill>
                    <a:latin typeface="Calibri"/>
                  </a:rPr>
                  <a:t> đồng biến trên </a:t>
                </a:r>
                <a:r>
                  <a:rPr lang="vi-VN"/>
                  <a:t>\mathbb{R}</a:t>
                </a:r>
                <a:r>
                  <a:rPr sz="2400">
                    <a:solidFill>
                      <a:srgbClr val="1E293B"/>
                    </a:solidFill>
                    <a:latin typeface="Calibri"/>
                  </a:rPr>
                  <a:t> nhưng </a:t>
                </a:r>
                <a:r>
                  <a:rPr lang="vi-VN"/>
                  <a:t>y'(0)=0</a:t>
                </a:r>
              </a:p>
            </p:txBody>
          </p:sp>
        </mc:Fallback>
      </mc:AlternateContent>
      <p:sp>
        <p:nvSpPr>
          <p:cNvPr id="8" name="Rounded Rectangle 7"/>
          <p:cNvSpPr/>
          <p:nvPr/>
        </p:nvSpPr>
        <p:spPr>
          <a:xfrm>
            <a:off x="731520" y="3514343"/>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14343"/>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Chọn 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1.31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1.31.</a:t>
                </a:r>
                <a:r>
                  <a:rPr sz="2400">
                    <a:solidFill>
                      <a:srgbClr val="1E293B"/>
                    </a:solidFill>
                    <a:latin typeface="Calibri"/>
                  </a:rPr>
                  <a:t> Hàm số nào sau đây nghịch biến trên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ℝ</m:t>
                    </m:r>
                  </m:oMath>
                </a14:m>
                <a:r>
                  <a:rPr sz="2400">
                    <a:solidFill>
                      <a:srgbClr val="1E293B"/>
                    </a:solidFill>
                    <a:latin typeface="Calibri"/>
                  </a:rPr>
                  <a:t>?</a:t>
                </a:r>
              </a:p>
              <a:p>
                <a:pPr algn="l">
                  <a:spcAft>
                    <a:spcPts val="800"/>
                  </a:spcAft>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−9x</m:t>
                    </m:r>
                  </m:oMath>
                </a14:m>
                <a:r>
                  <a:rPr sz="2400">
                    <a:solidFill>
                      <a:srgbClr val="1E293B"/>
                    </a:solidFill>
                    <a:latin typeface="Calibri"/>
                  </a:rPr>
                  <a:t>.    B. </a:t>
                </a:r>
                <a14:m>
                  <m:oMath xmlns:m="http://schemas.openxmlformats.org/officeDocument/2006/math">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+x+1</m:t>
                    </m:r>
                  </m:oMath>
                </a14:m>
                <a:r>
                  <a:rPr sz="2400">
                    <a:solidFill>
                      <a:srgbClr val="1E293B"/>
                    </a:solidFill>
                    <a:latin typeface="Calibri"/>
                  </a:rPr>
                  <a:t>.</a:t>
                </a:r>
              </a:p>
              <a:p>
                <a:pPr algn="l">
                  <a:spcAft>
                    <a:spcPts val="800"/>
                  </a:spcAft>
                </a:pPr>
                <a:r>
                  <a:rPr sz="2400">
                    <a:solidFill>
                      <a:srgbClr val="1E293B"/>
                    </a:solidFill>
                    <a:latin typeface="Calibri"/>
                  </a:rPr>
                  <a:t>C. </a:t>
                </a:r>
                <a14:m>
                  <m:oMath xmlns:m="http://schemas.openxmlformats.org/officeDocument/2006/math">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x−1</m:t>
                        </m:r>
                      </m:num>
                      <m:den>
                        <m:r>
                          <a:rPr lang="vi-VN" sz="2400" b="0">
                            <a:solidFill>
                              <a:srgbClr val="1E293B"/>
                            </a:solidFill>
                            <a:latin typeface="Cambria Math" panose="02040503050406030204" pitchFamily="18" charset="0"/>
                          </a:rPr>
                          <m:t>x−2</m:t>
                        </m:r>
                      </m:den>
                    </m:f>
                  </m:oMath>
                </a14:m>
                <a:r>
                  <a:rPr sz="2400">
                    <a:solidFill>
                      <a:srgbClr val="1E293B"/>
                    </a:solidFill>
                    <a:latin typeface="Calibri"/>
                  </a:rPr>
                  <a:t>.    D. </a:t>
                </a:r>
                <a14:m>
                  <m:oMath xmlns:m="http://schemas.openxmlformats.org/officeDocument/2006/math">
                    <m:r>
                      <a:rPr lang="vi-VN" sz="2400" b="0">
                        <a:solidFill>
                          <a:srgbClr val="1E293B"/>
                        </a:solidFill>
                        <a:latin typeface="Cambria Math" panose="02040503050406030204" pitchFamily="18" charset="0"/>
                      </a:rPr>
                      <m:t>y=2</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+3x+2</m:t>
                    </m:r>
                  </m:oMath>
                </a14:m>
                <a:r>
                  <a:rPr sz="2400">
                    <a:solidFill>
                      <a:srgbClr val="1E293B"/>
                    </a:solidFill>
                    <a:latin typeface="Calibri"/>
                  </a:rPr>
                  <a:t>.</a:t>
                </a:r>
              </a:p>
              <a:p>
                <a:pPr algn="l">
                  <a:spcAft>
                    <a:spcPts val="800"/>
                  </a:spcAft>
                </a:pPr>
                <a:r>
                  <a:rPr sz="2400" b="1">
                    <a:solidFill>
                      <a:srgbClr val="1E40AF"/>
                    </a:solidFill>
                    <a:latin typeface="Calibri"/>
                  </a:rPr>
                  <a:t>Gợi mở: Hàm số nghịch biến trên </a:t>
                </a:r>
                <a14:m>
                  <m:oMath xmlns:m="http://schemas.openxmlformats.org/officeDocument/2006/math">
                    <m:r>
                      <a:rPr lang="vi-VN" sz="2400" b="1">
                        <a:solidFill>
                          <a:srgbClr val="1E40AF"/>
                        </a:solidFill>
                        <a:latin typeface="Cambria Math" panose="02040503050406030204" pitchFamily="18" charset="0"/>
                      </a:rPr>
                      <m:t>ℝ</m:t>
                    </m:r>
                  </m:oMath>
                </a14:m>
                <a:r>
                  <a:rPr sz="2400" b="1">
                    <a:solidFill>
                      <a:srgbClr val="1E40AF"/>
                    </a:solidFill>
                    <a:latin typeface="Calibri"/>
                  </a:rPr>
                  <a:t> cần </a:t>
                </a:r>
                <a14:m>
                  <m:oMath xmlns:m="http://schemas.openxmlformats.org/officeDocument/2006/math">
                    <m:sSup>
                      <m:e>
                        <m:r>
                          <a:rPr lang="vi-VN" sz="2400" b="1">
                            <a:solidFill>
                              <a:srgbClr val="1E40AF"/>
                            </a:solidFill>
                            <a:latin typeface="Cambria Math" panose="02040503050406030204" pitchFamily="18" charset="0"/>
                          </a:rPr>
                          <m:t>y</m:t>
                        </m:r>
                      </m:e>
                      <m:sup>
                        <m:r>
                          <a:rPr lang="vi-VN" sz="2400" b="1">
                            <a:solidFill>
                              <a:srgbClr val="1E40AF"/>
                            </a:solidFill>
                            <a:latin typeface="Cambria Math" panose="02040503050406030204" pitchFamily="18" charset="0"/>
                          </a:rPr>
                          <m:t>′</m:t>
                        </m:r>
                      </m:sup>
                    </m:sSup>
                    <m:r>
                      <a:rPr lang="vi-VN" sz="2400" b="1">
                        <a:solidFill>
                          <a:srgbClr val="1E40AF"/>
                        </a:solidFill>
                        <a:latin typeface="Cambria Math" panose="02040503050406030204" pitchFamily="18" charset="0"/>
                      </a:rPr>
                      <m:t>≤0</m:t>
                    </m:r>
                  </m:oMath>
                </a14:m>
                <a:r>
                  <a:rPr sz="2400" b="1">
                    <a:solidFill>
                      <a:srgbClr val="1E40AF"/>
                    </a:solidFill>
                    <a:latin typeface="Calibri"/>
                  </a:rPr>
                  <a:t> với mọi </a:t>
                </a:r>
                <a14:m>
                  <m:oMath xmlns:m="http://schemas.openxmlformats.org/officeDocument/2006/math">
                    <m:r>
                      <a:rPr lang="vi-VN" sz="2400" b="1">
                        <a:solidFill>
                          <a:srgbClr val="1E40AF"/>
                        </a:solidFill>
                        <a:latin typeface="Cambria Math" panose="02040503050406030204" pitchFamily="18" charset="0"/>
                      </a:rPr>
                      <m:t>x</m:t>
                    </m:r>
                  </m:oMath>
                </a14:m>
              </a:p>
            </p:txBody>
          </p:sp>
        </mc:Choice>
        <mc:Fallback>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1.31.</a:t>
                </a:r>
                <a:r>
                  <a:rPr sz="2400">
                    <a:solidFill>
                      <a:srgbClr val="1E293B"/>
                    </a:solidFill>
                    <a:latin typeface="Calibri"/>
                  </a:rPr>
                  <a:t> Hàm số nào sau đây nghịch biến trên </a:t>
                </a:r>
                <a:r>
                  <a:rPr lang="vi-VN"/>
                  <a:t>ℝ</a:t>
                </a:r>
                <a:r>
                  <a:rPr sz="2400">
                    <a:solidFill>
                      <a:srgbClr val="1E293B"/>
                    </a:solidFill>
                    <a:latin typeface="Calibri"/>
                  </a:rPr>
                  <a:t>?</a:t>
                </a:r>
              </a:p>
              <a:p>
                <a:pPr algn="l">
                  <a:spcAft>
                    <a:spcPts val="800"/>
                  </a:spcAft>
                </a:pPr>
                <a:r>
                  <a:rPr sz="2400">
                    <a:solidFill>
                      <a:srgbClr val="1E293B"/>
                    </a:solidFill>
                    <a:latin typeface="Calibri"/>
                  </a:rPr>
                  <a:t>A. </a:t>
                </a:r>
                <a:r>
                  <a:rPr lang="vi-VN"/>
                  <a:t>y=-x^3+3x^2-9x</a:t>
                </a:r>
                <a:r>
                  <a:rPr sz="2400">
                    <a:solidFill>
                      <a:srgbClr val="1E293B"/>
                    </a:solidFill>
                    <a:latin typeface="Calibri"/>
                  </a:rPr>
                  <a:t>.    B. </a:t>
                </a:r>
                <a:r>
                  <a:rPr lang="vi-VN"/>
                  <a:t>y=-x^3+x+1</a:t>
                </a:r>
                <a:r>
                  <a:rPr sz="2400">
                    <a:solidFill>
                      <a:srgbClr val="1E293B"/>
                    </a:solidFill>
                    <a:latin typeface="Calibri"/>
                  </a:rPr>
                  <a:t>.</a:t>
                </a:r>
              </a:p>
              <a:p>
                <a:pPr algn="l">
                  <a:spcAft>
                    <a:spcPts val="800"/>
                  </a:spcAft>
                </a:pPr>
                <a:r>
                  <a:rPr sz="2400">
                    <a:solidFill>
                      <a:srgbClr val="1E293B"/>
                    </a:solidFill>
                    <a:latin typeface="Calibri"/>
                  </a:rPr>
                  <a:t>C. </a:t>
                </a:r>
                <a:r>
                  <a:rPr lang="vi-VN"/>
                  <a:t>y=\frac{x-1}{x-2}</a:t>
                </a:r>
                <a:r>
                  <a:rPr sz="2400">
                    <a:solidFill>
                      <a:srgbClr val="1E293B"/>
                    </a:solidFill>
                    <a:latin typeface="Calibri"/>
                  </a:rPr>
                  <a:t>.    D. </a:t>
                </a:r>
                <a:r>
                  <a:rPr lang="vi-VN"/>
                  <a:t>y=2x^2+3x+2</a:t>
                </a:r>
                <a:r>
                  <a:rPr sz="2400">
                    <a:solidFill>
                      <a:srgbClr val="1E293B"/>
                    </a:solidFill>
                    <a:latin typeface="Calibri"/>
                  </a:rPr>
                  <a:t>.</a:t>
                </a:r>
              </a:p>
              <a:p>
                <a:pPr algn="l">
                  <a:spcAft>
                    <a:spcPts val="800"/>
                  </a:spcAft>
                </a:pPr>
                <a:r>
                  <a:rPr sz="2400" b="1">
                    <a:solidFill>
                      <a:srgbClr val="1E40AF"/>
                    </a:solidFill>
                    <a:latin typeface="Calibri"/>
                  </a:rPr>
                  <a:t>Gợi mở: Hàm số nghịch biến trên </a:t>
                </a:r>
                <a:r>
                  <a:rPr lang="vi-VN"/>
                  <a:t>\mathbb{R}</a:t>
                </a:r>
                <a:r>
                  <a:rPr sz="2400" b="1">
                    <a:solidFill>
                      <a:srgbClr val="1E40AF"/>
                    </a:solidFill>
                    <a:latin typeface="Calibri"/>
                  </a:rPr>
                  <a:t> cần </a:t>
                </a:r>
                <a:r>
                  <a:rPr lang="vi-VN"/>
                  <a:t>y'\le 0</a:t>
                </a:r>
                <a:r>
                  <a:rPr sz="2400" b="1">
                    <a:solidFill>
                      <a:srgbClr val="1E40AF"/>
                    </a:solidFill>
                    <a:latin typeface="Calibri"/>
                  </a:rPr>
                  <a:t> với mọi </a:t>
                </a:r>
                <a:r>
                  <a:rPr lang="vi-VN"/>
                  <a:t>x</a:t>
                </a: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1.31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10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+6x−9=−3(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−2x+3)</m:t>
                    </m:r>
                  </m:oMath>
                </a14:m>
              </a:p>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−2x+3=(x−1</m:t>
                    </m:r>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+2&gt;0</m:t>
                    </m:r>
                  </m:oMath>
                </a14:m>
                <a:r>
                  <a:rPr sz="2400">
                    <a:solidFill>
                      <a:srgbClr val="1E293B"/>
                    </a:solidFill>
                    <a:latin typeface="Calibri"/>
                  </a:rPr>
                  <a:t> nên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&lt;0</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x</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=1−3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oMath>
                </a14:m>
                <a:r>
                  <a:rPr sz="2400">
                    <a:solidFill>
                      <a:srgbClr val="1E293B"/>
                    </a:solidFill>
                    <a:latin typeface="Calibri"/>
                  </a:rPr>
                  <a:t> đổi dấu; C: không xác định tại </a:t>
                </a:r>
                <a14:m>
                  <m:oMath xmlns:m="http://schemas.openxmlformats.org/officeDocument/2006/math">
                    <m:r>
                      <a:rPr lang="vi-VN" sz="2400" b="0">
                        <a:solidFill>
                          <a:srgbClr val="1E293B"/>
                        </a:solidFill>
                        <a:latin typeface="Cambria Math" panose="02040503050406030204" pitchFamily="18" charset="0"/>
                      </a:rPr>
                      <m:t>x=2</m:t>
                    </m:r>
                  </m:oMath>
                </a14:m>
                <a:r>
                  <a:rPr sz="2400">
                    <a:solidFill>
                      <a:srgbClr val="1E293B"/>
                    </a:solidFill>
                    <a:latin typeface="Calibri"/>
                  </a:rPr>
                  <a:t>; D: hàm bậc hai không đơn điệu trên </a:t>
                </a:r>
                <a14:m>
                  <m:oMath xmlns:m="http://schemas.openxmlformats.org/officeDocument/2006/math">
                    <m:r>
                      <a:rPr lang="vi-VN" sz="2400" b="0">
                        <a:solidFill>
                          <a:srgbClr val="1E293B"/>
                        </a:solidFill>
                        <a:latin typeface="Cambria Math" panose="02040503050406030204" pitchFamily="18" charset="0"/>
                      </a:rPr>
                      <m:t>ℝ</m:t>
                    </m:r>
                  </m:oMath>
                </a14:m>
              </a:p>
            </p:txBody>
          </p:sp>
        </mc:Choice>
        <mc:Fallback>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y'=-3x^2+6x-9=-3(x^2-2x+3)</a:t>
                </a:r>
              </a:p>
              <a:p>
                <a:pPr algn="l" marL="365760" indent="-365760">
                  <a:spcAft>
                    <a:spcPts val="800"/>
                  </a:spcAft>
                  <a:buClr>
                    <a:srgbClr val="1E40AF"/>
                  </a:buClr>
                  <a:buFont typeface="Arial"/>
                  <a:buChar char="•"/>
                </a:pPr>
                <a:r>
                  <a:rPr lang="vi-VN"/>
                  <a:t>x^2-2x+3=(x-1)^2+2&gt;0</a:t>
                </a:r>
                <a:r>
                  <a:rPr sz="2400">
                    <a:solidFill>
                      <a:srgbClr val="1E293B"/>
                    </a:solidFill>
                    <a:latin typeface="Calibri"/>
                  </a:rPr>
                  <a:t> nên </a:t>
                </a:r>
                <a:r>
                  <a:rPr lang="vi-VN"/>
                  <a:t>y'&lt;0</a:t>
                </a:r>
                <a:r>
                  <a:rPr sz="2400">
                    <a:solidFill>
                      <a:srgbClr val="1E293B"/>
                    </a:solidFill>
                    <a:latin typeface="Calibri"/>
                  </a:rPr>
                  <a:t> với mọi </a:t>
                </a:r>
                <a:r>
                  <a:rPr lang="vi-VN"/>
                  <a:t>x</a:t>
                </a:r>
              </a:p>
              <a:p>
                <a:pPr algn="l" marL="365760" indent="-365760">
                  <a:spcAft>
                    <a:spcPts val="800"/>
                  </a:spcAft>
                  <a:buClr>
                    <a:srgbClr val="1E40AF"/>
                  </a:buClr>
                  <a:buFont typeface="Arial"/>
                  <a:buChar char="•"/>
                </a:pPr>
                <a:r>
                  <a:rPr sz="2400">
                    <a:solidFill>
                      <a:srgbClr val="1E293B"/>
                    </a:solidFill>
                    <a:latin typeface="Calibri"/>
                  </a:rPr>
                  <a:t>B: </a:t>
                </a:r>
                <a:r>
                  <a:rPr lang="vi-VN"/>
                  <a:t>y'=1-3x^2</a:t>
                </a:r>
                <a:r>
                  <a:rPr sz="2400">
                    <a:solidFill>
                      <a:srgbClr val="1E293B"/>
                    </a:solidFill>
                    <a:latin typeface="Calibri"/>
                  </a:rPr>
                  <a:t> đổi dấu; C: không xác định tại </a:t>
                </a:r>
                <a:r>
                  <a:rPr lang="vi-VN"/>
                  <a:t>x=2</a:t>
                </a:r>
                <a:r>
                  <a:rPr sz="2400">
                    <a:solidFill>
                      <a:srgbClr val="1E293B"/>
                    </a:solidFill>
                    <a:latin typeface="Calibri"/>
                  </a:rPr>
                  <a:t>; D: hàm bậc hai không đơn điệu trên </a:t>
                </a:r>
                <a:r>
                  <a:rPr lang="vi-VN"/>
                  <a:t>\mathbb{R}</a:t>
                </a:r>
              </a:p>
            </p:txBody>
          </p:sp>
        </mc:Fallback>
      </mc:AlternateContent>
      <p:sp>
        <p:nvSpPr>
          <p:cNvPr id="8" name="Rounded Rectangle 7"/>
          <p:cNvSpPr/>
          <p:nvPr/>
        </p:nvSpPr>
        <p:spPr>
          <a:xfrm>
            <a:off x="731520" y="3514343"/>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14343"/>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Chọn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1.32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11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1.32.</a:t>
                </a:r>
                <a:r>
                  <a:rPr sz="2400">
                    <a:solidFill>
                      <a:srgbClr val="1E293B"/>
                    </a:solidFill>
                    <a:latin typeface="Calibri"/>
                  </a:rPr>
                  <a:t> Hàm số nào dưới đây không có cực trị?</a:t>
                </a:r>
              </a:p>
              <a:p>
                <a:pPr algn="l">
                  <a:spcAft>
                    <a:spcPts val="800"/>
                  </a:spcAft>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y=|x|</m:t>
                    </m:r>
                  </m:oMath>
                </a14:m>
                <a:r>
                  <a:rPr sz="2400">
                    <a:solidFill>
                      <a:srgbClr val="1E293B"/>
                    </a:solidFill>
                    <a:latin typeface="Calibri"/>
                  </a:rPr>
                  <a:t>.    B. </a:t>
                </a:r>
                <a14:m>
                  <m:oMath xmlns:m="http://schemas.openxmlformats.org/officeDocument/2006/math">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4</m:t>
                        </m:r>
                      </m:sup>
                    </m:sSup>
                  </m:oMath>
                </a14:m>
                <a:r>
                  <a:rPr sz="2400">
                    <a:solidFill>
                      <a:srgbClr val="1E293B"/>
                    </a:solidFill>
                    <a:latin typeface="Calibri"/>
                  </a:rPr>
                  <a:t>.    C. </a:t>
                </a:r>
                <a14:m>
                  <m:oMath xmlns:m="http://schemas.openxmlformats.org/officeDocument/2006/math">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+x</m:t>
                    </m:r>
                  </m:oMath>
                </a14:m>
                <a:r>
                  <a:rPr sz="2400">
                    <a:solidFill>
                      <a:srgbClr val="1E293B"/>
                    </a:solidFill>
                    <a:latin typeface="Calibri"/>
                  </a:rPr>
                  <a:t>.    D. </a:t>
                </a:r>
                <a14:m>
                  <m:oMath xmlns:m="http://schemas.openxmlformats.org/officeDocument/2006/math">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2x−1</m:t>
                        </m:r>
                      </m:num>
                      <m:den>
                        <m:r>
                          <a:rPr lang="vi-VN" sz="2400" b="0">
                            <a:solidFill>
                              <a:srgbClr val="1E293B"/>
                            </a:solidFill>
                            <a:latin typeface="Cambria Math" panose="02040503050406030204" pitchFamily="18" charset="0"/>
                          </a:rPr>
                          <m:t>x+1</m:t>
                        </m:r>
                      </m:den>
                    </m:f>
                  </m:oMath>
                </a14:m>
                <a:r>
                  <a:rPr sz="2400">
                    <a:solidFill>
                      <a:srgbClr val="1E293B"/>
                    </a:solidFill>
                    <a:latin typeface="Calibri"/>
                  </a:rPr>
                  <a:t>.</a:t>
                </a:r>
              </a:p>
              <a:p>
                <a:pPr algn="l">
                  <a:spcAft>
                    <a:spcPts val="800"/>
                  </a:spcAft>
                </a:pPr>
                <a:r>
                  <a:rPr sz="2400" b="1">
                    <a:solidFill>
                      <a:srgbClr val="1E40AF"/>
                    </a:solidFill>
                    <a:latin typeface="Calibri"/>
                  </a:rPr>
                  <a:t>Gợi mở: Hàm số nào có đạo hàm không đổi dấu?</a:t>
                </a:r>
              </a:p>
            </p:txBody>
          </p:sp>
        </mc:Choice>
        <mc:Fallback>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1.32.</a:t>
                </a:r>
                <a:r>
                  <a:rPr sz="2400">
                    <a:solidFill>
                      <a:srgbClr val="1E293B"/>
                    </a:solidFill>
                    <a:latin typeface="Calibri"/>
                  </a:rPr>
                  <a:t> Hàm số nào dưới đây không có cực trị?</a:t>
                </a:r>
              </a:p>
              <a:p>
                <a:pPr algn="l">
                  <a:spcAft>
                    <a:spcPts val="800"/>
                  </a:spcAft>
                </a:pPr>
                <a:r>
                  <a:rPr sz="2400">
                    <a:solidFill>
                      <a:srgbClr val="1E293B"/>
                    </a:solidFill>
                    <a:latin typeface="Calibri"/>
                  </a:rPr>
                  <a:t>A. </a:t>
                </a:r>
                <a:r>
                  <a:rPr lang="vi-VN"/>
                  <a:t>y=|x|</a:t>
                </a:r>
                <a:r>
                  <a:rPr sz="2400">
                    <a:solidFill>
                      <a:srgbClr val="1E293B"/>
                    </a:solidFill>
                    <a:latin typeface="Calibri"/>
                  </a:rPr>
                  <a:t>.    B. </a:t>
                </a:r>
                <a:r>
                  <a:rPr lang="vi-VN"/>
                  <a:t>y=x^4</a:t>
                </a:r>
                <a:r>
                  <a:rPr sz="2400">
                    <a:solidFill>
                      <a:srgbClr val="1E293B"/>
                    </a:solidFill>
                    <a:latin typeface="Calibri"/>
                  </a:rPr>
                  <a:t>.    C. </a:t>
                </a:r>
                <a:r>
                  <a:rPr lang="vi-VN"/>
                  <a:t>y=-x^3+x</a:t>
                </a:r>
                <a:r>
                  <a:rPr sz="2400">
                    <a:solidFill>
                      <a:srgbClr val="1E293B"/>
                    </a:solidFill>
                    <a:latin typeface="Calibri"/>
                  </a:rPr>
                  <a:t>.    D. </a:t>
                </a:r>
                <a:r>
                  <a:rPr lang="vi-VN"/>
                  <a:t>y=\frac{2x-1}{x+1}</a:t>
                </a:r>
                <a:r>
                  <a:rPr sz="2400">
                    <a:solidFill>
                      <a:srgbClr val="1E293B"/>
                    </a:solidFill>
                    <a:latin typeface="Calibri"/>
                  </a:rPr>
                  <a:t>.</a:t>
                </a:r>
              </a:p>
              <a:p>
                <a:pPr algn="l">
                  <a:spcAft>
                    <a:spcPts val="800"/>
                  </a:spcAft>
                </a:pPr>
                <a:r>
                  <a:rPr sz="2400" b="1">
                    <a:solidFill>
                      <a:srgbClr val="1E40AF"/>
                    </a:solidFill>
                    <a:latin typeface="Calibri"/>
                  </a:rPr>
                  <a:t>Gợi mở: Hàm số nào có đạo hàm không đổi dấu?</a:t>
                </a: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1.32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12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B đều đạt cực tiểu tại </a:t>
                </a:r>
                <a14:m>
                  <m:oMath xmlns:m="http://schemas.openxmlformats.org/officeDocument/2006/math">
                    <m:r>
                      <a:rPr lang="vi-VN" sz="2400" b="0">
                        <a:solidFill>
                          <a:srgbClr val="1E293B"/>
                        </a:solidFill>
                        <a:latin typeface="Cambria Math" panose="02040503050406030204" pitchFamily="18" charset="0"/>
                      </a:rPr>
                      <m:t>x=0</m:t>
                    </m:r>
                  </m:oMath>
                </a14:m>
              </a:p>
              <a:p>
                <a:pPr algn="l" marL="365760" indent="-365760">
                  <a:spcAft>
                    <a:spcPts val="800"/>
                  </a:spcAft>
                  <a:buClr>
                    <a:srgbClr val="1E40AF"/>
                  </a:buClr>
                  <a:buFont typeface="Arial"/>
                  <a:buChar char="•"/>
                </a:pPr>
                <a:r>
                  <a:rPr sz="2400">
                    <a:solidFill>
                      <a:srgbClr val="1E293B"/>
                    </a:solidFill>
                    <a:latin typeface="Calibri"/>
                  </a:rPr>
                  <a:t>C: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m:t>
                    </m:r>
                  </m:oMath>
                </a14:m>
                <a:r>
                  <a:rPr sz="2400">
                    <a:solidFill>
                      <a:srgbClr val="1E293B"/>
                    </a:solidFill>
                    <a:latin typeface="Calibri"/>
                  </a:rPr>
                  <a:t> đổi dấu tại </a:t>
                </a:r>
                <a14:m>
                  <m:oMath xmlns:m="http://schemas.openxmlformats.org/officeDocument/2006/math">
                    <m:r>
                      <a:rPr lang="vi-VN" sz="2400" b="0">
                        <a:solidFill>
                          <a:srgbClr val="1E293B"/>
                        </a:solidFill>
                        <a:latin typeface="Cambria Math" panose="02040503050406030204" pitchFamily="18" charset="0"/>
                      </a:rPr>
                      <m:t>x=±</m:t>
                    </m:r>
                    <m:f>
                      <m:fPr>
                        <m:type m:val="bar"/>
                      </m:fPr>
                      <m:num>
                        <m:r>
                          <a:rPr lang="vi-VN" sz="2400" b="0">
                            <a:solidFill>
                              <a:srgbClr val="1E293B"/>
                            </a:solidFill>
                            <a:latin typeface="Cambria Math" panose="02040503050406030204" pitchFamily="18" charset="0"/>
                          </a:rPr>
                          <m:t>1</m:t>
                        </m:r>
                      </m:num>
                      <m:den>
                        <m:rad>
                          <m:radPr>
                            <m:degHide m:val="on"/>
                          </m:radPr>
                          <m:deg/>
                          <m:e>
                            <m:r>
                              <a:rPr lang="vi-VN" sz="2400" b="0">
                                <a:solidFill>
                                  <a:srgbClr val="1E293B"/>
                                </a:solidFill>
                                <a:latin typeface="Cambria Math" panose="02040503050406030204" pitchFamily="18" charset="0"/>
                              </a:rPr>
                              <m:t>3</m:t>
                            </m:r>
                          </m:e>
                        </m:rad>
                      </m:den>
                    </m:f>
                  </m:oMath>
                </a14:m>
                <a:r>
                  <a:rPr sz="2400">
                    <a:solidFill>
                      <a:srgbClr val="1E293B"/>
                    </a:solidFill>
                    <a:latin typeface="Calibri"/>
                  </a:rPr>
                  <a:t> nên có cực trị</a:t>
                </a:r>
              </a:p>
              <a:p>
                <a:pPr algn="l" marL="365760" indent="-365760">
                  <a:spcAft>
                    <a:spcPts val="800"/>
                  </a:spcAft>
                  <a:buClr>
                    <a:srgbClr val="1E40AF"/>
                  </a:buClr>
                  <a:buFont typeface="Arial"/>
                  <a:buChar char="•"/>
                </a:pPr>
                <a:r>
                  <a:rPr sz="2400">
                    <a:solidFill>
                      <a:srgbClr val="1E293B"/>
                    </a:solidFill>
                    <a:latin typeface="Calibri"/>
                  </a:rPr>
                  <a:t>D: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3</m:t>
                        </m:r>
                      </m:num>
                      <m:den>
                        <m:sSup>
                          <m:e>
                            <m:d>
                              <m:dPr>
                                <m:sepChr m:val=""/>
                              </m:dPr>
                              <m:e>
                                <m:r>
                                  <a:rPr lang="vi-VN" sz="2400" b="0">
                                    <a:solidFill>
                                      <a:srgbClr val="1E293B"/>
                                    </a:solidFill>
                                    <a:latin typeface="Cambria Math" panose="02040503050406030204" pitchFamily="18" charset="0"/>
                                  </a:rPr>
                                  <m:t>x</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e>
                          <m:sup>
                            <m:r>
                              <a:rPr lang="vi-VN" sz="2400" b="0">
                                <a:solidFill>
                                  <a:srgbClr val="1E293B"/>
                                </a:solidFill>
                                <a:latin typeface="Cambria Math" panose="02040503050406030204" pitchFamily="18" charset="0"/>
                              </a:rPr>
                              <m:t>2</m:t>
                            </m:r>
                          </m:sup>
                        </m:sSup>
                      </m:den>
                    </m:f>
                    <m:r>
                      <a:rPr lang="vi-VN" sz="2400" b="0">
                        <a:solidFill>
                          <a:srgbClr val="1E293B"/>
                        </a:solidFill>
                        <a:latin typeface="Cambria Math" panose="02040503050406030204" pitchFamily="18" charset="0"/>
                      </a:rPr>
                      <m:t>&gt;0</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x≠−1</m:t>
                    </m:r>
                  </m:oMath>
                </a14:m>
                <a:r>
                  <a:rPr sz="2400">
                    <a:solidFill>
                      <a:srgbClr val="1E293B"/>
                    </a:solidFill>
                    <a:latin typeface="Calibri"/>
                  </a:rPr>
                  <a:t>, không đổi dấu</a:t>
                </a:r>
              </a:p>
            </p:txBody>
          </p:sp>
        </mc:Choice>
        <mc:Fallback>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B đều đạt cực tiểu tại </a:t>
                </a:r>
                <a:r>
                  <a:rPr lang="vi-VN"/>
                  <a:t>x=0</a:t>
                </a:r>
              </a:p>
              <a:p>
                <a:pPr algn="l" marL="365760" indent="-365760">
                  <a:spcAft>
                    <a:spcPts val="800"/>
                  </a:spcAft>
                  <a:buClr>
                    <a:srgbClr val="1E40AF"/>
                  </a:buClr>
                  <a:buFont typeface="Arial"/>
                  <a:buChar char="•"/>
                </a:pPr>
                <a:r>
                  <a:rPr sz="2400">
                    <a:solidFill>
                      <a:srgbClr val="1E293B"/>
                    </a:solidFill>
                    <a:latin typeface="Calibri"/>
                  </a:rPr>
                  <a:t>C: </a:t>
                </a:r>
                <a:r>
                  <a:rPr lang="vi-VN"/>
                  <a:t>y'=-3x^2+1</a:t>
                </a:r>
                <a:r>
                  <a:rPr sz="2400">
                    <a:solidFill>
                      <a:srgbClr val="1E293B"/>
                    </a:solidFill>
                    <a:latin typeface="Calibri"/>
                  </a:rPr>
                  <a:t> đổi dấu tại </a:t>
                </a:r>
                <a:r>
                  <a:rPr lang="vi-VN"/>
                  <a:t>x=\pm\frac{1}{\sqrt 3}</a:t>
                </a:r>
                <a:r>
                  <a:rPr sz="2400">
                    <a:solidFill>
                      <a:srgbClr val="1E293B"/>
                    </a:solidFill>
                    <a:latin typeface="Calibri"/>
                  </a:rPr>
                  <a:t> nên có cực trị</a:t>
                </a:r>
              </a:p>
              <a:p>
                <a:pPr algn="l" marL="365760" indent="-365760">
                  <a:spcAft>
                    <a:spcPts val="800"/>
                  </a:spcAft>
                  <a:buClr>
                    <a:srgbClr val="1E40AF"/>
                  </a:buClr>
                  <a:buFont typeface="Arial"/>
                  <a:buChar char="•"/>
                </a:pPr>
                <a:r>
                  <a:rPr sz="2400">
                    <a:solidFill>
                      <a:srgbClr val="1E293B"/>
                    </a:solidFill>
                    <a:latin typeface="Calibri"/>
                  </a:rPr>
                  <a:t>D: </a:t>
                </a:r>
                <a:r>
                  <a:rPr lang="vi-VN"/>
                  <a:t>y'=\frac{3}{(x+1)^2}&gt;0</a:t>
                </a:r>
                <a:r>
                  <a:rPr sz="2400">
                    <a:solidFill>
                      <a:srgbClr val="1E293B"/>
                    </a:solidFill>
                    <a:latin typeface="Calibri"/>
                  </a:rPr>
                  <a:t> với mọi </a:t>
                </a:r>
                <a:r>
                  <a:rPr lang="vi-VN"/>
                  <a:t>x\ne -1</a:t>
                </a:r>
                <a:r>
                  <a:rPr sz="2400">
                    <a:solidFill>
                      <a:srgbClr val="1E293B"/>
                    </a:solidFill>
                    <a:latin typeface="Calibri"/>
                  </a:rPr>
                  <a:t>, không đổi dấu</a:t>
                </a:r>
              </a:p>
            </p:txBody>
          </p:sp>
        </mc:Fallback>
      </mc:AlternateContent>
      <p:sp>
        <p:nvSpPr>
          <p:cNvPr id="8" name="Rounded Rectangle 7"/>
          <p:cNvSpPr/>
          <p:nvPr/>
        </p:nvSpPr>
        <p:spPr>
          <a:xfrm>
            <a:off x="731520" y="3474719"/>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4719"/>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Chọn 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1.33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13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1.33.</a:t>
                </a:r>
                <a:r>
                  <a:rPr sz="2400">
                    <a:solidFill>
                      <a:srgbClr val="1E293B"/>
                    </a:solidFill>
                    <a:latin typeface="Calibri"/>
                  </a:rPr>
                  <a:t> Giá trị cực tiểu của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m:rPr>
                        <m:sty m:val="p"/>
                      </m:rPr>
                      <a:rPr lang="vi-VN" sz="2400" b="0">
                        <a:solidFill>
                          <a:srgbClr val="1E293B"/>
                        </a:solidFill>
                        <a:latin typeface="Cambria Math" panose="02040503050406030204" pitchFamily="18" charset="0"/>
                      </a:rPr>
                      <m:t>ln</m:t>
                    </m:r>
                    <m:r>
                      <a:rPr lang="vi-VN" sz="2400" b="0">
                        <a:solidFill>
                          <a:srgbClr val="1E293B"/>
                        </a:solidFill>
                        <a:latin typeface="Cambria Math" panose="02040503050406030204" pitchFamily="18" charset="0"/>
                      </a:rPr>
                      <m:t>x</m:t>
                    </m:r>
                  </m:oMath>
                </a14:m>
                <a:r>
                  <a:rPr sz="2400">
                    <a:solidFill>
                      <a:srgbClr val="1E293B"/>
                    </a:solidFill>
                    <a:latin typeface="Calibri"/>
                  </a:rPr>
                  <a:t> là</a:t>
                </a:r>
              </a:p>
              <a:p>
                <a:pPr algn="l">
                  <a:spcAft>
                    <a:spcPts val="800"/>
                  </a:spcAft>
                </a:pPr>
                <a:r>
                  <a:rPr sz="2400">
                    <a:solidFill>
                      <a:srgbClr val="1E293B"/>
                    </a:solidFill>
                    <a:latin typeface="Calibri"/>
                  </a:rPr>
                  <a:t>A. </a:t>
                </a:r>
                <a14:m>
                  <m:oMath xmlns:m="http://schemas.openxmlformats.org/officeDocument/2006/math">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e</m:t>
                        </m:r>
                      </m:den>
                    </m:f>
                  </m:oMath>
                </a14:m>
                <a:r>
                  <a:rPr sz="2400">
                    <a:solidFill>
                      <a:srgbClr val="1E293B"/>
                    </a:solidFill>
                    <a:latin typeface="Calibri"/>
                  </a:rPr>
                  <a:t>.    B. </a:t>
                </a:r>
                <a14:m>
                  <m:oMath xmlns:m="http://schemas.openxmlformats.org/officeDocument/2006/math">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e</m:t>
                        </m:r>
                      </m:den>
                    </m:f>
                  </m:oMath>
                </a14:m>
                <a:r>
                  <a:rPr sz="2400">
                    <a:solidFill>
                      <a:srgbClr val="1E293B"/>
                    </a:solidFill>
                    <a:latin typeface="Calibri"/>
                  </a:rPr>
                  <a:t>.    C. </a:t>
                </a:r>
                <a14:m>
                  <m:oMath xmlns:m="http://schemas.openxmlformats.org/officeDocument/2006/math">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2e</m:t>
                        </m:r>
                      </m:den>
                    </m:f>
                  </m:oMath>
                </a14:m>
                <a:r>
                  <a:rPr sz="2400">
                    <a:solidFill>
                      <a:srgbClr val="1E293B"/>
                    </a:solidFill>
                    <a:latin typeface="Calibri"/>
                  </a:rPr>
                  <a:t>.    D. </a:t>
                </a:r>
                <a14:m>
                  <m:oMath xmlns:m="http://schemas.openxmlformats.org/officeDocument/2006/math">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2e</m:t>
                        </m:r>
                      </m:den>
                    </m:f>
                  </m:oMath>
                </a14:m>
                <a:r>
                  <a:rPr sz="2400">
                    <a:solidFill>
                      <a:srgbClr val="1E293B"/>
                    </a:solidFill>
                    <a:latin typeface="Calibri"/>
                  </a:rPr>
                  <a:t>.</a:t>
                </a:r>
              </a:p>
              <a:p>
                <a:pPr algn="l">
                  <a:spcAft>
                    <a:spcPts val="800"/>
                  </a:spcAft>
                </a:pPr>
                <a:r>
                  <a:rPr sz="2400" b="1">
                    <a:solidFill>
                      <a:srgbClr val="1E40AF"/>
                    </a:solidFill>
                    <a:latin typeface="Calibri"/>
                  </a:rPr>
                  <a:t>Gợi mở: Nhớ tập xác định </a:t>
                </a:r>
                <a14:m>
                  <m:oMath xmlns:m="http://schemas.openxmlformats.org/officeDocument/2006/math">
                    <m:r>
                      <a:rPr lang="vi-VN" sz="2400" b="1">
                        <a:solidFill>
                          <a:srgbClr val="1E40AF"/>
                        </a:solidFill>
                        <a:latin typeface="Cambria Math" panose="02040503050406030204" pitchFamily="18" charset="0"/>
                      </a:rPr>
                      <m:t>x&gt;0</m:t>
                    </m:r>
                  </m:oMath>
                </a14:m>
                <a:r>
                  <a:rPr sz="2400" b="1">
                    <a:solidFill>
                      <a:srgbClr val="1E40AF"/>
                    </a:solidFill>
                    <a:latin typeface="Calibri"/>
                  </a:rPr>
                  <a:t>; đạo hàm của tích</a:t>
                </a:r>
              </a:p>
            </p:txBody>
          </p:sp>
        </mc:Choice>
        <mc:Fallback>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1.33.</a:t>
                </a:r>
                <a:r>
                  <a:rPr sz="2400">
                    <a:solidFill>
                      <a:srgbClr val="1E293B"/>
                    </a:solidFill>
                    <a:latin typeface="Calibri"/>
                  </a:rPr>
                  <a:t> Giá trị cực tiểu của hàm số </a:t>
                </a:r>
                <a:r>
                  <a:rPr lang="vi-VN"/>
                  <a:t>y=x^2lnx</a:t>
                </a:r>
                <a:r>
                  <a:rPr sz="2400">
                    <a:solidFill>
                      <a:srgbClr val="1E293B"/>
                    </a:solidFill>
                    <a:latin typeface="Calibri"/>
                  </a:rPr>
                  <a:t> là</a:t>
                </a:r>
              </a:p>
              <a:p>
                <a:pPr algn="l">
                  <a:spcAft>
                    <a:spcPts val="800"/>
                  </a:spcAft>
                </a:pPr>
                <a:r>
                  <a:rPr sz="2400">
                    <a:solidFill>
                      <a:srgbClr val="1E293B"/>
                    </a:solidFill>
                    <a:latin typeface="Calibri"/>
                  </a:rPr>
                  <a:t>A. </a:t>
                </a:r>
                <a:r>
                  <a:rPr lang="vi-VN"/>
                  <a:t>\frac{1}{e}</a:t>
                </a:r>
                <a:r>
                  <a:rPr sz="2400">
                    <a:solidFill>
                      <a:srgbClr val="1E293B"/>
                    </a:solidFill>
                    <a:latin typeface="Calibri"/>
                  </a:rPr>
                  <a:t>.    B. </a:t>
                </a:r>
                <a:r>
                  <a:rPr lang="vi-VN"/>
                  <a:t>-\frac{1}{e}</a:t>
                </a:r>
                <a:r>
                  <a:rPr sz="2400">
                    <a:solidFill>
                      <a:srgbClr val="1E293B"/>
                    </a:solidFill>
                    <a:latin typeface="Calibri"/>
                  </a:rPr>
                  <a:t>.    C. </a:t>
                </a:r>
                <a:r>
                  <a:rPr lang="vi-VN"/>
                  <a:t>-\frac{1}{2e}</a:t>
                </a:r>
                <a:r>
                  <a:rPr sz="2400">
                    <a:solidFill>
                      <a:srgbClr val="1E293B"/>
                    </a:solidFill>
                    <a:latin typeface="Calibri"/>
                  </a:rPr>
                  <a:t>.    D. </a:t>
                </a:r>
                <a:r>
                  <a:rPr lang="vi-VN"/>
                  <a:t>\frac{1}{2e}</a:t>
                </a:r>
                <a:r>
                  <a:rPr sz="2400">
                    <a:solidFill>
                      <a:srgbClr val="1E293B"/>
                    </a:solidFill>
                    <a:latin typeface="Calibri"/>
                  </a:rPr>
                  <a:t>.</a:t>
                </a:r>
              </a:p>
              <a:p>
                <a:pPr algn="l">
                  <a:spcAft>
                    <a:spcPts val="800"/>
                  </a:spcAft>
                </a:pPr>
                <a:r>
                  <a:rPr sz="2400" b="1">
                    <a:solidFill>
                      <a:srgbClr val="1E40AF"/>
                    </a:solidFill>
                    <a:latin typeface="Calibri"/>
                  </a:rPr>
                  <a:t>Gợi mở: Nhớ tập xác định </a:t>
                </a:r>
                <a:r>
                  <a:rPr lang="vi-VN"/>
                  <a:t>x&gt;0</a:t>
                </a:r>
                <a:r>
                  <a:rPr sz="2400" b="1">
                    <a:solidFill>
                      <a:srgbClr val="1E40AF"/>
                    </a:solidFill>
                    <a:latin typeface="Calibri"/>
                  </a:rPr>
                  <a:t>; đạo hàm của tích</a:t>
                </a: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1.33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14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Tập xác định </a:t>
                </a:r>
                <a14:m>
                  <m:oMath xmlns:m="http://schemas.openxmlformats.org/officeDocument/2006/math">
                    <m:d>
                      <m:dPr>
                        <m:sepChr m:val=""/>
                      </m:dPr>
                      <m:e>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e>
                    </m:d>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=2x</m:t>
                    </m:r>
                    <m:r>
                      <m:rPr>
                        <m:sty m:val="p"/>
                      </m:rPr>
                      <a:rPr lang="vi-VN" sz="2200" b="0">
                        <a:solidFill>
                          <a:srgbClr val="1E293B"/>
                        </a:solidFill>
                        <a:latin typeface="Cambria Math" panose="02040503050406030204" pitchFamily="18" charset="0"/>
                      </a:rPr>
                      <m:t>ln</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x+x=x(2</m:t>
                    </m:r>
                    <m:r>
                      <m:rPr>
                        <m:sty m:val="p"/>
                      </m:rPr>
                      <a:rPr lang="vi-VN" sz="2200" b="0">
                        <a:solidFill>
                          <a:srgbClr val="1E293B"/>
                        </a:solidFill>
                        <a:latin typeface="Cambria Math" panose="02040503050406030204" pitchFamily="18" charset="0"/>
                      </a:rPr>
                      <m:t>ln</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x+1)</m:t>
                    </m:r>
                  </m:oMath>
                </a14:m>
              </a:p>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=0⇔</m:t>
                    </m:r>
                    <m:r>
                      <m:rPr>
                        <m:sty m:val="p"/>
                      </m:rPr>
                      <a:rPr lang="vi-VN" sz="2200" b="0">
                        <a:solidFill>
                          <a:srgbClr val="1E293B"/>
                        </a:solidFill>
                        <a:latin typeface="Cambria Math" panose="02040503050406030204" pitchFamily="18" charset="0"/>
                      </a:rPr>
                      <m:t>ln</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x=−</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⇔x=</m:t>
                    </m:r>
                    <m:sSup>
                      <m:e>
                        <m:r>
                          <a:rPr lang="vi-VN" sz="2200" b="0">
                            <a:solidFill>
                              <a:srgbClr val="1E293B"/>
                            </a:solidFill>
                            <a:latin typeface="Cambria Math" panose="02040503050406030204" pitchFamily="18" charset="0"/>
                          </a:rPr>
                          <m:t>e</m:t>
                        </m:r>
                      </m:e>
                      <m: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sup>
                    </m:sSup>
                  </m:oMath>
                </a14:m>
              </a:p>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đổi dấu từ âm sang dương khi qua </a:t>
                </a:r>
                <a14:m>
                  <m:oMath xmlns:m="http://schemas.openxmlformats.org/officeDocument/2006/math">
                    <m:r>
                      <a:rPr lang="vi-VN" sz="2200" b="0">
                        <a:solidFill>
                          <a:srgbClr val="1E293B"/>
                        </a:solidFill>
                        <a:latin typeface="Cambria Math" panose="02040503050406030204" pitchFamily="18" charset="0"/>
                      </a:rPr>
                      <m:t>x=</m:t>
                    </m:r>
                    <m:sSup>
                      <m:e>
                        <m:r>
                          <a:rPr lang="vi-VN" sz="2200" b="0">
                            <a:solidFill>
                              <a:srgbClr val="1E293B"/>
                            </a:solidFill>
                            <a:latin typeface="Cambria Math" panose="02040503050406030204" pitchFamily="18" charset="0"/>
                          </a:rPr>
                          <m:t>e</m:t>
                        </m:r>
                      </m:e>
                      <m: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sup>
                    </m:sSup>
                  </m:oMath>
                </a14:m>
              </a:p>
            </p:txBody>
          </p:sp>
        </mc:Choice>
        <mc:Fallback>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Tập xác định </a:t>
                </a:r>
                <a:r>
                  <a:rPr lang="vi-VN"/>
                  <a:t>(0;+\infty)</a:t>
                </a:r>
                <a:r>
                  <a:rPr sz="2200">
                    <a:solidFill>
                      <a:srgbClr val="1E293B"/>
                    </a:solidFill>
                    <a:latin typeface="Calibri"/>
                  </a:rPr>
                  <a:t>; </a:t>
                </a:r>
                <a:r>
                  <a:rPr lang="vi-VN"/>
                  <a:t>y'=2x\ln x+x=x(2\ln x+1)</a:t>
                </a:r>
              </a:p>
              <a:p>
                <a:pPr algn="l" marL="365760" indent="-365760">
                  <a:spcAft>
                    <a:spcPts val="800"/>
                  </a:spcAft>
                  <a:buClr>
                    <a:srgbClr val="1E40AF"/>
                  </a:buClr>
                  <a:buFont typeface="Arial"/>
                  <a:buChar char="•"/>
                </a:pPr>
                <a:r>
                  <a:rPr lang="vi-VN"/>
                  <a:t>y'=0\Leftrightarrow\ln x=-\frac{1}{2}\Leftrightarrow x=e^{-\frac{1}{2}}</a:t>
                </a:r>
              </a:p>
              <a:p>
                <a:pPr algn="l" marL="365760" indent="-365760">
                  <a:spcAft>
                    <a:spcPts val="800"/>
                  </a:spcAft>
                  <a:buClr>
                    <a:srgbClr val="1E40AF"/>
                  </a:buClr>
                  <a:buFont typeface="Arial"/>
                  <a:buChar char="•"/>
                </a:pPr>
                <a:r>
                  <a:rPr lang="vi-VN"/>
                  <a:t>y'</a:t>
                </a:r>
                <a:r>
                  <a:rPr sz="2200">
                    <a:solidFill>
                      <a:srgbClr val="1E293B"/>
                    </a:solidFill>
                    <a:latin typeface="Calibri"/>
                  </a:rPr>
                  <a:t> đổi dấu từ âm sang dương khi qua </a:t>
                </a:r>
                <a:r>
                  <a:rPr lang="vi-VN"/>
                  <a:t>x=e^{-\frac{1}{2}}</a:t>
                </a: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1.33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15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79984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y</m:t>
                        </m:r>
                      </m:e>
                      <m:sub>
                        <m:r>
                          <a:rPr lang="vi-VN" sz="2200" b="0">
                            <a:solidFill>
                              <a:srgbClr val="1E293B"/>
                            </a:solidFill>
                            <a:latin typeface="Cambria Math" panose="02040503050406030204" pitchFamily="18" charset="0"/>
                          </a:rPr>
                          <m:t>CT</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e</m:t>
                        </m:r>
                      </m:e>
                      <m:sup>
                        <m:r>
                          <a:rPr lang="vi-VN" sz="2200" b="0">
                            <a:solidFill>
                              <a:srgbClr val="1E293B"/>
                            </a:solidFill>
                            <a:latin typeface="Cambria Math" panose="02040503050406030204" pitchFamily="18" charset="0"/>
                          </a:rPr>
                          <m:t>−1</m:t>
                        </m:r>
                      </m:sup>
                    </m:sSup>
                    <m:r>
                      <a:rPr lang="vi-VN" sz="2200" b="0">
                        <a:solidFill>
                          <a:srgbClr val="1E293B"/>
                        </a:solidFill>
                        <a:latin typeface="Cambria Math" panose="02040503050406030204" pitchFamily="18" charset="0"/>
                      </a:rPr>
                      <m:t>·</m:t>
                    </m:r>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e>
                    </m:d>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2e</m:t>
                        </m:r>
                      </m:den>
                    </m:f>
                  </m:oMath>
                </a14:m>
              </a:p>
            </p:txBody>
          </p:sp>
        </mc:Choice>
        <mc:Fallback>
          <p:sp>
            <p:nvSpPr>
              <p:cNvPr id="7" name="TextBox 6"/>
              <p:cNvSpPr txBox="1"/>
              <p:nvPr/>
            </p:nvSpPr>
            <p:spPr>
              <a:xfrm>
                <a:off x="731520" y="1463040"/>
                <a:ext cx="10789920" cy="79984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y_{CT}=e^{-1}\cdot\paren{-\frac{1}{2}}=-\frac{1}{2e}</a:t>
                </a:r>
              </a:p>
            </p:txBody>
          </p:sp>
        </mc:Fallback>
      </mc:AlternateContent>
      <p:sp>
        <p:nvSpPr>
          <p:cNvPr id="8" name="Rounded Rectangle 7"/>
          <p:cNvSpPr/>
          <p:nvPr/>
        </p:nvSpPr>
        <p:spPr>
          <a:xfrm>
            <a:off x="731520" y="2400045"/>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00045"/>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Chọn 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1.34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16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1.34.</a:t>
                </a:r>
                <a:r>
                  <a:rPr sz="2400">
                    <a:solidFill>
                      <a:srgbClr val="1E293B"/>
                    </a:solidFill>
                    <a:latin typeface="Calibri"/>
                  </a:rPr>
                  <a:t> Giá trị lớn nhất của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y=(x−2</m:t>
                    </m:r>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x</m:t>
                        </m:r>
                      </m:sup>
                    </m:sSup>
                  </m:oMath>
                </a14:m>
                <a:r>
                  <a:rPr sz="2400">
                    <a:solidFill>
                      <a:srgbClr val="1E293B"/>
                    </a:solidFill>
                    <a:latin typeface="Calibri"/>
                  </a:rPr>
                  <a:t> trên đoạn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begChr m:val="["/>
                        <m:sepChr m:val=""/>
                        <m:end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m:t>
                        </m:r>
                      </m:e>
                    </m:d>
                  </m:oMath>
                </a14:m>
                <a:r>
                  <a:rPr sz="2400">
                    <a:solidFill>
                      <a:srgbClr val="1E293B"/>
                    </a:solidFill>
                    <a:latin typeface="Calibri"/>
                  </a:rPr>
                  <a:t> là</a:t>
                </a:r>
              </a:p>
              <a:p>
                <a:pPr algn="l">
                  <a:spcAft>
                    <a:spcPts val="800"/>
                  </a:spcAft>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0</m:t>
                    </m:r>
                  </m:oMath>
                </a14:m>
                <a:r>
                  <a:rPr sz="2400">
                    <a:solidFill>
                      <a:srgbClr val="1E293B"/>
                    </a:solidFill>
                    <a:latin typeface="Calibri"/>
                  </a:rPr>
                  <a:t>.    B. </a:t>
                </a:r>
                <a14:m>
                  <m:oMath xmlns:m="http://schemas.openxmlformats.org/officeDocument/2006/math">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3</m:t>
                        </m:r>
                      </m:sup>
                    </m:sSup>
                  </m:oMath>
                </a14:m>
                <a:r>
                  <a:rPr sz="2400">
                    <a:solidFill>
                      <a:srgbClr val="1E293B"/>
                    </a:solidFill>
                    <a:latin typeface="Calibri"/>
                  </a:rPr>
                  <a:t>.    C. </a:t>
                </a:r>
                <a14:m>
                  <m:oMath xmlns:m="http://schemas.openxmlformats.org/officeDocument/2006/math">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4</m:t>
                        </m:r>
                      </m:sup>
                    </m:sSup>
                  </m:oMath>
                </a14:m>
                <a:r>
                  <a:rPr sz="2400">
                    <a:solidFill>
                      <a:srgbClr val="1E293B"/>
                    </a:solidFill>
                    <a:latin typeface="Calibri"/>
                  </a:rPr>
                  <a:t>.    D. </a:t>
                </a:r>
                <a14:m>
                  <m:oMath xmlns:m="http://schemas.openxmlformats.org/officeDocument/2006/math">
                    <m:r>
                      <a:rPr lang="vi-VN" sz="2400" b="0">
                        <a:solidFill>
                          <a:srgbClr val="1E293B"/>
                        </a:solidFill>
                        <a:latin typeface="Cambria Math" panose="02040503050406030204" pitchFamily="18" charset="0"/>
                      </a:rPr>
                      <m:t>e</m:t>
                    </m:r>
                  </m:oMath>
                </a14:m>
                <a:r>
                  <a:rPr sz="2400">
                    <a:solidFill>
                      <a:srgbClr val="1E293B"/>
                    </a:solidFill>
                    <a:latin typeface="Calibri"/>
                  </a:rPr>
                  <a:t>.</a:t>
                </a:r>
              </a:p>
              <a:p>
                <a:pPr algn="l">
                  <a:spcAft>
                    <a:spcPts val="800"/>
                  </a:spcAft>
                </a:pPr>
                <a:r>
                  <a:rPr sz="2400" b="1">
                    <a:solidFill>
                      <a:srgbClr val="1E40AF"/>
                    </a:solidFill>
                    <a:latin typeface="Calibri"/>
                  </a:rPr>
                  <a:t>Gợi mở: Tìm điểm tới hạn trong đoạn, so sánh với hai đầu mút</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1.34.</a:t>
                </a:r>
                <a:r>
                  <a:rPr sz="2400">
                    <a:solidFill>
                      <a:srgbClr val="1E293B"/>
                    </a:solidFill>
                    <a:latin typeface="Calibri"/>
                  </a:rPr>
                  <a:t> Giá trị lớn nhất của hàm số </a:t>
                </a:r>
                <a:r>
                  <a:rPr lang="vi-VN"/>
                  <a:t>y=(x−2)^2·e^x</a:t>
                </a:r>
                <a:r>
                  <a:rPr sz="2400">
                    <a:solidFill>
                      <a:srgbClr val="1E293B"/>
                    </a:solidFill>
                    <a:latin typeface="Calibri"/>
                  </a:rPr>
                  <a:t> trên đoạn </a:t>
                </a:r>
                <a:r>
                  <a:rPr lang="vi-VN"/>
                  <a:t>[1;3]</a:t>
                </a:r>
                <a:r>
                  <a:rPr sz="2400">
                    <a:solidFill>
                      <a:srgbClr val="1E293B"/>
                    </a:solidFill>
                    <a:latin typeface="Calibri"/>
                  </a:rPr>
                  <a:t> là</a:t>
                </a:r>
              </a:p>
              <a:p>
                <a:pPr algn="l">
                  <a:spcAft>
                    <a:spcPts val="800"/>
                  </a:spcAft>
                </a:pPr>
                <a:r>
                  <a:rPr sz="2400">
                    <a:solidFill>
                      <a:srgbClr val="1E293B"/>
                    </a:solidFill>
                    <a:latin typeface="Calibri"/>
                  </a:rPr>
                  <a:t>A. </a:t>
                </a:r>
                <a:r>
                  <a:rPr lang="vi-VN"/>
                  <a:t>0</a:t>
                </a:r>
                <a:r>
                  <a:rPr sz="2400">
                    <a:solidFill>
                      <a:srgbClr val="1E293B"/>
                    </a:solidFill>
                    <a:latin typeface="Calibri"/>
                  </a:rPr>
                  <a:t>.    B. </a:t>
                </a:r>
                <a:r>
                  <a:rPr lang="vi-VN"/>
                  <a:t>e^3</a:t>
                </a:r>
                <a:r>
                  <a:rPr sz="2400">
                    <a:solidFill>
                      <a:srgbClr val="1E293B"/>
                    </a:solidFill>
                    <a:latin typeface="Calibri"/>
                  </a:rPr>
                  <a:t>.    C. </a:t>
                </a:r>
                <a:r>
                  <a:rPr lang="vi-VN"/>
                  <a:t>e^4</a:t>
                </a:r>
                <a:r>
                  <a:rPr sz="2400">
                    <a:solidFill>
                      <a:srgbClr val="1E293B"/>
                    </a:solidFill>
                    <a:latin typeface="Calibri"/>
                  </a:rPr>
                  <a:t>.    D. </a:t>
                </a:r>
                <a:r>
                  <a:rPr lang="vi-VN"/>
                  <a:t>e</a:t>
                </a:r>
                <a:r>
                  <a:rPr sz="2400">
                    <a:solidFill>
                      <a:srgbClr val="1E293B"/>
                    </a:solidFill>
                    <a:latin typeface="Calibri"/>
                  </a:rPr>
                  <a:t>.</a:t>
                </a:r>
              </a:p>
              <a:p>
                <a:pPr algn="l">
                  <a:spcAft>
                    <a:spcPts val="800"/>
                  </a:spcAft>
                </a:pPr>
                <a:r>
                  <a:rPr sz="2400" b="1">
                    <a:solidFill>
                      <a:srgbClr val="1E40AF"/>
                    </a:solidFill>
                    <a:latin typeface="Calibri"/>
                  </a:rPr>
                  <a:t>Gợi mở: Tìm điểm tới hạn trong đoạn, so sánh với hai đầu mút</a:t>
                </a: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1.34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17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=2(x−2)</m:t>
                    </m:r>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x</m:t>
                        </m:r>
                      </m:sup>
                    </m:sSup>
                    <m:r>
                      <a:rPr lang="vi-VN" sz="2400" b="0">
                        <a:solidFill>
                          <a:srgbClr val="1E293B"/>
                        </a:solidFill>
                        <a:latin typeface="Cambria Math" panose="02040503050406030204" pitchFamily="18" charset="0"/>
                      </a:rPr>
                      <m:t>+(x−2</m:t>
                    </m:r>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2</m:t>
                        </m:r>
                      </m:sup>
                    </m:sSup>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x</m:t>
                        </m:r>
                      </m:sup>
                    </m:sSup>
                    <m:r>
                      <a:rPr lang="vi-VN" sz="2400" b="0">
                        <a:solidFill>
                          <a:srgbClr val="1E293B"/>
                        </a:solidFill>
                        <a:latin typeface="Cambria Math" panose="02040503050406030204" pitchFamily="18" charset="0"/>
                      </a:rPr>
                      <m:t>=x(x−2)</m:t>
                    </m:r>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x</m:t>
                        </m:r>
                      </m:sup>
                    </m:sSup>
                  </m:oMath>
                </a14:m>
              </a:p>
              <a:p>
                <a:pPr algn="l" marL="365760" indent="-365760">
                  <a:spcAft>
                    <a:spcPts val="800"/>
                  </a:spcAft>
                  <a:buClr>
                    <a:srgbClr val="1E40AF"/>
                  </a:buClr>
                  <a:buFont typeface="Arial"/>
                  <a:buChar char="•"/>
                </a:pPr>
                <a:r>
                  <a:rPr sz="2400">
                    <a:solidFill>
                      <a:srgbClr val="1E293B"/>
                    </a:solidFill>
                    <a:latin typeface="Calibri"/>
                  </a:rPr>
                  <a:t>Trên </a:t>
                </a:r>
                <a14:m>
                  <m:oMath xmlns:m="http://schemas.openxmlformats.org/officeDocument/2006/math">
                    <m:d>
                      <m:dPr>
                        <m:begChr m:val="["/>
                        <m:sepChr m:val=""/>
                        <m:end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m:t>
                        </m:r>
                      </m:e>
                    </m:d>
                  </m:oMath>
                </a14:m>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=0⇔x=2</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y(1)=e</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y(2)=0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y(3)=</m:t>
                    </m:r>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3</m:t>
                        </m:r>
                      </m:sup>
                    </m:sSup>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y'=2(x-2)e^x+(x-2)^2e^x=x(x-2)e^x</a:t>
                </a:r>
              </a:p>
              <a:p>
                <a:pPr algn="l" marL="365760" indent="-365760">
                  <a:spcAft>
                    <a:spcPts val="800"/>
                  </a:spcAft>
                  <a:buClr>
                    <a:srgbClr val="1E40AF"/>
                  </a:buClr>
                  <a:buFont typeface="Arial"/>
                  <a:buChar char="•"/>
                </a:pPr>
                <a:r>
                  <a:rPr sz="2400">
                    <a:solidFill>
                      <a:srgbClr val="1E293B"/>
                    </a:solidFill>
                    <a:latin typeface="Calibri"/>
                  </a:rPr>
                  <a:t>Trên </a:t>
                </a:r>
                <a:r>
                  <a:rPr lang="vi-VN"/>
                  <a:t>[1;3]</a:t>
                </a:r>
                <a:r>
                  <a:rPr sz="2400">
                    <a:solidFill>
                      <a:srgbClr val="1E293B"/>
                    </a:solidFill>
                    <a:latin typeface="Calibri"/>
                  </a:rPr>
                  <a:t>: </a:t>
                </a:r>
                <a:r>
                  <a:rPr lang="vi-VN"/>
                  <a:t>y'=0\Leftrightarrow x=2</a:t>
                </a:r>
              </a:p>
              <a:p>
                <a:pPr algn="l" marL="365760" indent="-365760">
                  <a:spcAft>
                    <a:spcPts val="800"/>
                  </a:spcAft>
                  <a:buClr>
                    <a:srgbClr val="1E40AF"/>
                  </a:buClr>
                  <a:buFont typeface="Arial"/>
                  <a:buChar char="•"/>
                </a:pPr>
                <a:r>
                  <a:rPr lang="vi-VN"/>
                  <a:t>y(1)=e</a:t>
                </a:r>
                <a:r>
                  <a:rPr sz="2400">
                    <a:solidFill>
                      <a:srgbClr val="1E293B"/>
                    </a:solidFill>
                    <a:latin typeface="Calibri"/>
                  </a:rPr>
                  <a:t>, </a:t>
                </a:r>
                <a:r>
                  <a:rPr lang="vi-VN"/>
                  <a:t>y(2)=0</a:t>
                </a:r>
                <a:r>
                  <a:rPr sz="2400">
                    <a:solidFill>
                      <a:srgbClr val="1E293B"/>
                    </a:solidFill>
                    <a:latin typeface="Calibri"/>
                  </a:rPr>
                  <a:t>, </a:t>
                </a:r>
                <a:r>
                  <a:rPr lang="vi-VN"/>
                  <a:t>y(3)=e^3</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limLow>
                      <m:e>
                        <m:r>
                          <m:rPr>
                            <m:sty m:val="p"/>
                          </m:rPr>
                          <a:rPr lang="vi-VN" sz="2400" b="1">
                            <a:solidFill>
                              <a:srgbClr val="991B1B"/>
                            </a:solidFill>
                            <a:latin typeface="Cambria Math" panose="02040503050406030204" pitchFamily="18" charset="0"/>
                          </a:rPr>
                          <m:t>max</m:t>
                        </m:r>
                      </m:e>
                      <m:lim>
                        <m:d>
                          <m:dPr>
                            <m:begChr m:val="["/>
                            <m:sepChr m:val=""/>
                            <m:endChr m:val="]"/>
                          </m:dPr>
                          <m:e>
                            <m:r>
                              <a:rPr lang="vi-VN" sz="2400" b="1">
                                <a:solidFill>
                                  <a:srgbClr val="991B1B"/>
                                </a:solidFill>
                                <a:latin typeface="Cambria Math" panose="02040503050406030204" pitchFamily="18" charset="0"/>
                              </a:rPr>
                              <m:t>1</m:t>
                            </m:r>
                            <m:r>
                              <a:rPr lang="vi-VN" sz="2400" b="1">
                                <a:solidFill>
                                  <a:srgbClr val="991B1B"/>
                                </a:solidFill>
                                <a:latin typeface="Cambria Math" panose="02040503050406030204" pitchFamily="18" charset="0"/>
                              </a:rPr>
                              <m:t>;</m:t>
                            </m:r>
                            <m:r>
                              <a:rPr lang="vi-VN" sz="2400" b="1">
                                <a:solidFill>
                                  <a:srgbClr val="991B1B"/>
                                </a:solidFill>
                                <a:latin typeface="Cambria Math" panose="02040503050406030204" pitchFamily="18" charset="0"/>
                              </a:rPr>
                              <m:t>3</m:t>
                            </m:r>
                          </m:e>
                        </m:d>
                      </m:lim>
                    </m:limLow>
                    <m:r>
                      <a:rPr lang="vi-VN" sz="2400" b="1">
                        <a:solidFill>
                          <a:srgbClr val="991B1B"/>
                        </a:solidFill>
                        <a:latin typeface="Cambria Math" panose="02040503050406030204" pitchFamily="18" charset="0"/>
                      </a:rPr>
                      <m:t>y=</m:t>
                    </m:r>
                    <m:sSup>
                      <m:e>
                        <m:r>
                          <a:rPr lang="vi-VN" sz="2400" b="1">
                            <a:solidFill>
                              <a:srgbClr val="991B1B"/>
                            </a:solidFill>
                            <a:latin typeface="Cambria Math" panose="02040503050406030204" pitchFamily="18" charset="0"/>
                          </a:rPr>
                          <m:t>e</m:t>
                        </m:r>
                      </m:e>
                      <m:sup>
                        <m:r>
                          <a:rPr lang="vi-VN" sz="2400" b="1">
                            <a:solidFill>
                              <a:srgbClr val="991B1B"/>
                            </a:solidFill>
                            <a:latin typeface="Cambria Math" panose="02040503050406030204" pitchFamily="18" charset="0"/>
                          </a:rPr>
                          <m:t>3</m:t>
                        </m:r>
                      </m:sup>
                    </m:sSup>
                  </m:oMath>
                </a14:m>
                <a:r>
                  <a:rPr sz="2400" b="1">
                    <a:solidFill>
                      <a:srgbClr val="991B1B"/>
                    </a:solidFill>
                    <a:latin typeface="Calibri"/>
                  </a:rPr>
                  <a:t> – Chọn B</a:t>
                </a:r>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\max_{[1;3]}y=e^3</a:t>
                </a:r>
                <a:r>
                  <a:rPr sz="2400" b="1">
                    <a:solidFill>
                      <a:srgbClr val="991B1B"/>
                    </a:solidFill>
                    <a:latin typeface="Calibri"/>
                  </a:rPr>
                  <a:t> – Chọn B</a:t>
                </a: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1.35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18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72796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1.35.</a:t>
                </a:r>
                <a:r>
                  <a:rPr sz="2200">
                    <a:solidFill>
                      <a:srgbClr val="1E293B"/>
                    </a:solidFill>
                    <a:latin typeface="Calibri"/>
                  </a:rPr>
                  <a:t> Cho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y=f(x)</m:t>
                    </m:r>
                  </m:oMath>
                </a14:m>
                <a:r>
                  <a:rPr sz="2200">
                    <a:solidFill>
                      <a:srgbClr val="1E293B"/>
                    </a:solidFill>
                    <a:latin typeface="Calibri"/>
                  </a:rPr>
                  <a:t> thoả mãn: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lim</m:t>
                        </m:r>
                      </m:e>
                      <m:sub>
                        <m:r>
                          <a:rPr lang="vi-VN" sz="2200" b="0">
                            <a:solidFill>
                              <a:srgbClr val="1E293B"/>
                            </a:solidFill>
                            <a:latin typeface="Cambria Math" panose="02040503050406030204" pitchFamily="18" charset="0"/>
                          </a:rPr>
                          <m:t>x→</m:t>
                        </m:r>
                        <m:sSup>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m:t>
                            </m:r>
                          </m:sup>
                        </m:sSup>
                      </m:sub>
                    </m:sSub>
                    <m:r>
                      <a:rPr lang="vi-VN" sz="2200" b="0">
                        <a:solidFill>
                          <a:srgbClr val="1E293B"/>
                        </a:solidFill>
                        <a:latin typeface="Cambria Math" panose="02040503050406030204" pitchFamily="18" charset="0"/>
                      </a:rPr>
                      <m:t>f(x)=1</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lim</m:t>
                        </m:r>
                      </m:e>
                      <m:sub>
                        <m:r>
                          <a:rPr lang="vi-VN" sz="2200" b="0">
                            <a:solidFill>
                              <a:srgbClr val="1E293B"/>
                            </a:solidFill>
                            <a:latin typeface="Cambria Math" panose="02040503050406030204" pitchFamily="18" charset="0"/>
                          </a:rPr>
                          <m:t>x→</m:t>
                        </m:r>
                        <m:sSup>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m:t>
                            </m:r>
                          </m:sup>
                        </m:sSup>
                      </m:sub>
                    </m:sSub>
                    <m:r>
                      <a:rPr lang="vi-VN" sz="2200" b="0">
                        <a:solidFill>
                          <a:srgbClr val="1E293B"/>
                        </a:solidFill>
                        <a:latin typeface="Cambria Math" panose="02040503050406030204" pitchFamily="18" charset="0"/>
                      </a:rPr>
                      <m:t>f(x)=1</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lim</m:t>
                        </m:r>
                      </m:e>
                      <m:sub>
                        <m:r>
                          <a:rPr lang="vi-VN" sz="2200" b="0">
                            <a:solidFill>
                              <a:srgbClr val="1E293B"/>
                            </a:solidFill>
                            <a:latin typeface="Cambria Math" panose="02040503050406030204" pitchFamily="18" charset="0"/>
                          </a:rPr>
                          <m:t>x→−∞</m:t>
                        </m:r>
                      </m:sub>
                    </m:sSub>
                    <m:r>
                      <a:rPr lang="vi-VN" sz="2200" b="0">
                        <a:solidFill>
                          <a:srgbClr val="1E293B"/>
                        </a:solidFill>
                        <a:latin typeface="Cambria Math" panose="02040503050406030204" pitchFamily="18" charset="0"/>
                      </a:rPr>
                      <m:t>f(x)=2</m:t>
                    </m:r>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lim</m:t>
                        </m:r>
                      </m:e>
                      <m:sub>
                        <m:r>
                          <a:rPr lang="vi-VN" sz="2200" b="0">
                            <a:solidFill>
                              <a:srgbClr val="1E293B"/>
                            </a:solidFill>
                            <a:latin typeface="Cambria Math" panose="02040503050406030204" pitchFamily="18" charset="0"/>
                          </a:rPr>
                          <m:t>x→+∞</m:t>
                        </m:r>
                      </m:sub>
                    </m:sSub>
                    <m:r>
                      <a:rPr lang="vi-VN" sz="2200" b="0">
                        <a:solidFill>
                          <a:srgbClr val="1E293B"/>
                        </a:solidFill>
                        <a:latin typeface="Cambria Math" panose="02040503050406030204" pitchFamily="18" charset="0"/>
                      </a:rPr>
                      <m:t>f(x)=2</m:t>
                    </m:r>
                  </m:oMath>
                </a14:m>
                <a:r>
                  <a:rPr sz="2200">
                    <a:solidFill>
                      <a:srgbClr val="1E293B"/>
                    </a:solidFill>
                    <a:latin typeface="Calibri"/>
                  </a:rPr>
                  <a:t>. Khẳng định nào sau đây là đúng?</a:t>
                </a:r>
              </a:p>
              <a:p>
                <a:pPr algn="l">
                  <a:spcAft>
                    <a:spcPts val="800"/>
                  </a:spcAft>
                </a:pPr>
                <a:r>
                  <a:rPr sz="2200">
                    <a:solidFill>
                      <a:srgbClr val="1E293B"/>
                    </a:solidFill>
                    <a:latin typeface="Calibri"/>
                  </a:rPr>
                  <a:t>A. Đường thẳng </a:t>
                </a:r>
                <a14:m>
                  <m:oMath xmlns:m="http://schemas.openxmlformats.org/officeDocument/2006/math">
                    <m:r>
                      <a:rPr lang="vi-VN" sz="2200" b="0">
                        <a:solidFill>
                          <a:srgbClr val="1E293B"/>
                        </a:solidFill>
                        <a:latin typeface="Cambria Math" panose="02040503050406030204" pitchFamily="18" charset="0"/>
                      </a:rPr>
                      <m:t>x=2</m:t>
                    </m:r>
                  </m:oMath>
                </a14:m>
                <a:r>
                  <a:rPr sz="2200">
                    <a:solidFill>
                      <a:srgbClr val="1E293B"/>
                    </a:solidFill>
                    <a:latin typeface="Calibri"/>
                  </a:rPr>
                  <a:t> là tiệm cận đứng của đồ thị hàm số.</a:t>
                </a:r>
              </a:p>
              <a:p>
                <a:pPr algn="l">
                  <a:spcAft>
                    <a:spcPts val="800"/>
                  </a:spcAft>
                </a:pPr>
                <a:r>
                  <a:rPr sz="2200">
                    <a:solidFill>
                      <a:srgbClr val="1E293B"/>
                    </a:solidFill>
                    <a:latin typeface="Calibri"/>
                  </a:rPr>
                  <a:t>B. Đường thẳng </a:t>
                </a:r>
                <a14:m>
                  <m:oMath xmlns:m="http://schemas.openxmlformats.org/officeDocument/2006/math">
                    <m:r>
                      <a:rPr lang="vi-VN" sz="2200" b="0">
                        <a:solidFill>
                          <a:srgbClr val="1E293B"/>
                        </a:solidFill>
                        <a:latin typeface="Cambria Math" panose="02040503050406030204" pitchFamily="18" charset="0"/>
                      </a:rPr>
                      <m:t>y=2</m:t>
                    </m:r>
                  </m:oMath>
                </a14:m>
                <a:r>
                  <a:rPr sz="2200">
                    <a:solidFill>
                      <a:srgbClr val="1E293B"/>
                    </a:solidFill>
                    <a:latin typeface="Calibri"/>
                  </a:rPr>
                  <a:t> là tiệm cận ngang của đồ thị hàm số.</a:t>
                </a:r>
              </a:p>
              <a:p>
                <a:pPr algn="l">
                  <a:spcAft>
                    <a:spcPts val="800"/>
                  </a:spcAft>
                </a:pPr>
                <a:r>
                  <a:rPr sz="2200">
                    <a:solidFill>
                      <a:srgbClr val="1E293B"/>
                    </a:solidFill>
                    <a:latin typeface="Calibri"/>
                  </a:rPr>
                  <a:t>C. Đường thẳng </a:t>
                </a:r>
                <a14:m>
                  <m:oMath xmlns:m="http://schemas.openxmlformats.org/officeDocument/2006/math">
                    <m:r>
                      <a:rPr lang="vi-VN" sz="2200" b="0">
                        <a:solidFill>
                          <a:srgbClr val="1E293B"/>
                        </a:solidFill>
                        <a:latin typeface="Cambria Math" panose="02040503050406030204" pitchFamily="18" charset="0"/>
                      </a:rPr>
                      <m:t>y=1</m:t>
                    </m:r>
                  </m:oMath>
                </a14:m>
                <a:r>
                  <a:rPr sz="2200">
                    <a:solidFill>
                      <a:srgbClr val="1E293B"/>
                    </a:solidFill>
                    <a:latin typeface="Calibri"/>
                  </a:rPr>
                  <a:t> là tiệm cận ngang của đồ thị hàm số.</a:t>
                </a:r>
              </a:p>
              <a:p>
                <a:pPr algn="l">
                  <a:spcAft>
                    <a:spcPts val="800"/>
                  </a:spcAft>
                </a:pPr>
                <a:r>
                  <a:rPr sz="2200">
                    <a:solidFill>
                      <a:srgbClr val="1E293B"/>
                    </a:solidFill>
                    <a:latin typeface="Calibri"/>
                  </a:rPr>
                  <a:t>D.</a:t>
                </a:r>
                <a:r>
                  <a:rPr sz="2200">
                    <a:solidFill>
                      <a:srgbClr val="1E293B"/>
                    </a:solidFill>
                    <a:latin typeface="Calibri"/>
                  </a:rPr>
                  <a:t> </a:t>
                </a:r>
              </a:p>
            </p:txBody>
          </p:sp>
        </mc:Choice>
        <mc:Fallback>
          <p:sp>
            <p:nvSpPr>
              <p:cNvPr id="7" name="TextBox 6"/>
              <p:cNvSpPr txBox="1"/>
              <p:nvPr/>
            </p:nvSpPr>
            <p:spPr>
              <a:xfrm>
                <a:off x="731520" y="1463040"/>
                <a:ext cx="10789920" cy="272796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1.35.</a:t>
                </a:r>
                <a:r>
                  <a:rPr sz="2200">
                    <a:solidFill>
                      <a:srgbClr val="1E293B"/>
                    </a:solidFill>
                    <a:latin typeface="Calibri"/>
                  </a:rPr>
                  <a:t> Cho hàm số </a:t>
                </a:r>
                <a:r>
                  <a:rPr lang="vi-VN"/>
                  <a:t>y=f(x)</a:t>
                </a:r>
                <a:r>
                  <a:rPr sz="2200">
                    <a:solidFill>
                      <a:srgbClr val="1E293B"/>
                    </a:solidFill>
                    <a:latin typeface="Calibri"/>
                  </a:rPr>
                  <a:t> thoả mãn: </a:t>
                </a:r>
                <a:r>
                  <a:rPr lang="vi-VN"/>
                  <a:t>lim_(x→2^+)f(x)=1</a:t>
                </a:r>
                <a:r>
                  <a:rPr sz="2200">
                    <a:solidFill>
                      <a:srgbClr val="1E293B"/>
                    </a:solidFill>
                    <a:latin typeface="Calibri"/>
                  </a:rPr>
                  <a:t>; </a:t>
                </a:r>
                <a:r>
                  <a:rPr lang="vi-VN"/>
                  <a:t>lim_(x→2^−)f(x)=1</a:t>
                </a:r>
                <a:r>
                  <a:rPr sz="2200">
                    <a:solidFill>
                      <a:srgbClr val="1E293B"/>
                    </a:solidFill>
                    <a:latin typeface="Calibri"/>
                  </a:rPr>
                  <a:t>; </a:t>
                </a:r>
                <a:r>
                  <a:rPr lang="vi-VN"/>
                  <a:t>lim_(x→−∞)f(x)=2</a:t>
                </a:r>
                <a:r>
                  <a:rPr sz="2200">
                    <a:solidFill>
                      <a:srgbClr val="1E293B"/>
                    </a:solidFill>
                    <a:latin typeface="Calibri"/>
                  </a:rPr>
                  <a:t> và </a:t>
                </a:r>
                <a:r>
                  <a:rPr lang="vi-VN"/>
                  <a:t>lim_(x→+∞)f(x)=2</a:t>
                </a:r>
                <a:r>
                  <a:rPr sz="2200">
                    <a:solidFill>
                      <a:srgbClr val="1E293B"/>
                    </a:solidFill>
                    <a:latin typeface="Calibri"/>
                  </a:rPr>
                  <a:t>. Khẳng định nào sau đây là đúng?</a:t>
                </a:r>
              </a:p>
              <a:p>
                <a:pPr algn="l">
                  <a:spcAft>
                    <a:spcPts val="800"/>
                  </a:spcAft>
                </a:pPr>
                <a:r>
                  <a:rPr sz="2200">
                    <a:solidFill>
                      <a:srgbClr val="1E293B"/>
                    </a:solidFill>
                    <a:latin typeface="Calibri"/>
                  </a:rPr>
                  <a:t>A. Đường thẳng </a:t>
                </a:r>
                <a:r>
                  <a:rPr lang="vi-VN"/>
                  <a:t>x=2</a:t>
                </a:r>
                <a:r>
                  <a:rPr sz="2200">
                    <a:solidFill>
                      <a:srgbClr val="1E293B"/>
                    </a:solidFill>
                    <a:latin typeface="Calibri"/>
                  </a:rPr>
                  <a:t> là tiệm cận đứng của đồ thị hàm số.</a:t>
                </a:r>
              </a:p>
              <a:p>
                <a:pPr algn="l">
                  <a:spcAft>
                    <a:spcPts val="800"/>
                  </a:spcAft>
                </a:pPr>
                <a:r>
                  <a:rPr sz="2200">
                    <a:solidFill>
                      <a:srgbClr val="1E293B"/>
                    </a:solidFill>
                    <a:latin typeface="Calibri"/>
                  </a:rPr>
                  <a:t>B. Đường thẳng </a:t>
                </a:r>
                <a:r>
                  <a:rPr lang="vi-VN"/>
                  <a:t>y=2</a:t>
                </a:r>
                <a:r>
                  <a:rPr sz="2200">
                    <a:solidFill>
                      <a:srgbClr val="1E293B"/>
                    </a:solidFill>
                    <a:latin typeface="Calibri"/>
                  </a:rPr>
                  <a:t> là tiệm cận ngang của đồ thị hàm số.</a:t>
                </a:r>
              </a:p>
              <a:p>
                <a:pPr algn="l">
                  <a:spcAft>
                    <a:spcPts val="800"/>
                  </a:spcAft>
                </a:pPr>
                <a:r>
                  <a:rPr sz="2200">
                    <a:solidFill>
                      <a:srgbClr val="1E293B"/>
                    </a:solidFill>
                    <a:latin typeface="Calibri"/>
                  </a:rPr>
                  <a:t>C. Đường thẳng </a:t>
                </a:r>
                <a:r>
                  <a:rPr lang="vi-VN"/>
                  <a:t>y=1</a:t>
                </a:r>
                <a:r>
                  <a:rPr sz="2200">
                    <a:solidFill>
                      <a:srgbClr val="1E293B"/>
                    </a:solidFill>
                    <a:latin typeface="Calibri"/>
                  </a:rPr>
                  <a:t> là tiệm cận ngang của đồ thị hàm số.</a:t>
                </a:r>
              </a:p>
              <a:p>
                <a:pPr algn="l">
                  <a:spcAft>
                    <a:spcPts val="800"/>
                  </a:spcAft>
                </a:pPr>
                <a:r>
                  <a:rPr sz="2200">
                    <a:solidFill>
                      <a:srgbClr val="1E293B"/>
                    </a:solidFill>
                    <a:latin typeface="Calibri"/>
                  </a:rPr>
                  <a:t>D.</a:t>
                </a:r>
                <a:r>
                  <a:rPr sz="2200">
                    <a:solidFill>
                      <a:srgbClr val="1E293B"/>
                    </a:solidFill>
                    <a:latin typeface="Calibri"/>
                  </a:rPr>
                  <a:t> </a:t>
                </a: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1.35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19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a:spcAft>
                    <a:spcPts val="800"/>
                  </a:spcAft>
                </a:pPr>
                <a:r>
                  <a:rPr sz="2200">
                    <a:solidFill>
                      <a:srgbClr val="1E293B"/>
                    </a:solidFill>
                    <a:latin typeface="Calibri"/>
                  </a:rPr>
                  <a:t>Đường thẳng </a:t>
                </a:r>
                <a14:m>
                  <m:oMath xmlns:m="http://schemas.openxmlformats.org/officeDocument/2006/math">
                    <m:r>
                      <a:rPr lang="vi-VN" sz="2200" b="0">
                        <a:solidFill>
                          <a:srgbClr val="1E293B"/>
                        </a:solidFill>
                        <a:latin typeface="Cambria Math" panose="02040503050406030204" pitchFamily="18" charset="0"/>
                      </a:rPr>
                      <m:t>x=2</m:t>
                    </m:r>
                  </m:oMath>
                </a14:m>
                <a:r>
                  <a:rPr sz="2200">
                    <a:solidFill>
                      <a:srgbClr val="1E293B"/>
                    </a:solidFill>
                    <a:latin typeface="Calibri"/>
                  </a:rPr>
                  <a:t> là tiệm cận ngang của đồ thị hàm số.</a:t>
                </a:r>
                <a:r>
                  <a:rPr sz="2200">
                    <a:solidFill>
                      <a:srgbClr val="1E293B"/>
                    </a:solidFill>
                    <a:latin typeface="Calibri"/>
                  </a:rPr>
                  <a:t> </a:t>
                </a:r>
              </a:p>
              <a:p>
                <a:pPr algn="l">
                  <a:spcAft>
                    <a:spcPts val="800"/>
                  </a:spcAft>
                </a:pPr>
                <a:r>
                  <a:rPr sz="2200" b="1">
                    <a:solidFill>
                      <a:srgbClr val="1E40AF"/>
                    </a:solidFill>
                    <a:latin typeface="Calibri"/>
                  </a:rPr>
                  <a:t>Gợi mở: Giới hạn hữu hạn tại </a:t>
                </a:r>
                <a14:m>
                  <m:oMath xmlns:m="http://schemas.openxmlformats.org/officeDocument/2006/math">
                    <m:r>
                      <a:rPr lang="vi-VN" sz="2200" b="1">
                        <a:solidFill>
                          <a:srgbClr val="1E40AF"/>
                        </a:solidFill>
                        <a:latin typeface="Cambria Math" panose="02040503050406030204" pitchFamily="18" charset="0"/>
                      </a:rPr>
                      <m:t>x=2</m:t>
                    </m:r>
                  </m:oMath>
                </a14:m>
                <a:r>
                  <a:rPr sz="2200" b="1">
                    <a:solidFill>
                      <a:srgbClr val="1E40AF"/>
                    </a:solidFill>
                    <a:latin typeface="Calibri"/>
                  </a:rPr>
                  <a:t> có tạo tiệm cận đứng không?</a:t>
                </a:r>
              </a:p>
            </p:txBody>
          </p:sp>
        </mc:Choice>
        <mc:Fallback>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a:spcAft>
                    <a:spcPts val="800"/>
                  </a:spcAft>
                </a:pPr>
                <a:r>
                  <a:rPr sz="2200">
                    <a:solidFill>
                      <a:srgbClr val="1E293B"/>
                    </a:solidFill>
                    <a:latin typeface="Calibri"/>
                  </a:rPr>
                  <a:t>Đường thẳng </a:t>
                </a:r>
                <a:r>
                  <a:rPr lang="vi-VN"/>
                  <a:t>x=2</a:t>
                </a:r>
                <a:r>
                  <a:rPr sz="2200">
                    <a:solidFill>
                      <a:srgbClr val="1E293B"/>
                    </a:solidFill>
                    <a:latin typeface="Calibri"/>
                  </a:rPr>
                  <a:t> là tiệm cận ngang của đồ thị hàm số.</a:t>
                </a:r>
                <a:r>
                  <a:rPr sz="2200">
                    <a:solidFill>
                      <a:srgbClr val="1E293B"/>
                    </a:solidFill>
                    <a:latin typeface="Calibri"/>
                  </a:rPr>
                  <a:t> </a:t>
                </a:r>
              </a:p>
              <a:p>
                <a:pPr algn="l">
                  <a:spcAft>
                    <a:spcPts val="800"/>
                  </a:spcAft>
                </a:pPr>
                <a:r>
                  <a:rPr sz="2200" b="1">
                    <a:solidFill>
                      <a:srgbClr val="1E40AF"/>
                    </a:solidFill>
                    <a:latin typeface="Calibri"/>
                  </a:rPr>
                  <a:t>Gợi mở: Giới hạn hữu hạn tại </a:t>
                </a:r>
                <a:r>
                  <a:rPr lang="vi-VN"/>
                  <a:t>x=2</a:t>
                </a:r>
                <a:r>
                  <a:rPr sz="2200" b="1">
                    <a:solidFill>
                      <a:srgbClr val="1E40AF"/>
                    </a:solidFill>
                    <a:latin typeface="Calibri"/>
                  </a:rPr>
                  <a:t> có tạo tiệm cận đứng không?</a:t>
                </a: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1.35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20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limLow>
                      <m:e>
                        <m:r>
                          <m:rPr>
                            <m:sty m:val="p"/>
                          </m:rPr>
                          <a:rPr lang="vi-VN" sz="2400" b="0">
                            <a:solidFill>
                              <a:srgbClr val="1E293B"/>
                            </a:solidFill>
                            <a:latin typeface="Cambria Math" panose="02040503050406030204" pitchFamily="18" charset="0"/>
                          </a:rPr>
                          <m:t>lim</m:t>
                        </m:r>
                      </m:e>
                      <m:lim>
                        <m:r>
                          <a:rPr lang="vi-VN" sz="2400" b="0">
                            <a:solidFill>
                              <a:srgbClr val="1E293B"/>
                            </a:solidFill>
                            <a:latin typeface="Cambria Math" panose="02040503050406030204" pitchFamily="18" charset="0"/>
                          </a:rPr>
                          <m:t>x→</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m:t>
                            </m:r>
                          </m:sup>
                        </m:sSup>
                      </m:lim>
                    </m:limLow>
                    <m:r>
                      <a:rPr lang="vi-VN" sz="2400" b="0">
                        <a:solidFill>
                          <a:srgbClr val="1E293B"/>
                        </a:solidFill>
                        <a:latin typeface="Cambria Math" panose="02040503050406030204" pitchFamily="18" charset="0"/>
                      </a:rPr>
                      <m:t>f(x)=1</m:t>
                    </m:r>
                  </m:oMath>
                </a14:m>
                <a:r>
                  <a:rPr sz="2400">
                    <a:solidFill>
                      <a:srgbClr val="1E293B"/>
                    </a:solidFill>
                    <a:latin typeface="Calibri"/>
                  </a:rPr>
                  <a:t> hữu hạn ⇒ </a:t>
                </a:r>
                <a14:m>
                  <m:oMath xmlns:m="http://schemas.openxmlformats.org/officeDocument/2006/math">
                    <m:r>
                      <a:rPr lang="vi-VN" sz="2400" b="0">
                        <a:solidFill>
                          <a:srgbClr val="1E293B"/>
                        </a:solidFill>
                        <a:latin typeface="Cambria Math" panose="02040503050406030204" pitchFamily="18" charset="0"/>
                      </a:rPr>
                      <m:t>x=2</m:t>
                    </m:r>
                  </m:oMath>
                </a14:m>
                <a:r>
                  <a:rPr sz="2400">
                    <a:solidFill>
                      <a:srgbClr val="1E293B"/>
                    </a:solidFill>
                    <a:latin typeface="Calibri"/>
                  </a:rPr>
                  <a:t> không là tiệm cận đứng</a:t>
                </a:r>
              </a:p>
              <a:p>
                <a:pPr algn="l" marL="365760" indent="-365760">
                  <a:spcAft>
                    <a:spcPts val="800"/>
                  </a:spcAft>
                  <a:buClr>
                    <a:srgbClr val="1E40AF"/>
                  </a:buClr>
                  <a:buFont typeface="Arial"/>
                  <a:buChar char="•"/>
                </a:pPr>
                <a14:m>
                  <m:oMath xmlns:m="http://schemas.openxmlformats.org/officeDocument/2006/math">
                    <m:limLow>
                      <m:e>
                        <m:r>
                          <m:rPr>
                            <m:sty m:val="p"/>
                          </m:rPr>
                          <a:rPr lang="vi-VN" sz="2400" b="0">
                            <a:solidFill>
                              <a:srgbClr val="1E293B"/>
                            </a:solidFill>
                            <a:latin typeface="Cambria Math" panose="02040503050406030204" pitchFamily="18" charset="0"/>
                          </a:rPr>
                          <m:t>lim</m:t>
                        </m:r>
                      </m:e>
                      <m:lim>
                        <m:r>
                          <a:rPr lang="vi-VN" sz="2400" b="0">
                            <a:solidFill>
                              <a:srgbClr val="1E293B"/>
                            </a:solidFill>
                            <a:latin typeface="Cambria Math" panose="02040503050406030204" pitchFamily="18" charset="0"/>
                          </a:rPr>
                          <m:t>x→±∞</m:t>
                        </m:r>
                      </m:lim>
                    </m:limLow>
                    <m:r>
                      <a:rPr lang="vi-VN" sz="2400" b="0">
                        <a:solidFill>
                          <a:srgbClr val="1E293B"/>
                        </a:solidFill>
                        <a:latin typeface="Cambria Math" panose="02040503050406030204" pitchFamily="18" charset="0"/>
                      </a:rPr>
                      <m:t>f(x)=2</m:t>
                    </m:r>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y=2</m:t>
                    </m:r>
                  </m:oMath>
                </a14:m>
                <a:r>
                  <a:rPr sz="2400">
                    <a:solidFill>
                      <a:srgbClr val="1E293B"/>
                    </a:solidFill>
                    <a:latin typeface="Calibri"/>
                  </a:rPr>
                  <a:t> là tiệm cận ngang</a:t>
                </a:r>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y=1</m:t>
                    </m:r>
                  </m:oMath>
                </a14:m>
                <a:r>
                  <a:rPr sz="2400">
                    <a:solidFill>
                      <a:srgbClr val="1E293B"/>
                    </a:solidFill>
                    <a:latin typeface="Calibri"/>
                  </a:rPr>
                  <a:t> không là giới hạn khi </a:t>
                </a:r>
                <a14:m>
                  <m:oMath xmlns:m="http://schemas.openxmlformats.org/officeDocument/2006/math">
                    <m:r>
                      <a:rPr lang="vi-VN" sz="2400" b="0">
                        <a:solidFill>
                          <a:srgbClr val="1E293B"/>
                        </a:solidFill>
                        <a:latin typeface="Cambria Math" panose="02040503050406030204" pitchFamily="18" charset="0"/>
                      </a:rPr>
                      <m:t>x→±∞</m:t>
                    </m:r>
                  </m:oMath>
                </a14:m>
                <a:r>
                  <a:rPr sz="2400">
                    <a:solidFill>
                      <a:srgbClr val="1E293B"/>
                    </a:solidFill>
                    <a:latin typeface="Calibri"/>
                  </a:rPr>
                  <a:t> ⇒ C sai</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\lim_{x\to 2^\pm}f(x)=1</a:t>
                </a:r>
                <a:r>
                  <a:rPr sz="2400">
                    <a:solidFill>
                      <a:srgbClr val="1E293B"/>
                    </a:solidFill>
                    <a:latin typeface="Calibri"/>
                  </a:rPr>
                  <a:t> hữu hạn ⇒ </a:t>
                </a:r>
                <a:r>
                  <a:rPr lang="vi-VN"/>
                  <a:t>x=2</a:t>
                </a:r>
                <a:r>
                  <a:rPr sz="2400">
                    <a:solidFill>
                      <a:srgbClr val="1E293B"/>
                    </a:solidFill>
                    <a:latin typeface="Calibri"/>
                  </a:rPr>
                  <a:t> không là tiệm cận đứng</a:t>
                </a:r>
              </a:p>
              <a:p>
                <a:pPr algn="l" marL="365760" indent="-365760">
                  <a:spcAft>
                    <a:spcPts val="800"/>
                  </a:spcAft>
                  <a:buClr>
                    <a:srgbClr val="1E40AF"/>
                  </a:buClr>
                  <a:buFont typeface="Arial"/>
                  <a:buChar char="•"/>
                </a:pPr>
                <a:r>
                  <a:rPr lang="vi-VN"/>
                  <a:t>\lim_{x\to\pm\infty}f(x)=2</a:t>
                </a:r>
                <a:r>
                  <a:rPr sz="2400">
                    <a:solidFill>
                      <a:srgbClr val="1E293B"/>
                    </a:solidFill>
                    <a:latin typeface="Calibri"/>
                  </a:rPr>
                  <a:t> ⇒ </a:t>
                </a:r>
                <a:r>
                  <a:rPr lang="vi-VN"/>
                  <a:t>y=2</a:t>
                </a:r>
                <a:r>
                  <a:rPr sz="2400">
                    <a:solidFill>
                      <a:srgbClr val="1E293B"/>
                    </a:solidFill>
                    <a:latin typeface="Calibri"/>
                  </a:rPr>
                  <a:t> là tiệm cận ngang</a:t>
                </a:r>
              </a:p>
              <a:p>
                <a:pPr algn="l" marL="365760" indent="-365760">
                  <a:spcAft>
                    <a:spcPts val="800"/>
                  </a:spcAft>
                  <a:buClr>
                    <a:srgbClr val="1E40AF"/>
                  </a:buClr>
                  <a:buFont typeface="Arial"/>
                  <a:buChar char="•"/>
                </a:pPr>
                <a:r>
                  <a:rPr lang="vi-VN"/>
                  <a:t>y=1</a:t>
                </a:r>
                <a:r>
                  <a:rPr sz="2400">
                    <a:solidFill>
                      <a:srgbClr val="1E293B"/>
                    </a:solidFill>
                    <a:latin typeface="Calibri"/>
                  </a:rPr>
                  <a:t> không là giới hạn khi </a:t>
                </a:r>
                <a:r>
                  <a:rPr lang="vi-VN"/>
                  <a:t>x\to\pm\infty</a:t>
                </a:r>
                <a:r>
                  <a:rPr sz="2400">
                    <a:solidFill>
                      <a:srgbClr val="1E293B"/>
                    </a:solidFill>
                    <a:latin typeface="Calibri"/>
                  </a:rPr>
                  <a:t> ⇒ C sai</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Chọn 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1.36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21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1.36.</a:t>
                </a:r>
                <a:r>
                  <a:rPr sz="2400">
                    <a:solidFill>
                      <a:srgbClr val="1E293B"/>
                    </a:solidFill>
                    <a:latin typeface="Calibri"/>
                  </a:rPr>
                  <a:t> Tiệm cận xiên của đồ thị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f>
                      <m:fPr>
                        <m:type m:val="bar"/>
                      </m:fPr>
                      <m:num>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+2x−2</m:t>
                        </m:r>
                      </m:num>
                      <m:den>
                        <m:r>
                          <a:rPr lang="vi-VN" sz="2400" b="0">
                            <a:solidFill>
                              <a:srgbClr val="1E293B"/>
                            </a:solidFill>
                            <a:latin typeface="Cambria Math" panose="02040503050406030204" pitchFamily="18" charset="0"/>
                          </a:rPr>
                          <m:t>x+2</m:t>
                        </m:r>
                      </m:den>
                    </m:f>
                  </m:oMath>
                </a14:m>
                <a:r>
                  <a:rPr sz="2400">
                    <a:solidFill>
                      <a:srgbClr val="1E293B"/>
                    </a:solidFill>
                    <a:latin typeface="Calibri"/>
                  </a:rPr>
                  <a:t> là</a:t>
                </a:r>
              </a:p>
              <a:p>
                <a:pPr algn="l">
                  <a:spcAft>
                    <a:spcPts val="800"/>
                  </a:spcAft>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y=−2</m:t>
                    </m:r>
                  </m:oMath>
                </a14:m>
                <a:r>
                  <a:rPr sz="2400">
                    <a:solidFill>
                      <a:srgbClr val="1E293B"/>
                    </a:solidFill>
                    <a:latin typeface="Calibri"/>
                  </a:rPr>
                  <a:t>.    B. </a:t>
                </a:r>
                <a14:m>
                  <m:oMath xmlns:m="http://schemas.openxmlformats.org/officeDocument/2006/math">
                    <m:r>
                      <a:rPr lang="vi-VN" sz="2400" b="0">
                        <a:solidFill>
                          <a:srgbClr val="1E293B"/>
                        </a:solidFill>
                        <a:latin typeface="Cambria Math" panose="02040503050406030204" pitchFamily="18" charset="0"/>
                      </a:rPr>
                      <m:t>y=1</m:t>
                    </m:r>
                  </m:oMath>
                </a14:m>
                <a:r>
                  <a:rPr sz="2400">
                    <a:solidFill>
                      <a:srgbClr val="1E293B"/>
                    </a:solidFill>
                    <a:latin typeface="Calibri"/>
                  </a:rPr>
                  <a:t>.    C. </a:t>
                </a:r>
                <a14:m>
                  <m:oMath xmlns:m="http://schemas.openxmlformats.org/officeDocument/2006/math">
                    <m:r>
                      <a:rPr lang="vi-VN" sz="2400" b="0">
                        <a:solidFill>
                          <a:srgbClr val="1E293B"/>
                        </a:solidFill>
                        <a:latin typeface="Cambria Math" panose="02040503050406030204" pitchFamily="18" charset="0"/>
                      </a:rPr>
                      <m:t>y=x+2</m:t>
                    </m:r>
                  </m:oMath>
                </a14:m>
                <a:r>
                  <a:rPr sz="2400">
                    <a:solidFill>
                      <a:srgbClr val="1E293B"/>
                    </a:solidFill>
                    <a:latin typeface="Calibri"/>
                  </a:rPr>
                  <a:t>.    D. </a:t>
                </a:r>
                <a14:m>
                  <m:oMath xmlns:m="http://schemas.openxmlformats.org/officeDocument/2006/math">
                    <m:r>
                      <a:rPr lang="vi-VN" sz="2400" b="0">
                        <a:solidFill>
                          <a:srgbClr val="1E293B"/>
                        </a:solidFill>
                        <a:latin typeface="Cambria Math" panose="02040503050406030204" pitchFamily="18" charset="0"/>
                      </a:rPr>
                      <m:t>y=x</m:t>
                    </m:r>
                  </m:oMath>
                </a14:m>
                <a:r>
                  <a:rPr sz="2400">
                    <a:solidFill>
                      <a:srgbClr val="1E293B"/>
                    </a:solidFill>
                    <a:latin typeface="Calibri"/>
                  </a:rPr>
                  <a:t>.</a:t>
                </a:r>
              </a:p>
              <a:p>
                <a:pPr algn="l">
                  <a:spcAft>
                    <a:spcPts val="800"/>
                  </a:spcAft>
                </a:pPr>
                <a:r>
                  <a:rPr sz="2400" b="1">
                    <a:solidFill>
                      <a:srgbClr val="1E40AF"/>
                    </a:solidFill>
                    <a:latin typeface="Calibri"/>
                  </a:rPr>
                  <a:t>Gợi mở: Chia tử số cho mẫu số</a:t>
                </a:r>
              </a:p>
            </p:txBody>
          </p:sp>
        </mc:Choice>
        <mc:Fallback>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1.36.</a:t>
                </a:r>
                <a:r>
                  <a:rPr sz="2400">
                    <a:solidFill>
                      <a:srgbClr val="1E293B"/>
                    </a:solidFill>
                    <a:latin typeface="Calibri"/>
                  </a:rPr>
                  <a:t> Tiệm cận xiên của đồ thị hàm số </a:t>
                </a:r>
                <a:r>
                  <a:rPr lang="vi-VN"/>
                  <a:t>y=(x^2+2x−2)/(x+2)</a:t>
                </a:r>
                <a:r>
                  <a:rPr sz="2400">
                    <a:solidFill>
                      <a:srgbClr val="1E293B"/>
                    </a:solidFill>
                    <a:latin typeface="Calibri"/>
                  </a:rPr>
                  <a:t> là</a:t>
                </a:r>
              </a:p>
              <a:p>
                <a:pPr algn="l">
                  <a:spcAft>
                    <a:spcPts val="800"/>
                  </a:spcAft>
                </a:pPr>
                <a:r>
                  <a:rPr sz="2400">
                    <a:solidFill>
                      <a:srgbClr val="1E293B"/>
                    </a:solidFill>
                    <a:latin typeface="Calibri"/>
                  </a:rPr>
                  <a:t>A. </a:t>
                </a:r>
                <a:r>
                  <a:rPr lang="vi-VN"/>
                  <a:t>y=-2</a:t>
                </a:r>
                <a:r>
                  <a:rPr sz="2400">
                    <a:solidFill>
                      <a:srgbClr val="1E293B"/>
                    </a:solidFill>
                    <a:latin typeface="Calibri"/>
                  </a:rPr>
                  <a:t>.    B. </a:t>
                </a:r>
                <a:r>
                  <a:rPr lang="vi-VN"/>
                  <a:t>y=1</a:t>
                </a:r>
                <a:r>
                  <a:rPr sz="2400">
                    <a:solidFill>
                      <a:srgbClr val="1E293B"/>
                    </a:solidFill>
                    <a:latin typeface="Calibri"/>
                  </a:rPr>
                  <a:t>.    C. </a:t>
                </a:r>
                <a:r>
                  <a:rPr lang="vi-VN"/>
                  <a:t>y=x+2</a:t>
                </a:r>
                <a:r>
                  <a:rPr sz="2400">
                    <a:solidFill>
                      <a:srgbClr val="1E293B"/>
                    </a:solidFill>
                    <a:latin typeface="Calibri"/>
                  </a:rPr>
                  <a:t>.    D. </a:t>
                </a:r>
                <a:r>
                  <a:rPr lang="vi-VN"/>
                  <a:t>y=x</a:t>
                </a:r>
                <a:r>
                  <a:rPr sz="2400">
                    <a:solidFill>
                      <a:srgbClr val="1E293B"/>
                    </a:solidFill>
                    <a:latin typeface="Calibri"/>
                  </a:rPr>
                  <a:t>.</a:t>
                </a:r>
              </a:p>
              <a:p>
                <a:pPr algn="l">
                  <a:spcAft>
                    <a:spcPts val="800"/>
                  </a:spcAft>
                </a:pPr>
                <a:r>
                  <a:rPr sz="2400" b="1">
                    <a:solidFill>
                      <a:srgbClr val="1E40AF"/>
                    </a:solidFill>
                    <a:latin typeface="Calibri"/>
                  </a:rPr>
                  <a:t>Gợi mở: Chia tử số cho mẫu số</a:t>
                </a: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1.36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22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+2x−2=(x+2)·x−2</m:t>
                    </m:r>
                  </m:oMath>
                </a14:m>
                <a:r>
                  <a:rPr sz="2400">
                    <a:solidFill>
                      <a:srgbClr val="1E293B"/>
                    </a:solidFill>
                    <a:latin typeface="Calibri"/>
                  </a:rPr>
                  <a:t> nên </a:t>
                </a:r>
                <a14:m>
                  <m:oMath xmlns:m="http://schemas.openxmlformats.org/officeDocument/2006/math">
                    <m:r>
                      <a:rPr lang="vi-VN" sz="2400" b="0">
                        <a:solidFill>
                          <a:srgbClr val="1E293B"/>
                        </a:solidFill>
                        <a:latin typeface="Cambria Math" panose="02040503050406030204" pitchFamily="18" charset="0"/>
                      </a:rPr>
                      <m:t>y=x−</m:t>
                    </m:r>
                    <m:f>
                      <m:fPr>
                        <m:type m:val="bar"/>
                      </m:fPr>
                      <m:num>
                        <m:r>
                          <a:rPr lang="vi-VN" sz="2400" b="0">
                            <a:solidFill>
                              <a:srgbClr val="1E293B"/>
                            </a:solidFill>
                            <a:latin typeface="Cambria Math" panose="02040503050406030204" pitchFamily="18" charset="0"/>
                          </a:rPr>
                          <m:t>2</m:t>
                        </m:r>
                      </m:num>
                      <m:den>
                        <m:r>
                          <a:rPr lang="vi-VN" sz="2400" b="0">
                            <a:solidFill>
                              <a:srgbClr val="1E293B"/>
                            </a:solidFill>
                            <a:latin typeface="Cambria Math" panose="02040503050406030204" pitchFamily="18" charset="0"/>
                          </a:rPr>
                          <m:t>x+2</m:t>
                        </m:r>
                      </m:den>
                    </m:f>
                  </m:oMath>
                </a14:m>
              </a:p>
              <a:p>
                <a:pPr algn="l" marL="365760" indent="-365760">
                  <a:spcAft>
                    <a:spcPts val="800"/>
                  </a:spcAft>
                  <a:buClr>
                    <a:srgbClr val="1E40AF"/>
                  </a:buClr>
                  <a:buFont typeface="Arial"/>
                  <a:buChar char="•"/>
                </a:pPr>
                <a14:m>
                  <m:oMath xmlns:m="http://schemas.openxmlformats.org/officeDocument/2006/math">
                    <m:limLow>
                      <m:e>
                        <m:r>
                          <m:rPr>
                            <m:sty m:val="p"/>
                          </m:rPr>
                          <a:rPr lang="vi-VN" sz="2400" b="0">
                            <a:solidFill>
                              <a:srgbClr val="1E293B"/>
                            </a:solidFill>
                            <a:latin typeface="Cambria Math" panose="02040503050406030204" pitchFamily="18" charset="0"/>
                          </a:rPr>
                          <m:t>lim</m:t>
                        </m:r>
                      </m:e>
                      <m:lim>
                        <m:r>
                          <a:rPr lang="vi-VN" sz="2400" b="0">
                            <a:solidFill>
                              <a:srgbClr val="1E293B"/>
                            </a:solidFill>
                            <a:latin typeface="Cambria Math" panose="02040503050406030204" pitchFamily="18" charset="0"/>
                          </a:rPr>
                          <m:t>x→±∞</m:t>
                        </m:r>
                      </m:lim>
                    </m:limLow>
                    <m:f>
                      <m:fPr>
                        <m:type m:val="bar"/>
                      </m:fPr>
                      <m:num>
                        <m:r>
                          <a:rPr lang="vi-VN" sz="2400" b="0">
                            <a:solidFill>
                              <a:srgbClr val="1E293B"/>
                            </a:solidFill>
                            <a:latin typeface="Cambria Math" panose="02040503050406030204" pitchFamily="18" charset="0"/>
                          </a:rPr>
                          <m:t>2</m:t>
                        </m:r>
                      </m:num>
                      <m:den>
                        <m:r>
                          <a:rPr lang="vi-VN" sz="2400" b="0">
                            <a:solidFill>
                              <a:srgbClr val="1E293B"/>
                            </a:solidFill>
                            <a:latin typeface="Cambria Math" panose="02040503050406030204" pitchFamily="18" charset="0"/>
                          </a:rPr>
                          <m:t>x+2</m:t>
                        </m:r>
                      </m:den>
                    </m:f>
                    <m:r>
                      <a:rPr lang="vi-VN" sz="2400" b="0">
                        <a:solidFill>
                          <a:srgbClr val="1E293B"/>
                        </a:solidFill>
                        <a:latin typeface="Cambria Math" panose="02040503050406030204" pitchFamily="18" charset="0"/>
                      </a:rPr>
                      <m:t>=0</m:t>
                    </m:r>
                  </m:oMath>
                </a14:m>
              </a:p>
            </p:txBody>
          </p:sp>
        </mc:Choice>
        <mc:Fallback>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x^2+2x-2=(x+2)\cdot x-2</a:t>
                </a:r>
                <a:r>
                  <a:rPr sz="2400">
                    <a:solidFill>
                      <a:srgbClr val="1E293B"/>
                    </a:solidFill>
                    <a:latin typeface="Calibri"/>
                  </a:rPr>
                  <a:t> nên </a:t>
                </a:r>
                <a:r>
                  <a:rPr lang="vi-VN"/>
                  <a:t>y=x-\frac{2}{x+2}</a:t>
                </a:r>
              </a:p>
              <a:p>
                <a:pPr algn="l" marL="365760" indent="-365760">
                  <a:spcAft>
                    <a:spcPts val="800"/>
                  </a:spcAft>
                  <a:buClr>
                    <a:srgbClr val="1E40AF"/>
                  </a:buClr>
                  <a:buFont typeface="Arial"/>
                  <a:buChar char="•"/>
                </a:pPr>
                <a:r>
                  <a:rPr lang="vi-VN"/>
                  <a:t>\lim_{x\to\pm\infty}\frac{2}{x+2}=0</a:t>
                </a:r>
              </a:p>
            </p:txBody>
          </p:sp>
        </mc:Fallback>
      </mc:AlternateContent>
      <p:sp>
        <p:nvSpPr>
          <p:cNvPr id="8" name="Rounded Rectangle 7"/>
          <p:cNvSpPr/>
          <p:nvPr/>
        </p:nvSpPr>
        <p:spPr>
          <a:xfrm>
            <a:off x="731520" y="2968751"/>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968751"/>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Tiệm cận xiên </a:t>
                </a:r>
                <a14:m>
                  <m:oMath xmlns:m="http://schemas.openxmlformats.org/officeDocument/2006/math">
                    <m:r>
                      <a:rPr lang="vi-VN" sz="2400" b="1">
                        <a:solidFill>
                          <a:srgbClr val="991B1B"/>
                        </a:solidFill>
                        <a:latin typeface="Cambria Math" panose="02040503050406030204" pitchFamily="18" charset="0"/>
                      </a:rPr>
                      <m:t>y=x</m:t>
                    </m:r>
                  </m:oMath>
                </a14:m>
                <a:r>
                  <a:rPr sz="2400" b="1">
                    <a:solidFill>
                      <a:srgbClr val="991B1B"/>
                    </a:solidFill>
                    <a:latin typeface="Calibri"/>
                  </a:rPr>
                  <a:t> – Chọn D</a:t>
                </a:r>
              </a:p>
            </p:txBody>
          </p:sp>
        </mc:Choice>
        <mc:Fallback>
          <p:sp>
            <p:nvSpPr>
              <p:cNvPr id="9" name="TextBox 8"/>
              <p:cNvSpPr txBox="1"/>
              <p:nvPr/>
            </p:nvSpPr>
            <p:spPr>
              <a:xfrm>
                <a:off x="914400" y="2968751"/>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Tiệm cận xiên </a:t>
                </a:r>
                <a:r>
                  <a:rPr lang="vi-VN"/>
                  <a:t>y=x</a:t>
                </a:r>
                <a:r>
                  <a:rPr sz="2400" b="1">
                    <a:solidFill>
                      <a:srgbClr val="991B1B"/>
                    </a:solidFill>
                    <a:latin typeface="Calibri"/>
                  </a:rPr>
                  <a:t> – Chọn D</a:t>
                </a: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1.37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23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1.37.</a:t>
                </a:r>
                <a:r>
                  <a:rPr sz="2400">
                    <a:solidFill>
                      <a:srgbClr val="1E293B"/>
                    </a:solidFill>
                    <a:latin typeface="Calibri"/>
                  </a:rPr>
                  <a:t> Cho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y=f(x)</m:t>
                    </m:r>
                  </m:oMath>
                </a14:m>
                <a:r>
                  <a:rPr sz="2400">
                    <a:solidFill>
                      <a:srgbClr val="1E293B"/>
                    </a:solidFill>
                    <a:latin typeface="Calibri"/>
                  </a:rPr>
                  <a:t> xác định trên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ℝ⧵{1;3}</m:t>
                    </m:r>
                  </m:oMath>
                </a14:m>
                <a:r>
                  <a:rPr sz="2400">
                    <a:solidFill>
                      <a:srgbClr val="1E293B"/>
                    </a:solidFill>
                    <a:latin typeface="Calibri"/>
                  </a:rPr>
                  <a:t>, liên tục trên mỗi khoảng xác định và có bảng biến thiên như sau:</a:t>
                </a:r>
              </a:p>
              <a:p>
                <a:pPr algn="l">
                  <a:spcAft>
                    <a:spcPts val="800"/>
                  </a:spcAft>
                </a:pPr>
                <a:r>
                  <a:rPr sz="2400">
                    <a:solidFill>
                      <a:srgbClr val="1E293B"/>
                    </a:solidFill>
                    <a:latin typeface="Calibri"/>
                  </a:rPr>
                  <a:t>Khẳng định nào sau đây là </a:t>
                </a:r>
                <a:r>
                  <a:rPr sz="2400" b="1">
                    <a:solidFill>
                      <a:srgbClr val="1E293B"/>
                    </a:solidFill>
                    <a:latin typeface="Calibri"/>
                  </a:rPr>
                  <a:t>sai</a:t>
                </a:r>
                <a:r>
                  <a:rPr sz="2400">
                    <a:solidFill>
                      <a:srgbClr val="1E293B"/>
                    </a:solidFill>
                    <a:latin typeface="Calibri"/>
                  </a:rPr>
                  <a:t>?</a:t>
                </a:r>
              </a:p>
              <a:p>
                <a:pPr algn="l">
                  <a:spcAft>
                    <a:spcPts val="800"/>
                  </a:spcAft>
                </a:pPr>
                <a:r>
                  <a:rPr sz="2400" b="1">
                    <a:solidFill>
                      <a:srgbClr val="1E40AF"/>
                    </a:solidFill>
                    <a:latin typeface="Calibri"/>
                  </a:rPr>
                  <a:t>Gợi mở: Đọc giới hạn ở hai bên </a:t>
                </a:r>
                <a14:m>
                  <m:oMath xmlns:m="http://schemas.openxmlformats.org/officeDocument/2006/math">
                    <m:r>
                      <a:rPr lang="vi-VN" sz="2400" b="1">
                        <a:solidFill>
                          <a:srgbClr val="1E40AF"/>
                        </a:solidFill>
                        <a:latin typeface="Cambria Math" panose="02040503050406030204" pitchFamily="18" charset="0"/>
                      </a:rPr>
                      <m:t>x=1</m:t>
                    </m:r>
                  </m:oMath>
                </a14:m>
                <a:r>
                  <a:rPr sz="2400" b="1">
                    <a:solidFill>
                      <a:srgbClr val="1E40AF"/>
                    </a:solidFill>
                    <a:latin typeface="Calibri"/>
                  </a:rPr>
                  <a:t>, </a:t>
                </a:r>
                <a14:m>
                  <m:oMath xmlns:m="http://schemas.openxmlformats.org/officeDocument/2006/math">
                    <m:r>
                      <a:rPr lang="vi-VN" sz="2400" b="1">
                        <a:solidFill>
                          <a:srgbClr val="1E40AF"/>
                        </a:solidFill>
                        <a:latin typeface="Cambria Math" panose="02040503050406030204" pitchFamily="18" charset="0"/>
                      </a:rPr>
                      <m:t>x=3</m:t>
                    </m:r>
                  </m:oMath>
                </a14:m>
                <a:r>
                  <a:rPr sz="2400" b="1">
                    <a:solidFill>
                      <a:srgbClr val="1E40AF"/>
                    </a:solidFill>
                    <a:latin typeface="Calibri"/>
                  </a:rPr>
                  <a:t> và tại </a:t>
                </a:r>
                <a14:m>
                  <m:oMath xmlns:m="http://schemas.openxmlformats.org/officeDocument/2006/math">
                    <m:r>
                      <a:rPr lang="vi-VN" sz="2400" b="1">
                        <a:solidFill>
                          <a:srgbClr val="1E40AF"/>
                        </a:solidFill>
                        <a:latin typeface="Cambria Math" panose="02040503050406030204" pitchFamily="18" charset="0"/>
                      </a:rPr>
                      <m:t>±∞</m:t>
                    </m:r>
                  </m:oMath>
                </a14:m>
              </a:p>
            </p:txBody>
          </p:sp>
        </mc:Choice>
        <mc:Fallback>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1.37.</a:t>
                </a:r>
                <a:r>
                  <a:rPr sz="2400">
                    <a:solidFill>
                      <a:srgbClr val="1E293B"/>
                    </a:solidFill>
                    <a:latin typeface="Calibri"/>
                  </a:rPr>
                  <a:t> Cho hàm số </a:t>
                </a:r>
                <a:r>
                  <a:rPr lang="vi-VN"/>
                  <a:t>y=f(x)</a:t>
                </a:r>
                <a:r>
                  <a:rPr sz="2400">
                    <a:solidFill>
                      <a:srgbClr val="1E293B"/>
                    </a:solidFill>
                    <a:latin typeface="Calibri"/>
                  </a:rPr>
                  <a:t> xác định trên </a:t>
                </a:r>
                <a:r>
                  <a:rPr lang="vi-VN"/>
                  <a:t>ℝ⧵{1;3}</a:t>
                </a:r>
                <a:r>
                  <a:rPr sz="2400">
                    <a:solidFill>
                      <a:srgbClr val="1E293B"/>
                    </a:solidFill>
                    <a:latin typeface="Calibri"/>
                  </a:rPr>
                  <a:t>, liên tục trên mỗi khoảng xác định và có bảng biến thiên như sau:</a:t>
                </a:r>
              </a:p>
              <a:p>
                <a:pPr algn="l">
                  <a:spcAft>
                    <a:spcPts val="800"/>
                  </a:spcAft>
                </a:pPr>
                <a:r>
                  <a:rPr sz="2400">
                    <a:solidFill>
                      <a:srgbClr val="1E293B"/>
                    </a:solidFill>
                    <a:latin typeface="Calibri"/>
                  </a:rPr>
                  <a:t>Khẳng định nào sau đây là </a:t>
                </a:r>
                <a:r>
                  <a:rPr sz="2400" b="1">
                    <a:solidFill>
                      <a:srgbClr val="1E293B"/>
                    </a:solidFill>
                    <a:latin typeface="Calibri"/>
                  </a:rPr>
                  <a:t>sai</a:t>
                </a:r>
                <a:r>
                  <a:rPr sz="2400">
                    <a:solidFill>
                      <a:srgbClr val="1E293B"/>
                    </a:solidFill>
                    <a:latin typeface="Calibri"/>
                  </a:rPr>
                  <a:t>?</a:t>
                </a:r>
              </a:p>
              <a:p>
                <a:pPr algn="l">
                  <a:spcAft>
                    <a:spcPts val="800"/>
                  </a:spcAft>
                </a:pPr>
                <a:r>
                  <a:rPr sz="2400" b="1">
                    <a:solidFill>
                      <a:srgbClr val="1E40AF"/>
                    </a:solidFill>
                    <a:latin typeface="Calibri"/>
                  </a:rPr>
                  <a:t>Gợi mở: Đọc giới hạn ở hai bên </a:t>
                </a:r>
                <a:r>
                  <a:rPr lang="vi-VN"/>
                  <a:t>x=1</a:t>
                </a:r>
                <a:r>
                  <a:rPr sz="2400" b="1">
                    <a:solidFill>
                      <a:srgbClr val="1E40AF"/>
                    </a:solidFill>
                    <a:latin typeface="Calibri"/>
                  </a:rPr>
                  <a:t>, </a:t>
                </a:r>
                <a:r>
                  <a:rPr lang="vi-VN"/>
                  <a:t>x=3</a:t>
                </a:r>
                <a:r>
                  <a:rPr sz="2400" b="1">
                    <a:solidFill>
                      <a:srgbClr val="1E40AF"/>
                    </a:solidFill>
                    <a:latin typeface="Calibri"/>
                  </a:rPr>
                  <a:t> và tại </a:t>
                </a:r>
                <a:r>
                  <a:rPr lang="vi-VN"/>
                  <a:t>\pm\infty</a:t>
                </a:r>
              </a:p>
            </p:txBody>
          </p:sp>
        </mc:Fallback>
      </mc:AlternateContent>
      <p:pic>
        <p:nvPicPr>
          <p:cNvPr id="8" name="Picture 7" descr="img02.png"/>
          <p:cNvPicPr>
            <a:picLocks noChangeAspect="1"/>
          </p:cNvPicPr>
          <p:nvPr/>
        </p:nvPicPr>
        <p:blipFill>
          <a:blip r:embed="rId2"/>
          <a:stretch>
            <a:fillRect/>
          </a:stretch>
        </p:blipFill>
        <p:spPr>
          <a:xfrm>
            <a:off x="731520" y="3918466"/>
            <a:ext cx="10698480" cy="194105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1.37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24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limLow>
                      <m:e>
                        <m:r>
                          <m:rPr>
                            <m:sty m:val="p"/>
                          </m:rPr>
                          <a:rPr lang="vi-VN" sz="2400" b="0">
                            <a:solidFill>
                              <a:srgbClr val="1E293B"/>
                            </a:solidFill>
                            <a:latin typeface="Cambria Math" panose="02040503050406030204" pitchFamily="18" charset="0"/>
                          </a:rPr>
                          <m:t>lim</m:t>
                        </m:r>
                      </m:e>
                      <m:lim>
                        <m:r>
                          <a:rPr lang="vi-VN" sz="2400" b="0">
                            <a:solidFill>
                              <a:srgbClr val="1E293B"/>
                            </a:solidFill>
                            <a:latin typeface="Cambria Math" panose="02040503050406030204" pitchFamily="18" charset="0"/>
                          </a:rPr>
                          <m:t>x→−∞</m:t>
                        </m:r>
                      </m:lim>
                    </m:limLow>
                    <m:r>
                      <a:rPr lang="vi-VN" sz="2400" b="0">
                        <a:solidFill>
                          <a:srgbClr val="1E293B"/>
                        </a:solidFill>
                        <a:latin typeface="Cambria Math" panose="02040503050406030204" pitchFamily="18" charset="0"/>
                      </a:rPr>
                      <m:t>f(x)=1</m:t>
                    </m:r>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y=1</m:t>
                    </m:r>
                  </m:oMath>
                </a14:m>
                <a:r>
                  <a:rPr sz="2400">
                    <a:solidFill>
                      <a:srgbClr val="1E293B"/>
                    </a:solidFill>
                    <a:latin typeface="Calibri"/>
                  </a:rPr>
                  <a:t> là TCN; </a:t>
                </a:r>
                <a14:m>
                  <m:oMath xmlns:m="http://schemas.openxmlformats.org/officeDocument/2006/math">
                    <m:limLow>
                      <m:e>
                        <m:r>
                          <m:rPr>
                            <m:sty m:val="p"/>
                          </m:rPr>
                          <a:rPr lang="vi-VN" sz="2400" b="0">
                            <a:solidFill>
                              <a:srgbClr val="1E293B"/>
                            </a:solidFill>
                            <a:latin typeface="Cambria Math" panose="02040503050406030204" pitchFamily="18" charset="0"/>
                          </a:rPr>
                          <m:t>lim</m:t>
                        </m:r>
                      </m:e>
                      <m:lim>
                        <m:r>
                          <a:rPr lang="vi-VN" sz="2400" b="0">
                            <a:solidFill>
                              <a:srgbClr val="1E293B"/>
                            </a:solidFill>
                            <a:latin typeface="Cambria Math" panose="02040503050406030204" pitchFamily="18" charset="0"/>
                          </a:rPr>
                          <m:t>x→+∞</m:t>
                        </m:r>
                      </m:lim>
                    </m:limLow>
                    <m:r>
                      <a:rPr lang="vi-VN" sz="2400" b="0">
                        <a:solidFill>
                          <a:srgbClr val="1E293B"/>
                        </a:solidFill>
                        <a:latin typeface="Cambria Math" panose="02040503050406030204" pitchFamily="18" charset="0"/>
                      </a:rPr>
                      <m:t>f(x)=−1</m:t>
                    </m:r>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y=−1</m:t>
                    </m:r>
                  </m:oMath>
                </a14:m>
                <a:r>
                  <a:rPr sz="2400">
                    <a:solidFill>
                      <a:srgbClr val="1E293B"/>
                    </a:solidFill>
                    <a:latin typeface="Calibri"/>
                  </a:rPr>
                  <a:t> là TCN</a:t>
                </a:r>
              </a:p>
              <a:p>
                <a:pPr algn="l" marL="365760" indent="-365760">
                  <a:spcAft>
                    <a:spcPts val="800"/>
                  </a:spcAft>
                  <a:buClr>
                    <a:srgbClr val="1E40AF"/>
                  </a:buClr>
                  <a:buFont typeface="Arial"/>
                  <a:buChar char="•"/>
                </a:pPr>
                <a14:m>
                  <m:oMath xmlns:m="http://schemas.openxmlformats.org/officeDocument/2006/math">
                    <m:limLow>
                      <m:e>
                        <m:r>
                          <m:rPr>
                            <m:sty m:val="p"/>
                          </m:rPr>
                          <a:rPr lang="vi-VN" sz="2400" b="0">
                            <a:solidFill>
                              <a:srgbClr val="1E293B"/>
                            </a:solidFill>
                            <a:latin typeface="Cambria Math" panose="02040503050406030204" pitchFamily="18" charset="0"/>
                          </a:rPr>
                          <m:t>lim</m:t>
                        </m:r>
                      </m:e>
                      <m:lim>
                        <m:r>
                          <a:rPr lang="vi-VN" sz="2400" b="0">
                            <a:solidFill>
                              <a:srgbClr val="1E293B"/>
                            </a:solidFill>
                            <a:latin typeface="Cambria Math" panose="02040503050406030204" pitchFamily="18" charset="0"/>
                          </a:rPr>
                          <m:t>x→</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m:t>
                            </m:r>
                          </m:sup>
                        </m:sSup>
                      </m:lim>
                    </m:limLow>
                    <m:r>
                      <a:rPr lang="vi-VN" sz="2400" b="0">
                        <a:solidFill>
                          <a:srgbClr val="1E293B"/>
                        </a:solidFill>
                        <a:latin typeface="Cambria Math" panose="02040503050406030204" pitchFamily="18" charset="0"/>
                      </a:rPr>
                      <m:t>f(x)=+∞</m:t>
                    </m:r>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x=3</m:t>
                    </m:r>
                  </m:oMath>
                </a14:m>
                <a:r>
                  <a:rPr sz="2400">
                    <a:solidFill>
                      <a:srgbClr val="1E293B"/>
                    </a:solidFill>
                    <a:latin typeface="Calibri"/>
                  </a:rPr>
                  <a:t> là TCĐ</a:t>
                </a:r>
              </a:p>
              <a:p>
                <a:pPr algn="l" marL="365760" indent="-365760">
                  <a:spcAft>
                    <a:spcPts val="800"/>
                  </a:spcAft>
                  <a:buClr>
                    <a:srgbClr val="1E40AF"/>
                  </a:buClr>
                  <a:buFont typeface="Arial"/>
                  <a:buChar char="•"/>
                </a:pPr>
                <a14:m>
                  <m:oMath xmlns:m="http://schemas.openxmlformats.org/officeDocument/2006/math">
                    <m:limLow>
                      <m:e>
                        <m:r>
                          <m:rPr>
                            <m:sty m:val="p"/>
                          </m:rPr>
                          <a:rPr lang="vi-VN" sz="2400" b="0">
                            <a:solidFill>
                              <a:srgbClr val="1E293B"/>
                            </a:solidFill>
                            <a:latin typeface="Cambria Math" panose="02040503050406030204" pitchFamily="18" charset="0"/>
                          </a:rPr>
                          <m:t>lim</m:t>
                        </m:r>
                      </m:e>
                      <m:lim>
                        <m:r>
                          <a:rPr lang="vi-VN" sz="2400" b="0">
                            <a:solidFill>
                              <a:srgbClr val="1E293B"/>
                            </a:solidFill>
                            <a:latin typeface="Cambria Math" panose="02040503050406030204" pitchFamily="18" charset="0"/>
                          </a:rPr>
                          <m:t>x→</m:t>
                        </m:r>
                        <m:sSup>
                          <m:e>
                            <m:r>
                              <a:rPr lang="vi-VN" sz="2400" b="0">
                                <a:solidFill>
                                  <a:srgbClr val="1E293B"/>
                                </a:solidFill>
                                <a:latin typeface="Cambria Math" panose="02040503050406030204" pitchFamily="18" charset="0"/>
                              </a:rPr>
                              <m:t>1</m:t>
                            </m:r>
                          </m:e>
                          <m:sup>
                            <m:r>
                              <a:rPr lang="vi-VN" sz="2400" b="0">
                                <a:solidFill>
                                  <a:srgbClr val="1E293B"/>
                                </a:solidFill>
                                <a:latin typeface="Cambria Math" panose="02040503050406030204" pitchFamily="18" charset="0"/>
                              </a:rPr>
                              <m:t>−</m:t>
                            </m:r>
                          </m:sup>
                        </m:sSup>
                      </m:lim>
                    </m:limLow>
                    <m:r>
                      <a:rPr lang="vi-VN" sz="2400" b="0">
                        <a:solidFill>
                          <a:srgbClr val="1E293B"/>
                        </a:solidFill>
                        <a:latin typeface="Cambria Math" panose="02040503050406030204" pitchFamily="18" charset="0"/>
                      </a:rPr>
                      <m:t>f(x)=−1</m:t>
                    </m:r>
                  </m:oMath>
                </a14:m>
                <a:r>
                  <a:rPr sz="2400">
                    <a:solidFill>
                      <a:srgbClr val="1E293B"/>
                    </a:solidFill>
                    <a:latin typeface="Calibri"/>
                  </a:rPr>
                  <a:t>, </a:t>
                </a:r>
                <a14:m>
                  <m:oMath xmlns:m="http://schemas.openxmlformats.org/officeDocument/2006/math">
                    <m:limLow>
                      <m:e>
                        <m:r>
                          <m:rPr>
                            <m:sty m:val="p"/>
                          </m:rPr>
                          <a:rPr lang="vi-VN" sz="2400" b="0">
                            <a:solidFill>
                              <a:srgbClr val="1E293B"/>
                            </a:solidFill>
                            <a:latin typeface="Cambria Math" panose="02040503050406030204" pitchFamily="18" charset="0"/>
                          </a:rPr>
                          <m:t>lim</m:t>
                        </m:r>
                      </m:e>
                      <m:lim>
                        <m:r>
                          <a:rPr lang="vi-VN" sz="2400" b="0">
                            <a:solidFill>
                              <a:srgbClr val="1E293B"/>
                            </a:solidFill>
                            <a:latin typeface="Cambria Math" panose="02040503050406030204" pitchFamily="18" charset="0"/>
                          </a:rPr>
                          <m:t>x→</m:t>
                        </m:r>
                        <m:sSup>
                          <m:e>
                            <m:r>
                              <a:rPr lang="vi-VN" sz="2400" b="0">
                                <a:solidFill>
                                  <a:srgbClr val="1E293B"/>
                                </a:solidFill>
                                <a:latin typeface="Cambria Math" panose="02040503050406030204" pitchFamily="18" charset="0"/>
                              </a:rPr>
                              <m:t>1</m:t>
                            </m:r>
                          </m:e>
                          <m:sup>
                            <m:r>
                              <a:rPr lang="vi-VN" sz="2400" b="0">
                                <a:solidFill>
                                  <a:srgbClr val="1E293B"/>
                                </a:solidFill>
                                <a:latin typeface="Cambria Math" panose="02040503050406030204" pitchFamily="18" charset="0"/>
                              </a:rPr>
                              <m:t>+</m:t>
                            </m:r>
                          </m:sup>
                        </m:sSup>
                      </m:lim>
                    </m:limLow>
                    <m:r>
                      <a:rPr lang="vi-VN" sz="2400" b="0">
                        <a:solidFill>
                          <a:srgbClr val="1E293B"/>
                        </a:solidFill>
                        <a:latin typeface="Cambria Math" panose="02040503050406030204" pitchFamily="18" charset="0"/>
                      </a:rPr>
                      <m:t>f(x)=7</m:t>
                    </m:r>
                  </m:oMath>
                </a14:m>
                <a:r>
                  <a:rPr sz="2400">
                    <a:solidFill>
                      <a:srgbClr val="1E293B"/>
                    </a:solidFill>
                    <a:latin typeface="Calibri"/>
                  </a:rPr>
                  <a:t> đều hữu hạn ⇒ </a:t>
                </a:r>
                <a14:m>
                  <m:oMath xmlns:m="http://schemas.openxmlformats.org/officeDocument/2006/math">
                    <m:r>
                      <a:rPr lang="vi-VN" sz="2400" b="0">
                        <a:solidFill>
                          <a:srgbClr val="1E293B"/>
                        </a:solidFill>
                        <a:latin typeface="Cambria Math" panose="02040503050406030204" pitchFamily="18" charset="0"/>
                      </a:rPr>
                      <m:t>x=1</m:t>
                    </m:r>
                  </m:oMath>
                </a14:m>
                <a:r>
                  <a:rPr sz="2400">
                    <a:solidFill>
                      <a:srgbClr val="1E293B"/>
                    </a:solidFill>
                    <a:latin typeface="Calibri"/>
                  </a:rPr>
                  <a:t> không là TCĐ</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\lim_{x\to-\infty}f(x)=1</a:t>
                </a:r>
                <a:r>
                  <a:rPr sz="2400">
                    <a:solidFill>
                      <a:srgbClr val="1E293B"/>
                    </a:solidFill>
                    <a:latin typeface="Calibri"/>
                  </a:rPr>
                  <a:t> ⇒ </a:t>
                </a:r>
                <a:r>
                  <a:rPr lang="vi-VN"/>
                  <a:t>y=1</a:t>
                </a:r>
                <a:r>
                  <a:rPr sz="2400">
                    <a:solidFill>
                      <a:srgbClr val="1E293B"/>
                    </a:solidFill>
                    <a:latin typeface="Calibri"/>
                  </a:rPr>
                  <a:t> là TCN; </a:t>
                </a:r>
                <a:r>
                  <a:rPr lang="vi-VN"/>
                  <a:t>\lim_{x\to+\infty}f(x)=-1</a:t>
                </a:r>
                <a:r>
                  <a:rPr sz="2400">
                    <a:solidFill>
                      <a:srgbClr val="1E293B"/>
                    </a:solidFill>
                    <a:latin typeface="Calibri"/>
                  </a:rPr>
                  <a:t> ⇒ </a:t>
                </a:r>
                <a:r>
                  <a:rPr lang="vi-VN"/>
                  <a:t>y=-1</a:t>
                </a:r>
                <a:r>
                  <a:rPr sz="2400">
                    <a:solidFill>
                      <a:srgbClr val="1E293B"/>
                    </a:solidFill>
                    <a:latin typeface="Calibri"/>
                  </a:rPr>
                  <a:t> là TCN</a:t>
                </a:r>
              </a:p>
              <a:p>
                <a:pPr algn="l" marL="365760" indent="-365760">
                  <a:spcAft>
                    <a:spcPts val="800"/>
                  </a:spcAft>
                  <a:buClr>
                    <a:srgbClr val="1E40AF"/>
                  </a:buClr>
                  <a:buFont typeface="Arial"/>
                  <a:buChar char="•"/>
                </a:pPr>
                <a:r>
                  <a:rPr lang="vi-VN"/>
                  <a:t>\lim_{x\to 3^-}f(x)=+\infty</a:t>
                </a:r>
                <a:r>
                  <a:rPr sz="2400">
                    <a:solidFill>
                      <a:srgbClr val="1E293B"/>
                    </a:solidFill>
                    <a:latin typeface="Calibri"/>
                  </a:rPr>
                  <a:t> ⇒ </a:t>
                </a:r>
                <a:r>
                  <a:rPr lang="vi-VN"/>
                  <a:t>x=3</a:t>
                </a:r>
                <a:r>
                  <a:rPr sz="2400">
                    <a:solidFill>
                      <a:srgbClr val="1E293B"/>
                    </a:solidFill>
                    <a:latin typeface="Calibri"/>
                  </a:rPr>
                  <a:t> là TCĐ</a:t>
                </a:r>
              </a:p>
              <a:p>
                <a:pPr algn="l" marL="365760" indent="-365760">
                  <a:spcAft>
                    <a:spcPts val="800"/>
                  </a:spcAft>
                  <a:buClr>
                    <a:srgbClr val="1E40AF"/>
                  </a:buClr>
                  <a:buFont typeface="Arial"/>
                  <a:buChar char="•"/>
                </a:pPr>
                <a:r>
                  <a:rPr lang="vi-VN"/>
                  <a:t>\lim_{x\to 1^-}f(x)=-1</a:t>
                </a:r>
                <a:r>
                  <a:rPr sz="2400">
                    <a:solidFill>
                      <a:srgbClr val="1E293B"/>
                    </a:solidFill>
                    <a:latin typeface="Calibri"/>
                  </a:rPr>
                  <a:t>, </a:t>
                </a:r>
                <a:r>
                  <a:rPr lang="vi-VN"/>
                  <a:t>\lim_{x\to 1^+}f(x)=7</a:t>
                </a:r>
                <a:r>
                  <a:rPr sz="2400">
                    <a:solidFill>
                      <a:srgbClr val="1E293B"/>
                    </a:solidFill>
                    <a:latin typeface="Calibri"/>
                  </a:rPr>
                  <a:t> đều hữu hạn ⇒ </a:t>
                </a:r>
                <a:r>
                  <a:rPr lang="vi-VN"/>
                  <a:t>x=1</a:t>
                </a:r>
                <a:r>
                  <a:rPr sz="2400">
                    <a:solidFill>
                      <a:srgbClr val="1E293B"/>
                    </a:solidFill>
                    <a:latin typeface="Calibri"/>
                  </a:rPr>
                  <a:t> không là TCĐ</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Khẳng định sai: 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1.38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25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7589520" cy="2095754"/>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1.38.</a:t>
                </a:r>
                <a:r>
                  <a:rPr sz="2000">
                    <a:solidFill>
                      <a:srgbClr val="1E293B"/>
                    </a:solidFill>
                    <a:latin typeface="Calibri"/>
                  </a:rPr>
                  <a:t> Đồ thị trong Hình 1.37 là đồ thị của hàm số:</a:t>
                </a:r>
              </a:p>
              <a:p>
                <a:pPr algn="l">
                  <a:spcAft>
                    <a:spcPts val="800"/>
                  </a:spcAft>
                </a:pPr>
                <a:r>
                  <a:rPr sz="2000">
                    <a:solidFill>
                      <a:srgbClr val="1E293B"/>
                    </a:solidFill>
                    <a:latin typeface="Calibri"/>
                  </a:rPr>
                  <a:t>A. </a:t>
                </a:r>
                <a14:m>
                  <m:oMath xmlns:m="http://schemas.openxmlformats.org/officeDocument/2006/math">
                    <m:r>
                      <a:rPr lang="vi-VN" sz="2000" b="0">
                        <a:solidFill>
                          <a:srgbClr val="1E293B"/>
                        </a:solidFill>
                        <a:latin typeface="Cambria Math" panose="02040503050406030204" pitchFamily="18" charset="0"/>
                      </a:rPr>
                      <m:t>y=</m:t>
                    </m:r>
                    <m:f>
                      <m:fPr>
                        <m:type m:val="bar"/>
                      </m:fPr>
                      <m:num>
                        <m:r>
                          <a:rPr lang="vi-VN" sz="2000" b="0">
                            <a:solidFill>
                              <a:srgbClr val="1E293B"/>
                            </a:solidFill>
                            <a:latin typeface="Cambria Math" panose="02040503050406030204" pitchFamily="18" charset="0"/>
                          </a:rPr>
                          <m:t>x+2</m:t>
                        </m:r>
                      </m:num>
                      <m:den>
                        <m:r>
                          <a:rPr lang="vi-VN" sz="2000" b="0">
                            <a:solidFill>
                              <a:srgbClr val="1E293B"/>
                            </a:solidFill>
                            <a:latin typeface="Cambria Math" panose="02040503050406030204" pitchFamily="18" charset="0"/>
                          </a:rPr>
                          <m:t>x+1</m:t>
                        </m:r>
                      </m:den>
                    </m:f>
                  </m:oMath>
                </a14:m>
                <a:r>
                  <a:rPr sz="2000">
                    <a:solidFill>
                      <a:srgbClr val="1E293B"/>
                    </a:solidFill>
                    <a:latin typeface="Calibri"/>
                  </a:rPr>
                  <a:t>.  B. </a:t>
                </a:r>
                <a14:m>
                  <m:oMath xmlns:m="http://schemas.openxmlformats.org/officeDocument/2006/math">
                    <m:r>
                      <a:rPr lang="vi-VN" sz="2000" b="0">
                        <a:solidFill>
                          <a:srgbClr val="1E293B"/>
                        </a:solidFill>
                        <a:latin typeface="Cambria Math" panose="02040503050406030204" pitchFamily="18" charset="0"/>
                      </a:rPr>
                      <m:t>y=</m:t>
                    </m:r>
                    <m:f>
                      <m:fPr>
                        <m:type m:val="bar"/>
                      </m:fPr>
                      <m:num>
                        <m:r>
                          <a:rPr lang="vi-VN" sz="2000" b="0">
                            <a:solidFill>
                              <a:srgbClr val="1E293B"/>
                            </a:solidFill>
                            <a:latin typeface="Cambria Math" panose="02040503050406030204" pitchFamily="18" charset="0"/>
                          </a:rPr>
                          <m:t>2x+1</m:t>
                        </m:r>
                      </m:num>
                      <m:den>
                        <m:r>
                          <a:rPr lang="vi-VN" sz="2000" b="0">
                            <a:solidFill>
                              <a:srgbClr val="1E293B"/>
                            </a:solidFill>
                            <a:latin typeface="Cambria Math" panose="02040503050406030204" pitchFamily="18" charset="0"/>
                          </a:rPr>
                          <m:t>x+1</m:t>
                        </m:r>
                      </m:den>
                    </m:f>
                  </m:oMath>
                </a14:m>
                <a:r>
                  <a:rPr sz="2000">
                    <a:solidFill>
                      <a:srgbClr val="1E293B"/>
                    </a:solidFill>
                    <a:latin typeface="Calibri"/>
                  </a:rPr>
                  <a:t>.  C. </a:t>
                </a:r>
                <a14:m>
                  <m:oMath xmlns:m="http://schemas.openxmlformats.org/officeDocument/2006/math">
                    <m:r>
                      <a:rPr lang="vi-VN" sz="2000" b="0">
                        <a:solidFill>
                          <a:srgbClr val="1E293B"/>
                        </a:solidFill>
                        <a:latin typeface="Cambria Math" panose="02040503050406030204" pitchFamily="18" charset="0"/>
                      </a:rPr>
                      <m:t>y=</m:t>
                    </m:r>
                    <m:f>
                      <m:fPr>
                        <m:type m:val="bar"/>
                      </m:fPr>
                      <m:num>
                        <m:r>
                          <a:rPr lang="vi-VN" sz="2000" b="0">
                            <a:solidFill>
                              <a:srgbClr val="1E293B"/>
                            </a:solidFill>
                            <a:latin typeface="Cambria Math" panose="02040503050406030204" pitchFamily="18" charset="0"/>
                          </a:rPr>
                          <m:t>x−1</m:t>
                        </m:r>
                      </m:num>
                      <m:den>
                        <m:r>
                          <a:rPr lang="vi-VN" sz="2000" b="0">
                            <a:solidFill>
                              <a:srgbClr val="1E293B"/>
                            </a:solidFill>
                            <a:latin typeface="Cambria Math" panose="02040503050406030204" pitchFamily="18" charset="0"/>
                          </a:rPr>
                          <m:t>x+1</m:t>
                        </m:r>
                      </m:den>
                    </m:f>
                  </m:oMath>
                </a14:m>
                <a:r>
                  <a:rPr sz="2000">
                    <a:solidFill>
                      <a:srgbClr val="1E293B"/>
                    </a:solidFill>
                    <a:latin typeface="Calibri"/>
                  </a:rPr>
                  <a:t>.  D. </a:t>
                </a:r>
                <a14:m>
                  <m:oMath xmlns:m="http://schemas.openxmlformats.org/officeDocument/2006/math">
                    <m:r>
                      <a:rPr lang="vi-VN" sz="2000" b="0">
                        <a:solidFill>
                          <a:srgbClr val="1E293B"/>
                        </a:solidFill>
                        <a:latin typeface="Cambria Math" panose="02040503050406030204" pitchFamily="18" charset="0"/>
                      </a:rPr>
                      <m:t>y=</m:t>
                    </m:r>
                    <m:f>
                      <m:fPr>
                        <m:type m:val="bar"/>
                      </m:fPr>
                      <m:num>
                        <m:r>
                          <a:rPr lang="vi-VN" sz="2000" b="0">
                            <a:solidFill>
                              <a:srgbClr val="1E293B"/>
                            </a:solidFill>
                            <a:latin typeface="Cambria Math" panose="02040503050406030204" pitchFamily="18" charset="0"/>
                          </a:rPr>
                          <m:t>x+3</m:t>
                        </m:r>
                      </m:num>
                      <m:den>
                        <m:r>
                          <a:rPr lang="vi-VN" sz="2000" b="0">
                            <a:solidFill>
                              <a:srgbClr val="1E293B"/>
                            </a:solidFill>
                            <a:latin typeface="Cambria Math" panose="02040503050406030204" pitchFamily="18" charset="0"/>
                          </a:rPr>
                          <m:t>1−x</m:t>
                        </m:r>
                      </m:den>
                    </m:f>
                  </m:oMath>
                </a14:m>
                <a:r>
                  <a:rPr sz="2000">
                    <a:solidFill>
                      <a:srgbClr val="1E293B"/>
                    </a:solidFill>
                    <a:latin typeface="Calibri"/>
                  </a:rPr>
                  <a:t>.</a:t>
                </a:r>
              </a:p>
              <a:p>
                <a:pPr algn="l">
                  <a:spcAft>
                    <a:spcPts val="800"/>
                  </a:spcAft>
                </a:pPr>
                <a:r>
                  <a:rPr sz="2000" b="1">
                    <a:solidFill>
                      <a:srgbClr val="1E40AF"/>
                    </a:solidFill>
                    <a:latin typeface="Calibri"/>
                  </a:rPr>
                  <a:t>Gợi mở: Xác định hai tiệm cận và giao điểm với trục tung</a:t>
                </a:r>
              </a:p>
            </p:txBody>
          </p:sp>
        </mc:Choice>
        <mc:Fallback>
          <p:sp>
            <p:nvSpPr>
              <p:cNvPr id="7" name="TextBox 6"/>
              <p:cNvSpPr txBox="1"/>
              <p:nvPr/>
            </p:nvSpPr>
            <p:spPr>
              <a:xfrm>
                <a:off x="731520" y="1463040"/>
                <a:ext cx="7589520" cy="2095754"/>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1.38.</a:t>
                </a:r>
                <a:r>
                  <a:rPr sz="2000">
                    <a:solidFill>
                      <a:srgbClr val="1E293B"/>
                    </a:solidFill>
                    <a:latin typeface="Calibri"/>
                  </a:rPr>
                  <a:t> Đồ thị trong Hình 1.37 là đồ thị của hàm số:</a:t>
                </a:r>
              </a:p>
              <a:p>
                <a:pPr algn="l">
                  <a:spcAft>
                    <a:spcPts val="800"/>
                  </a:spcAft>
                </a:pPr>
                <a:r>
                  <a:rPr sz="2000">
                    <a:solidFill>
                      <a:srgbClr val="1E293B"/>
                    </a:solidFill>
                    <a:latin typeface="Calibri"/>
                  </a:rPr>
                  <a:t>A. </a:t>
                </a:r>
                <a:r>
                  <a:rPr lang="vi-VN"/>
                  <a:t>y=\frac{x+2}{x+1}</a:t>
                </a:r>
                <a:r>
                  <a:rPr sz="2000">
                    <a:solidFill>
                      <a:srgbClr val="1E293B"/>
                    </a:solidFill>
                    <a:latin typeface="Calibri"/>
                  </a:rPr>
                  <a:t>.  B. </a:t>
                </a:r>
                <a:r>
                  <a:rPr lang="vi-VN"/>
                  <a:t>y=\frac{2x+1}{x+1}</a:t>
                </a:r>
                <a:r>
                  <a:rPr sz="2000">
                    <a:solidFill>
                      <a:srgbClr val="1E293B"/>
                    </a:solidFill>
                    <a:latin typeface="Calibri"/>
                  </a:rPr>
                  <a:t>.  C. </a:t>
                </a:r>
                <a:r>
                  <a:rPr lang="vi-VN"/>
                  <a:t>y=\frac{x-1}{x+1}</a:t>
                </a:r>
                <a:r>
                  <a:rPr sz="2000">
                    <a:solidFill>
                      <a:srgbClr val="1E293B"/>
                    </a:solidFill>
                    <a:latin typeface="Calibri"/>
                  </a:rPr>
                  <a:t>.  D. </a:t>
                </a:r>
                <a:r>
                  <a:rPr lang="vi-VN"/>
                  <a:t>y=\frac{x+3}{1-x}</a:t>
                </a:r>
                <a:r>
                  <a:rPr sz="2000">
                    <a:solidFill>
                      <a:srgbClr val="1E293B"/>
                    </a:solidFill>
                    <a:latin typeface="Calibri"/>
                  </a:rPr>
                  <a:t>.</a:t>
                </a:r>
              </a:p>
              <a:p>
                <a:pPr algn="l">
                  <a:spcAft>
                    <a:spcPts val="800"/>
                  </a:spcAft>
                </a:pPr>
                <a:r>
                  <a:rPr sz="2000" b="1">
                    <a:solidFill>
                      <a:srgbClr val="1E40AF"/>
                    </a:solidFill>
                    <a:latin typeface="Calibri"/>
                  </a:rPr>
                  <a:t>Gợi mở: Xác định hai tiệm cận và giao điểm với trục tung</a:t>
                </a:r>
              </a:p>
            </p:txBody>
          </p:sp>
        </mc:Fallback>
      </mc:AlternateContent>
      <p:pic>
        <p:nvPicPr>
          <p:cNvPr id="8" name="Picture 7" descr="img03.png"/>
          <p:cNvPicPr>
            <a:picLocks noChangeAspect="1"/>
          </p:cNvPicPr>
          <p:nvPr/>
        </p:nvPicPr>
        <p:blipFill>
          <a:blip r:embed="rId2"/>
          <a:stretch>
            <a:fillRect/>
          </a:stretch>
        </p:blipFill>
        <p:spPr>
          <a:xfrm>
            <a:off x="8503920" y="1679083"/>
            <a:ext cx="3291840" cy="4277073"/>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1.38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26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Đồ thị có TCĐ </a:t>
                </a:r>
                <a14:m>
                  <m:oMath xmlns:m="http://schemas.openxmlformats.org/officeDocument/2006/math">
                    <m:r>
                      <a:rPr lang="vi-VN" sz="2400" b="0">
                        <a:solidFill>
                          <a:srgbClr val="1E293B"/>
                        </a:solidFill>
                        <a:latin typeface="Cambria Math" panose="02040503050406030204" pitchFamily="18" charset="0"/>
                      </a:rPr>
                      <m:t>x=−1</m:t>
                    </m:r>
                  </m:oMath>
                </a14:m>
                <a:r>
                  <a:rPr sz="2400">
                    <a:solidFill>
                      <a:srgbClr val="1E293B"/>
                    </a:solidFill>
                    <a:latin typeface="Calibri"/>
                  </a:rPr>
                  <a:t>, TCN </a:t>
                </a:r>
                <a14:m>
                  <m:oMath xmlns:m="http://schemas.openxmlformats.org/officeDocument/2006/math">
                    <m:r>
                      <a:rPr lang="vi-VN" sz="2400" b="0">
                        <a:solidFill>
                          <a:srgbClr val="1E293B"/>
                        </a:solidFill>
                        <a:latin typeface="Cambria Math" panose="02040503050406030204" pitchFamily="18" charset="0"/>
                      </a:rPr>
                      <m:t>y=2</m:t>
                    </m:r>
                  </m:oMath>
                </a14:m>
              </a:p>
              <a:p>
                <a:pPr algn="l" marL="365760" indent="-365760">
                  <a:spcAft>
                    <a:spcPts val="800"/>
                  </a:spcAft>
                  <a:buClr>
                    <a:srgbClr val="1E40AF"/>
                  </a:buClr>
                  <a:buFont typeface="Arial"/>
                  <a:buChar char="•"/>
                </a:pPr>
                <a:r>
                  <a:rPr sz="2400">
                    <a:solidFill>
                      <a:srgbClr val="1E293B"/>
                    </a:solidFill>
                    <a:latin typeface="Calibri"/>
                  </a:rPr>
                  <a:t>Loại A, C (TCN </a:t>
                </a:r>
                <a14:m>
                  <m:oMath xmlns:m="http://schemas.openxmlformats.org/officeDocument/2006/math">
                    <m:r>
                      <a:rPr lang="vi-VN" sz="2400" b="0">
                        <a:solidFill>
                          <a:srgbClr val="1E293B"/>
                        </a:solidFill>
                        <a:latin typeface="Cambria Math" panose="02040503050406030204" pitchFamily="18" charset="0"/>
                      </a:rPr>
                      <m:t>y=1</m:t>
                    </m:r>
                  </m:oMath>
                </a14:m>
                <a:r>
                  <a:rPr sz="2400">
                    <a:solidFill>
                      <a:srgbClr val="1E293B"/>
                    </a:solidFill>
                    <a:latin typeface="Calibri"/>
                  </a:rPr>
                  <a:t>) và D (TCĐ </a:t>
                </a:r>
                <a14:m>
                  <m:oMath xmlns:m="http://schemas.openxmlformats.org/officeDocument/2006/math">
                    <m:r>
                      <a:rPr lang="vi-VN" sz="2400" b="0">
                        <a:solidFill>
                          <a:srgbClr val="1E293B"/>
                        </a:solidFill>
                        <a:latin typeface="Cambria Math" panose="02040503050406030204" pitchFamily="18" charset="0"/>
                      </a:rPr>
                      <m:t>x=1</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2x+1</m:t>
                        </m:r>
                      </m:num>
                      <m:den>
                        <m:r>
                          <a:rPr lang="vi-VN" sz="2400" b="0">
                            <a:solidFill>
                              <a:srgbClr val="1E293B"/>
                            </a:solidFill>
                            <a:latin typeface="Cambria Math" panose="02040503050406030204" pitchFamily="18" charset="0"/>
                          </a:rPr>
                          <m:t>x+1</m:t>
                        </m:r>
                      </m:den>
                    </m:f>
                  </m:oMath>
                </a14:m>
                <a:r>
                  <a:rPr sz="2400">
                    <a:solidFill>
                      <a:srgbClr val="1E293B"/>
                    </a:solidFill>
                    <a:latin typeface="Calibri"/>
                  </a:rPr>
                  <a:t> có </a:t>
                </a:r>
                <a14:m>
                  <m:oMath xmlns:m="http://schemas.openxmlformats.org/officeDocument/2006/math">
                    <m:r>
                      <a:rPr lang="vi-VN" sz="2400" b="0">
                        <a:solidFill>
                          <a:srgbClr val="1E293B"/>
                        </a:solidFill>
                        <a:latin typeface="Cambria Math" panose="02040503050406030204" pitchFamily="18" charset="0"/>
                      </a:rPr>
                      <m:t>y(0)=1</m:t>
                    </m:r>
                  </m:oMath>
                </a14:m>
                <a:r>
                  <a:rPr sz="2400">
                    <a:solidFill>
                      <a:srgbClr val="1E293B"/>
                    </a:solidFill>
                    <a:latin typeface="Calibri"/>
                  </a:rPr>
                  <a:t>, khớp hình</a:t>
                </a:r>
              </a:p>
            </p:txBody>
          </p:sp>
        </mc:Choice>
        <mc:Fallback>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Đồ thị có TCĐ </a:t>
                </a:r>
                <a:r>
                  <a:rPr lang="vi-VN"/>
                  <a:t>x=-1</a:t>
                </a:r>
                <a:r>
                  <a:rPr sz="2400">
                    <a:solidFill>
                      <a:srgbClr val="1E293B"/>
                    </a:solidFill>
                    <a:latin typeface="Calibri"/>
                  </a:rPr>
                  <a:t>, TCN </a:t>
                </a:r>
                <a:r>
                  <a:rPr lang="vi-VN"/>
                  <a:t>y=2</a:t>
                </a:r>
              </a:p>
              <a:p>
                <a:pPr algn="l" marL="365760" indent="-365760">
                  <a:spcAft>
                    <a:spcPts val="800"/>
                  </a:spcAft>
                  <a:buClr>
                    <a:srgbClr val="1E40AF"/>
                  </a:buClr>
                  <a:buFont typeface="Arial"/>
                  <a:buChar char="•"/>
                </a:pPr>
                <a:r>
                  <a:rPr sz="2400">
                    <a:solidFill>
                      <a:srgbClr val="1E293B"/>
                    </a:solidFill>
                    <a:latin typeface="Calibri"/>
                  </a:rPr>
                  <a:t>Loại A, C (TCN </a:t>
                </a:r>
                <a:r>
                  <a:rPr lang="vi-VN"/>
                  <a:t>y=1</a:t>
                </a:r>
                <a:r>
                  <a:rPr sz="2400">
                    <a:solidFill>
                      <a:srgbClr val="1E293B"/>
                    </a:solidFill>
                    <a:latin typeface="Calibri"/>
                  </a:rPr>
                  <a:t>) và D (TCĐ </a:t>
                </a:r>
                <a:r>
                  <a:rPr lang="vi-VN"/>
                  <a:t>x=1</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a:t>
                </a:r>
                <a:r>
                  <a:rPr lang="vi-VN"/>
                  <a:t>y=\frac{2x+1}{x+1}</a:t>
                </a:r>
                <a:r>
                  <a:rPr sz="2400">
                    <a:solidFill>
                      <a:srgbClr val="1E293B"/>
                    </a:solidFill>
                    <a:latin typeface="Calibri"/>
                  </a:rPr>
                  <a:t> có </a:t>
                </a:r>
                <a:r>
                  <a:rPr lang="vi-VN"/>
                  <a:t>y(0)=1</a:t>
                </a:r>
                <a:r>
                  <a:rPr sz="2400">
                    <a:solidFill>
                      <a:srgbClr val="1E293B"/>
                    </a:solidFill>
                    <a:latin typeface="Calibri"/>
                  </a:rPr>
                  <a:t>, khớp hình</a:t>
                </a:r>
              </a:p>
            </p:txBody>
          </p:sp>
        </mc:Fallback>
      </mc:AlternateContent>
      <p:sp>
        <p:nvSpPr>
          <p:cNvPr id="8" name="Rounded Rectangle 7"/>
          <p:cNvSpPr/>
          <p:nvPr/>
        </p:nvSpPr>
        <p:spPr>
          <a:xfrm>
            <a:off x="731520" y="329641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9641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Chọn B</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1.39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27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6400800" cy="2272411"/>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1.39.</a:t>
                </a:r>
                <a:r>
                  <a:rPr sz="2200">
                    <a:solidFill>
                      <a:srgbClr val="1E293B"/>
                    </a:solidFill>
                    <a:latin typeface="Calibri"/>
                  </a:rPr>
                  <a:t> Đồ thị trong Hình 1.38 là đồ thị của hàm số:</a:t>
                </a:r>
              </a:p>
              <a:p>
                <a:pPr algn="l">
                  <a:spcAft>
                    <a:spcPts val="800"/>
                  </a:spcAft>
                </a:pPr>
                <a:r>
                  <a:rPr sz="2200">
                    <a:solidFill>
                      <a:srgbClr val="1E293B"/>
                    </a:solidFill>
                    <a:latin typeface="Calibri"/>
                  </a:rPr>
                  <a:t>A. </a:t>
                </a:r>
                <a14:m>
                  <m:oMath xmlns:m="http://schemas.openxmlformats.org/officeDocument/2006/math">
                    <m:r>
                      <a:rPr lang="vi-VN" sz="2200" b="0">
                        <a:solidFill>
                          <a:srgbClr val="1E293B"/>
                        </a:solidFill>
                        <a:latin typeface="Cambria Math" panose="02040503050406030204" pitchFamily="18" charset="0"/>
                      </a:rPr>
                      <m:t>y=x−</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x+1</m:t>
                        </m:r>
                      </m:den>
                    </m:f>
                  </m:oMath>
                </a14:m>
                <a:r>
                  <a:rPr sz="2200">
                    <a:solidFill>
                      <a:srgbClr val="1E293B"/>
                    </a:solidFill>
                    <a:latin typeface="Calibri"/>
                  </a:rPr>
                  <a:t>.  B. </a:t>
                </a:r>
                <a14:m>
                  <m:oMath xmlns:m="http://schemas.openxmlformats.org/officeDocument/2006/math">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2x+1</m:t>
                        </m:r>
                      </m:num>
                      <m:den>
                        <m:r>
                          <a:rPr lang="vi-VN" sz="2200" b="0">
                            <a:solidFill>
                              <a:srgbClr val="1E293B"/>
                            </a:solidFill>
                            <a:latin typeface="Cambria Math" panose="02040503050406030204" pitchFamily="18" charset="0"/>
                          </a:rPr>
                          <m:t>x+1</m:t>
                        </m:r>
                      </m:den>
                    </m:f>
                  </m:oMath>
                </a14:m>
                <a:r>
                  <a:rPr sz="2200">
                    <a:solidFill>
                      <a:srgbClr val="1E293B"/>
                    </a:solidFill>
                    <a:latin typeface="Calibri"/>
                  </a:rPr>
                  <a:t>.</a:t>
                </a:r>
              </a:p>
              <a:p>
                <a:pPr algn="l">
                  <a:spcAft>
                    <a:spcPts val="800"/>
                  </a:spcAft>
                </a:pPr>
                <a:r>
                  <a:rPr sz="2200">
                    <a:solidFill>
                      <a:srgbClr val="1E293B"/>
                    </a:solidFill>
                    <a:latin typeface="Calibri"/>
                  </a:rPr>
                  <a:t>C. </a:t>
                </a:r>
                <a14:m>
                  <m:oMath xmlns:m="http://schemas.openxmlformats.org/officeDocument/2006/math">
                    <m:r>
                      <a:rPr lang="vi-VN" sz="2200" b="0">
                        <a:solidFill>
                          <a:srgbClr val="1E293B"/>
                        </a:solidFill>
                        <a:latin typeface="Cambria Math" panose="02040503050406030204" pitchFamily="18" charset="0"/>
                      </a:rPr>
                      <m:t>y=</m:t>
                    </m:r>
                    <m:f>
                      <m:fPr>
                        <m:type m:val="bar"/>
                      </m:fPr>
                      <m:num>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−x+1</m:t>
                        </m:r>
                      </m:num>
                      <m:den>
                        <m:r>
                          <a:rPr lang="vi-VN" sz="2200" b="0">
                            <a:solidFill>
                              <a:srgbClr val="1E293B"/>
                            </a:solidFill>
                            <a:latin typeface="Cambria Math" panose="02040503050406030204" pitchFamily="18" charset="0"/>
                          </a:rPr>
                          <m:t>x+1</m:t>
                        </m:r>
                      </m:den>
                    </m:f>
                  </m:oMath>
                </a14:m>
                <a:r>
                  <a:rPr sz="2200">
                    <a:solidFill>
                      <a:srgbClr val="1E293B"/>
                    </a:solidFill>
                    <a:latin typeface="Calibri"/>
                  </a:rPr>
                  <a:t>.</a:t>
                </a:r>
                <a:r>
                  <a:rPr sz="2200">
                    <a:solidFill>
                      <a:srgbClr val="1E293B"/>
                    </a:solidFill>
                    <a:latin typeface="Calibri"/>
                  </a:rPr>
                  <a:t> </a:t>
                </a:r>
              </a:p>
            </p:txBody>
          </p:sp>
        </mc:Choice>
        <mc:Fallback>
          <p:sp>
            <p:nvSpPr>
              <p:cNvPr id="7" name="TextBox 6"/>
              <p:cNvSpPr txBox="1"/>
              <p:nvPr/>
            </p:nvSpPr>
            <p:spPr>
              <a:xfrm>
                <a:off x="731520" y="1463040"/>
                <a:ext cx="6400800" cy="2272411"/>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1.39.</a:t>
                </a:r>
                <a:r>
                  <a:rPr sz="2200">
                    <a:solidFill>
                      <a:srgbClr val="1E293B"/>
                    </a:solidFill>
                    <a:latin typeface="Calibri"/>
                  </a:rPr>
                  <a:t> Đồ thị trong Hình 1.38 là đồ thị của hàm số:</a:t>
                </a:r>
              </a:p>
              <a:p>
                <a:pPr algn="l">
                  <a:spcAft>
                    <a:spcPts val="800"/>
                  </a:spcAft>
                </a:pPr>
                <a:r>
                  <a:rPr sz="2200">
                    <a:solidFill>
                      <a:srgbClr val="1E293B"/>
                    </a:solidFill>
                    <a:latin typeface="Calibri"/>
                  </a:rPr>
                  <a:t>A. </a:t>
                </a:r>
                <a:r>
                  <a:rPr lang="vi-VN"/>
                  <a:t>y=x-\frac{1}{x+1}</a:t>
                </a:r>
                <a:r>
                  <a:rPr sz="2200">
                    <a:solidFill>
                      <a:srgbClr val="1E293B"/>
                    </a:solidFill>
                    <a:latin typeface="Calibri"/>
                  </a:rPr>
                  <a:t>.  B. </a:t>
                </a:r>
                <a:r>
                  <a:rPr lang="vi-VN"/>
                  <a:t>y=\frac{2x+1}{x+1}</a:t>
                </a:r>
                <a:r>
                  <a:rPr sz="2200">
                    <a:solidFill>
                      <a:srgbClr val="1E293B"/>
                    </a:solidFill>
                    <a:latin typeface="Calibri"/>
                  </a:rPr>
                  <a:t>.</a:t>
                </a:r>
              </a:p>
              <a:p>
                <a:pPr algn="l">
                  <a:spcAft>
                    <a:spcPts val="800"/>
                  </a:spcAft>
                </a:pPr>
                <a:r>
                  <a:rPr sz="2200">
                    <a:solidFill>
                      <a:srgbClr val="1E293B"/>
                    </a:solidFill>
                    <a:latin typeface="Calibri"/>
                  </a:rPr>
                  <a:t>C. </a:t>
                </a:r>
                <a:r>
                  <a:rPr lang="vi-VN"/>
                  <a:t>y=\frac{x^2-x+1}{x+1}</a:t>
                </a:r>
                <a:r>
                  <a:rPr sz="2200">
                    <a:solidFill>
                      <a:srgbClr val="1E293B"/>
                    </a:solidFill>
                    <a:latin typeface="Calibri"/>
                  </a:rPr>
                  <a:t>.</a:t>
                </a:r>
                <a:r>
                  <a:rPr sz="2200">
                    <a:solidFill>
                      <a:srgbClr val="1E293B"/>
                    </a:solidFill>
                    <a:latin typeface="Calibri"/>
                  </a:rPr>
                  <a:t> </a:t>
                </a:r>
              </a:p>
            </p:txBody>
          </p:sp>
        </mc:Fallback>
      </mc:AlternateContent>
      <p:pic>
        <p:nvPicPr>
          <p:cNvPr id="8" name="Picture 7" descr="img04.png"/>
          <p:cNvPicPr>
            <a:picLocks noChangeAspect="1"/>
          </p:cNvPicPr>
          <p:nvPr/>
        </p:nvPicPr>
        <p:blipFill>
          <a:blip r:embed="rId2"/>
          <a:stretch>
            <a:fillRect/>
          </a:stretch>
        </p:blipFill>
        <p:spPr>
          <a:xfrm>
            <a:off x="7722192" y="1463040"/>
            <a:ext cx="3758016" cy="470916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1.39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28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6400800" cy="1472565"/>
              </a:xfrm>
              <a:prstGeom prst="rect">
                <a:avLst/>
              </a:prstGeom>
              <a:noFill/>
            </p:spPr>
            <p:txBody>
              <a:bodyPr wrap="square" anchor="t" lIns="45720" rIns="45720">
                <a:spAutoFit/>
              </a:bodyPr>
              <a:lstStyle/>
              <a:p>
                <a:pPr algn="l">
                  <a:spcAft>
                    <a:spcPts val="800"/>
                  </a:spcAft>
                </a:pPr>
                <a:r>
                  <a:rPr sz="2200">
                    <a:solidFill>
                      <a:srgbClr val="1E293B"/>
                    </a:solidFill>
                    <a:latin typeface="Calibri"/>
                  </a:rPr>
                  <a:t>D. </a:t>
                </a:r>
                <a14:m>
                  <m:oMath xmlns:m="http://schemas.openxmlformats.org/officeDocument/2006/math">
                    <m:r>
                      <a:rPr lang="vi-VN" sz="2200" b="0">
                        <a:solidFill>
                          <a:srgbClr val="1E293B"/>
                        </a:solidFill>
                        <a:latin typeface="Cambria Math" panose="02040503050406030204" pitchFamily="18" charset="0"/>
                      </a:rPr>
                      <m:t>y=</m:t>
                    </m:r>
                    <m:f>
                      <m:fPr>
                        <m:type m:val="bar"/>
                      </m:fPr>
                      <m:num>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+x+1</m:t>
                        </m:r>
                      </m:num>
                      <m:den>
                        <m:r>
                          <a:rPr lang="vi-VN" sz="2200" b="0">
                            <a:solidFill>
                              <a:srgbClr val="1E293B"/>
                            </a:solidFill>
                            <a:latin typeface="Cambria Math" panose="02040503050406030204" pitchFamily="18" charset="0"/>
                          </a:rPr>
                          <m:t>x+1</m:t>
                        </m:r>
                      </m:den>
                    </m:f>
                  </m:oMath>
                </a14:m>
                <a:r>
                  <a:rPr sz="2200">
                    <a:solidFill>
                      <a:srgbClr val="1E293B"/>
                    </a:solidFill>
                    <a:latin typeface="Calibri"/>
                  </a:rPr>
                  <a:t>.</a:t>
                </a:r>
                <a:r>
                  <a:rPr sz="2200">
                    <a:solidFill>
                      <a:srgbClr val="1E293B"/>
                    </a:solidFill>
                    <a:latin typeface="Calibri"/>
                  </a:rPr>
                  <a:t> </a:t>
                </a:r>
              </a:p>
              <a:p>
                <a:pPr algn="l">
                  <a:spcAft>
                    <a:spcPts val="800"/>
                  </a:spcAft>
                </a:pPr>
                <a:r>
                  <a:rPr sz="2200" b="1">
                    <a:solidFill>
                      <a:srgbClr val="1E40AF"/>
                    </a:solidFill>
                    <a:latin typeface="Calibri"/>
                  </a:rPr>
                  <a:t>Gợi mở: Đồ thị có tiệm cận xiên </a:t>
                </a:r>
                <a14:m>
                  <m:oMath xmlns:m="http://schemas.openxmlformats.org/officeDocument/2006/math">
                    <m:r>
                      <a:rPr lang="vi-VN" sz="2200" b="1">
                        <a:solidFill>
                          <a:srgbClr val="1E40AF"/>
                        </a:solidFill>
                        <a:latin typeface="Cambria Math" panose="02040503050406030204" pitchFamily="18" charset="0"/>
                      </a:rPr>
                      <m:t>y=x</m:t>
                    </m:r>
                  </m:oMath>
                </a14:m>
                <a:r>
                  <a:rPr sz="2200" b="1">
                    <a:solidFill>
                      <a:srgbClr val="1E40AF"/>
                    </a:solidFill>
                    <a:latin typeface="Calibri"/>
                  </a:rPr>
                  <a:t>; kiểm tra các điểm </a:t>
                </a:r>
                <a14:m>
                  <m:oMath xmlns:m="http://schemas.openxmlformats.org/officeDocument/2006/math">
                    <m:d>
                      <m:dPr>
                        <m:sepChr m:val=""/>
                      </m:dPr>
                      <m:e>
                        <m:r>
                          <a:rPr lang="vi-VN" sz="2200" b="1">
                            <a:solidFill>
                              <a:srgbClr val="1E40AF"/>
                            </a:solidFill>
                            <a:latin typeface="Cambria Math" panose="02040503050406030204" pitchFamily="18" charset="0"/>
                          </a:rPr>
                          <m:t>0</m:t>
                        </m:r>
                        <m:r>
                          <a:rPr lang="vi-VN" sz="2200" b="1">
                            <a:solidFill>
                              <a:srgbClr val="1E40AF"/>
                            </a:solidFill>
                            <a:latin typeface="Cambria Math" panose="02040503050406030204" pitchFamily="18" charset="0"/>
                          </a:rPr>
                          <m:t>;</m:t>
                        </m:r>
                        <m:r>
                          <a:rPr lang="vi-VN" sz="2200" b="1">
                            <a:solidFill>
                              <a:srgbClr val="1E40AF"/>
                            </a:solidFill>
                            <a:latin typeface="Cambria Math" panose="02040503050406030204" pitchFamily="18" charset="0"/>
                          </a:rPr>
                          <m:t>1</m:t>
                        </m:r>
                      </m:e>
                    </m:d>
                  </m:oMath>
                </a14:m>
                <a:r>
                  <a:rPr sz="2200" b="1">
                    <a:solidFill>
                      <a:srgbClr val="1E40AF"/>
                    </a:solidFill>
                    <a:latin typeface="Calibri"/>
                  </a:rPr>
                  <a:t>, </a:t>
                </a:r>
                <a14:m>
                  <m:oMath xmlns:m="http://schemas.openxmlformats.org/officeDocument/2006/math">
                    <m:d>
                      <m:dPr>
                        <m:sepChr m:val=""/>
                      </m:dPr>
                      <m:e>
                        <m:r>
                          <a:rPr lang="vi-VN" sz="2200" b="1">
                            <a:solidFill>
                              <a:srgbClr val="1E40AF"/>
                            </a:solidFill>
                            <a:latin typeface="Cambria Math" panose="02040503050406030204" pitchFamily="18" charset="0"/>
                          </a:rPr>
                          <m:t>−</m:t>
                        </m:r>
                        <m:r>
                          <a:rPr lang="vi-VN" sz="2200" b="1">
                            <a:solidFill>
                              <a:srgbClr val="1E40AF"/>
                            </a:solidFill>
                            <a:latin typeface="Cambria Math" panose="02040503050406030204" pitchFamily="18" charset="0"/>
                          </a:rPr>
                          <m:t>2</m:t>
                        </m:r>
                        <m:r>
                          <a:rPr lang="vi-VN" sz="2200" b="1">
                            <a:solidFill>
                              <a:srgbClr val="1E40AF"/>
                            </a:solidFill>
                            <a:latin typeface="Cambria Math" panose="02040503050406030204" pitchFamily="18" charset="0"/>
                          </a:rPr>
                          <m:t>;</m:t>
                        </m:r>
                        <m:r>
                          <a:rPr lang="vi-VN" sz="2200" b="1">
                            <a:solidFill>
                              <a:srgbClr val="1E40AF"/>
                            </a:solidFill>
                            <a:latin typeface="Cambria Math" panose="02040503050406030204" pitchFamily="18" charset="0"/>
                          </a:rPr>
                          <m:t>−</m:t>
                        </m:r>
                        <m:r>
                          <a:rPr lang="vi-VN" sz="2200" b="1">
                            <a:solidFill>
                              <a:srgbClr val="1E40AF"/>
                            </a:solidFill>
                            <a:latin typeface="Cambria Math" panose="02040503050406030204" pitchFamily="18" charset="0"/>
                          </a:rPr>
                          <m:t>3</m:t>
                        </m:r>
                      </m:e>
                    </m:d>
                  </m:oMath>
                </a14:m>
              </a:p>
            </p:txBody>
          </p:sp>
        </mc:Choice>
        <mc:Fallback>
          <p:sp>
            <p:nvSpPr>
              <p:cNvPr id="7" name="TextBox 6"/>
              <p:cNvSpPr txBox="1"/>
              <p:nvPr/>
            </p:nvSpPr>
            <p:spPr>
              <a:xfrm>
                <a:off x="731520" y="1463040"/>
                <a:ext cx="6400800" cy="1472565"/>
              </a:xfrm>
              <a:prstGeom prst="rect">
                <a:avLst/>
              </a:prstGeom>
              <a:noFill/>
            </p:spPr>
            <p:txBody>
              <a:bodyPr wrap="square" anchor="t" lIns="45720" rIns="45720">
                <a:spAutoFit/>
              </a:bodyPr>
              <a:lstStyle/>
              <a:p>
                <a:pPr algn="l">
                  <a:spcAft>
                    <a:spcPts val="800"/>
                  </a:spcAft>
                </a:pPr>
                <a:r>
                  <a:rPr sz="2200">
                    <a:solidFill>
                      <a:srgbClr val="1E293B"/>
                    </a:solidFill>
                    <a:latin typeface="Calibri"/>
                  </a:rPr>
                  <a:t>D. </a:t>
                </a:r>
                <a:r>
                  <a:rPr lang="vi-VN"/>
                  <a:t>y=\frac{x^2+x+1}{x+1}</a:t>
                </a:r>
                <a:r>
                  <a:rPr sz="2200">
                    <a:solidFill>
                      <a:srgbClr val="1E293B"/>
                    </a:solidFill>
                    <a:latin typeface="Calibri"/>
                  </a:rPr>
                  <a:t>.</a:t>
                </a:r>
                <a:r>
                  <a:rPr sz="2200">
                    <a:solidFill>
                      <a:srgbClr val="1E293B"/>
                    </a:solidFill>
                    <a:latin typeface="Calibri"/>
                  </a:rPr>
                  <a:t> </a:t>
                </a:r>
              </a:p>
              <a:p>
                <a:pPr algn="l">
                  <a:spcAft>
                    <a:spcPts val="800"/>
                  </a:spcAft>
                </a:pPr>
                <a:r>
                  <a:rPr sz="2200" b="1">
                    <a:solidFill>
                      <a:srgbClr val="1E40AF"/>
                    </a:solidFill>
                    <a:latin typeface="Calibri"/>
                  </a:rPr>
                  <a:t>Gợi mở: Đồ thị có tiệm cận xiên </a:t>
                </a:r>
                <a:r>
                  <a:rPr lang="vi-VN"/>
                  <a:t>y=x</a:t>
                </a:r>
                <a:r>
                  <a:rPr sz="2200" b="1">
                    <a:solidFill>
                      <a:srgbClr val="1E40AF"/>
                    </a:solidFill>
                    <a:latin typeface="Calibri"/>
                  </a:rPr>
                  <a:t>; kiểm tra các điểm </a:t>
                </a:r>
                <a:r>
                  <a:rPr lang="vi-VN"/>
                  <a:t>(0;1)</a:t>
                </a:r>
                <a:r>
                  <a:rPr sz="2200" b="1">
                    <a:solidFill>
                      <a:srgbClr val="1E40AF"/>
                    </a:solidFill>
                    <a:latin typeface="Calibri"/>
                  </a:rPr>
                  <a:t>, </a:t>
                </a:r>
                <a:r>
                  <a:rPr lang="vi-VN"/>
                  <a:t>(-2;-3)</a:t>
                </a:r>
              </a:p>
            </p:txBody>
          </p:sp>
        </mc:Fallback>
      </mc:AlternateContent>
      <p:pic>
        <p:nvPicPr>
          <p:cNvPr id="8" name="Picture 7" descr="img04.png"/>
          <p:cNvPicPr>
            <a:picLocks noChangeAspect="1"/>
          </p:cNvPicPr>
          <p:nvPr/>
        </p:nvPicPr>
        <p:blipFill>
          <a:blip r:embed="rId2"/>
          <a:stretch>
            <a:fillRect/>
          </a:stretch>
        </p:blipFill>
        <p:spPr>
          <a:xfrm>
            <a:off x="7722192" y="1463040"/>
            <a:ext cx="3758016" cy="470916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1.39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29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TCĐ </a:t>
                </a:r>
                <a14:m>
                  <m:oMath xmlns:m="http://schemas.openxmlformats.org/officeDocument/2006/math">
                    <m:r>
                      <a:rPr lang="vi-VN" sz="2400" b="0">
                        <a:solidFill>
                          <a:srgbClr val="1E293B"/>
                        </a:solidFill>
                        <a:latin typeface="Cambria Math" panose="02040503050406030204" pitchFamily="18" charset="0"/>
                      </a:rPr>
                      <m:t>x=−1</m:t>
                    </m:r>
                  </m:oMath>
                </a14:m>
                <a:r>
                  <a:rPr sz="2400">
                    <a:solidFill>
                      <a:srgbClr val="1E293B"/>
                    </a:solidFill>
                    <a:latin typeface="Calibri"/>
                  </a:rPr>
                  <a:t>, tiệm cận xiên </a:t>
                </a:r>
                <a14:m>
                  <m:oMath xmlns:m="http://schemas.openxmlformats.org/officeDocument/2006/math">
                    <m:r>
                      <a:rPr lang="vi-VN" sz="2400" b="0">
                        <a:solidFill>
                          <a:srgbClr val="1E293B"/>
                        </a:solidFill>
                        <a:latin typeface="Cambria Math" panose="02040503050406030204" pitchFamily="18" charset="0"/>
                      </a:rPr>
                      <m:t>y=x</m:t>
                    </m:r>
                  </m:oMath>
                </a14:m>
                <a:r>
                  <a:rPr sz="2400">
                    <a:solidFill>
                      <a:srgbClr val="1E293B"/>
                    </a:solidFill>
                    <a:latin typeface="Calibri"/>
                  </a:rPr>
                  <a:t> ⇒ loại B</a:t>
                </a:r>
              </a:p>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y(0)=−1</m:t>
                    </m:r>
                  </m:oMath>
                </a14:m>
                <a:r>
                  <a:rPr sz="2400">
                    <a:solidFill>
                      <a:srgbClr val="1E293B"/>
                    </a:solidFill>
                    <a:latin typeface="Calibri"/>
                  </a:rPr>
                  <a:t> – loại; C: </a:t>
                </a:r>
                <a14:m>
                  <m:oMath xmlns:m="http://schemas.openxmlformats.org/officeDocument/2006/math">
                    <m:r>
                      <a:rPr lang="vi-VN" sz="2400" b="0">
                        <a:solidFill>
                          <a:srgbClr val="1E293B"/>
                        </a:solidFill>
                        <a:latin typeface="Cambria Math" panose="02040503050406030204" pitchFamily="18" charset="0"/>
                      </a:rPr>
                      <m:t>y(−2)=−7</m:t>
                    </m:r>
                  </m:oMath>
                </a14:m>
                <a:r>
                  <a:rPr sz="2400">
                    <a:solidFill>
                      <a:srgbClr val="1E293B"/>
                    </a:solidFill>
                    <a:latin typeface="Calibri"/>
                  </a:rPr>
                  <a:t> – loại</a:t>
                </a:r>
              </a:p>
              <a:p>
                <a:pPr algn="l" marL="365760" indent="-365760">
                  <a:spcAft>
                    <a:spcPts val="800"/>
                  </a:spcAft>
                  <a:buClr>
                    <a:srgbClr val="1E40AF"/>
                  </a:buClr>
                  <a:buFont typeface="Arial"/>
                  <a:buChar char="•"/>
                </a:pPr>
                <a:r>
                  <a:rPr sz="2400">
                    <a:solidFill>
                      <a:srgbClr val="1E293B"/>
                    </a:solidFill>
                    <a:latin typeface="Calibri"/>
                  </a:rPr>
                  <a:t>D: </a:t>
                </a:r>
                <a14:m>
                  <m:oMath xmlns:m="http://schemas.openxmlformats.org/officeDocument/2006/math">
                    <m:r>
                      <a:rPr lang="vi-VN" sz="2400" b="0">
                        <a:solidFill>
                          <a:srgbClr val="1E293B"/>
                        </a:solidFill>
                        <a:latin typeface="Cambria Math" panose="02040503050406030204" pitchFamily="18" charset="0"/>
                      </a:rPr>
                      <m:t>y=x+</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x+1</m:t>
                        </m:r>
                      </m:den>
                    </m:f>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y(0)=1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y(−2)=−3</m:t>
                    </m:r>
                  </m:oMath>
                </a14:m>
                <a:r>
                  <a:rPr sz="2400">
                    <a:solidFill>
                      <a:srgbClr val="1E293B"/>
                    </a:solidFill>
                    <a:latin typeface="Calibri"/>
                  </a:rPr>
                  <a:t> – khớp hình</a:t>
                </a:r>
              </a:p>
            </p:txBody>
          </p:sp>
        </mc:Choice>
        <mc:Fallback>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TCĐ </a:t>
                </a:r>
                <a:r>
                  <a:rPr lang="vi-VN"/>
                  <a:t>x=-1</a:t>
                </a:r>
                <a:r>
                  <a:rPr sz="2400">
                    <a:solidFill>
                      <a:srgbClr val="1E293B"/>
                    </a:solidFill>
                    <a:latin typeface="Calibri"/>
                  </a:rPr>
                  <a:t>, tiệm cận xiên </a:t>
                </a:r>
                <a:r>
                  <a:rPr lang="vi-VN"/>
                  <a:t>y=x</a:t>
                </a:r>
                <a:r>
                  <a:rPr sz="2400">
                    <a:solidFill>
                      <a:srgbClr val="1E293B"/>
                    </a:solidFill>
                    <a:latin typeface="Calibri"/>
                  </a:rPr>
                  <a:t> ⇒ loại B</a:t>
                </a:r>
              </a:p>
              <a:p>
                <a:pPr algn="l" marL="365760" indent="-365760">
                  <a:spcAft>
                    <a:spcPts val="800"/>
                  </a:spcAft>
                  <a:buClr>
                    <a:srgbClr val="1E40AF"/>
                  </a:buClr>
                  <a:buFont typeface="Arial"/>
                  <a:buChar char="•"/>
                </a:pPr>
                <a:r>
                  <a:rPr sz="2400">
                    <a:solidFill>
                      <a:srgbClr val="1E293B"/>
                    </a:solidFill>
                    <a:latin typeface="Calibri"/>
                  </a:rPr>
                  <a:t>A: </a:t>
                </a:r>
                <a:r>
                  <a:rPr lang="vi-VN"/>
                  <a:t>y(0)=-1</a:t>
                </a:r>
                <a:r>
                  <a:rPr sz="2400">
                    <a:solidFill>
                      <a:srgbClr val="1E293B"/>
                    </a:solidFill>
                    <a:latin typeface="Calibri"/>
                  </a:rPr>
                  <a:t> – loại; C: </a:t>
                </a:r>
                <a:r>
                  <a:rPr lang="vi-VN"/>
                  <a:t>y(-2)=-7</a:t>
                </a:r>
                <a:r>
                  <a:rPr sz="2400">
                    <a:solidFill>
                      <a:srgbClr val="1E293B"/>
                    </a:solidFill>
                    <a:latin typeface="Calibri"/>
                  </a:rPr>
                  <a:t> – loại</a:t>
                </a:r>
              </a:p>
              <a:p>
                <a:pPr algn="l" marL="365760" indent="-365760">
                  <a:spcAft>
                    <a:spcPts val="800"/>
                  </a:spcAft>
                  <a:buClr>
                    <a:srgbClr val="1E40AF"/>
                  </a:buClr>
                  <a:buFont typeface="Arial"/>
                  <a:buChar char="•"/>
                </a:pPr>
                <a:r>
                  <a:rPr sz="2400">
                    <a:solidFill>
                      <a:srgbClr val="1E293B"/>
                    </a:solidFill>
                    <a:latin typeface="Calibri"/>
                  </a:rPr>
                  <a:t>D: </a:t>
                </a:r>
                <a:r>
                  <a:rPr lang="vi-VN"/>
                  <a:t>y=x+\frac{1}{x+1}</a:t>
                </a:r>
                <a:r>
                  <a:rPr sz="2400">
                    <a:solidFill>
                      <a:srgbClr val="1E293B"/>
                    </a:solidFill>
                    <a:latin typeface="Calibri"/>
                  </a:rPr>
                  <a:t>, </a:t>
                </a:r>
                <a:r>
                  <a:rPr lang="vi-VN"/>
                  <a:t>y(0)=1</a:t>
                </a:r>
                <a:r>
                  <a:rPr sz="2400">
                    <a:solidFill>
                      <a:srgbClr val="1E293B"/>
                    </a:solidFill>
                    <a:latin typeface="Calibri"/>
                  </a:rPr>
                  <a:t>, </a:t>
                </a:r>
                <a:r>
                  <a:rPr lang="vi-VN"/>
                  <a:t>y(-2)=-3</a:t>
                </a:r>
                <a:r>
                  <a:rPr sz="2400">
                    <a:solidFill>
                      <a:srgbClr val="1E293B"/>
                    </a:solidFill>
                    <a:latin typeface="Calibri"/>
                  </a:rPr>
                  <a:t> – khớp hình</a:t>
                </a:r>
              </a:p>
            </p:txBody>
          </p:sp>
        </mc:Fallback>
      </mc:AlternateContent>
      <p:sp>
        <p:nvSpPr>
          <p:cNvPr id="8" name="Rounded Rectangle 7"/>
          <p:cNvSpPr/>
          <p:nvPr/>
        </p:nvSpPr>
        <p:spPr>
          <a:xfrm>
            <a:off x="731520" y="329641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9641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Chọn 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1.40 a, b</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30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1.40.</a:t>
                </a:r>
                <a:r>
                  <a:rPr sz="2400">
                    <a:solidFill>
                      <a:srgbClr val="1E293B"/>
                    </a:solidFill>
                    <a:latin typeface="Calibri"/>
                  </a:rPr>
                  <a:t> Xét chiều biến thiên và tìm các cực trị (nếu có) của các hàm số sau:</a:t>
                </a:r>
              </a:p>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+3x−1</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4</m:t>
                        </m:r>
                      </m:sup>
                    </m:sSup>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m:t>
                    </m:r>
                  </m:oMath>
                </a14:m>
              </a:p>
              <a:p>
                <a:pPr algn="l">
                  <a:spcAft>
                    <a:spcPts val="800"/>
                  </a:spcAft>
                </a:pPr>
                <a:r>
                  <a:rPr sz="2400" b="1">
                    <a:solidFill>
                      <a:srgbClr val="1E40AF"/>
                    </a:solidFill>
                    <a:latin typeface="Calibri"/>
                  </a:rPr>
                  <a:t>Gợi mở: Tính </a:t>
                </a:r>
                <a14:m>
                  <m:oMath xmlns:m="http://schemas.openxmlformats.org/officeDocument/2006/math">
                    <m:sSup>
                      <m:e>
                        <m:r>
                          <a:rPr lang="vi-VN" sz="2400" b="1">
                            <a:solidFill>
                              <a:srgbClr val="1E40AF"/>
                            </a:solidFill>
                            <a:latin typeface="Cambria Math" panose="02040503050406030204" pitchFamily="18" charset="0"/>
                          </a:rPr>
                          <m:t>y</m:t>
                        </m:r>
                      </m:e>
                      <m:sup>
                        <m:r>
                          <a:rPr lang="vi-VN" sz="2400" b="1">
                            <a:solidFill>
                              <a:srgbClr val="1E40AF"/>
                            </a:solidFill>
                            <a:latin typeface="Cambria Math" panose="02040503050406030204" pitchFamily="18" charset="0"/>
                          </a:rPr>
                          <m:t>′</m:t>
                        </m:r>
                      </m:sup>
                    </m:sSup>
                  </m:oMath>
                </a14:m>
                <a:r>
                  <a:rPr sz="2400" b="1">
                    <a:solidFill>
                      <a:srgbClr val="1E40AF"/>
                    </a:solidFill>
                    <a:latin typeface="Calibri"/>
                  </a:rPr>
                  <a:t>, xét dấu, lập bảng biến thiên</a:t>
                </a:r>
              </a:p>
            </p:txBody>
          </p:sp>
        </mc:Choice>
        <mc:Fallback>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1.40.</a:t>
                </a:r>
                <a:r>
                  <a:rPr sz="2400">
                    <a:solidFill>
                      <a:srgbClr val="1E293B"/>
                    </a:solidFill>
                    <a:latin typeface="Calibri"/>
                  </a:rPr>
                  <a:t> Xét chiều biến thiên và tìm các cực trị (nếu có) của các hàm số sau:</a:t>
                </a:r>
              </a:p>
              <a:p>
                <a:pPr algn="l" marL="365760" indent="-365760">
                  <a:spcAft>
                    <a:spcPts val="800"/>
                  </a:spcAft>
                  <a:buClr>
                    <a:srgbClr val="1E40AF"/>
                  </a:buClr>
                  <a:buFont typeface="Arial"/>
                  <a:buChar char="•"/>
                </a:pPr>
                <a:r>
                  <a:rPr sz="2400">
                    <a:solidFill>
                      <a:srgbClr val="1E293B"/>
                    </a:solidFill>
                    <a:latin typeface="Calibri"/>
                  </a:rPr>
                  <a:t>a) </a:t>
                </a:r>
                <a:r>
                  <a:rPr lang="vi-VN"/>
                  <a:t>y=x^3-3x^2+3x-1</a:t>
                </a:r>
              </a:p>
              <a:p>
                <a:pPr algn="l" marL="365760" indent="-365760">
                  <a:spcAft>
                    <a:spcPts val="800"/>
                  </a:spcAft>
                  <a:buClr>
                    <a:srgbClr val="1E40AF"/>
                  </a:buClr>
                  <a:buFont typeface="Arial"/>
                  <a:buChar char="•"/>
                </a:pPr>
                <a:r>
                  <a:rPr sz="2400">
                    <a:solidFill>
                      <a:srgbClr val="1E293B"/>
                    </a:solidFill>
                    <a:latin typeface="Calibri"/>
                  </a:rPr>
                  <a:t>b) </a:t>
                </a:r>
                <a:r>
                  <a:rPr lang="vi-VN"/>
                  <a:t>y=x^4-2x^2-1</a:t>
                </a:r>
              </a:p>
              <a:p>
                <a:pPr algn="l">
                  <a:spcAft>
                    <a:spcPts val="800"/>
                  </a:spcAft>
                </a:pPr>
                <a:r>
                  <a:rPr sz="2400" b="1">
                    <a:solidFill>
                      <a:srgbClr val="1E40AF"/>
                    </a:solidFill>
                    <a:latin typeface="Calibri"/>
                  </a:rPr>
                  <a:t>Gợi mở: Tính </a:t>
                </a:r>
                <a:r>
                  <a:rPr lang="vi-VN"/>
                  <a:t>y'</a:t>
                </a:r>
                <a:r>
                  <a:rPr sz="2400" b="1">
                    <a:solidFill>
                      <a:srgbClr val="1E40AF"/>
                    </a:solidFill>
                    <a:latin typeface="Calibri"/>
                  </a:rPr>
                  <a:t>, xét dấu, lập bảng biến thiên</a:t>
                </a: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1.40 a, b</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31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−6x+3=3(x−1</m:t>
                    </m:r>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≥0</m:t>
                    </m:r>
                  </m:oMath>
                </a14:m>
                <a:r>
                  <a:rPr sz="2400">
                    <a:solidFill>
                      <a:srgbClr val="1E293B"/>
                    </a:solidFill>
                    <a:latin typeface="Calibri"/>
                  </a:rPr>
                  <a:t>, dấu bằng chỉ tại </a:t>
                </a:r>
                <a14:m>
                  <m:oMath xmlns:m="http://schemas.openxmlformats.org/officeDocument/2006/math">
                    <m:r>
                      <a:rPr lang="vi-VN" sz="2400" b="0">
                        <a:solidFill>
                          <a:srgbClr val="1E293B"/>
                        </a:solidFill>
                        <a:latin typeface="Cambria Math" panose="02040503050406030204" pitchFamily="18" charset="0"/>
                      </a:rPr>
                      <m:t>x=1</m:t>
                    </m:r>
                  </m:oMath>
                </a14:m>
              </a:p>
              <a:p>
                <a:pPr algn="l" marL="365760" indent="-365760">
                  <a:spcAft>
                    <a:spcPts val="800"/>
                  </a:spcAft>
                  <a:buClr>
                    <a:srgbClr val="1E40AF"/>
                  </a:buClr>
                  <a:buFont typeface="Arial"/>
                  <a:buChar char="•"/>
                </a:pPr>
                <a:r>
                  <a:rPr sz="2400">
                    <a:solidFill>
                      <a:srgbClr val="1E293B"/>
                    </a:solidFill>
                    <a:latin typeface="Calibri"/>
                  </a:rPr>
                  <a:t>Hàm số đồng biến trên </a:t>
                </a:r>
                <a14:m>
                  <m:oMath xmlns:m="http://schemas.openxmlformats.org/officeDocument/2006/math">
                    <m:r>
                      <a:rPr lang="vi-VN" sz="2400" b="0">
                        <a:solidFill>
                          <a:srgbClr val="1E293B"/>
                        </a:solidFill>
                        <a:latin typeface="Cambria Math" panose="02040503050406030204" pitchFamily="18" charset="0"/>
                      </a:rPr>
                      <m:t>ℝ</m:t>
                    </m:r>
                  </m:oMath>
                </a14:m>
                <a:r>
                  <a:rPr sz="2400">
                    <a:solidFill>
                      <a:srgbClr val="1E293B"/>
                    </a:solidFill>
                    <a:latin typeface="Calibri"/>
                  </a:rPr>
                  <a:t>, không có cực trị</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=4</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−4x=4x(x−1)(x+1)</m:t>
                    </m:r>
                  </m:oMath>
                </a14:m>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=0⇔x=0</m:t>
                    </m:r>
                  </m:oMath>
                </a14:m>
                <a:r>
                  <a:rPr sz="2400">
                    <a:solidFill>
                      <a:srgbClr val="1E293B"/>
                    </a:solidFill>
                    <a:latin typeface="Calibri"/>
                  </a:rPr>
                  <a:t> hoặc </a:t>
                </a:r>
                <a14:m>
                  <m:oMath xmlns:m="http://schemas.openxmlformats.org/officeDocument/2006/math">
                    <m:r>
                      <a:rPr lang="vi-VN" sz="2400" b="0">
                        <a:solidFill>
                          <a:srgbClr val="1E293B"/>
                        </a:solidFill>
                        <a:latin typeface="Cambria Math" panose="02040503050406030204" pitchFamily="18" charset="0"/>
                      </a:rPr>
                      <m:t>x=±1</m:t>
                    </m:r>
                  </m:oMath>
                </a14:m>
              </a:p>
              <a:p>
                <a:pPr algn="l" marL="365760" indent="-365760">
                  <a:spcAft>
                    <a:spcPts val="800"/>
                  </a:spcAft>
                  <a:buClr>
                    <a:srgbClr val="1E40AF"/>
                  </a:buClr>
                  <a:buFont typeface="Arial"/>
                  <a:buChar char="•"/>
                </a:pPr>
                <a:r>
                  <a:rPr sz="2400">
                    <a:solidFill>
                      <a:srgbClr val="1E293B"/>
                    </a:solidFill>
                    <a:latin typeface="Calibri"/>
                  </a:rPr>
                  <a:t>Nghịch biến trên </a:t>
                </a:r>
                <a14:m>
                  <m:oMath xmlns:m="http://schemas.openxmlformats.org/officeDocument/2006/math">
                    <m:d>
                      <m:dPr>
                        <m:sepChr m:val="∞"/>
                      </m:dPr>
                      <m:e>
                        <m:r>
                          <a:rPr lang="vi-VN" sz="2400" b="0">
                            <a:solidFill>
                              <a:srgbClr val="1E293B"/>
                            </a:solidFill>
                            <a:latin typeface="Cambria Math" panose="02040503050406030204" pitchFamily="18" charset="0"/>
                          </a:rPr>
                          <m:t>−</m:t>
                        </m:r>
                      </m:e>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r>
                  <a:rPr sz="2400">
                    <a:solidFill>
                      <a:srgbClr val="1E293B"/>
                    </a:solidFill>
                    <a:latin typeface="Calibri"/>
                  </a:rPr>
                  <a:t> và </a:t>
                </a:r>
                <a14:m>
                  <m:oMath xmlns:m="http://schemas.openxmlformats.org/officeDocument/2006/math">
                    <m:d>
                      <m:dPr>
                        <m:sep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r>
                  <a:rPr sz="2400">
                    <a:solidFill>
                      <a:srgbClr val="1E293B"/>
                    </a:solidFill>
                    <a:latin typeface="Calibri"/>
                  </a:rPr>
                  <a:t>; đồng biến trên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m:t>
                        </m:r>
                      </m:e>
                    </m:d>
                  </m:oMath>
                </a14:m>
                <a:r>
                  <a:rPr sz="2400">
                    <a:solidFill>
                      <a:srgbClr val="1E293B"/>
                    </a:solidFill>
                    <a:latin typeface="Calibri"/>
                  </a:rPr>
                  <a:t> và </a:t>
                </a:r>
                <a14:m>
                  <m:oMath xmlns:m="http://schemas.openxmlformats.org/officeDocument/2006/math">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e>
                    </m:d>
                  </m:oMath>
                </a14:m>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y'=3x^2-6x+3=3(x-1)^2\ge 0</a:t>
                </a:r>
                <a:r>
                  <a:rPr sz="2400">
                    <a:solidFill>
                      <a:srgbClr val="1E293B"/>
                    </a:solidFill>
                    <a:latin typeface="Calibri"/>
                  </a:rPr>
                  <a:t>, dấu bằng chỉ tại </a:t>
                </a:r>
                <a:r>
                  <a:rPr lang="vi-VN"/>
                  <a:t>x=1</a:t>
                </a:r>
              </a:p>
              <a:p>
                <a:pPr algn="l" marL="365760" indent="-365760">
                  <a:spcAft>
                    <a:spcPts val="800"/>
                  </a:spcAft>
                  <a:buClr>
                    <a:srgbClr val="1E40AF"/>
                  </a:buClr>
                  <a:buFont typeface="Arial"/>
                  <a:buChar char="•"/>
                </a:pPr>
                <a:r>
                  <a:rPr sz="2400">
                    <a:solidFill>
                      <a:srgbClr val="1E293B"/>
                    </a:solidFill>
                    <a:latin typeface="Calibri"/>
                  </a:rPr>
                  <a:t>Hàm số đồng biến trên </a:t>
                </a:r>
                <a:r>
                  <a:rPr lang="vi-VN"/>
                  <a:t>\mathbb{R}</a:t>
                </a:r>
                <a:r>
                  <a:rPr sz="2400">
                    <a:solidFill>
                      <a:srgbClr val="1E293B"/>
                    </a:solidFill>
                    <a:latin typeface="Calibri"/>
                  </a:rPr>
                  <a:t>, không có cực trị</a:t>
                </a:r>
              </a:p>
              <a:p>
                <a:pPr algn="l" marL="365760" indent="-365760">
                  <a:spcAft>
                    <a:spcPts val="800"/>
                  </a:spcAft>
                  <a:buClr>
                    <a:srgbClr val="1E40AF"/>
                  </a:buClr>
                  <a:buFont typeface="Arial"/>
                  <a:buChar char="•"/>
                </a:pPr>
                <a:r>
                  <a:rPr sz="2400">
                    <a:solidFill>
                      <a:srgbClr val="1E293B"/>
                    </a:solidFill>
                    <a:latin typeface="Calibri"/>
                  </a:rPr>
                  <a:t>b) </a:t>
                </a:r>
                <a:r>
                  <a:rPr lang="vi-VN"/>
                  <a:t>y'=4x^3-4x=4x(x-1)(x+1)</a:t>
                </a:r>
                <a:r>
                  <a:rPr sz="2400">
                    <a:solidFill>
                      <a:srgbClr val="1E293B"/>
                    </a:solidFill>
                    <a:latin typeface="Calibri"/>
                  </a:rPr>
                  <a:t>; </a:t>
                </a:r>
                <a:r>
                  <a:rPr lang="vi-VN"/>
                  <a:t>y'=0\Leftrightarrow x=0</a:t>
                </a:r>
                <a:r>
                  <a:rPr sz="2400">
                    <a:solidFill>
                      <a:srgbClr val="1E293B"/>
                    </a:solidFill>
                    <a:latin typeface="Calibri"/>
                  </a:rPr>
                  <a:t> hoặc </a:t>
                </a:r>
                <a:r>
                  <a:rPr lang="vi-VN"/>
                  <a:t>x=\pm 1</a:t>
                </a:r>
              </a:p>
              <a:p>
                <a:pPr algn="l" marL="365760" indent="-365760">
                  <a:spcAft>
                    <a:spcPts val="800"/>
                  </a:spcAft>
                  <a:buClr>
                    <a:srgbClr val="1E40AF"/>
                  </a:buClr>
                  <a:buFont typeface="Arial"/>
                  <a:buChar char="•"/>
                </a:pPr>
                <a:r>
                  <a:rPr sz="2400">
                    <a:solidFill>
                      <a:srgbClr val="1E293B"/>
                    </a:solidFill>
                    <a:latin typeface="Calibri"/>
                  </a:rPr>
                  <a:t>Nghịch biến trên </a:t>
                </a:r>
                <a:r>
                  <a:rPr lang="vi-VN"/>
                  <a:t>(-\infty;-1)</a:t>
                </a:r>
                <a:r>
                  <a:rPr sz="2400">
                    <a:solidFill>
                      <a:srgbClr val="1E293B"/>
                    </a:solidFill>
                    <a:latin typeface="Calibri"/>
                  </a:rPr>
                  <a:t> và </a:t>
                </a:r>
                <a:r>
                  <a:rPr lang="vi-VN"/>
                  <a:t>(0;1)</a:t>
                </a:r>
                <a:r>
                  <a:rPr sz="2400">
                    <a:solidFill>
                      <a:srgbClr val="1E293B"/>
                    </a:solidFill>
                    <a:latin typeface="Calibri"/>
                  </a:rPr>
                  <a:t>; đồng biến trên </a:t>
                </a:r>
                <a:r>
                  <a:rPr lang="vi-VN"/>
                  <a:t>(-1;0)</a:t>
                </a:r>
                <a:r>
                  <a:rPr sz="2400">
                    <a:solidFill>
                      <a:srgbClr val="1E293B"/>
                    </a:solidFill>
                    <a:latin typeface="Calibri"/>
                  </a:rPr>
                  <a:t> và </a:t>
                </a:r>
                <a:r>
                  <a:rPr lang="vi-VN"/>
                  <a:t>(1;+\infty)</a:t>
                </a:r>
              </a:p>
            </p:txBody>
          </p:sp>
        </mc:Fallback>
      </mc:AlternateContent>
      <p:sp>
        <p:nvSpPr>
          <p:cNvPr id="8" name="Rounded Rectangle 7"/>
          <p:cNvSpPr/>
          <p:nvPr/>
        </p:nvSpPr>
        <p:spPr>
          <a:xfrm>
            <a:off x="731520" y="362407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b) </a:t>
                </a:r>
                <a14:m>
                  <m:oMath xmlns:m="http://schemas.openxmlformats.org/officeDocument/2006/math">
                    <m:sSub>
                      <m:e>
                        <m:r>
                          <a:rPr lang="vi-VN" sz="2400" b="1">
                            <a:solidFill>
                              <a:srgbClr val="991B1B"/>
                            </a:solidFill>
                            <a:latin typeface="Cambria Math" panose="02040503050406030204" pitchFamily="18" charset="0"/>
                          </a:rPr>
                          <m:t>y</m:t>
                        </m:r>
                      </m:e>
                      <m:sub>
                        <m:r>
                          <a:rPr lang="vi-VN" sz="2400" b="1">
                            <a:solidFill>
                              <a:srgbClr val="991B1B"/>
                            </a:solidFill>
                            <a:latin typeface="Cambria Math" panose="02040503050406030204" pitchFamily="18" charset="0"/>
                          </a:rPr>
                          <m:t>CT</m:t>
                        </m:r>
                      </m:sub>
                    </m:sSub>
                    <m:r>
                      <a:rPr lang="vi-VN" sz="2400" b="1">
                        <a:solidFill>
                          <a:srgbClr val="991B1B"/>
                        </a:solidFill>
                        <a:latin typeface="Cambria Math" panose="02040503050406030204" pitchFamily="18" charset="0"/>
                      </a:rPr>
                      <m:t>=y(±1)=−2</m:t>
                    </m:r>
                  </m:oMath>
                </a14:m>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y</m:t>
                        </m:r>
                      </m:e>
                      <m:sub>
                        <m:r>
                          <a:rPr lang="vi-VN" sz="2400" b="1">
                            <a:solidFill>
                              <a:srgbClr val="991B1B"/>
                            </a:solidFill>
                            <a:latin typeface="Cambria Math" panose="02040503050406030204" pitchFamily="18" charset="0"/>
                          </a:rPr>
                          <m:t>CĐ</m:t>
                        </m:r>
                      </m:sub>
                    </m:sSub>
                    <m:r>
                      <a:rPr lang="vi-VN" sz="2400" b="1">
                        <a:solidFill>
                          <a:srgbClr val="991B1B"/>
                        </a:solidFill>
                        <a:latin typeface="Cambria Math" panose="02040503050406030204" pitchFamily="18" charset="0"/>
                      </a:rPr>
                      <m:t>=y(0)=−1</m:t>
                    </m:r>
                  </m:oMath>
                </a14:m>
              </a:p>
            </p:txBody>
          </p:sp>
        </mc:Choice>
        <mc:Fallback>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b) </a:t>
                </a:r>
                <a:r>
                  <a:rPr lang="vi-VN"/>
                  <a:t>y_{CT}=y(\pm 1)=-2</a:t>
                </a:r>
                <a:r>
                  <a:rPr sz="2400" b="1">
                    <a:solidFill>
                      <a:srgbClr val="991B1B"/>
                    </a:solidFill>
                    <a:latin typeface="Calibri"/>
                  </a:rPr>
                  <a:t>; </a:t>
                </a:r>
                <a:r>
                  <a:rPr lang="vi-VN"/>
                  <a:t>y_{CĐ}=y(0)=-1</a:t>
                </a: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1.40 c, d</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32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776728"/>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1.40.</a:t>
                </a:r>
                <a:r>
                  <a:rPr sz="2400">
                    <a:solidFill>
                      <a:srgbClr val="1E293B"/>
                    </a:solidFill>
                    <a:latin typeface="Calibri"/>
                  </a:rPr>
                  <a:t> Xét chiều biến thiên và tìm các cực trị (nếu có) của các hàm số sau:</a:t>
                </a:r>
              </a:p>
              <a:p>
                <a:pPr algn="l" marL="365760" indent="-365760">
                  <a:spcAft>
                    <a:spcPts val="800"/>
                  </a:spcAft>
                  <a:buClr>
                    <a:srgbClr val="1E40AF"/>
                  </a:buClr>
                  <a:buFont typeface="Arial"/>
                  <a:buChar char="•"/>
                </a:pPr>
                <a:r>
                  <a:rPr sz="2400">
                    <a:solidFill>
                      <a:srgbClr val="1E293B"/>
                    </a:solidFill>
                    <a:latin typeface="Calibri"/>
                  </a:rPr>
                  <a:t>c) </a:t>
                </a:r>
                <a14:m>
                  <m:oMath xmlns:m="http://schemas.openxmlformats.org/officeDocument/2006/math">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2x−1</m:t>
                        </m:r>
                      </m:num>
                      <m:den>
                        <m:r>
                          <a:rPr lang="vi-VN" sz="2400" b="0">
                            <a:solidFill>
                              <a:srgbClr val="1E293B"/>
                            </a:solidFill>
                            <a:latin typeface="Cambria Math" panose="02040503050406030204" pitchFamily="18" charset="0"/>
                          </a:rPr>
                          <m:t>3x+1</m:t>
                        </m:r>
                      </m:den>
                    </m:f>
                  </m:oMath>
                </a14:m>
              </a:p>
              <a:p>
                <a:pPr algn="l" marL="365760" indent="-365760">
                  <a:spcAft>
                    <a:spcPts val="800"/>
                  </a:spcAft>
                  <a:buClr>
                    <a:srgbClr val="1E40AF"/>
                  </a:buClr>
                  <a:buFont typeface="Arial"/>
                  <a:buChar char="•"/>
                </a:pPr>
                <a:r>
                  <a:rPr sz="2400">
                    <a:solidFill>
                      <a:srgbClr val="1E293B"/>
                    </a:solidFill>
                    <a:latin typeface="Calibri"/>
                  </a:rPr>
                  <a:t>d) </a:t>
                </a:r>
                <a14:m>
                  <m:oMath xmlns:m="http://schemas.openxmlformats.org/officeDocument/2006/math">
                    <m:r>
                      <a:rPr lang="vi-VN" sz="2400" b="0">
                        <a:solidFill>
                          <a:srgbClr val="1E293B"/>
                        </a:solidFill>
                        <a:latin typeface="Cambria Math" panose="02040503050406030204" pitchFamily="18" charset="0"/>
                      </a:rPr>
                      <m:t>y=</m:t>
                    </m:r>
                    <m:f>
                      <m:fPr>
                        <m:type m:val="bar"/>
                      </m:fPr>
                      <m:num>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+2x+2</m:t>
                        </m:r>
                      </m:num>
                      <m:den>
                        <m:r>
                          <a:rPr lang="vi-VN" sz="2400" b="0">
                            <a:solidFill>
                              <a:srgbClr val="1E293B"/>
                            </a:solidFill>
                            <a:latin typeface="Cambria Math" panose="02040503050406030204" pitchFamily="18" charset="0"/>
                          </a:rPr>
                          <m:t>x+1</m:t>
                        </m:r>
                      </m:den>
                    </m:f>
                  </m:oMath>
                </a14:m>
              </a:p>
              <a:p>
                <a:pPr algn="l">
                  <a:spcAft>
                    <a:spcPts val="800"/>
                  </a:spcAft>
                </a:pPr>
                <a:r>
                  <a:rPr sz="2400" b="1">
                    <a:solidFill>
                      <a:srgbClr val="1E40AF"/>
                    </a:solidFill>
                    <a:latin typeface="Calibri"/>
                  </a:rPr>
                  <a:t>Gợi mở: Đừng quên tập xác định của hàm phân thức</a:t>
                </a:r>
              </a:p>
            </p:txBody>
          </p:sp>
        </mc:Choice>
        <mc:Fallback>
          <p:sp>
            <p:nvSpPr>
              <p:cNvPr id="7" name="TextBox 6"/>
              <p:cNvSpPr txBox="1"/>
              <p:nvPr/>
            </p:nvSpPr>
            <p:spPr>
              <a:xfrm>
                <a:off x="731520" y="1463040"/>
                <a:ext cx="10789920" cy="2776728"/>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1.40.</a:t>
                </a:r>
                <a:r>
                  <a:rPr sz="2400">
                    <a:solidFill>
                      <a:srgbClr val="1E293B"/>
                    </a:solidFill>
                    <a:latin typeface="Calibri"/>
                  </a:rPr>
                  <a:t> Xét chiều biến thiên và tìm các cực trị (nếu có) của các hàm số sau:</a:t>
                </a:r>
              </a:p>
              <a:p>
                <a:pPr algn="l" marL="365760" indent="-365760">
                  <a:spcAft>
                    <a:spcPts val="800"/>
                  </a:spcAft>
                  <a:buClr>
                    <a:srgbClr val="1E40AF"/>
                  </a:buClr>
                  <a:buFont typeface="Arial"/>
                  <a:buChar char="•"/>
                </a:pPr>
                <a:r>
                  <a:rPr sz="2400">
                    <a:solidFill>
                      <a:srgbClr val="1E293B"/>
                    </a:solidFill>
                    <a:latin typeface="Calibri"/>
                  </a:rPr>
                  <a:t>c) </a:t>
                </a:r>
                <a:r>
                  <a:rPr lang="vi-VN"/>
                  <a:t>y=\frac{2x-1}{3x+1}</a:t>
                </a:r>
              </a:p>
              <a:p>
                <a:pPr algn="l" marL="365760" indent="-365760">
                  <a:spcAft>
                    <a:spcPts val="800"/>
                  </a:spcAft>
                  <a:buClr>
                    <a:srgbClr val="1E40AF"/>
                  </a:buClr>
                  <a:buFont typeface="Arial"/>
                  <a:buChar char="•"/>
                </a:pPr>
                <a:r>
                  <a:rPr sz="2400">
                    <a:solidFill>
                      <a:srgbClr val="1E293B"/>
                    </a:solidFill>
                    <a:latin typeface="Calibri"/>
                  </a:rPr>
                  <a:t>d) </a:t>
                </a:r>
                <a:r>
                  <a:rPr lang="vi-VN"/>
                  <a:t>y=\frac{x^2+2x+2}{x+1}</a:t>
                </a:r>
              </a:p>
              <a:p>
                <a:pPr algn="l">
                  <a:spcAft>
                    <a:spcPts val="800"/>
                  </a:spcAft>
                </a:pPr>
                <a:r>
                  <a:rPr sz="2400" b="1">
                    <a:solidFill>
                      <a:srgbClr val="1E40AF"/>
                    </a:solidFill>
                    <a:latin typeface="Calibri"/>
                  </a:rPr>
                  <a:t>Gợi mở: Đừng quên tập xác định của hàm phân thức</a:t>
                </a: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1.40 c, d</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33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6291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Tập xác định </a:t>
                </a:r>
                <a14:m>
                  <m:oMath xmlns:m="http://schemas.openxmlformats.org/officeDocument/2006/math">
                    <m:r>
                      <a:rPr lang="vi-VN" sz="2200" b="0">
                        <a:solidFill>
                          <a:srgbClr val="1E293B"/>
                        </a:solidFill>
                        <a:latin typeface="Cambria Math" panose="02040503050406030204" pitchFamily="18" charset="0"/>
                      </a:rPr>
                      <m:t>ℝ⧵</m:t>
                    </m:r>
                    <m:d>
                      <m:dPr>
                        <m:begChr m:val="{"/>
                        <m:sepChr m:val=""/>
                        <m:end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3</m:t>
                            </m:r>
                          </m:den>
                        </m:f>
                      </m:e>
                    </m:d>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5</m:t>
                        </m:r>
                      </m:num>
                      <m:den>
                        <m:sSup>
                          <m:e>
                            <m:d>
                              <m:dPr>
                                <m:sepChr m:val=""/>
                              </m:dPr>
                              <m:e>
                                <m:r>
                                  <a:rPr lang="vi-VN" sz="2200" b="0">
                                    <a:solidFill>
                                      <a:srgbClr val="1E293B"/>
                                    </a:solidFill>
                                    <a:latin typeface="Cambria Math" panose="02040503050406030204" pitchFamily="18" charset="0"/>
                                  </a:rPr>
                                  <m:t>3</m:t>
                                </m:r>
                                <m:r>
                                  <a:rPr lang="vi-VN" sz="2200" b="0">
                                    <a:solidFill>
                                      <a:srgbClr val="1E293B"/>
                                    </a:solidFill>
                                    <a:latin typeface="Cambria Math" panose="02040503050406030204" pitchFamily="18" charset="0"/>
                                  </a:rPr>
                                  <m:t>x</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e>
                            </m:d>
                          </m:e>
                          <m:sup>
                            <m:r>
                              <a:rPr lang="vi-VN" sz="2200" b="0">
                                <a:solidFill>
                                  <a:srgbClr val="1E293B"/>
                                </a:solidFill>
                                <a:latin typeface="Cambria Math" panose="02040503050406030204" pitchFamily="18" charset="0"/>
                              </a:rPr>
                              <m:t>2</m:t>
                            </m:r>
                          </m:sup>
                        </m:sSup>
                      </m:den>
                    </m:f>
                    <m:r>
                      <a:rPr lang="vi-VN" sz="2200" b="0">
                        <a:solidFill>
                          <a:srgbClr val="1E293B"/>
                        </a:solidFill>
                        <a:latin typeface="Cambria Math" panose="02040503050406030204" pitchFamily="18" charset="0"/>
                      </a:rPr>
                      <m:t>&gt;0</m:t>
                    </m:r>
                  </m:oMath>
                </a14:m>
              </a:p>
              <a:p>
                <a:pPr algn="l" marL="365760" indent="-365760">
                  <a:spcAft>
                    <a:spcPts val="800"/>
                  </a:spcAft>
                  <a:buClr>
                    <a:srgbClr val="1E40AF"/>
                  </a:buClr>
                  <a:buFont typeface="Arial"/>
                  <a:buChar char="•"/>
                </a:pPr>
                <a:r>
                  <a:rPr sz="2200">
                    <a:solidFill>
                      <a:srgbClr val="1E293B"/>
                    </a:solidFill>
                    <a:latin typeface="Calibri"/>
                  </a:rPr>
                  <a:t>Đồng biến trên </a:t>
                </a:r>
                <a14:m>
                  <m:oMath xmlns:m="http://schemas.openxmlformats.org/officeDocument/2006/math">
                    <m:d>
                      <m:dPr>
                        <m:sepChr m:val="∞"/>
                      </m:dPr>
                      <m:e>
                        <m:r>
                          <a:rPr lang="vi-VN" sz="2200" b="0">
                            <a:solidFill>
                              <a:srgbClr val="1E293B"/>
                            </a:solidFill>
                            <a:latin typeface="Cambria Math" panose="02040503050406030204" pitchFamily="18" charset="0"/>
                          </a:rPr>
                          <m:t>−</m:t>
                        </m:r>
                      </m:e>
                      <m:e>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3</m:t>
                            </m:r>
                          </m:den>
                        </m:f>
                      </m:e>
                    </m:d>
                  </m:oMath>
                </a14:m>
                <a:r>
                  <a:rPr sz="2200">
                    <a:solidFill>
                      <a:srgbClr val="1E293B"/>
                    </a:solidFill>
                    <a:latin typeface="Calibri"/>
                  </a:rPr>
                  <a:t> và </a:t>
                </a:r>
                <a14:m>
                  <m:oMath xmlns:m="http://schemas.openxmlformats.org/officeDocument/2006/math">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3</m:t>
                            </m:r>
                          </m:den>
                        </m:f>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e>
                    </m:d>
                  </m:oMath>
                </a14:m>
                <a:r>
                  <a:rPr sz="2200">
                    <a:solidFill>
                      <a:srgbClr val="1E293B"/>
                    </a:solidFill>
                    <a:latin typeface="Calibri"/>
                  </a:rPr>
                  <a:t>, không có cực trị</a:t>
                </a:r>
              </a:p>
            </p:txBody>
          </p:sp>
        </mc:Choice>
        <mc:Fallback>
          <p:sp>
            <p:nvSpPr>
              <p:cNvPr id="7" name="TextBox 6"/>
              <p:cNvSpPr txBox="1"/>
              <p:nvPr/>
            </p:nvSpPr>
            <p:spPr>
              <a:xfrm>
                <a:off x="731520" y="1463040"/>
                <a:ext cx="10789920" cy="196291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Tập xác định </a:t>
                </a:r>
                <a:r>
                  <a:rPr lang="vi-VN"/>
                  <a:t>\mathbb{R}\setminus\left\{-\frac{1}{3}\right\}</a:t>
                </a:r>
                <a:r>
                  <a:rPr sz="2200">
                    <a:solidFill>
                      <a:srgbClr val="1E293B"/>
                    </a:solidFill>
                    <a:latin typeface="Calibri"/>
                  </a:rPr>
                  <a:t>; </a:t>
                </a:r>
                <a:r>
                  <a:rPr lang="vi-VN"/>
                  <a:t>y'=\frac{5}{(3x+1)^2}&gt;0</a:t>
                </a:r>
              </a:p>
              <a:p>
                <a:pPr algn="l" marL="365760" indent="-365760">
                  <a:spcAft>
                    <a:spcPts val="800"/>
                  </a:spcAft>
                  <a:buClr>
                    <a:srgbClr val="1E40AF"/>
                  </a:buClr>
                  <a:buFont typeface="Arial"/>
                  <a:buChar char="•"/>
                </a:pPr>
                <a:r>
                  <a:rPr sz="2200">
                    <a:solidFill>
                      <a:srgbClr val="1E293B"/>
                    </a:solidFill>
                    <a:latin typeface="Calibri"/>
                  </a:rPr>
                  <a:t>Đồng biến trên </a:t>
                </a:r>
                <a:r>
                  <a:rPr lang="vi-VN"/>
                  <a:t>\left(-\infty;-\frac{1}{3}\right)</a:t>
                </a:r>
                <a:r>
                  <a:rPr sz="2200">
                    <a:solidFill>
                      <a:srgbClr val="1E293B"/>
                    </a:solidFill>
                    <a:latin typeface="Calibri"/>
                  </a:rPr>
                  <a:t> và </a:t>
                </a:r>
                <a:r>
                  <a:rPr lang="vi-VN"/>
                  <a:t>\left(-\frac{1}{3};+\infty\right)</a:t>
                </a:r>
                <a:r>
                  <a:rPr sz="2200">
                    <a:solidFill>
                      <a:srgbClr val="1E293B"/>
                    </a:solidFill>
                    <a:latin typeface="Calibri"/>
                  </a:rPr>
                  <a:t>, không có cực trị</a:t>
                </a: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1.40 c, d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34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7256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Tập xác định </a:t>
                </a:r>
                <a14:m>
                  <m:oMath xmlns:m="http://schemas.openxmlformats.org/officeDocument/2006/math">
                    <m:r>
                      <a:rPr lang="vi-VN" sz="2200" b="0">
                        <a:solidFill>
                          <a:srgbClr val="1E293B"/>
                        </a:solidFill>
                        <a:latin typeface="Cambria Math" panose="02040503050406030204" pitchFamily="18" charset="0"/>
                      </a:rPr>
                      <m:t>ℝ⧵{−1}</m:t>
                    </m:r>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f>
                      <m:fPr>
                        <m:type m:val="bar"/>
                      </m:fPr>
                      <m:num>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+2x</m:t>
                        </m:r>
                      </m:num>
                      <m:den>
                        <m:sSup>
                          <m:e>
                            <m:d>
                              <m:dPr>
                                <m:sepChr m:val=""/>
                              </m:dPr>
                              <m:e>
                                <m:r>
                                  <a:rPr lang="vi-VN" sz="2200" b="0">
                                    <a:solidFill>
                                      <a:srgbClr val="1E293B"/>
                                    </a:solidFill>
                                    <a:latin typeface="Cambria Math" panose="02040503050406030204" pitchFamily="18" charset="0"/>
                                  </a:rPr>
                                  <m:t>x</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e>
                            </m:d>
                          </m:e>
                          <m:sup>
                            <m:r>
                              <a:rPr lang="vi-VN" sz="2200" b="0">
                                <a:solidFill>
                                  <a:srgbClr val="1E293B"/>
                                </a:solidFill>
                                <a:latin typeface="Cambria Math" panose="02040503050406030204" pitchFamily="18" charset="0"/>
                              </a:rPr>
                              <m:t>2</m:t>
                            </m:r>
                          </m:sup>
                        </m:sSup>
                      </m:den>
                    </m:f>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=0⇔x=0</m:t>
                    </m:r>
                  </m:oMath>
                </a14:m>
                <a:r>
                  <a:rPr sz="2200">
                    <a:solidFill>
                      <a:srgbClr val="1E293B"/>
                    </a:solidFill>
                    <a:latin typeface="Calibri"/>
                  </a:rPr>
                  <a:t> hoặc </a:t>
                </a:r>
                <a14:m>
                  <m:oMath xmlns:m="http://schemas.openxmlformats.org/officeDocument/2006/math">
                    <m:r>
                      <a:rPr lang="vi-VN" sz="2200" b="0">
                        <a:solidFill>
                          <a:srgbClr val="1E293B"/>
                        </a:solidFill>
                        <a:latin typeface="Cambria Math" panose="02040503050406030204" pitchFamily="18" charset="0"/>
                      </a:rPr>
                      <m:t>x=−2</m:t>
                    </m:r>
                  </m:oMath>
                </a14:m>
              </a:p>
              <a:p>
                <a:pPr algn="l" marL="365760" indent="-365760">
                  <a:spcAft>
                    <a:spcPts val="800"/>
                  </a:spcAft>
                  <a:buClr>
                    <a:srgbClr val="1E40AF"/>
                  </a:buClr>
                  <a:buFont typeface="Arial"/>
                  <a:buChar char="•"/>
                </a:pPr>
                <a:r>
                  <a:rPr sz="2200">
                    <a:solidFill>
                      <a:srgbClr val="1E293B"/>
                    </a:solidFill>
                    <a:latin typeface="Calibri"/>
                  </a:rPr>
                  <a:t>Đồng biến trên </a:t>
                </a:r>
                <a14:m>
                  <m:oMath xmlns:m="http://schemas.openxmlformats.org/officeDocument/2006/math">
                    <m:d>
                      <m:dPr>
                        <m:sepChr m:val="∞"/>
                      </m:dPr>
                      <m:e>
                        <m:r>
                          <a:rPr lang="vi-VN" sz="2200" b="0">
                            <a:solidFill>
                              <a:srgbClr val="1E293B"/>
                            </a:solidFill>
                            <a:latin typeface="Cambria Math" panose="02040503050406030204" pitchFamily="18" charset="0"/>
                          </a:rPr>
                          <m:t>−</m:t>
                        </m:r>
                      </m:e>
                      <m:e>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2</m:t>
                        </m:r>
                      </m:e>
                    </m:d>
                  </m:oMath>
                </a14:m>
                <a:r>
                  <a:rPr sz="2200">
                    <a:solidFill>
                      <a:srgbClr val="1E293B"/>
                    </a:solidFill>
                    <a:latin typeface="Calibri"/>
                  </a:rPr>
                  <a:t> và </a:t>
                </a:r>
                <a14:m>
                  <m:oMath xmlns:m="http://schemas.openxmlformats.org/officeDocument/2006/math">
                    <m:d>
                      <m:dPr>
                        <m:sepChr m:val=""/>
                      </m:dPr>
                      <m:e>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e>
                    </m:d>
                  </m:oMath>
                </a14:m>
                <a:r>
                  <a:rPr sz="2200">
                    <a:solidFill>
                      <a:srgbClr val="1E293B"/>
                    </a:solidFill>
                    <a:latin typeface="Calibri"/>
                  </a:rPr>
                  <a:t>; nghịch biến trên </a:t>
                </a:r>
                <a14:m>
                  <m:oMath xmlns:m="http://schemas.openxmlformats.org/officeDocument/2006/math">
                    <m:d>
                      <m:dPr>
                        <m:sepChr m:val=""/>
                      </m:dPr>
                      <m:e>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2</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e>
                    </m:d>
                  </m:oMath>
                </a14:m>
                <a:r>
                  <a:rPr sz="2200">
                    <a:solidFill>
                      <a:srgbClr val="1E293B"/>
                    </a:solidFill>
                    <a:latin typeface="Calibri"/>
                  </a:rPr>
                  <a:t> và </a:t>
                </a:r>
                <a14:m>
                  <m:oMath xmlns:m="http://schemas.openxmlformats.org/officeDocument/2006/math">
                    <m:d>
                      <m:dPr>
                        <m:sepChr m:val=""/>
                      </m:dPr>
                      <m:e>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m:t>
                        </m:r>
                      </m:e>
                    </m:d>
                  </m:oMath>
                </a14:m>
              </a:p>
            </p:txBody>
          </p:sp>
        </mc:Choice>
        <mc:Fallback>
          <p:sp>
            <p:nvSpPr>
              <p:cNvPr id="7" name="TextBox 6"/>
              <p:cNvSpPr txBox="1"/>
              <p:nvPr/>
            </p:nvSpPr>
            <p:spPr>
              <a:xfrm>
                <a:off x="731520" y="1463040"/>
                <a:ext cx="10789920" cy="147256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Tập xác định </a:t>
                </a:r>
                <a:r>
                  <a:rPr lang="vi-VN"/>
                  <a:t>\mathbb{R}\setminus\{-1\}</a:t>
                </a:r>
                <a:r>
                  <a:rPr sz="2200">
                    <a:solidFill>
                      <a:srgbClr val="1E293B"/>
                    </a:solidFill>
                    <a:latin typeface="Calibri"/>
                  </a:rPr>
                  <a:t>; </a:t>
                </a:r>
                <a:r>
                  <a:rPr lang="vi-VN"/>
                  <a:t>y'=\frac{x^2+2x}{(x+1)^2}</a:t>
                </a:r>
                <a:r>
                  <a:rPr sz="2200">
                    <a:solidFill>
                      <a:srgbClr val="1E293B"/>
                    </a:solidFill>
                    <a:latin typeface="Calibri"/>
                  </a:rPr>
                  <a:t>; </a:t>
                </a:r>
                <a:r>
                  <a:rPr lang="vi-VN"/>
                  <a:t>y'=0\Leftrightarrow x=0</a:t>
                </a:r>
                <a:r>
                  <a:rPr sz="2200">
                    <a:solidFill>
                      <a:srgbClr val="1E293B"/>
                    </a:solidFill>
                    <a:latin typeface="Calibri"/>
                  </a:rPr>
                  <a:t> hoặc </a:t>
                </a:r>
                <a:r>
                  <a:rPr lang="vi-VN"/>
                  <a:t>x=-2</a:t>
                </a:r>
              </a:p>
              <a:p>
                <a:pPr algn="l" marL="365760" indent="-365760">
                  <a:spcAft>
                    <a:spcPts val="800"/>
                  </a:spcAft>
                  <a:buClr>
                    <a:srgbClr val="1E40AF"/>
                  </a:buClr>
                  <a:buFont typeface="Arial"/>
                  <a:buChar char="•"/>
                </a:pPr>
                <a:r>
                  <a:rPr sz="2200">
                    <a:solidFill>
                      <a:srgbClr val="1E293B"/>
                    </a:solidFill>
                    <a:latin typeface="Calibri"/>
                  </a:rPr>
                  <a:t>Đồng biến trên </a:t>
                </a:r>
                <a:r>
                  <a:rPr lang="vi-VN"/>
                  <a:t>(-\infty;-2)</a:t>
                </a:r>
                <a:r>
                  <a:rPr sz="2200">
                    <a:solidFill>
                      <a:srgbClr val="1E293B"/>
                    </a:solidFill>
                    <a:latin typeface="Calibri"/>
                  </a:rPr>
                  <a:t> và </a:t>
                </a:r>
                <a:r>
                  <a:rPr lang="vi-VN"/>
                  <a:t>(0;+\infty)</a:t>
                </a:r>
                <a:r>
                  <a:rPr sz="2200">
                    <a:solidFill>
                      <a:srgbClr val="1E293B"/>
                    </a:solidFill>
                    <a:latin typeface="Calibri"/>
                  </a:rPr>
                  <a:t>; nghịch biến trên </a:t>
                </a:r>
                <a:r>
                  <a:rPr lang="vi-VN"/>
                  <a:t>(-2;-1)</a:t>
                </a:r>
                <a:r>
                  <a:rPr sz="2200">
                    <a:solidFill>
                      <a:srgbClr val="1E293B"/>
                    </a:solidFill>
                    <a:latin typeface="Calibri"/>
                  </a:rPr>
                  <a:t> và </a:t>
                </a:r>
                <a:r>
                  <a:rPr lang="vi-VN"/>
                  <a:t>(-1;0)</a:t>
                </a:r>
              </a:p>
            </p:txBody>
          </p:sp>
        </mc:Fallback>
      </mc:AlternateContent>
      <p:sp>
        <p:nvSpPr>
          <p:cNvPr id="8" name="Rounded Rectangle 7"/>
          <p:cNvSpPr/>
          <p:nvPr/>
        </p:nvSpPr>
        <p:spPr>
          <a:xfrm>
            <a:off x="731520" y="3072765"/>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072765"/>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d) </a:t>
                </a:r>
                <a14:m>
                  <m:oMath xmlns:m="http://schemas.openxmlformats.org/officeDocument/2006/math">
                    <m:sSub>
                      <m:e>
                        <m:r>
                          <a:rPr lang="vi-VN" sz="2200" b="1">
                            <a:solidFill>
                              <a:srgbClr val="991B1B"/>
                            </a:solidFill>
                            <a:latin typeface="Cambria Math" panose="02040503050406030204" pitchFamily="18" charset="0"/>
                          </a:rPr>
                          <m:t>y</m:t>
                        </m:r>
                      </m:e>
                      <m:sub>
                        <m:r>
                          <a:rPr lang="vi-VN" sz="2200" b="1">
                            <a:solidFill>
                              <a:srgbClr val="991B1B"/>
                            </a:solidFill>
                            <a:latin typeface="Cambria Math" panose="02040503050406030204" pitchFamily="18" charset="0"/>
                          </a:rPr>
                          <m:t>CĐ</m:t>
                        </m:r>
                      </m:sub>
                    </m:sSub>
                    <m:r>
                      <a:rPr lang="vi-VN" sz="2200" b="1">
                        <a:solidFill>
                          <a:srgbClr val="991B1B"/>
                        </a:solidFill>
                        <a:latin typeface="Cambria Math" panose="02040503050406030204" pitchFamily="18" charset="0"/>
                      </a:rPr>
                      <m:t>=y(−2)=−2</m:t>
                    </m:r>
                  </m:oMath>
                </a14:m>
                <a:r>
                  <a:rPr sz="2200" b="1">
                    <a:solidFill>
                      <a:srgbClr val="991B1B"/>
                    </a:solidFill>
                    <a:latin typeface="Calibri"/>
                  </a:rPr>
                  <a:t>; </a:t>
                </a:r>
                <a14:m>
                  <m:oMath xmlns:m="http://schemas.openxmlformats.org/officeDocument/2006/math">
                    <m:sSub>
                      <m:e>
                        <m:r>
                          <a:rPr lang="vi-VN" sz="2200" b="1">
                            <a:solidFill>
                              <a:srgbClr val="991B1B"/>
                            </a:solidFill>
                            <a:latin typeface="Cambria Math" panose="02040503050406030204" pitchFamily="18" charset="0"/>
                          </a:rPr>
                          <m:t>y</m:t>
                        </m:r>
                      </m:e>
                      <m:sub>
                        <m:r>
                          <a:rPr lang="vi-VN" sz="2200" b="1">
                            <a:solidFill>
                              <a:srgbClr val="991B1B"/>
                            </a:solidFill>
                            <a:latin typeface="Cambria Math" panose="02040503050406030204" pitchFamily="18" charset="0"/>
                          </a:rPr>
                          <m:t>CT</m:t>
                        </m:r>
                      </m:sub>
                    </m:sSub>
                    <m:r>
                      <a:rPr lang="vi-VN" sz="2200" b="1">
                        <a:solidFill>
                          <a:srgbClr val="991B1B"/>
                        </a:solidFill>
                        <a:latin typeface="Cambria Math" panose="02040503050406030204" pitchFamily="18" charset="0"/>
                      </a:rPr>
                      <m:t>=y(0)=2</m:t>
                    </m:r>
                  </m:oMath>
                </a14:m>
              </a:p>
            </p:txBody>
          </p:sp>
        </mc:Choice>
        <mc:Fallback>
          <p:sp>
            <p:nvSpPr>
              <p:cNvPr id="9" name="TextBox 8"/>
              <p:cNvSpPr txBox="1"/>
              <p:nvPr/>
            </p:nvSpPr>
            <p:spPr>
              <a:xfrm>
                <a:off x="914400" y="3072765"/>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d) </a:t>
                </a:r>
                <a:r>
                  <a:rPr lang="vi-VN"/>
                  <a:t>y_{CĐ}=y(-2)=-2</a:t>
                </a:r>
                <a:r>
                  <a:rPr sz="2200" b="1">
                    <a:solidFill>
                      <a:srgbClr val="991B1B"/>
                    </a:solidFill>
                    <a:latin typeface="Calibri"/>
                  </a:rPr>
                  <a:t>; </a:t>
                </a:r>
                <a:r>
                  <a:rPr lang="vi-VN"/>
                  <a:t>y_{CT}=y(0)=2</a:t>
                </a: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35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9842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1.41.</a:t>
                </a:r>
                <a:r>
                  <a:rPr sz="2400">
                    <a:solidFill>
                      <a:srgbClr val="1E293B"/>
                    </a:solidFill>
                    <a:latin typeface="Calibri"/>
                  </a:rPr>
                  <a:t> Tìm giá trị lớn nhất và giá trị nhỏ nhất (nếu có) của các hàm số sau:</a:t>
                </a:r>
              </a:p>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2x+1</m:t>
                        </m:r>
                      </m:num>
                      <m:den>
                        <m:r>
                          <a:rPr lang="vi-VN" sz="2400" b="0">
                            <a:solidFill>
                              <a:srgbClr val="1E293B"/>
                            </a:solidFill>
                            <a:latin typeface="Cambria Math" panose="02040503050406030204" pitchFamily="18" charset="0"/>
                          </a:rPr>
                          <m:t>3x−2</m:t>
                        </m:r>
                      </m:den>
                    </m:f>
                  </m:oMath>
                </a14:m>
                <a:r>
                  <a:rPr sz="2400">
                    <a:solidFill>
                      <a:srgbClr val="1E293B"/>
                    </a:solidFill>
                    <a:latin typeface="Calibri"/>
                  </a:rPr>
                  <a:t> trên nửa khoảng </a:t>
                </a:r>
                <a14:m>
                  <m:oMath xmlns:m="http://schemas.openxmlformats.org/officeDocument/2006/math">
                    <m:r>
                      <a:rPr lang="vi-VN" sz="2400" b="0">
                        <a:solidFill>
                          <a:srgbClr val="1E293B"/>
                        </a:solidFill>
                        <a:latin typeface="Cambria Math" panose="02040503050406030204" pitchFamily="18" charset="0"/>
                      </a:rPr>
                      <m:t>[2;+∞)</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y=</m:t>
                    </m:r>
                    <m:rad>
                      <m:radPr>
                        <m:degHide m:val="on"/>
                      </m:radPr>
                      <m:deg/>
                      <m:e>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e>
                    </m:rad>
                  </m:oMath>
                </a14:m>
              </a:p>
              <a:p>
                <a:pPr algn="l">
                  <a:spcAft>
                    <a:spcPts val="800"/>
                  </a:spcAft>
                </a:pPr>
                <a:r>
                  <a:rPr sz="2400" b="1">
                    <a:solidFill>
                      <a:srgbClr val="1E40AF"/>
                    </a:solidFill>
                    <a:latin typeface="Calibri"/>
                  </a:rPr>
                  <a:t>Gợi mở: Trên nửa khoảng: giới hạn có phải là một giá trị của hàm số?</a:t>
                </a:r>
              </a:p>
            </p:txBody>
          </p:sp>
        </mc:Choice>
        <mc:Fallback>
          <p:sp>
            <p:nvSpPr>
              <p:cNvPr id="7" name="TextBox 6"/>
              <p:cNvSpPr txBox="1"/>
              <p:nvPr/>
            </p:nvSpPr>
            <p:spPr>
              <a:xfrm>
                <a:off x="731520" y="1463040"/>
                <a:ext cx="10789920" cy="259842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1.41.</a:t>
                </a:r>
                <a:r>
                  <a:rPr sz="2400">
                    <a:solidFill>
                      <a:srgbClr val="1E293B"/>
                    </a:solidFill>
                    <a:latin typeface="Calibri"/>
                  </a:rPr>
                  <a:t> Tìm giá trị lớn nhất và giá trị nhỏ nhất (nếu có) của các hàm số sau:</a:t>
                </a:r>
              </a:p>
              <a:p>
                <a:pPr algn="l" marL="365760" indent="-365760">
                  <a:spcAft>
                    <a:spcPts val="800"/>
                  </a:spcAft>
                  <a:buClr>
                    <a:srgbClr val="1E40AF"/>
                  </a:buClr>
                  <a:buFont typeface="Arial"/>
                  <a:buChar char="•"/>
                </a:pPr>
                <a:r>
                  <a:rPr sz="2400">
                    <a:solidFill>
                      <a:srgbClr val="1E293B"/>
                    </a:solidFill>
                    <a:latin typeface="Calibri"/>
                  </a:rPr>
                  <a:t>a) </a:t>
                </a:r>
                <a:r>
                  <a:rPr lang="vi-VN"/>
                  <a:t>y=\frac{2x+1}{3x-2}</a:t>
                </a:r>
                <a:r>
                  <a:rPr sz="2400">
                    <a:solidFill>
                      <a:srgbClr val="1E293B"/>
                    </a:solidFill>
                    <a:latin typeface="Calibri"/>
                  </a:rPr>
                  <a:t> trên nửa khoảng </a:t>
                </a:r>
                <a:r>
                  <a:rPr lang="vi-VN"/>
                  <a:t>[2;+\infty)</a:t>
                </a:r>
              </a:p>
              <a:p>
                <a:pPr algn="l" marL="365760" indent="-365760">
                  <a:spcAft>
                    <a:spcPts val="800"/>
                  </a:spcAft>
                  <a:buClr>
                    <a:srgbClr val="1E40AF"/>
                  </a:buClr>
                  <a:buFont typeface="Arial"/>
                  <a:buChar char="•"/>
                </a:pPr>
                <a:r>
                  <a:rPr sz="2400">
                    <a:solidFill>
                      <a:srgbClr val="1E293B"/>
                    </a:solidFill>
                    <a:latin typeface="Calibri"/>
                  </a:rPr>
                  <a:t>b) </a:t>
                </a:r>
                <a:r>
                  <a:rPr lang="vi-VN"/>
                  <a:t>y=\sqrt{2-x^2}</a:t>
                </a:r>
              </a:p>
              <a:p>
                <a:pPr algn="l">
                  <a:spcAft>
                    <a:spcPts val="800"/>
                  </a:spcAft>
                </a:pPr>
                <a:r>
                  <a:rPr sz="2400" b="1">
                    <a:solidFill>
                      <a:srgbClr val="1E40AF"/>
                    </a:solidFill>
                    <a:latin typeface="Calibri"/>
                  </a:rPr>
                  <a:t>Gợi mở: Trên nửa khoảng: giới hạn có phải là một giá trị của hàm số?</a:t>
                </a: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36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6291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−7</m:t>
                        </m:r>
                      </m:num>
                      <m:den>
                        <m:sSup>
                          <m:e>
                            <m:d>
                              <m:dPr>
                                <m:sepChr m:val=""/>
                              </m:dPr>
                              <m:e>
                                <m:r>
                                  <a:rPr lang="vi-VN" sz="2200" b="0">
                                    <a:solidFill>
                                      <a:srgbClr val="1E293B"/>
                                    </a:solidFill>
                                    <a:latin typeface="Cambria Math" panose="02040503050406030204" pitchFamily="18" charset="0"/>
                                  </a:rPr>
                                  <m:t>3</m:t>
                                </m:r>
                                <m:r>
                                  <a:rPr lang="vi-VN" sz="2200" b="0">
                                    <a:solidFill>
                                      <a:srgbClr val="1E293B"/>
                                    </a:solidFill>
                                    <a:latin typeface="Cambria Math" panose="02040503050406030204" pitchFamily="18" charset="0"/>
                                  </a:rPr>
                                  <m:t>x</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2</m:t>
                                </m:r>
                              </m:e>
                            </m:d>
                          </m:e>
                          <m:sup>
                            <m:r>
                              <a:rPr lang="vi-VN" sz="2200" b="0">
                                <a:solidFill>
                                  <a:srgbClr val="1E293B"/>
                                </a:solidFill>
                                <a:latin typeface="Cambria Math" panose="02040503050406030204" pitchFamily="18" charset="0"/>
                              </a:rPr>
                              <m:t>2</m:t>
                            </m:r>
                          </m:sup>
                        </m:sSup>
                      </m:den>
                    </m:f>
                    <m:r>
                      <a:rPr lang="vi-VN" sz="2200" b="0">
                        <a:solidFill>
                          <a:srgbClr val="1E293B"/>
                        </a:solidFill>
                        <a:latin typeface="Cambria Math" panose="02040503050406030204" pitchFamily="18" charset="0"/>
                      </a:rPr>
                      <m:t>&lt;0</m:t>
                    </m:r>
                  </m:oMath>
                </a14:m>
                <a:r>
                  <a:rPr sz="2200">
                    <a:solidFill>
                      <a:srgbClr val="1E293B"/>
                    </a:solidFill>
                    <a:latin typeface="Calibri"/>
                  </a:rPr>
                  <a:t>: hàm số nghịch biến trên </a:t>
                </a:r>
                <a14:m>
                  <m:oMath xmlns:m="http://schemas.openxmlformats.org/officeDocument/2006/math">
                    <m:r>
                      <a:rPr lang="vi-VN" sz="2200" b="0">
                        <a:solidFill>
                          <a:srgbClr val="1E293B"/>
                        </a:solidFill>
                        <a:latin typeface="Cambria Math" panose="02040503050406030204" pitchFamily="18" charset="0"/>
                      </a:rPr>
                      <m:t>[2;+∞)</m:t>
                    </m:r>
                  </m:oMath>
                </a14:m>
              </a:p>
              <a:p>
                <a:pPr algn="l" marL="365760" indent="-365760">
                  <a:spcAft>
                    <a:spcPts val="800"/>
                  </a:spcAft>
                  <a:buClr>
                    <a:srgbClr val="1E40AF"/>
                  </a:buClr>
                  <a:buFont typeface="Arial"/>
                  <a:buChar char="•"/>
                </a:pPr>
                <a:r>
                  <a:rPr sz="2200">
                    <a:solidFill>
                      <a:srgbClr val="1E293B"/>
                    </a:solidFill>
                    <a:latin typeface="Calibri"/>
                  </a:rPr>
                  <a:t>GTLN bằng </a:t>
                </a:r>
                <a14:m>
                  <m:oMath xmlns:m="http://schemas.openxmlformats.org/officeDocument/2006/math">
                    <m:r>
                      <a:rPr lang="vi-VN" sz="2200" b="0">
                        <a:solidFill>
                          <a:srgbClr val="1E293B"/>
                        </a:solidFill>
                        <a:latin typeface="Cambria Math" panose="02040503050406030204" pitchFamily="18" charset="0"/>
                      </a:rPr>
                      <m:t>y(2)=</m:t>
                    </m:r>
                    <m:f>
                      <m:fPr>
                        <m:type m:val="bar"/>
                      </m:fPr>
                      <m:num>
                        <m:r>
                          <a:rPr lang="vi-VN" sz="2200" b="0">
                            <a:solidFill>
                              <a:srgbClr val="1E293B"/>
                            </a:solidFill>
                            <a:latin typeface="Cambria Math" panose="02040503050406030204" pitchFamily="18" charset="0"/>
                          </a:rPr>
                          <m:t>5</m:t>
                        </m:r>
                      </m:num>
                      <m:den>
                        <m:r>
                          <a:rPr lang="vi-VN" sz="2200" b="0">
                            <a:solidFill>
                              <a:srgbClr val="1E293B"/>
                            </a:solidFill>
                            <a:latin typeface="Cambria Math" panose="02040503050406030204" pitchFamily="18" charset="0"/>
                          </a:rPr>
                          <m:t>4</m:t>
                        </m:r>
                      </m:den>
                    </m:f>
                  </m:oMath>
                </a14:m>
                <a:r>
                  <a:rPr sz="2200">
                    <a:solidFill>
                      <a:srgbClr val="1E293B"/>
                    </a:solidFill>
                    <a:latin typeface="Calibri"/>
                  </a:rPr>
                  <a:t>; </a:t>
                </a:r>
                <a14:m>
                  <m:oMath xmlns:m="http://schemas.openxmlformats.org/officeDocument/2006/math">
                    <m:limLow>
                      <m:e>
                        <m:r>
                          <m:rPr>
                            <m:sty m:val="p"/>
                          </m:rP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x→+∞</m:t>
                        </m:r>
                      </m:lim>
                    </m:limLow>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2</m:t>
                        </m:r>
                      </m:num>
                      <m:den>
                        <m:r>
                          <a:rPr lang="vi-VN" sz="2200" b="0">
                            <a:solidFill>
                              <a:srgbClr val="1E293B"/>
                            </a:solidFill>
                            <a:latin typeface="Cambria Math" panose="02040503050406030204" pitchFamily="18" charset="0"/>
                          </a:rPr>
                          <m:t>3</m:t>
                        </m:r>
                      </m:den>
                    </m:f>
                  </m:oMath>
                </a14:m>
                <a:r>
                  <a:rPr sz="2200">
                    <a:solidFill>
                      <a:srgbClr val="1E293B"/>
                    </a:solidFill>
                    <a:latin typeface="Calibri"/>
                  </a:rPr>
                  <a:t> nhưng </a:t>
                </a:r>
                <a14:m>
                  <m:oMath xmlns:m="http://schemas.openxmlformats.org/officeDocument/2006/math">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2</m:t>
                        </m:r>
                      </m:num>
                      <m:den>
                        <m:r>
                          <a:rPr lang="vi-VN" sz="2200" b="0">
                            <a:solidFill>
                              <a:srgbClr val="1E293B"/>
                            </a:solidFill>
                            <a:latin typeface="Cambria Math" panose="02040503050406030204" pitchFamily="18" charset="0"/>
                          </a:rPr>
                          <m:t>3</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7</m:t>
                        </m:r>
                      </m:num>
                      <m:den>
                        <m:r>
                          <a:rPr lang="vi-VN" sz="2200" b="0">
                            <a:solidFill>
                              <a:srgbClr val="1E293B"/>
                            </a:solidFill>
                            <a:latin typeface="Cambria Math" panose="02040503050406030204" pitchFamily="18" charset="0"/>
                          </a:rPr>
                          <m:t>3(3x−2)</m:t>
                        </m:r>
                      </m:den>
                    </m:f>
                    <m:r>
                      <a:rPr lang="vi-VN" sz="2200" b="0">
                        <a:solidFill>
                          <a:srgbClr val="1E293B"/>
                        </a:solidFill>
                        <a:latin typeface="Cambria Math" panose="02040503050406030204" pitchFamily="18" charset="0"/>
                      </a:rPr>
                      <m:t>&gt;0</m:t>
                    </m:r>
                  </m:oMath>
                </a14:m>
              </a:p>
            </p:txBody>
          </p:sp>
        </mc:Choice>
        <mc:Fallback>
          <p:sp>
            <p:nvSpPr>
              <p:cNvPr id="7" name="TextBox 6"/>
              <p:cNvSpPr txBox="1"/>
              <p:nvPr/>
            </p:nvSpPr>
            <p:spPr>
              <a:xfrm>
                <a:off x="731520" y="1463040"/>
                <a:ext cx="10789920" cy="196291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r>
                  <a:rPr lang="vi-VN"/>
                  <a:t>y'=\frac{-7}{(3x-2)^2}&lt;0</a:t>
                </a:r>
                <a:r>
                  <a:rPr sz="2200">
                    <a:solidFill>
                      <a:srgbClr val="1E293B"/>
                    </a:solidFill>
                    <a:latin typeface="Calibri"/>
                  </a:rPr>
                  <a:t>: hàm số nghịch biến trên </a:t>
                </a:r>
                <a:r>
                  <a:rPr lang="vi-VN"/>
                  <a:t>[2;+\infty)</a:t>
                </a:r>
              </a:p>
              <a:p>
                <a:pPr algn="l" marL="365760" indent="-365760">
                  <a:spcAft>
                    <a:spcPts val="800"/>
                  </a:spcAft>
                  <a:buClr>
                    <a:srgbClr val="1E40AF"/>
                  </a:buClr>
                  <a:buFont typeface="Arial"/>
                  <a:buChar char="•"/>
                </a:pPr>
                <a:r>
                  <a:rPr sz="2200">
                    <a:solidFill>
                      <a:srgbClr val="1E293B"/>
                    </a:solidFill>
                    <a:latin typeface="Calibri"/>
                  </a:rPr>
                  <a:t>GTLN bằng </a:t>
                </a:r>
                <a:r>
                  <a:rPr lang="vi-VN"/>
                  <a:t>y(2)=\frac{5}{4}</a:t>
                </a:r>
                <a:r>
                  <a:rPr sz="2200">
                    <a:solidFill>
                      <a:srgbClr val="1E293B"/>
                    </a:solidFill>
                    <a:latin typeface="Calibri"/>
                  </a:rPr>
                  <a:t>; </a:t>
                </a:r>
                <a:r>
                  <a:rPr lang="vi-VN"/>
                  <a:t>\lim_{x\to+\infty}y=\frac{2}{3}</a:t>
                </a:r>
                <a:r>
                  <a:rPr sz="2200">
                    <a:solidFill>
                      <a:srgbClr val="1E293B"/>
                    </a:solidFill>
                    <a:latin typeface="Calibri"/>
                  </a:rPr>
                  <a:t> nhưng </a:t>
                </a:r>
                <a:r>
                  <a:rPr lang="vi-VN"/>
                  <a:t>y-\frac{2}{3}=\frac{7}{3(3x-2)}&gt;0</a:t>
                </a: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1.41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37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74574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Nên </a:t>
                </a:r>
                <a14:m>
                  <m:oMath xmlns:m="http://schemas.openxmlformats.org/officeDocument/2006/math">
                    <m:r>
                      <a:rPr lang="vi-VN" sz="2200" b="0">
                        <a:solidFill>
                          <a:srgbClr val="1E293B"/>
                        </a:solidFill>
                        <a:latin typeface="Cambria Math" panose="02040503050406030204" pitchFamily="18" charset="0"/>
                      </a:rPr>
                      <m:t>y</m:t>
                    </m:r>
                  </m:oMath>
                </a14:m>
                <a:r>
                  <a:rPr sz="2200">
                    <a:solidFill>
                      <a:srgbClr val="1E293B"/>
                    </a:solidFill>
                    <a:latin typeface="Calibri"/>
                  </a:rPr>
                  <a:t> không đạt giá trị </a:t>
                </a:r>
                <a14:m>
                  <m:oMath xmlns:m="http://schemas.openxmlformats.org/officeDocument/2006/math">
                    <m:f>
                      <m:fPr>
                        <m:type m:val="bar"/>
                      </m:fPr>
                      <m:num>
                        <m:r>
                          <a:rPr lang="vi-VN" sz="2200" b="0">
                            <a:solidFill>
                              <a:srgbClr val="1E293B"/>
                            </a:solidFill>
                            <a:latin typeface="Cambria Math" panose="02040503050406030204" pitchFamily="18" charset="0"/>
                          </a:rPr>
                          <m:t>2</m:t>
                        </m:r>
                      </m:num>
                      <m:den>
                        <m:r>
                          <a:rPr lang="vi-VN" sz="2200" b="0">
                            <a:solidFill>
                              <a:srgbClr val="1E293B"/>
                            </a:solidFill>
                            <a:latin typeface="Cambria Math" panose="02040503050406030204" pitchFamily="18" charset="0"/>
                          </a:rPr>
                          <m:t>3</m:t>
                        </m:r>
                      </m:den>
                    </m:f>
                  </m:oMath>
                </a14:m>
                <a:r>
                  <a:rPr sz="2200">
                    <a:solidFill>
                      <a:srgbClr val="1E293B"/>
                    </a:solidFill>
                    <a:latin typeface="Calibri"/>
                  </a:rPr>
                  <a:t>: không có GTNN</a:t>
                </a:r>
              </a:p>
              <a:p>
                <a:pPr algn="l" marL="365760" indent="-365760">
                  <a:spcAft>
                    <a:spcPts val="800"/>
                  </a:spcAft>
                  <a:buClr>
                    <a:srgbClr val="1E40AF"/>
                  </a:buClr>
                  <a:buFont typeface="Arial"/>
                  <a:buChar char="•"/>
                </a:pPr>
                <a:r>
                  <a:rPr sz="2200">
                    <a:solidFill>
                      <a:srgbClr val="1E293B"/>
                    </a:solidFill>
                    <a:latin typeface="Calibri"/>
                  </a:rPr>
                  <a:t>b) Tập xác định </a:t>
                </a:r>
                <a14:m>
                  <m:oMath xmlns:m="http://schemas.openxmlformats.org/officeDocument/2006/math">
                    <m:d>
                      <m:dPr>
                        <m:begChr m:val="["/>
                        <m:sepChr m:val=""/>
                        <m:endChr m:val="]"/>
                      </m:dPr>
                      <m:e>
                        <m:r>
                          <a:rPr lang="vi-VN" sz="2200" b="0">
                            <a:solidFill>
                              <a:srgbClr val="1E293B"/>
                            </a:solidFill>
                            <a:latin typeface="Cambria Math" panose="02040503050406030204" pitchFamily="18" charset="0"/>
                          </a:rPr>
                          <m:t>−</m:t>
                        </m:r>
                        <m:rad>
                          <m:radPr>
                            <m:degHide m:val="on"/>
                          </m:radPr>
                          <m:deg/>
                          <m:e>
                            <m:r>
                              <a:rPr lang="vi-VN" sz="2200" b="0">
                                <a:solidFill>
                                  <a:srgbClr val="1E293B"/>
                                </a:solidFill>
                                <a:latin typeface="Cambria Math" panose="02040503050406030204" pitchFamily="18" charset="0"/>
                              </a:rPr>
                              <m:t>2</m:t>
                            </m:r>
                          </m:e>
                        </m:rad>
                        <m:r>
                          <a:rPr lang="vi-VN" sz="2200" b="0">
                            <a:solidFill>
                              <a:srgbClr val="1E293B"/>
                            </a:solidFill>
                            <a:latin typeface="Cambria Math" panose="02040503050406030204" pitchFamily="18" charset="0"/>
                          </a:rPr>
                          <m:t>;</m:t>
                        </m:r>
                        <m:rad>
                          <m:radPr>
                            <m:degHide m:val="on"/>
                          </m:radPr>
                          <m:deg/>
                          <m:e>
                            <m:r>
                              <a:rPr lang="vi-VN" sz="2200" b="0">
                                <a:solidFill>
                                  <a:srgbClr val="1E293B"/>
                                </a:solidFill>
                                <a:latin typeface="Cambria Math" panose="02040503050406030204" pitchFamily="18" charset="0"/>
                              </a:rPr>
                              <m:t>2</m:t>
                            </m:r>
                          </m:e>
                        </m:rad>
                      </m:e>
                    </m:d>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−x</m:t>
                        </m:r>
                      </m:num>
                      <m:den>
                        <m:rad>
                          <m:radPr>
                            <m:degHide m:val="on"/>
                          </m:radPr>
                          <m:deg/>
                          <m:e>
                            <m:r>
                              <a:rPr lang="vi-VN" sz="2200" b="0">
                                <a:solidFill>
                                  <a:srgbClr val="1E293B"/>
                                </a:solidFill>
                                <a:latin typeface="Cambria Math" panose="02040503050406030204" pitchFamily="18" charset="0"/>
                              </a:rPr>
                              <m:t>2−</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e>
                        </m:rad>
                      </m:den>
                    </m:f>
                    <m:r>
                      <a:rPr lang="vi-VN" sz="2200" b="0">
                        <a:solidFill>
                          <a:srgbClr val="1E293B"/>
                        </a:solidFill>
                        <a:latin typeface="Cambria Math" panose="02040503050406030204" pitchFamily="18" charset="0"/>
                      </a:rPr>
                      <m:t>=0⇔x=0</m:t>
                    </m:r>
                  </m:oMath>
                </a14:m>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y(0)=</m:t>
                    </m:r>
                    <m:rad>
                      <m:radPr>
                        <m:degHide m:val="on"/>
                      </m:radPr>
                      <m:deg/>
                      <m:e>
                        <m:r>
                          <a:rPr lang="vi-VN" sz="2200" b="0">
                            <a:solidFill>
                              <a:srgbClr val="1E293B"/>
                            </a:solidFill>
                            <a:latin typeface="Cambria Math" panose="02040503050406030204" pitchFamily="18" charset="0"/>
                          </a:rPr>
                          <m:t>2</m:t>
                        </m:r>
                      </m:e>
                    </m:rad>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y(±</m:t>
                    </m:r>
                    <m:rad>
                      <m:radPr>
                        <m:degHide m:val="on"/>
                      </m:radPr>
                      <m:deg/>
                      <m:e>
                        <m:r>
                          <a:rPr lang="vi-VN" sz="2200" b="0">
                            <a:solidFill>
                              <a:srgbClr val="1E293B"/>
                            </a:solidFill>
                            <a:latin typeface="Cambria Math" panose="02040503050406030204" pitchFamily="18" charset="0"/>
                          </a:rPr>
                          <m:t>2</m:t>
                        </m:r>
                      </m:e>
                    </m:rad>
                    <m:r>
                      <a:rPr lang="vi-VN" sz="2200" b="0">
                        <a:solidFill>
                          <a:srgbClr val="1E293B"/>
                        </a:solidFill>
                        <a:latin typeface="Cambria Math" panose="02040503050406030204" pitchFamily="18" charset="0"/>
                      </a:rPr>
                      <m:t>)=0</m:t>
                    </m:r>
                  </m:oMath>
                </a14:m>
              </a:p>
            </p:txBody>
          </p:sp>
        </mc:Choice>
        <mc:Fallback>
          <p:sp>
            <p:nvSpPr>
              <p:cNvPr id="7" name="TextBox 6"/>
              <p:cNvSpPr txBox="1"/>
              <p:nvPr/>
            </p:nvSpPr>
            <p:spPr>
              <a:xfrm>
                <a:off x="731520" y="1463040"/>
                <a:ext cx="10789920" cy="174574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Nên </a:t>
                </a:r>
                <a:r>
                  <a:rPr lang="vi-VN"/>
                  <a:t>y</a:t>
                </a:r>
                <a:r>
                  <a:rPr sz="2200">
                    <a:solidFill>
                      <a:srgbClr val="1E293B"/>
                    </a:solidFill>
                    <a:latin typeface="Calibri"/>
                  </a:rPr>
                  <a:t> không đạt giá trị </a:t>
                </a:r>
                <a:r>
                  <a:rPr lang="vi-VN"/>
                  <a:t>\frac{2}{3}</a:t>
                </a:r>
                <a:r>
                  <a:rPr sz="2200">
                    <a:solidFill>
                      <a:srgbClr val="1E293B"/>
                    </a:solidFill>
                    <a:latin typeface="Calibri"/>
                  </a:rPr>
                  <a:t>: không có GTNN</a:t>
                </a:r>
              </a:p>
              <a:p>
                <a:pPr algn="l" marL="365760" indent="-365760">
                  <a:spcAft>
                    <a:spcPts val="800"/>
                  </a:spcAft>
                  <a:buClr>
                    <a:srgbClr val="1E40AF"/>
                  </a:buClr>
                  <a:buFont typeface="Arial"/>
                  <a:buChar char="•"/>
                </a:pPr>
                <a:r>
                  <a:rPr sz="2200">
                    <a:solidFill>
                      <a:srgbClr val="1E293B"/>
                    </a:solidFill>
                    <a:latin typeface="Calibri"/>
                  </a:rPr>
                  <a:t>b) Tập xác định </a:t>
                </a:r>
                <a:r>
                  <a:rPr lang="vi-VN"/>
                  <a:t>[-\sqrt 2;\sqrt 2]</a:t>
                </a:r>
                <a:r>
                  <a:rPr sz="2200">
                    <a:solidFill>
                      <a:srgbClr val="1E293B"/>
                    </a:solidFill>
                    <a:latin typeface="Calibri"/>
                  </a:rPr>
                  <a:t>; </a:t>
                </a:r>
                <a:r>
                  <a:rPr lang="vi-VN"/>
                  <a:t>y'=\frac{-x}{\sqrt{2-x^2}}=0\Leftrightarrow x=0</a:t>
                </a:r>
              </a:p>
              <a:p>
                <a:pPr algn="l" marL="365760" indent="-365760">
                  <a:spcAft>
                    <a:spcPts val="800"/>
                  </a:spcAft>
                  <a:buClr>
                    <a:srgbClr val="1E40AF"/>
                  </a:buClr>
                  <a:buFont typeface="Arial"/>
                  <a:buChar char="•"/>
                </a:pPr>
                <a:r>
                  <a:rPr lang="vi-VN"/>
                  <a:t>y(0)=\sqrt 2</a:t>
                </a:r>
                <a:r>
                  <a:rPr sz="2200">
                    <a:solidFill>
                      <a:srgbClr val="1E293B"/>
                    </a:solidFill>
                    <a:latin typeface="Calibri"/>
                  </a:rPr>
                  <a:t>, </a:t>
                </a:r>
                <a:r>
                  <a:rPr lang="vi-VN"/>
                  <a:t>y(\pm\sqrt 2)=0</a:t>
                </a:r>
              </a:p>
            </p:txBody>
          </p:sp>
        </mc:Fallback>
      </mc:AlternateContent>
      <p:sp>
        <p:nvSpPr>
          <p:cNvPr id="8" name="Rounded Rectangle 7"/>
          <p:cNvSpPr/>
          <p:nvPr/>
        </p:nvSpPr>
        <p:spPr>
          <a:xfrm>
            <a:off x="731520" y="3345942"/>
            <a:ext cx="9601200" cy="882015"/>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345942"/>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a) GTLN </a:t>
                </a:r>
                <a14:m>
                  <m:oMath xmlns:m="http://schemas.openxmlformats.org/officeDocument/2006/math">
                    <m:r>
                      <a:rPr lang="vi-VN" sz="2200" b="1">
                        <a:solidFill>
                          <a:srgbClr val="991B1B"/>
                        </a:solidFill>
                        <a:latin typeface="Cambria Math" panose="02040503050406030204" pitchFamily="18" charset="0"/>
                      </a:rPr>
                      <m:t>=</m:t>
                    </m:r>
                    <m:f>
                      <m:fPr>
                        <m:type m:val="bar"/>
                      </m:fPr>
                      <m:num>
                        <m:r>
                          <a:rPr lang="vi-VN" sz="2200" b="1">
                            <a:solidFill>
                              <a:srgbClr val="991B1B"/>
                            </a:solidFill>
                            <a:latin typeface="Cambria Math" panose="02040503050406030204" pitchFamily="18" charset="0"/>
                          </a:rPr>
                          <m:t>5</m:t>
                        </m:r>
                      </m:num>
                      <m:den>
                        <m:r>
                          <a:rPr lang="vi-VN" sz="2200" b="1">
                            <a:solidFill>
                              <a:srgbClr val="991B1B"/>
                            </a:solidFill>
                            <a:latin typeface="Cambria Math" panose="02040503050406030204" pitchFamily="18" charset="0"/>
                          </a:rPr>
                          <m:t>4</m:t>
                        </m:r>
                      </m:den>
                    </m:f>
                  </m:oMath>
                </a14:m>
                <a:r>
                  <a:rPr sz="2200" b="1">
                    <a:solidFill>
                      <a:srgbClr val="991B1B"/>
                    </a:solidFill>
                    <a:latin typeface="Calibri"/>
                  </a:rPr>
                  <a:t>, không có GTNN; b) GTLN </a:t>
                </a:r>
                <a14:m>
                  <m:oMath xmlns:m="http://schemas.openxmlformats.org/officeDocument/2006/math">
                    <m:r>
                      <a:rPr lang="vi-VN" sz="2200" b="1">
                        <a:solidFill>
                          <a:srgbClr val="991B1B"/>
                        </a:solidFill>
                        <a:latin typeface="Cambria Math" panose="02040503050406030204" pitchFamily="18" charset="0"/>
                      </a:rPr>
                      <m:t>=</m:t>
                    </m:r>
                    <m:rad>
                      <m:radPr>
                        <m:degHide m:val="on"/>
                      </m:radPr>
                      <m:deg/>
                      <m:e>
                        <m:r>
                          <a:rPr lang="vi-VN" sz="2200" b="1">
                            <a:solidFill>
                              <a:srgbClr val="991B1B"/>
                            </a:solidFill>
                            <a:latin typeface="Cambria Math" panose="02040503050406030204" pitchFamily="18" charset="0"/>
                          </a:rPr>
                          <m:t>2</m:t>
                        </m:r>
                      </m:e>
                    </m:rad>
                  </m:oMath>
                </a14:m>
                <a:r>
                  <a:rPr sz="2200" b="1">
                    <a:solidFill>
                      <a:srgbClr val="991B1B"/>
                    </a:solidFill>
                    <a:latin typeface="Calibri"/>
                  </a:rPr>
                  <a:t>, GTNN </a:t>
                </a:r>
                <a14:m>
                  <m:oMath xmlns:m="http://schemas.openxmlformats.org/officeDocument/2006/math">
                    <m:r>
                      <a:rPr lang="vi-VN" sz="2200" b="1">
                        <a:solidFill>
                          <a:srgbClr val="991B1B"/>
                        </a:solidFill>
                        <a:latin typeface="Cambria Math" panose="02040503050406030204" pitchFamily="18" charset="0"/>
                      </a:rPr>
                      <m:t>=0</m:t>
                    </m:r>
                  </m:oMath>
                </a14:m>
              </a:p>
            </p:txBody>
          </p:sp>
        </mc:Choice>
        <mc:Fallback>
          <p:sp>
            <p:nvSpPr>
              <p:cNvPr id="9" name="TextBox 8"/>
              <p:cNvSpPr txBox="1"/>
              <p:nvPr/>
            </p:nvSpPr>
            <p:spPr>
              <a:xfrm>
                <a:off x="914400" y="3345942"/>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a) GTLN </a:t>
                </a:r>
                <a:r>
                  <a:rPr lang="vi-VN"/>
                  <a:t>=\frac{5}{4}</a:t>
                </a:r>
                <a:r>
                  <a:rPr sz="2200" b="1">
                    <a:solidFill>
                      <a:srgbClr val="991B1B"/>
                    </a:solidFill>
                    <a:latin typeface="Calibri"/>
                  </a:rPr>
                  <a:t>, không có GTNN; b) GTLN </a:t>
                </a:r>
                <a:r>
                  <a:rPr lang="vi-VN"/>
                  <a:t>=\sqrt 2</a:t>
                </a:r>
                <a:r>
                  <a:rPr sz="2200" b="1">
                    <a:solidFill>
                      <a:srgbClr val="991B1B"/>
                    </a:solidFill>
                    <a:latin typeface="Calibri"/>
                  </a:rPr>
                  <a:t>, GTNN </a:t>
                </a:r>
                <a:r>
                  <a:rPr lang="vi-VN"/>
                  <a:t>=0</a:t>
                </a: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38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1.42.</a:t>
                </a:r>
                <a:r>
                  <a:rPr sz="2400">
                    <a:solidFill>
                      <a:srgbClr val="1E293B"/>
                    </a:solidFill>
                    <a:latin typeface="Calibri"/>
                  </a:rPr>
                  <a:t> Tìm các tiệm cận của đồ thị các hàm số sau:</a:t>
                </a:r>
              </a:p>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3x−2</m:t>
                        </m:r>
                      </m:num>
                      <m:den>
                        <m:r>
                          <a:rPr lang="vi-VN" sz="2400" b="0">
                            <a:solidFill>
                              <a:srgbClr val="1E293B"/>
                            </a:solidFill>
                            <a:latin typeface="Cambria Math" panose="02040503050406030204" pitchFamily="18" charset="0"/>
                          </a:rPr>
                          <m:t>x+1</m:t>
                        </m:r>
                      </m:den>
                    </m:f>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y=</m:t>
                    </m:r>
                    <m:f>
                      <m:fPr>
                        <m:type m:val="bar"/>
                      </m:fPr>
                      <m:num>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+2x−1</m:t>
                        </m:r>
                      </m:num>
                      <m:den>
                        <m:r>
                          <a:rPr lang="vi-VN" sz="2400" b="0">
                            <a:solidFill>
                              <a:srgbClr val="1E293B"/>
                            </a:solidFill>
                            <a:latin typeface="Cambria Math" panose="02040503050406030204" pitchFamily="18" charset="0"/>
                          </a:rPr>
                          <m:t>2x−1</m:t>
                        </m:r>
                      </m:den>
                    </m:f>
                  </m:oMath>
                </a14:m>
              </a:p>
              <a:p>
                <a:pPr algn="l">
                  <a:spcAft>
                    <a:spcPts val="800"/>
                  </a:spcAft>
                </a:pPr>
                <a:r>
                  <a:rPr sz="2400" b="1">
                    <a:solidFill>
                      <a:srgbClr val="1E40AF"/>
                    </a:solidFill>
                    <a:latin typeface="Calibri"/>
                  </a:rPr>
                  <a:t>Gợi mở: Câu b: chia đa thức để tìm tiệm cận xiên</a:t>
                </a:r>
              </a:p>
            </p:txBody>
          </p:sp>
        </mc:Choice>
        <mc:Fallback>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1.42.</a:t>
                </a:r>
                <a:r>
                  <a:rPr sz="2400">
                    <a:solidFill>
                      <a:srgbClr val="1E293B"/>
                    </a:solidFill>
                    <a:latin typeface="Calibri"/>
                  </a:rPr>
                  <a:t> Tìm các tiệm cận của đồ thị các hàm số sau:</a:t>
                </a:r>
              </a:p>
              <a:p>
                <a:pPr algn="l" marL="365760" indent="-365760">
                  <a:spcAft>
                    <a:spcPts val="800"/>
                  </a:spcAft>
                  <a:buClr>
                    <a:srgbClr val="1E40AF"/>
                  </a:buClr>
                  <a:buFont typeface="Arial"/>
                  <a:buChar char="•"/>
                </a:pPr>
                <a:r>
                  <a:rPr sz="2400">
                    <a:solidFill>
                      <a:srgbClr val="1E293B"/>
                    </a:solidFill>
                    <a:latin typeface="Calibri"/>
                  </a:rPr>
                  <a:t>a) </a:t>
                </a:r>
                <a:r>
                  <a:rPr lang="vi-VN"/>
                  <a:t>y=\frac{3x-2}{x+1}</a:t>
                </a:r>
              </a:p>
              <a:p>
                <a:pPr algn="l" marL="365760" indent="-365760">
                  <a:spcAft>
                    <a:spcPts val="800"/>
                  </a:spcAft>
                  <a:buClr>
                    <a:srgbClr val="1E40AF"/>
                  </a:buClr>
                  <a:buFont typeface="Arial"/>
                  <a:buChar char="•"/>
                </a:pPr>
                <a:r>
                  <a:rPr sz="2400">
                    <a:solidFill>
                      <a:srgbClr val="1E293B"/>
                    </a:solidFill>
                    <a:latin typeface="Calibri"/>
                  </a:rPr>
                  <a:t>b) </a:t>
                </a:r>
                <a:r>
                  <a:rPr lang="vi-VN"/>
                  <a:t>y=\frac{x^2+2x-1}{2x-1}</a:t>
                </a:r>
              </a:p>
              <a:p>
                <a:pPr algn="l">
                  <a:spcAft>
                    <a:spcPts val="800"/>
                  </a:spcAft>
                </a:pPr>
                <a:r>
                  <a:rPr sz="2400" b="1">
                    <a:solidFill>
                      <a:srgbClr val="1E40AF"/>
                    </a:solidFill>
                    <a:latin typeface="Calibri"/>
                  </a:rPr>
                  <a:t>Gợi mở: Câu b: chia đa thức để tìm tiệm cận xiên</a:t>
                </a: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39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9953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limLow>
                      <m:e>
                        <m:r>
                          <m:rPr>
                            <m:sty m:val="p"/>
                          </m:rP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x→−</m:t>
                        </m:r>
                        <m:sSup>
                          <m:e>
                            <m:r>
                              <a:rPr lang="vi-VN" sz="2200" b="0">
                                <a:solidFill>
                                  <a:srgbClr val="1E293B"/>
                                </a:solidFill>
                                <a:latin typeface="Cambria Math" panose="02040503050406030204" pitchFamily="18" charset="0"/>
                              </a:rPr>
                              <m:t>1</m:t>
                            </m:r>
                          </m:e>
                          <m:sup>
                            <m:r>
                              <a:rPr lang="vi-VN" sz="2200" b="0">
                                <a:solidFill>
                                  <a:srgbClr val="1E293B"/>
                                </a:solidFill>
                                <a:latin typeface="Cambria Math" panose="02040503050406030204" pitchFamily="18" charset="0"/>
                              </a:rPr>
                              <m:t>±</m:t>
                            </m:r>
                          </m:sup>
                        </m:sSup>
                      </m:lim>
                    </m:limLow>
                    <m:r>
                      <a:rPr lang="vi-VN" sz="2200" b="0">
                        <a:solidFill>
                          <a:srgbClr val="1E293B"/>
                        </a:solidFill>
                        <a:latin typeface="Cambria Math" panose="02040503050406030204" pitchFamily="18" charset="0"/>
                      </a:rPr>
                      <m:t>y=∓∞</m:t>
                    </m:r>
                  </m:oMath>
                </a14:m>
                <a:r>
                  <a:rPr sz="2200">
                    <a:solidFill>
                      <a:srgbClr val="1E293B"/>
                    </a:solidFill>
                    <a:latin typeface="Calibri"/>
                  </a:rPr>
                  <a:t> ⇒ TCĐ </a:t>
                </a:r>
                <a14:m>
                  <m:oMath xmlns:m="http://schemas.openxmlformats.org/officeDocument/2006/math">
                    <m:r>
                      <a:rPr lang="vi-VN" sz="2200" b="0">
                        <a:solidFill>
                          <a:srgbClr val="1E293B"/>
                        </a:solidFill>
                        <a:latin typeface="Cambria Math" panose="02040503050406030204" pitchFamily="18" charset="0"/>
                      </a:rPr>
                      <m:t>x=−1</m:t>
                    </m:r>
                  </m:oMath>
                </a14:m>
                <a:r>
                  <a:rPr sz="2200">
                    <a:solidFill>
                      <a:srgbClr val="1E293B"/>
                    </a:solidFill>
                    <a:latin typeface="Calibri"/>
                  </a:rPr>
                  <a:t>; </a:t>
                </a:r>
                <a14:m>
                  <m:oMath xmlns:m="http://schemas.openxmlformats.org/officeDocument/2006/math">
                    <m:limLow>
                      <m:e>
                        <m:r>
                          <m:rPr>
                            <m:sty m:val="p"/>
                          </m:rP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x→±∞</m:t>
                        </m:r>
                      </m:lim>
                    </m:limLow>
                    <m:r>
                      <a:rPr lang="vi-VN" sz="2200" b="0">
                        <a:solidFill>
                          <a:srgbClr val="1E293B"/>
                        </a:solidFill>
                        <a:latin typeface="Cambria Math" panose="02040503050406030204" pitchFamily="18" charset="0"/>
                      </a:rPr>
                      <m:t>y=3</m:t>
                    </m:r>
                  </m:oMath>
                </a14:m>
                <a:r>
                  <a:rPr sz="2200">
                    <a:solidFill>
                      <a:srgbClr val="1E293B"/>
                    </a:solidFill>
                    <a:latin typeface="Calibri"/>
                  </a:rPr>
                  <a:t> ⇒ TCN </a:t>
                </a:r>
                <a14:m>
                  <m:oMath xmlns:m="http://schemas.openxmlformats.org/officeDocument/2006/math">
                    <m:r>
                      <a:rPr lang="vi-VN" sz="2200" b="0">
                        <a:solidFill>
                          <a:srgbClr val="1E293B"/>
                        </a:solidFill>
                        <a:latin typeface="Cambria Math" panose="02040503050406030204" pitchFamily="18" charset="0"/>
                      </a:rPr>
                      <m:t>y=3</m:t>
                    </m:r>
                  </m:oMath>
                </a14:m>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+2x−1=(2x−1)</m:t>
                    </m:r>
                    <m:d>
                      <m:dPr>
                        <m:sepChr m:val="+"/>
                      </m:dPr>
                      <m:e>
                        <m:f>
                          <m:fPr>
                            <m:type m:val="bar"/>
                          </m:fPr>
                          <m:num>
                            <m:r>
                              <a:rPr lang="vi-VN" sz="2200" b="0">
                                <a:solidFill>
                                  <a:srgbClr val="1E293B"/>
                                </a:solidFill>
                                <a:latin typeface="Cambria Math" panose="02040503050406030204" pitchFamily="18" charset="0"/>
                              </a:rPr>
                              <m:t>x</m:t>
                            </m:r>
                          </m:num>
                          <m:den>
                            <m:r>
                              <a:rPr lang="vi-VN" sz="2200" b="0">
                                <a:solidFill>
                                  <a:srgbClr val="1E293B"/>
                                </a:solidFill>
                                <a:latin typeface="Cambria Math" panose="02040503050406030204" pitchFamily="18" charset="0"/>
                              </a:rPr>
                              <m:t>2</m:t>
                            </m:r>
                          </m:den>
                        </m:f>
                      </m:e>
                      <m:e>
                        <m:f>
                          <m:fPr>
                            <m:type m:val="bar"/>
                          </m:fPr>
                          <m:num>
                            <m:r>
                              <a:rPr lang="vi-VN" sz="2200" b="0">
                                <a:solidFill>
                                  <a:srgbClr val="1E293B"/>
                                </a:solidFill>
                                <a:latin typeface="Cambria Math" panose="02040503050406030204" pitchFamily="18" charset="0"/>
                              </a:rPr>
                              <m:t>5</m:t>
                            </m:r>
                          </m:num>
                          <m:den>
                            <m:r>
                              <a:rPr lang="vi-VN" sz="2200" b="0">
                                <a:solidFill>
                                  <a:srgbClr val="1E293B"/>
                                </a:solidFill>
                                <a:latin typeface="Cambria Math" panose="02040503050406030204" pitchFamily="18" charset="0"/>
                              </a:rPr>
                              <m:t>4</m:t>
                            </m:r>
                          </m:den>
                        </m:f>
                      </m:e>
                    </m:d>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oMath>
                </a14:m>
              </a:p>
              <a:p>
                <a:pPr algn="l" marL="365760" indent="-365760">
                  <a:spcAft>
                    <a:spcPts val="800"/>
                  </a:spcAft>
                  <a:buClr>
                    <a:srgbClr val="1E40AF"/>
                  </a:buClr>
                  <a:buFont typeface="Arial"/>
                  <a:buChar char="•"/>
                </a:pPr>
                <a:r>
                  <a:rPr sz="2200">
                    <a:solidFill>
                      <a:srgbClr val="1E293B"/>
                    </a:solidFill>
                    <a:latin typeface="Calibri"/>
                  </a:rPr>
                  <a:t>nên </a:t>
                </a:r>
                <a14:m>
                  <m:oMath xmlns:m="http://schemas.openxmlformats.org/officeDocument/2006/math">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x</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5</m:t>
                        </m:r>
                      </m:num>
                      <m:den>
                        <m:r>
                          <a:rPr lang="vi-VN" sz="2200" b="0">
                            <a:solidFill>
                              <a:srgbClr val="1E293B"/>
                            </a:solidFill>
                            <a:latin typeface="Cambria Math" panose="02040503050406030204" pitchFamily="18" charset="0"/>
                          </a:rPr>
                          <m:t>4</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4(2x−1)</m:t>
                        </m:r>
                      </m:den>
                    </m:f>
                  </m:oMath>
                </a14:m>
                <a:r>
                  <a:rPr sz="2200">
                    <a:solidFill>
                      <a:srgbClr val="1E293B"/>
                    </a:solidFill>
                    <a:latin typeface="Calibri"/>
                  </a:rPr>
                  <a:t>, </a:t>
                </a:r>
                <a14:m>
                  <m:oMath xmlns:m="http://schemas.openxmlformats.org/officeDocument/2006/math">
                    <m:limLow>
                      <m:e>
                        <m:r>
                          <m:rPr>
                            <m:sty m:val="p"/>
                          </m:rP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x→±∞</m:t>
                        </m:r>
                      </m:lim>
                    </m:limLow>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4(2x−1)</m:t>
                        </m:r>
                      </m:den>
                    </m:f>
                    <m:r>
                      <a:rPr lang="vi-VN" sz="2200" b="0">
                        <a:solidFill>
                          <a:srgbClr val="1E293B"/>
                        </a:solidFill>
                        <a:latin typeface="Cambria Math" panose="02040503050406030204" pitchFamily="18" charset="0"/>
                      </a:rPr>
                      <m:t>=0</m:t>
                    </m:r>
                  </m:oMath>
                </a14:m>
              </a:p>
            </p:txBody>
          </p:sp>
        </mc:Choice>
        <mc:Fallback>
          <p:sp>
            <p:nvSpPr>
              <p:cNvPr id="7" name="TextBox 6"/>
              <p:cNvSpPr txBox="1"/>
              <p:nvPr/>
            </p:nvSpPr>
            <p:spPr>
              <a:xfrm>
                <a:off x="731520" y="1463040"/>
                <a:ext cx="10789920" cy="239953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r>
                  <a:rPr lang="vi-VN"/>
                  <a:t>\lim_{x\to -1^\pm}y=\mp\infty</a:t>
                </a:r>
                <a:r>
                  <a:rPr sz="2200">
                    <a:solidFill>
                      <a:srgbClr val="1E293B"/>
                    </a:solidFill>
                    <a:latin typeface="Calibri"/>
                  </a:rPr>
                  <a:t> ⇒ TCĐ </a:t>
                </a:r>
                <a:r>
                  <a:rPr lang="vi-VN"/>
                  <a:t>x=-1</a:t>
                </a:r>
                <a:r>
                  <a:rPr sz="2200">
                    <a:solidFill>
                      <a:srgbClr val="1E293B"/>
                    </a:solidFill>
                    <a:latin typeface="Calibri"/>
                  </a:rPr>
                  <a:t>; </a:t>
                </a:r>
                <a:r>
                  <a:rPr lang="vi-VN"/>
                  <a:t>\lim_{x\to\pm\infty}y=3</a:t>
                </a:r>
                <a:r>
                  <a:rPr sz="2200">
                    <a:solidFill>
                      <a:srgbClr val="1E293B"/>
                    </a:solidFill>
                    <a:latin typeface="Calibri"/>
                  </a:rPr>
                  <a:t> ⇒ TCN </a:t>
                </a:r>
                <a:r>
                  <a:rPr lang="vi-VN"/>
                  <a:t>y=3</a:t>
                </a:r>
              </a:p>
              <a:p>
                <a:pPr algn="l" marL="365760" indent="-365760">
                  <a:spcAft>
                    <a:spcPts val="800"/>
                  </a:spcAft>
                  <a:buClr>
                    <a:srgbClr val="1E40AF"/>
                  </a:buClr>
                  <a:buFont typeface="Arial"/>
                  <a:buChar char="•"/>
                </a:pPr>
                <a:r>
                  <a:rPr sz="2200">
                    <a:solidFill>
                      <a:srgbClr val="1E293B"/>
                    </a:solidFill>
                    <a:latin typeface="Calibri"/>
                  </a:rPr>
                  <a:t>b) </a:t>
                </a:r>
                <a:r>
                  <a:rPr lang="vi-VN"/>
                  <a:t>x^2+2x-1=(2x-1)\paren{\frac{x}{2}+\frac{5}{4}}+\frac{1}{4}</a:t>
                </a:r>
              </a:p>
              <a:p>
                <a:pPr algn="l" marL="365760" indent="-365760">
                  <a:spcAft>
                    <a:spcPts val="800"/>
                  </a:spcAft>
                  <a:buClr>
                    <a:srgbClr val="1E40AF"/>
                  </a:buClr>
                  <a:buFont typeface="Arial"/>
                  <a:buChar char="•"/>
                </a:pPr>
                <a:r>
                  <a:rPr sz="2200">
                    <a:solidFill>
                      <a:srgbClr val="1E293B"/>
                    </a:solidFill>
                    <a:latin typeface="Calibri"/>
                  </a:rPr>
                  <a:t>nên </a:t>
                </a:r>
                <a:r>
                  <a:rPr lang="vi-VN"/>
                  <a:t>y=\frac{x}{2}+\frac{5}{4}+\frac{1}{4(2x-1)}</a:t>
                </a:r>
                <a:r>
                  <a:rPr sz="2200">
                    <a:solidFill>
                      <a:srgbClr val="1E293B"/>
                    </a:solidFill>
                    <a:latin typeface="Calibri"/>
                  </a:rPr>
                  <a:t>, </a:t>
                </a:r>
                <a:r>
                  <a:rPr lang="vi-VN"/>
                  <a:t>\lim_{x\to\pm\infty}\frac{1}{4(2x-1)}=0</a:t>
                </a: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1.42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40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TCĐ </a:t>
                </a:r>
                <a14:m>
                  <m:oMath xmlns:m="http://schemas.openxmlformats.org/officeDocument/2006/math">
                    <m:r>
                      <a:rPr lang="vi-VN" sz="2200" b="0">
                        <a:solidFill>
                          <a:srgbClr val="1E293B"/>
                        </a:solidFill>
                        <a:latin typeface="Cambria Math" panose="02040503050406030204" pitchFamily="18" charset="0"/>
                      </a:rPr>
                      <m:t>x=</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oMath>
                </a14:m>
              </a:p>
            </p:txBody>
          </p:sp>
        </mc:Choice>
        <mc:Fallback>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TCĐ </a:t>
                </a:r>
                <a:r>
                  <a:rPr lang="vi-VN"/>
                  <a:t>x=\frac{1}{2}</a:t>
                </a:r>
              </a:p>
            </p:txBody>
          </p:sp>
        </mc:Fallback>
      </mc:AlternateContent>
      <p:sp>
        <p:nvSpPr>
          <p:cNvPr id="8" name="Rounded Rectangle 7"/>
          <p:cNvSpPr/>
          <p:nvPr/>
        </p:nvSpPr>
        <p:spPr>
          <a:xfrm>
            <a:off x="731520" y="2236597"/>
            <a:ext cx="9601200" cy="107060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236597"/>
                <a:ext cx="9235440" cy="1070609"/>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b) Tiệm cận xiên </a:t>
                </a:r>
                <a14:m>
                  <m:oMath xmlns:m="http://schemas.openxmlformats.org/officeDocument/2006/math">
                    <m:r>
                      <a:rPr lang="vi-VN" sz="2200" b="1">
                        <a:solidFill>
                          <a:srgbClr val="991B1B"/>
                        </a:solidFill>
                        <a:latin typeface="Cambria Math" panose="02040503050406030204" pitchFamily="18" charset="0"/>
                      </a:rPr>
                      <m:t>y=</m:t>
                    </m:r>
                    <m:f>
                      <m:fPr>
                        <m:type m:val="bar"/>
                      </m:fPr>
                      <m:num>
                        <m:r>
                          <a:rPr lang="vi-VN" sz="2200" b="1">
                            <a:solidFill>
                              <a:srgbClr val="991B1B"/>
                            </a:solidFill>
                            <a:latin typeface="Cambria Math" panose="02040503050406030204" pitchFamily="18" charset="0"/>
                          </a:rPr>
                          <m:t>1</m:t>
                        </m:r>
                      </m:num>
                      <m:den>
                        <m:r>
                          <a:rPr lang="vi-VN" sz="2200" b="1">
                            <a:solidFill>
                              <a:srgbClr val="991B1B"/>
                            </a:solidFill>
                            <a:latin typeface="Cambria Math" panose="02040503050406030204" pitchFamily="18" charset="0"/>
                          </a:rPr>
                          <m:t>2</m:t>
                        </m:r>
                      </m:den>
                    </m:f>
                    <m:r>
                      <a:rPr lang="vi-VN" sz="2200" b="1">
                        <a:solidFill>
                          <a:srgbClr val="991B1B"/>
                        </a:solidFill>
                        <a:latin typeface="Cambria Math" panose="02040503050406030204" pitchFamily="18" charset="0"/>
                      </a:rPr>
                      <m:t>x+</m:t>
                    </m:r>
                    <m:f>
                      <m:fPr>
                        <m:type m:val="bar"/>
                      </m:fPr>
                      <m:num>
                        <m:r>
                          <a:rPr lang="vi-VN" sz="2200" b="1">
                            <a:solidFill>
                              <a:srgbClr val="991B1B"/>
                            </a:solidFill>
                            <a:latin typeface="Cambria Math" panose="02040503050406030204" pitchFamily="18" charset="0"/>
                          </a:rPr>
                          <m:t>5</m:t>
                        </m:r>
                      </m:num>
                      <m:den>
                        <m:r>
                          <a:rPr lang="vi-VN" sz="2200" b="1">
                            <a:solidFill>
                              <a:srgbClr val="991B1B"/>
                            </a:solidFill>
                            <a:latin typeface="Cambria Math" panose="02040503050406030204" pitchFamily="18" charset="0"/>
                          </a:rPr>
                          <m:t>4</m:t>
                        </m:r>
                      </m:den>
                    </m:f>
                  </m:oMath>
                </a14:m>
              </a:p>
            </p:txBody>
          </p:sp>
        </mc:Choice>
        <mc:Fallback>
          <p:sp>
            <p:nvSpPr>
              <p:cNvPr id="9" name="TextBox 8"/>
              <p:cNvSpPr txBox="1"/>
              <p:nvPr/>
            </p:nvSpPr>
            <p:spPr>
              <a:xfrm>
                <a:off x="914400" y="2236597"/>
                <a:ext cx="9235440" cy="1070609"/>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b) Tiệm cận xiên </a:t>
                </a:r>
                <a:r>
                  <a:rPr lang="vi-VN"/>
                  <a:t>y=\frac{1}{2}x+\frac{5}{4}</a:t>
                </a: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KHẢO SÁT – VẬN DỤNG</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(T24)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1.43A</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42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1.43.</a:t>
                </a:r>
                <a:r>
                  <a:rPr sz="2400">
                    <a:solidFill>
                      <a:srgbClr val="1E293B"/>
                    </a:solidFill>
                    <a:latin typeface="Calibri"/>
                  </a:rPr>
                  <a:t> Khảo sát sự biến thiên và vẽ đồ thị của các hàm số sau:</a:t>
                </a:r>
              </a:p>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+6</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−9x+12</m:t>
                    </m:r>
                  </m:oMath>
                </a14:m>
              </a:p>
              <a:p>
                <a:pPr algn="l">
                  <a:spcAft>
                    <a:spcPts val="800"/>
                  </a:spcAft>
                </a:pPr>
                <a:r>
                  <a:rPr sz="2400" b="1">
                    <a:solidFill>
                      <a:srgbClr val="1E40AF"/>
                    </a:solidFill>
                    <a:latin typeface="Calibri"/>
                  </a:rPr>
                  <a:t>Gợi mở: Tập xác định → đạo hàm → giới hạn → bảng biến thiên → đồ thị</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1.43.</a:t>
                </a:r>
                <a:r>
                  <a:rPr sz="2400">
                    <a:solidFill>
                      <a:srgbClr val="1E293B"/>
                    </a:solidFill>
                    <a:latin typeface="Calibri"/>
                  </a:rPr>
                  <a:t> Khảo sát sự biến thiên và vẽ đồ thị của các hàm số sau:</a:t>
                </a:r>
              </a:p>
              <a:p>
                <a:pPr algn="l" marL="365760" indent="-365760">
                  <a:spcAft>
                    <a:spcPts val="800"/>
                  </a:spcAft>
                  <a:buClr>
                    <a:srgbClr val="1E40AF"/>
                  </a:buClr>
                  <a:buFont typeface="Arial"/>
                  <a:buChar char="•"/>
                </a:pPr>
                <a:r>
                  <a:rPr sz="2400">
                    <a:solidFill>
                      <a:srgbClr val="1E293B"/>
                    </a:solidFill>
                    <a:latin typeface="Calibri"/>
                  </a:rPr>
                  <a:t>a) </a:t>
                </a:r>
                <a:r>
                  <a:rPr lang="vi-VN"/>
                  <a:t>y=-x^3+6x^2-9x+12</a:t>
                </a:r>
              </a:p>
              <a:p>
                <a:pPr algn="l">
                  <a:spcAft>
                    <a:spcPts val="800"/>
                  </a:spcAft>
                </a:pPr>
                <a:r>
                  <a:rPr sz="2400" b="1">
                    <a:solidFill>
                      <a:srgbClr val="1E40AF"/>
                    </a:solidFill>
                    <a:latin typeface="Calibri"/>
                  </a:rPr>
                  <a:t>Gợi mở: Tập xác định → đạo hàm → giới hạn → bảng biến thiên → đồ thị</a:t>
                </a: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1.43A</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43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7589520" cy="20899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=−3</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+12x−9=−3(x−1)(x−3)</m:t>
                    </m:r>
                  </m:oMath>
                </a14:m>
              </a:p>
              <a:p>
                <a:pPr algn="l" marL="365760" indent="-365760">
                  <a:spcAft>
                    <a:spcPts val="800"/>
                  </a:spcAft>
                  <a:buClr>
                    <a:srgbClr val="1E40AF"/>
                  </a:buClr>
                  <a:buFont typeface="Arial"/>
                  <a:buChar char="•"/>
                </a:pPr>
                <a:r>
                  <a:rPr sz="2000">
                    <a:solidFill>
                      <a:srgbClr val="1E293B"/>
                    </a:solidFill>
                    <a:latin typeface="Calibri"/>
                  </a:rPr>
                  <a:t>Nghịch biến trên </a:t>
                </a:r>
                <a14:m>
                  <m:oMath xmlns:m="http://schemas.openxmlformats.org/officeDocument/2006/math">
                    <m:d>
                      <m:dPr>
                        <m:sepChr m:val="∞"/>
                      </m:dPr>
                      <m:e>
                        <m:r>
                          <a:rPr lang="vi-VN" sz="2000" b="0">
                            <a:solidFill>
                              <a:srgbClr val="1E293B"/>
                            </a:solidFill>
                            <a:latin typeface="Cambria Math" panose="02040503050406030204" pitchFamily="18" charset="0"/>
                          </a:rPr>
                          <m:t>−</m:t>
                        </m:r>
                      </m:e>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e>
                    </m:d>
                  </m:oMath>
                </a14:m>
                <a:r>
                  <a:rPr sz="2000">
                    <a:solidFill>
                      <a:srgbClr val="1E293B"/>
                    </a:solidFill>
                    <a:latin typeface="Calibri"/>
                  </a:rPr>
                  <a:t>, </a:t>
                </a:r>
                <a14:m>
                  <m:oMath xmlns:m="http://schemas.openxmlformats.org/officeDocument/2006/math">
                    <m:d>
                      <m:dPr>
                        <m:sepChr m:val=""/>
                      </m:dPr>
                      <m:e>
                        <m:r>
                          <a:rPr lang="vi-VN" sz="2000" b="0">
                            <a:solidFill>
                              <a:srgbClr val="1E293B"/>
                            </a:solidFill>
                            <a:latin typeface="Cambria Math" panose="02040503050406030204" pitchFamily="18" charset="0"/>
                          </a:rPr>
                          <m:t>3</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e>
                    </m:d>
                  </m:oMath>
                </a14:m>
                <a:r>
                  <a:rPr sz="2000">
                    <a:solidFill>
                      <a:srgbClr val="1E293B"/>
                    </a:solidFill>
                    <a:latin typeface="Calibri"/>
                  </a:rPr>
                  <a:t>; đồng biến trên </a:t>
                </a:r>
                <a14:m>
                  <m:oMath xmlns:m="http://schemas.openxmlformats.org/officeDocument/2006/math">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3</m:t>
                        </m:r>
                      </m:e>
                    </m:d>
                  </m:oMath>
                </a14:m>
              </a:p>
              <a:p>
                <a:pPr algn="l" marL="365760" indent="-365760">
                  <a:spcAft>
                    <a:spcPts val="800"/>
                  </a:spcAft>
                  <a:buClr>
                    <a:srgbClr val="1E40AF"/>
                  </a:buClr>
                  <a:buFont typeface="Arial"/>
                  <a:buChar char="•"/>
                </a:pPr>
                <a:r>
                  <a:rPr sz="2000">
                    <a:solidFill>
                      <a:srgbClr val="1E293B"/>
                    </a:solidFill>
                    <a:latin typeface="Calibri"/>
                  </a:rPr>
                  <a:t>Cực tiểu </a:t>
                </a:r>
                <a14:m>
                  <m:oMath xmlns:m="http://schemas.openxmlformats.org/officeDocument/2006/math">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m:t>
                        </m:r>
                      </m:e>
                    </m:d>
                  </m:oMath>
                </a14:m>
                <a:r>
                  <a:rPr sz="2000">
                    <a:solidFill>
                      <a:srgbClr val="1E293B"/>
                    </a:solidFill>
                    <a:latin typeface="Calibri"/>
                  </a:rPr>
                  <a:t>, cực đại </a:t>
                </a:r>
                <a14:m>
                  <m:oMath xmlns:m="http://schemas.openxmlformats.org/officeDocument/2006/math">
                    <m:d>
                      <m:dPr>
                        <m:sepChr m:val=""/>
                      </m:dPr>
                      <m:e>
                        <m:r>
                          <a:rPr lang="vi-VN" sz="2000" b="0">
                            <a:solidFill>
                              <a:srgbClr val="1E293B"/>
                            </a:solidFill>
                            <a:latin typeface="Cambria Math" panose="02040503050406030204" pitchFamily="18" charset="0"/>
                          </a:rPr>
                          <m:t>3</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12</m:t>
                        </m:r>
                      </m:e>
                    </m:d>
                  </m:oMath>
                </a14:m>
                <a:r>
                  <a:rPr sz="2000">
                    <a:solidFill>
                      <a:srgbClr val="1E293B"/>
                    </a:solidFill>
                    <a:latin typeface="Calibri"/>
                  </a:rPr>
                  <a:t>; </a:t>
                </a:r>
                <a14:m>
                  <m:oMath xmlns:m="http://schemas.openxmlformats.org/officeDocument/2006/math">
                    <m:limLow>
                      <m:e>
                        <m:r>
                          <m:rPr>
                            <m:sty m:val="p"/>
                          </m:rP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x→−∞</m:t>
                        </m:r>
                      </m:lim>
                    </m:limLow>
                    <m:r>
                      <a:rPr lang="vi-VN" sz="2000" b="0">
                        <a:solidFill>
                          <a:srgbClr val="1E293B"/>
                        </a:solidFill>
                        <a:latin typeface="Cambria Math" panose="02040503050406030204" pitchFamily="18" charset="0"/>
                      </a:rPr>
                      <m:t>y=+∞</m:t>
                    </m:r>
                  </m:oMath>
                </a14:m>
                <a:r>
                  <a:rPr sz="2000">
                    <a:solidFill>
                      <a:srgbClr val="1E293B"/>
                    </a:solidFill>
                    <a:latin typeface="Calibri"/>
                  </a:rPr>
                  <a:t>, </a:t>
                </a:r>
                <a14:m>
                  <m:oMath xmlns:m="http://schemas.openxmlformats.org/officeDocument/2006/math">
                    <m:limLow>
                      <m:e>
                        <m:r>
                          <m:rPr>
                            <m:sty m:val="p"/>
                          </m:rP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x→+∞</m:t>
                        </m:r>
                      </m:lim>
                    </m:limLow>
                    <m:r>
                      <a:rPr lang="vi-VN" sz="2000" b="0">
                        <a:solidFill>
                          <a:srgbClr val="1E293B"/>
                        </a:solidFill>
                        <a:latin typeface="Cambria Math" panose="02040503050406030204" pitchFamily="18" charset="0"/>
                      </a:rPr>
                      <m:t>y=−∞</m:t>
                    </m:r>
                  </m:oMath>
                </a14:m>
              </a:p>
              <a:p>
                <a:pPr algn="l" marL="365760" indent="-365760">
                  <a:spcAft>
                    <a:spcPts val="800"/>
                  </a:spcAft>
                  <a:buClr>
                    <a:srgbClr val="1E40AF"/>
                  </a:buClr>
                  <a:buFont typeface="Arial"/>
                  <a:buChar char="•"/>
                </a:pPr>
                <a:r>
                  <a:rPr sz="2000">
                    <a:solidFill>
                      <a:srgbClr val="1E293B"/>
                    </a:solidFill>
                    <a:latin typeface="Calibri"/>
                  </a:rPr>
                  <a:t>Đồ thị cắt </a:t>
                </a:r>
                <a14:m>
                  <m:oMath xmlns:m="http://schemas.openxmlformats.org/officeDocument/2006/math">
                    <m:r>
                      <a:rPr lang="vi-VN" sz="2000" b="0">
                        <a:solidFill>
                          <a:srgbClr val="1E293B"/>
                        </a:solidFill>
                        <a:latin typeface="Cambria Math" panose="02040503050406030204" pitchFamily="18" charset="0"/>
                      </a:rPr>
                      <m:t>Oy</m:t>
                    </m:r>
                  </m:oMath>
                </a14:m>
                <a:r>
                  <a:rPr sz="2000">
                    <a:solidFill>
                      <a:srgbClr val="1E293B"/>
                    </a:solidFill>
                    <a:latin typeface="Calibri"/>
                  </a:rPr>
                  <a:t> tại </a:t>
                </a:r>
                <a14:m>
                  <m:oMath xmlns:m="http://schemas.openxmlformats.org/officeDocument/2006/math">
                    <m:d>
                      <m:dPr>
                        <m:sepChr m:val=""/>
                      </m:dPr>
                      <m:e>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12</m:t>
                        </m:r>
                      </m:e>
                    </m:d>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=0⇔x=2</m:t>
                    </m:r>
                  </m:oMath>
                </a14:m>
              </a:p>
            </p:txBody>
          </p:sp>
        </mc:Choice>
        <mc:Fallback>
          <p:sp>
            <p:nvSpPr>
              <p:cNvPr id="7" name="TextBox 6"/>
              <p:cNvSpPr txBox="1"/>
              <p:nvPr/>
            </p:nvSpPr>
            <p:spPr>
              <a:xfrm>
                <a:off x="731520" y="1463040"/>
                <a:ext cx="7589520" cy="20899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y'=-3x^2+12x-9=-3(x-1)(x-3)</a:t>
                </a:r>
              </a:p>
              <a:p>
                <a:pPr algn="l" marL="365760" indent="-365760">
                  <a:spcAft>
                    <a:spcPts val="800"/>
                  </a:spcAft>
                  <a:buClr>
                    <a:srgbClr val="1E40AF"/>
                  </a:buClr>
                  <a:buFont typeface="Arial"/>
                  <a:buChar char="•"/>
                </a:pPr>
                <a:r>
                  <a:rPr sz="2000">
                    <a:solidFill>
                      <a:srgbClr val="1E293B"/>
                    </a:solidFill>
                    <a:latin typeface="Calibri"/>
                  </a:rPr>
                  <a:t>Nghịch biến trên </a:t>
                </a:r>
                <a:r>
                  <a:rPr lang="vi-VN"/>
                  <a:t>(-\infty;1)</a:t>
                </a:r>
                <a:r>
                  <a:rPr sz="2000">
                    <a:solidFill>
                      <a:srgbClr val="1E293B"/>
                    </a:solidFill>
                    <a:latin typeface="Calibri"/>
                  </a:rPr>
                  <a:t>, </a:t>
                </a:r>
                <a:r>
                  <a:rPr lang="vi-VN"/>
                  <a:t>(3;+\infty)</a:t>
                </a:r>
                <a:r>
                  <a:rPr sz="2000">
                    <a:solidFill>
                      <a:srgbClr val="1E293B"/>
                    </a:solidFill>
                    <a:latin typeface="Calibri"/>
                  </a:rPr>
                  <a:t>; đồng biến trên </a:t>
                </a:r>
                <a:r>
                  <a:rPr lang="vi-VN"/>
                  <a:t>(1;3)</a:t>
                </a:r>
              </a:p>
              <a:p>
                <a:pPr algn="l" marL="365760" indent="-365760">
                  <a:spcAft>
                    <a:spcPts val="800"/>
                  </a:spcAft>
                  <a:buClr>
                    <a:srgbClr val="1E40AF"/>
                  </a:buClr>
                  <a:buFont typeface="Arial"/>
                  <a:buChar char="•"/>
                </a:pPr>
                <a:r>
                  <a:rPr sz="2000">
                    <a:solidFill>
                      <a:srgbClr val="1E293B"/>
                    </a:solidFill>
                    <a:latin typeface="Calibri"/>
                  </a:rPr>
                  <a:t>Cực tiểu </a:t>
                </a:r>
                <a:r>
                  <a:rPr lang="vi-VN"/>
                  <a:t>(1;8)</a:t>
                </a:r>
                <a:r>
                  <a:rPr sz="2000">
                    <a:solidFill>
                      <a:srgbClr val="1E293B"/>
                    </a:solidFill>
                    <a:latin typeface="Calibri"/>
                  </a:rPr>
                  <a:t>, cực đại </a:t>
                </a:r>
                <a:r>
                  <a:rPr lang="vi-VN"/>
                  <a:t>(3;12)</a:t>
                </a:r>
                <a:r>
                  <a:rPr sz="2000">
                    <a:solidFill>
                      <a:srgbClr val="1E293B"/>
                    </a:solidFill>
                    <a:latin typeface="Calibri"/>
                  </a:rPr>
                  <a:t>; </a:t>
                </a:r>
                <a:r>
                  <a:rPr lang="vi-VN"/>
                  <a:t>\lim_{x\to-\infty}y=+\infty</a:t>
                </a:r>
                <a:r>
                  <a:rPr sz="2000">
                    <a:solidFill>
                      <a:srgbClr val="1E293B"/>
                    </a:solidFill>
                    <a:latin typeface="Calibri"/>
                  </a:rPr>
                  <a:t>, </a:t>
                </a:r>
                <a:r>
                  <a:rPr lang="vi-VN"/>
                  <a:t>\lim_{x\to+\infty}y=-\infty</a:t>
                </a:r>
              </a:p>
              <a:p>
                <a:pPr algn="l" marL="365760" indent="-365760">
                  <a:spcAft>
                    <a:spcPts val="800"/>
                  </a:spcAft>
                  <a:buClr>
                    <a:srgbClr val="1E40AF"/>
                  </a:buClr>
                  <a:buFont typeface="Arial"/>
                  <a:buChar char="•"/>
                </a:pPr>
                <a:r>
                  <a:rPr sz="2000">
                    <a:solidFill>
                      <a:srgbClr val="1E293B"/>
                    </a:solidFill>
                    <a:latin typeface="Calibri"/>
                  </a:rPr>
                  <a:t>Đồ thị cắt </a:t>
                </a:r>
                <a:r>
                  <a:rPr lang="vi-VN"/>
                  <a:t>Oy</a:t>
                </a:r>
                <a:r>
                  <a:rPr sz="2000">
                    <a:solidFill>
                      <a:srgbClr val="1E293B"/>
                    </a:solidFill>
                    <a:latin typeface="Calibri"/>
                  </a:rPr>
                  <a:t> tại </a:t>
                </a:r>
                <a:r>
                  <a:rPr lang="vi-VN"/>
                  <a:t>(0;12)</a:t>
                </a:r>
                <a:r>
                  <a:rPr sz="2000">
                    <a:solidFill>
                      <a:srgbClr val="1E293B"/>
                    </a:solidFill>
                    <a:latin typeface="Calibri"/>
                  </a:rPr>
                  <a:t>; </a:t>
                </a:r>
                <a:r>
                  <a:rPr lang="vi-VN"/>
                  <a:t>y''=0\Leftrightarrow x=2</a:t>
                </a:r>
              </a:p>
            </p:txBody>
          </p:sp>
        </mc:Fallback>
      </mc:AlternateContent>
      <p:sp>
        <p:nvSpPr>
          <p:cNvPr id="8" name="Rounded Rectangle 7"/>
          <p:cNvSpPr/>
          <p:nvPr/>
        </p:nvSpPr>
        <p:spPr>
          <a:xfrm>
            <a:off x="731520" y="3690112"/>
            <a:ext cx="7589520" cy="6553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90112"/>
                <a:ext cx="7223760" cy="655320"/>
              </a:xfrm>
              <a:prstGeom prst="rect">
                <a:avLst/>
              </a:prstGeom>
              <a:noFill/>
            </p:spPr>
            <p:txBody>
              <a:bodyPr wrap="square" anchor="ctr" lIns="45720" rIns="45720">
                <a:spAutoFit/>
              </a:bodyPr>
              <a:lstStyle/>
              <a:p>
                <a:pPr algn="l">
                  <a:spcAft>
                    <a:spcPts val="400"/>
                  </a:spcAft>
                </a:pPr>
                <a:r>
                  <a:rPr sz="2000" b="1">
                    <a:solidFill>
                      <a:srgbClr val="991B1B"/>
                    </a:solidFill>
                    <a:latin typeface="Calibri"/>
                  </a:rPr>
                  <a:t>CT </a:t>
                </a:r>
                <a14:m>
                  <m:oMath xmlns:m="http://schemas.openxmlformats.org/officeDocument/2006/math">
                    <m:d>
                      <m:dPr>
                        <m:sepChr m:val=""/>
                      </m:dPr>
                      <m:e>
                        <m:r>
                          <a:rPr lang="vi-VN" sz="2000" b="1">
                            <a:solidFill>
                              <a:srgbClr val="991B1B"/>
                            </a:solidFill>
                            <a:latin typeface="Cambria Math" panose="02040503050406030204" pitchFamily="18" charset="0"/>
                          </a:rPr>
                          <m:t>1</m:t>
                        </m:r>
                        <m:r>
                          <a:rPr lang="vi-VN" sz="2000" b="1">
                            <a:solidFill>
                              <a:srgbClr val="991B1B"/>
                            </a:solidFill>
                            <a:latin typeface="Cambria Math" panose="02040503050406030204" pitchFamily="18" charset="0"/>
                          </a:rPr>
                          <m:t>;</m:t>
                        </m:r>
                        <m:r>
                          <a:rPr lang="vi-VN" sz="2000" b="1">
                            <a:solidFill>
                              <a:srgbClr val="991B1B"/>
                            </a:solidFill>
                            <a:latin typeface="Cambria Math" panose="02040503050406030204" pitchFamily="18" charset="0"/>
                          </a:rPr>
                          <m:t>8</m:t>
                        </m:r>
                      </m:e>
                    </m:d>
                  </m:oMath>
                </a14:m>
                <a:r>
                  <a:rPr sz="2000" b="1">
                    <a:solidFill>
                      <a:srgbClr val="991B1B"/>
                    </a:solidFill>
                    <a:latin typeface="Calibri"/>
                  </a:rPr>
                  <a:t>, CĐ </a:t>
                </a:r>
                <a14:m>
                  <m:oMath xmlns:m="http://schemas.openxmlformats.org/officeDocument/2006/math">
                    <m:d>
                      <m:dPr>
                        <m:sepChr m:val=""/>
                      </m:dPr>
                      <m:e>
                        <m:r>
                          <a:rPr lang="vi-VN" sz="2000" b="1">
                            <a:solidFill>
                              <a:srgbClr val="991B1B"/>
                            </a:solidFill>
                            <a:latin typeface="Cambria Math" panose="02040503050406030204" pitchFamily="18" charset="0"/>
                          </a:rPr>
                          <m:t>3</m:t>
                        </m:r>
                        <m:r>
                          <a:rPr lang="vi-VN" sz="2000" b="1">
                            <a:solidFill>
                              <a:srgbClr val="991B1B"/>
                            </a:solidFill>
                            <a:latin typeface="Cambria Math" panose="02040503050406030204" pitchFamily="18" charset="0"/>
                          </a:rPr>
                          <m:t>;</m:t>
                        </m:r>
                        <m:r>
                          <a:rPr lang="vi-VN" sz="2000" b="1">
                            <a:solidFill>
                              <a:srgbClr val="991B1B"/>
                            </a:solidFill>
                            <a:latin typeface="Cambria Math" panose="02040503050406030204" pitchFamily="18" charset="0"/>
                          </a:rPr>
                          <m:t>12</m:t>
                        </m:r>
                      </m:e>
                    </m:d>
                  </m:oMath>
                </a14:m>
                <a:r>
                  <a:rPr sz="2000" b="1">
                    <a:solidFill>
                      <a:srgbClr val="991B1B"/>
                    </a:solidFill>
                    <a:latin typeface="Calibri"/>
                  </a:rPr>
                  <a:t>, tâm đối xứng </a:t>
                </a:r>
                <a14:m>
                  <m:oMath xmlns:m="http://schemas.openxmlformats.org/officeDocument/2006/math">
                    <m:d>
                      <m:dPr>
                        <m:sepChr m:val=""/>
                      </m:dPr>
                      <m:e>
                        <m:r>
                          <a:rPr lang="vi-VN" sz="2000" b="1">
                            <a:solidFill>
                              <a:srgbClr val="991B1B"/>
                            </a:solidFill>
                            <a:latin typeface="Cambria Math" panose="02040503050406030204" pitchFamily="18" charset="0"/>
                          </a:rPr>
                          <m:t>2</m:t>
                        </m:r>
                        <m:r>
                          <a:rPr lang="vi-VN" sz="2000" b="1">
                            <a:solidFill>
                              <a:srgbClr val="991B1B"/>
                            </a:solidFill>
                            <a:latin typeface="Cambria Math" panose="02040503050406030204" pitchFamily="18" charset="0"/>
                          </a:rPr>
                          <m:t>;</m:t>
                        </m:r>
                        <m:r>
                          <a:rPr lang="vi-VN" sz="2000" b="1">
                            <a:solidFill>
                              <a:srgbClr val="991B1B"/>
                            </a:solidFill>
                            <a:latin typeface="Cambria Math" panose="02040503050406030204" pitchFamily="18" charset="0"/>
                          </a:rPr>
                          <m:t>10</m:t>
                        </m:r>
                      </m:e>
                    </m:d>
                  </m:oMath>
                </a14:m>
              </a:p>
            </p:txBody>
          </p:sp>
        </mc:Choice>
        <mc:Fallback>
          <p:sp>
            <p:nvSpPr>
              <p:cNvPr id="9" name="TextBox 8"/>
              <p:cNvSpPr txBox="1"/>
              <p:nvPr/>
            </p:nvSpPr>
            <p:spPr>
              <a:xfrm>
                <a:off x="914400" y="3690112"/>
                <a:ext cx="7223760" cy="655320"/>
              </a:xfrm>
              <a:prstGeom prst="rect">
                <a:avLst/>
              </a:prstGeom>
              <a:noFill/>
            </p:spPr>
            <p:txBody>
              <a:bodyPr wrap="square" anchor="ctr" lIns="45720" rIns="45720">
                <a:spAutoFit/>
              </a:bodyPr>
              <a:lstStyle/>
              <a:p>
                <a:pPr algn="l">
                  <a:spcAft>
                    <a:spcPts val="400"/>
                  </a:spcAft>
                </a:pPr>
                <a:r>
                  <a:rPr sz="2000" b="1">
                    <a:solidFill>
                      <a:srgbClr val="991B1B"/>
                    </a:solidFill>
                    <a:latin typeface="Calibri"/>
                  </a:rPr>
                  <a:t>CT </a:t>
                </a:r>
                <a:r>
                  <a:rPr lang="vi-VN"/>
                  <a:t>(1;8)</a:t>
                </a:r>
                <a:r>
                  <a:rPr sz="2000" b="1">
                    <a:solidFill>
                      <a:srgbClr val="991B1B"/>
                    </a:solidFill>
                    <a:latin typeface="Calibri"/>
                  </a:rPr>
                  <a:t>, CĐ </a:t>
                </a:r>
                <a:r>
                  <a:rPr lang="vi-VN"/>
                  <a:t>(3;12)</a:t>
                </a:r>
                <a:r>
                  <a:rPr sz="2000" b="1">
                    <a:solidFill>
                      <a:srgbClr val="991B1B"/>
                    </a:solidFill>
                    <a:latin typeface="Calibri"/>
                  </a:rPr>
                  <a:t>, tâm đối xứng </a:t>
                </a:r>
                <a:r>
                  <a:rPr lang="vi-VN"/>
                  <a:t>(2;10)</a:t>
                </a:r>
              </a:p>
            </p:txBody>
          </p:sp>
        </mc:Fallback>
      </mc:AlternateContent>
      <p:pic>
        <p:nvPicPr>
          <p:cNvPr id="10" name="Picture 9" descr="do_thi_143a.png"/>
          <p:cNvPicPr>
            <a:picLocks noChangeAspect="1"/>
          </p:cNvPicPr>
          <p:nvPr/>
        </p:nvPicPr>
        <p:blipFill>
          <a:blip r:embed="rId2"/>
          <a:stretch>
            <a:fillRect/>
          </a:stretch>
        </p:blipFill>
        <p:spPr>
          <a:xfrm>
            <a:off x="8503920" y="2716173"/>
            <a:ext cx="3291840" cy="2202893"/>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1.43B</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44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1.43.</a:t>
                </a:r>
                <a:r>
                  <a:rPr sz="2400">
                    <a:solidFill>
                      <a:srgbClr val="1E293B"/>
                    </a:solidFill>
                    <a:latin typeface="Calibri"/>
                  </a:rPr>
                  <a:t> Khảo sát sự biến thiên và vẽ đồ thị của các hàm số sau:</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2x−1</m:t>
                        </m:r>
                      </m:num>
                      <m:den>
                        <m:r>
                          <a:rPr lang="vi-VN" sz="2400" b="0">
                            <a:solidFill>
                              <a:srgbClr val="1E293B"/>
                            </a:solidFill>
                            <a:latin typeface="Cambria Math" panose="02040503050406030204" pitchFamily="18" charset="0"/>
                          </a:rPr>
                          <m:t>x+1</m:t>
                        </m:r>
                      </m:den>
                    </m:f>
                  </m:oMath>
                </a14:m>
              </a:p>
              <a:p>
                <a:pPr algn="l">
                  <a:spcAft>
                    <a:spcPts val="800"/>
                  </a:spcAft>
                </a:pPr>
                <a:r>
                  <a:rPr sz="2400" b="1">
                    <a:solidFill>
                      <a:srgbClr val="1E40AF"/>
                    </a:solidFill>
                    <a:latin typeface="Calibri"/>
                  </a:rPr>
                  <a:t>Gợi mở: Xác định hai tiệm cận và giao điểm với hai trục</a:t>
                </a:r>
              </a:p>
            </p:txBody>
          </p:sp>
        </mc:Choice>
        <mc:Fallback>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1.43.</a:t>
                </a:r>
                <a:r>
                  <a:rPr sz="2400">
                    <a:solidFill>
                      <a:srgbClr val="1E293B"/>
                    </a:solidFill>
                    <a:latin typeface="Calibri"/>
                  </a:rPr>
                  <a:t> Khảo sát sự biến thiên và vẽ đồ thị của các hàm số sau:</a:t>
                </a:r>
              </a:p>
              <a:p>
                <a:pPr algn="l" marL="365760" indent="-365760">
                  <a:spcAft>
                    <a:spcPts val="800"/>
                  </a:spcAft>
                  <a:buClr>
                    <a:srgbClr val="1E40AF"/>
                  </a:buClr>
                  <a:buFont typeface="Arial"/>
                  <a:buChar char="•"/>
                </a:pPr>
                <a:r>
                  <a:rPr sz="2400">
                    <a:solidFill>
                      <a:srgbClr val="1E293B"/>
                    </a:solidFill>
                    <a:latin typeface="Calibri"/>
                  </a:rPr>
                  <a:t>b) </a:t>
                </a:r>
                <a:r>
                  <a:rPr lang="vi-VN"/>
                  <a:t>y=\frac{2x-1}{x+1}</a:t>
                </a:r>
              </a:p>
              <a:p>
                <a:pPr algn="l">
                  <a:spcAft>
                    <a:spcPts val="800"/>
                  </a:spcAft>
                </a:pPr>
                <a:r>
                  <a:rPr sz="2400" b="1">
                    <a:solidFill>
                      <a:srgbClr val="1E40AF"/>
                    </a:solidFill>
                    <a:latin typeface="Calibri"/>
                  </a:rPr>
                  <a:t>Gợi mở: Xác định hai tiệm cận và giao điểm với hai trục</a:t>
                </a: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1.43B</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45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7589520" cy="22186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Tập xác định </a:t>
                </a:r>
                <a14:m>
                  <m:oMath xmlns:m="http://schemas.openxmlformats.org/officeDocument/2006/math">
                    <m:r>
                      <a:rPr lang="vi-VN" sz="2200" b="0">
                        <a:solidFill>
                          <a:srgbClr val="1E293B"/>
                        </a:solidFill>
                        <a:latin typeface="Cambria Math" panose="02040503050406030204" pitchFamily="18" charset="0"/>
                      </a:rPr>
                      <m:t>ℝ⧵{−1}</m:t>
                    </m:r>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3</m:t>
                        </m:r>
                      </m:num>
                      <m:den>
                        <m:sSup>
                          <m:e>
                            <m:d>
                              <m:dPr>
                                <m:sepChr m:val=""/>
                              </m:dPr>
                              <m:e>
                                <m:r>
                                  <a:rPr lang="vi-VN" sz="2200" b="0">
                                    <a:solidFill>
                                      <a:srgbClr val="1E293B"/>
                                    </a:solidFill>
                                    <a:latin typeface="Cambria Math" panose="02040503050406030204" pitchFamily="18" charset="0"/>
                                  </a:rPr>
                                  <m:t>x</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e>
                            </m:d>
                          </m:e>
                          <m:sup>
                            <m:r>
                              <a:rPr lang="vi-VN" sz="2200" b="0">
                                <a:solidFill>
                                  <a:srgbClr val="1E293B"/>
                                </a:solidFill>
                                <a:latin typeface="Cambria Math" panose="02040503050406030204" pitchFamily="18" charset="0"/>
                              </a:rPr>
                              <m:t>2</m:t>
                            </m:r>
                          </m:sup>
                        </m:sSup>
                      </m:den>
                    </m:f>
                    <m:r>
                      <a:rPr lang="vi-VN" sz="2200" b="0">
                        <a:solidFill>
                          <a:srgbClr val="1E293B"/>
                        </a:solidFill>
                        <a:latin typeface="Cambria Math" panose="02040503050406030204" pitchFamily="18" charset="0"/>
                      </a:rPr>
                      <m:t>&gt;0</m:t>
                    </m:r>
                  </m:oMath>
                </a14:m>
              </a:p>
              <a:p>
                <a:pPr algn="l" marL="365760" indent="-365760">
                  <a:spcAft>
                    <a:spcPts val="800"/>
                  </a:spcAft>
                  <a:buClr>
                    <a:srgbClr val="1E40AF"/>
                  </a:buClr>
                  <a:buFont typeface="Arial"/>
                  <a:buChar char="•"/>
                </a:pPr>
                <a:r>
                  <a:rPr sz="2200">
                    <a:solidFill>
                      <a:srgbClr val="1E293B"/>
                    </a:solidFill>
                    <a:latin typeface="Calibri"/>
                  </a:rPr>
                  <a:t>Đồng biến trên </a:t>
                </a:r>
                <a14:m>
                  <m:oMath xmlns:m="http://schemas.openxmlformats.org/officeDocument/2006/math">
                    <m:d>
                      <m:dPr>
                        <m:sepChr m:val="∞"/>
                      </m:dPr>
                      <m:e>
                        <m:r>
                          <a:rPr lang="vi-VN" sz="2200" b="0">
                            <a:solidFill>
                              <a:srgbClr val="1E293B"/>
                            </a:solidFill>
                            <a:latin typeface="Cambria Math" panose="02040503050406030204" pitchFamily="18" charset="0"/>
                          </a:rPr>
                          <m:t>−</m:t>
                        </m:r>
                      </m:e>
                      <m:e>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e>
                    </m:d>
                  </m:oMath>
                </a14:m>
                <a:r>
                  <a:rPr sz="2200">
                    <a:solidFill>
                      <a:srgbClr val="1E293B"/>
                    </a:solidFill>
                    <a:latin typeface="Calibri"/>
                  </a:rPr>
                  <a:t> và </a:t>
                </a:r>
                <a14:m>
                  <m:oMath xmlns:m="http://schemas.openxmlformats.org/officeDocument/2006/math">
                    <m:d>
                      <m:dPr>
                        <m:sepChr m:val=""/>
                      </m:dPr>
                      <m:e>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e>
                    </m:d>
                  </m:oMath>
                </a14:m>
              </a:p>
              <a:p>
                <a:pPr algn="l" marL="365760" indent="-365760">
                  <a:spcAft>
                    <a:spcPts val="800"/>
                  </a:spcAft>
                  <a:buClr>
                    <a:srgbClr val="1E40AF"/>
                  </a:buClr>
                  <a:buFont typeface="Arial"/>
                  <a:buChar char="•"/>
                </a:pPr>
                <a:r>
                  <a:rPr sz="2200">
                    <a:solidFill>
                      <a:srgbClr val="1E293B"/>
                    </a:solidFill>
                    <a:latin typeface="Calibri"/>
                  </a:rPr>
                  <a:t>TCĐ </a:t>
                </a:r>
                <a14:m>
                  <m:oMath xmlns:m="http://schemas.openxmlformats.org/officeDocument/2006/math">
                    <m:r>
                      <a:rPr lang="vi-VN" sz="2200" b="0">
                        <a:solidFill>
                          <a:srgbClr val="1E293B"/>
                        </a:solidFill>
                        <a:latin typeface="Cambria Math" panose="02040503050406030204" pitchFamily="18" charset="0"/>
                      </a:rPr>
                      <m:t>x=−1</m:t>
                    </m:r>
                  </m:oMath>
                </a14:m>
                <a:r>
                  <a:rPr sz="2200">
                    <a:solidFill>
                      <a:srgbClr val="1E293B"/>
                    </a:solidFill>
                    <a:latin typeface="Calibri"/>
                  </a:rPr>
                  <a:t>, TCN </a:t>
                </a:r>
                <a14:m>
                  <m:oMath xmlns:m="http://schemas.openxmlformats.org/officeDocument/2006/math">
                    <m:r>
                      <a:rPr lang="vi-VN" sz="2200" b="0">
                        <a:solidFill>
                          <a:srgbClr val="1E293B"/>
                        </a:solidFill>
                        <a:latin typeface="Cambria Math" panose="02040503050406030204" pitchFamily="18" charset="0"/>
                      </a:rPr>
                      <m:t>y=2</m:t>
                    </m:r>
                  </m:oMath>
                </a14:m>
              </a:p>
              <a:p>
                <a:pPr algn="l" marL="365760" indent="-365760">
                  <a:spcAft>
                    <a:spcPts val="800"/>
                  </a:spcAft>
                  <a:buClr>
                    <a:srgbClr val="1E40AF"/>
                  </a:buClr>
                  <a:buFont typeface="Arial"/>
                  <a:buChar char="•"/>
                </a:pPr>
                <a:r>
                  <a:rPr sz="2200">
                    <a:solidFill>
                      <a:srgbClr val="1E293B"/>
                    </a:solidFill>
                    <a:latin typeface="Calibri"/>
                  </a:rPr>
                  <a:t>Cắt </a:t>
                </a:r>
                <a14:m>
                  <m:oMath xmlns:m="http://schemas.openxmlformats.org/officeDocument/2006/math">
                    <m:r>
                      <a:rPr lang="vi-VN" sz="2200" b="0">
                        <a:solidFill>
                          <a:srgbClr val="1E293B"/>
                        </a:solidFill>
                        <a:latin typeface="Cambria Math" panose="02040503050406030204" pitchFamily="18" charset="0"/>
                      </a:rPr>
                      <m:t>Ox</m:t>
                    </m:r>
                  </m:oMath>
                </a14:m>
                <a:r>
                  <a:rPr sz="2200">
                    <a:solidFill>
                      <a:srgbClr val="1E293B"/>
                    </a:solidFill>
                    <a:latin typeface="Calibri"/>
                  </a:rPr>
                  <a:t> tại </a:t>
                </a:r>
                <a14:m>
                  <m:oMath xmlns:m="http://schemas.openxmlformats.org/officeDocument/2006/math">
                    <m:d>
                      <m:dPr>
                        <m:sepChr m:val=""/>
                      </m:dPr>
                      <m:e>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m:t>
                        </m:r>
                      </m:e>
                    </m:d>
                  </m:oMath>
                </a14:m>
                <a:r>
                  <a:rPr sz="2200">
                    <a:solidFill>
                      <a:srgbClr val="1E293B"/>
                    </a:solidFill>
                    <a:latin typeface="Calibri"/>
                  </a:rPr>
                  <a:t>, cắt </a:t>
                </a:r>
                <a14:m>
                  <m:oMath xmlns:m="http://schemas.openxmlformats.org/officeDocument/2006/math">
                    <m:r>
                      <a:rPr lang="vi-VN" sz="2200" b="0">
                        <a:solidFill>
                          <a:srgbClr val="1E293B"/>
                        </a:solidFill>
                        <a:latin typeface="Cambria Math" panose="02040503050406030204" pitchFamily="18" charset="0"/>
                      </a:rPr>
                      <m:t>Oy</m:t>
                    </m:r>
                  </m:oMath>
                </a14:m>
                <a:r>
                  <a:rPr sz="2200">
                    <a:solidFill>
                      <a:srgbClr val="1E293B"/>
                    </a:solidFill>
                    <a:latin typeface="Calibri"/>
                  </a:rPr>
                  <a:t> tại </a:t>
                </a:r>
                <a14:m>
                  <m:oMath xmlns:m="http://schemas.openxmlformats.org/officeDocument/2006/math">
                    <m:d>
                      <m:dPr>
                        <m:sepChr m:val=""/>
                      </m:dPr>
                      <m:e>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e>
                    </m:d>
                  </m:oMath>
                </a14:m>
              </a:p>
            </p:txBody>
          </p:sp>
        </mc:Choice>
        <mc:Fallback>
          <p:sp>
            <p:nvSpPr>
              <p:cNvPr id="7" name="TextBox 6"/>
              <p:cNvSpPr txBox="1"/>
              <p:nvPr/>
            </p:nvSpPr>
            <p:spPr>
              <a:xfrm>
                <a:off x="731520" y="1463040"/>
                <a:ext cx="7589520" cy="22186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Tập xác định </a:t>
                </a:r>
                <a:r>
                  <a:rPr lang="vi-VN"/>
                  <a:t>\mathbb{R}\setminus\{-1\}</a:t>
                </a:r>
                <a:r>
                  <a:rPr sz="2200">
                    <a:solidFill>
                      <a:srgbClr val="1E293B"/>
                    </a:solidFill>
                    <a:latin typeface="Calibri"/>
                  </a:rPr>
                  <a:t>; </a:t>
                </a:r>
                <a:r>
                  <a:rPr lang="vi-VN"/>
                  <a:t>y'=\frac{3}{(x+1)^2}&gt;0</a:t>
                </a:r>
              </a:p>
              <a:p>
                <a:pPr algn="l" marL="365760" indent="-365760">
                  <a:spcAft>
                    <a:spcPts val="800"/>
                  </a:spcAft>
                  <a:buClr>
                    <a:srgbClr val="1E40AF"/>
                  </a:buClr>
                  <a:buFont typeface="Arial"/>
                  <a:buChar char="•"/>
                </a:pPr>
                <a:r>
                  <a:rPr sz="2200">
                    <a:solidFill>
                      <a:srgbClr val="1E293B"/>
                    </a:solidFill>
                    <a:latin typeface="Calibri"/>
                  </a:rPr>
                  <a:t>Đồng biến trên </a:t>
                </a:r>
                <a:r>
                  <a:rPr lang="vi-VN"/>
                  <a:t>(-\infty;-1)</a:t>
                </a:r>
                <a:r>
                  <a:rPr sz="2200">
                    <a:solidFill>
                      <a:srgbClr val="1E293B"/>
                    </a:solidFill>
                    <a:latin typeface="Calibri"/>
                  </a:rPr>
                  <a:t> và </a:t>
                </a:r>
                <a:r>
                  <a:rPr lang="vi-VN"/>
                  <a:t>(-1;+\infty)</a:t>
                </a:r>
              </a:p>
              <a:p>
                <a:pPr algn="l" marL="365760" indent="-365760">
                  <a:spcAft>
                    <a:spcPts val="800"/>
                  </a:spcAft>
                  <a:buClr>
                    <a:srgbClr val="1E40AF"/>
                  </a:buClr>
                  <a:buFont typeface="Arial"/>
                  <a:buChar char="•"/>
                </a:pPr>
                <a:r>
                  <a:rPr sz="2200">
                    <a:solidFill>
                      <a:srgbClr val="1E293B"/>
                    </a:solidFill>
                    <a:latin typeface="Calibri"/>
                  </a:rPr>
                  <a:t>TCĐ </a:t>
                </a:r>
                <a:r>
                  <a:rPr lang="vi-VN"/>
                  <a:t>x=-1</a:t>
                </a:r>
                <a:r>
                  <a:rPr sz="2200">
                    <a:solidFill>
                      <a:srgbClr val="1E293B"/>
                    </a:solidFill>
                    <a:latin typeface="Calibri"/>
                  </a:rPr>
                  <a:t>, TCN </a:t>
                </a:r>
                <a:r>
                  <a:rPr lang="vi-VN"/>
                  <a:t>y=2</a:t>
                </a:r>
              </a:p>
              <a:p>
                <a:pPr algn="l" marL="365760" indent="-365760">
                  <a:spcAft>
                    <a:spcPts val="800"/>
                  </a:spcAft>
                  <a:buClr>
                    <a:srgbClr val="1E40AF"/>
                  </a:buClr>
                  <a:buFont typeface="Arial"/>
                  <a:buChar char="•"/>
                </a:pPr>
                <a:r>
                  <a:rPr sz="2200">
                    <a:solidFill>
                      <a:srgbClr val="1E293B"/>
                    </a:solidFill>
                    <a:latin typeface="Calibri"/>
                  </a:rPr>
                  <a:t>Cắt </a:t>
                </a:r>
                <a:r>
                  <a:rPr lang="vi-VN"/>
                  <a:t>Ox</a:t>
                </a:r>
                <a:r>
                  <a:rPr sz="2200">
                    <a:solidFill>
                      <a:srgbClr val="1E293B"/>
                    </a:solidFill>
                    <a:latin typeface="Calibri"/>
                  </a:rPr>
                  <a:t> tại </a:t>
                </a:r>
                <a:r>
                  <a:rPr lang="vi-VN"/>
                  <a:t>\left(\frac{1}{2};0\right)</a:t>
                </a:r>
                <a:r>
                  <a:rPr sz="2200">
                    <a:solidFill>
                      <a:srgbClr val="1E293B"/>
                    </a:solidFill>
                    <a:latin typeface="Calibri"/>
                  </a:rPr>
                  <a:t>, cắt </a:t>
                </a:r>
                <a:r>
                  <a:rPr lang="vi-VN"/>
                  <a:t>Oy</a:t>
                </a:r>
                <a:r>
                  <a:rPr sz="2200">
                    <a:solidFill>
                      <a:srgbClr val="1E293B"/>
                    </a:solidFill>
                    <a:latin typeface="Calibri"/>
                  </a:rPr>
                  <a:t> tại </a:t>
                </a:r>
                <a:r>
                  <a:rPr lang="vi-VN"/>
                  <a:t>(0;-1)</a:t>
                </a:r>
              </a:p>
            </p:txBody>
          </p:sp>
        </mc:Fallback>
      </mc:AlternateContent>
      <p:sp>
        <p:nvSpPr>
          <p:cNvPr id="8" name="Rounded Rectangle 7"/>
          <p:cNvSpPr/>
          <p:nvPr/>
        </p:nvSpPr>
        <p:spPr>
          <a:xfrm>
            <a:off x="731520" y="3818890"/>
            <a:ext cx="758952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818890"/>
                <a:ext cx="722376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TCĐ </a:t>
                </a:r>
                <a14:m>
                  <m:oMath xmlns:m="http://schemas.openxmlformats.org/officeDocument/2006/math">
                    <m:r>
                      <a:rPr lang="vi-VN" sz="2200" b="1">
                        <a:solidFill>
                          <a:srgbClr val="991B1B"/>
                        </a:solidFill>
                        <a:latin typeface="Cambria Math" panose="02040503050406030204" pitchFamily="18" charset="0"/>
                      </a:rPr>
                      <m:t>x=−1</m:t>
                    </m:r>
                  </m:oMath>
                </a14:m>
                <a:r>
                  <a:rPr sz="2200" b="1">
                    <a:solidFill>
                      <a:srgbClr val="991B1B"/>
                    </a:solidFill>
                    <a:latin typeface="Calibri"/>
                  </a:rPr>
                  <a:t>, TCN </a:t>
                </a:r>
                <a14:m>
                  <m:oMath xmlns:m="http://schemas.openxmlformats.org/officeDocument/2006/math">
                    <m:r>
                      <a:rPr lang="vi-VN" sz="2200" b="1">
                        <a:solidFill>
                          <a:srgbClr val="991B1B"/>
                        </a:solidFill>
                        <a:latin typeface="Cambria Math" panose="02040503050406030204" pitchFamily="18" charset="0"/>
                      </a:rPr>
                      <m:t>y=2</m:t>
                    </m:r>
                  </m:oMath>
                </a14:m>
                <a:r>
                  <a:rPr sz="2200" b="1">
                    <a:solidFill>
                      <a:srgbClr val="991B1B"/>
                    </a:solidFill>
                    <a:latin typeface="Calibri"/>
                  </a:rPr>
                  <a:t>, tâm đối xứng </a:t>
                </a:r>
                <a14:m>
                  <m:oMath xmlns:m="http://schemas.openxmlformats.org/officeDocument/2006/math">
                    <m:r>
                      <a:rPr lang="vi-VN" sz="2200" b="1">
                        <a:solidFill>
                          <a:srgbClr val="991B1B"/>
                        </a:solidFill>
                        <a:latin typeface="Cambria Math" panose="02040503050406030204" pitchFamily="18" charset="0"/>
                      </a:rPr>
                      <m:t>I(−1;2)</m:t>
                    </m:r>
                  </m:oMath>
                </a14:m>
              </a:p>
            </p:txBody>
          </p:sp>
        </mc:Choice>
        <mc:Fallback>
          <p:sp>
            <p:nvSpPr>
              <p:cNvPr id="9" name="TextBox 8"/>
              <p:cNvSpPr txBox="1"/>
              <p:nvPr/>
            </p:nvSpPr>
            <p:spPr>
              <a:xfrm>
                <a:off x="914400" y="3818890"/>
                <a:ext cx="722376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TCĐ </a:t>
                </a:r>
                <a:r>
                  <a:rPr lang="vi-VN"/>
                  <a:t>x=-1</a:t>
                </a:r>
                <a:r>
                  <a:rPr sz="2200" b="1">
                    <a:solidFill>
                      <a:srgbClr val="991B1B"/>
                    </a:solidFill>
                    <a:latin typeface="Calibri"/>
                  </a:rPr>
                  <a:t>, TCN </a:t>
                </a:r>
                <a:r>
                  <a:rPr lang="vi-VN"/>
                  <a:t>y=2</a:t>
                </a:r>
                <a:r>
                  <a:rPr sz="2200" b="1">
                    <a:solidFill>
                      <a:srgbClr val="991B1B"/>
                    </a:solidFill>
                    <a:latin typeface="Calibri"/>
                  </a:rPr>
                  <a:t>, tâm đối xứng </a:t>
                </a:r>
                <a:r>
                  <a:rPr lang="vi-VN"/>
                  <a:t>I(-1;2)</a:t>
                </a:r>
              </a:p>
            </p:txBody>
          </p:sp>
        </mc:Fallback>
      </mc:AlternateContent>
      <p:pic>
        <p:nvPicPr>
          <p:cNvPr id="10" name="Picture 9" descr="do_thi_143b.png"/>
          <p:cNvPicPr>
            <a:picLocks noChangeAspect="1"/>
          </p:cNvPicPr>
          <p:nvPr/>
        </p:nvPicPr>
        <p:blipFill>
          <a:blip r:embed="rId2"/>
          <a:stretch>
            <a:fillRect/>
          </a:stretch>
        </p:blipFill>
        <p:spPr>
          <a:xfrm>
            <a:off x="8503920" y="2699506"/>
            <a:ext cx="3291840" cy="223622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1.43C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46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1.43.</a:t>
                </a:r>
                <a:r>
                  <a:rPr sz="2400">
                    <a:solidFill>
                      <a:srgbClr val="1E293B"/>
                    </a:solidFill>
                    <a:latin typeface="Calibri"/>
                  </a:rPr>
                  <a:t> Khảo sát sự biến thiên và vẽ đồ thị của các hàm số sau:</a:t>
                </a:r>
              </a:p>
              <a:p>
                <a:pPr algn="l" marL="365760" indent="-365760">
                  <a:spcAft>
                    <a:spcPts val="800"/>
                  </a:spcAft>
                  <a:buClr>
                    <a:srgbClr val="1E40AF"/>
                  </a:buClr>
                  <a:buFont typeface="Arial"/>
                  <a:buChar char="•"/>
                </a:pPr>
                <a:r>
                  <a:rPr sz="2400">
                    <a:solidFill>
                      <a:srgbClr val="1E293B"/>
                    </a:solidFill>
                    <a:latin typeface="Calibri"/>
                  </a:rPr>
                  <a:t>c) </a:t>
                </a:r>
                <a14:m>
                  <m:oMath xmlns:m="http://schemas.openxmlformats.org/officeDocument/2006/math">
                    <m:r>
                      <a:rPr lang="vi-VN" sz="2400" b="0">
                        <a:solidFill>
                          <a:srgbClr val="1E293B"/>
                        </a:solidFill>
                        <a:latin typeface="Cambria Math" panose="02040503050406030204" pitchFamily="18" charset="0"/>
                      </a:rPr>
                      <m:t>y=</m:t>
                    </m:r>
                    <m:f>
                      <m:fPr>
                        <m:type m:val="bar"/>
                      </m:fPr>
                      <m:num>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−2x</m:t>
                        </m:r>
                      </m:num>
                      <m:den>
                        <m:r>
                          <a:rPr lang="vi-VN" sz="2400" b="0">
                            <a:solidFill>
                              <a:srgbClr val="1E293B"/>
                            </a:solidFill>
                            <a:latin typeface="Cambria Math" panose="02040503050406030204" pitchFamily="18" charset="0"/>
                          </a:rPr>
                          <m:t>x−1</m:t>
                        </m:r>
                      </m:den>
                    </m:f>
                  </m:oMath>
                </a14:m>
              </a:p>
              <a:p>
                <a:pPr algn="l">
                  <a:spcAft>
                    <a:spcPts val="800"/>
                  </a:spcAft>
                </a:pPr>
                <a:r>
                  <a:rPr sz="2400" b="1">
                    <a:solidFill>
                      <a:srgbClr val="1E40AF"/>
                    </a:solidFill>
                    <a:latin typeface="Calibri"/>
                  </a:rPr>
                  <a:t>Gợi mở: Viết </a:t>
                </a:r>
                <a14:m>
                  <m:oMath xmlns:m="http://schemas.openxmlformats.org/officeDocument/2006/math">
                    <m:r>
                      <a:rPr lang="vi-VN" sz="2400" b="1">
                        <a:solidFill>
                          <a:srgbClr val="1E40AF"/>
                        </a:solidFill>
                        <a:latin typeface="Cambria Math" panose="02040503050406030204" pitchFamily="18" charset="0"/>
                      </a:rPr>
                      <m:t>y=x−1−</m:t>
                    </m:r>
                    <m:f>
                      <m:fPr>
                        <m:type m:val="bar"/>
                      </m:fPr>
                      <m:num>
                        <m:r>
                          <a:rPr lang="vi-VN" sz="2400" b="1">
                            <a:solidFill>
                              <a:srgbClr val="1E40AF"/>
                            </a:solidFill>
                            <a:latin typeface="Cambria Math" panose="02040503050406030204" pitchFamily="18" charset="0"/>
                          </a:rPr>
                          <m:t>1</m:t>
                        </m:r>
                      </m:num>
                      <m:den>
                        <m:r>
                          <a:rPr lang="vi-VN" sz="2400" b="1">
                            <a:solidFill>
                              <a:srgbClr val="1E40AF"/>
                            </a:solidFill>
                            <a:latin typeface="Cambria Math" panose="02040503050406030204" pitchFamily="18" charset="0"/>
                          </a:rPr>
                          <m:t>x−1</m:t>
                        </m:r>
                      </m:den>
                    </m:f>
                  </m:oMath>
                </a14:m>
                <a:r>
                  <a:rPr sz="2400" b="1">
                    <a:solidFill>
                      <a:srgbClr val="1E40AF"/>
                    </a:solidFill>
                    <a:latin typeface="Calibri"/>
                  </a:rPr>
                  <a:t> để thấy tiệm cận xiên</a:t>
                </a:r>
              </a:p>
            </p:txBody>
          </p:sp>
        </mc:Choice>
        <mc:Fallback>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1.43.</a:t>
                </a:r>
                <a:r>
                  <a:rPr sz="2400">
                    <a:solidFill>
                      <a:srgbClr val="1E293B"/>
                    </a:solidFill>
                    <a:latin typeface="Calibri"/>
                  </a:rPr>
                  <a:t> Khảo sát sự biến thiên và vẽ đồ thị của các hàm số sau:</a:t>
                </a:r>
              </a:p>
              <a:p>
                <a:pPr algn="l" marL="365760" indent="-365760">
                  <a:spcAft>
                    <a:spcPts val="800"/>
                  </a:spcAft>
                  <a:buClr>
                    <a:srgbClr val="1E40AF"/>
                  </a:buClr>
                  <a:buFont typeface="Arial"/>
                  <a:buChar char="•"/>
                </a:pPr>
                <a:r>
                  <a:rPr sz="2400">
                    <a:solidFill>
                      <a:srgbClr val="1E293B"/>
                    </a:solidFill>
                    <a:latin typeface="Calibri"/>
                  </a:rPr>
                  <a:t>c) </a:t>
                </a:r>
                <a:r>
                  <a:rPr lang="vi-VN"/>
                  <a:t>y=\frac{x^2-2x}{x-1}</a:t>
                </a:r>
              </a:p>
              <a:p>
                <a:pPr algn="l">
                  <a:spcAft>
                    <a:spcPts val="800"/>
                  </a:spcAft>
                </a:pPr>
                <a:r>
                  <a:rPr sz="2400" b="1">
                    <a:solidFill>
                      <a:srgbClr val="1E40AF"/>
                    </a:solidFill>
                    <a:latin typeface="Calibri"/>
                  </a:rPr>
                  <a:t>Gợi mở: Viết </a:t>
                </a:r>
                <a:r>
                  <a:rPr lang="vi-VN"/>
                  <a:t>y=x-1-\frac{1}{x-1}</a:t>
                </a:r>
                <a:r>
                  <a:rPr sz="2400" b="1">
                    <a:solidFill>
                      <a:srgbClr val="1E40AF"/>
                    </a:solidFill>
                    <a:latin typeface="Calibri"/>
                  </a:rPr>
                  <a:t> để thấy tiệm cận xiên</a:t>
                </a: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1.43C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47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6400800" cy="247218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Tập xác định </a:t>
                </a:r>
                <a14:m>
                  <m:oMath xmlns:m="http://schemas.openxmlformats.org/officeDocument/2006/math">
                    <m:r>
                      <a:rPr lang="vi-VN" sz="2200" b="0">
                        <a:solidFill>
                          <a:srgbClr val="1E293B"/>
                        </a:solidFill>
                        <a:latin typeface="Cambria Math" panose="02040503050406030204" pitchFamily="18" charset="0"/>
                      </a:rPr>
                      <m:t>ℝ⧵{1}</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y=x−1−</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x−1</m:t>
                        </m:r>
                      </m:den>
                    </m:f>
                  </m:oMath>
                </a14:m>
              </a:p>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f>
                      <m:fPr>
                        <m:type m:val="bar"/>
                      </m:fPr>
                      <m:num>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−2x+2</m:t>
                        </m:r>
                      </m:num>
                      <m:den>
                        <m:sSup>
                          <m:e>
                            <m:d>
                              <m:dPr>
                                <m:sepChr m:val=""/>
                              </m:dPr>
                              <m:e>
                                <m:r>
                                  <a:rPr lang="vi-VN" sz="2200" b="0">
                                    <a:solidFill>
                                      <a:srgbClr val="1E293B"/>
                                    </a:solidFill>
                                    <a:latin typeface="Cambria Math" panose="02040503050406030204" pitchFamily="18" charset="0"/>
                                  </a:rPr>
                                  <m:t>x</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e>
                            </m:d>
                          </m:e>
                          <m:sup>
                            <m:r>
                              <a:rPr lang="vi-VN" sz="2200" b="0">
                                <a:solidFill>
                                  <a:srgbClr val="1E293B"/>
                                </a:solidFill>
                                <a:latin typeface="Cambria Math" panose="02040503050406030204" pitchFamily="18" charset="0"/>
                              </a:rPr>
                              <m:t>2</m:t>
                            </m:r>
                          </m:sup>
                        </m:sSup>
                      </m:den>
                    </m:f>
                    <m:r>
                      <a:rPr lang="vi-VN" sz="2200" b="0">
                        <a:solidFill>
                          <a:srgbClr val="1E293B"/>
                        </a:solidFill>
                        <a:latin typeface="Cambria Math" panose="02040503050406030204" pitchFamily="18" charset="0"/>
                      </a:rPr>
                      <m:t>&gt;0</m:t>
                    </m:r>
                  </m:oMath>
                </a14:m>
                <a:r>
                  <a:rPr sz="2200">
                    <a:solidFill>
                      <a:srgbClr val="1E293B"/>
                    </a:solidFill>
                    <a:latin typeface="Calibri"/>
                  </a:rPr>
                  <a:t>: đồng biến trên </a:t>
                </a:r>
                <a14:m>
                  <m:oMath xmlns:m="http://schemas.openxmlformats.org/officeDocument/2006/math">
                    <m:d>
                      <m:dPr>
                        <m:sepChr m:val="∞"/>
                      </m:dPr>
                      <m:e>
                        <m:r>
                          <a:rPr lang="vi-VN" sz="2200" b="0">
                            <a:solidFill>
                              <a:srgbClr val="1E293B"/>
                            </a:solidFill>
                            <a:latin typeface="Cambria Math" panose="02040503050406030204" pitchFamily="18" charset="0"/>
                          </a:rPr>
                          <m:t>−</m:t>
                        </m:r>
                      </m:e>
                      <m:e>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e>
                    </m:d>
                  </m:oMath>
                </a14:m>
                <a:r>
                  <a:rPr sz="2200">
                    <a:solidFill>
                      <a:srgbClr val="1E293B"/>
                    </a:solidFill>
                    <a:latin typeface="Calibri"/>
                  </a:rPr>
                  <a:t> và </a:t>
                </a:r>
                <a14:m>
                  <m:oMath xmlns:m="http://schemas.openxmlformats.org/officeDocument/2006/math">
                    <m:d>
                      <m:dPr>
                        <m:sepChr m:val=""/>
                      </m:dPr>
                      <m:e>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e>
                    </m:d>
                  </m:oMath>
                </a14:m>
              </a:p>
              <a:p>
                <a:pPr algn="l" marL="365760" indent="-365760">
                  <a:spcAft>
                    <a:spcPts val="800"/>
                  </a:spcAft>
                  <a:buClr>
                    <a:srgbClr val="1E40AF"/>
                  </a:buClr>
                  <a:buFont typeface="Arial"/>
                  <a:buChar char="•"/>
                </a:pPr>
                <a:r>
                  <a:rPr sz="2200">
                    <a:solidFill>
                      <a:srgbClr val="1E293B"/>
                    </a:solidFill>
                    <a:latin typeface="Calibri"/>
                  </a:rPr>
                  <a:t>TCĐ </a:t>
                </a:r>
                <a14:m>
                  <m:oMath xmlns:m="http://schemas.openxmlformats.org/officeDocument/2006/math">
                    <m:r>
                      <a:rPr lang="vi-VN" sz="2200" b="0">
                        <a:solidFill>
                          <a:srgbClr val="1E293B"/>
                        </a:solidFill>
                        <a:latin typeface="Cambria Math" panose="02040503050406030204" pitchFamily="18" charset="0"/>
                      </a:rPr>
                      <m:t>x=1</m:t>
                    </m:r>
                  </m:oMath>
                </a14:m>
                <a:r>
                  <a:rPr sz="2200">
                    <a:solidFill>
                      <a:srgbClr val="1E293B"/>
                    </a:solidFill>
                    <a:latin typeface="Calibri"/>
                  </a:rPr>
                  <a:t>, tiệm cận xiên </a:t>
                </a:r>
                <a14:m>
                  <m:oMath xmlns:m="http://schemas.openxmlformats.org/officeDocument/2006/math">
                    <m:r>
                      <a:rPr lang="vi-VN" sz="2200" b="0">
                        <a:solidFill>
                          <a:srgbClr val="1E293B"/>
                        </a:solidFill>
                        <a:latin typeface="Cambria Math" panose="02040503050406030204" pitchFamily="18" charset="0"/>
                      </a:rPr>
                      <m:t>y=x−1</m:t>
                    </m:r>
                  </m:oMath>
                </a14:m>
              </a:p>
            </p:txBody>
          </p:sp>
        </mc:Choice>
        <mc:Fallback>
          <p:sp>
            <p:nvSpPr>
              <p:cNvPr id="7" name="TextBox 6"/>
              <p:cNvSpPr txBox="1"/>
              <p:nvPr/>
            </p:nvSpPr>
            <p:spPr>
              <a:xfrm>
                <a:off x="731520" y="1463040"/>
                <a:ext cx="6400800" cy="247218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Tập xác định </a:t>
                </a:r>
                <a:r>
                  <a:rPr lang="vi-VN"/>
                  <a:t>\mathbb{R}\setminus\{1\}</a:t>
                </a:r>
                <a:r>
                  <a:rPr sz="2200">
                    <a:solidFill>
                      <a:srgbClr val="1E293B"/>
                    </a:solidFill>
                    <a:latin typeface="Calibri"/>
                  </a:rPr>
                  <a:t>; </a:t>
                </a:r>
                <a:r>
                  <a:rPr lang="vi-VN"/>
                  <a:t>y=x-1-\frac{1}{x-1}</a:t>
                </a:r>
              </a:p>
              <a:p>
                <a:pPr algn="l" marL="365760" indent="-365760">
                  <a:spcAft>
                    <a:spcPts val="800"/>
                  </a:spcAft>
                  <a:buClr>
                    <a:srgbClr val="1E40AF"/>
                  </a:buClr>
                  <a:buFont typeface="Arial"/>
                  <a:buChar char="•"/>
                </a:pPr>
                <a:r>
                  <a:rPr lang="vi-VN"/>
                  <a:t>y'=\frac{x^2-2x+2}{(x-1)^2}&gt;0</a:t>
                </a:r>
                <a:r>
                  <a:rPr sz="2200">
                    <a:solidFill>
                      <a:srgbClr val="1E293B"/>
                    </a:solidFill>
                    <a:latin typeface="Calibri"/>
                  </a:rPr>
                  <a:t>: đồng biến trên </a:t>
                </a:r>
                <a:r>
                  <a:rPr lang="vi-VN"/>
                  <a:t>(-\infty;1)</a:t>
                </a:r>
                <a:r>
                  <a:rPr sz="2200">
                    <a:solidFill>
                      <a:srgbClr val="1E293B"/>
                    </a:solidFill>
                    <a:latin typeface="Calibri"/>
                  </a:rPr>
                  <a:t> và </a:t>
                </a:r>
                <a:r>
                  <a:rPr lang="vi-VN"/>
                  <a:t>(1;+\infty)</a:t>
                </a:r>
              </a:p>
              <a:p>
                <a:pPr algn="l" marL="365760" indent="-365760">
                  <a:spcAft>
                    <a:spcPts val="800"/>
                  </a:spcAft>
                  <a:buClr>
                    <a:srgbClr val="1E40AF"/>
                  </a:buClr>
                  <a:buFont typeface="Arial"/>
                  <a:buChar char="•"/>
                </a:pPr>
                <a:r>
                  <a:rPr sz="2200">
                    <a:solidFill>
                      <a:srgbClr val="1E293B"/>
                    </a:solidFill>
                    <a:latin typeface="Calibri"/>
                  </a:rPr>
                  <a:t>TCĐ </a:t>
                </a:r>
                <a:r>
                  <a:rPr lang="vi-VN"/>
                  <a:t>x=1</a:t>
                </a:r>
                <a:r>
                  <a:rPr sz="2200">
                    <a:solidFill>
                      <a:srgbClr val="1E293B"/>
                    </a:solidFill>
                    <a:latin typeface="Calibri"/>
                  </a:rPr>
                  <a:t>, tiệm cận xiên </a:t>
                </a:r>
                <a:r>
                  <a:rPr lang="vi-VN"/>
                  <a:t>y=x-1</a:t>
                </a:r>
              </a:p>
            </p:txBody>
          </p:sp>
        </mc:Fallback>
      </mc:AlternateContent>
      <p:pic>
        <p:nvPicPr>
          <p:cNvPr id="8" name="Picture 7" descr="do_thi_143c.png"/>
          <p:cNvPicPr>
            <a:picLocks noChangeAspect="1"/>
          </p:cNvPicPr>
          <p:nvPr/>
        </p:nvPicPr>
        <p:blipFill>
          <a:blip r:embed="rId2"/>
          <a:stretch>
            <a:fillRect/>
          </a:stretch>
        </p:blipFill>
        <p:spPr>
          <a:xfrm>
            <a:off x="7406640" y="2326801"/>
            <a:ext cx="4389120" cy="298163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1.43C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48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640080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Cắt </a:t>
                </a:r>
                <a14:m>
                  <m:oMath xmlns:m="http://schemas.openxmlformats.org/officeDocument/2006/math">
                    <m:r>
                      <a:rPr lang="vi-VN" sz="2200" b="0">
                        <a:solidFill>
                          <a:srgbClr val="1E293B"/>
                        </a:solidFill>
                        <a:latin typeface="Cambria Math" panose="02040503050406030204" pitchFamily="18" charset="0"/>
                      </a:rPr>
                      <m:t>Ox</m:t>
                    </m:r>
                  </m:oMath>
                </a14:m>
                <a:r>
                  <a:rPr sz="2200">
                    <a:solidFill>
                      <a:srgbClr val="1E293B"/>
                    </a:solidFill>
                    <a:latin typeface="Calibri"/>
                  </a:rPr>
                  <a:t> tại </a:t>
                </a:r>
                <a14:m>
                  <m:oMath xmlns:m="http://schemas.openxmlformats.org/officeDocument/2006/math">
                    <m:d>
                      <m:dPr>
                        <m:sepChr m:val=""/>
                      </m:dPr>
                      <m:e>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m:t>
                        </m:r>
                      </m:e>
                    </m:d>
                  </m:oMath>
                </a14:m>
                <a:r>
                  <a:rPr sz="2200">
                    <a:solidFill>
                      <a:srgbClr val="1E293B"/>
                    </a:solidFill>
                    <a:latin typeface="Calibri"/>
                  </a:rPr>
                  <a:t> và </a:t>
                </a:r>
                <a14:m>
                  <m:oMath xmlns:m="http://schemas.openxmlformats.org/officeDocument/2006/math">
                    <m:d>
                      <m:dPr>
                        <m:sepChr m:val=""/>
                      </m:dPr>
                      <m:e>
                        <m:r>
                          <a:rPr lang="vi-VN" sz="2200" b="0">
                            <a:solidFill>
                              <a:srgbClr val="1E293B"/>
                            </a:solidFill>
                            <a:latin typeface="Cambria Math" panose="02040503050406030204" pitchFamily="18" charset="0"/>
                          </a:rPr>
                          <m:t>2</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m:t>
                        </m:r>
                      </m:e>
                    </m:d>
                  </m:oMath>
                </a14:m>
              </a:p>
            </p:txBody>
          </p:sp>
        </mc:Choice>
        <mc:Fallback>
          <p:sp>
            <p:nvSpPr>
              <p:cNvPr id="7" name="TextBox 6"/>
              <p:cNvSpPr txBox="1"/>
              <p:nvPr/>
            </p:nvSpPr>
            <p:spPr>
              <a:xfrm>
                <a:off x="731520" y="1463040"/>
                <a:ext cx="640080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Cắt </a:t>
                </a:r>
                <a:r>
                  <a:rPr lang="vi-VN"/>
                  <a:t>Ox</a:t>
                </a:r>
                <a:r>
                  <a:rPr sz="2200">
                    <a:solidFill>
                      <a:srgbClr val="1E293B"/>
                    </a:solidFill>
                    <a:latin typeface="Calibri"/>
                  </a:rPr>
                  <a:t> tại </a:t>
                </a:r>
                <a:r>
                  <a:rPr lang="vi-VN"/>
                  <a:t>(0;0)</a:t>
                </a:r>
                <a:r>
                  <a:rPr sz="2200">
                    <a:solidFill>
                      <a:srgbClr val="1E293B"/>
                    </a:solidFill>
                    <a:latin typeface="Calibri"/>
                  </a:rPr>
                  <a:t> và </a:t>
                </a:r>
                <a:r>
                  <a:rPr lang="vi-VN"/>
                  <a:t>(2;0)</a:t>
                </a:r>
              </a:p>
            </p:txBody>
          </p:sp>
        </mc:Fallback>
      </mc:AlternateContent>
      <p:sp>
        <p:nvSpPr>
          <p:cNvPr id="8" name="Rounded Rectangle 7"/>
          <p:cNvSpPr/>
          <p:nvPr/>
        </p:nvSpPr>
        <p:spPr>
          <a:xfrm>
            <a:off x="731520" y="2073148"/>
            <a:ext cx="6400800" cy="1112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073148"/>
                <a:ext cx="6035040" cy="11125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TCĐ </a:t>
                </a:r>
                <a14:m>
                  <m:oMath xmlns:m="http://schemas.openxmlformats.org/officeDocument/2006/math">
                    <m:r>
                      <a:rPr lang="vi-VN" sz="2200" b="1">
                        <a:solidFill>
                          <a:srgbClr val="991B1B"/>
                        </a:solidFill>
                        <a:latin typeface="Cambria Math" panose="02040503050406030204" pitchFamily="18" charset="0"/>
                      </a:rPr>
                      <m:t>x=1</m:t>
                    </m:r>
                  </m:oMath>
                </a14:m>
                <a:r>
                  <a:rPr sz="2200" b="1">
                    <a:solidFill>
                      <a:srgbClr val="991B1B"/>
                    </a:solidFill>
                    <a:latin typeface="Calibri"/>
                  </a:rPr>
                  <a:t>, tiệm cận xiên </a:t>
                </a:r>
                <a14:m>
                  <m:oMath xmlns:m="http://schemas.openxmlformats.org/officeDocument/2006/math">
                    <m:r>
                      <a:rPr lang="vi-VN" sz="2200" b="1">
                        <a:solidFill>
                          <a:srgbClr val="991B1B"/>
                        </a:solidFill>
                        <a:latin typeface="Cambria Math" panose="02040503050406030204" pitchFamily="18" charset="0"/>
                      </a:rPr>
                      <m:t>y=x−1</m:t>
                    </m:r>
                  </m:oMath>
                </a14:m>
                <a:r>
                  <a:rPr sz="2200" b="1">
                    <a:solidFill>
                      <a:srgbClr val="991B1B"/>
                    </a:solidFill>
                    <a:latin typeface="Calibri"/>
                  </a:rPr>
                  <a:t>, tâm đối xứng </a:t>
                </a:r>
                <a14:m>
                  <m:oMath xmlns:m="http://schemas.openxmlformats.org/officeDocument/2006/math">
                    <m:r>
                      <a:rPr lang="vi-VN" sz="2200" b="1">
                        <a:solidFill>
                          <a:srgbClr val="991B1B"/>
                        </a:solidFill>
                        <a:latin typeface="Cambria Math" panose="02040503050406030204" pitchFamily="18" charset="0"/>
                      </a:rPr>
                      <m:t>I(1;0)</m:t>
                    </m:r>
                  </m:oMath>
                </a14:m>
              </a:p>
            </p:txBody>
          </p:sp>
        </mc:Choice>
        <mc:Fallback>
          <p:sp>
            <p:nvSpPr>
              <p:cNvPr id="9" name="TextBox 8"/>
              <p:cNvSpPr txBox="1"/>
              <p:nvPr/>
            </p:nvSpPr>
            <p:spPr>
              <a:xfrm>
                <a:off x="914400" y="2073148"/>
                <a:ext cx="6035040" cy="11125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TCĐ </a:t>
                </a:r>
                <a:r>
                  <a:rPr lang="vi-VN"/>
                  <a:t>x=1</a:t>
                </a:r>
                <a:r>
                  <a:rPr sz="2200" b="1">
                    <a:solidFill>
                      <a:srgbClr val="991B1B"/>
                    </a:solidFill>
                    <a:latin typeface="Calibri"/>
                  </a:rPr>
                  <a:t>, tiệm cận xiên </a:t>
                </a:r>
                <a:r>
                  <a:rPr lang="vi-VN"/>
                  <a:t>y=x-1</a:t>
                </a:r>
                <a:r>
                  <a:rPr sz="2200" b="1">
                    <a:solidFill>
                      <a:srgbClr val="991B1B"/>
                    </a:solidFill>
                    <a:latin typeface="Calibri"/>
                  </a:rPr>
                  <a:t>, tâm đối xứng </a:t>
                </a:r>
                <a:r>
                  <a:rPr lang="vi-VN"/>
                  <a:t>I(1;0)</a:t>
                </a:r>
              </a:p>
            </p:txBody>
          </p:sp>
        </mc:Fallback>
      </mc:AlternateContent>
      <p:pic>
        <p:nvPicPr>
          <p:cNvPr id="10" name="Picture 9" descr="do_thi_143c.png"/>
          <p:cNvPicPr>
            <a:picLocks noChangeAspect="1"/>
          </p:cNvPicPr>
          <p:nvPr/>
        </p:nvPicPr>
        <p:blipFill>
          <a:blip r:embed="rId2"/>
          <a:stretch>
            <a:fillRect/>
          </a:stretch>
        </p:blipFill>
        <p:spPr>
          <a:xfrm>
            <a:off x="7406640" y="2326801"/>
            <a:ext cx="4389120" cy="298163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AI: LỜI GIẢI SỐ 1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49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805684"/>
              </a:xfrm>
              <a:prstGeom prst="rect">
                <a:avLst/>
              </a:prstGeom>
              <a:noFill/>
            </p:spPr>
            <p:txBody>
              <a:bodyPr wrap="square" anchor="t" lIns="45720" rIns="45720">
                <a:spAutoFit/>
              </a:bodyPr>
              <a:lstStyle/>
              <a:p>
                <a:pPr algn="l">
                  <a:spcAft>
                    <a:spcPts val="800"/>
                  </a:spcAft>
                </a:pPr>
                <a:r>
                  <a:rPr sz="2400">
                    <a:solidFill>
                      <a:srgbClr val="1E293B"/>
                    </a:solidFill>
                    <a:latin typeface="Calibri"/>
                  </a:rPr>
                  <a:t>Đề: Bài 1.41a – tìm GTLN, GTNN của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2x+1</m:t>
                        </m:r>
                      </m:num>
                      <m:den>
                        <m:r>
                          <a:rPr lang="vi-VN" sz="2400" b="0">
                            <a:solidFill>
                              <a:srgbClr val="1E293B"/>
                            </a:solidFill>
                            <a:latin typeface="Cambria Math" panose="02040503050406030204" pitchFamily="18" charset="0"/>
                          </a:rPr>
                          <m:t>3x−2</m:t>
                        </m:r>
                      </m:den>
                    </m:f>
                  </m:oMath>
                </a14:m>
                <a:r>
                  <a:rPr sz="2400">
                    <a:solidFill>
                      <a:srgbClr val="1E293B"/>
                    </a:solidFill>
                    <a:latin typeface="Calibri"/>
                  </a:rPr>
                  <a:t> trên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−7</m:t>
                        </m:r>
                      </m:num>
                      <m:den>
                        <m:sSup>
                          <m:e>
                            <m:d>
                              <m:dPr>
                                <m:sepChr m:val=""/>
                              </m:dPr>
                              <m:e>
                                <m:r>
                                  <a:rPr lang="vi-VN" sz="2400" b="0">
                                    <a:solidFill>
                                      <a:srgbClr val="1E293B"/>
                                    </a:solidFill>
                                    <a:latin typeface="Cambria Math" panose="02040503050406030204" pitchFamily="18" charset="0"/>
                                  </a:rPr>
                                  <m:t>3</m:t>
                                </m:r>
                                <m:r>
                                  <a:rPr lang="vi-VN" sz="2400" b="0">
                                    <a:solidFill>
                                      <a:srgbClr val="1E293B"/>
                                    </a:solidFill>
                                    <a:latin typeface="Cambria Math" panose="02040503050406030204" pitchFamily="18" charset="0"/>
                                  </a:rPr>
                                  <m:t>x</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e>
                          <m:sup>
                            <m:r>
                              <a:rPr lang="vi-VN" sz="2400" b="0">
                                <a:solidFill>
                                  <a:srgbClr val="1E293B"/>
                                </a:solidFill>
                                <a:latin typeface="Cambria Math" panose="02040503050406030204" pitchFamily="18" charset="0"/>
                              </a:rPr>
                              <m:t>2</m:t>
                            </m:r>
                          </m:sup>
                        </m:sSup>
                      </m:den>
                    </m:f>
                    <m:r>
                      <a:rPr lang="vi-VN" sz="2400" b="0">
                        <a:solidFill>
                          <a:srgbClr val="1E293B"/>
                        </a:solidFill>
                        <a:latin typeface="Cambria Math" panose="02040503050406030204" pitchFamily="18" charset="0"/>
                      </a:rPr>
                      <m:t>&lt;0</m:t>
                    </m:r>
                  </m:oMath>
                </a14:m>
                <a:r>
                  <a:rPr sz="2400">
                    <a:solidFill>
                      <a:srgbClr val="1E293B"/>
                    </a:solidFill>
                    <a:latin typeface="Calibri"/>
                  </a:rPr>
                  <a:t> nên hàm số nghịch biến trên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m:t>
                    </m:r>
                  </m:oMath>
                </a14:m>
                <a:r>
                  <a:rPr sz="2400">
                    <a:solidFill>
                      <a:srgbClr val="1E293B"/>
                    </a:solidFill>
                    <a:latin typeface="Calibri"/>
                  </a:rPr>
                  <a:t>. Vậy giá trị lớn nhất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y(2)=</m:t>
                    </m:r>
                    <m:f>
                      <m:fPr>
                        <m:type m:val="bar"/>
                      </m:fPr>
                      <m:num>
                        <m:r>
                          <a:rPr lang="vi-VN" sz="2400" b="0">
                            <a:solidFill>
                              <a:srgbClr val="1E293B"/>
                            </a:solidFill>
                            <a:latin typeface="Cambria Math" panose="02040503050406030204" pitchFamily="18" charset="0"/>
                          </a:rPr>
                          <m:t>5</m:t>
                        </m:r>
                      </m:num>
                      <m:den>
                        <m:r>
                          <a:rPr lang="vi-VN" sz="2400" b="0">
                            <a:solidFill>
                              <a:srgbClr val="1E293B"/>
                            </a:solidFill>
                            <a:latin typeface="Cambria Math" panose="02040503050406030204" pitchFamily="18" charset="0"/>
                          </a:rPr>
                          <m:t>4</m:t>
                        </m:r>
                      </m:den>
                    </m:f>
                  </m:oMath>
                </a14:m>
                <a:r>
                  <a:rPr sz="2400">
                    <a:solidFill>
                      <a:srgbClr val="1E293B"/>
                    </a:solidFill>
                    <a:latin typeface="Calibri"/>
                  </a:rPr>
                  <a:t> và giá trị nhỏ nhất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lim</m:t>
                        </m:r>
                      </m:e>
                      <m:sub>
                        <m:r>
                          <a:rPr lang="vi-VN" sz="2400" b="0">
                            <a:solidFill>
                              <a:srgbClr val="1E293B"/>
                            </a:solidFill>
                            <a:latin typeface="Cambria Math" panose="02040503050406030204" pitchFamily="18" charset="0"/>
                          </a:rPr>
                          <m:t>x→+∞</m:t>
                        </m:r>
                      </m:sub>
                    </m:sSub>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2</m:t>
                        </m:r>
                      </m:num>
                      <m:den>
                        <m:r>
                          <a:rPr lang="vi-VN" sz="2400" b="0">
                            <a:solidFill>
                              <a:srgbClr val="1E293B"/>
                            </a:solidFill>
                            <a:latin typeface="Cambria Math" panose="02040503050406030204" pitchFamily="18" charset="0"/>
                          </a:rPr>
                          <m:t>3</m:t>
                        </m:r>
                      </m:den>
                    </m:f>
                  </m:oMath>
                </a14:m>
                <a:r>
                  <a:rPr sz="2400">
                    <a:solidFill>
                      <a:srgbClr val="1E293B"/>
                    </a:solidFill>
                    <a:latin typeface="Calibri"/>
                  </a:rPr>
                  <a:t>."</a:t>
                </a:r>
              </a:p>
              <a:p>
                <a:pPr algn="l">
                  <a:spcAft>
                    <a:spcPts val="800"/>
                  </a:spcAft>
                </a:pPr>
                <a:r>
                  <a:rPr sz="2400" b="1">
                    <a:solidFill>
                      <a:srgbClr val="1E40AF"/>
                    </a:solidFill>
                    <a:latin typeface="Calibri"/>
                  </a:rPr>
                  <a:t>Gợi mở: Giới hạn </a:t>
                </a:r>
                <a14:m>
                  <m:oMath xmlns:m="http://schemas.openxmlformats.org/officeDocument/2006/math">
                    <m:f>
                      <m:fPr>
                        <m:type m:val="bar"/>
                      </m:fPr>
                      <m:num>
                        <m:r>
                          <a:rPr lang="vi-VN" sz="2400" b="1">
                            <a:solidFill>
                              <a:srgbClr val="1E40AF"/>
                            </a:solidFill>
                            <a:latin typeface="Cambria Math" panose="02040503050406030204" pitchFamily="18" charset="0"/>
                          </a:rPr>
                          <m:t>2</m:t>
                        </m:r>
                      </m:num>
                      <m:den>
                        <m:r>
                          <a:rPr lang="vi-VN" sz="2400" b="1">
                            <a:solidFill>
                              <a:srgbClr val="1E40AF"/>
                            </a:solidFill>
                            <a:latin typeface="Cambria Math" panose="02040503050406030204" pitchFamily="18" charset="0"/>
                          </a:rPr>
                          <m:t>3</m:t>
                        </m:r>
                      </m:den>
                    </m:f>
                  </m:oMath>
                </a14:m>
                <a:r>
                  <a:rPr sz="2400" b="1">
                    <a:solidFill>
                      <a:srgbClr val="1E40AF"/>
                    </a:solidFill>
                    <a:latin typeface="Calibri"/>
                  </a:rPr>
                  <a:t> có đạt được tại một giá trị </a:t>
                </a:r>
                <a14:m>
                  <m:oMath xmlns:m="http://schemas.openxmlformats.org/officeDocument/2006/math">
                    <m:r>
                      <a:rPr lang="vi-VN" sz="2400" b="1">
                        <a:solidFill>
                          <a:srgbClr val="1E40AF"/>
                        </a:solidFill>
                        <a:latin typeface="Cambria Math" panose="02040503050406030204" pitchFamily="18" charset="0"/>
                      </a:rPr>
                      <m:t>x</m:t>
                    </m:r>
                  </m:oMath>
                </a14:m>
                <a:r>
                  <a:rPr sz="2400" b="1">
                    <a:solidFill>
                      <a:srgbClr val="1E40AF"/>
                    </a:solidFill>
                    <a:latin typeface="Calibri"/>
                  </a:rPr>
                  <a:t> nào không?</a:t>
                </a:r>
              </a:p>
            </p:txBody>
          </p:sp>
        </mc:Choice>
        <mc:Fallback>
          <p:sp>
            <p:nvSpPr>
              <p:cNvPr id="7" name="TextBox 6"/>
              <p:cNvSpPr txBox="1"/>
              <p:nvPr/>
            </p:nvSpPr>
            <p:spPr>
              <a:xfrm>
                <a:off x="731520" y="1463040"/>
                <a:ext cx="10789920" cy="2805684"/>
              </a:xfrm>
              <a:prstGeom prst="rect">
                <a:avLst/>
              </a:prstGeom>
              <a:noFill/>
            </p:spPr>
            <p:txBody>
              <a:bodyPr wrap="square" anchor="t" lIns="45720" rIns="45720">
                <a:spAutoFit/>
              </a:bodyPr>
              <a:lstStyle/>
              <a:p>
                <a:pPr algn="l">
                  <a:spcAft>
                    <a:spcPts val="800"/>
                  </a:spcAft>
                </a:pPr>
                <a:r>
                  <a:rPr sz="2400">
                    <a:solidFill>
                      <a:srgbClr val="1E293B"/>
                    </a:solidFill>
                    <a:latin typeface="Calibri"/>
                  </a:rPr>
                  <a:t>Đề: Bài 1.41a – tìm GTLN, GTNN của </a:t>
                </a:r>
                <a:r>
                  <a:rPr lang="vi-VN"/>
                  <a:t>y=(2x+1)/(3x−2)</a:t>
                </a:r>
                <a:r>
                  <a:rPr sz="2400">
                    <a:solidFill>
                      <a:srgbClr val="1E293B"/>
                    </a:solidFill>
                    <a:latin typeface="Calibri"/>
                  </a:rPr>
                  <a:t> trên </a:t>
                </a:r>
                <a:r>
                  <a:rPr lang="vi-VN"/>
                  <a:t>[2;+∞)</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t>
                </a:r>
                <a:r>
                  <a:rPr lang="vi-VN"/>
                  <a:t>y^′=(−7)/((3x−2)^2)&lt;0</a:t>
                </a:r>
                <a:r>
                  <a:rPr sz="2400">
                    <a:solidFill>
                      <a:srgbClr val="1E293B"/>
                    </a:solidFill>
                    <a:latin typeface="Calibri"/>
                  </a:rPr>
                  <a:t> nên hàm số nghịch biến trên </a:t>
                </a:r>
                <a:r>
                  <a:rPr lang="vi-VN"/>
                  <a:t>[2;+∞)</a:t>
                </a:r>
                <a:r>
                  <a:rPr sz="2400">
                    <a:solidFill>
                      <a:srgbClr val="1E293B"/>
                    </a:solidFill>
                    <a:latin typeface="Calibri"/>
                  </a:rPr>
                  <a:t>. Vậy giá trị lớn nhất là </a:t>
                </a:r>
                <a:r>
                  <a:rPr lang="vi-VN"/>
                  <a:t>y(2)=5/4</a:t>
                </a:r>
                <a:r>
                  <a:rPr sz="2400">
                    <a:solidFill>
                      <a:srgbClr val="1E293B"/>
                    </a:solidFill>
                    <a:latin typeface="Calibri"/>
                  </a:rPr>
                  <a:t> và giá trị nhỏ nhất là </a:t>
                </a:r>
                <a:r>
                  <a:rPr lang="vi-VN"/>
                  <a:t>lim_(x→+∞)y=2/3</a:t>
                </a:r>
                <a:r>
                  <a:rPr sz="2400">
                    <a:solidFill>
                      <a:srgbClr val="1E293B"/>
                    </a:solidFill>
                    <a:latin typeface="Calibri"/>
                  </a:rPr>
                  <a:t>."</a:t>
                </a:r>
              </a:p>
              <a:p>
                <a:pPr algn="l">
                  <a:spcAft>
                    <a:spcPts val="800"/>
                  </a:spcAft>
                </a:pPr>
                <a:r>
                  <a:rPr sz="2400" b="1">
                    <a:solidFill>
                      <a:srgbClr val="1E40AF"/>
                    </a:solidFill>
                    <a:latin typeface="Calibri"/>
                  </a:rPr>
                  <a:t>Gợi mở: Giới hạn </a:t>
                </a:r>
                <a:r>
                  <a:rPr lang="vi-VN"/>
                  <a:t>\frac{2}{3}</a:t>
                </a:r>
                <a:r>
                  <a:rPr sz="2400" b="1">
                    <a:solidFill>
                      <a:srgbClr val="1E40AF"/>
                    </a:solidFill>
                    <a:latin typeface="Calibri"/>
                  </a:rPr>
                  <a:t> có đạt được tại một giá trị </a:t>
                </a:r>
                <a:r>
                  <a:rPr lang="vi-VN"/>
                  <a:t>x</a:t>
                </a:r>
                <a:r>
                  <a:rPr sz="2400" b="1">
                    <a:solidFill>
                      <a:srgbClr val="1E40AF"/>
                    </a:solidFill>
                    <a:latin typeface="Calibri"/>
                  </a:rPr>
                  <a:t> nào không?</a:t>
                </a: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AI: LỜI GIẢI SỐ 1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50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311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Bước sai: kết luận GTNN bằng </a:t>
                </a:r>
                <a14:m>
                  <m:oMath xmlns:m="http://schemas.openxmlformats.org/officeDocument/2006/math">
                    <m:f>
                      <m:fPr>
                        <m:type m:val="bar"/>
                      </m:fPr>
                      <m:num>
                        <m:r>
                          <a:rPr lang="vi-VN" sz="2400" b="0">
                            <a:solidFill>
                              <a:srgbClr val="1E293B"/>
                            </a:solidFill>
                            <a:latin typeface="Cambria Math" panose="02040503050406030204" pitchFamily="18" charset="0"/>
                          </a:rPr>
                          <m:t>2</m:t>
                        </m:r>
                      </m:num>
                      <m:den>
                        <m:r>
                          <a:rPr lang="vi-VN" sz="2400" b="0">
                            <a:solidFill>
                              <a:srgbClr val="1E293B"/>
                            </a:solidFill>
                            <a:latin typeface="Cambria Math" panose="02040503050406030204" pitchFamily="18" charset="0"/>
                          </a:rPr>
                          <m:t>3</m:t>
                        </m:r>
                      </m:den>
                    </m:f>
                  </m:oMath>
                </a14:m>
              </a:p>
              <a:p>
                <a:pPr algn="l" marL="365760" indent="-365760">
                  <a:spcAft>
                    <a:spcPts val="800"/>
                  </a:spcAft>
                  <a:buClr>
                    <a:srgbClr val="1E40AF"/>
                  </a:buClr>
                  <a:buFont typeface="Arial"/>
                  <a:buChar char="•"/>
                </a:pPr>
                <a14:m>
                  <m:oMath xmlns:m="http://schemas.openxmlformats.org/officeDocument/2006/math">
                    <m:f>
                      <m:fPr>
                        <m:type m:val="bar"/>
                      </m:fPr>
                      <m:num>
                        <m:r>
                          <a:rPr lang="vi-VN" sz="2400" b="0">
                            <a:solidFill>
                              <a:srgbClr val="1E293B"/>
                            </a:solidFill>
                            <a:latin typeface="Cambria Math" panose="02040503050406030204" pitchFamily="18" charset="0"/>
                          </a:rPr>
                          <m:t>2</m:t>
                        </m:r>
                      </m:num>
                      <m:den>
                        <m:r>
                          <a:rPr lang="vi-VN" sz="2400" b="0">
                            <a:solidFill>
                              <a:srgbClr val="1E293B"/>
                            </a:solidFill>
                            <a:latin typeface="Cambria Math" panose="02040503050406030204" pitchFamily="18" charset="0"/>
                          </a:rPr>
                          <m:t>3</m:t>
                        </m:r>
                      </m:den>
                    </m:f>
                  </m:oMath>
                </a14:m>
                <a:r>
                  <a:rPr sz="2400">
                    <a:solidFill>
                      <a:srgbClr val="1E293B"/>
                    </a:solidFill>
                    <a:latin typeface="Calibri"/>
                  </a:rPr>
                  <a:t> chỉ là giới hạn khi </a:t>
                </a:r>
                <a14:m>
                  <m:oMath xmlns:m="http://schemas.openxmlformats.org/officeDocument/2006/math">
                    <m:r>
                      <a:rPr lang="vi-VN" sz="2400" b="0">
                        <a:solidFill>
                          <a:srgbClr val="1E293B"/>
                        </a:solidFill>
                        <a:latin typeface="Cambria Math" panose="02040503050406030204" pitchFamily="18" charset="0"/>
                      </a:rPr>
                      <m:t>x→+∞</m:t>
                    </m:r>
                  </m:oMath>
                </a14:m>
                <a:r>
                  <a:rPr sz="2400">
                    <a:solidFill>
                      <a:srgbClr val="1E293B"/>
                    </a:solidFill>
                    <a:latin typeface="Calibri"/>
                  </a:rPr>
                  <a:t>, không đạt được</a:t>
                </a:r>
              </a:p>
              <a:p>
                <a:pPr algn="l" marL="365760" indent="-365760">
                  <a:spcAft>
                    <a:spcPts val="800"/>
                  </a:spcAft>
                  <a:buClr>
                    <a:srgbClr val="1E40AF"/>
                  </a:buClr>
                  <a:buFont typeface="Arial"/>
                  <a:buChar char="•"/>
                </a:pPr>
                <a:r>
                  <a:rPr sz="2400">
                    <a:solidFill>
                      <a:srgbClr val="1E293B"/>
                    </a:solidFill>
                    <a:latin typeface="Calibri"/>
                  </a:rPr>
                  <a:t>Vì </a:t>
                </a:r>
                <a14:m>
                  <m:oMath xmlns:m="http://schemas.openxmlformats.org/officeDocument/2006/math">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2</m:t>
                        </m:r>
                      </m:num>
                      <m:den>
                        <m:r>
                          <a:rPr lang="vi-VN" sz="2400" b="0">
                            <a:solidFill>
                              <a:srgbClr val="1E293B"/>
                            </a:solidFill>
                            <a:latin typeface="Cambria Math" panose="02040503050406030204" pitchFamily="18" charset="0"/>
                          </a:rPr>
                          <m:t>3</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7</m:t>
                        </m:r>
                      </m:num>
                      <m:den>
                        <m:r>
                          <a:rPr lang="vi-VN" sz="2400" b="0">
                            <a:solidFill>
                              <a:srgbClr val="1E293B"/>
                            </a:solidFill>
                            <a:latin typeface="Cambria Math" panose="02040503050406030204" pitchFamily="18" charset="0"/>
                          </a:rPr>
                          <m:t>3(3x−2)</m:t>
                        </m:r>
                      </m:den>
                    </m:f>
                    <m:r>
                      <a:rPr lang="vi-VN" sz="2400" b="0">
                        <a:solidFill>
                          <a:srgbClr val="1E293B"/>
                        </a:solidFill>
                        <a:latin typeface="Cambria Math" panose="02040503050406030204" pitchFamily="18" charset="0"/>
                      </a:rPr>
                      <m:t>&gt;0</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x≥2</m:t>
                    </m:r>
                  </m:oMath>
                </a14:m>
              </a:p>
            </p:txBody>
          </p:sp>
        </mc:Choice>
        <mc:Fallback>
          <p:sp>
            <p:nvSpPr>
              <p:cNvPr id="7" name="TextBox 6"/>
              <p:cNvSpPr txBox="1"/>
              <p:nvPr/>
            </p:nvSpPr>
            <p:spPr>
              <a:xfrm>
                <a:off x="731520" y="1463040"/>
                <a:ext cx="10789920" cy="22311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Bước sai: kết luận GTNN bằng </a:t>
                </a:r>
                <a:r>
                  <a:rPr lang="vi-VN"/>
                  <a:t>\frac{2}{3}</a:t>
                </a:r>
              </a:p>
              <a:p>
                <a:pPr algn="l" marL="365760" indent="-365760">
                  <a:spcAft>
                    <a:spcPts val="800"/>
                  </a:spcAft>
                  <a:buClr>
                    <a:srgbClr val="1E40AF"/>
                  </a:buClr>
                  <a:buFont typeface="Arial"/>
                  <a:buChar char="•"/>
                </a:pPr>
                <a:r>
                  <a:rPr lang="vi-VN"/>
                  <a:t>\frac{2}{3}</a:t>
                </a:r>
                <a:r>
                  <a:rPr sz="2400">
                    <a:solidFill>
                      <a:srgbClr val="1E293B"/>
                    </a:solidFill>
                    <a:latin typeface="Calibri"/>
                  </a:rPr>
                  <a:t> chỉ là giới hạn khi </a:t>
                </a:r>
                <a:r>
                  <a:rPr lang="vi-VN"/>
                  <a:t>x\to+\infty</a:t>
                </a:r>
                <a:r>
                  <a:rPr sz="2400">
                    <a:solidFill>
                      <a:srgbClr val="1E293B"/>
                    </a:solidFill>
                    <a:latin typeface="Calibri"/>
                  </a:rPr>
                  <a:t>, không đạt được</a:t>
                </a:r>
              </a:p>
              <a:p>
                <a:pPr algn="l" marL="365760" indent="-365760">
                  <a:spcAft>
                    <a:spcPts val="800"/>
                  </a:spcAft>
                  <a:buClr>
                    <a:srgbClr val="1E40AF"/>
                  </a:buClr>
                  <a:buFont typeface="Arial"/>
                  <a:buChar char="•"/>
                </a:pPr>
                <a:r>
                  <a:rPr sz="2400">
                    <a:solidFill>
                      <a:srgbClr val="1E293B"/>
                    </a:solidFill>
                    <a:latin typeface="Calibri"/>
                  </a:rPr>
                  <a:t>Vì </a:t>
                </a:r>
                <a:r>
                  <a:rPr lang="vi-VN"/>
                  <a:t>y-\frac{2}{3}=\frac{7}{3(3x-2)}&gt;0</a:t>
                </a:r>
                <a:r>
                  <a:rPr sz="2400">
                    <a:solidFill>
                      <a:srgbClr val="1E293B"/>
                    </a:solidFill>
                    <a:latin typeface="Calibri"/>
                  </a:rPr>
                  <a:t> với mọi </a:t>
                </a:r>
                <a:r>
                  <a:rPr lang="vi-VN"/>
                  <a:t>x\ge 2</a:t>
                </a:r>
              </a:p>
            </p:txBody>
          </p:sp>
        </mc:Fallback>
      </mc:AlternateContent>
      <p:sp>
        <p:nvSpPr>
          <p:cNvPr id="8" name="Rounded Rectangle 7"/>
          <p:cNvSpPr/>
          <p:nvPr/>
        </p:nvSpPr>
        <p:spPr>
          <a:xfrm>
            <a:off x="731520" y="3831336"/>
            <a:ext cx="9601200" cy="93725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831336"/>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Không có GTNN trên </a:t>
                </a:r>
                <a14:m>
                  <m:oMath xmlns:m="http://schemas.openxmlformats.org/officeDocument/2006/math">
                    <m:r>
                      <a:rPr lang="vi-VN" sz="2400" b="1">
                        <a:solidFill>
                          <a:srgbClr val="991B1B"/>
                        </a:solidFill>
                        <a:latin typeface="Cambria Math" panose="02040503050406030204" pitchFamily="18" charset="0"/>
                      </a:rPr>
                      <m:t>[2;+∞)</m:t>
                    </m:r>
                  </m:oMath>
                </a14:m>
                <a:r>
                  <a:rPr sz="2400" b="1">
                    <a:solidFill>
                      <a:srgbClr val="991B1B"/>
                    </a:solidFill>
                    <a:latin typeface="Calibri"/>
                  </a:rPr>
                  <a:t>; GTLN bằng </a:t>
                </a:r>
                <a14:m>
                  <m:oMath xmlns:m="http://schemas.openxmlformats.org/officeDocument/2006/math">
                    <m:f>
                      <m:fPr>
                        <m:type m:val="bar"/>
                      </m:fPr>
                      <m:num>
                        <m:r>
                          <a:rPr lang="vi-VN" sz="2400" b="1">
                            <a:solidFill>
                              <a:srgbClr val="991B1B"/>
                            </a:solidFill>
                            <a:latin typeface="Cambria Math" panose="02040503050406030204" pitchFamily="18" charset="0"/>
                          </a:rPr>
                          <m:t>5</m:t>
                        </m:r>
                      </m:num>
                      <m:den>
                        <m:r>
                          <a:rPr lang="vi-VN" sz="2400" b="1">
                            <a:solidFill>
                              <a:srgbClr val="991B1B"/>
                            </a:solidFill>
                            <a:latin typeface="Cambria Math" panose="02040503050406030204" pitchFamily="18" charset="0"/>
                          </a:rPr>
                          <m:t>4</m:t>
                        </m:r>
                      </m:den>
                    </m:f>
                  </m:oMath>
                </a14:m>
                <a:r>
                  <a:rPr sz="2400" b="1">
                    <a:solidFill>
                      <a:srgbClr val="991B1B"/>
                    </a:solidFill>
                    <a:latin typeface="Calibri"/>
                  </a:rPr>
                  <a:t> tại </a:t>
                </a:r>
                <a14:m>
                  <m:oMath xmlns:m="http://schemas.openxmlformats.org/officeDocument/2006/math">
                    <m:r>
                      <a:rPr lang="vi-VN" sz="2400" b="1">
                        <a:solidFill>
                          <a:srgbClr val="991B1B"/>
                        </a:solidFill>
                        <a:latin typeface="Cambria Math" panose="02040503050406030204" pitchFamily="18" charset="0"/>
                      </a:rPr>
                      <m:t>x=2</m:t>
                    </m:r>
                  </m:oMath>
                </a14:m>
              </a:p>
            </p:txBody>
          </p:sp>
        </mc:Choice>
        <mc:Fallback>
          <p:sp>
            <p:nvSpPr>
              <p:cNvPr id="9" name="TextBox 8"/>
              <p:cNvSpPr txBox="1"/>
              <p:nvPr/>
            </p:nvSpPr>
            <p:spPr>
              <a:xfrm>
                <a:off x="914400" y="3831336"/>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Không có GTNN trên </a:t>
                </a:r>
                <a:r>
                  <a:rPr lang="vi-VN"/>
                  <a:t>[2;+\infty)</a:t>
                </a:r>
                <a:r>
                  <a:rPr sz="2400" b="1">
                    <a:solidFill>
                      <a:srgbClr val="991B1B"/>
                    </a:solidFill>
                    <a:latin typeface="Calibri"/>
                  </a:rPr>
                  <a:t>; GTLN bằng </a:t>
                </a:r>
                <a:r>
                  <a:rPr lang="vi-VN"/>
                  <a:t>\frac{5}{4}</a:t>
                </a:r>
                <a:r>
                  <a:rPr sz="2400" b="1">
                    <a:solidFill>
                      <a:srgbClr val="991B1B"/>
                    </a:solidFill>
                    <a:latin typeface="Calibri"/>
                  </a:rPr>
                  <a:t> tại </a:t>
                </a:r>
                <a:r>
                  <a:rPr lang="vi-VN"/>
                  <a:t>x=2</a:t>
                </a: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AI: LỜI GIẢI SỐ 2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51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627375"/>
              </a:xfrm>
              <a:prstGeom prst="rect">
                <a:avLst/>
              </a:prstGeom>
              <a:noFill/>
            </p:spPr>
            <p:txBody>
              <a:bodyPr wrap="square" anchor="t" lIns="45720" rIns="45720">
                <a:spAutoFit/>
              </a:bodyPr>
              <a:lstStyle/>
              <a:p>
                <a:pPr algn="l">
                  <a:spcAft>
                    <a:spcPts val="800"/>
                  </a:spcAft>
                </a:pPr>
                <a:r>
                  <a:rPr sz="2400">
                    <a:solidFill>
                      <a:srgbClr val="1E293B"/>
                    </a:solidFill>
                    <a:latin typeface="Calibri"/>
                  </a:rPr>
                  <a:t>Đề: Bài 1.42b – tìm tiệm cận xiên của đồ thị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f>
                      <m:fPr>
                        <m:type m:val="bar"/>
                      </m:fPr>
                      <m:num>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+2x−1</m:t>
                        </m:r>
                      </m:num>
                      <m:den>
                        <m:r>
                          <a:rPr lang="vi-VN" sz="2400" b="0">
                            <a:solidFill>
                              <a:srgbClr val="1E293B"/>
                            </a:solidFill>
                            <a:latin typeface="Cambria Math" panose="02040503050406030204" pitchFamily="18" charset="0"/>
                          </a:rPr>
                          <m:t>2x−1</m:t>
                        </m:r>
                      </m:den>
                    </m:f>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"Chia từng hạng tử của tử số cho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2x</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f>
                      <m:fPr>
                        <m:type m:val="bar"/>
                      </m:fPr>
                      <m:num>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num>
                      <m:den>
                        <m:r>
                          <a:rPr lang="vi-VN" sz="2400" b="0">
                            <a:solidFill>
                              <a:srgbClr val="1E293B"/>
                            </a:solidFill>
                            <a:latin typeface="Cambria Math" panose="02040503050406030204" pitchFamily="18" charset="0"/>
                          </a:rPr>
                          <m:t>2x</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x</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f>
                      <m:fPr>
                        <m:type m:val="bar"/>
                      </m:fPr>
                      <m:num>
                        <m:r>
                          <a:rPr lang="vi-VN" sz="2400" b="0">
                            <a:solidFill>
                              <a:srgbClr val="1E293B"/>
                            </a:solidFill>
                            <a:latin typeface="Cambria Math" panose="02040503050406030204" pitchFamily="18" charset="0"/>
                          </a:rPr>
                          <m:t>2x</m:t>
                        </m:r>
                      </m:num>
                      <m:den>
                        <m:r>
                          <a:rPr lang="vi-VN" sz="2400" b="0">
                            <a:solidFill>
                              <a:srgbClr val="1E293B"/>
                            </a:solidFill>
                            <a:latin typeface="Cambria Math" panose="02040503050406030204" pitchFamily="18" charset="0"/>
                          </a:rPr>
                          <m:t>2x</m:t>
                        </m:r>
                      </m:den>
                    </m:f>
                    <m:r>
                      <a:rPr lang="vi-VN" sz="2400" b="0">
                        <a:solidFill>
                          <a:srgbClr val="1E293B"/>
                        </a:solidFill>
                        <a:latin typeface="Cambria Math" panose="02040503050406030204" pitchFamily="18" charset="0"/>
                      </a:rPr>
                      <m:t>=1</m:t>
                    </m:r>
                  </m:oMath>
                </a14:m>
                <a:r>
                  <a:rPr sz="2400">
                    <a:solidFill>
                      <a:srgbClr val="1E293B"/>
                    </a:solidFill>
                    <a:latin typeface="Calibri"/>
                  </a:rPr>
                  <a:t>. Vậy tiệm cận xiên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x</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+1</m:t>
                    </m:r>
                  </m:oMath>
                </a14:m>
                <a:r>
                  <a:rPr sz="2400">
                    <a:solidFill>
                      <a:srgbClr val="1E293B"/>
                    </a:solidFill>
                    <a:latin typeface="Calibri"/>
                  </a:rPr>
                  <a:t>."</a:t>
                </a:r>
              </a:p>
              <a:p>
                <a:pPr algn="l">
                  <a:spcAft>
                    <a:spcPts val="800"/>
                  </a:spcAft>
                </a:pPr>
                <a:r>
                  <a:rPr sz="2400" b="1">
                    <a:solidFill>
                      <a:srgbClr val="1E40AF"/>
                    </a:solidFill>
                    <a:latin typeface="Calibri"/>
                  </a:rPr>
                  <a:t>Gợi mở: Có được chia từng hạng tử cho </a:t>
                </a:r>
                <a14:m>
                  <m:oMath xmlns:m="http://schemas.openxmlformats.org/officeDocument/2006/math">
                    <m:r>
                      <a:rPr lang="vi-VN" sz="2400" b="1">
                        <a:solidFill>
                          <a:srgbClr val="1E40AF"/>
                        </a:solidFill>
                        <a:latin typeface="Cambria Math" panose="02040503050406030204" pitchFamily="18" charset="0"/>
                      </a:rPr>
                      <m:t>2x</m:t>
                    </m:r>
                  </m:oMath>
                </a14:m>
                <a:r>
                  <a:rPr sz="2400" b="1">
                    <a:solidFill>
                      <a:srgbClr val="1E40AF"/>
                    </a:solidFill>
                    <a:latin typeface="Calibri"/>
                  </a:rPr>
                  <a:t> không?</a:t>
                </a:r>
              </a:p>
            </p:txBody>
          </p:sp>
        </mc:Choice>
        <mc:Fallback>
          <p:sp>
            <p:nvSpPr>
              <p:cNvPr id="7" name="TextBox 6"/>
              <p:cNvSpPr txBox="1"/>
              <p:nvPr/>
            </p:nvSpPr>
            <p:spPr>
              <a:xfrm>
                <a:off x="731520" y="1463040"/>
                <a:ext cx="10789920" cy="2627375"/>
              </a:xfrm>
              <a:prstGeom prst="rect">
                <a:avLst/>
              </a:prstGeom>
              <a:noFill/>
            </p:spPr>
            <p:txBody>
              <a:bodyPr wrap="square" anchor="t" lIns="45720" rIns="45720">
                <a:spAutoFit/>
              </a:bodyPr>
              <a:lstStyle/>
              <a:p>
                <a:pPr algn="l">
                  <a:spcAft>
                    <a:spcPts val="800"/>
                  </a:spcAft>
                </a:pPr>
                <a:r>
                  <a:rPr sz="2400">
                    <a:solidFill>
                      <a:srgbClr val="1E293B"/>
                    </a:solidFill>
                    <a:latin typeface="Calibri"/>
                  </a:rPr>
                  <a:t>Đề: Bài 1.42b – tìm tiệm cận xiên của đồ thị hàm số </a:t>
                </a:r>
                <a:r>
                  <a:rPr lang="vi-VN"/>
                  <a:t>y=(x^2+2x−1)/(2x−1)</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"Chia từng hạng tử của tử số cho </a:t>
                </a:r>
                <a:r>
                  <a:rPr lang="vi-VN"/>
                  <a:t>2x</a:t>
                </a:r>
                <a:r>
                  <a:rPr sz="2400">
                    <a:solidFill>
                      <a:srgbClr val="1E293B"/>
                    </a:solidFill>
                    <a:latin typeface="Calibri"/>
                  </a:rPr>
                  <a:t>: </a:t>
                </a:r>
                <a:r>
                  <a:rPr lang="vi-VN"/>
                  <a:t>(x^2)/2x=x/2</a:t>
                </a:r>
                <a:r>
                  <a:rPr sz="2400">
                    <a:solidFill>
                      <a:srgbClr val="1E293B"/>
                    </a:solidFill>
                    <a:latin typeface="Calibri"/>
                  </a:rPr>
                  <a:t>, </a:t>
                </a:r>
                <a:r>
                  <a:rPr lang="vi-VN"/>
                  <a:t>2x/2x=1</a:t>
                </a:r>
                <a:r>
                  <a:rPr sz="2400">
                    <a:solidFill>
                      <a:srgbClr val="1E293B"/>
                    </a:solidFill>
                    <a:latin typeface="Calibri"/>
                  </a:rPr>
                  <a:t>. Vậy tiệm cận xiên là </a:t>
                </a:r>
                <a:r>
                  <a:rPr lang="vi-VN"/>
                  <a:t>y=x/2+1</a:t>
                </a:r>
                <a:r>
                  <a:rPr sz="2400">
                    <a:solidFill>
                      <a:srgbClr val="1E293B"/>
                    </a:solidFill>
                    <a:latin typeface="Calibri"/>
                  </a:rPr>
                  <a:t>."</a:t>
                </a:r>
              </a:p>
              <a:p>
                <a:pPr algn="l">
                  <a:spcAft>
                    <a:spcPts val="800"/>
                  </a:spcAft>
                </a:pPr>
                <a:r>
                  <a:rPr sz="2400" b="1">
                    <a:solidFill>
                      <a:srgbClr val="1E40AF"/>
                    </a:solidFill>
                    <a:latin typeface="Calibri"/>
                  </a:rPr>
                  <a:t>Gợi mở: Có được chia từng hạng tử cho </a:t>
                </a:r>
                <a:r>
                  <a:rPr lang="vi-VN"/>
                  <a:t>2x</a:t>
                </a:r>
                <a:r>
                  <a:rPr sz="2400" b="1">
                    <a:solidFill>
                      <a:srgbClr val="1E40AF"/>
                    </a:solidFill>
                    <a:latin typeface="Calibri"/>
                  </a:rPr>
                  <a:t> không?</a:t>
                </a: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AI: LỜI GIẢI SỐ 2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52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3624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Bước sai: chia từng hạng tử của tử số cho </a:t>
                </a:r>
                <a14:m>
                  <m:oMath xmlns:m="http://schemas.openxmlformats.org/officeDocument/2006/math">
                    <m:r>
                      <a:rPr lang="vi-VN" sz="2200" b="0">
                        <a:solidFill>
                          <a:srgbClr val="1E293B"/>
                        </a:solidFill>
                        <a:latin typeface="Cambria Math" panose="02040503050406030204" pitchFamily="18" charset="0"/>
                      </a:rPr>
                      <m:t>2x</m:t>
                    </m:r>
                  </m:oMath>
                </a14:m>
              </a:p>
              <a:p>
                <a:pPr algn="l" marL="365760" indent="-365760">
                  <a:spcAft>
                    <a:spcPts val="800"/>
                  </a:spcAft>
                  <a:buClr>
                    <a:srgbClr val="1E40AF"/>
                  </a:buClr>
                  <a:buFont typeface="Arial"/>
                  <a:buChar char="•"/>
                </a:pPr>
                <a:r>
                  <a:rPr sz="2200">
                    <a:solidFill>
                      <a:srgbClr val="1E293B"/>
                    </a:solidFill>
                    <a:latin typeface="Calibri"/>
                  </a:rPr>
                  <a:t>Phải chia đa thức: </a:t>
                </a:r>
                <a14:m>
                  <m:oMath xmlns:m="http://schemas.openxmlformats.org/officeDocument/2006/math">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+2x−1=(2x−1)</m:t>
                    </m:r>
                    <m:d>
                      <m:dPr>
                        <m:sepChr m:val="+"/>
                      </m:dPr>
                      <m:e>
                        <m:f>
                          <m:fPr>
                            <m:type m:val="bar"/>
                          </m:fPr>
                          <m:num>
                            <m:r>
                              <a:rPr lang="vi-VN" sz="2200" b="0">
                                <a:solidFill>
                                  <a:srgbClr val="1E293B"/>
                                </a:solidFill>
                                <a:latin typeface="Cambria Math" panose="02040503050406030204" pitchFamily="18" charset="0"/>
                              </a:rPr>
                              <m:t>x</m:t>
                            </m:r>
                          </m:num>
                          <m:den>
                            <m:r>
                              <a:rPr lang="vi-VN" sz="2200" b="0">
                                <a:solidFill>
                                  <a:srgbClr val="1E293B"/>
                                </a:solidFill>
                                <a:latin typeface="Cambria Math" panose="02040503050406030204" pitchFamily="18" charset="0"/>
                              </a:rPr>
                              <m:t>2</m:t>
                            </m:r>
                          </m:den>
                        </m:f>
                      </m:e>
                      <m:e>
                        <m:f>
                          <m:fPr>
                            <m:type m:val="bar"/>
                          </m:fPr>
                          <m:num>
                            <m:r>
                              <a:rPr lang="vi-VN" sz="2200" b="0">
                                <a:solidFill>
                                  <a:srgbClr val="1E293B"/>
                                </a:solidFill>
                                <a:latin typeface="Cambria Math" panose="02040503050406030204" pitchFamily="18" charset="0"/>
                              </a:rPr>
                              <m:t>5</m:t>
                            </m:r>
                          </m:num>
                          <m:den>
                            <m:r>
                              <a:rPr lang="vi-VN" sz="2200" b="0">
                                <a:solidFill>
                                  <a:srgbClr val="1E293B"/>
                                </a:solidFill>
                                <a:latin typeface="Cambria Math" panose="02040503050406030204" pitchFamily="18" charset="0"/>
                              </a:rPr>
                              <m:t>4</m:t>
                            </m:r>
                          </m:den>
                        </m:f>
                      </m:e>
                    </m:d>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oMath>
                </a14:m>
              </a:p>
            </p:txBody>
          </p:sp>
        </mc:Choice>
        <mc:Fallback>
          <p:sp>
            <p:nvSpPr>
              <p:cNvPr id="7" name="TextBox 6"/>
              <p:cNvSpPr txBox="1"/>
              <p:nvPr/>
            </p:nvSpPr>
            <p:spPr>
              <a:xfrm>
                <a:off x="731520" y="1463040"/>
                <a:ext cx="10789920" cy="143624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Bước sai: chia từng hạng tử của tử số cho </a:t>
                </a:r>
                <a:r>
                  <a:rPr lang="vi-VN"/>
                  <a:t>2x</a:t>
                </a:r>
              </a:p>
              <a:p>
                <a:pPr algn="l" marL="365760" indent="-365760">
                  <a:spcAft>
                    <a:spcPts val="800"/>
                  </a:spcAft>
                  <a:buClr>
                    <a:srgbClr val="1E40AF"/>
                  </a:buClr>
                  <a:buFont typeface="Arial"/>
                  <a:buChar char="•"/>
                </a:pPr>
                <a:r>
                  <a:rPr sz="2200">
                    <a:solidFill>
                      <a:srgbClr val="1E293B"/>
                    </a:solidFill>
                    <a:latin typeface="Calibri"/>
                  </a:rPr>
                  <a:t>Phải chia đa thức: </a:t>
                </a:r>
                <a:r>
                  <a:rPr lang="vi-VN"/>
                  <a:t>x^2+2x-1=(2x-1)\left(\frac{x}{2}+\frac{5}{4}\right)+\frac{1}{4}</a:t>
                </a: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AI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53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limLow>
                      <m:e>
                        <m:r>
                          <m:rPr>
                            <m:sty m:val="p"/>
                          </m:rP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x→±∞</m:t>
                        </m:r>
                      </m:lim>
                    </m:limLow>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4(2x−1)</m:t>
                        </m:r>
                      </m:den>
                    </m:f>
                    <m:r>
                      <a:rPr lang="vi-VN" sz="2200" b="0">
                        <a:solidFill>
                          <a:srgbClr val="1E293B"/>
                        </a:solidFill>
                        <a:latin typeface="Cambria Math" panose="02040503050406030204" pitchFamily="18" charset="0"/>
                      </a:rPr>
                      <m:t>=0</m:t>
                    </m:r>
                  </m:oMath>
                </a14:m>
              </a:p>
            </p:txBody>
          </p:sp>
        </mc:Choice>
        <mc:Fallback>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\lim_{x\to\pm\infty}\frac{1}{4(2x-1)}=0</a:t>
                </a:r>
              </a:p>
            </p:txBody>
          </p:sp>
        </mc:Fallback>
      </mc:AlternateContent>
      <p:sp>
        <p:nvSpPr>
          <p:cNvPr id="8" name="Rounded Rectangle 7"/>
          <p:cNvSpPr/>
          <p:nvPr/>
        </p:nvSpPr>
        <p:spPr>
          <a:xfrm>
            <a:off x="731520" y="2236597"/>
            <a:ext cx="9601200" cy="107060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236597"/>
                <a:ext cx="9235440" cy="1070609"/>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Tiệm cận xiên đúng: </a:t>
                </a:r>
                <a14:m>
                  <m:oMath xmlns:m="http://schemas.openxmlformats.org/officeDocument/2006/math">
                    <m:r>
                      <a:rPr lang="vi-VN" sz="2200" b="1">
                        <a:solidFill>
                          <a:srgbClr val="991B1B"/>
                        </a:solidFill>
                        <a:latin typeface="Cambria Math" panose="02040503050406030204" pitchFamily="18" charset="0"/>
                      </a:rPr>
                      <m:t>y=</m:t>
                    </m:r>
                    <m:f>
                      <m:fPr>
                        <m:type m:val="bar"/>
                      </m:fPr>
                      <m:num>
                        <m:r>
                          <a:rPr lang="vi-VN" sz="2200" b="1">
                            <a:solidFill>
                              <a:srgbClr val="991B1B"/>
                            </a:solidFill>
                            <a:latin typeface="Cambria Math" panose="02040503050406030204" pitchFamily="18" charset="0"/>
                          </a:rPr>
                          <m:t>1</m:t>
                        </m:r>
                      </m:num>
                      <m:den>
                        <m:r>
                          <a:rPr lang="vi-VN" sz="2200" b="1">
                            <a:solidFill>
                              <a:srgbClr val="991B1B"/>
                            </a:solidFill>
                            <a:latin typeface="Cambria Math" panose="02040503050406030204" pitchFamily="18" charset="0"/>
                          </a:rPr>
                          <m:t>2</m:t>
                        </m:r>
                      </m:den>
                    </m:f>
                    <m:r>
                      <a:rPr lang="vi-VN" sz="2200" b="1">
                        <a:solidFill>
                          <a:srgbClr val="991B1B"/>
                        </a:solidFill>
                        <a:latin typeface="Cambria Math" panose="02040503050406030204" pitchFamily="18" charset="0"/>
                      </a:rPr>
                      <m:t>x+</m:t>
                    </m:r>
                    <m:f>
                      <m:fPr>
                        <m:type m:val="bar"/>
                      </m:fPr>
                      <m:num>
                        <m:r>
                          <a:rPr lang="vi-VN" sz="2200" b="1">
                            <a:solidFill>
                              <a:srgbClr val="991B1B"/>
                            </a:solidFill>
                            <a:latin typeface="Cambria Math" panose="02040503050406030204" pitchFamily="18" charset="0"/>
                          </a:rPr>
                          <m:t>5</m:t>
                        </m:r>
                      </m:num>
                      <m:den>
                        <m:r>
                          <a:rPr lang="vi-VN" sz="2200" b="1">
                            <a:solidFill>
                              <a:srgbClr val="991B1B"/>
                            </a:solidFill>
                            <a:latin typeface="Cambria Math" panose="02040503050406030204" pitchFamily="18" charset="0"/>
                          </a:rPr>
                          <m:t>4</m:t>
                        </m:r>
                      </m:den>
                    </m:f>
                  </m:oMath>
                </a14:m>
              </a:p>
            </p:txBody>
          </p:sp>
        </mc:Choice>
        <mc:Fallback>
          <p:sp>
            <p:nvSpPr>
              <p:cNvPr id="9" name="TextBox 8"/>
              <p:cNvSpPr txBox="1"/>
              <p:nvPr/>
            </p:nvSpPr>
            <p:spPr>
              <a:xfrm>
                <a:off x="914400" y="2236597"/>
                <a:ext cx="9235440" cy="1070609"/>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Tiệm cận xiên đúng: </a:t>
                </a:r>
                <a:r>
                  <a:rPr lang="vi-VN"/>
                  <a:t>y=\frac{1}{2}x+\frac{5}{4}</a:t>
                </a: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1.44: THẤU KÍNH HỘI TỤ</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54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26514"/>
              </a:xfrm>
              <a:prstGeom prst="rect">
                <a:avLst/>
              </a:prstGeom>
              <a:noFill/>
            </p:spPr>
            <p:txBody>
              <a:bodyPr wrap="square" anchor="t" lIns="45720" rIns="45720">
                <a:spAutoFit/>
              </a:bodyPr>
              <a:lstStyle/>
              <a:p>
                <a:pPr algn="l">
                  <a:spcAft>
                    <a:spcPts val="800"/>
                  </a:spcAft>
                </a:pPr>
                <a:r>
                  <a:rPr sz="2200">
                    <a:solidFill>
                      <a:srgbClr val="1E293B"/>
                    </a:solidFill>
                    <a:latin typeface="Calibri"/>
                  </a:rPr>
                  <a:t>Thấu kính hội tụ tiêu cự </a:t>
                </a:r>
                <a14:m>
                  <m:oMath xmlns:m="http://schemas.openxmlformats.org/officeDocument/2006/math">
                    <m:r>
                      <a:rPr lang="vi-VN" sz="2200" b="0">
                        <a:solidFill>
                          <a:srgbClr val="1E293B"/>
                        </a:solidFill>
                        <a:latin typeface="Cambria Math" panose="02040503050406030204" pitchFamily="18" charset="0"/>
                      </a:rPr>
                      <m:t>f</m:t>
                    </m:r>
                  </m:oMath>
                </a14:m>
                <a:r>
                  <a:rPr sz="2200">
                    <a:solidFill>
                      <a:srgbClr val="1E293B"/>
                    </a:solidFill>
                    <a:latin typeface="Calibri"/>
                  </a:rPr>
                  <a:t> (H.1.39): </a:t>
                </a:r>
                <a14:m>
                  <m:oMath xmlns:m="http://schemas.openxmlformats.org/officeDocument/2006/math">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p</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q</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f</m:t>
                        </m:r>
                      </m:den>
                    </m:f>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p</m:t>
                    </m:r>
                  </m:oMath>
                </a14:m>
                <a:r>
                  <a:rPr sz="2200">
                    <a:solidFill>
                      <a:srgbClr val="1E293B"/>
                    </a:solidFill>
                    <a:latin typeface="Calibri"/>
                  </a:rPr>
                  <a:t>: khoảng cách vật, </a:t>
                </a:r>
                <a14:m>
                  <m:oMath xmlns:m="http://schemas.openxmlformats.org/officeDocument/2006/math">
                    <m:r>
                      <a:rPr lang="vi-VN" sz="2200" b="0">
                        <a:solidFill>
                          <a:srgbClr val="1E293B"/>
                        </a:solidFill>
                        <a:latin typeface="Cambria Math" panose="02040503050406030204" pitchFamily="18" charset="0"/>
                      </a:rPr>
                      <m:t>q</m:t>
                    </m:r>
                  </m:oMath>
                </a14:m>
                <a:r>
                  <a:rPr sz="2200">
                    <a:solidFill>
                      <a:srgbClr val="1E293B"/>
                    </a:solidFill>
                    <a:latin typeface="Calibri"/>
                  </a:rPr>
                  <a:t>: khoảng cách ảnh).</a:t>
                </a:r>
              </a:p>
            </p:txBody>
          </p:sp>
        </mc:Choice>
        <mc:Fallback>
          <p:sp>
            <p:nvSpPr>
              <p:cNvPr id="7" name="TextBox 6"/>
              <p:cNvSpPr txBox="1"/>
              <p:nvPr/>
            </p:nvSpPr>
            <p:spPr>
              <a:xfrm>
                <a:off x="731520" y="1463040"/>
                <a:ext cx="10789920" cy="1326514"/>
              </a:xfrm>
              <a:prstGeom prst="rect">
                <a:avLst/>
              </a:prstGeom>
              <a:noFill/>
            </p:spPr>
            <p:txBody>
              <a:bodyPr wrap="square" anchor="t" lIns="45720" rIns="45720">
                <a:spAutoFit/>
              </a:bodyPr>
              <a:lstStyle/>
              <a:p>
                <a:pPr algn="l">
                  <a:spcAft>
                    <a:spcPts val="800"/>
                  </a:spcAft>
                </a:pPr>
                <a:r>
                  <a:rPr sz="2200">
                    <a:solidFill>
                      <a:srgbClr val="1E293B"/>
                    </a:solidFill>
                    <a:latin typeface="Calibri"/>
                  </a:rPr>
                  <a:t>Thấu kính hội tụ tiêu cự </a:t>
                </a:r>
                <a:r>
                  <a:rPr lang="vi-VN"/>
                  <a:t>f</a:t>
                </a:r>
                <a:r>
                  <a:rPr sz="2200">
                    <a:solidFill>
                      <a:srgbClr val="1E293B"/>
                    </a:solidFill>
                    <a:latin typeface="Calibri"/>
                  </a:rPr>
                  <a:t> (H.1.39): </a:t>
                </a:r>
                <a:r>
                  <a:rPr lang="vi-VN"/>
                  <a:t>\frac{1}{p}+\frac{1}{q}=\frac{1}{f}</a:t>
                </a:r>
                <a:r>
                  <a:rPr sz="2200">
                    <a:solidFill>
                      <a:srgbClr val="1E293B"/>
                    </a:solidFill>
                    <a:latin typeface="Calibri"/>
                  </a:rPr>
                  <a:t> (</a:t>
                </a:r>
                <a:r>
                  <a:rPr lang="vi-VN"/>
                  <a:t>p</a:t>
                </a:r>
                <a:r>
                  <a:rPr sz="2200">
                    <a:solidFill>
                      <a:srgbClr val="1E293B"/>
                    </a:solidFill>
                    <a:latin typeface="Calibri"/>
                  </a:rPr>
                  <a:t>: khoảng cách vật, </a:t>
                </a:r>
                <a:r>
                  <a:rPr lang="vi-VN"/>
                  <a:t>q</a:t>
                </a:r>
                <a:r>
                  <a:rPr sz="2200">
                    <a:solidFill>
                      <a:srgbClr val="1E293B"/>
                    </a:solidFill>
                    <a:latin typeface="Calibri"/>
                  </a:rPr>
                  <a:t>: khoảng cách ảnh).</a:t>
                </a:r>
              </a:p>
            </p:txBody>
          </p:sp>
        </mc:Fallback>
      </mc:AlternateContent>
      <p:pic>
        <p:nvPicPr>
          <p:cNvPr id="8" name="Picture 7" descr="img05.png"/>
          <p:cNvPicPr>
            <a:picLocks noChangeAspect="1"/>
          </p:cNvPicPr>
          <p:nvPr/>
        </p:nvPicPr>
        <p:blipFill>
          <a:blip r:embed="rId2"/>
          <a:stretch>
            <a:fillRect/>
          </a:stretch>
        </p:blipFill>
        <p:spPr>
          <a:xfrm>
            <a:off x="1929950" y="2926714"/>
            <a:ext cx="8301620" cy="3336926"/>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1.44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55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9179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Viết công thức </a:t>
                </a:r>
                <a14:m>
                  <m:oMath xmlns:m="http://schemas.openxmlformats.org/officeDocument/2006/math">
                    <m:r>
                      <a:rPr lang="vi-VN" sz="2200" b="0">
                        <a:solidFill>
                          <a:srgbClr val="1E293B"/>
                        </a:solidFill>
                        <a:latin typeface="Cambria Math" panose="02040503050406030204" pitchFamily="18" charset="0"/>
                      </a:rPr>
                      <m:t>q=g(p)</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p∈(f;+∞)</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Tính </a:t>
                </a:r>
                <a14:m>
                  <m:oMath xmlns:m="http://schemas.openxmlformats.org/officeDocument/2006/math">
                    <m:limLow>
                      <m:e>
                        <m:r>
                          <m:rPr>
                            <m:sty m:val="p"/>
                          </m:rP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p→+∞</m:t>
                        </m:r>
                      </m:lim>
                    </m:limLow>
                    <m:r>
                      <a:rPr lang="vi-VN" sz="2200" b="0">
                        <a:solidFill>
                          <a:srgbClr val="1E293B"/>
                        </a:solidFill>
                        <a:latin typeface="Cambria Math" panose="02040503050406030204" pitchFamily="18" charset="0"/>
                      </a:rPr>
                      <m:t>g(p)</m:t>
                    </m:r>
                  </m:oMath>
                </a14:m>
                <a:r>
                  <a:rPr sz="2200">
                    <a:solidFill>
                      <a:srgbClr val="1E293B"/>
                    </a:solidFill>
                    <a:latin typeface="Calibri"/>
                  </a:rPr>
                  <a:t>; </a:t>
                </a:r>
                <a14:m>
                  <m:oMath xmlns:m="http://schemas.openxmlformats.org/officeDocument/2006/math">
                    <m:limLow>
                      <m:e>
                        <m:r>
                          <m:rPr>
                            <m:sty m:val="p"/>
                          </m:rP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p→</m:t>
                        </m:r>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lim>
                    </m:limLow>
                    <m:r>
                      <a:rPr lang="vi-VN" sz="2200" b="0">
                        <a:solidFill>
                          <a:srgbClr val="1E293B"/>
                        </a:solidFill>
                        <a:latin typeface="Cambria Math" panose="02040503050406030204" pitchFamily="18" charset="0"/>
                      </a:rPr>
                      <m:t>g(p)</m:t>
                    </m:r>
                  </m:oMath>
                </a14:m>
                <a:r>
                  <a:rPr sz="2200">
                    <a:solidFill>
                      <a:srgbClr val="1E293B"/>
                    </a:solidFill>
                    <a:latin typeface="Calibri"/>
                  </a:rPr>
                  <a:t> và nêu ý nghĩa.</a:t>
                </a:r>
              </a:p>
              <a:p>
                <a:pPr algn="l" marL="365760" indent="-365760">
                  <a:spcAft>
                    <a:spcPts val="800"/>
                  </a:spcAft>
                  <a:buClr>
                    <a:srgbClr val="1E40AF"/>
                  </a:buClr>
                  <a:buFont typeface="Arial"/>
                  <a:buChar char="•"/>
                </a:pPr>
                <a:r>
                  <a:rPr sz="2200">
                    <a:solidFill>
                      <a:srgbClr val="1E293B"/>
                    </a:solidFill>
                    <a:latin typeface="Calibri"/>
                  </a:rPr>
                  <a:t>c) Lập bảng biến thiên của </a:t>
                </a:r>
                <a14:m>
                  <m:oMath xmlns:m="http://schemas.openxmlformats.org/officeDocument/2006/math">
                    <m:r>
                      <a:rPr lang="vi-VN" sz="2200" b="0">
                        <a:solidFill>
                          <a:srgbClr val="1E293B"/>
                        </a:solidFill>
                        <a:latin typeface="Cambria Math" panose="02040503050406030204" pitchFamily="18" charset="0"/>
                      </a:rPr>
                      <m:t>q=g(p)</m:t>
                    </m:r>
                  </m:oMath>
                </a14:m>
                <a:r>
                  <a:rPr sz="2200">
                    <a:solidFill>
                      <a:srgbClr val="1E293B"/>
                    </a:solidFill>
                    <a:latin typeface="Calibri"/>
                  </a:rPr>
                  <a:t> trên </a:t>
                </a:r>
                <a14:m>
                  <m:oMath xmlns:m="http://schemas.openxmlformats.org/officeDocument/2006/math">
                    <m:d>
                      <m:dPr>
                        <m:sepChr m:val=""/>
                      </m:dPr>
                      <m:e>
                        <m:r>
                          <a:rPr lang="vi-VN" sz="2200" b="0">
                            <a:solidFill>
                              <a:srgbClr val="1E293B"/>
                            </a:solidFill>
                            <a:latin typeface="Cambria Math" panose="02040503050406030204" pitchFamily="18" charset="0"/>
                          </a:rPr>
                          <m:t>f</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e>
                    </m:d>
                  </m:oMath>
                </a14:m>
                <a:r>
                  <a:rPr sz="2200">
                    <a:solidFill>
                      <a:srgbClr val="1E293B"/>
                    </a:solidFill>
                    <a:latin typeface="Calibri"/>
                  </a:rPr>
                  <a:t>.</a:t>
                </a:r>
              </a:p>
              <a:p>
                <a:pPr algn="l">
                  <a:spcAft>
                    <a:spcPts val="800"/>
                  </a:spcAft>
                </a:pPr>
                <a:r>
                  <a:rPr sz="2200" b="1">
                    <a:solidFill>
                      <a:srgbClr val="1E40AF"/>
                    </a:solidFill>
                    <a:latin typeface="Calibri"/>
                  </a:rPr>
                  <a:t>Gợi mở: Rút </a:t>
                </a:r>
                <a14:m>
                  <m:oMath xmlns:m="http://schemas.openxmlformats.org/officeDocument/2006/math">
                    <m:r>
                      <a:rPr lang="vi-VN" sz="2200" b="1">
                        <a:solidFill>
                          <a:srgbClr val="1E40AF"/>
                        </a:solidFill>
                        <a:latin typeface="Cambria Math" panose="02040503050406030204" pitchFamily="18" charset="0"/>
                      </a:rPr>
                      <m:t>q</m:t>
                    </m:r>
                  </m:oMath>
                </a14:m>
                <a:r>
                  <a:rPr sz="2200" b="1">
                    <a:solidFill>
                      <a:srgbClr val="1E40AF"/>
                    </a:solidFill>
                    <a:latin typeface="Calibri"/>
                  </a:rPr>
                  <a:t> từ hệ thức thấu kính</a:t>
                </a:r>
              </a:p>
            </p:txBody>
          </p:sp>
        </mc:Choice>
        <mc:Fallback>
          <p:sp>
            <p:nvSpPr>
              <p:cNvPr id="7" name="TextBox 6"/>
              <p:cNvSpPr txBox="1"/>
              <p:nvPr/>
            </p:nvSpPr>
            <p:spPr>
              <a:xfrm>
                <a:off x="731520" y="1463040"/>
                <a:ext cx="10789920" cy="189179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Viết công thức </a:t>
                </a:r>
                <a:r>
                  <a:rPr lang="vi-VN"/>
                  <a:t>q=g(p)</a:t>
                </a:r>
                <a:r>
                  <a:rPr sz="2200">
                    <a:solidFill>
                      <a:srgbClr val="1E293B"/>
                    </a:solidFill>
                    <a:latin typeface="Calibri"/>
                  </a:rPr>
                  <a:t>, </a:t>
                </a:r>
                <a:r>
                  <a:rPr lang="vi-VN"/>
                  <a:t>p\in(f;+\infty)</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Tính </a:t>
                </a:r>
                <a:r>
                  <a:rPr lang="vi-VN"/>
                  <a:t>\lim_{p\to+\infty}g(p)</a:t>
                </a:r>
                <a:r>
                  <a:rPr sz="2200">
                    <a:solidFill>
                      <a:srgbClr val="1E293B"/>
                    </a:solidFill>
                    <a:latin typeface="Calibri"/>
                  </a:rPr>
                  <a:t>; </a:t>
                </a:r>
                <a:r>
                  <a:rPr lang="vi-VN"/>
                  <a:t>\lim_{p\to f^+}g(p)</a:t>
                </a:r>
                <a:r>
                  <a:rPr sz="2200">
                    <a:solidFill>
                      <a:srgbClr val="1E293B"/>
                    </a:solidFill>
                    <a:latin typeface="Calibri"/>
                  </a:rPr>
                  <a:t> và nêu ý nghĩa.</a:t>
                </a:r>
              </a:p>
              <a:p>
                <a:pPr algn="l" marL="365760" indent="-365760">
                  <a:spcAft>
                    <a:spcPts val="800"/>
                  </a:spcAft>
                  <a:buClr>
                    <a:srgbClr val="1E40AF"/>
                  </a:buClr>
                  <a:buFont typeface="Arial"/>
                  <a:buChar char="•"/>
                </a:pPr>
                <a:r>
                  <a:rPr sz="2200">
                    <a:solidFill>
                      <a:srgbClr val="1E293B"/>
                    </a:solidFill>
                    <a:latin typeface="Calibri"/>
                  </a:rPr>
                  <a:t>c) Lập bảng biến thiên của </a:t>
                </a:r>
                <a:r>
                  <a:rPr lang="vi-VN"/>
                  <a:t>q=g(p)</a:t>
                </a:r>
                <a:r>
                  <a:rPr sz="2200">
                    <a:solidFill>
                      <a:srgbClr val="1E293B"/>
                    </a:solidFill>
                    <a:latin typeface="Calibri"/>
                  </a:rPr>
                  <a:t> trên </a:t>
                </a:r>
                <a:r>
                  <a:rPr lang="vi-VN"/>
                  <a:t>(f;+\infty)</a:t>
                </a:r>
                <a:r>
                  <a:rPr sz="2200">
                    <a:solidFill>
                      <a:srgbClr val="1E293B"/>
                    </a:solidFill>
                    <a:latin typeface="Calibri"/>
                  </a:rPr>
                  <a:t>.</a:t>
                </a:r>
              </a:p>
              <a:p>
                <a:pPr algn="l">
                  <a:spcAft>
                    <a:spcPts val="800"/>
                  </a:spcAft>
                </a:pPr>
                <a:r>
                  <a:rPr sz="2200" b="1">
                    <a:solidFill>
                      <a:srgbClr val="1E40AF"/>
                    </a:solidFill>
                    <a:latin typeface="Calibri"/>
                  </a:rPr>
                  <a:t>Gợi mở: Rút </a:t>
                </a:r>
                <a:r>
                  <a:rPr lang="vi-VN"/>
                  <a:t>q</a:t>
                </a:r>
                <a:r>
                  <a:rPr sz="2200" b="1">
                    <a:solidFill>
                      <a:srgbClr val="1E40AF"/>
                    </a:solidFill>
                    <a:latin typeface="Calibri"/>
                  </a:rPr>
                  <a:t> từ hệ thức thấu kính</a:t>
                </a: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1.44: THẤU KÍNH HỘI TỤ</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56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q</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f</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p</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p−f</m:t>
                        </m:r>
                      </m:num>
                      <m:den>
                        <m:r>
                          <a:rPr lang="vi-VN" sz="2200" b="0">
                            <a:solidFill>
                              <a:srgbClr val="1E293B"/>
                            </a:solidFill>
                            <a:latin typeface="Cambria Math" panose="02040503050406030204" pitchFamily="18" charset="0"/>
                          </a:rPr>
                          <m:t>pf</m:t>
                        </m:r>
                      </m:den>
                    </m:f>
                  </m:oMath>
                </a14:m>
                <a:r>
                  <a:rPr sz="2200">
                    <a:solidFill>
                      <a:srgbClr val="1E293B"/>
                    </a:solidFill>
                    <a:latin typeface="Calibri"/>
                  </a:rPr>
                  <a:t> nên </a:t>
                </a:r>
                <a14:m>
                  <m:oMath xmlns:m="http://schemas.openxmlformats.org/officeDocument/2006/math">
                    <m:r>
                      <a:rPr lang="vi-VN" sz="2200" b="0">
                        <a:solidFill>
                          <a:srgbClr val="1E293B"/>
                        </a:solidFill>
                        <a:latin typeface="Cambria Math" panose="02040503050406030204" pitchFamily="18" charset="0"/>
                      </a:rPr>
                      <m:t>q=g(p)=</m:t>
                    </m:r>
                    <m:f>
                      <m:fPr>
                        <m:type m:val="bar"/>
                      </m:fPr>
                      <m:num>
                        <m:r>
                          <a:rPr lang="vi-VN" sz="2200" b="0">
                            <a:solidFill>
                              <a:srgbClr val="1E293B"/>
                            </a:solidFill>
                            <a:latin typeface="Cambria Math" panose="02040503050406030204" pitchFamily="18" charset="0"/>
                          </a:rPr>
                          <m:t>pf</m:t>
                        </m:r>
                      </m:num>
                      <m:den>
                        <m:r>
                          <a:rPr lang="vi-VN" sz="2200" b="0">
                            <a:solidFill>
                              <a:srgbClr val="1E293B"/>
                            </a:solidFill>
                            <a:latin typeface="Cambria Math" panose="02040503050406030204" pitchFamily="18" charset="0"/>
                          </a:rPr>
                          <m:t>p−f</m:t>
                        </m:r>
                      </m:den>
                    </m:f>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p&gt;f</m:t>
                    </m:r>
                  </m:oMath>
                </a14:m>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m:limLow>
                      <m:e>
                        <m:r>
                          <m:rPr>
                            <m:sty m:val="p"/>
                          </m:rP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p→+∞</m:t>
                        </m:r>
                      </m:lim>
                    </m:limLow>
                    <m:r>
                      <a:rPr lang="vi-VN" sz="2200" b="0">
                        <a:solidFill>
                          <a:srgbClr val="1E293B"/>
                        </a:solidFill>
                        <a:latin typeface="Cambria Math" panose="02040503050406030204" pitchFamily="18" charset="0"/>
                      </a:rPr>
                      <m:t>g(p)=f</m:t>
                    </m:r>
                  </m:oMath>
                </a14:m>
                <a:r>
                  <a:rPr sz="2200">
                    <a:solidFill>
                      <a:srgbClr val="1E293B"/>
                    </a:solidFill>
                    <a:latin typeface="Calibri"/>
                  </a:rPr>
                  <a:t>: vật ở rất xa thì ảnh hiện ở tiêu điểm</a:t>
                </a:r>
              </a:p>
              <a:p>
                <a:pPr algn="l" marL="365760" indent="-365760">
                  <a:spcAft>
                    <a:spcPts val="800"/>
                  </a:spcAft>
                  <a:buClr>
                    <a:srgbClr val="1E40AF"/>
                  </a:buClr>
                  <a:buFont typeface="Arial"/>
                  <a:buChar char="•"/>
                </a:pPr>
                <a14:m>
                  <m:oMath xmlns:m="http://schemas.openxmlformats.org/officeDocument/2006/math">
                    <m:limLow>
                      <m:e>
                        <m:r>
                          <m:rPr>
                            <m:sty m:val="p"/>
                          </m:rP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p→</m:t>
                        </m:r>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m:t>
                            </m:r>
                          </m:sup>
                        </m:sSup>
                      </m:lim>
                    </m:limLow>
                    <m:r>
                      <a:rPr lang="vi-VN" sz="2200" b="0">
                        <a:solidFill>
                          <a:srgbClr val="1E293B"/>
                        </a:solidFill>
                        <a:latin typeface="Cambria Math" panose="02040503050406030204" pitchFamily="18" charset="0"/>
                      </a:rPr>
                      <m:t>g(p)=+∞</m:t>
                    </m:r>
                  </m:oMath>
                </a14:m>
                <a:r>
                  <a:rPr sz="2200">
                    <a:solidFill>
                      <a:srgbClr val="1E293B"/>
                    </a:solidFill>
                    <a:latin typeface="Calibri"/>
                  </a:rPr>
                  <a:t>: vật tiến gần tiêu điểm thì ảnh ở rất xa</a:t>
                </a:r>
              </a:p>
            </p:txBody>
          </p:sp>
        </mc:Choice>
        <mc:Fallback>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r>
                  <a:rPr lang="vi-VN"/>
                  <a:t>\frac{1}{q}=\frac{1}{f}-\frac{1}{p}=\frac{p-f}{pf}</a:t>
                </a:r>
                <a:r>
                  <a:rPr sz="2200">
                    <a:solidFill>
                      <a:srgbClr val="1E293B"/>
                    </a:solidFill>
                    <a:latin typeface="Calibri"/>
                  </a:rPr>
                  <a:t> nên </a:t>
                </a:r>
                <a:r>
                  <a:rPr lang="vi-VN"/>
                  <a:t>q=g(p)=\frac{pf}{p-f}</a:t>
                </a:r>
                <a:r>
                  <a:rPr sz="2200">
                    <a:solidFill>
                      <a:srgbClr val="1E293B"/>
                    </a:solidFill>
                    <a:latin typeface="Calibri"/>
                  </a:rPr>
                  <a:t>, </a:t>
                </a:r>
                <a:r>
                  <a:rPr lang="vi-VN"/>
                  <a:t>p&gt;f</a:t>
                </a:r>
              </a:p>
              <a:p>
                <a:pPr algn="l" marL="365760" indent="-365760">
                  <a:spcAft>
                    <a:spcPts val="800"/>
                  </a:spcAft>
                  <a:buClr>
                    <a:srgbClr val="1E40AF"/>
                  </a:buClr>
                  <a:buFont typeface="Arial"/>
                  <a:buChar char="•"/>
                </a:pPr>
                <a:r>
                  <a:rPr sz="2200">
                    <a:solidFill>
                      <a:srgbClr val="1E293B"/>
                    </a:solidFill>
                    <a:latin typeface="Calibri"/>
                  </a:rPr>
                  <a:t>b) </a:t>
                </a:r>
                <a:r>
                  <a:rPr lang="vi-VN"/>
                  <a:t>\lim_{p\to+\infty}g(p)=f</a:t>
                </a:r>
                <a:r>
                  <a:rPr sz="2200">
                    <a:solidFill>
                      <a:srgbClr val="1E293B"/>
                    </a:solidFill>
                    <a:latin typeface="Calibri"/>
                  </a:rPr>
                  <a:t>: vật ở rất xa thì ảnh hiện ở tiêu điểm</a:t>
                </a:r>
              </a:p>
              <a:p>
                <a:pPr algn="l" marL="365760" indent="-365760">
                  <a:spcAft>
                    <a:spcPts val="800"/>
                  </a:spcAft>
                  <a:buClr>
                    <a:srgbClr val="1E40AF"/>
                  </a:buClr>
                  <a:buFont typeface="Arial"/>
                  <a:buChar char="•"/>
                </a:pPr>
                <a:r>
                  <a:rPr lang="vi-VN"/>
                  <a:t>\lim_{p\to f^+}g(p)=+\infty</a:t>
                </a:r>
                <a:r>
                  <a:rPr sz="2200">
                    <a:solidFill>
                      <a:srgbClr val="1E293B"/>
                    </a:solidFill>
                    <a:latin typeface="Calibri"/>
                  </a:rPr>
                  <a:t>: vật tiến gần tiêu điểm thì ảnh ở rất xa</a:t>
                </a: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1.44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57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m:sSup>
                      <m:e>
                        <m:r>
                          <a:rPr lang="vi-VN" sz="2200" b="0">
                            <a:solidFill>
                              <a:srgbClr val="1E293B"/>
                            </a:solidFill>
                            <a:latin typeface="Cambria Math" panose="02040503050406030204" pitchFamily="18" charset="0"/>
                          </a:rPr>
                          <m:t>g</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(p)=</m:t>
                    </m:r>
                    <m:f>
                      <m:fPr>
                        <m:type m:val="bar"/>
                      </m:fPr>
                      <m:num>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f</m:t>
                            </m:r>
                          </m:e>
                          <m:sup>
                            <m:r>
                              <a:rPr lang="vi-VN" sz="2200" b="0">
                                <a:solidFill>
                                  <a:srgbClr val="1E293B"/>
                                </a:solidFill>
                                <a:latin typeface="Cambria Math" panose="02040503050406030204" pitchFamily="18" charset="0"/>
                              </a:rPr>
                              <m:t>2</m:t>
                            </m:r>
                          </m:sup>
                        </m:sSup>
                      </m:num>
                      <m:den>
                        <m:sSup>
                          <m:e>
                            <m:d>
                              <m:dPr>
                                <m:sepChr m:val=""/>
                              </m:dPr>
                              <m:e>
                                <m:r>
                                  <a:rPr lang="vi-VN" sz="2200" b="0">
                                    <a:solidFill>
                                      <a:srgbClr val="1E293B"/>
                                    </a:solidFill>
                                    <a:latin typeface="Cambria Math" panose="02040503050406030204" pitchFamily="18" charset="0"/>
                                  </a:rPr>
                                  <m:t>p</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f</m:t>
                                </m:r>
                              </m:e>
                            </m:d>
                          </m:e>
                          <m:sup>
                            <m:r>
                              <a:rPr lang="vi-VN" sz="2200" b="0">
                                <a:solidFill>
                                  <a:srgbClr val="1E293B"/>
                                </a:solidFill>
                                <a:latin typeface="Cambria Math" panose="02040503050406030204" pitchFamily="18" charset="0"/>
                              </a:rPr>
                              <m:t>2</m:t>
                            </m:r>
                          </m:sup>
                        </m:sSup>
                      </m:den>
                    </m:f>
                    <m:r>
                      <a:rPr lang="vi-VN" sz="2200" b="0">
                        <a:solidFill>
                          <a:srgbClr val="1E293B"/>
                        </a:solidFill>
                        <a:latin typeface="Cambria Math" panose="02040503050406030204" pitchFamily="18" charset="0"/>
                      </a:rPr>
                      <m:t>&lt;0</m:t>
                    </m:r>
                  </m:oMath>
                </a14:m>
                <a:r>
                  <a:rPr sz="2200">
                    <a:solidFill>
                      <a:srgbClr val="1E293B"/>
                    </a:solidFill>
                    <a:latin typeface="Calibri"/>
                  </a:rPr>
                  <a:t> trên </a:t>
                </a:r>
                <a14:m>
                  <m:oMath xmlns:m="http://schemas.openxmlformats.org/officeDocument/2006/math">
                    <m:d>
                      <m:dPr>
                        <m:sepChr m:val=""/>
                      </m:dPr>
                      <m:e>
                        <m:r>
                          <a:rPr lang="vi-VN" sz="2200" b="0">
                            <a:solidFill>
                              <a:srgbClr val="1E293B"/>
                            </a:solidFill>
                            <a:latin typeface="Cambria Math" panose="02040503050406030204" pitchFamily="18" charset="0"/>
                          </a:rPr>
                          <m:t>f</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e>
                    </m:d>
                  </m:oMath>
                </a14:m>
              </a:p>
            </p:txBody>
          </p:sp>
        </mc:Choice>
        <mc:Fallback>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a:t>
                </a:r>
                <a:r>
                  <a:rPr lang="vi-VN"/>
                  <a:t>g'(p)=\frac{-f^2}{(p-f)^2}&lt;0</a:t>
                </a:r>
                <a:r>
                  <a:rPr sz="2200">
                    <a:solidFill>
                      <a:srgbClr val="1E293B"/>
                    </a:solidFill>
                    <a:latin typeface="Calibri"/>
                  </a:rPr>
                  <a:t> trên </a:t>
                </a:r>
                <a:r>
                  <a:rPr lang="vi-VN"/>
                  <a:t>(f;+\infty)</a:t>
                </a:r>
              </a:p>
            </p:txBody>
          </p:sp>
        </mc:Fallback>
      </mc:AlternateContent>
      <p:sp>
        <p:nvSpPr>
          <p:cNvPr id="8" name="Rounded Rectangle 7"/>
          <p:cNvSpPr/>
          <p:nvPr/>
        </p:nvSpPr>
        <p:spPr>
          <a:xfrm>
            <a:off x="731520" y="2236597"/>
            <a:ext cx="9601200" cy="882015"/>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236597"/>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 </a:t>
                </a:r>
                <a14:m>
                  <m:oMath xmlns:m="http://schemas.openxmlformats.org/officeDocument/2006/math">
                    <m:r>
                      <a:rPr lang="vi-VN" sz="2200" b="1">
                        <a:solidFill>
                          <a:srgbClr val="991B1B"/>
                        </a:solidFill>
                        <a:latin typeface="Cambria Math" panose="02040503050406030204" pitchFamily="18" charset="0"/>
                      </a:rPr>
                      <m:t>q=</m:t>
                    </m:r>
                    <m:f>
                      <m:fPr>
                        <m:type m:val="bar"/>
                      </m:fPr>
                      <m:num>
                        <m:r>
                          <a:rPr lang="vi-VN" sz="2200" b="1">
                            <a:solidFill>
                              <a:srgbClr val="991B1B"/>
                            </a:solidFill>
                            <a:latin typeface="Cambria Math" panose="02040503050406030204" pitchFamily="18" charset="0"/>
                          </a:rPr>
                          <m:t>pf</m:t>
                        </m:r>
                      </m:num>
                      <m:den>
                        <m:r>
                          <a:rPr lang="vi-VN" sz="2200" b="1">
                            <a:solidFill>
                              <a:srgbClr val="991B1B"/>
                            </a:solidFill>
                            <a:latin typeface="Cambria Math" panose="02040503050406030204" pitchFamily="18" charset="0"/>
                          </a:rPr>
                          <m:t>p−f</m:t>
                        </m:r>
                      </m:den>
                    </m:f>
                  </m:oMath>
                </a14:m>
                <a:r>
                  <a:rPr sz="2200" b="1">
                    <a:solidFill>
                      <a:srgbClr val="991B1B"/>
                    </a:solidFill>
                    <a:latin typeface="Calibri"/>
                  </a:rPr>
                  <a:t> nghịch biến trên </a:t>
                </a:r>
                <a14:m>
                  <m:oMath xmlns:m="http://schemas.openxmlformats.org/officeDocument/2006/math">
                    <m:d>
                      <m:dPr>
                        <m:sepChr m:val=""/>
                      </m:dPr>
                      <m:e>
                        <m:r>
                          <a:rPr lang="vi-VN" sz="2200" b="1">
                            <a:solidFill>
                              <a:srgbClr val="991B1B"/>
                            </a:solidFill>
                            <a:latin typeface="Cambria Math" panose="02040503050406030204" pitchFamily="18" charset="0"/>
                          </a:rPr>
                          <m:t>f</m:t>
                        </m:r>
                        <m:r>
                          <a:rPr lang="vi-VN" sz="2200" b="1">
                            <a:solidFill>
                              <a:srgbClr val="991B1B"/>
                            </a:solidFill>
                            <a:latin typeface="Cambria Math" panose="02040503050406030204" pitchFamily="18" charset="0"/>
                          </a:rPr>
                          <m:t>;</m:t>
                        </m:r>
                        <m:r>
                          <a:rPr lang="vi-VN" sz="2200" b="1">
                            <a:solidFill>
                              <a:srgbClr val="991B1B"/>
                            </a:solidFill>
                            <a:latin typeface="Cambria Math" panose="02040503050406030204" pitchFamily="18" charset="0"/>
                          </a:rPr>
                          <m:t>+</m:t>
                        </m:r>
                        <m:r>
                          <a:rPr lang="vi-VN" sz="2200" b="1">
                            <a:solidFill>
                              <a:srgbClr val="991B1B"/>
                            </a:solidFill>
                            <a:latin typeface="Cambria Math" panose="02040503050406030204" pitchFamily="18" charset="0"/>
                          </a:rPr>
                          <m:t>∞</m:t>
                        </m:r>
                      </m:e>
                    </m:d>
                  </m:oMath>
                </a14:m>
                <a:r>
                  <a:rPr sz="2200" b="1">
                    <a:solidFill>
                      <a:srgbClr val="991B1B"/>
                    </a:solidFill>
                    <a:latin typeface="Calibri"/>
                  </a:rPr>
                  <a:t>, giảm từ </a:t>
                </a:r>
                <a14:m>
                  <m:oMath xmlns:m="http://schemas.openxmlformats.org/officeDocument/2006/math">
                    <m:r>
                      <a:rPr lang="vi-VN" sz="2200" b="1">
                        <a:solidFill>
                          <a:srgbClr val="991B1B"/>
                        </a:solidFill>
                        <a:latin typeface="Cambria Math" panose="02040503050406030204" pitchFamily="18" charset="0"/>
                      </a:rPr>
                      <m:t>+∞</m:t>
                    </m:r>
                  </m:oMath>
                </a14:m>
                <a:r>
                  <a:rPr sz="2200" b="1">
                    <a:solidFill>
                      <a:srgbClr val="991B1B"/>
                    </a:solidFill>
                    <a:latin typeface="Calibri"/>
                  </a:rPr>
                  <a:t> về </a:t>
                </a:r>
                <a14:m>
                  <m:oMath xmlns:m="http://schemas.openxmlformats.org/officeDocument/2006/math">
                    <m:r>
                      <a:rPr lang="vi-VN" sz="2200" b="1">
                        <a:solidFill>
                          <a:srgbClr val="991B1B"/>
                        </a:solidFill>
                        <a:latin typeface="Cambria Math" panose="02040503050406030204" pitchFamily="18" charset="0"/>
                      </a:rPr>
                      <m:t>f</m:t>
                    </m:r>
                  </m:oMath>
                </a14:m>
              </a:p>
            </p:txBody>
          </p:sp>
        </mc:Choice>
        <mc:Fallback>
          <p:sp>
            <p:nvSpPr>
              <p:cNvPr id="9" name="TextBox 8"/>
              <p:cNvSpPr txBox="1"/>
              <p:nvPr/>
            </p:nvSpPr>
            <p:spPr>
              <a:xfrm>
                <a:off x="914400" y="2236597"/>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 </a:t>
                </a:r>
                <a:r>
                  <a:rPr lang="vi-VN"/>
                  <a:t>q=\frac{pf}{p-f}</a:t>
                </a:r>
                <a:r>
                  <a:rPr sz="2200" b="1">
                    <a:solidFill>
                      <a:srgbClr val="991B1B"/>
                    </a:solidFill>
                    <a:latin typeface="Calibri"/>
                  </a:rPr>
                  <a:t> nghịch biến trên </a:t>
                </a:r>
                <a:r>
                  <a:rPr lang="vi-VN"/>
                  <a:t>(f;+\infty)</a:t>
                </a:r>
                <a:r>
                  <a:rPr sz="2200" b="1">
                    <a:solidFill>
                      <a:srgbClr val="991B1B"/>
                    </a:solidFill>
                    <a:latin typeface="Calibri"/>
                  </a:rPr>
                  <a:t>, giảm từ </a:t>
                </a:r>
                <a:r>
                  <a:rPr lang="vi-VN"/>
                  <a:t>+\infty</a:t>
                </a:r>
                <a:r>
                  <a:rPr sz="2200" b="1">
                    <a:solidFill>
                      <a:srgbClr val="991B1B"/>
                    </a:solidFill>
                    <a:latin typeface="Calibri"/>
                  </a:rPr>
                  <a:t> về </a:t>
                </a:r>
                <a:r>
                  <a:rPr lang="vi-VN"/>
                  <a:t>f</a:t>
                </a: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1.45 a, b: DÂN SỐ</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58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1.45.</a:t>
                </a:r>
                <a:r>
                  <a:rPr sz="2200">
                    <a:solidFill>
                      <a:srgbClr val="1E293B"/>
                    </a:solidFill>
                    <a:latin typeface="Calibri"/>
                  </a:rPr>
                  <a:t> Dân số của một quốc gia sau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t</m:t>
                    </m:r>
                  </m:oMath>
                </a14:m>
                <a:r>
                  <a:rPr sz="2200">
                    <a:solidFill>
                      <a:srgbClr val="1E293B"/>
                    </a:solidFill>
                    <a:latin typeface="Calibri"/>
                  </a:rPr>
                  <a:t> (năm) kể từ năm 2023 được ước tính bởi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N(t)=100</m:t>
                    </m:r>
                    <m:sSup>
                      <m:e>
                        <m:r>
                          <a:rPr lang="vi-VN" sz="2200" b="0">
                            <a:solidFill>
                              <a:srgbClr val="1E293B"/>
                            </a:solidFill>
                            <a:latin typeface="Cambria Math" panose="02040503050406030204" pitchFamily="18" charset="0"/>
                          </a:rPr>
                          <m:t>e</m:t>
                        </m:r>
                      </m:e>
                      <m:sup>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012t</m:t>
                        </m:r>
                      </m:sup>
                    </m:sSup>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N(t)</m:t>
                    </m:r>
                  </m:oMath>
                </a14:m>
                <a:r>
                  <a:rPr sz="2200">
                    <a:solidFill>
                      <a:srgbClr val="1E293B"/>
                    </a:solidFill>
                    <a:latin typeface="Calibri"/>
                  </a:rPr>
                  <a:t> được tính bằng triệu người,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0≤t≤50</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Ước tính dân số của quốc gia này vào các năm 2030 và 2035 (kết quả tính bằng triệu người, làm tròn kết quả đến chữ số thập phân thứ ba).</a:t>
                </a:r>
              </a:p>
              <a:p>
                <a:pPr algn="l" marL="365760" indent="-365760">
                  <a:spcAft>
                    <a:spcPts val="800"/>
                  </a:spcAft>
                  <a:buClr>
                    <a:srgbClr val="1E40AF"/>
                  </a:buClr>
                  <a:buFont typeface="Arial"/>
                  <a:buChar char="•"/>
                </a:pPr>
                <a:r>
                  <a:rPr sz="2200">
                    <a:solidFill>
                      <a:srgbClr val="1E293B"/>
                    </a:solidFill>
                    <a:latin typeface="Calibri"/>
                  </a:rPr>
                  <a:t>b) Xem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N(t)</m:t>
                    </m:r>
                  </m:oMath>
                </a14:m>
                <a:r>
                  <a:rPr sz="2200">
                    <a:solidFill>
                      <a:srgbClr val="1E293B"/>
                    </a:solidFill>
                    <a:latin typeface="Calibri"/>
                  </a:rPr>
                  <a:t> là hàm số của biến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t</m:t>
                    </m:r>
                  </m:oMath>
                </a14:m>
                <a:r>
                  <a:rPr sz="2200">
                    <a:solidFill>
                      <a:srgbClr val="1E293B"/>
                    </a:solidFill>
                    <a:latin typeface="Calibri"/>
                  </a:rPr>
                  <a:t> xác định trên đoạn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begChr m:val="["/>
                        <m:sepChr m:val=""/>
                        <m:endChr m:val="]"/>
                      </m:dPr>
                      <m:e>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50</m:t>
                        </m:r>
                      </m:e>
                    </m:d>
                  </m:oMath>
                </a14:m>
                <a:r>
                  <a:rPr sz="2200">
                    <a:solidFill>
                      <a:srgbClr val="1E293B"/>
                    </a:solidFill>
                    <a:latin typeface="Calibri"/>
                  </a:rPr>
                  <a:t>.</a:t>
                </a:r>
                <a:r>
                  <a:rPr sz="2200">
                    <a:solidFill>
                      <a:srgbClr val="1E293B"/>
                    </a:solidFill>
                    <a:latin typeface="Calibri"/>
                  </a:rPr>
                  <a:t> </a:t>
                </a:r>
              </a:p>
            </p:txBody>
          </p:sp>
        </mc:Choice>
        <mc:Fallback>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1.45.</a:t>
                </a:r>
                <a:r>
                  <a:rPr sz="2200">
                    <a:solidFill>
                      <a:srgbClr val="1E293B"/>
                    </a:solidFill>
                    <a:latin typeface="Calibri"/>
                  </a:rPr>
                  <a:t> Dân số của một quốc gia sau </a:t>
                </a:r>
                <a:r>
                  <a:rPr lang="vi-VN"/>
                  <a:t>t</a:t>
                </a:r>
                <a:r>
                  <a:rPr sz="2200">
                    <a:solidFill>
                      <a:srgbClr val="1E293B"/>
                    </a:solidFill>
                    <a:latin typeface="Calibri"/>
                  </a:rPr>
                  <a:t> (năm) kể từ năm 2023 được ước tính bởi công thức: </a:t>
                </a:r>
                <a:r>
                  <a:rPr lang="vi-VN"/>
                  <a:t>N(t)=100e^0,012t</a:t>
                </a:r>
                <a:r>
                  <a:rPr sz="2200">
                    <a:solidFill>
                      <a:srgbClr val="1E293B"/>
                    </a:solidFill>
                    <a:latin typeface="Calibri"/>
                  </a:rPr>
                  <a:t> (</a:t>
                </a:r>
                <a:r>
                  <a:rPr lang="vi-VN"/>
                  <a:t>N(t)</a:t>
                </a:r>
                <a:r>
                  <a:rPr sz="2200">
                    <a:solidFill>
                      <a:srgbClr val="1E293B"/>
                    </a:solidFill>
                    <a:latin typeface="Calibri"/>
                  </a:rPr>
                  <a:t> được tính bằng triệu người, </a:t>
                </a:r>
                <a:r>
                  <a:rPr lang="vi-VN"/>
                  <a:t>0≤t≤50</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Ước tính dân số của quốc gia này vào các năm 2030 và 2035 (kết quả tính bằng triệu người, làm tròn kết quả đến chữ số thập phân thứ ba).</a:t>
                </a:r>
              </a:p>
              <a:p>
                <a:pPr algn="l" marL="365760" indent="-365760">
                  <a:spcAft>
                    <a:spcPts val="800"/>
                  </a:spcAft>
                  <a:buClr>
                    <a:srgbClr val="1E40AF"/>
                  </a:buClr>
                  <a:buFont typeface="Arial"/>
                  <a:buChar char="•"/>
                </a:pPr>
                <a:r>
                  <a:rPr sz="2200">
                    <a:solidFill>
                      <a:srgbClr val="1E293B"/>
                    </a:solidFill>
                    <a:latin typeface="Calibri"/>
                  </a:rPr>
                  <a:t>b) Xem </a:t>
                </a:r>
                <a:r>
                  <a:rPr lang="vi-VN"/>
                  <a:t>N(t)</a:t>
                </a:r>
                <a:r>
                  <a:rPr sz="2200">
                    <a:solidFill>
                      <a:srgbClr val="1E293B"/>
                    </a:solidFill>
                    <a:latin typeface="Calibri"/>
                  </a:rPr>
                  <a:t> là hàm số của biến số </a:t>
                </a:r>
                <a:r>
                  <a:rPr lang="vi-VN"/>
                  <a:t>t</a:t>
                </a:r>
                <a:r>
                  <a:rPr sz="2200">
                    <a:solidFill>
                      <a:srgbClr val="1E293B"/>
                    </a:solidFill>
                    <a:latin typeface="Calibri"/>
                  </a:rPr>
                  <a:t> xác định trên đoạn </a:t>
                </a:r>
                <a:r>
                  <a:rPr lang="vi-VN"/>
                  <a:t>[0;50]</a:t>
                </a:r>
                <a:r>
                  <a:rPr sz="2200">
                    <a:solidFill>
                      <a:srgbClr val="1E293B"/>
                    </a:solidFill>
                    <a:latin typeface="Calibri"/>
                  </a:rPr>
                  <a:t>.</a:t>
                </a:r>
                <a:r>
                  <a:rPr sz="2200">
                    <a:solidFill>
                      <a:srgbClr val="1E293B"/>
                    </a:solidFill>
                    <a:latin typeface="Calibri"/>
                  </a:rPr>
                  <a:t> </a:t>
                </a: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1.45 a, b: DÂN SỐ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59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Xét chiều biến thiên của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N(t)</m:t>
                    </m:r>
                  </m:oMath>
                </a14:m>
                <a:r>
                  <a:rPr sz="2200">
                    <a:solidFill>
                      <a:srgbClr val="1E293B"/>
                    </a:solidFill>
                    <a:latin typeface="Calibri"/>
                  </a:rPr>
                  <a:t> trên đoạn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begChr m:val="["/>
                        <m:sepChr m:val=""/>
                        <m:endChr m:val="]"/>
                      </m:dPr>
                      <m:e>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50</m:t>
                        </m:r>
                      </m:e>
                    </m:d>
                  </m:oMath>
                </a14:m>
                <a:r>
                  <a:rPr sz="2200">
                    <a:solidFill>
                      <a:srgbClr val="1E293B"/>
                    </a:solidFill>
                    <a:latin typeface="Calibri"/>
                  </a:rPr>
                  <a:t>.</a:t>
                </a:r>
                <a:r>
                  <a:rPr sz="2200">
                    <a:solidFill>
                      <a:srgbClr val="1E293B"/>
                    </a:solidFill>
                    <a:latin typeface="Calibri"/>
                  </a:rPr>
                  <a:t> </a:t>
                </a:r>
              </a:p>
              <a:p>
                <a:pPr algn="l">
                  <a:spcAft>
                    <a:spcPts val="800"/>
                  </a:spcAft>
                </a:pPr>
                <a:r>
                  <a:rPr sz="2200" b="1">
                    <a:solidFill>
                      <a:srgbClr val="1E40AF"/>
                    </a:solidFill>
                    <a:latin typeface="Calibri"/>
                  </a:rPr>
                  <a:t>Gợi mở: Năm 2030 ứng với </a:t>
                </a:r>
                <a14:m>
                  <m:oMath xmlns:m="http://schemas.openxmlformats.org/officeDocument/2006/math">
                    <m:r>
                      <a:rPr lang="vi-VN" sz="2200" b="1">
                        <a:solidFill>
                          <a:srgbClr val="1E40AF"/>
                        </a:solidFill>
                        <a:latin typeface="Cambria Math" panose="02040503050406030204" pitchFamily="18" charset="0"/>
                      </a:rPr>
                      <m:t>t=7</m:t>
                    </m:r>
                  </m:oMath>
                </a14:m>
                <a:r>
                  <a:rPr sz="2200" b="1">
                    <a:solidFill>
                      <a:srgbClr val="1E40AF"/>
                    </a:solidFill>
                    <a:latin typeface="Calibri"/>
                  </a:rPr>
                  <a:t>; tốc độ tăng là </a:t>
                </a:r>
                <a14:m>
                  <m:oMath xmlns:m="http://schemas.openxmlformats.org/officeDocument/2006/math">
                    <m:sSup>
                      <m:e>
                        <m:r>
                          <a:rPr lang="vi-VN" sz="2200" b="1">
                            <a:solidFill>
                              <a:srgbClr val="1E40AF"/>
                            </a:solidFill>
                            <a:latin typeface="Cambria Math" panose="02040503050406030204" pitchFamily="18" charset="0"/>
                          </a:rPr>
                          <m:t>N</m:t>
                        </m:r>
                      </m:e>
                      <m:sup>
                        <m:r>
                          <a:rPr lang="vi-VN" sz="2200" b="1">
                            <a:solidFill>
                              <a:srgbClr val="1E40AF"/>
                            </a:solidFill>
                            <a:latin typeface="Cambria Math" panose="02040503050406030204" pitchFamily="18" charset="0"/>
                          </a:rPr>
                          <m:t>′</m:t>
                        </m:r>
                      </m:sup>
                    </m:sSup>
                    <m:r>
                      <a:rPr lang="vi-VN" sz="2200" b="1">
                        <a:solidFill>
                          <a:srgbClr val="1E40AF"/>
                        </a:solidFill>
                        <a:latin typeface="Cambria Math" panose="02040503050406030204" pitchFamily="18" charset="0"/>
                      </a:rPr>
                      <m:t>(t)</m:t>
                    </m:r>
                  </m:oMath>
                </a14:m>
              </a:p>
            </p:txBody>
          </p:sp>
        </mc:Choice>
        <mc:Fallback>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Xét chiều biến thiên của hàm số </a:t>
                </a:r>
                <a:r>
                  <a:rPr lang="vi-VN"/>
                  <a:t>N(t)</a:t>
                </a:r>
                <a:r>
                  <a:rPr sz="2200">
                    <a:solidFill>
                      <a:srgbClr val="1E293B"/>
                    </a:solidFill>
                    <a:latin typeface="Calibri"/>
                  </a:rPr>
                  <a:t> trên đoạn </a:t>
                </a:r>
                <a:r>
                  <a:rPr lang="vi-VN"/>
                  <a:t>[0;50]</a:t>
                </a:r>
                <a:r>
                  <a:rPr sz="2200">
                    <a:solidFill>
                      <a:srgbClr val="1E293B"/>
                    </a:solidFill>
                    <a:latin typeface="Calibri"/>
                  </a:rPr>
                  <a:t>.</a:t>
                </a:r>
                <a:r>
                  <a:rPr sz="2200">
                    <a:solidFill>
                      <a:srgbClr val="1E293B"/>
                    </a:solidFill>
                    <a:latin typeface="Calibri"/>
                  </a:rPr>
                  <a:t> </a:t>
                </a:r>
              </a:p>
              <a:p>
                <a:pPr algn="l">
                  <a:spcAft>
                    <a:spcPts val="800"/>
                  </a:spcAft>
                </a:pPr>
                <a:r>
                  <a:rPr sz="2200" b="1">
                    <a:solidFill>
                      <a:srgbClr val="1E40AF"/>
                    </a:solidFill>
                    <a:latin typeface="Calibri"/>
                  </a:rPr>
                  <a:t>Gợi mở: Năm 2030 ứng với </a:t>
                </a:r>
                <a:r>
                  <a:rPr lang="vi-VN"/>
                  <a:t>t=7</a:t>
                </a:r>
                <a:r>
                  <a:rPr sz="2200" b="1">
                    <a:solidFill>
                      <a:srgbClr val="1E40AF"/>
                    </a:solidFill>
                    <a:latin typeface="Calibri"/>
                  </a:rPr>
                  <a:t>; tốc độ tăng là </a:t>
                </a:r>
                <a:r>
                  <a:rPr lang="vi-VN"/>
                  <a:t>N'(t)</a:t>
                </a: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1.45 a, b: DÂN SỐ</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60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Năm 2030: </a:t>
                </a:r>
                <a14:m>
                  <m:oMath xmlns:m="http://schemas.openxmlformats.org/officeDocument/2006/math">
                    <m:r>
                      <a:rPr lang="vi-VN" sz="2400" b="0">
                        <a:solidFill>
                          <a:srgbClr val="1E293B"/>
                        </a:solidFill>
                        <a:latin typeface="Cambria Math" panose="02040503050406030204" pitchFamily="18" charset="0"/>
                      </a:rPr>
                      <m:t>t=7</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N(7)=100</m:t>
                    </m:r>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084</m:t>
                        </m:r>
                      </m:sup>
                    </m:sSup>
                    <m:r>
                      <a:rPr lang="vi-VN" sz="2400" b="0">
                        <a:solidFill>
                          <a:srgbClr val="1E293B"/>
                        </a:solidFill>
                        <a:latin typeface="Cambria Math" panose="02040503050406030204" pitchFamily="18" charset="0"/>
                      </a:rPr>
                      <m:t>≈108</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763</m:t>
                    </m:r>
                  </m:oMath>
                </a14:m>
                <a:r>
                  <a:rPr sz="2400">
                    <a:solidFill>
                      <a:srgbClr val="1E293B"/>
                    </a:solidFill>
                    <a:latin typeface="Calibri"/>
                  </a:rPr>
                  <a:t> (triệu người)</a:t>
                </a:r>
              </a:p>
              <a:p>
                <a:pPr algn="l" marL="365760" indent="-365760">
                  <a:spcAft>
                    <a:spcPts val="800"/>
                  </a:spcAft>
                  <a:buClr>
                    <a:srgbClr val="1E40AF"/>
                  </a:buClr>
                  <a:buFont typeface="Arial"/>
                  <a:buChar char="•"/>
                </a:pPr>
                <a:r>
                  <a:rPr sz="2400">
                    <a:solidFill>
                      <a:srgbClr val="1E293B"/>
                    </a:solidFill>
                    <a:latin typeface="Calibri"/>
                  </a:rPr>
                  <a:t>Năm 2035: </a:t>
                </a:r>
                <a14:m>
                  <m:oMath xmlns:m="http://schemas.openxmlformats.org/officeDocument/2006/math">
                    <m:r>
                      <a:rPr lang="vi-VN" sz="2400" b="0">
                        <a:solidFill>
                          <a:srgbClr val="1E293B"/>
                        </a:solidFill>
                        <a:latin typeface="Cambria Math" panose="02040503050406030204" pitchFamily="18" charset="0"/>
                      </a:rPr>
                      <m:t>t=12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N(12)=100</m:t>
                    </m:r>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144</m:t>
                        </m:r>
                      </m:sup>
                    </m:sSup>
                    <m:r>
                      <a:rPr lang="vi-VN" sz="2400" b="0">
                        <a:solidFill>
                          <a:srgbClr val="1E293B"/>
                        </a:solidFill>
                        <a:latin typeface="Cambria Math" panose="02040503050406030204" pitchFamily="18" charset="0"/>
                      </a:rPr>
                      <m:t>≈115</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488</m:t>
                    </m:r>
                  </m:oMath>
                </a14:m>
                <a:r>
                  <a:rPr sz="2400">
                    <a:solidFill>
                      <a:srgbClr val="1E293B"/>
                    </a:solidFill>
                    <a:latin typeface="Calibri"/>
                  </a:rPr>
                  <a:t> (triệu người)</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012t</m:t>
                        </m:r>
                      </m:sup>
                    </m:sSup>
                    <m:r>
                      <a:rPr lang="vi-VN" sz="2400" b="0">
                        <a:solidFill>
                          <a:srgbClr val="1E293B"/>
                        </a:solidFill>
                        <a:latin typeface="Cambria Math" panose="02040503050406030204" pitchFamily="18" charset="0"/>
                      </a:rPr>
                      <m:t>&gt;0</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t∈[0;50]</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Năm 2030: </a:t>
                </a:r>
                <a:r>
                  <a:rPr lang="vi-VN"/>
                  <a:t>t=7</a:t>
                </a:r>
                <a:r>
                  <a:rPr sz="2400">
                    <a:solidFill>
                      <a:srgbClr val="1E293B"/>
                    </a:solidFill>
                    <a:latin typeface="Calibri"/>
                  </a:rPr>
                  <a:t>, </a:t>
                </a:r>
                <a:r>
                  <a:rPr lang="vi-VN"/>
                  <a:t>N(7)=100e^{0{,}084}\approx 108{,}763</a:t>
                </a:r>
                <a:r>
                  <a:rPr sz="2400">
                    <a:solidFill>
                      <a:srgbClr val="1E293B"/>
                    </a:solidFill>
                    <a:latin typeface="Calibri"/>
                  </a:rPr>
                  <a:t> (triệu người)</a:t>
                </a:r>
              </a:p>
              <a:p>
                <a:pPr algn="l" marL="365760" indent="-365760">
                  <a:spcAft>
                    <a:spcPts val="800"/>
                  </a:spcAft>
                  <a:buClr>
                    <a:srgbClr val="1E40AF"/>
                  </a:buClr>
                  <a:buFont typeface="Arial"/>
                  <a:buChar char="•"/>
                </a:pPr>
                <a:r>
                  <a:rPr sz="2400">
                    <a:solidFill>
                      <a:srgbClr val="1E293B"/>
                    </a:solidFill>
                    <a:latin typeface="Calibri"/>
                  </a:rPr>
                  <a:t>Năm 2035: </a:t>
                </a:r>
                <a:r>
                  <a:rPr lang="vi-VN"/>
                  <a:t>t=12</a:t>
                </a:r>
                <a:r>
                  <a:rPr sz="2400">
                    <a:solidFill>
                      <a:srgbClr val="1E293B"/>
                    </a:solidFill>
                    <a:latin typeface="Calibri"/>
                  </a:rPr>
                  <a:t>, </a:t>
                </a:r>
                <a:r>
                  <a:rPr lang="vi-VN"/>
                  <a:t>N(12)=100e^{0{,}144}\approx 115{,}488</a:t>
                </a:r>
                <a:r>
                  <a:rPr sz="2400">
                    <a:solidFill>
                      <a:srgbClr val="1E293B"/>
                    </a:solidFill>
                    <a:latin typeface="Calibri"/>
                  </a:rPr>
                  <a:t> (triệu người)</a:t>
                </a:r>
              </a:p>
              <a:p>
                <a:pPr algn="l" marL="365760" indent="-365760">
                  <a:spcAft>
                    <a:spcPts val="800"/>
                  </a:spcAft>
                  <a:buClr>
                    <a:srgbClr val="1E40AF"/>
                  </a:buClr>
                  <a:buFont typeface="Arial"/>
                  <a:buChar char="•"/>
                </a:pPr>
                <a:r>
                  <a:rPr sz="2400">
                    <a:solidFill>
                      <a:srgbClr val="1E293B"/>
                    </a:solidFill>
                    <a:latin typeface="Calibri"/>
                  </a:rPr>
                  <a:t>b) </a:t>
                </a:r>
                <a:r>
                  <a:rPr lang="vi-VN"/>
                  <a:t>N'(t)=1{,}2e^{0{,}012t}&gt;0</a:t>
                </a:r>
                <a:r>
                  <a:rPr sz="2400">
                    <a:solidFill>
                      <a:srgbClr val="1E293B"/>
                    </a:solidFill>
                    <a:latin typeface="Calibri"/>
                  </a:rPr>
                  <a:t> với mọi </a:t>
                </a:r>
                <a:r>
                  <a:rPr lang="vi-VN"/>
                  <a:t>t\in[0;50]</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N(t)</m:t>
                    </m:r>
                  </m:oMath>
                </a14:m>
                <a:r>
                  <a:rPr sz="2400" b="1">
                    <a:solidFill>
                      <a:srgbClr val="991B1B"/>
                    </a:solidFill>
                    <a:latin typeface="Calibri"/>
                  </a:rPr>
                  <a:t> đồng biến trên </a:t>
                </a:r>
                <a14:m>
                  <m:oMath xmlns:m="http://schemas.openxmlformats.org/officeDocument/2006/math">
                    <m:d>
                      <m:dPr>
                        <m:begChr m:val="["/>
                        <m:sepChr m:val=""/>
                        <m:endChr m:val="]"/>
                      </m:dPr>
                      <m:e>
                        <m:r>
                          <a:rPr lang="vi-VN" sz="2400" b="1">
                            <a:solidFill>
                              <a:srgbClr val="991B1B"/>
                            </a:solidFill>
                            <a:latin typeface="Cambria Math" panose="02040503050406030204" pitchFamily="18" charset="0"/>
                          </a:rPr>
                          <m:t>0</m:t>
                        </m:r>
                        <m:r>
                          <a:rPr lang="vi-VN" sz="2400" b="1">
                            <a:solidFill>
                              <a:srgbClr val="991B1B"/>
                            </a:solidFill>
                            <a:latin typeface="Cambria Math" panose="02040503050406030204" pitchFamily="18" charset="0"/>
                          </a:rPr>
                          <m:t>;</m:t>
                        </m:r>
                        <m:r>
                          <a:rPr lang="vi-VN" sz="2400" b="1">
                            <a:solidFill>
                              <a:srgbClr val="991B1B"/>
                            </a:solidFill>
                            <a:latin typeface="Cambria Math" panose="02040503050406030204" pitchFamily="18" charset="0"/>
                          </a:rPr>
                          <m:t>50</m:t>
                        </m:r>
                      </m:e>
                    </m:d>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N(t)</a:t>
                </a:r>
                <a:r>
                  <a:rPr sz="2400" b="1">
                    <a:solidFill>
                      <a:srgbClr val="991B1B"/>
                    </a:solidFill>
                    <a:latin typeface="Calibri"/>
                  </a:rPr>
                  <a:t> đồng biến trên </a:t>
                </a:r>
                <a:r>
                  <a:rPr lang="vi-VN"/>
                  <a:t>[0;50]</a:t>
                </a: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1.45 c: DÂN SỐ</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61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08504"/>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1.45.</a:t>
                </a:r>
                <a:r>
                  <a:rPr sz="2200">
                    <a:solidFill>
                      <a:srgbClr val="1E293B"/>
                    </a:solidFill>
                    <a:latin typeface="Calibri"/>
                  </a:rPr>
                  <a:t> Dân số của một quốc gia sau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t</m:t>
                    </m:r>
                  </m:oMath>
                </a14:m>
                <a:r>
                  <a:rPr sz="2200">
                    <a:solidFill>
                      <a:srgbClr val="1E293B"/>
                    </a:solidFill>
                    <a:latin typeface="Calibri"/>
                  </a:rPr>
                  <a:t> (năm) kể từ năm 2023 được ước tính bởi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N(t)=100</m:t>
                    </m:r>
                    <m:sSup>
                      <m:e>
                        <m:r>
                          <a:rPr lang="vi-VN" sz="2200" b="0">
                            <a:solidFill>
                              <a:srgbClr val="1E293B"/>
                            </a:solidFill>
                            <a:latin typeface="Cambria Math" panose="02040503050406030204" pitchFamily="18" charset="0"/>
                          </a:rPr>
                          <m:t>e</m:t>
                        </m:r>
                      </m:e>
                      <m:sup>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012t</m:t>
                        </m:r>
                      </m:sup>
                    </m:sSup>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N(t)</m:t>
                    </m:r>
                  </m:oMath>
                </a14:m>
                <a:r>
                  <a:rPr sz="2200">
                    <a:solidFill>
                      <a:srgbClr val="1E293B"/>
                    </a:solidFill>
                    <a:latin typeface="Calibri"/>
                  </a:rPr>
                  <a:t> được tính bằng triệu người,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0≤t≤50</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Đạo hàm của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N(t)</m:t>
                    </m:r>
                  </m:oMath>
                </a14:m>
                <a:r>
                  <a:rPr sz="2200">
                    <a:solidFill>
                      <a:srgbClr val="1E293B"/>
                    </a:solidFill>
                    <a:latin typeface="Calibri"/>
                  </a:rPr>
                  <a:t> biểu thị tốc độ tăng dân số của quốc gia đó (tính bằng triệu người/năm). Vào năm nào tốc độ tăng dân số của quốc gia đó là 1,6 triệu người/năm?</a:t>
                </a:r>
              </a:p>
              <a:p>
                <a:pPr algn="l">
                  <a:spcAft>
                    <a:spcPts val="800"/>
                  </a:spcAft>
                </a:pPr>
                <a:r>
                  <a:rPr sz="2200" b="1">
                    <a:solidFill>
                      <a:srgbClr val="1E40AF"/>
                    </a:solidFill>
                    <a:latin typeface="Calibri"/>
                  </a:rPr>
                  <a:t>Gợi mở: Giải phương trình </a:t>
                </a:r>
                <a14:m>
                  <m:oMath xmlns:m="http://schemas.openxmlformats.org/officeDocument/2006/math">
                    <m:sSup>
                      <m:e>
                        <m:r>
                          <a:rPr lang="vi-VN" sz="2200" b="1">
                            <a:solidFill>
                              <a:srgbClr val="1E40AF"/>
                            </a:solidFill>
                            <a:latin typeface="Cambria Math" panose="02040503050406030204" pitchFamily="18" charset="0"/>
                          </a:rPr>
                          <m:t>N</m:t>
                        </m:r>
                      </m:e>
                      <m:sup>
                        <m:r>
                          <a:rPr lang="vi-VN" sz="2200" b="1">
                            <a:solidFill>
                              <a:srgbClr val="1E40AF"/>
                            </a:solidFill>
                            <a:latin typeface="Cambria Math" panose="02040503050406030204" pitchFamily="18" charset="0"/>
                          </a:rPr>
                          <m:t>′</m:t>
                        </m:r>
                      </m:sup>
                    </m:sSup>
                    <m:r>
                      <a:rPr lang="vi-VN" sz="2200" b="1">
                        <a:solidFill>
                          <a:srgbClr val="1E40AF"/>
                        </a:solidFill>
                        <a:latin typeface="Cambria Math" panose="02040503050406030204" pitchFamily="18" charset="0"/>
                      </a:rPr>
                      <m:t>(t)=1</m:t>
                    </m:r>
                    <m:r>
                      <a:rPr lang="vi-VN" sz="2200" b="1">
                        <a:solidFill>
                          <a:srgbClr val="1E40AF"/>
                        </a:solidFill>
                        <a:latin typeface="Cambria Math" panose="02040503050406030204" pitchFamily="18" charset="0"/>
                      </a:rPr>
                      <m:t>,</m:t>
                    </m:r>
                    <m:r>
                      <a:rPr lang="vi-VN" sz="2200" b="1">
                        <a:solidFill>
                          <a:srgbClr val="1E40AF"/>
                        </a:solidFill>
                        <a:latin typeface="Cambria Math" panose="02040503050406030204" pitchFamily="18" charset="0"/>
                      </a:rPr>
                      <m:t>6</m:t>
                    </m:r>
                  </m:oMath>
                </a14:m>
              </a:p>
            </p:txBody>
          </p:sp>
        </mc:Choice>
        <mc:Fallback>
          <p:sp>
            <p:nvSpPr>
              <p:cNvPr id="7" name="TextBox 6"/>
              <p:cNvSpPr txBox="1"/>
              <p:nvPr/>
            </p:nvSpPr>
            <p:spPr>
              <a:xfrm>
                <a:off x="731520" y="1463040"/>
                <a:ext cx="10789920" cy="2508504"/>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1.45.</a:t>
                </a:r>
                <a:r>
                  <a:rPr sz="2200">
                    <a:solidFill>
                      <a:srgbClr val="1E293B"/>
                    </a:solidFill>
                    <a:latin typeface="Calibri"/>
                  </a:rPr>
                  <a:t> Dân số của một quốc gia sau </a:t>
                </a:r>
                <a:r>
                  <a:rPr lang="vi-VN"/>
                  <a:t>t</a:t>
                </a:r>
                <a:r>
                  <a:rPr sz="2200">
                    <a:solidFill>
                      <a:srgbClr val="1E293B"/>
                    </a:solidFill>
                    <a:latin typeface="Calibri"/>
                  </a:rPr>
                  <a:t> (năm) kể từ năm 2023 được ước tính bởi công thức: </a:t>
                </a:r>
                <a:r>
                  <a:rPr lang="vi-VN"/>
                  <a:t>N(t)=100e^0,012t</a:t>
                </a:r>
                <a:r>
                  <a:rPr sz="2200">
                    <a:solidFill>
                      <a:srgbClr val="1E293B"/>
                    </a:solidFill>
                    <a:latin typeface="Calibri"/>
                  </a:rPr>
                  <a:t> (</a:t>
                </a:r>
                <a:r>
                  <a:rPr lang="vi-VN"/>
                  <a:t>N(t)</a:t>
                </a:r>
                <a:r>
                  <a:rPr sz="2200">
                    <a:solidFill>
                      <a:srgbClr val="1E293B"/>
                    </a:solidFill>
                    <a:latin typeface="Calibri"/>
                  </a:rPr>
                  <a:t> được tính bằng triệu người, </a:t>
                </a:r>
                <a:r>
                  <a:rPr lang="vi-VN"/>
                  <a:t>0≤t≤50</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Đạo hàm của hàm số </a:t>
                </a:r>
                <a:r>
                  <a:rPr lang="vi-VN"/>
                  <a:t>N(t)</a:t>
                </a:r>
                <a:r>
                  <a:rPr sz="2200">
                    <a:solidFill>
                      <a:srgbClr val="1E293B"/>
                    </a:solidFill>
                    <a:latin typeface="Calibri"/>
                  </a:rPr>
                  <a:t> biểu thị tốc độ tăng dân số của quốc gia đó (tính bằng triệu người/năm). Vào năm nào tốc độ tăng dân số của quốc gia đó là 1,6 triệu người/năm?</a:t>
                </a:r>
              </a:p>
              <a:p>
                <a:pPr algn="l">
                  <a:spcAft>
                    <a:spcPts val="800"/>
                  </a:spcAft>
                </a:pPr>
                <a:r>
                  <a:rPr sz="2200" b="1">
                    <a:solidFill>
                      <a:srgbClr val="1E40AF"/>
                    </a:solidFill>
                    <a:latin typeface="Calibri"/>
                  </a:rPr>
                  <a:t>Gợi mở: Giải phương trình </a:t>
                </a:r>
                <a:r>
                  <a:rPr lang="vi-VN"/>
                  <a:t>N'(t)=1{,}6</a:t>
                </a: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1.45 c: DÂN SỐ</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62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N</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(t)=100·0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012</m:t>
                    </m:r>
                    <m:r>
                      <m:rPr>
                        <m:sty m:val="p"/>
                      </m:rPr>
                      <a:rPr lang="vi-VN" sz="2400" b="0">
                        <a:solidFill>
                          <a:srgbClr val="1E293B"/>
                        </a:solidFill>
                        <a:latin typeface="Cambria Math" panose="02040503050406030204" pitchFamily="18" charset="0"/>
                      </a:rPr>
                      <m:t> </m:t>
                    </m:r>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012t</m:t>
                        </m:r>
                      </m:sup>
                    </m:sSup>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012t</m:t>
                        </m:r>
                      </m:sup>
                    </m:sSup>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012t</m:t>
                        </m:r>
                      </m:sup>
                    </m:sSup>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6⇔</m:t>
                    </m:r>
                    <m:sSup>
                      <m:e>
                        <m:r>
                          <a:rPr lang="vi-VN" sz="2400" b="0">
                            <a:solidFill>
                              <a:srgbClr val="1E293B"/>
                            </a:solidFill>
                            <a:latin typeface="Cambria Math" panose="02040503050406030204" pitchFamily="18" charset="0"/>
                          </a:rPr>
                          <m:t>e</m:t>
                        </m:r>
                      </m:e>
                      <m:sup>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012t</m:t>
                        </m:r>
                      </m:sup>
                    </m:sSup>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4</m:t>
                        </m:r>
                      </m:num>
                      <m:den>
                        <m:r>
                          <a:rPr lang="vi-VN" sz="2400" b="0">
                            <a:solidFill>
                              <a:srgbClr val="1E293B"/>
                            </a:solidFill>
                            <a:latin typeface="Cambria Math" panose="02040503050406030204" pitchFamily="18" charset="0"/>
                          </a:rPr>
                          <m:t>3</m:t>
                        </m:r>
                      </m:den>
                    </m:f>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012</m:t>
                        </m:r>
                      </m:den>
                    </m:f>
                    <m:r>
                      <m:rPr>
                        <m:sty m:val="p"/>
                      </m:rPr>
                      <a:rPr lang="vi-VN" sz="2400" b="0">
                        <a:solidFill>
                          <a:srgbClr val="1E293B"/>
                        </a:solidFill>
                        <a:latin typeface="Cambria Math" panose="02040503050406030204" pitchFamily="18" charset="0"/>
                      </a:rPr>
                      <m:t>ln</m:t>
                    </m:r>
                    <m:f>
                      <m:fPr>
                        <m:type m:val="bar"/>
                      </m:fPr>
                      <m:num>
                        <m:r>
                          <a:rPr lang="vi-VN" sz="2400" b="0">
                            <a:solidFill>
                              <a:srgbClr val="1E293B"/>
                            </a:solidFill>
                            <a:latin typeface="Cambria Math" panose="02040503050406030204" pitchFamily="18" charset="0"/>
                          </a:rPr>
                          <m:t>4</m:t>
                        </m:r>
                      </m:num>
                      <m:den>
                        <m:r>
                          <a:rPr lang="vi-VN" sz="2400" b="0">
                            <a:solidFill>
                              <a:srgbClr val="1E293B"/>
                            </a:solidFill>
                            <a:latin typeface="Cambria Math" panose="02040503050406030204" pitchFamily="18" charset="0"/>
                          </a:rPr>
                          <m:t>3</m:t>
                        </m:r>
                      </m:den>
                    </m:f>
                    <m:r>
                      <a:rPr lang="vi-VN" sz="2400" b="0">
                        <a:solidFill>
                          <a:srgbClr val="1E293B"/>
                        </a:solidFill>
                        <a:latin typeface="Cambria Math" panose="02040503050406030204" pitchFamily="18" charset="0"/>
                      </a:rPr>
                      <m:t>≈23</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97≈24</m:t>
                    </m:r>
                  </m:oMath>
                </a14:m>
              </a:p>
            </p:txBody>
          </p:sp>
        </mc:Choice>
        <mc:Fallback>
          <p:sp>
            <p:nvSpPr>
              <p:cNvPr id="7" name="TextBox 6"/>
              <p:cNvSpPr txBox="1"/>
              <p:nvPr/>
            </p:nvSpPr>
            <p:spPr>
              <a:xfrm>
                <a:off x="731520" y="1463040"/>
                <a:ext cx="10789920" cy="205282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N'(t)=100\cdot 0{,}012\,e^{0{,}012t}=1{,}2e^{0{,}012t}</a:t>
                </a:r>
              </a:p>
              <a:p>
                <a:pPr algn="l" marL="365760" indent="-365760">
                  <a:spcAft>
                    <a:spcPts val="800"/>
                  </a:spcAft>
                  <a:buClr>
                    <a:srgbClr val="1E40AF"/>
                  </a:buClr>
                  <a:buFont typeface="Arial"/>
                  <a:buChar char="•"/>
                </a:pPr>
                <a:r>
                  <a:rPr lang="vi-VN"/>
                  <a:t>1{,}2e^{0{,}012t}=1{,}6\Leftrightarrow e^{0{,}012t}=\frac{4}{3}</a:t>
                </a:r>
              </a:p>
              <a:p>
                <a:pPr algn="l" marL="365760" indent="-365760">
                  <a:spcAft>
                    <a:spcPts val="800"/>
                  </a:spcAft>
                  <a:buClr>
                    <a:srgbClr val="1E40AF"/>
                  </a:buClr>
                  <a:buFont typeface="Arial"/>
                  <a:buChar char="•"/>
                </a:pPr>
                <a:r>
                  <a:rPr lang="vi-VN"/>
                  <a:t>t=\frac{1}{0{,}012}\ln\frac{4}{3}\approx 23{,}97\approx 24</a:t>
                </a:r>
              </a:p>
            </p:txBody>
          </p:sp>
        </mc:Fallback>
      </mc:AlternateContent>
      <p:sp>
        <p:nvSpPr>
          <p:cNvPr id="8" name="Rounded Rectangle 7"/>
          <p:cNvSpPr/>
          <p:nvPr/>
        </p:nvSpPr>
        <p:spPr>
          <a:xfrm>
            <a:off x="731520" y="365302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Vào khoảng năm </a:t>
                </a:r>
                <a14:m>
                  <m:oMath xmlns:m="http://schemas.openxmlformats.org/officeDocument/2006/math">
                    <m:r>
                      <a:rPr lang="vi-VN" sz="2400" b="1">
                        <a:solidFill>
                          <a:srgbClr val="991B1B"/>
                        </a:solidFill>
                        <a:latin typeface="Cambria Math" panose="02040503050406030204" pitchFamily="18" charset="0"/>
                      </a:rPr>
                      <m:t>2023+24=2047</m:t>
                    </m:r>
                  </m:oMath>
                </a14:m>
              </a:p>
            </p:txBody>
          </p:sp>
        </mc:Choice>
        <mc:Fallback>
          <p:sp>
            <p:nvSpPr>
              <p:cNvPr id="9" name="TextBox 8"/>
              <p:cNvSpPr txBox="1"/>
              <p:nvPr/>
            </p:nvSpPr>
            <p:spPr>
              <a:xfrm>
                <a:off x="914400" y="365302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Vào khoảng năm </a:t>
                </a:r>
                <a:r>
                  <a:rPr lang="vi-VN"/>
                  <a:t>2023+24=2047</a:t>
                </a: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1.46: KÉO DÂY ĐIỆN RA ĐẢO</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63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6400800" cy="2398775"/>
              </a:xfrm>
              <a:prstGeom prst="rect">
                <a:avLst/>
              </a:prstGeom>
              <a:noFill/>
            </p:spPr>
            <p:txBody>
              <a:bodyPr wrap="square" anchor="t" lIns="45720" rIns="45720">
                <a:spAutoFit/>
              </a:bodyPr>
              <a:lstStyle/>
              <a:p>
                <a:pPr algn="l">
                  <a:spcAft>
                    <a:spcPts val="800"/>
                  </a:spcAft>
                </a:pPr>
                <a:r>
                  <a:rPr sz="2200">
                    <a:solidFill>
                      <a:srgbClr val="1E293B"/>
                    </a:solidFill>
                    <a:latin typeface="Calibri"/>
                  </a:rPr>
                  <a:t>Đường dây điện nối từ nhà máy điện ở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đến hòn đảo ở </a:t>
                </a:r>
                <a14:m>
                  <m:oMath xmlns:m="http://schemas.openxmlformats.org/officeDocument/2006/math">
                    <m:r>
                      <a:rPr lang="vi-VN" sz="2200" b="0">
                        <a:solidFill>
                          <a:srgbClr val="1E293B"/>
                        </a:solidFill>
                        <a:latin typeface="Cambria Math" panose="02040503050406030204" pitchFamily="18" charset="0"/>
                      </a:rPr>
                      <m:t>C</m:t>
                    </m:r>
                  </m:oMath>
                </a14:m>
                <a:r>
                  <a:rPr sz="2200">
                    <a:solidFill>
                      <a:srgbClr val="1E293B"/>
                    </a:solidFill>
                    <a:latin typeface="Calibri"/>
                  </a:rPr>
                  <a:t> (Hình 1.40); </a:t>
                </a:r>
                <a14:m>
                  <m:oMath xmlns:m="http://schemas.openxmlformats.org/officeDocument/2006/math">
                    <m:r>
                      <a:rPr lang="vi-VN" sz="2200" b="0">
                        <a:solidFill>
                          <a:srgbClr val="1E293B"/>
                        </a:solidFill>
                        <a:latin typeface="Cambria Math" panose="02040503050406030204" pitchFamily="18" charset="0"/>
                      </a:rPr>
                      <m:t>CB=4</m:t>
                    </m:r>
                  </m:oMath>
                </a14:m>
                <a:r>
                  <a:rPr sz="2200">
                    <a:solidFill>
                      <a:srgbClr val="1E293B"/>
                    </a:solidFill>
                    <a:latin typeface="Calibri"/>
                  </a:rPr>
                  <a:t> km, bờ biển thẳng từ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đến </a:t>
                </a:r>
                <a14:m>
                  <m:oMath xmlns:m="http://schemas.openxmlformats.org/officeDocument/2006/math">
                    <m:r>
                      <a:rPr lang="vi-VN" sz="2200" b="0">
                        <a:solidFill>
                          <a:srgbClr val="1E293B"/>
                        </a:solidFill>
                        <a:latin typeface="Cambria Math" panose="02040503050406030204" pitchFamily="18" charset="0"/>
                      </a:rPr>
                      <m:t>B</m:t>
                    </m:r>
                  </m:oMath>
                </a14:m>
                <a:r>
                  <a:rPr sz="2200">
                    <a:solidFill>
                      <a:srgbClr val="1E293B"/>
                    </a:solidFill>
                    <a:latin typeface="Calibri"/>
                  </a:rPr>
                  <a:t> dài 10 km.</a:t>
                </a:r>
              </a:p>
              <a:p>
                <a:pPr algn="l">
                  <a:spcAft>
                    <a:spcPts val="800"/>
                  </a:spcAft>
                </a:pPr>
                <a:r>
                  <a:rPr sz="2200">
                    <a:solidFill>
                      <a:srgbClr val="1E293B"/>
                    </a:solidFill>
                    <a:latin typeface="Calibri"/>
                  </a:rPr>
                  <a:t>Chi phí lắp đặt 1 km dây điện trên biển là 50 triệu đồng, trên đất liền là 30 triệu đồng.</a:t>
                </a:r>
              </a:p>
            </p:txBody>
          </p:sp>
        </mc:Choice>
        <mc:Fallback>
          <p:sp>
            <p:nvSpPr>
              <p:cNvPr id="7" name="TextBox 6"/>
              <p:cNvSpPr txBox="1"/>
              <p:nvPr/>
            </p:nvSpPr>
            <p:spPr>
              <a:xfrm>
                <a:off x="731520" y="1463040"/>
                <a:ext cx="6400800" cy="2398775"/>
              </a:xfrm>
              <a:prstGeom prst="rect">
                <a:avLst/>
              </a:prstGeom>
              <a:noFill/>
            </p:spPr>
            <p:txBody>
              <a:bodyPr wrap="square" anchor="t" lIns="45720" rIns="45720">
                <a:spAutoFit/>
              </a:bodyPr>
              <a:lstStyle/>
              <a:p>
                <a:pPr algn="l">
                  <a:spcAft>
                    <a:spcPts val="800"/>
                  </a:spcAft>
                </a:pPr>
                <a:r>
                  <a:rPr sz="2200">
                    <a:solidFill>
                      <a:srgbClr val="1E293B"/>
                    </a:solidFill>
                    <a:latin typeface="Calibri"/>
                  </a:rPr>
                  <a:t>Đường dây điện nối từ nhà máy điện ở </a:t>
                </a:r>
                <a:r>
                  <a:rPr lang="vi-VN"/>
                  <a:t>A</a:t>
                </a:r>
                <a:r>
                  <a:rPr sz="2200">
                    <a:solidFill>
                      <a:srgbClr val="1E293B"/>
                    </a:solidFill>
                    <a:latin typeface="Calibri"/>
                  </a:rPr>
                  <a:t> đến hòn đảo ở </a:t>
                </a:r>
                <a:r>
                  <a:rPr lang="vi-VN"/>
                  <a:t>C</a:t>
                </a:r>
                <a:r>
                  <a:rPr sz="2200">
                    <a:solidFill>
                      <a:srgbClr val="1E293B"/>
                    </a:solidFill>
                    <a:latin typeface="Calibri"/>
                  </a:rPr>
                  <a:t> (Hình 1.40); </a:t>
                </a:r>
                <a:r>
                  <a:rPr lang="vi-VN"/>
                  <a:t>CB=4</a:t>
                </a:r>
                <a:r>
                  <a:rPr sz="2200">
                    <a:solidFill>
                      <a:srgbClr val="1E293B"/>
                    </a:solidFill>
                    <a:latin typeface="Calibri"/>
                  </a:rPr>
                  <a:t> km, bờ biển thẳng từ </a:t>
                </a:r>
                <a:r>
                  <a:rPr lang="vi-VN"/>
                  <a:t>A</a:t>
                </a:r>
                <a:r>
                  <a:rPr sz="2200">
                    <a:solidFill>
                      <a:srgbClr val="1E293B"/>
                    </a:solidFill>
                    <a:latin typeface="Calibri"/>
                  </a:rPr>
                  <a:t> đến </a:t>
                </a:r>
                <a:r>
                  <a:rPr lang="vi-VN"/>
                  <a:t>B</a:t>
                </a:r>
                <a:r>
                  <a:rPr sz="2200">
                    <a:solidFill>
                      <a:srgbClr val="1E293B"/>
                    </a:solidFill>
                    <a:latin typeface="Calibri"/>
                  </a:rPr>
                  <a:t> dài 10 km.</a:t>
                </a:r>
              </a:p>
              <a:p>
                <a:pPr algn="l">
                  <a:spcAft>
                    <a:spcPts val="800"/>
                  </a:spcAft>
                </a:pPr>
                <a:r>
                  <a:rPr sz="2200">
                    <a:solidFill>
                      <a:srgbClr val="1E293B"/>
                    </a:solidFill>
                    <a:latin typeface="Calibri"/>
                  </a:rPr>
                  <a:t>Chi phí lắp đặt 1 km dây điện trên biển là 50 triệu đồng, trên đất liền là 30 triệu đồng.</a:t>
                </a:r>
              </a:p>
            </p:txBody>
          </p:sp>
        </mc:Fallback>
      </mc:AlternateContent>
      <p:pic>
        <p:nvPicPr>
          <p:cNvPr id="8" name="Picture 7" descr="img06.png"/>
          <p:cNvPicPr>
            <a:picLocks noChangeAspect="1"/>
          </p:cNvPicPr>
          <p:nvPr/>
        </p:nvPicPr>
        <p:blipFill>
          <a:blip r:embed="rId2"/>
          <a:stretch>
            <a:fillRect/>
          </a:stretch>
        </p:blipFill>
        <p:spPr>
          <a:xfrm>
            <a:off x="7406640" y="2662707"/>
            <a:ext cx="4389120" cy="2309825"/>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1.46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64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6400800" cy="2035555"/>
              </a:xfrm>
              <a:prstGeom prst="rect">
                <a:avLst/>
              </a:prstGeom>
              <a:noFill/>
            </p:spPr>
            <p:txBody>
              <a:bodyPr wrap="square" anchor="t" lIns="45720" rIns="45720">
                <a:spAutoFit/>
              </a:bodyPr>
              <a:lstStyle/>
              <a:p>
                <a:pPr algn="l">
                  <a:spcAft>
                    <a:spcPts val="800"/>
                  </a:spcAft>
                </a:pPr>
                <a:r>
                  <a:rPr sz="2200">
                    <a:solidFill>
                      <a:srgbClr val="1E293B"/>
                    </a:solidFill>
                    <a:latin typeface="Calibri"/>
                  </a:rPr>
                  <a:t>Xác định vị trí điểm </a:t>
                </a:r>
                <a14:m>
                  <m:oMath xmlns:m="http://schemas.openxmlformats.org/officeDocument/2006/math">
                    <m:r>
                      <a:rPr lang="vi-VN" sz="2200" b="0">
                        <a:solidFill>
                          <a:srgbClr val="1E293B"/>
                        </a:solidFill>
                        <a:latin typeface="Cambria Math" panose="02040503050406030204" pitchFamily="18" charset="0"/>
                      </a:rPr>
                      <m:t>M</m:t>
                    </m:r>
                  </m:oMath>
                </a14:m>
                <a:r>
                  <a:rPr sz="2200">
                    <a:solidFill>
                      <a:srgbClr val="1E293B"/>
                    </a:solidFill>
                    <a:latin typeface="Calibri"/>
                  </a:rPr>
                  <a:t> trên đoạn </a:t>
                </a:r>
                <a14:m>
                  <m:oMath xmlns:m="http://schemas.openxmlformats.org/officeDocument/2006/math">
                    <m:r>
                      <a:rPr lang="vi-VN" sz="2200" b="0">
                        <a:solidFill>
                          <a:srgbClr val="1E293B"/>
                        </a:solidFill>
                        <a:latin typeface="Cambria Math" panose="02040503050406030204" pitchFamily="18" charset="0"/>
                      </a:rPr>
                      <m:t>AB</m:t>
                    </m:r>
                  </m:oMath>
                </a14:m>
                <a:r>
                  <a:rPr sz="2200">
                    <a:solidFill>
                      <a:srgbClr val="1E293B"/>
                    </a:solidFill>
                    <a:latin typeface="Calibri"/>
                  </a:rPr>
                  <a:t> (điểm nối dây từ đất liền ra đảo) để tổng chi phí lắp đặt là nhỏ nhất.</a:t>
                </a:r>
              </a:p>
              <a:p>
                <a:pPr algn="l">
                  <a:spcAft>
                    <a:spcPts val="800"/>
                  </a:spcAft>
                </a:pPr>
                <a:r>
                  <a:rPr sz="2200" b="1">
                    <a:solidFill>
                      <a:srgbClr val="1E40AF"/>
                    </a:solidFill>
                    <a:latin typeface="Calibri"/>
                  </a:rPr>
                  <a:t>Gợi mở: Đặt </a:t>
                </a:r>
                <a14:m>
                  <m:oMath xmlns:m="http://schemas.openxmlformats.org/officeDocument/2006/math">
                    <m:r>
                      <a:rPr lang="vi-VN" sz="2200" b="1">
                        <a:solidFill>
                          <a:srgbClr val="1E40AF"/>
                        </a:solidFill>
                        <a:latin typeface="Cambria Math" panose="02040503050406030204" pitchFamily="18" charset="0"/>
                      </a:rPr>
                      <m:t>BM=x</m:t>
                    </m:r>
                  </m:oMath>
                </a14:m>
                <a:r>
                  <a:rPr sz="2200" b="1">
                    <a:solidFill>
                      <a:srgbClr val="1E40AF"/>
                    </a:solidFill>
                    <a:latin typeface="Calibri"/>
                  </a:rPr>
                  <a:t>; chi phí gồm phần dưới biển </a:t>
                </a:r>
                <a14:m>
                  <m:oMath xmlns:m="http://schemas.openxmlformats.org/officeDocument/2006/math">
                    <m:r>
                      <a:rPr lang="vi-VN" sz="2200" b="1">
                        <a:solidFill>
                          <a:srgbClr val="1E40AF"/>
                        </a:solidFill>
                        <a:latin typeface="Cambria Math" panose="02040503050406030204" pitchFamily="18" charset="0"/>
                      </a:rPr>
                      <m:t>CM</m:t>
                    </m:r>
                  </m:oMath>
                </a14:m>
                <a:r>
                  <a:rPr sz="2200" b="1">
                    <a:solidFill>
                      <a:srgbClr val="1E40AF"/>
                    </a:solidFill>
                    <a:latin typeface="Calibri"/>
                  </a:rPr>
                  <a:t> và phần trên bờ </a:t>
                </a:r>
                <a14:m>
                  <m:oMath xmlns:m="http://schemas.openxmlformats.org/officeDocument/2006/math">
                    <m:r>
                      <a:rPr lang="vi-VN" sz="2200" b="1">
                        <a:solidFill>
                          <a:srgbClr val="1E40AF"/>
                        </a:solidFill>
                        <a:latin typeface="Cambria Math" panose="02040503050406030204" pitchFamily="18" charset="0"/>
                      </a:rPr>
                      <m:t>MA</m:t>
                    </m:r>
                  </m:oMath>
                </a14:m>
              </a:p>
            </p:txBody>
          </p:sp>
        </mc:Choice>
        <mc:Fallback>
          <p:sp>
            <p:nvSpPr>
              <p:cNvPr id="7" name="TextBox 6"/>
              <p:cNvSpPr txBox="1"/>
              <p:nvPr/>
            </p:nvSpPr>
            <p:spPr>
              <a:xfrm>
                <a:off x="731520" y="1463040"/>
                <a:ext cx="6400800" cy="2035555"/>
              </a:xfrm>
              <a:prstGeom prst="rect">
                <a:avLst/>
              </a:prstGeom>
              <a:noFill/>
            </p:spPr>
            <p:txBody>
              <a:bodyPr wrap="square" anchor="t" lIns="45720" rIns="45720">
                <a:spAutoFit/>
              </a:bodyPr>
              <a:lstStyle/>
              <a:p>
                <a:pPr algn="l">
                  <a:spcAft>
                    <a:spcPts val="800"/>
                  </a:spcAft>
                </a:pPr>
                <a:r>
                  <a:rPr sz="2200">
                    <a:solidFill>
                      <a:srgbClr val="1E293B"/>
                    </a:solidFill>
                    <a:latin typeface="Calibri"/>
                  </a:rPr>
                  <a:t>Xác định vị trí điểm </a:t>
                </a:r>
                <a:r>
                  <a:rPr lang="vi-VN"/>
                  <a:t>M</a:t>
                </a:r>
                <a:r>
                  <a:rPr sz="2200">
                    <a:solidFill>
                      <a:srgbClr val="1E293B"/>
                    </a:solidFill>
                    <a:latin typeface="Calibri"/>
                  </a:rPr>
                  <a:t> trên đoạn </a:t>
                </a:r>
                <a:r>
                  <a:rPr lang="vi-VN"/>
                  <a:t>AB</a:t>
                </a:r>
                <a:r>
                  <a:rPr sz="2200">
                    <a:solidFill>
                      <a:srgbClr val="1E293B"/>
                    </a:solidFill>
                    <a:latin typeface="Calibri"/>
                  </a:rPr>
                  <a:t> (điểm nối dây từ đất liền ra đảo) để tổng chi phí lắp đặt là nhỏ nhất.</a:t>
                </a:r>
              </a:p>
              <a:p>
                <a:pPr algn="l">
                  <a:spcAft>
                    <a:spcPts val="800"/>
                  </a:spcAft>
                </a:pPr>
                <a:r>
                  <a:rPr sz="2200" b="1">
                    <a:solidFill>
                      <a:srgbClr val="1E40AF"/>
                    </a:solidFill>
                    <a:latin typeface="Calibri"/>
                  </a:rPr>
                  <a:t>Gợi mở: Đặt </a:t>
                </a:r>
                <a:r>
                  <a:rPr lang="vi-VN"/>
                  <a:t>BM=x</a:t>
                </a:r>
                <a:r>
                  <a:rPr sz="2200" b="1">
                    <a:solidFill>
                      <a:srgbClr val="1E40AF"/>
                    </a:solidFill>
                    <a:latin typeface="Calibri"/>
                  </a:rPr>
                  <a:t>; chi phí gồm phần dưới biển </a:t>
                </a:r>
                <a:r>
                  <a:rPr lang="vi-VN"/>
                  <a:t>CM</a:t>
                </a:r>
                <a:r>
                  <a:rPr sz="2200" b="1">
                    <a:solidFill>
                      <a:srgbClr val="1E40AF"/>
                    </a:solidFill>
                    <a:latin typeface="Calibri"/>
                  </a:rPr>
                  <a:t> và phần trên bờ </a:t>
                </a:r>
                <a:r>
                  <a:rPr lang="vi-VN"/>
                  <a:t>MA</a:t>
                </a:r>
              </a:p>
            </p:txBody>
          </p:sp>
        </mc:Fallback>
      </mc:AlternateContent>
      <p:pic>
        <p:nvPicPr>
          <p:cNvPr id="8" name="Picture 7" descr="img06.png"/>
          <p:cNvPicPr>
            <a:picLocks noChangeAspect="1"/>
          </p:cNvPicPr>
          <p:nvPr/>
        </p:nvPicPr>
        <p:blipFill>
          <a:blip r:embed="rId2"/>
          <a:stretch>
            <a:fillRect/>
          </a:stretch>
        </p:blipFill>
        <p:spPr>
          <a:xfrm>
            <a:off x="7406640" y="2662707"/>
            <a:ext cx="4389120" cy="2309825"/>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1.46: KÉO DÂY ĐIỆN RA ĐẢO</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65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5524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Đặt </a:t>
                </a:r>
                <a14:m>
                  <m:oMath xmlns:m="http://schemas.openxmlformats.org/officeDocument/2006/math">
                    <m:r>
                      <a:rPr lang="vi-VN" sz="2200" b="0">
                        <a:solidFill>
                          <a:srgbClr val="1E293B"/>
                        </a:solidFill>
                        <a:latin typeface="Cambria Math" panose="02040503050406030204" pitchFamily="18" charset="0"/>
                      </a:rPr>
                      <m:t>BM=x</m:t>
                    </m:r>
                  </m:oMath>
                </a14:m>
                <a:r>
                  <a:rPr sz="2200">
                    <a:solidFill>
                      <a:srgbClr val="1E293B"/>
                    </a:solidFill>
                    <a:latin typeface="Calibri"/>
                  </a:rPr>
                  <a:t> (km), </a:t>
                </a:r>
                <a14:m>
                  <m:oMath xmlns:m="http://schemas.openxmlformats.org/officeDocument/2006/math">
                    <m:r>
                      <a:rPr lang="vi-VN" sz="2200" b="0">
                        <a:solidFill>
                          <a:srgbClr val="1E293B"/>
                        </a:solidFill>
                        <a:latin typeface="Cambria Math" panose="02040503050406030204" pitchFamily="18" charset="0"/>
                      </a:rPr>
                      <m:t>0≤x≤10</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CM=</m:t>
                    </m:r>
                    <m:rad>
                      <m:radPr>
                        <m:degHide m:val="on"/>
                      </m:radPr>
                      <m:deg/>
                      <m:e>
                        <m:r>
                          <a:rPr lang="vi-VN" sz="2200" b="0">
                            <a:solidFill>
                              <a:srgbClr val="1E293B"/>
                            </a:solidFill>
                            <a:latin typeface="Cambria Math" panose="02040503050406030204" pitchFamily="18" charset="0"/>
                          </a:rPr>
                          <m:t>16+</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e>
                    </m:rad>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MA=10−x</m:t>
                    </m:r>
                  </m:oMath>
                </a14:m>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C(x)=50</m:t>
                    </m:r>
                    <m:rad>
                      <m:radPr>
                        <m:degHide m:val="on"/>
                      </m:radPr>
                      <m:deg/>
                      <m:e>
                        <m:r>
                          <a:rPr lang="vi-VN" sz="2200" b="0">
                            <a:solidFill>
                              <a:srgbClr val="1E293B"/>
                            </a:solidFill>
                            <a:latin typeface="Cambria Math" panose="02040503050406030204" pitchFamily="18" charset="0"/>
                          </a:rPr>
                          <m:t>16+</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e>
                    </m:rad>
                    <m:r>
                      <a:rPr lang="vi-VN" sz="2200" b="0">
                        <a:solidFill>
                          <a:srgbClr val="1E293B"/>
                        </a:solidFill>
                        <a:latin typeface="Cambria Math" panose="02040503050406030204" pitchFamily="18" charset="0"/>
                      </a:rPr>
                      <m:t>+30(10−x)</m:t>
                    </m:r>
                  </m:oMath>
                </a14:m>
                <a:r>
                  <a:rPr sz="2200">
                    <a:solidFill>
                      <a:srgbClr val="1E293B"/>
                    </a:solidFill>
                    <a:latin typeface="Calibri"/>
                  </a:rPr>
                  <a:t> (triệu đồng)</a:t>
                </a:r>
              </a:p>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m:t>
                    </m:r>
                    <m:f>
                      <m:fPr>
                        <m:type m:val="bar"/>
                      </m:fPr>
                      <m:num>
                        <m:r>
                          <a:rPr lang="vi-VN" sz="2200" b="0">
                            <a:solidFill>
                              <a:srgbClr val="1E293B"/>
                            </a:solidFill>
                            <a:latin typeface="Cambria Math" panose="02040503050406030204" pitchFamily="18" charset="0"/>
                          </a:rPr>
                          <m:t>50x</m:t>
                        </m:r>
                      </m:num>
                      <m:den>
                        <m:rad>
                          <m:radPr>
                            <m:degHide m:val="on"/>
                          </m:radPr>
                          <m:deg/>
                          <m:e>
                            <m:r>
                              <a:rPr lang="vi-VN" sz="2200" b="0">
                                <a:solidFill>
                                  <a:srgbClr val="1E293B"/>
                                </a:solidFill>
                                <a:latin typeface="Cambria Math" panose="02040503050406030204" pitchFamily="18" charset="0"/>
                              </a:rPr>
                              <m:t>16+</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e>
                        </m:rad>
                      </m:den>
                    </m:f>
                    <m:r>
                      <a:rPr lang="vi-VN" sz="2200" b="0">
                        <a:solidFill>
                          <a:srgbClr val="1E293B"/>
                        </a:solidFill>
                        <a:latin typeface="Cambria Math" panose="02040503050406030204" pitchFamily="18" charset="0"/>
                      </a:rPr>
                      <m:t>−30=0⇔5x=3</m:t>
                    </m:r>
                    <m:rad>
                      <m:radPr>
                        <m:degHide m:val="on"/>
                      </m:radPr>
                      <m:deg/>
                      <m:e>
                        <m:r>
                          <a:rPr lang="vi-VN" sz="2200" b="0">
                            <a:solidFill>
                              <a:srgbClr val="1E293B"/>
                            </a:solidFill>
                            <a:latin typeface="Cambria Math" panose="02040503050406030204" pitchFamily="18" charset="0"/>
                          </a:rPr>
                          <m:t>16+</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e>
                    </m:rad>
                    <m:r>
                      <a:rPr lang="vi-VN" sz="2200" b="0">
                        <a:solidFill>
                          <a:srgbClr val="1E293B"/>
                        </a:solidFill>
                        <a:latin typeface="Cambria Math" panose="02040503050406030204" pitchFamily="18" charset="0"/>
                      </a:rPr>
                      <m:t>⇔x=3</m:t>
                    </m:r>
                  </m:oMath>
                </a14:m>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C(0)=500</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C(3)=460</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C(10)=100</m:t>
                    </m:r>
                    <m:rad>
                      <m:radPr>
                        <m:degHide m:val="on"/>
                      </m:radPr>
                      <m:deg/>
                      <m:e>
                        <m:r>
                          <a:rPr lang="vi-VN" sz="2200" b="0">
                            <a:solidFill>
                              <a:srgbClr val="1E293B"/>
                            </a:solidFill>
                            <a:latin typeface="Cambria Math" panose="02040503050406030204" pitchFamily="18" charset="0"/>
                          </a:rPr>
                          <m:t>29</m:t>
                        </m:r>
                      </m:e>
                    </m:rad>
                    <m:r>
                      <a:rPr lang="vi-VN" sz="2200" b="0">
                        <a:solidFill>
                          <a:srgbClr val="1E293B"/>
                        </a:solidFill>
                        <a:latin typeface="Cambria Math" panose="02040503050406030204" pitchFamily="18" charset="0"/>
                      </a:rPr>
                      <m:t>≈538</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oMath>
                </a14:m>
              </a:p>
            </p:txBody>
          </p:sp>
        </mc:Choice>
        <mc:Fallback>
          <p:sp>
            <p:nvSpPr>
              <p:cNvPr id="7" name="TextBox 6"/>
              <p:cNvSpPr txBox="1"/>
              <p:nvPr/>
            </p:nvSpPr>
            <p:spPr>
              <a:xfrm>
                <a:off x="731520" y="1463040"/>
                <a:ext cx="10789920" cy="205524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Đặt </a:t>
                </a:r>
                <a:r>
                  <a:rPr lang="vi-VN"/>
                  <a:t>BM=x</a:t>
                </a:r>
                <a:r>
                  <a:rPr sz="2200">
                    <a:solidFill>
                      <a:srgbClr val="1E293B"/>
                    </a:solidFill>
                    <a:latin typeface="Calibri"/>
                  </a:rPr>
                  <a:t> (km), </a:t>
                </a:r>
                <a:r>
                  <a:rPr lang="vi-VN"/>
                  <a:t>0\le x\le 10</a:t>
                </a:r>
                <a:r>
                  <a:rPr sz="2200">
                    <a:solidFill>
                      <a:srgbClr val="1E293B"/>
                    </a:solidFill>
                    <a:latin typeface="Calibri"/>
                  </a:rPr>
                  <a:t>; </a:t>
                </a:r>
                <a:r>
                  <a:rPr lang="vi-VN"/>
                  <a:t>CM=\sqrt{16+x^2}</a:t>
                </a:r>
                <a:r>
                  <a:rPr sz="2200">
                    <a:solidFill>
                      <a:srgbClr val="1E293B"/>
                    </a:solidFill>
                    <a:latin typeface="Calibri"/>
                  </a:rPr>
                  <a:t>, </a:t>
                </a:r>
                <a:r>
                  <a:rPr lang="vi-VN"/>
                  <a:t>MA=10-x</a:t>
                </a:r>
              </a:p>
              <a:p>
                <a:pPr algn="l" marL="365760" indent="-365760">
                  <a:spcAft>
                    <a:spcPts val="800"/>
                  </a:spcAft>
                  <a:buClr>
                    <a:srgbClr val="1E40AF"/>
                  </a:buClr>
                  <a:buFont typeface="Arial"/>
                  <a:buChar char="•"/>
                </a:pPr>
                <a:r>
                  <a:rPr lang="vi-VN"/>
                  <a:t>C(x)=50\sqrt{16+x^2}+30(10-x)</a:t>
                </a:r>
                <a:r>
                  <a:rPr sz="2200">
                    <a:solidFill>
                      <a:srgbClr val="1E293B"/>
                    </a:solidFill>
                    <a:latin typeface="Calibri"/>
                  </a:rPr>
                  <a:t> (triệu đồng)</a:t>
                </a:r>
              </a:p>
              <a:p>
                <a:pPr algn="l" marL="365760" indent="-365760">
                  <a:spcAft>
                    <a:spcPts val="800"/>
                  </a:spcAft>
                  <a:buClr>
                    <a:srgbClr val="1E40AF"/>
                  </a:buClr>
                  <a:buFont typeface="Arial"/>
                  <a:buChar char="•"/>
                </a:pPr>
                <a:r>
                  <a:rPr lang="vi-VN"/>
                  <a:t>C'(x)=\frac{50x}{\sqrt{16+x^2}}-30=0\Leftrightarrow 5x=3\sqrt{16+x^2}\Leftrightarrow x=3</a:t>
                </a:r>
              </a:p>
              <a:p>
                <a:pPr algn="l" marL="365760" indent="-365760">
                  <a:spcAft>
                    <a:spcPts val="800"/>
                  </a:spcAft>
                  <a:buClr>
                    <a:srgbClr val="1E40AF"/>
                  </a:buClr>
                  <a:buFont typeface="Arial"/>
                  <a:buChar char="•"/>
                </a:pPr>
                <a:r>
                  <a:rPr lang="vi-VN"/>
                  <a:t>C(0)=500</a:t>
                </a:r>
                <a:r>
                  <a:rPr sz="2200">
                    <a:solidFill>
                      <a:srgbClr val="1E293B"/>
                    </a:solidFill>
                    <a:latin typeface="Calibri"/>
                  </a:rPr>
                  <a:t>; </a:t>
                </a:r>
                <a:r>
                  <a:rPr lang="vi-VN"/>
                  <a:t>C(3)=460</a:t>
                </a:r>
                <a:r>
                  <a:rPr sz="2200">
                    <a:solidFill>
                      <a:srgbClr val="1E293B"/>
                    </a:solidFill>
                    <a:latin typeface="Calibri"/>
                  </a:rPr>
                  <a:t>; </a:t>
                </a:r>
                <a:r>
                  <a:rPr lang="vi-VN"/>
                  <a:t>C(10)=100\sqrt{29}\approx 538{,}5</a:t>
                </a:r>
              </a:p>
            </p:txBody>
          </p:sp>
        </mc:Fallback>
      </mc:AlternateContent>
      <p:sp>
        <p:nvSpPr>
          <p:cNvPr id="8" name="Rounded Rectangle 7"/>
          <p:cNvSpPr/>
          <p:nvPr/>
        </p:nvSpPr>
        <p:spPr>
          <a:xfrm>
            <a:off x="731520" y="3655441"/>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55441"/>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 </a:t>
                </a:r>
                <a14:m>
                  <m:oMath xmlns:m="http://schemas.openxmlformats.org/officeDocument/2006/math">
                    <m:r>
                      <a:rPr lang="vi-VN" sz="2200" b="1">
                        <a:solidFill>
                          <a:srgbClr val="991B1B"/>
                        </a:solidFill>
                        <a:latin typeface="Cambria Math" panose="02040503050406030204" pitchFamily="18" charset="0"/>
                      </a:rPr>
                      <m:t>M</m:t>
                    </m:r>
                  </m:oMath>
                </a14:m>
                <a:r>
                  <a:rPr sz="2200" b="1">
                    <a:solidFill>
                      <a:srgbClr val="991B1B"/>
                    </a:solidFill>
                    <a:latin typeface="Calibri"/>
                  </a:rPr>
                  <a:t> cách </a:t>
                </a:r>
                <a14:m>
                  <m:oMath xmlns:m="http://schemas.openxmlformats.org/officeDocument/2006/math">
                    <m:r>
                      <a:rPr lang="vi-VN" sz="2200" b="1">
                        <a:solidFill>
                          <a:srgbClr val="991B1B"/>
                        </a:solidFill>
                        <a:latin typeface="Cambria Math" panose="02040503050406030204" pitchFamily="18" charset="0"/>
                      </a:rPr>
                      <m:t>B</m:t>
                    </m:r>
                  </m:oMath>
                </a14:m>
                <a:r>
                  <a:rPr sz="2200" b="1">
                    <a:solidFill>
                      <a:srgbClr val="991B1B"/>
                    </a:solidFill>
                    <a:latin typeface="Calibri"/>
                  </a:rPr>
                  <a:t> 3 km (cách </a:t>
                </a:r>
                <a14:m>
                  <m:oMath xmlns:m="http://schemas.openxmlformats.org/officeDocument/2006/math">
                    <m:r>
                      <a:rPr lang="vi-VN" sz="2200" b="1">
                        <a:solidFill>
                          <a:srgbClr val="991B1B"/>
                        </a:solidFill>
                        <a:latin typeface="Cambria Math" panose="02040503050406030204" pitchFamily="18" charset="0"/>
                      </a:rPr>
                      <m:t>A</m:t>
                    </m:r>
                  </m:oMath>
                </a14:m>
                <a:r>
                  <a:rPr sz="2200" b="1">
                    <a:solidFill>
                      <a:srgbClr val="991B1B"/>
                    </a:solidFill>
                    <a:latin typeface="Calibri"/>
                  </a:rPr>
                  <a:t> 7 km); chi phí nhỏ nhất 460 triệu đồng</a:t>
                </a:r>
              </a:p>
            </p:txBody>
          </p:sp>
        </mc:Choice>
        <mc:Fallback>
          <p:sp>
            <p:nvSpPr>
              <p:cNvPr id="9" name="TextBox 8"/>
              <p:cNvSpPr txBox="1"/>
              <p:nvPr/>
            </p:nvSpPr>
            <p:spPr>
              <a:xfrm>
                <a:off x="914400" y="3655441"/>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 </a:t>
                </a:r>
                <a:r>
                  <a:rPr lang="vi-VN"/>
                  <a:t>M</a:t>
                </a:r>
                <a:r>
                  <a:rPr sz="2200" b="1">
                    <a:solidFill>
                      <a:srgbClr val="991B1B"/>
                    </a:solidFill>
                    <a:latin typeface="Calibri"/>
                  </a:rPr>
                  <a:t> cách </a:t>
                </a:r>
                <a:r>
                  <a:rPr lang="vi-VN"/>
                  <a:t>B</a:t>
                </a:r>
                <a:r>
                  <a:rPr sz="2200" b="1">
                    <a:solidFill>
                      <a:srgbClr val="991B1B"/>
                    </a:solidFill>
                    <a:latin typeface="Calibri"/>
                  </a:rPr>
                  <a:t> 3 km (cách </a:t>
                </a:r>
                <a:r>
                  <a:rPr lang="vi-VN"/>
                  <a:t>A</a:t>
                </a:r>
                <a:r>
                  <a:rPr sz="2200" b="1">
                    <a:solidFill>
                      <a:srgbClr val="991B1B"/>
                    </a:solidFill>
                    <a:latin typeface="Calibri"/>
                  </a:rPr>
                  <a:t> 7 km); chi phí nhỏ nhất 460 triệu đồng</a:t>
                </a:r>
              </a:p>
            </p:txBody>
          </p:sp>
        </mc:Fallback>
      </mc:AlternateContent>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NHIỆM VỤ NHÓM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66</a:t>
            </a:r>
          </a:p>
        </p:txBody>
      </p:sp>
      <p:sp>
        <p:nvSpPr>
          <p:cNvPr id="7" name="TextBox 6"/>
          <p:cNvSpPr txBox="1"/>
          <p:nvPr/>
        </p:nvSpPr>
        <p:spPr>
          <a:xfrm>
            <a:off x="731520" y="1463040"/>
            <a:ext cx="10789920" cy="239877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Nhiệm vụ nhóm "Kéo ống tưới tiết kiệm nhất" (4 – 5 HS/nhóm, làm ngoài giờ):</a:t>
            </a:r>
            <a:r>
              <a:rPr sz="2200">
                <a:solidFill>
                  <a:srgbClr val="1E293B"/>
                </a:solidFill>
                <a:latin typeface="Calibri"/>
              </a:rPr>
              <a:t> Nhóm chọn một vườn cà phê hoặc hồ tiêu của gia đình một thành viên, ước lượng khoảng cách từ giếng (hoặc bể nước) đến bờ lô và đến bồn chứa, hỏi giá ống, giá công đào rãnh tại cửa hàng vật tư ở địa phương (ghi nguồn);</a:t>
            </a:r>
          </a:p>
          <a:p>
            <a:pPr algn="l" marL="365760" indent="-365760">
              <a:spcAft>
                <a:spcPts val="800"/>
              </a:spcAft>
              <a:buClr>
                <a:srgbClr val="1E40AF"/>
              </a:buClr>
              <a:buFont typeface="Arial"/>
              <a:buChar char="•"/>
            </a:pPr>
            <a:r>
              <a:rPr sz="2200">
                <a:solidFill>
                  <a:srgbClr val="1E293B"/>
                </a:solidFill>
                <a:latin typeface="Calibri"/>
              </a:rPr>
              <a:t>lập hàm chi phí theo mô hình Bài 1.46, tìm vị trí nối ống cho chi phí nhỏ nhất;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NHIỆM VỤ NHÓM VỀ NHÀ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67</a:t>
            </a:r>
          </a:p>
        </p:txBody>
      </p:sp>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vẽ đồ thị hàm chi phí bằng GeoGebra;</a:t>
            </a:r>
          </a:p>
          <a:p>
            <a:pPr algn="l" marL="365760" indent="-365760">
              <a:spcAft>
                <a:spcPts val="800"/>
              </a:spcAft>
              <a:buClr>
                <a:srgbClr val="1E40AF"/>
              </a:buClr>
              <a:buFont typeface="Arial"/>
              <a:buChar char="•"/>
            </a:pPr>
            <a:r>
              <a:rPr sz="2200">
                <a:solidFill>
                  <a:srgbClr val="1E293B"/>
                </a:solidFill>
                <a:latin typeface="Calibri"/>
              </a:rPr>
              <a:t>nộp 3 – 5 slide lên Classroom/Padlet kèm Nhật ký sử dụng AI.</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SƠ ĐỒ TƯ DUY CHƯƠNG I</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68</a:t>
            </a:r>
          </a:p>
        </p:txBody>
      </p:sp>
      <p:pic>
        <p:nvPicPr>
          <p:cNvPr id="6" name="Picture 5" descr="img07.png"/>
          <p:cNvPicPr>
            <a:picLocks noChangeAspect="1"/>
          </p:cNvPicPr>
          <p:nvPr/>
        </p:nvPicPr>
        <p:blipFill>
          <a:blip r:embed="rId2"/>
          <a:stretch>
            <a:fillRect/>
          </a:stretch>
        </p:blipFill>
        <p:spPr>
          <a:xfrm>
            <a:off x="2213218" y="1417320"/>
            <a:ext cx="7735084" cy="4343400"/>
          </a:xfrm>
          <a:prstGeom prst="rect">
            <a:avLst/>
          </a:prstGeom>
        </p:spPr>
      </p:pic>
      <p:sp>
        <p:nvSpPr>
          <p:cNvPr id="7" name="TextBox 6"/>
          <p:cNvSpPr txBox="1"/>
          <p:nvPr/>
        </p:nvSpPr>
        <p:spPr>
          <a:xfrm>
            <a:off x="731520" y="5806440"/>
            <a:ext cx="10698480" cy="457200"/>
          </a:xfrm>
          <a:prstGeom prst="rect">
            <a:avLst/>
          </a:prstGeom>
          <a:noFill/>
        </p:spPr>
        <p:txBody>
          <a:bodyPr wrap="square" anchor="t" lIns="45720" rIns="45720">
            <a:spAutoFit/>
          </a:bodyPr>
          <a:lstStyle/>
          <a:p>
            <a:pPr algn="ctr">
              <a:spcAft>
                <a:spcPts val="800"/>
              </a:spcAft>
            </a:pPr>
            <a:r>
              <a:rPr sz="2000" b="1">
                <a:solidFill>
                  <a:srgbClr val="1E40AF"/>
                </a:solidFill>
                <a:latin typeface="Calibri"/>
              </a:rPr>
              <a:t>Nêu nội dung từng nhánh trước khi GV hiện đầy đủ</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CHUẨN BỊ TIẾT SAU</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69</a:t>
            </a:r>
          </a:p>
        </p:txBody>
      </p:sp>
      <p:sp>
        <p:nvSpPr>
          <p:cNvPr id="6" name="TextBox 5"/>
          <p:cNvSpPr txBox="1"/>
          <p:nvPr/>
        </p:nvSpPr>
        <p:spPr>
          <a:xfrm>
            <a:off x="731520" y="1463040"/>
            <a:ext cx="10789920" cy="12984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b="1">
                <a:solidFill>
                  <a:srgbClr val="1E293B"/>
                </a:solidFill>
                <a:latin typeface="Calibri"/>
              </a:rPr>
              <a:t>Ôn tập giữa kì I</a:t>
            </a:r>
            <a:r>
              <a:rPr sz="2400">
                <a:solidFill>
                  <a:srgbClr val="1E293B"/>
                </a:solidFill>
                <a:latin typeface="Calibri"/>
              </a:rPr>
              <a:t> (PPCT: T25). HS ôn lại Bài 1 – Bài 5, làm thêm đề Ôn tập Chương I trên trang luyện tập: https://trangtu66.github.io/Taode_thi_online/oc_toan12_chuong1.html; mang máy tính cầm tay.</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BÀI TẬP CỦA BẠN</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tập cuối Chương I          70</a:t>
            </a:r>
          </a:p>
        </p:txBody>
      </p:sp>
      <p:sp>
        <p:nvSpPr>
          <p:cNvPr id="6" name="Rectangle 5"/>
          <p:cNvSpPr/>
          <p:nvPr/>
        </p:nvSpPr>
        <p:spPr>
          <a:xfrm>
            <a:off x="731520" y="1463040"/>
            <a:ext cx="4572000" cy="4572000"/>
          </a:xfrm>
          <a:prstGeom prst="rect">
            <a:avLst/>
          </a:prstGeom>
          <a:solidFill>
            <a:srgbClr val="F8FAFC"/>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CungCo_Chuong1_Toan12.png"/>
          <p:cNvPicPr>
            <a:picLocks noChangeAspect="1"/>
          </p:cNvPicPr>
          <p:nvPr/>
        </p:nvPicPr>
        <p:blipFill>
          <a:blip r:embed="rId2"/>
          <a:stretch>
            <a:fillRect/>
          </a:stretch>
        </p:blipFill>
        <p:spPr>
          <a:xfrm>
            <a:off x="960120" y="1691640"/>
            <a:ext cx="4114800" cy="4114800"/>
          </a:xfrm>
          <a:prstGeom prst="rect">
            <a:avLst/>
          </a:prstGeom>
        </p:spPr>
      </p:pic>
      <p:sp>
        <p:nvSpPr>
          <p:cNvPr id="8" name="TextBox 7"/>
          <p:cNvSpPr txBox="1"/>
          <p:nvPr/>
        </p:nvSpPr>
        <p:spPr>
          <a:xfrm>
            <a:off x="5760720" y="1554480"/>
            <a:ext cx="6035040" cy="31089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600">
                <a:solidFill>
                  <a:srgbClr val="1E293B"/>
                </a:solidFill>
                <a:latin typeface="Calibri"/>
              </a:rPr>
              <a:t>Quét mã QR bằng điện thoại</a:t>
            </a:r>
          </a:p>
          <a:p>
            <a:pPr algn="l" marL="365760" indent="-365760">
              <a:spcAft>
                <a:spcPts val="800"/>
              </a:spcAft>
              <a:buClr>
                <a:srgbClr val="1E40AF"/>
              </a:buClr>
              <a:buFont typeface="Arial"/>
              <a:buChar char="•"/>
            </a:pPr>
            <a:r>
              <a:rPr sz="2600">
                <a:solidFill>
                  <a:srgbClr val="1E293B"/>
                </a:solidFill>
                <a:latin typeface="Calibri"/>
              </a:rPr>
              <a:t>Nhập họ tên và lớp</a:t>
            </a:r>
          </a:p>
          <a:p>
            <a:pPr algn="l" marL="365760" indent="-365760">
              <a:spcAft>
                <a:spcPts val="800"/>
              </a:spcAft>
              <a:buClr>
                <a:srgbClr val="1E40AF"/>
              </a:buClr>
              <a:buFont typeface="Arial"/>
              <a:buChar char="•"/>
            </a:pPr>
            <a:r>
              <a:rPr sz="2600">
                <a:solidFill>
                  <a:srgbClr val="1E293B"/>
                </a:solidFill>
                <a:latin typeface="Calibri"/>
              </a:rPr>
              <a:t>7 câu – làm trong 7 phút</a:t>
            </a:r>
          </a:p>
          <a:p>
            <a:pPr algn="l" marL="365760" indent="-365760">
              <a:spcAft>
                <a:spcPts val="800"/>
              </a:spcAft>
              <a:buClr>
                <a:srgbClr val="1E40AF"/>
              </a:buClr>
              <a:buFont typeface="Arial"/>
              <a:buChar char="•"/>
            </a:pPr>
            <a:r>
              <a:rPr sz="2600">
                <a:solidFill>
                  <a:srgbClr val="1E293B"/>
                </a:solidFill>
                <a:latin typeface="Calibri"/>
              </a:rPr>
              <a:t>Nộp bài, xem lời giải</a:t>
            </a:r>
          </a:p>
        </p:txBody>
      </p:sp>
      <p:sp>
        <p:nvSpPr>
          <p:cNvPr id="9" name="TextBox 8"/>
          <p:cNvSpPr txBox="1"/>
          <p:nvPr/>
        </p:nvSpPr>
        <p:spPr>
          <a:xfrm>
            <a:off x="5760720" y="4754880"/>
            <a:ext cx="6035040" cy="1188720"/>
          </a:xfrm>
          <a:prstGeom prst="rect">
            <a:avLst/>
          </a:prstGeom>
          <a:noFill/>
        </p:spPr>
        <p:txBody>
          <a:bodyPr wrap="square" anchor="t" lIns="45720" rIns="45720">
            <a:spAutoFit/>
          </a:bodyPr>
          <a:lstStyle/>
          <a:p>
            <a:pPr algn="l">
              <a:spcAft>
                <a:spcPts val="800"/>
              </a:spcAft>
            </a:pPr>
            <a:r>
              <a:rPr sz="1800" b="1">
                <a:solidFill>
                  <a:srgbClr val="1E40AF"/>
                </a:solidFill>
                <a:latin typeface="Calibri"/>
                <a:hlinkClick r:id="rId3"/>
              </a:rPr>
              <a:t>trangtu66.github.io/Taode_thi_online/cc_chuong1_t12.html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