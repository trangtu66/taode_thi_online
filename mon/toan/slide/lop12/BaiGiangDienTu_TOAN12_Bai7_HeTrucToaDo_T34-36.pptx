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Bìa. Đáp án, lời giải hiện theo click. Nút GeoGebra 3D, video mở trang online (cần Internet).</a:t>
            </a:r>
          </a:p>
          <a:p>
            <a:r>
              <a:t>Lớp 12A2, 12A7 có HS khiếm thị: GV đọc to toạ độ, công thức; cho sờ mô hình khung hình hộp, ba que làm ba trục.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Yêu cầu cần đạt lấy từ khung 'Kiến thức, kĩ năng' SGK tr.60.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Chiếu để HS nắm lộ trình bài học.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1 (45'): Khởi động 6' – HĐ1, khung, câu hỏi, Ví dụ 1, LT1: 13' – HĐ2, toạ độ điểm 8' – Ví dụ 2, LT2, Ví dụ 3, LT3, Nhận xét 12' – Trò chơi 4' – Tổng kết 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Video mở đầu (phụ đề). HS dự đoán (dùng ba số đo). Chưa chốt – giải ở Vận dụng 1 (đầu Tiết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HĐ1 (SGK tr.60) – 4'. Click 1. Chốt khung (2').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hỏi (?): góc phòng H.2.34 – gốc O là góc nhà, ba mặt phẳng là sàn và hai bức tường (click 1). Ví dụ 1 (click 2), Luyện tập 1 (click 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HS làm cặp 2'. Click 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HĐ2 (SGK tr.61) – 5'. Click 1, 2. Chốt khung; câu hỏi (?) toạ độ gốc O (click 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2 (click 1). Luyện tập 2: HS đếm ô (click 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3 (click 1, 2), Luyện tập 3 (click 3). Chốt Nhận xét: toạ độ hình chiếu.</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GV kéo thanh trượt, HS đọc toạ độ hình chiếu. Lệnh: x=Slider(-4,4,1), M=(x,y,z), A=(x,0,0), B=(0,y,0), C=(0,0,z), hình hộp Prism.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Click lật đáp án: Đ – Đ – Đ – S – S. HS khiếm thị (12A2, 12A7): GV đọc to từng câu, HS trả lời miệng.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2 (45'): Vận dụng 1 – 6' – HĐ3, khung, nhận xét 8' – Ví dụ 4, LT4: 5' – HĐ4, khung 6' – Ví dụ 5, LT5: 9' – Vận dụng 2: 5' – Trò chơi 4' – Tổng kết 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HS chọn hệ toạ độ theo nhóm, trình bày (click 1, 2). Chấp nhận nhiều cách đặt tên trục.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HĐ3 (SGK tr.62) – 3'. Click 1. Chốt khung, Nhận xét.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4 (click 1), Luyện tập 4 (click 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HĐ4 (SGK tr.63) – 4'. Click 1. Chốt khung.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5 (click 1–3), Luyện tập 5 (click 4). Đã kiểm tra bằng Python.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HS làm 3'. Click 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Click 1. Theo KHBD/SGV: Oy hướng nam nên vectơ dịch chuyển (0; 445; 0).</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Lệnh: M=(1,2,1), N=(4,3,3), v=Vector(M,N), U=O+v, u=Vector((0,0,0),U).</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Click 1–4. Câu 4: thiếu thành phần j ⇒ tung độ 0.</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3 (45'): Hộp quà 8' – Bài tập 2.13 – 2.19 (27') – Em có biết 5' – Củng cố 5'.</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Dựa trên Bài tập 2.17. Đáp án đã kiểm tra bằng Python.</a:t>
            </a:r>
          </a:p>
          <a:p>
            <a:r>
              <a:t>Các slide câu hỏi đang ẩn – chỉ mở được bằng cách bấm vào hộp.</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1: đáp án; click 2: phần quà.</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1: đáp án; click 2: phần quà.</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1: đáp án; click 2: phần quà.</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1: đáp án; click 2: phần quà.</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Chữa bài: gọi HS trình bày, click hiện đáp án (đối chiếu SGV, KHBD; đã kiểm tra bằng Python).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Chữa bài: gọi HS trình bày, click hiện đáp án (đối chiếu SGV, KHBD; đã kiểm tra bằng Python).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Chữa bài: gọi HS trình bày, click hiện đáp án (đối chiếu SGV, KHBD; đã kiểm tra bằng Python).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Đọc cùng HS (SGK tr.65 – 66). Liên hệ: vĩ độ, kinh độ trên Trái Đất; NASA dùng toạ độ địa hình.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HS quét QR làm bài củng cố online ở nhà. Đáp án chỉ mở khi GV cho phép.</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Củng cố cuối bài.</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ẩn – chỉ GV xem khi chuẩn bị.</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ẩn – chỉ GV xem khi chuẩn bị.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hyperlink" Target="https://trangtu66.github.io/Taode_thi_online/mon/toan/video/lop12/VIDEO_MoDau_TOAN12_Bai7_HeTrucToaDo.mp4" TargetMode="External"/><Relationship Id="rId4" Type="http://schemas.openxmlformats.org/officeDocument/2006/relationships/image" Target="../media/image1.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hyperlink" Target="https://trangtu66.github.io/Taode_thi_online/GGB3D_T12_Bai7_1_ToaDoDiem.html" TargetMode="External"/><Relationship Id="rId4" Type="http://schemas.openxmlformats.org/officeDocument/2006/relationships/image" Target="../media/image9.png"/><Relationship Id="rId5"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hyperlink" Target="https://trangtu66.github.io/Taode_thi_online/GGB3D_T12_Bai7_2_ToaDoVecto.html" TargetMode="External"/><Relationship Id="rId4" Type="http://schemas.openxmlformats.org/officeDocument/2006/relationships/image" Target="../media/image14.png"/><Relationship Id="rId5"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slide" Target="slide28.xml"/><Relationship Id="rId4" Type="http://schemas.openxmlformats.org/officeDocument/2006/relationships/slide" Target="slide29.xml"/><Relationship Id="rId5" Type="http://schemas.openxmlformats.org/officeDocument/2006/relationships/slide" Target="slide30.xml"/><Relationship Id="rId6" Type="http://schemas.openxmlformats.org/officeDocument/2006/relationships/slide" Target="slide3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0.png"/><Relationship Id="rId4" Type="http://schemas.openxmlformats.org/officeDocument/2006/relationships/slide" Target="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0.png"/><Relationship Id="rId4" Type="http://schemas.openxmlformats.org/officeDocument/2006/relationships/slide" Target="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0.png"/><Relationship Id="rId4" Type="http://schemas.openxmlformats.org/officeDocument/2006/relationships/slide" Target="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0.png"/><Relationship Id="rId4" Type="http://schemas.openxmlformats.org/officeDocument/2006/relationships/slide" Target="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1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7.png"/><Relationship Id="rId4" Type="http://schemas.openxmlformats.org/officeDocument/2006/relationships/hyperlink" Target="https://trangtu66.github.io/Taode_thi_online/cc_bai7_t12.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1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200" b="1">
                <a:solidFill>
                  <a:srgbClr val="FCD34D"/>
                </a:solidFill>
                <a:latin typeface="Cambria"/>
              </a:rPr>
              <a:t>CHƯƠNG II. VECTƠ VÀ HỆ TRỤC TOẠ ĐỘ TRONG KHÔNG GIAN</a:t>
            </a:r>
          </a:p>
          <a:p>
            <a:pPr>
              <a:spcAft>
                <a:spcPts val="600"/>
              </a:spcAft>
            </a:pPr>
            <a:r>
              <a:rPr sz="3000" b="1">
                <a:solidFill>
                  <a:srgbClr val="FFFFFF"/>
                </a:solidFill>
                <a:latin typeface="Cambria"/>
              </a:rPr>
              <a:t>BÀI 7</a:t>
            </a:r>
          </a:p>
          <a:p>
            <a:pPr>
              <a:spcAft>
                <a:spcPts val="600"/>
              </a:spcAft>
            </a:pPr>
            <a:r>
              <a:rPr sz="4200" b="1">
                <a:solidFill>
                  <a:srgbClr val="FFFFFF"/>
                </a:solidFill>
                <a:latin typeface="Cambria"/>
              </a:rPr>
              <a:t>HỆ TRỤC TOẠ ĐỘ TRONG KHÔNG GIAN</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Toán 12 – Kết nối tri thức với cuộc sống (SGK tập một, tr.60 – 66)</a:t>
            </a:r>
          </a:p>
          <a:p>
            <a:pPr algn="l">
              <a:spcAft>
                <a:spcPts val="800"/>
              </a:spcAft>
            </a:pPr>
            <a:r>
              <a:rPr sz="2200">
                <a:solidFill>
                  <a:srgbClr val="E0E7FF"/>
                </a:solidFill>
                <a:latin typeface="Calibri"/>
              </a:rPr>
              <a:t>3 tiết: T34 – T36</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MỤC TIÊU BÀI HỌC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Hệ trục toạ độ trong không gian – Toán 12          2</a:t>
            </a:r>
          </a:p>
        </p:txBody>
      </p:sp>
      <p:sp>
        <p:nvSpPr>
          <p:cNvPr id="7" name="Rounded Rectangle 6"/>
          <p:cNvSpPr/>
          <p:nvPr/>
        </p:nvSpPr>
        <p:spPr>
          <a:xfrm>
            <a:off x="548640" y="1417320"/>
            <a:ext cx="11064240" cy="1807464"/>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53896"/>
            <a:ext cx="10735056" cy="173431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Yêu cầu cần đạt</a:t>
            </a:r>
            <a:r>
              <a:rPr sz="2200">
                <a:solidFill>
                  <a:srgbClr val="1E293B"/>
                </a:solidFill>
                <a:latin typeface="Calibri"/>
              </a:rPr>
              <a:t> (SGK tr.60)</a:t>
            </a:r>
          </a:p>
          <a:p>
            <a:pPr algn="l" marL="365760" indent="-365760">
              <a:spcAft>
                <a:spcPts val="800"/>
              </a:spcAft>
              <a:buClr>
                <a:srgbClr val="1E40AF"/>
              </a:buClr>
              <a:buFont typeface="Arial"/>
              <a:buChar char="•"/>
            </a:pPr>
            <a:r>
              <a:rPr sz="2200">
                <a:solidFill>
                  <a:srgbClr val="1E293B"/>
                </a:solidFill>
                <a:latin typeface="Calibri"/>
              </a:rPr>
              <a:t>Nhận biết toạ độ của điểm, của vectơ đối với hệ trục toạ độ.</a:t>
            </a:r>
          </a:p>
          <a:p>
            <a:pPr algn="l" marL="365760" indent="-365760">
              <a:spcAft>
                <a:spcPts val="800"/>
              </a:spcAft>
              <a:buClr>
                <a:srgbClr val="1E40AF"/>
              </a:buClr>
              <a:buFont typeface="Arial"/>
              <a:buChar char="•"/>
            </a:pPr>
            <a:r>
              <a:rPr sz="2200">
                <a:solidFill>
                  <a:srgbClr val="1E293B"/>
                </a:solidFill>
                <a:latin typeface="Calibri"/>
              </a:rPr>
              <a:t>Vận dụng toạ độ của vectơ để giải một số bài toán có liên quan đến thực tiễn.</a:t>
            </a:r>
          </a:p>
        </p:txBody>
      </p:sp>
      <p:sp>
        <p:nvSpPr>
          <p:cNvPr id="9" name="TextBox 8"/>
          <p:cNvSpPr txBox="1"/>
          <p:nvPr/>
        </p:nvSpPr>
        <p:spPr>
          <a:xfrm>
            <a:off x="548640" y="3453384"/>
            <a:ext cx="11064240" cy="274320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b="1">
                <a:solidFill>
                  <a:srgbClr val="1E293B"/>
                </a:solidFill>
                <a:latin typeface="Calibri"/>
              </a:rPr>
              <a:t>Năng lực toán học:</a:t>
            </a:r>
            <a:r>
              <a:rPr sz="2200">
                <a:solidFill>
                  <a:srgbClr val="1E293B"/>
                </a:solidFill>
                <a:latin typeface="Calibri"/>
              </a:rPr>
              <a:t> tư duy và lập luận (quy tắc hình hộp → toạ độ); mô hình hoá (vị trí bóng đèn, máy bay); giao tiếp toán học; sử dụng công cụ (GeoGebra 3D).</a:t>
            </a:r>
          </a:p>
          <a:p>
            <a:pPr algn="l" marL="365760" indent="-365760">
              <a:spcAft>
                <a:spcPts val="800"/>
              </a:spcAft>
              <a:buClr>
                <a:srgbClr val="1E40AF"/>
              </a:buClr>
              <a:buFont typeface="Arial"/>
              <a:buChar char="•"/>
            </a:pPr>
            <a:r>
              <a:rPr sz="2200" b="1">
                <a:solidFill>
                  <a:srgbClr val="1E293B"/>
                </a:solidFill>
                <a:latin typeface="Calibri"/>
              </a:rPr>
              <a:t>Phẩm chất:</a:t>
            </a:r>
            <a:r>
              <a:rPr sz="2200">
                <a:solidFill>
                  <a:srgbClr val="1E293B"/>
                </a:solidFill>
                <a:latin typeface="Calibri"/>
              </a:rPr>
              <a:t> chăm chỉ, trung thực khi tự kiểm tra kết quả, trách nhiệm khi làm việc nhóm.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LỘ TRÌNH 3 TIẾT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Hệ trục toạ độ trong không gian – Toán 12          3</a:t>
            </a:r>
          </a:p>
        </p:txBody>
      </p:sp>
      <p:sp>
        <p:nvSpPr>
          <p:cNvPr id="7" name="Rounded Rectangle 6"/>
          <p:cNvSpPr/>
          <p:nvPr/>
        </p:nvSpPr>
        <p:spPr>
          <a:xfrm>
            <a:off x="548640" y="155448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27632"/>
            <a:ext cx="1188720" cy="594360"/>
          </a:xfrm>
          <a:prstGeom prst="rect">
            <a:avLst/>
          </a:prstGeom>
          <a:noFill/>
        </p:spPr>
        <p:txBody>
          <a:bodyPr wrap="square" anchor="t" lIns="45720" rIns="45720">
            <a:spAutoFit/>
          </a:bodyPr>
          <a:lstStyle/>
          <a:p>
            <a:pPr algn="ctr">
              <a:spcAft>
                <a:spcPts val="800"/>
              </a:spcAft>
            </a:pPr>
            <a:r>
              <a:rPr sz="2400" b="1">
                <a:solidFill>
                  <a:srgbClr val="FFFFFF"/>
                </a:solidFill>
                <a:latin typeface="Calibri"/>
              </a:rPr>
              <a:t>T34</a:t>
            </a:r>
          </a:p>
        </p:txBody>
      </p:sp>
      <p:sp>
        <p:nvSpPr>
          <p:cNvPr id="9" name="TextBox 8"/>
          <p:cNvSpPr txBox="1"/>
          <p:nvPr/>
        </p:nvSpPr>
        <p:spPr>
          <a:xfrm>
            <a:off x="1920240" y="164592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1. Hệ trục toạ độ trong không gian. 2. Toạ độ của điểm</a:t>
            </a:r>
          </a:p>
        </p:txBody>
      </p:sp>
      <p:sp>
        <p:nvSpPr>
          <p:cNvPr id="10" name="TextBox 9"/>
          <p:cNvSpPr txBox="1"/>
          <p:nvPr/>
        </p:nvSpPr>
        <p:spPr>
          <a:xfrm>
            <a:off x="8046720" y="1645920"/>
            <a:ext cx="3749039" cy="731520"/>
          </a:xfrm>
          <a:prstGeom prst="rect">
            <a:avLst/>
          </a:prstGeom>
          <a:noFill/>
        </p:spPr>
        <p:txBody>
          <a:bodyPr wrap="square" anchor="t" lIns="45720" rIns="45720">
            <a:spAutoFit/>
          </a:bodyPr>
          <a:lstStyle/>
          <a:p>
            <a:pPr algn="l">
              <a:spcAft>
                <a:spcPts val="800"/>
              </a:spcAft>
            </a:pPr>
            <a:r>
              <a:rPr sz="2000">
                <a:solidFill>
                  <a:srgbClr val="1E293B"/>
                </a:solidFill>
                <a:latin typeface="Calibri"/>
              </a:rPr>
              <a:t>🎮 Đúng hay Sai? · GeoGebra 3D</a:t>
            </a:r>
          </a:p>
        </p:txBody>
      </p:sp>
      <p:sp>
        <p:nvSpPr>
          <p:cNvPr id="11" name="Rounded Rectangle 10"/>
          <p:cNvSpPr/>
          <p:nvPr/>
        </p:nvSpPr>
        <p:spPr>
          <a:xfrm>
            <a:off x="548640" y="251460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587752"/>
            <a:ext cx="1188720" cy="594360"/>
          </a:xfrm>
          <a:prstGeom prst="rect">
            <a:avLst/>
          </a:prstGeom>
          <a:noFill/>
        </p:spPr>
        <p:txBody>
          <a:bodyPr wrap="square" anchor="t" lIns="45720" rIns="45720">
            <a:spAutoFit/>
          </a:bodyPr>
          <a:lstStyle/>
          <a:p>
            <a:pPr algn="ctr">
              <a:spcAft>
                <a:spcPts val="800"/>
              </a:spcAft>
            </a:pPr>
            <a:r>
              <a:rPr sz="2400" b="1">
                <a:solidFill>
                  <a:srgbClr val="FFFFFF"/>
                </a:solidFill>
                <a:latin typeface="Calibri"/>
              </a:rPr>
              <a:t>T35</a:t>
            </a:r>
          </a:p>
        </p:txBody>
      </p:sp>
      <p:sp>
        <p:nvSpPr>
          <p:cNvPr id="13" name="TextBox 12"/>
          <p:cNvSpPr txBox="1"/>
          <p:nvPr/>
        </p:nvSpPr>
        <p:spPr>
          <a:xfrm>
            <a:off x="1920240" y="260604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Vận dụng 1; toạ độ của vectơ; toạ độ vectơ theo hai đầu mút; Vận dụng 2</a:t>
            </a:r>
          </a:p>
        </p:txBody>
      </p:sp>
      <p:sp>
        <p:nvSpPr>
          <p:cNvPr id="14" name="TextBox 13"/>
          <p:cNvSpPr txBox="1"/>
          <p:nvPr/>
        </p:nvSpPr>
        <p:spPr>
          <a:xfrm>
            <a:off x="8046720" y="2606040"/>
            <a:ext cx="3749039" cy="731520"/>
          </a:xfrm>
          <a:prstGeom prst="rect">
            <a:avLst/>
          </a:prstGeom>
          <a:noFill/>
        </p:spPr>
        <p:txBody>
          <a:bodyPr wrap="square" anchor="t" lIns="45720" rIns="45720">
            <a:spAutoFit/>
          </a:bodyPr>
          <a:lstStyle/>
          <a:p>
            <a:pPr algn="l">
              <a:spcAft>
                <a:spcPts val="800"/>
              </a:spcAft>
            </a:pPr>
            <a:r>
              <a:rPr sz="2000">
                <a:solidFill>
                  <a:srgbClr val="1E293B"/>
                </a:solidFill>
                <a:latin typeface="Calibri"/>
              </a:rPr>
              <a:t>🎮 Truy tìm toạ độ · GeoGebra 3D</a:t>
            </a:r>
          </a:p>
        </p:txBody>
      </p:sp>
      <p:sp>
        <p:nvSpPr>
          <p:cNvPr id="15" name="Rounded Rectangle 14"/>
          <p:cNvSpPr/>
          <p:nvPr/>
        </p:nvSpPr>
        <p:spPr>
          <a:xfrm>
            <a:off x="548640" y="347472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547872"/>
            <a:ext cx="1188720" cy="594360"/>
          </a:xfrm>
          <a:prstGeom prst="rect">
            <a:avLst/>
          </a:prstGeom>
          <a:noFill/>
        </p:spPr>
        <p:txBody>
          <a:bodyPr wrap="square" anchor="t" lIns="45720" rIns="45720">
            <a:spAutoFit/>
          </a:bodyPr>
          <a:lstStyle/>
          <a:p>
            <a:pPr algn="ctr">
              <a:spcAft>
                <a:spcPts val="800"/>
              </a:spcAft>
            </a:pPr>
            <a:r>
              <a:rPr sz="2400" b="1">
                <a:solidFill>
                  <a:srgbClr val="FFFFFF"/>
                </a:solidFill>
                <a:latin typeface="Calibri"/>
              </a:rPr>
              <a:t>T36</a:t>
            </a:r>
          </a:p>
        </p:txBody>
      </p:sp>
      <p:sp>
        <p:nvSpPr>
          <p:cNvPr id="17" name="TextBox 16"/>
          <p:cNvSpPr txBox="1"/>
          <p:nvPr/>
        </p:nvSpPr>
        <p:spPr>
          <a:xfrm>
            <a:off x="1920240" y="356616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Luyện tập: Bài tập 2.13 – 2.19; Em có biết? (toạ độ cầu)</a:t>
            </a:r>
          </a:p>
        </p:txBody>
      </p:sp>
      <p:sp>
        <p:nvSpPr>
          <p:cNvPr id="18" name="TextBox 17"/>
          <p:cNvSpPr txBox="1"/>
          <p:nvPr/>
        </p:nvSpPr>
        <p:spPr>
          <a:xfrm>
            <a:off x="8046720" y="3566160"/>
            <a:ext cx="3749039" cy="731520"/>
          </a:xfrm>
          <a:prstGeom prst="rect">
            <a:avLst/>
          </a:prstGeom>
          <a:noFill/>
        </p:spPr>
        <p:txBody>
          <a:bodyPr wrap="square" anchor="t" lIns="45720" rIns="45720">
            <a:spAutoFit/>
          </a:bodyPr>
          <a:lstStyle/>
          <a:p>
            <a:pPr algn="l">
              <a:spcAft>
                <a:spcPts val="800"/>
              </a:spcAft>
            </a:pPr>
            <a:r>
              <a:rPr sz="2000">
                <a:solidFill>
                  <a:srgbClr val="1E293B"/>
                </a:solidFill>
                <a:latin typeface="Calibri"/>
              </a:rPr>
              <a:t>🎮 Hộp quà bí mật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1 (T34)</a:t>
            </a:r>
          </a:p>
          <a:p>
            <a:pPr>
              <a:spcAft>
                <a:spcPts val="600"/>
              </a:spcAft>
            </a:pPr>
            <a:r>
              <a:rPr sz="4000" b="1">
                <a:solidFill>
                  <a:srgbClr val="FFFFFF"/>
                </a:solidFill>
                <a:latin typeface="Cambria"/>
              </a:rPr>
              <a:t>Hệ trục toạ độ. Toạ độ của điểm</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Nhận biết hệ toạ độ Oxyz, các mặt phẳng toạ độ.</a:t>
            </a:r>
          </a:p>
          <a:p>
            <a:pPr algn="l">
              <a:spcAft>
                <a:spcPts val="800"/>
              </a:spcAft>
            </a:pPr>
            <a:r>
              <a:rPr sz="2200">
                <a:solidFill>
                  <a:srgbClr val="E0E7FF"/>
                </a:solidFill>
                <a:latin typeface="Calibri"/>
              </a:rPr>
              <a:t>• Xác định toạ độ của điểm trong không gian.</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KHỞI ĐỘNG</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KHỞI ĐỘNG – VỊ TRÍ CHIẾC BÓNG ĐÈN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Hệ trục toạ độ trong không gian – Toán 12          5</a:t>
            </a:r>
          </a:p>
        </p:txBody>
      </p:sp>
      <p:sp>
        <p:nvSpPr>
          <p:cNvPr id="7" name="TextBox 6"/>
          <p:cNvSpPr txBox="1"/>
          <p:nvPr/>
        </p:nvSpPr>
        <p:spPr>
          <a:xfrm>
            <a:off x="548640" y="1417320"/>
            <a:ext cx="6583680" cy="3840480"/>
          </a:xfrm>
          <a:prstGeom prst="rect">
            <a:avLst/>
          </a:prstGeom>
          <a:noFill/>
        </p:spPr>
        <p:txBody>
          <a:bodyPr wrap="square" anchor="t" lIns="45720" rIns="45720">
            <a:spAutoFit/>
          </a:bodyPr>
          <a:lstStyle/>
          <a:p>
            <a:pPr algn="l">
              <a:spcAft>
                <a:spcPts val="800"/>
              </a:spcAft>
            </a:pPr>
            <a:r>
              <a:rPr sz="2200">
                <a:solidFill>
                  <a:srgbClr val="1E293B"/>
                </a:solidFill>
                <a:latin typeface="Calibri"/>
              </a:rPr>
              <a:t>Trong Hình 2.34, một chiếc bóng đèn được treo cách sàn nhà là 2 m, cách hai bức tường lần lượt là 1 m và 1,5 m. </a:t>
            </a:r>
            <a:r>
              <a:rPr sz="2200" b="1">
                <a:solidFill>
                  <a:srgbClr val="1E293B"/>
                </a:solidFill>
                <a:latin typeface="Calibri"/>
              </a:rPr>
              <a:t>Kiến thức toán học nào giúp mô tả chính xác và ngắn gọn vị trí của chiếc bóng đèn trong không gian?</a:t>
            </a:r>
          </a:p>
          <a:p>
            <a:pPr algn="l">
              <a:spcAft>
                <a:spcPts val="800"/>
              </a:spcAft>
            </a:pPr>
            <a:r>
              <a:rPr sz="2000">
                <a:solidFill>
                  <a:srgbClr val="64748B"/>
                </a:solidFill>
                <a:latin typeface="Calibri"/>
              </a:rPr>
              <a:t>(SGK Toán 12 tập một, tr.60)</a:t>
            </a:r>
          </a:p>
        </p:txBody>
      </p:sp>
      <p:sp>
        <p:nvSpPr>
          <p:cNvPr id="8" name="Rounded Rectangle 7">
            <a:hlinkClick r:id="rId3"/>
          </p:cNvPr>
          <p:cNvSpPr/>
          <p:nvPr/>
        </p:nvSpPr>
        <p:spPr>
          <a:xfrm>
            <a:off x="548640" y="5349240"/>
            <a:ext cx="3931920" cy="64008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VIDEO MỞ ĐẦU</a:t>
            </a:r>
          </a:p>
        </p:txBody>
      </p:sp>
      <p:pic>
        <p:nvPicPr>
          <p:cNvPr id="9" name="Picture 8" descr="qr_video.png"/>
          <p:cNvPicPr>
            <a:picLocks noChangeAspect="1"/>
          </p:cNvPicPr>
          <p:nvPr/>
        </p:nvPicPr>
        <p:blipFill>
          <a:blip r:embed="rId4"/>
          <a:stretch>
            <a:fillRect/>
          </a:stretch>
        </p:blipFill>
        <p:spPr>
          <a:xfrm>
            <a:off x="4663440" y="5074920"/>
            <a:ext cx="1188720" cy="1188720"/>
          </a:xfrm>
          <a:prstGeom prst="rect">
            <a:avLst/>
          </a:prstGeom>
        </p:spPr>
      </p:pic>
      <p:pic>
        <p:nvPicPr>
          <p:cNvPr id="10" name="Picture 9" descr="h234.png"/>
          <p:cNvPicPr>
            <a:picLocks noChangeAspect="1"/>
          </p:cNvPicPr>
          <p:nvPr/>
        </p:nvPicPr>
        <p:blipFill>
          <a:blip r:embed="rId5"/>
          <a:stretch>
            <a:fillRect/>
          </a:stretch>
        </p:blipFill>
        <p:spPr>
          <a:xfrm>
            <a:off x="7315200" y="1694365"/>
            <a:ext cx="4389120" cy="356070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1. HỆ TRỤC TOẠ ĐỘ TRONG KHÔNG GIAN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Hệ trục toạ độ trong không gian – Toán 12          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229600" cy="16977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HĐ1.</a:t>
                </a:r>
                <a:r>
                  <a:rPr sz="2000">
                    <a:solidFill>
                      <a:srgbClr val="1E293B"/>
                    </a:solidFill>
                    <a:latin typeface="Calibri"/>
                  </a:rPr>
                  <a:t> Trong không gian, xét ba trục </a:t>
                </a:r>
                <a14:m>
                  <m:oMath xmlns:m="http://schemas.openxmlformats.org/officeDocument/2006/math">
                    <m:r>
                      <a:rPr lang="vi-VN" sz="2000" b="0">
                        <a:solidFill>
                          <a:srgbClr val="1E293B"/>
                        </a:solidFill>
                        <a:latin typeface="Cambria Math" panose="02040503050406030204" pitchFamily="18" charset="0"/>
                      </a:rPr>
                      <m:t>Ox,</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Oy,</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Oz</m:t>
                    </m:r>
                  </m:oMath>
                </a14:m>
                <a:r>
                  <a:rPr sz="2000">
                    <a:solidFill>
                      <a:srgbClr val="1E293B"/>
                    </a:solidFill>
                    <a:latin typeface="Calibri"/>
                  </a:rPr>
                  <a:t> có chung gốc </a:t>
                </a:r>
                <a14:m>
                  <m:oMath xmlns:m="http://schemas.openxmlformats.org/officeDocument/2006/math">
                    <m:r>
                      <a:rPr lang="vi-VN" sz="2000" b="0">
                        <a:solidFill>
                          <a:srgbClr val="1E293B"/>
                        </a:solidFill>
                        <a:latin typeface="Cambria Math" panose="02040503050406030204" pitchFamily="18" charset="0"/>
                      </a:rPr>
                      <m:t>O</m:t>
                    </m:r>
                  </m:oMath>
                </a14:m>
                <a:r>
                  <a:rPr sz="2000">
                    <a:solidFill>
                      <a:srgbClr val="1E293B"/>
                    </a:solidFill>
                    <a:latin typeface="Calibri"/>
                  </a:rPr>
                  <a:t> và đôi một vuông góc với nhau. Gọi </a:t>
                </a:r>
                <a14:m>
                  <m:oMath xmlns:m="http://schemas.openxmlformats.org/officeDocument/2006/math">
                    <m:acc>
                      <m:accPr>
                        <m:chr m:val="⃗"/>
                      </m:accPr>
                      <m:e>
                        <m:r>
                          <a:rPr lang="vi-VN" sz="2000" b="0">
                            <a:solidFill>
                              <a:srgbClr val="1E293B"/>
                            </a:solidFill>
                            <a:latin typeface="Cambria Math" panose="02040503050406030204" pitchFamily="18" charset="0"/>
                          </a:rPr>
                          <m:t>i</m:t>
                        </m:r>
                      </m:e>
                    </m:acc>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acc>
                      <m:accPr>
                        <m:chr m:val="⃗"/>
                      </m:accPr>
                      <m:e>
                        <m:r>
                          <a:rPr lang="vi-VN" sz="2000" b="0">
                            <a:solidFill>
                              <a:srgbClr val="1E293B"/>
                            </a:solidFill>
                            <a:latin typeface="Cambria Math" panose="02040503050406030204" pitchFamily="18" charset="0"/>
                          </a:rPr>
                          <m:t>j</m:t>
                        </m:r>
                      </m:e>
                    </m:acc>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acc>
                      <m:accPr>
                        <m:chr m:val="⃗"/>
                      </m:accPr>
                      <m:e>
                        <m:r>
                          <a:rPr lang="vi-VN" sz="2000" b="0">
                            <a:solidFill>
                              <a:srgbClr val="1E293B"/>
                            </a:solidFill>
                            <a:latin typeface="Cambria Math" panose="02040503050406030204" pitchFamily="18" charset="0"/>
                          </a:rPr>
                          <m:t>k</m:t>
                        </m:r>
                      </m:e>
                    </m:acc>
                  </m:oMath>
                </a14:m>
                <a:r>
                  <a:rPr sz="2000">
                    <a:solidFill>
                      <a:srgbClr val="1E293B"/>
                    </a:solidFill>
                    <a:latin typeface="Calibri"/>
                  </a:rPr>
                  <a:t> là các vectơ đơn vị trên các trục đó (H.2.35). a) Gọi tên các mặt phẳng toạ độ có trong Hình 2.35. b) Các mặt phẳng toạ độ trong Hình 2.35 có đôi một vuông góc với nhau không?</a:t>
                </a:r>
              </a:p>
            </p:txBody>
          </p:sp>
        </mc:Choice>
        <mc:Fallback>
          <p:sp>
            <p:nvSpPr>
              <p:cNvPr id="7" name="TextBox 6"/>
              <p:cNvSpPr txBox="1"/>
              <p:nvPr/>
            </p:nvSpPr>
            <p:spPr>
              <a:xfrm>
                <a:off x="548640" y="1371600"/>
                <a:ext cx="8229600" cy="16977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HĐ1.</a:t>
                </a:r>
                <a:r>
                  <a:rPr sz="2000">
                    <a:solidFill>
                      <a:srgbClr val="1E293B"/>
                    </a:solidFill>
                    <a:latin typeface="Calibri"/>
                  </a:rPr>
                  <a:t> Trong không gian, xét ba trục </a:t>
                </a:r>
                <a:r>
                  <a:rPr lang="vi-VN"/>
                  <a:t>Ox,\ Oy,\ Oz</a:t>
                </a:r>
                <a:r>
                  <a:rPr sz="2000">
                    <a:solidFill>
                      <a:srgbClr val="1E293B"/>
                    </a:solidFill>
                    <a:latin typeface="Calibri"/>
                  </a:rPr>
                  <a:t> có chung gốc </a:t>
                </a:r>
                <a:r>
                  <a:rPr lang="vi-VN"/>
                  <a:t>O</a:t>
                </a:r>
                <a:r>
                  <a:rPr sz="2000">
                    <a:solidFill>
                      <a:srgbClr val="1E293B"/>
                    </a:solidFill>
                    <a:latin typeface="Calibri"/>
                  </a:rPr>
                  <a:t> và đôi một vuông góc với nhau. Gọi </a:t>
                </a:r>
                <a:r>
                  <a:rPr lang="vi-VN"/>
                  <a:t>\vec{i},\ \vec{j},\ \vec{k}</a:t>
                </a:r>
                <a:r>
                  <a:rPr sz="2000">
                    <a:solidFill>
                      <a:srgbClr val="1E293B"/>
                    </a:solidFill>
                    <a:latin typeface="Calibri"/>
                  </a:rPr>
                  <a:t> là các vectơ đơn vị trên các trục đó (H.2.35). a) Gọi tên các mặt phẳng toạ độ có trong Hình 2.35. b) Các mặt phẳng toạ độ trong Hình 2.35 có đôi một vuông góc với nhau không?</a:t>
                </a:r>
              </a:p>
            </p:txBody>
          </p:sp>
        </mc:Fallback>
      </mc:AlternateContent>
      <p:sp>
        <p:nvSpPr>
          <p:cNvPr id="8" name="s1_nen"/>
          <p:cNvSpPr/>
          <p:nvPr/>
        </p:nvSpPr>
        <p:spPr>
          <a:xfrm>
            <a:off x="548640" y="3160776"/>
            <a:ext cx="822960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197352"/>
                <a:ext cx="790041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14:m>
                  <m:oMath xmlns:m="http://schemas.openxmlformats.org/officeDocument/2006/math">
                    <m:d>
                      <m:dPr>
                        <m:sepChr m:val=""/>
                      </m:dPr>
                      <m:e>
                        <m:r>
                          <a:rPr lang="vi-VN" sz="2000" b="0">
                            <a:solidFill>
                              <a:srgbClr val="1E293B"/>
                            </a:solidFill>
                            <a:latin typeface="Cambria Math" panose="02040503050406030204" pitchFamily="18" charset="0"/>
                          </a:rPr>
                          <m:t>O</m:t>
                        </m:r>
                        <m:r>
                          <a:rPr lang="vi-VN" sz="2000" b="0">
                            <a:solidFill>
                              <a:srgbClr val="1E293B"/>
                            </a:solidFill>
                            <a:latin typeface="Cambria Math" panose="02040503050406030204" pitchFamily="18" charset="0"/>
                          </a:rPr>
                          <m:t>x</m:t>
                        </m:r>
                        <m:r>
                          <a:rPr lang="vi-VN" sz="2000" b="0">
                            <a:solidFill>
                              <a:srgbClr val="1E293B"/>
                            </a:solidFill>
                            <a:latin typeface="Cambria Math" panose="02040503050406030204" pitchFamily="18" charset="0"/>
                          </a:rPr>
                          <m:t>y</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O</m:t>
                        </m:r>
                        <m:r>
                          <a:rPr lang="vi-VN" sz="2000" b="0">
                            <a:solidFill>
                              <a:srgbClr val="1E293B"/>
                            </a:solidFill>
                            <a:latin typeface="Cambria Math" panose="02040503050406030204" pitchFamily="18" charset="0"/>
                          </a:rPr>
                          <m:t>y</m:t>
                        </m:r>
                        <m:r>
                          <a:rPr lang="vi-VN" sz="2000" b="0">
                            <a:solidFill>
                              <a:srgbClr val="1E293B"/>
                            </a:solidFill>
                            <a:latin typeface="Cambria Math" panose="02040503050406030204" pitchFamily="18" charset="0"/>
                          </a:rPr>
                          <m:t>z</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O</m:t>
                        </m:r>
                        <m:r>
                          <a:rPr lang="vi-VN" sz="2000" b="0">
                            <a:solidFill>
                              <a:srgbClr val="1E293B"/>
                            </a:solidFill>
                            <a:latin typeface="Cambria Math" panose="02040503050406030204" pitchFamily="18" charset="0"/>
                          </a:rPr>
                          <m:t>z</m:t>
                        </m:r>
                        <m:r>
                          <a:rPr lang="vi-VN" sz="2000" b="0">
                            <a:solidFill>
                              <a:srgbClr val="1E293B"/>
                            </a:solidFill>
                            <a:latin typeface="Cambria Math" panose="02040503050406030204" pitchFamily="18" charset="0"/>
                          </a:rPr>
                          <m:t>x</m:t>
                        </m:r>
                      </m:e>
                    </m:d>
                  </m:oMath>
                </a14:m>
                <a:r>
                  <a:rPr sz="2000">
                    <a:solidFill>
                      <a:srgbClr val="1E293B"/>
                    </a:solidFill>
                    <a:latin typeface="Calibri"/>
                  </a:rPr>
                  <a:t>. b) Có – ba mặt phẳng toạ độ đôi một vuông góc.</a:t>
                </a:r>
              </a:p>
            </p:txBody>
          </p:sp>
        </mc:Choice>
        <mc:Fallback>
          <p:sp>
            <p:nvSpPr>
              <p:cNvPr id="9" name="TextBox 8"/>
              <p:cNvSpPr txBox="1"/>
              <p:nvPr/>
            </p:nvSpPr>
            <p:spPr>
              <a:xfrm>
                <a:off x="713232" y="3197352"/>
                <a:ext cx="790041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r>
                  <a:rPr lang="vi-VN"/>
                  <a:t>(Oxy),\ (Oyz),\ (Ozx)</a:t>
                </a:r>
                <a:r>
                  <a:rPr sz="2000">
                    <a:solidFill>
                      <a:srgbClr val="1E293B"/>
                    </a:solidFill>
                    <a:latin typeface="Calibri"/>
                  </a:rPr>
                  <a:t>. b) Có – ba mặt phẳng toạ độ đôi một vuông góc.</a:t>
                </a:r>
              </a:p>
            </p:txBody>
          </p:sp>
        </mc:Fallback>
      </mc:AlternateContent>
      <p:sp>
        <p:nvSpPr>
          <p:cNvPr id="10" name="Rounded Rectangle 9"/>
          <p:cNvSpPr/>
          <p:nvPr/>
        </p:nvSpPr>
        <p:spPr>
          <a:xfrm>
            <a:off x="548640" y="4126992"/>
            <a:ext cx="8229600" cy="2093976"/>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713232" y="4163568"/>
                <a:ext cx="7900416" cy="2020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Ba trục </a:t>
                </a:r>
                <a14:m>
                  <m:oMath xmlns:m="http://schemas.openxmlformats.org/officeDocument/2006/math">
                    <m:r>
                      <a:rPr lang="vi-VN" sz="2000" b="0">
                        <a:solidFill>
                          <a:srgbClr val="1E293B"/>
                        </a:solidFill>
                        <a:latin typeface="Cambria Math" panose="02040503050406030204" pitchFamily="18" charset="0"/>
                      </a:rPr>
                      <m:t>Ox,</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Oy,</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Oz</m:t>
                    </m:r>
                  </m:oMath>
                </a14:m>
                <a:r>
                  <a:rPr sz="2000">
                    <a:solidFill>
                      <a:srgbClr val="1E293B"/>
                    </a:solidFill>
                    <a:latin typeface="Calibri"/>
                  </a:rPr>
                  <a:t> đôi một vuông góc với nhau tại gốc </a:t>
                </a:r>
                <a14:m>
                  <m:oMath xmlns:m="http://schemas.openxmlformats.org/officeDocument/2006/math">
                    <m:r>
                      <a:rPr lang="vi-VN" sz="2000" b="0">
                        <a:solidFill>
                          <a:srgbClr val="1E293B"/>
                        </a:solidFill>
                        <a:latin typeface="Cambria Math" panose="02040503050406030204" pitchFamily="18" charset="0"/>
                      </a:rPr>
                      <m:t>O</m:t>
                    </m:r>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i</m:t>
                        </m:r>
                      </m:e>
                    </m:acc>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acc>
                      <m:accPr>
                        <m:chr m:val="⃗"/>
                      </m:accPr>
                      <m:e>
                        <m:r>
                          <a:rPr lang="vi-VN" sz="2000" b="0">
                            <a:solidFill>
                              <a:srgbClr val="1E293B"/>
                            </a:solidFill>
                            <a:latin typeface="Cambria Math" panose="02040503050406030204" pitchFamily="18" charset="0"/>
                          </a:rPr>
                          <m:t>j</m:t>
                        </m:r>
                      </m:e>
                    </m:acc>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acc>
                      <m:accPr>
                        <m:chr m:val="⃗"/>
                      </m:accPr>
                      <m:e>
                        <m:r>
                          <a:rPr lang="vi-VN" sz="2000" b="0">
                            <a:solidFill>
                              <a:srgbClr val="1E293B"/>
                            </a:solidFill>
                            <a:latin typeface="Cambria Math" panose="02040503050406030204" pitchFamily="18" charset="0"/>
                          </a:rPr>
                          <m:t>k</m:t>
                        </m:r>
                      </m:e>
                    </m:acc>
                  </m:oMath>
                </a14:m>
                <a:r>
                  <a:rPr sz="2000">
                    <a:solidFill>
                      <a:srgbClr val="1E293B"/>
                    </a:solidFill>
                    <a:latin typeface="Calibri"/>
                  </a:rPr>
                  <a:t> lần lượt là các vectơ đơn vị trên các trục. Hệ ba trục như vậy được gọi là </a:t>
                </a:r>
                <a:r>
                  <a:rPr sz="2000" b="1">
                    <a:solidFill>
                      <a:srgbClr val="1E293B"/>
                    </a:solidFill>
                    <a:latin typeface="Calibri"/>
                  </a:rPr>
                  <a:t>hệ trục toạ độ Descartes vuông góc</a:t>
                </a:r>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Oxyz</m:t>
                    </m:r>
                  </m:oMath>
                </a14:m>
                <a:r>
                  <a:rPr sz="2000">
                    <a:solidFill>
                      <a:srgbClr val="1E293B"/>
                    </a:solidFill>
                    <a:latin typeface="Calibri"/>
                  </a:rPr>
                  <a:t>, hay đơn giản là </a:t>
                </a:r>
                <a:r>
                  <a:rPr sz="2000" b="1">
                    <a:solidFill>
                      <a:srgbClr val="1E293B"/>
                    </a:solidFill>
                    <a:latin typeface="Calibri"/>
                  </a:rPr>
                  <a:t>hệ toạ độ</a:t>
                </a:r>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Oxyz</m:t>
                    </m:r>
                  </m:oMath>
                </a14:m>
                <a:r>
                  <a:rPr sz="2000">
                    <a:solidFill>
                      <a:srgbClr val="1E293B"/>
                    </a:solidFill>
                    <a:latin typeface="Calibri"/>
                  </a:rPr>
                  <a:t>. Điểm </a:t>
                </a:r>
                <a14:m>
                  <m:oMath xmlns:m="http://schemas.openxmlformats.org/officeDocument/2006/math">
                    <m:r>
                      <a:rPr lang="vi-VN" sz="2000" b="0">
                        <a:solidFill>
                          <a:srgbClr val="1E293B"/>
                        </a:solidFill>
                        <a:latin typeface="Cambria Math" panose="02040503050406030204" pitchFamily="18" charset="0"/>
                      </a:rPr>
                      <m:t>O</m:t>
                    </m:r>
                  </m:oMath>
                </a14:m>
                <a:r>
                  <a:rPr sz="2000">
                    <a:solidFill>
                      <a:srgbClr val="1E293B"/>
                    </a:solidFill>
                    <a:latin typeface="Calibri"/>
                  </a:rPr>
                  <a:t>: </a:t>
                </a:r>
                <a:r>
                  <a:rPr sz="2000" b="1">
                    <a:solidFill>
                      <a:srgbClr val="1E293B"/>
                    </a:solidFill>
                    <a:latin typeface="Calibri"/>
                  </a:rPr>
                  <a:t>gốc toạ độ</a:t>
                </a:r>
                <a:r>
                  <a:rPr sz="2000">
                    <a:solidFill>
                      <a:srgbClr val="1E293B"/>
                    </a:solidFill>
                    <a:latin typeface="Calibri"/>
                  </a:rPr>
                  <a:t>. Các mặt phẳng </a:t>
                </a:r>
                <a14:m>
                  <m:oMath xmlns:m="http://schemas.openxmlformats.org/officeDocument/2006/math">
                    <m:d>
                      <m:dPr>
                        <m:sepChr m:val=""/>
                      </m:dPr>
                      <m:e>
                        <m:r>
                          <a:rPr lang="vi-VN" sz="2000" b="0">
                            <a:solidFill>
                              <a:srgbClr val="1E293B"/>
                            </a:solidFill>
                            <a:latin typeface="Cambria Math" panose="02040503050406030204" pitchFamily="18" charset="0"/>
                          </a:rPr>
                          <m:t>O</m:t>
                        </m:r>
                        <m:r>
                          <a:rPr lang="vi-VN" sz="2000" b="0">
                            <a:solidFill>
                              <a:srgbClr val="1E293B"/>
                            </a:solidFill>
                            <a:latin typeface="Cambria Math" panose="02040503050406030204" pitchFamily="18" charset="0"/>
                          </a:rPr>
                          <m:t>x</m:t>
                        </m:r>
                        <m:r>
                          <a:rPr lang="vi-VN" sz="2000" b="0">
                            <a:solidFill>
                              <a:srgbClr val="1E293B"/>
                            </a:solidFill>
                            <a:latin typeface="Cambria Math" panose="02040503050406030204" pitchFamily="18" charset="0"/>
                          </a:rPr>
                          <m:t>y</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O</m:t>
                        </m:r>
                        <m:r>
                          <a:rPr lang="vi-VN" sz="2000" b="0">
                            <a:solidFill>
                              <a:srgbClr val="1E293B"/>
                            </a:solidFill>
                            <a:latin typeface="Cambria Math" panose="02040503050406030204" pitchFamily="18" charset="0"/>
                          </a:rPr>
                          <m:t>y</m:t>
                        </m:r>
                        <m:r>
                          <a:rPr lang="vi-VN" sz="2000" b="0">
                            <a:solidFill>
                              <a:srgbClr val="1E293B"/>
                            </a:solidFill>
                            <a:latin typeface="Cambria Math" panose="02040503050406030204" pitchFamily="18" charset="0"/>
                          </a:rPr>
                          <m:t>z</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O</m:t>
                        </m:r>
                        <m:r>
                          <a:rPr lang="vi-VN" sz="2000" b="0">
                            <a:solidFill>
                              <a:srgbClr val="1E293B"/>
                            </a:solidFill>
                            <a:latin typeface="Cambria Math" panose="02040503050406030204" pitchFamily="18" charset="0"/>
                          </a:rPr>
                          <m:t>z</m:t>
                        </m:r>
                        <m:r>
                          <a:rPr lang="vi-VN" sz="2000" b="0">
                            <a:solidFill>
                              <a:srgbClr val="1E293B"/>
                            </a:solidFill>
                            <a:latin typeface="Cambria Math" panose="02040503050406030204" pitchFamily="18" charset="0"/>
                          </a:rPr>
                          <m:t>x</m:t>
                        </m:r>
                      </m:e>
                    </m:d>
                  </m:oMath>
                </a14:m>
                <a:r>
                  <a:rPr sz="2000">
                    <a:solidFill>
                      <a:srgbClr val="1E293B"/>
                    </a:solidFill>
                    <a:latin typeface="Calibri"/>
                  </a:rPr>
                  <a:t>: các </a:t>
                </a:r>
                <a:r>
                  <a:rPr sz="2000" b="1">
                    <a:solidFill>
                      <a:srgbClr val="1E293B"/>
                    </a:solidFill>
                    <a:latin typeface="Calibri"/>
                  </a:rPr>
                  <a:t>mặt phẳng toạ độ</a:t>
                </a:r>
                <a:r>
                  <a:rPr sz="2000">
                    <a:solidFill>
                      <a:srgbClr val="1E293B"/>
                    </a:solidFill>
                    <a:latin typeface="Calibri"/>
                  </a:rPr>
                  <a:t>. Không gian với hệ toạ độ </a:t>
                </a:r>
                <a14:m>
                  <m:oMath xmlns:m="http://schemas.openxmlformats.org/officeDocument/2006/math">
                    <m:r>
                      <a:rPr lang="vi-VN" sz="2000" b="0">
                        <a:solidFill>
                          <a:srgbClr val="1E293B"/>
                        </a:solidFill>
                        <a:latin typeface="Cambria Math" panose="02040503050406030204" pitchFamily="18" charset="0"/>
                      </a:rPr>
                      <m:t>Oxyz</m:t>
                    </m:r>
                  </m:oMath>
                </a14:m>
                <a:r>
                  <a:rPr sz="2000">
                    <a:solidFill>
                      <a:srgbClr val="1E293B"/>
                    </a:solidFill>
                    <a:latin typeface="Calibri"/>
                  </a:rPr>
                  <a:t> còn gọi là </a:t>
                </a:r>
                <a:r>
                  <a:rPr sz="2000" b="1">
                    <a:solidFill>
                      <a:srgbClr val="1E293B"/>
                    </a:solidFill>
                    <a:latin typeface="Calibri"/>
                  </a:rPr>
                  <a:t>không gian</a:t>
                </a:r>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Oxyz</m:t>
                    </m:r>
                  </m:oMath>
                </a14:m>
                <a:r>
                  <a:rPr sz="2000">
                    <a:solidFill>
                      <a:srgbClr val="1E293B"/>
                    </a:solidFill>
                    <a:latin typeface="Calibri"/>
                  </a:rPr>
                  <a:t>.</a:t>
                </a:r>
              </a:p>
            </p:txBody>
          </p:sp>
        </mc:Choice>
        <mc:Fallback>
          <p:sp>
            <p:nvSpPr>
              <p:cNvPr id="11" name="TextBox 10"/>
              <p:cNvSpPr txBox="1"/>
              <p:nvPr/>
            </p:nvSpPr>
            <p:spPr>
              <a:xfrm>
                <a:off x="713232" y="4163568"/>
                <a:ext cx="7900416" cy="2020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Ba trục </a:t>
                </a:r>
                <a:r>
                  <a:rPr lang="vi-VN"/>
                  <a:t>Ox,\ Oy,\ Oz</a:t>
                </a:r>
                <a:r>
                  <a:rPr sz="2000">
                    <a:solidFill>
                      <a:srgbClr val="1E293B"/>
                    </a:solidFill>
                    <a:latin typeface="Calibri"/>
                  </a:rPr>
                  <a:t> đôi một vuông góc với nhau tại gốc </a:t>
                </a:r>
                <a:r>
                  <a:rPr lang="vi-VN"/>
                  <a:t>O</a:t>
                </a:r>
                <a:r>
                  <a:rPr sz="2000">
                    <a:solidFill>
                      <a:srgbClr val="1E293B"/>
                    </a:solidFill>
                    <a:latin typeface="Calibri"/>
                  </a:rPr>
                  <a:t>; </a:t>
                </a:r>
                <a:r>
                  <a:rPr lang="vi-VN"/>
                  <a:t>\vec{i},\ \vec{j},\ \vec{k}</a:t>
                </a:r>
                <a:r>
                  <a:rPr sz="2000">
                    <a:solidFill>
                      <a:srgbClr val="1E293B"/>
                    </a:solidFill>
                    <a:latin typeface="Calibri"/>
                  </a:rPr>
                  <a:t> lần lượt là các vectơ đơn vị trên các trục. Hệ ba trục như vậy được gọi là </a:t>
                </a:r>
                <a:r>
                  <a:rPr sz="2000" b="1">
                    <a:solidFill>
                      <a:srgbClr val="1E293B"/>
                    </a:solidFill>
                    <a:latin typeface="Calibri"/>
                  </a:rPr>
                  <a:t>hệ trục toạ độ Descartes vuông góc</a:t>
                </a:r>
                <a:r>
                  <a:rPr sz="2000">
                    <a:solidFill>
                      <a:srgbClr val="1E293B"/>
                    </a:solidFill>
                    <a:latin typeface="Calibri"/>
                  </a:rPr>
                  <a:t> </a:t>
                </a:r>
                <a:r>
                  <a:rPr lang="vi-VN"/>
                  <a:t>Oxyz</a:t>
                </a:r>
                <a:r>
                  <a:rPr sz="2000">
                    <a:solidFill>
                      <a:srgbClr val="1E293B"/>
                    </a:solidFill>
                    <a:latin typeface="Calibri"/>
                  </a:rPr>
                  <a:t>, hay đơn giản là </a:t>
                </a:r>
                <a:r>
                  <a:rPr sz="2000" b="1">
                    <a:solidFill>
                      <a:srgbClr val="1E293B"/>
                    </a:solidFill>
                    <a:latin typeface="Calibri"/>
                  </a:rPr>
                  <a:t>hệ toạ độ</a:t>
                </a:r>
                <a:r>
                  <a:rPr sz="2000">
                    <a:solidFill>
                      <a:srgbClr val="1E293B"/>
                    </a:solidFill>
                    <a:latin typeface="Calibri"/>
                  </a:rPr>
                  <a:t> </a:t>
                </a:r>
                <a:r>
                  <a:rPr lang="vi-VN"/>
                  <a:t>Oxyz</a:t>
                </a:r>
                <a:r>
                  <a:rPr sz="2000">
                    <a:solidFill>
                      <a:srgbClr val="1E293B"/>
                    </a:solidFill>
                    <a:latin typeface="Calibri"/>
                  </a:rPr>
                  <a:t>. Điểm </a:t>
                </a:r>
                <a:r>
                  <a:rPr lang="vi-VN"/>
                  <a:t>O</a:t>
                </a:r>
                <a:r>
                  <a:rPr sz="2000">
                    <a:solidFill>
                      <a:srgbClr val="1E293B"/>
                    </a:solidFill>
                    <a:latin typeface="Calibri"/>
                  </a:rPr>
                  <a:t>: </a:t>
                </a:r>
                <a:r>
                  <a:rPr sz="2000" b="1">
                    <a:solidFill>
                      <a:srgbClr val="1E293B"/>
                    </a:solidFill>
                    <a:latin typeface="Calibri"/>
                  </a:rPr>
                  <a:t>gốc toạ độ</a:t>
                </a:r>
                <a:r>
                  <a:rPr sz="2000">
                    <a:solidFill>
                      <a:srgbClr val="1E293B"/>
                    </a:solidFill>
                    <a:latin typeface="Calibri"/>
                  </a:rPr>
                  <a:t>. Các mặt phẳng </a:t>
                </a:r>
                <a:r>
                  <a:rPr lang="vi-VN"/>
                  <a:t>(Oxy),\ (Oyz),\ (Ozx)</a:t>
                </a:r>
                <a:r>
                  <a:rPr sz="2000">
                    <a:solidFill>
                      <a:srgbClr val="1E293B"/>
                    </a:solidFill>
                    <a:latin typeface="Calibri"/>
                  </a:rPr>
                  <a:t>: các </a:t>
                </a:r>
                <a:r>
                  <a:rPr sz="2000" b="1">
                    <a:solidFill>
                      <a:srgbClr val="1E293B"/>
                    </a:solidFill>
                    <a:latin typeface="Calibri"/>
                  </a:rPr>
                  <a:t>mặt phẳng toạ độ</a:t>
                </a:r>
                <a:r>
                  <a:rPr sz="2000">
                    <a:solidFill>
                      <a:srgbClr val="1E293B"/>
                    </a:solidFill>
                    <a:latin typeface="Calibri"/>
                  </a:rPr>
                  <a:t>. Không gian với hệ toạ độ </a:t>
                </a:r>
                <a:r>
                  <a:rPr lang="vi-VN"/>
                  <a:t>Oxyz</a:t>
                </a:r>
                <a:r>
                  <a:rPr sz="2000">
                    <a:solidFill>
                      <a:srgbClr val="1E293B"/>
                    </a:solidFill>
                    <a:latin typeface="Calibri"/>
                  </a:rPr>
                  <a:t> còn gọi là </a:t>
                </a:r>
                <a:r>
                  <a:rPr sz="2000" b="1">
                    <a:solidFill>
                      <a:srgbClr val="1E293B"/>
                    </a:solidFill>
                    <a:latin typeface="Calibri"/>
                  </a:rPr>
                  <a:t>không gian</a:t>
                </a:r>
                <a:r>
                  <a:rPr sz="2000">
                    <a:solidFill>
                      <a:srgbClr val="1E293B"/>
                    </a:solidFill>
                    <a:latin typeface="Calibri"/>
                  </a:rPr>
                  <a:t> </a:t>
                </a:r>
                <a:r>
                  <a:rPr lang="vi-VN"/>
                  <a:t>Oxyz</a:t>
                </a:r>
                <a:r>
                  <a:rPr sz="2000">
                    <a:solidFill>
                      <a:srgbClr val="1E293B"/>
                    </a:solidFill>
                    <a:latin typeface="Calibri"/>
                  </a:rPr>
                  <a:t>.</a:t>
                </a:r>
              </a:p>
            </p:txBody>
          </p:sp>
        </mc:Fallback>
      </mc:AlternateContent>
      <p:pic>
        <p:nvPicPr>
          <p:cNvPr id="12" name="Picture 11" descr="h235.png"/>
          <p:cNvPicPr>
            <a:picLocks noChangeAspect="1"/>
          </p:cNvPicPr>
          <p:nvPr/>
        </p:nvPicPr>
        <p:blipFill>
          <a:blip r:embed="rId3"/>
          <a:stretch>
            <a:fillRect/>
          </a:stretch>
        </p:blipFill>
        <p:spPr>
          <a:xfrm>
            <a:off x="8961120" y="1616364"/>
            <a:ext cx="2743200" cy="225367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1 (SGK TR.61)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Hệ trục toạ độ trong không gian – Toán 12          7</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595360" cy="1088136"/>
              </a:xfrm>
              <a:prstGeom prst="rect">
                <a:avLst/>
              </a:prstGeom>
              <a:noFill/>
            </p:spPr>
            <p:txBody>
              <a:bodyPr wrap="square" anchor="t" lIns="45720" rIns="45720">
                <a:spAutoFit/>
              </a:bodyPr>
              <a:lstStyle/>
              <a:p>
                <a:pPr algn="l">
                  <a:spcAft>
                    <a:spcPts val="800"/>
                  </a:spcAft>
                </a:pPr>
                <a:r>
                  <a:rPr sz="2000">
                    <a:solidFill>
                      <a:srgbClr val="1E293B"/>
                    </a:solidFill>
                    <a:latin typeface="Calibri"/>
                  </a:rPr>
                  <a:t>❓ Góc căn phòng trong Hình 2.34 có gợi lên hình ảnh về hệ toạ độ </a:t>
                </a:r>
                <a14:m>
                  <m:oMath xmlns:m="http://schemas.openxmlformats.org/officeDocument/2006/math">
                    <m:r>
                      <a:rPr lang="vi-VN" sz="2000" b="0">
                        <a:solidFill>
                          <a:srgbClr val="1E293B"/>
                        </a:solidFill>
                        <a:latin typeface="Cambria Math" panose="02040503050406030204" pitchFamily="18" charset="0"/>
                      </a:rPr>
                      <m:t>Oxyz</m:t>
                    </m:r>
                  </m:oMath>
                </a14:m>
                <a:r>
                  <a:rPr sz="2000">
                    <a:solidFill>
                      <a:srgbClr val="1E293B"/>
                    </a:solidFill>
                    <a:latin typeface="Calibri"/>
                  </a:rPr>
                  <a:t> trong không gian hay không? Nếu có, hãy mô tả gốc toạ độ và các mặt phẳng toạ độ.</a:t>
                </a:r>
              </a:p>
            </p:txBody>
          </p:sp>
        </mc:Choice>
        <mc:Fallback>
          <p:sp>
            <p:nvSpPr>
              <p:cNvPr id="7" name="TextBox 6"/>
              <p:cNvSpPr txBox="1"/>
              <p:nvPr/>
            </p:nvSpPr>
            <p:spPr>
              <a:xfrm>
                <a:off x="548640" y="1371600"/>
                <a:ext cx="8595360" cy="1088136"/>
              </a:xfrm>
              <a:prstGeom prst="rect">
                <a:avLst/>
              </a:prstGeom>
              <a:noFill/>
            </p:spPr>
            <p:txBody>
              <a:bodyPr wrap="square" anchor="t" lIns="45720" rIns="45720">
                <a:spAutoFit/>
              </a:bodyPr>
              <a:lstStyle/>
              <a:p>
                <a:pPr algn="l">
                  <a:spcAft>
                    <a:spcPts val="800"/>
                  </a:spcAft>
                </a:pPr>
                <a:r>
                  <a:rPr sz="2000">
                    <a:solidFill>
                      <a:srgbClr val="1E293B"/>
                    </a:solidFill>
                    <a:latin typeface="Calibri"/>
                  </a:rPr>
                  <a:t>❓ Góc căn phòng trong Hình 2.34 có gợi lên hình ảnh về hệ toạ độ </a:t>
                </a:r>
                <a:r>
                  <a:rPr lang="vi-VN"/>
                  <a:t>Oxyz</a:t>
                </a:r>
                <a:r>
                  <a:rPr sz="2000">
                    <a:solidFill>
                      <a:srgbClr val="1E293B"/>
                    </a:solidFill>
                    <a:latin typeface="Calibri"/>
                  </a:rPr>
                  <a:t> trong không gian hay không? Nếu có, hãy mô tả gốc toạ độ và các mặt phẳng toạ độ.</a:t>
                </a:r>
              </a:p>
            </p:txBody>
          </p:sp>
        </mc:Fallback>
      </mc:AlternateContent>
      <p:sp>
        <p:nvSpPr>
          <p:cNvPr id="8" name="s1_nen"/>
          <p:cNvSpPr/>
          <p:nvPr/>
        </p:nvSpPr>
        <p:spPr>
          <a:xfrm>
            <a:off x="548640" y="2532888"/>
            <a:ext cx="859536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569464"/>
                <a:ext cx="826617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Có. Gốc </a:t>
                </a:r>
                <a14:m>
                  <m:oMath xmlns:m="http://schemas.openxmlformats.org/officeDocument/2006/math">
                    <m:r>
                      <a:rPr lang="vi-VN" sz="2000" b="0">
                        <a:solidFill>
                          <a:srgbClr val="1E293B"/>
                        </a:solidFill>
                        <a:latin typeface="Cambria Math" panose="02040503050406030204" pitchFamily="18" charset="0"/>
                      </a:rPr>
                      <m:t>O</m:t>
                    </m:r>
                  </m:oMath>
                </a14:m>
                <a:r>
                  <a:rPr sz="2000">
                    <a:solidFill>
                      <a:srgbClr val="1E293B"/>
                    </a:solidFill>
                    <a:latin typeface="Calibri"/>
                  </a:rPr>
                  <a:t>: góc nhà (giao của hai bức tường và sàn); các mặt phẳng toạ độ: sàn nhà và hai bức tường.</a:t>
                </a:r>
              </a:p>
            </p:txBody>
          </p:sp>
        </mc:Choice>
        <mc:Fallback>
          <p:sp>
            <p:nvSpPr>
              <p:cNvPr id="9" name="TextBox 8"/>
              <p:cNvSpPr txBox="1"/>
              <p:nvPr/>
            </p:nvSpPr>
            <p:spPr>
              <a:xfrm>
                <a:off x="713232" y="2569464"/>
                <a:ext cx="826617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Có. Gốc </a:t>
                </a:r>
                <a:r>
                  <a:rPr lang="vi-VN"/>
                  <a:t>O</a:t>
                </a:r>
                <a:r>
                  <a:rPr sz="2000">
                    <a:solidFill>
                      <a:srgbClr val="1E293B"/>
                    </a:solidFill>
                    <a:latin typeface="Calibri"/>
                  </a:rPr>
                  <a:t>: góc nhà (giao của hai bức tường và sàn); các mặt phẳng toạ độ: sàn nhà và hai bức tường.</a:t>
                </a:r>
              </a:p>
            </p:txBody>
          </p:sp>
        </mc:Fallback>
      </mc:AlternateContent>
      <mc:AlternateContent xmlns:mc="http://schemas.openxmlformats.org/markup-compatibility/2006">
        <mc:Choice xmlns:a14="http://schemas.microsoft.com/office/drawing/2010/main" Requires="a14">
          <p:sp>
            <p:nvSpPr>
              <p:cNvPr id="10" name="TextBox 9"/>
              <p:cNvSpPr txBox="1"/>
              <p:nvPr/>
            </p:nvSpPr>
            <p:spPr>
              <a:xfrm>
                <a:off x="548640" y="3480816"/>
                <a:ext cx="8595360" cy="13929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Ví dụ 1.</a:t>
                </a:r>
                <a:r>
                  <a:rPr sz="2000">
                    <a:solidFill>
                      <a:srgbClr val="1E293B"/>
                    </a:solidFill>
                    <a:latin typeface="Calibri"/>
                  </a:rPr>
                  <a:t> Cho hình lập phương </a:t>
                </a:r>
                <a14:m>
                  <m:oMath xmlns:m="http://schemas.openxmlformats.org/officeDocument/2006/math">
                    <m:r>
                      <a:rPr lang="vi-VN" sz="2000" b="0">
                        <a:solidFill>
                          <a:srgbClr val="1E293B"/>
                        </a:solidFill>
                        <a:latin typeface="Cambria Math" panose="02040503050406030204" pitchFamily="18" charset="0"/>
                      </a:rPr>
                      <m:t>ABCD.</m:t>
                    </m:r>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D</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có độ dài mỗi cạnh bằng 1 (H.2.36). Có thể lập một hệ toạ độ </a:t>
                </a:r>
                <a14:m>
                  <m:oMath xmlns:m="http://schemas.openxmlformats.org/officeDocument/2006/math">
                    <m:r>
                      <a:rPr lang="vi-VN" sz="2000" b="0">
                        <a:solidFill>
                          <a:srgbClr val="1E293B"/>
                        </a:solidFill>
                        <a:latin typeface="Cambria Math" panose="02040503050406030204" pitchFamily="18" charset="0"/>
                      </a:rPr>
                      <m:t>Oxyz</m:t>
                    </m:r>
                  </m:oMath>
                </a14:m>
                <a:r>
                  <a:rPr sz="2000">
                    <a:solidFill>
                      <a:srgbClr val="1E293B"/>
                    </a:solidFill>
                    <a:latin typeface="Calibri"/>
                  </a:rPr>
                  <a:t> có gốc </a:t>
                </a:r>
                <a14:m>
                  <m:oMath xmlns:m="http://schemas.openxmlformats.org/officeDocument/2006/math">
                    <m:r>
                      <a:rPr lang="vi-VN" sz="2000" b="0">
                        <a:solidFill>
                          <a:srgbClr val="1E293B"/>
                        </a:solidFill>
                        <a:latin typeface="Cambria Math" panose="02040503050406030204" pitchFamily="18" charset="0"/>
                      </a:rPr>
                      <m:t>O</m:t>
                    </m:r>
                  </m:oMath>
                </a14:m>
                <a:r>
                  <a:rPr sz="2000">
                    <a:solidFill>
                      <a:srgbClr val="1E293B"/>
                    </a:solidFill>
                    <a:latin typeface="Calibri"/>
                  </a:rPr>
                  <a:t> trùng với đỉnh </a:t>
                </a:r>
                <a14:m>
                  <m:oMath xmlns:m="http://schemas.openxmlformats.org/officeDocument/2006/math">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và các vectơ </a:t>
                </a:r>
                <a14:m>
                  <m:oMath xmlns:m="http://schemas.openxmlformats.org/officeDocument/2006/math">
                    <m:acc>
                      <m:accPr>
                        <m:chr m:val="⃗"/>
                      </m:accPr>
                      <m:e>
                        <m:r>
                          <a:rPr lang="vi-VN" sz="2000" b="0">
                            <a:solidFill>
                              <a:srgbClr val="1E293B"/>
                            </a:solidFill>
                            <a:latin typeface="Cambria Math" panose="02040503050406030204" pitchFamily="18" charset="0"/>
                          </a:rPr>
                          <m:t>i</m:t>
                        </m:r>
                      </m:e>
                    </m:acc>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acc>
                      <m:accPr>
                        <m:chr m:val="⃗"/>
                      </m:accPr>
                      <m:e>
                        <m:r>
                          <a:rPr lang="vi-VN" sz="2000" b="0">
                            <a:solidFill>
                              <a:srgbClr val="1E293B"/>
                            </a:solidFill>
                            <a:latin typeface="Cambria Math" panose="02040503050406030204" pitchFamily="18" charset="0"/>
                          </a:rPr>
                          <m:t>j</m:t>
                        </m:r>
                      </m:e>
                    </m:acc>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acc>
                      <m:accPr>
                        <m:chr m:val="⃗"/>
                      </m:accPr>
                      <m:e>
                        <m:r>
                          <a:rPr lang="vi-VN" sz="2000" b="0">
                            <a:solidFill>
                              <a:srgbClr val="1E293B"/>
                            </a:solidFill>
                            <a:latin typeface="Cambria Math" panose="02040503050406030204" pitchFamily="18" charset="0"/>
                          </a:rPr>
                          <m:t>k</m:t>
                        </m:r>
                      </m:e>
                    </m:acc>
                  </m:oMath>
                </a14:m>
                <a:r>
                  <a:rPr sz="2000">
                    <a:solidFill>
                      <a:srgbClr val="1E293B"/>
                    </a:solidFill>
                    <a:latin typeface="Calibri"/>
                  </a:rPr>
                  <a:t> lần lượt là các vectơ </a:t>
                </a:r>
                <a14:m>
                  <m:oMath xmlns:m="http://schemas.openxmlformats.org/officeDocument/2006/math">
                    <m:acc>
                      <m:accPr>
                        <m:chr m:val="⃗"/>
                      </m:accPr>
                      <m:e>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e>
                    </m:acc>
                  </m:oMath>
                </a14:m>
                <a:r>
                  <a:rPr sz="2000">
                    <a:solidFill>
                      <a:srgbClr val="1E293B"/>
                    </a:solidFill>
                    <a:latin typeface="Calibri"/>
                  </a:rPr>
                  <a:t>, </a:t>
                </a:r>
                <a14:m>
                  <m:oMath xmlns:m="http://schemas.openxmlformats.org/officeDocument/2006/math">
                    <m:acc>
                      <m:accPr>
                        <m:chr m:val="⃗"/>
                      </m:accPr>
                      <m:e>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e>
                    </m:acc>
                  </m:oMath>
                </a14:m>
                <a:r>
                  <a:rPr sz="2000">
                    <a:solidFill>
                      <a:srgbClr val="1E293B"/>
                    </a:solidFill>
                    <a:latin typeface="Calibri"/>
                  </a:rPr>
                  <a:t>, </a:t>
                </a:r>
                <a14:m>
                  <m:oMath xmlns:m="http://schemas.openxmlformats.org/officeDocument/2006/math">
                    <m:acc>
                      <m:accPr>
                        <m:chr m:val="⃗"/>
                      </m:accPr>
                      <m:e>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B</m:t>
                        </m:r>
                      </m:e>
                    </m:acc>
                  </m:oMath>
                </a14:m>
                <a:r>
                  <a:rPr sz="2000">
                    <a:solidFill>
                      <a:srgbClr val="1E293B"/>
                    </a:solidFill>
                    <a:latin typeface="Calibri"/>
                  </a:rPr>
                  <a:t> không?</a:t>
                </a:r>
              </a:p>
            </p:txBody>
          </p:sp>
        </mc:Choice>
        <mc:Fallback>
          <p:sp>
            <p:nvSpPr>
              <p:cNvPr id="10" name="TextBox 9"/>
              <p:cNvSpPr txBox="1"/>
              <p:nvPr/>
            </p:nvSpPr>
            <p:spPr>
              <a:xfrm>
                <a:off x="548640" y="3480816"/>
                <a:ext cx="8595360" cy="13929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Ví dụ 1.</a:t>
                </a:r>
                <a:r>
                  <a:rPr sz="2000">
                    <a:solidFill>
                      <a:srgbClr val="1E293B"/>
                    </a:solidFill>
                    <a:latin typeface="Calibri"/>
                  </a:rPr>
                  <a:t> Cho hình lập phương </a:t>
                </a:r>
                <a:r>
                  <a:rPr lang="vi-VN"/>
                  <a:t>ABCD.A'B'C'D'</a:t>
                </a:r>
                <a:r>
                  <a:rPr sz="2000">
                    <a:solidFill>
                      <a:srgbClr val="1E293B"/>
                    </a:solidFill>
                    <a:latin typeface="Calibri"/>
                  </a:rPr>
                  <a:t> có độ dài mỗi cạnh bằng 1 (H.2.36). Có thể lập một hệ toạ độ </a:t>
                </a:r>
                <a:r>
                  <a:rPr lang="vi-VN"/>
                  <a:t>Oxyz</a:t>
                </a:r>
                <a:r>
                  <a:rPr sz="2000">
                    <a:solidFill>
                      <a:srgbClr val="1E293B"/>
                    </a:solidFill>
                    <a:latin typeface="Calibri"/>
                  </a:rPr>
                  <a:t> có gốc </a:t>
                </a:r>
                <a:r>
                  <a:rPr lang="vi-VN"/>
                  <a:t>O</a:t>
                </a:r>
                <a:r>
                  <a:rPr sz="2000">
                    <a:solidFill>
                      <a:srgbClr val="1E293B"/>
                    </a:solidFill>
                    <a:latin typeface="Calibri"/>
                  </a:rPr>
                  <a:t> trùng với đỉnh </a:t>
                </a:r>
                <a:r>
                  <a:rPr lang="vi-VN"/>
                  <a:t>B'</a:t>
                </a:r>
                <a:r>
                  <a:rPr sz="2000">
                    <a:solidFill>
                      <a:srgbClr val="1E293B"/>
                    </a:solidFill>
                    <a:latin typeface="Calibri"/>
                  </a:rPr>
                  <a:t> và các vectơ </a:t>
                </a:r>
                <a:r>
                  <a:rPr lang="vi-VN"/>
                  <a:t>\vec{i},\ \vec{j},\ \vec{k}</a:t>
                </a:r>
                <a:r>
                  <a:rPr sz="2000">
                    <a:solidFill>
                      <a:srgbClr val="1E293B"/>
                    </a:solidFill>
                    <a:latin typeface="Calibri"/>
                  </a:rPr>
                  <a:t> lần lượt là các vectơ </a:t>
                </a:r>
                <a:r>
                  <a:rPr lang="vi-VN"/>
                  <a:t>\overrightarrow{B'A'}</a:t>
                </a:r>
                <a:r>
                  <a:rPr sz="2000">
                    <a:solidFill>
                      <a:srgbClr val="1E293B"/>
                    </a:solidFill>
                    <a:latin typeface="Calibri"/>
                  </a:rPr>
                  <a:t>, </a:t>
                </a:r>
                <a:r>
                  <a:rPr lang="vi-VN"/>
                  <a:t>\overrightarrow{B'C'}</a:t>
                </a:r>
                <a:r>
                  <a:rPr sz="2000">
                    <a:solidFill>
                      <a:srgbClr val="1E293B"/>
                    </a:solidFill>
                    <a:latin typeface="Calibri"/>
                  </a:rPr>
                  <a:t>, </a:t>
                </a:r>
                <a:r>
                  <a:rPr lang="vi-VN"/>
                  <a:t>\overrightarrow{B'B}</a:t>
                </a:r>
                <a:r>
                  <a:rPr sz="2000">
                    <a:solidFill>
                      <a:srgbClr val="1E293B"/>
                    </a:solidFill>
                    <a:latin typeface="Calibri"/>
                  </a:rPr>
                  <a:t> không?</a:t>
                </a:r>
              </a:p>
            </p:txBody>
          </p:sp>
        </mc:Fallback>
      </mc:AlternateContent>
      <p:sp>
        <p:nvSpPr>
          <p:cNvPr id="11" name="s2_nen"/>
          <p:cNvSpPr/>
          <p:nvPr/>
        </p:nvSpPr>
        <p:spPr>
          <a:xfrm>
            <a:off x="548640" y="4946904"/>
            <a:ext cx="859536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2_chu"/>
              <p:cNvSpPr txBox="1"/>
              <p:nvPr/>
            </p:nvSpPr>
            <p:spPr>
              <a:xfrm>
                <a:off x="713232" y="4983480"/>
                <a:ext cx="826617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Có: ba cạnh </a:t>
                </a:r>
                <a14:m>
                  <m:oMath xmlns:m="http://schemas.openxmlformats.org/officeDocument/2006/math">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B</m:t>
                    </m:r>
                  </m:oMath>
                </a14:m>
                <a:r>
                  <a:rPr sz="2000">
                    <a:solidFill>
                      <a:srgbClr val="1E293B"/>
                    </a:solidFill>
                    <a:latin typeface="Calibri"/>
                  </a:rPr>
                  <a:t> đôi một vuông góc, ba vectơ cùng điểm đầu </a:t>
                </a:r>
                <a14:m>
                  <m:oMath xmlns:m="http://schemas.openxmlformats.org/officeDocument/2006/math">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và cùng có độ dài 1.</a:t>
                </a:r>
              </a:p>
            </p:txBody>
          </p:sp>
        </mc:Choice>
        <mc:Fallback>
          <p:sp>
            <p:nvSpPr>
              <p:cNvPr id="12" name="TextBox 11"/>
              <p:cNvSpPr txBox="1"/>
              <p:nvPr/>
            </p:nvSpPr>
            <p:spPr>
              <a:xfrm>
                <a:off x="713232" y="4983480"/>
                <a:ext cx="826617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Có: ba cạnh </a:t>
                </a:r>
                <a:r>
                  <a:rPr lang="vi-VN"/>
                  <a:t>B'A',\ B'C',\ B'B</a:t>
                </a:r>
                <a:r>
                  <a:rPr sz="2000">
                    <a:solidFill>
                      <a:srgbClr val="1E293B"/>
                    </a:solidFill>
                    <a:latin typeface="Calibri"/>
                  </a:rPr>
                  <a:t> đôi một vuông góc, ba vectơ cùng điểm đầu </a:t>
                </a:r>
                <a:r>
                  <a:rPr lang="vi-VN"/>
                  <a:t>B'</a:t>
                </a:r>
                <a:r>
                  <a:rPr sz="2000">
                    <a:solidFill>
                      <a:srgbClr val="1E293B"/>
                    </a:solidFill>
                    <a:latin typeface="Calibri"/>
                  </a:rPr>
                  <a:t> và cùng có độ dài 1.</a:t>
                </a:r>
              </a:p>
            </p:txBody>
          </p:sp>
        </mc:Fallback>
      </mc:AlternateContent>
      <p:pic>
        <p:nvPicPr>
          <p:cNvPr id="13" name="Picture 12" descr="h236.png"/>
          <p:cNvPicPr>
            <a:picLocks noChangeAspect="1"/>
          </p:cNvPicPr>
          <p:nvPr/>
        </p:nvPicPr>
        <p:blipFill>
          <a:blip r:embed="rId3"/>
          <a:stretch>
            <a:fillRect/>
          </a:stretch>
        </p:blipFill>
        <p:spPr>
          <a:xfrm>
            <a:off x="9326880" y="1671656"/>
            <a:ext cx="2377440" cy="196020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LUYỆN TẬP 1 (SGK TR.61)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Hệ trục toạ độ trong không gian – Toán 12          8</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1271016"/>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Luyện tập 1.</a:t>
                </a:r>
                <a:r>
                  <a:rPr sz="2400">
                    <a:solidFill>
                      <a:srgbClr val="1E293B"/>
                    </a:solidFill>
                    <a:latin typeface="Calibri"/>
                  </a:rPr>
                  <a:t> Cho hình hộp chữ nhật </a:t>
                </a:r>
                <a14:m>
                  <m:oMath xmlns:m="http://schemas.openxmlformats.org/officeDocument/2006/math">
                    <m:r>
                      <a:rPr lang="vi-VN" sz="2400" b="0">
                        <a:solidFill>
                          <a:srgbClr val="1E293B"/>
                        </a:solidFill>
                        <a:latin typeface="Cambria Math" panose="02040503050406030204" pitchFamily="18" charset="0"/>
                      </a:rPr>
                      <m:t>ABCD.</m:t>
                    </m:r>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m:t>
                        </m:r>
                      </m:sup>
                    </m:sSup>
                    <m:sSup>
                      <m:e>
                        <m:r>
                          <a:rPr lang="vi-VN" sz="2400" b="0">
                            <a:solidFill>
                              <a:srgbClr val="1E293B"/>
                            </a:solidFill>
                            <a:latin typeface="Cambria Math" panose="02040503050406030204" pitchFamily="18" charset="0"/>
                          </a:rPr>
                          <m:t>B</m:t>
                        </m:r>
                      </m:e>
                      <m:sup>
                        <m:r>
                          <a:rPr lang="vi-VN" sz="2400" b="0">
                            <a:solidFill>
                              <a:srgbClr val="1E293B"/>
                            </a:solidFill>
                            <a:latin typeface="Cambria Math" panose="02040503050406030204" pitchFamily="18" charset="0"/>
                          </a:rPr>
                          <m:t>′</m:t>
                        </m:r>
                      </m:sup>
                    </m:sSup>
                    <m:sSup>
                      <m:e>
                        <m:r>
                          <a:rPr lang="vi-VN" sz="2400" b="0">
                            <a:solidFill>
                              <a:srgbClr val="1E293B"/>
                            </a:solidFill>
                            <a:latin typeface="Cambria Math" panose="02040503050406030204" pitchFamily="18" charset="0"/>
                          </a:rPr>
                          <m:t>C</m:t>
                        </m:r>
                      </m:e>
                      <m:sup>
                        <m:r>
                          <a:rPr lang="vi-VN" sz="2400" b="0">
                            <a:solidFill>
                              <a:srgbClr val="1E293B"/>
                            </a:solidFill>
                            <a:latin typeface="Cambria Math" panose="02040503050406030204" pitchFamily="18" charset="0"/>
                          </a:rPr>
                          <m:t>′</m:t>
                        </m:r>
                      </m:sup>
                    </m:sSup>
                    <m:sSup>
                      <m:e>
                        <m:r>
                          <a:rPr lang="vi-VN" sz="2400" b="0">
                            <a:solidFill>
                              <a:srgbClr val="1E293B"/>
                            </a:solidFill>
                            <a:latin typeface="Cambria Math" panose="02040503050406030204" pitchFamily="18" charset="0"/>
                          </a:rPr>
                          <m:t>D</m:t>
                        </m:r>
                      </m:e>
                      <m:sup>
                        <m:r>
                          <a:rPr lang="vi-VN" sz="2400" b="0">
                            <a:solidFill>
                              <a:srgbClr val="1E293B"/>
                            </a:solidFill>
                            <a:latin typeface="Cambria Math" panose="02040503050406030204" pitchFamily="18" charset="0"/>
                          </a:rPr>
                          <m:t>′</m:t>
                        </m:r>
                      </m:sup>
                    </m:sSup>
                  </m:oMath>
                </a14:m>
                <a:r>
                  <a:rPr sz="2400">
                    <a:solidFill>
                      <a:srgbClr val="1E293B"/>
                    </a:solidFill>
                    <a:latin typeface="Calibri"/>
                  </a:rPr>
                  <a:t>. Có thể lập một hệ toạ độ </a:t>
                </a:r>
                <a14:m>
                  <m:oMath xmlns:m="http://schemas.openxmlformats.org/officeDocument/2006/math">
                    <m:r>
                      <a:rPr lang="vi-VN" sz="2400" b="0">
                        <a:solidFill>
                          <a:srgbClr val="1E293B"/>
                        </a:solidFill>
                        <a:latin typeface="Cambria Math" panose="02040503050406030204" pitchFamily="18" charset="0"/>
                      </a:rPr>
                      <m:t>Oxyz</m:t>
                    </m:r>
                  </m:oMath>
                </a14:m>
                <a:r>
                  <a:rPr sz="2400">
                    <a:solidFill>
                      <a:srgbClr val="1E293B"/>
                    </a:solidFill>
                    <a:latin typeface="Calibri"/>
                  </a:rPr>
                  <a:t> có gốc </a:t>
                </a:r>
                <a14:m>
                  <m:oMath xmlns:m="http://schemas.openxmlformats.org/officeDocument/2006/math">
                    <m:r>
                      <a:rPr lang="vi-VN" sz="2400" b="0">
                        <a:solidFill>
                          <a:srgbClr val="1E293B"/>
                        </a:solidFill>
                        <a:latin typeface="Cambria Math" panose="02040503050406030204" pitchFamily="18" charset="0"/>
                      </a:rPr>
                      <m:t>O</m:t>
                    </m:r>
                  </m:oMath>
                </a14:m>
                <a:r>
                  <a:rPr sz="2400">
                    <a:solidFill>
                      <a:srgbClr val="1E293B"/>
                    </a:solidFill>
                    <a:latin typeface="Calibri"/>
                  </a:rPr>
                  <a:t> trùng với đỉnh </a:t>
                </a:r>
                <a14:m>
                  <m:oMath xmlns:m="http://schemas.openxmlformats.org/officeDocument/2006/math">
                    <m:r>
                      <a:rPr lang="vi-VN" sz="2400" b="0">
                        <a:solidFill>
                          <a:srgbClr val="1E293B"/>
                        </a:solidFill>
                        <a:latin typeface="Cambria Math" panose="02040503050406030204" pitchFamily="18" charset="0"/>
                      </a:rPr>
                      <m:t>C</m:t>
                    </m:r>
                  </m:oMath>
                </a14:m>
                <a:r>
                  <a:rPr sz="2400">
                    <a:solidFill>
                      <a:srgbClr val="1E293B"/>
                    </a:solidFill>
                    <a:latin typeface="Calibri"/>
                  </a:rPr>
                  <a:t> và </a:t>
                </a:r>
                <a14:m>
                  <m:oMath xmlns:m="http://schemas.openxmlformats.org/officeDocument/2006/math">
                    <m:acc>
                      <m:accPr>
                        <m:chr m:val="⃗"/>
                      </m:accPr>
                      <m:e>
                        <m:r>
                          <a:rPr lang="vi-VN" sz="2400" b="0">
                            <a:solidFill>
                              <a:srgbClr val="1E293B"/>
                            </a:solidFill>
                            <a:latin typeface="Cambria Math" panose="02040503050406030204" pitchFamily="18" charset="0"/>
                          </a:rPr>
                          <m:t>i</m:t>
                        </m:r>
                      </m:e>
                    </m:acc>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acc>
                      <m:accPr>
                        <m:chr m:val="⃗"/>
                      </m:accPr>
                      <m:e>
                        <m:r>
                          <a:rPr lang="vi-VN" sz="2400" b="0">
                            <a:solidFill>
                              <a:srgbClr val="1E293B"/>
                            </a:solidFill>
                            <a:latin typeface="Cambria Math" panose="02040503050406030204" pitchFamily="18" charset="0"/>
                          </a:rPr>
                          <m:t>j</m:t>
                        </m:r>
                      </m:e>
                    </m:acc>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acc>
                      <m:accPr>
                        <m:chr m:val="⃗"/>
                      </m:accPr>
                      <m:e>
                        <m:r>
                          <a:rPr lang="vi-VN" sz="2400" b="0">
                            <a:solidFill>
                              <a:srgbClr val="1E293B"/>
                            </a:solidFill>
                            <a:latin typeface="Cambria Math" panose="02040503050406030204" pitchFamily="18" charset="0"/>
                          </a:rPr>
                          <m:t>k</m:t>
                        </m:r>
                      </m:e>
                    </m:acc>
                  </m:oMath>
                </a14:m>
                <a:r>
                  <a:rPr sz="2400">
                    <a:solidFill>
                      <a:srgbClr val="1E293B"/>
                    </a:solidFill>
                    <a:latin typeface="Calibri"/>
                  </a:rPr>
                  <a:t> lần lượt cùng hướng với </a:t>
                </a:r>
                <a14:m>
                  <m:oMath xmlns:m="http://schemas.openxmlformats.org/officeDocument/2006/math">
                    <m:acc>
                      <m:accPr>
                        <m:chr m:val="⃗"/>
                      </m:accPr>
                      <m:e>
                        <m:r>
                          <a:rPr lang="vi-VN" sz="2400" b="0">
                            <a:solidFill>
                              <a:srgbClr val="1E293B"/>
                            </a:solidFill>
                            <a:latin typeface="Cambria Math" panose="02040503050406030204" pitchFamily="18" charset="0"/>
                          </a:rPr>
                          <m:t>CB</m:t>
                        </m:r>
                      </m:e>
                    </m:acc>
                  </m:oMath>
                </a14:m>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CD</m:t>
                        </m:r>
                      </m:e>
                    </m:acc>
                  </m:oMath>
                </a14:m>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C</m:t>
                        </m:r>
                        <m:sSup>
                          <m:e>
                            <m:r>
                              <a:rPr lang="vi-VN" sz="2400" b="0">
                                <a:solidFill>
                                  <a:srgbClr val="1E293B"/>
                                </a:solidFill>
                                <a:latin typeface="Cambria Math" panose="02040503050406030204" pitchFamily="18" charset="0"/>
                              </a:rPr>
                              <m:t>C</m:t>
                            </m:r>
                          </m:e>
                          <m:sup>
                            <m:r>
                              <a:rPr lang="vi-VN" sz="2400" b="0">
                                <a:solidFill>
                                  <a:srgbClr val="1E293B"/>
                                </a:solidFill>
                                <a:latin typeface="Cambria Math" panose="02040503050406030204" pitchFamily="18" charset="0"/>
                              </a:rPr>
                              <m:t>′</m:t>
                            </m:r>
                          </m:sup>
                        </m:sSup>
                      </m:e>
                    </m:acc>
                  </m:oMath>
                </a14:m>
                <a:r>
                  <a:rPr sz="2400">
                    <a:solidFill>
                      <a:srgbClr val="1E293B"/>
                    </a:solidFill>
                    <a:latin typeface="Calibri"/>
                  </a:rPr>
                  <a:t> không?</a:t>
                </a:r>
              </a:p>
            </p:txBody>
          </p:sp>
        </mc:Choice>
        <mc:Fallback>
          <p:sp>
            <p:nvSpPr>
              <p:cNvPr id="7" name="TextBox 6"/>
              <p:cNvSpPr txBox="1"/>
              <p:nvPr/>
            </p:nvSpPr>
            <p:spPr>
              <a:xfrm>
                <a:off x="548640" y="1371600"/>
                <a:ext cx="11064240" cy="1271016"/>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Luyện tập 1.</a:t>
                </a:r>
                <a:r>
                  <a:rPr sz="2400">
                    <a:solidFill>
                      <a:srgbClr val="1E293B"/>
                    </a:solidFill>
                    <a:latin typeface="Calibri"/>
                  </a:rPr>
                  <a:t> Cho hình hộp chữ nhật </a:t>
                </a:r>
                <a:r>
                  <a:rPr lang="vi-VN"/>
                  <a:t>ABCD.A'B'C'D'</a:t>
                </a:r>
                <a:r>
                  <a:rPr sz="2400">
                    <a:solidFill>
                      <a:srgbClr val="1E293B"/>
                    </a:solidFill>
                    <a:latin typeface="Calibri"/>
                  </a:rPr>
                  <a:t>. Có thể lập một hệ toạ độ </a:t>
                </a:r>
                <a:r>
                  <a:rPr lang="vi-VN"/>
                  <a:t>Oxyz</a:t>
                </a:r>
                <a:r>
                  <a:rPr sz="2400">
                    <a:solidFill>
                      <a:srgbClr val="1E293B"/>
                    </a:solidFill>
                    <a:latin typeface="Calibri"/>
                  </a:rPr>
                  <a:t> có gốc </a:t>
                </a:r>
                <a:r>
                  <a:rPr lang="vi-VN"/>
                  <a:t>O</a:t>
                </a:r>
                <a:r>
                  <a:rPr sz="2400">
                    <a:solidFill>
                      <a:srgbClr val="1E293B"/>
                    </a:solidFill>
                    <a:latin typeface="Calibri"/>
                  </a:rPr>
                  <a:t> trùng với đỉnh </a:t>
                </a:r>
                <a:r>
                  <a:rPr lang="vi-VN"/>
                  <a:t>C</a:t>
                </a:r>
                <a:r>
                  <a:rPr sz="2400">
                    <a:solidFill>
                      <a:srgbClr val="1E293B"/>
                    </a:solidFill>
                    <a:latin typeface="Calibri"/>
                  </a:rPr>
                  <a:t> và </a:t>
                </a:r>
                <a:r>
                  <a:rPr lang="vi-VN"/>
                  <a:t>\vec{i},\ \vec{j},\ \vec{k}</a:t>
                </a:r>
                <a:r>
                  <a:rPr sz="2400">
                    <a:solidFill>
                      <a:srgbClr val="1E293B"/>
                    </a:solidFill>
                    <a:latin typeface="Calibri"/>
                  </a:rPr>
                  <a:t> lần lượt cùng hướng với </a:t>
                </a:r>
                <a:r>
                  <a:rPr lang="vi-VN"/>
                  <a:t>\overrightarrow{CB}</a:t>
                </a:r>
                <a:r>
                  <a:rPr sz="2400">
                    <a:solidFill>
                      <a:srgbClr val="1E293B"/>
                    </a:solidFill>
                    <a:latin typeface="Calibri"/>
                  </a:rPr>
                  <a:t>, </a:t>
                </a:r>
                <a:r>
                  <a:rPr lang="vi-VN"/>
                  <a:t>\overrightarrow{CD}</a:t>
                </a:r>
                <a:r>
                  <a:rPr sz="2400">
                    <a:solidFill>
                      <a:srgbClr val="1E293B"/>
                    </a:solidFill>
                    <a:latin typeface="Calibri"/>
                  </a:rPr>
                  <a:t>, </a:t>
                </a:r>
                <a:r>
                  <a:rPr lang="vi-VN"/>
                  <a:t>\overrightarrow{CC'}</a:t>
                </a:r>
                <a:r>
                  <a:rPr sz="2400">
                    <a:solidFill>
                      <a:srgbClr val="1E293B"/>
                    </a:solidFill>
                    <a:latin typeface="Calibri"/>
                  </a:rPr>
                  <a:t> không?</a:t>
                </a:r>
              </a:p>
            </p:txBody>
          </p:sp>
        </mc:Fallback>
      </mc:AlternateContent>
      <p:sp>
        <p:nvSpPr>
          <p:cNvPr id="8" name="s1_nen"/>
          <p:cNvSpPr/>
          <p:nvPr/>
        </p:nvSpPr>
        <p:spPr>
          <a:xfrm>
            <a:off x="548640" y="2779776"/>
            <a:ext cx="11064240" cy="9966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816352"/>
                <a:ext cx="10735056" cy="923543"/>
              </a:xfrm>
              <a:prstGeom prst="rect">
                <a:avLst/>
              </a:prstGeom>
              <a:noFill/>
            </p:spPr>
            <p:txBody>
              <a:bodyPr wrap="square" anchor="ctr" lIns="45720" rIns="45720">
                <a:spAutoFit/>
              </a:bodyPr>
              <a:lstStyle/>
              <a:p>
                <a:pPr algn="l">
                  <a:spcAft>
                    <a:spcPts val="800"/>
                  </a:spcAft>
                </a:pPr>
                <a:r>
                  <a:rPr sz="2400">
                    <a:solidFill>
                      <a:srgbClr val="1E293B"/>
                    </a:solidFill>
                    <a:latin typeface="Calibri"/>
                  </a:rPr>
                  <a:t>Có – </a:t>
                </a:r>
                <a14:m>
                  <m:oMath xmlns:m="http://schemas.openxmlformats.org/officeDocument/2006/math">
                    <m:r>
                      <a:rPr lang="vi-VN" sz="2400" b="0">
                        <a:solidFill>
                          <a:srgbClr val="1E293B"/>
                        </a:solidFill>
                        <a:latin typeface="Cambria Math" panose="02040503050406030204" pitchFamily="18" charset="0"/>
                      </a:rPr>
                      <m:t>CB,</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CD,</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C</m:t>
                    </m:r>
                    <m:sSup>
                      <m:e>
                        <m:r>
                          <a:rPr lang="vi-VN" sz="2400" b="0">
                            <a:solidFill>
                              <a:srgbClr val="1E293B"/>
                            </a:solidFill>
                            <a:latin typeface="Cambria Math" panose="02040503050406030204" pitchFamily="18" charset="0"/>
                          </a:rPr>
                          <m:t>C</m:t>
                        </m:r>
                      </m:e>
                      <m:sup>
                        <m:r>
                          <a:rPr lang="vi-VN" sz="2400" b="0">
                            <a:solidFill>
                              <a:srgbClr val="1E293B"/>
                            </a:solidFill>
                            <a:latin typeface="Cambria Math" panose="02040503050406030204" pitchFamily="18" charset="0"/>
                          </a:rPr>
                          <m:t>′</m:t>
                        </m:r>
                      </m:sup>
                    </m:sSup>
                  </m:oMath>
                </a14:m>
                <a:r>
                  <a:rPr sz="2400">
                    <a:solidFill>
                      <a:srgbClr val="1E293B"/>
                    </a:solidFill>
                    <a:latin typeface="Calibri"/>
                  </a:rPr>
                  <a:t> đôi một vuông góc; lấy các vectơ đơn vị cùng hướng với chúng.</a:t>
                </a:r>
              </a:p>
            </p:txBody>
          </p:sp>
        </mc:Choice>
        <mc:Fallback>
          <p:sp>
            <p:nvSpPr>
              <p:cNvPr id="9" name="TextBox 8"/>
              <p:cNvSpPr txBox="1"/>
              <p:nvPr/>
            </p:nvSpPr>
            <p:spPr>
              <a:xfrm>
                <a:off x="713232" y="2816352"/>
                <a:ext cx="10735056" cy="923543"/>
              </a:xfrm>
              <a:prstGeom prst="rect">
                <a:avLst/>
              </a:prstGeom>
              <a:noFill/>
            </p:spPr>
            <p:txBody>
              <a:bodyPr wrap="square" anchor="ctr" lIns="45720" rIns="45720">
                <a:spAutoFit/>
              </a:bodyPr>
              <a:lstStyle/>
              <a:p>
                <a:pPr algn="l">
                  <a:spcAft>
                    <a:spcPts val="800"/>
                  </a:spcAft>
                </a:pPr>
                <a:r>
                  <a:rPr sz="2400">
                    <a:solidFill>
                      <a:srgbClr val="1E293B"/>
                    </a:solidFill>
                    <a:latin typeface="Calibri"/>
                  </a:rPr>
                  <a:t>Có – </a:t>
                </a:r>
                <a:r>
                  <a:rPr lang="vi-VN"/>
                  <a:t>CB,\ CD,\ CC'</a:t>
                </a:r>
                <a:r>
                  <a:rPr sz="2400">
                    <a:solidFill>
                      <a:srgbClr val="1E293B"/>
                    </a:solidFill>
                    <a:latin typeface="Calibri"/>
                  </a:rPr>
                  <a:t> đôi một vuông góc; lấy các vectơ đơn vị cùng hướng với chúng.</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2. TOẠ ĐỘ CỦA ĐIỂM TRONG KHÔNG GIAN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Hệ trục toạ độ trong không gian – Toán 12          9</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595360" cy="1621536"/>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HĐ2.</a:t>
                </a:r>
                <a:r>
                  <a:rPr sz="1900">
                    <a:solidFill>
                      <a:srgbClr val="1E293B"/>
                    </a:solidFill>
                    <a:latin typeface="Calibri"/>
                  </a:rPr>
                  <a:t> Trong không gian </a:t>
                </a:r>
                <a14:m>
                  <m:oMath xmlns:m="http://schemas.openxmlformats.org/officeDocument/2006/math">
                    <m:r>
                      <a:rPr lang="vi-VN" sz="1900" b="0">
                        <a:solidFill>
                          <a:srgbClr val="1E293B"/>
                        </a:solidFill>
                        <a:latin typeface="Cambria Math" panose="02040503050406030204" pitchFamily="18" charset="0"/>
                      </a:rPr>
                      <m:t>Oxyz</m:t>
                    </m:r>
                  </m:oMath>
                </a14:m>
                <a:r>
                  <a:rPr sz="1900">
                    <a:solidFill>
                      <a:srgbClr val="1E293B"/>
                    </a:solidFill>
                    <a:latin typeface="Calibri"/>
                  </a:rPr>
                  <a:t>, cho một điểm </a:t>
                </a:r>
                <a14:m>
                  <m:oMath xmlns:m="http://schemas.openxmlformats.org/officeDocument/2006/math">
                    <m:r>
                      <a:rPr lang="vi-VN" sz="1900" b="0">
                        <a:solidFill>
                          <a:srgbClr val="1E293B"/>
                        </a:solidFill>
                        <a:latin typeface="Cambria Math" panose="02040503050406030204" pitchFamily="18" charset="0"/>
                      </a:rPr>
                      <m:t>M</m:t>
                    </m:r>
                  </m:oMath>
                </a14:m>
                <a:r>
                  <a:rPr sz="1900">
                    <a:solidFill>
                      <a:srgbClr val="1E293B"/>
                    </a:solidFill>
                    <a:latin typeface="Calibri"/>
                  </a:rPr>
                  <a:t> không thuộc các mặt phẳng toạ độ. Vẽ hình hộp chữ nhật </a:t>
                </a:r>
                <a14:m>
                  <m:oMath xmlns:m="http://schemas.openxmlformats.org/officeDocument/2006/math">
                    <m:r>
                      <a:rPr lang="vi-VN" sz="1900" b="0">
                        <a:solidFill>
                          <a:srgbClr val="1E293B"/>
                        </a:solidFill>
                        <a:latin typeface="Cambria Math" panose="02040503050406030204" pitchFamily="18" charset="0"/>
                      </a:rPr>
                      <m:t>OADB.CFME</m:t>
                    </m:r>
                  </m:oMath>
                </a14:m>
                <a:r>
                  <a:rPr sz="1900">
                    <a:solidFill>
                      <a:srgbClr val="1E293B"/>
                    </a:solidFill>
                    <a:latin typeface="Calibri"/>
                  </a:rPr>
                  <a:t> có ba đỉnh </a:t>
                </a:r>
                <a14:m>
                  <m:oMath xmlns:m="http://schemas.openxmlformats.org/officeDocument/2006/math">
                    <m:r>
                      <a:rPr lang="vi-VN" sz="1900" b="0">
                        <a:solidFill>
                          <a:srgbClr val="1E293B"/>
                        </a:solidFill>
                        <a:latin typeface="Cambria Math" panose="02040503050406030204" pitchFamily="18" charset="0"/>
                      </a:rPr>
                      <m:t>A,</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B,</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C</m:t>
                    </m:r>
                  </m:oMath>
                </a14:m>
                <a:r>
                  <a:rPr sz="1900">
                    <a:solidFill>
                      <a:srgbClr val="1E293B"/>
                    </a:solidFill>
                    <a:latin typeface="Calibri"/>
                  </a:rPr>
                  <a:t> lần lượt thuộc các tia </a:t>
                </a:r>
                <a14:m>
                  <m:oMath xmlns:m="http://schemas.openxmlformats.org/officeDocument/2006/math">
                    <m:r>
                      <a:rPr lang="vi-VN" sz="1900" b="0">
                        <a:solidFill>
                          <a:srgbClr val="1E293B"/>
                        </a:solidFill>
                        <a:latin typeface="Cambria Math" panose="02040503050406030204" pitchFamily="18" charset="0"/>
                      </a:rPr>
                      <m:t>Ox,</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Oy,</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Oz</m:t>
                    </m:r>
                  </m:oMath>
                </a14:m>
                <a:r>
                  <a:rPr sz="1900">
                    <a:solidFill>
                      <a:srgbClr val="1E293B"/>
                    </a:solidFill>
                    <a:latin typeface="Calibri"/>
                  </a:rPr>
                  <a:t> (H.2.37). a) Hai vectơ </a:t>
                </a:r>
                <a14:m>
                  <m:oMath xmlns:m="http://schemas.openxmlformats.org/officeDocument/2006/math">
                    <m:acc>
                      <m:accPr>
                        <m:chr m:val="⃗"/>
                      </m:accPr>
                      <m:e>
                        <m:r>
                          <a:rPr lang="vi-VN" sz="1900" b="0">
                            <a:solidFill>
                              <a:srgbClr val="1E293B"/>
                            </a:solidFill>
                            <a:latin typeface="Cambria Math" panose="02040503050406030204" pitchFamily="18" charset="0"/>
                          </a:rPr>
                          <m:t>OM</m:t>
                        </m:r>
                      </m:e>
                    </m:acc>
                  </m:oMath>
                </a14:m>
                <a:r>
                  <a:rPr sz="1900">
                    <a:solidFill>
                      <a:srgbClr val="1E293B"/>
                    </a:solidFill>
                    <a:latin typeface="Calibri"/>
                  </a:rPr>
                  <a:t> và </a:t>
                </a:r>
                <a14:m>
                  <m:oMath xmlns:m="http://schemas.openxmlformats.org/officeDocument/2006/math">
                    <m:acc>
                      <m:accPr>
                        <m:chr m:val="⃗"/>
                      </m:accPr>
                      <m:e>
                        <m:r>
                          <a:rPr lang="vi-VN" sz="1900" b="0">
                            <a:solidFill>
                              <a:srgbClr val="1E293B"/>
                            </a:solidFill>
                            <a:latin typeface="Cambria Math" panose="02040503050406030204" pitchFamily="18" charset="0"/>
                          </a:rPr>
                          <m:t>OA</m:t>
                        </m:r>
                      </m:e>
                    </m:acc>
                  </m:oMath>
                </a14:m>
                <a:r>
                  <a:rPr sz="1900">
                    <a:solidFill>
                      <a:srgbClr val="1E293B"/>
                    </a:solidFill>
                    <a:latin typeface="Calibri"/>
                  </a:rPr>
                  <a:t> + </a:t>
                </a:r>
                <a14:m>
                  <m:oMath xmlns:m="http://schemas.openxmlformats.org/officeDocument/2006/math">
                    <m:acc>
                      <m:accPr>
                        <m:chr m:val="⃗"/>
                      </m:accPr>
                      <m:e>
                        <m:r>
                          <a:rPr lang="vi-VN" sz="1900" b="0">
                            <a:solidFill>
                              <a:srgbClr val="1E293B"/>
                            </a:solidFill>
                            <a:latin typeface="Cambria Math" panose="02040503050406030204" pitchFamily="18" charset="0"/>
                          </a:rPr>
                          <m:t>OB</m:t>
                        </m:r>
                      </m:e>
                    </m:acc>
                  </m:oMath>
                </a14:m>
                <a:r>
                  <a:rPr sz="1900">
                    <a:solidFill>
                      <a:srgbClr val="1E293B"/>
                    </a:solidFill>
                    <a:latin typeface="Calibri"/>
                  </a:rPr>
                  <a:t> + </a:t>
                </a:r>
                <a14:m>
                  <m:oMath xmlns:m="http://schemas.openxmlformats.org/officeDocument/2006/math">
                    <m:acc>
                      <m:accPr>
                        <m:chr m:val="⃗"/>
                      </m:accPr>
                      <m:e>
                        <m:r>
                          <a:rPr lang="vi-VN" sz="1900" b="0">
                            <a:solidFill>
                              <a:srgbClr val="1E293B"/>
                            </a:solidFill>
                            <a:latin typeface="Cambria Math" panose="02040503050406030204" pitchFamily="18" charset="0"/>
                          </a:rPr>
                          <m:t>OC</m:t>
                        </m:r>
                      </m:e>
                    </m:acc>
                  </m:oMath>
                </a14:m>
                <a:r>
                  <a:rPr sz="1900">
                    <a:solidFill>
                      <a:srgbClr val="1E293B"/>
                    </a:solidFill>
                    <a:latin typeface="Calibri"/>
                  </a:rPr>
                  <a:t> có bằng nhau hay không? b) Giải thích vì sao có thể viết </a:t>
                </a:r>
                <a14:m>
                  <m:oMath xmlns:m="http://schemas.openxmlformats.org/officeDocument/2006/math">
                    <m:acc>
                      <m:accPr>
                        <m:chr m:val="⃗"/>
                      </m:accPr>
                      <m:e>
                        <m:r>
                          <a:rPr lang="vi-VN" sz="1900" b="0">
                            <a:solidFill>
                              <a:srgbClr val="1E293B"/>
                            </a:solidFill>
                            <a:latin typeface="Cambria Math" panose="02040503050406030204" pitchFamily="18" charset="0"/>
                          </a:rPr>
                          <m:t>OM</m:t>
                        </m:r>
                      </m:e>
                    </m:acc>
                  </m:oMath>
                </a14:m>
                <a:r>
                  <a:rPr sz="1900">
                    <a:solidFill>
                      <a:srgbClr val="1E293B"/>
                    </a:solidFill>
                    <a:latin typeface="Calibri"/>
                  </a:rPr>
                  <a:t> = </a:t>
                </a:r>
                <a14:m>
                  <m:oMath xmlns:m="http://schemas.openxmlformats.org/officeDocument/2006/math">
                    <m:r>
                      <a:rPr lang="vi-VN" sz="1900" b="0">
                        <a:solidFill>
                          <a:srgbClr val="1E293B"/>
                        </a:solidFill>
                        <a:latin typeface="Cambria Math" panose="02040503050406030204" pitchFamily="18" charset="0"/>
                      </a:rPr>
                      <m:t>x</m:t>
                    </m:r>
                    <m:acc>
                      <m:accPr>
                        <m:chr m:val="⃗"/>
                      </m:accPr>
                      <m:e>
                        <m:r>
                          <a:rPr lang="vi-VN" sz="1900" b="0">
                            <a:solidFill>
                              <a:srgbClr val="1E293B"/>
                            </a:solidFill>
                            <a:latin typeface="Cambria Math" panose="02040503050406030204" pitchFamily="18" charset="0"/>
                          </a:rPr>
                          <m:t>i</m:t>
                        </m:r>
                      </m:e>
                    </m:acc>
                    <m:r>
                      <a:rPr lang="vi-VN" sz="1900" b="0">
                        <a:solidFill>
                          <a:srgbClr val="1E293B"/>
                        </a:solidFill>
                        <a:latin typeface="Cambria Math" panose="02040503050406030204" pitchFamily="18" charset="0"/>
                      </a:rPr>
                      <m:t>+y</m:t>
                    </m:r>
                    <m:acc>
                      <m:accPr>
                        <m:chr m:val="⃗"/>
                      </m:accPr>
                      <m:e>
                        <m:r>
                          <a:rPr lang="vi-VN" sz="1900" b="0">
                            <a:solidFill>
                              <a:srgbClr val="1E293B"/>
                            </a:solidFill>
                            <a:latin typeface="Cambria Math" panose="02040503050406030204" pitchFamily="18" charset="0"/>
                          </a:rPr>
                          <m:t>j</m:t>
                        </m:r>
                      </m:e>
                    </m:acc>
                    <m:r>
                      <a:rPr lang="vi-VN" sz="1900" b="0">
                        <a:solidFill>
                          <a:srgbClr val="1E293B"/>
                        </a:solidFill>
                        <a:latin typeface="Cambria Math" panose="02040503050406030204" pitchFamily="18" charset="0"/>
                      </a:rPr>
                      <m:t>+z</m:t>
                    </m:r>
                    <m:acc>
                      <m:accPr>
                        <m:chr m:val="⃗"/>
                      </m:accPr>
                      <m:e>
                        <m:r>
                          <a:rPr lang="vi-VN" sz="1900" b="0">
                            <a:solidFill>
                              <a:srgbClr val="1E293B"/>
                            </a:solidFill>
                            <a:latin typeface="Cambria Math" panose="02040503050406030204" pitchFamily="18" charset="0"/>
                          </a:rPr>
                          <m:t>k</m:t>
                        </m:r>
                      </m:e>
                    </m:acc>
                  </m:oMath>
                </a14:m>
                <a:r>
                  <a:rPr sz="1900">
                    <a:solidFill>
                      <a:srgbClr val="1E293B"/>
                    </a:solidFill>
                    <a:latin typeface="Calibri"/>
                  </a:rPr>
                  <a:t> với </a:t>
                </a:r>
                <a14:m>
                  <m:oMath xmlns:m="http://schemas.openxmlformats.org/officeDocument/2006/math">
                    <m:r>
                      <a:rPr lang="vi-VN" sz="1900" b="0">
                        <a:solidFill>
                          <a:srgbClr val="1E293B"/>
                        </a:solidFill>
                        <a:latin typeface="Cambria Math" panose="02040503050406030204" pitchFamily="18" charset="0"/>
                      </a:rPr>
                      <m:t>x,</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y,</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z</m:t>
                    </m:r>
                  </m:oMath>
                </a14:m>
                <a:r>
                  <a:rPr sz="1900">
                    <a:solidFill>
                      <a:srgbClr val="1E293B"/>
                    </a:solidFill>
                    <a:latin typeface="Calibri"/>
                  </a:rPr>
                  <a:t> là các số thực.</a:t>
                </a:r>
              </a:p>
            </p:txBody>
          </p:sp>
        </mc:Choice>
        <mc:Fallback>
          <p:sp>
            <p:nvSpPr>
              <p:cNvPr id="7" name="TextBox 6"/>
              <p:cNvSpPr txBox="1"/>
              <p:nvPr/>
            </p:nvSpPr>
            <p:spPr>
              <a:xfrm>
                <a:off x="548640" y="1371600"/>
                <a:ext cx="8595360" cy="1621536"/>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HĐ2.</a:t>
                </a:r>
                <a:r>
                  <a:rPr sz="1900">
                    <a:solidFill>
                      <a:srgbClr val="1E293B"/>
                    </a:solidFill>
                    <a:latin typeface="Calibri"/>
                  </a:rPr>
                  <a:t> Trong không gian </a:t>
                </a:r>
                <a:r>
                  <a:rPr lang="vi-VN"/>
                  <a:t>Oxyz</a:t>
                </a:r>
                <a:r>
                  <a:rPr sz="1900">
                    <a:solidFill>
                      <a:srgbClr val="1E293B"/>
                    </a:solidFill>
                    <a:latin typeface="Calibri"/>
                  </a:rPr>
                  <a:t>, cho một điểm </a:t>
                </a:r>
                <a:r>
                  <a:rPr lang="vi-VN"/>
                  <a:t>M</a:t>
                </a:r>
                <a:r>
                  <a:rPr sz="1900">
                    <a:solidFill>
                      <a:srgbClr val="1E293B"/>
                    </a:solidFill>
                    <a:latin typeface="Calibri"/>
                  </a:rPr>
                  <a:t> không thuộc các mặt phẳng toạ độ. Vẽ hình hộp chữ nhật </a:t>
                </a:r>
                <a:r>
                  <a:rPr lang="vi-VN"/>
                  <a:t>OADB.CFME</a:t>
                </a:r>
                <a:r>
                  <a:rPr sz="1900">
                    <a:solidFill>
                      <a:srgbClr val="1E293B"/>
                    </a:solidFill>
                    <a:latin typeface="Calibri"/>
                  </a:rPr>
                  <a:t> có ba đỉnh </a:t>
                </a:r>
                <a:r>
                  <a:rPr lang="vi-VN"/>
                  <a:t>A,\ B,\ C</a:t>
                </a:r>
                <a:r>
                  <a:rPr sz="1900">
                    <a:solidFill>
                      <a:srgbClr val="1E293B"/>
                    </a:solidFill>
                    <a:latin typeface="Calibri"/>
                  </a:rPr>
                  <a:t> lần lượt thuộc các tia </a:t>
                </a:r>
                <a:r>
                  <a:rPr lang="vi-VN"/>
                  <a:t>Ox,\ Oy,\ Oz</a:t>
                </a:r>
                <a:r>
                  <a:rPr sz="1900">
                    <a:solidFill>
                      <a:srgbClr val="1E293B"/>
                    </a:solidFill>
                    <a:latin typeface="Calibri"/>
                  </a:rPr>
                  <a:t> (H.2.37). a) Hai vectơ </a:t>
                </a:r>
                <a:r>
                  <a:rPr lang="vi-VN"/>
                  <a:t>\overrightarrow{OM}</a:t>
                </a:r>
                <a:r>
                  <a:rPr sz="1900">
                    <a:solidFill>
                      <a:srgbClr val="1E293B"/>
                    </a:solidFill>
                    <a:latin typeface="Calibri"/>
                  </a:rPr>
                  <a:t> và </a:t>
                </a:r>
                <a:r>
                  <a:rPr lang="vi-VN"/>
                  <a:t>\overrightarrow{OA}</a:t>
                </a:r>
                <a:r>
                  <a:rPr sz="1900">
                    <a:solidFill>
                      <a:srgbClr val="1E293B"/>
                    </a:solidFill>
                    <a:latin typeface="Calibri"/>
                  </a:rPr>
                  <a:t> + </a:t>
                </a:r>
                <a:r>
                  <a:rPr lang="vi-VN"/>
                  <a:t>\overrightarrow{OB}</a:t>
                </a:r>
                <a:r>
                  <a:rPr sz="1900">
                    <a:solidFill>
                      <a:srgbClr val="1E293B"/>
                    </a:solidFill>
                    <a:latin typeface="Calibri"/>
                  </a:rPr>
                  <a:t> + </a:t>
                </a:r>
                <a:r>
                  <a:rPr lang="vi-VN"/>
                  <a:t>\overrightarrow{OC}</a:t>
                </a:r>
                <a:r>
                  <a:rPr sz="1900">
                    <a:solidFill>
                      <a:srgbClr val="1E293B"/>
                    </a:solidFill>
                    <a:latin typeface="Calibri"/>
                  </a:rPr>
                  <a:t> có bằng nhau hay không? b) Giải thích vì sao có thể viết </a:t>
                </a:r>
                <a:r>
                  <a:rPr lang="vi-VN"/>
                  <a:t>\overrightarrow{OM}</a:t>
                </a:r>
                <a:r>
                  <a:rPr sz="1900">
                    <a:solidFill>
                      <a:srgbClr val="1E293B"/>
                    </a:solidFill>
                    <a:latin typeface="Calibri"/>
                  </a:rPr>
                  <a:t> = </a:t>
                </a:r>
                <a:r>
                  <a:rPr lang="vi-VN"/>
                  <a:t>x\vec{i}+y\vec{j}+z\vec{k}</a:t>
                </a:r>
                <a:r>
                  <a:rPr sz="1900">
                    <a:solidFill>
                      <a:srgbClr val="1E293B"/>
                    </a:solidFill>
                    <a:latin typeface="Calibri"/>
                  </a:rPr>
                  <a:t> với </a:t>
                </a:r>
                <a:r>
                  <a:rPr lang="vi-VN"/>
                  <a:t>x,\ y,\ z</a:t>
                </a:r>
                <a:r>
                  <a:rPr sz="1900">
                    <a:solidFill>
                      <a:srgbClr val="1E293B"/>
                    </a:solidFill>
                    <a:latin typeface="Calibri"/>
                  </a:rPr>
                  <a:t> là các số thực.</a:t>
                </a:r>
              </a:p>
            </p:txBody>
          </p:sp>
        </mc:Fallback>
      </mc:AlternateContent>
      <p:sp>
        <p:nvSpPr>
          <p:cNvPr id="8" name="s1_nen"/>
          <p:cNvSpPr/>
          <p:nvPr/>
        </p:nvSpPr>
        <p:spPr>
          <a:xfrm>
            <a:off x="548640" y="3057144"/>
            <a:ext cx="8595360" cy="554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1_chu"/>
          <p:cNvSpPr txBox="1"/>
          <p:nvPr/>
        </p:nvSpPr>
        <p:spPr>
          <a:xfrm>
            <a:off x="713232" y="3093720"/>
            <a:ext cx="826617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a) Bằng nhau – quy tắc hình hộp.</a:t>
            </a:r>
          </a:p>
        </p:txBody>
      </p:sp>
      <p:sp>
        <p:nvSpPr>
          <p:cNvPr id="10" name="s2_nen"/>
          <p:cNvSpPr/>
          <p:nvPr/>
        </p:nvSpPr>
        <p:spPr>
          <a:xfrm>
            <a:off x="548640" y="3675888"/>
            <a:ext cx="859536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712464"/>
                <a:ext cx="826617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b) </a:t>
                </a:r>
                <a14:m>
                  <m:oMath xmlns:m="http://schemas.openxmlformats.org/officeDocument/2006/math">
                    <m:acc>
                      <m:accPr>
                        <m:chr m:val="⃗"/>
                      </m:accPr>
                      <m:e>
                        <m:r>
                          <a:rPr lang="vi-VN" sz="1900" b="0">
                            <a:solidFill>
                              <a:srgbClr val="1E293B"/>
                            </a:solidFill>
                            <a:latin typeface="Cambria Math" panose="02040503050406030204" pitchFamily="18" charset="0"/>
                          </a:rPr>
                          <m:t>OA</m:t>
                        </m:r>
                      </m:e>
                    </m:acc>
                  </m:oMath>
                </a14:m>
                <a:r>
                  <a:rPr sz="1900">
                    <a:solidFill>
                      <a:srgbClr val="1E293B"/>
                    </a:solidFill>
                    <a:latin typeface="Calibri"/>
                  </a:rPr>
                  <a:t> cùng phương </a:t>
                </a:r>
                <a14:m>
                  <m:oMath xmlns:m="http://schemas.openxmlformats.org/officeDocument/2006/math">
                    <m:acc>
                      <m:accPr>
                        <m:chr m:val="⃗"/>
                      </m:accPr>
                      <m:e>
                        <m:r>
                          <a:rPr lang="vi-VN" sz="1900" b="0">
                            <a:solidFill>
                              <a:srgbClr val="1E293B"/>
                            </a:solidFill>
                            <a:latin typeface="Cambria Math" panose="02040503050406030204" pitchFamily="18" charset="0"/>
                          </a:rPr>
                          <m:t>i</m:t>
                        </m:r>
                      </m:e>
                    </m:acc>
                  </m:oMath>
                </a14:m>
                <a:r>
                  <a:rPr sz="1900">
                    <a:solidFill>
                      <a:srgbClr val="1E293B"/>
                    </a:solidFill>
                    <a:latin typeface="Calibri"/>
                  </a:rPr>
                  <a:t> nên </a:t>
                </a:r>
                <a14:m>
                  <m:oMath xmlns:m="http://schemas.openxmlformats.org/officeDocument/2006/math">
                    <m:acc>
                      <m:accPr>
                        <m:chr m:val="⃗"/>
                      </m:accPr>
                      <m:e>
                        <m:r>
                          <a:rPr lang="vi-VN" sz="1900" b="0">
                            <a:solidFill>
                              <a:srgbClr val="1E293B"/>
                            </a:solidFill>
                            <a:latin typeface="Cambria Math" panose="02040503050406030204" pitchFamily="18" charset="0"/>
                          </a:rPr>
                          <m:t>OA</m:t>
                        </m:r>
                      </m:e>
                    </m:acc>
                  </m:oMath>
                </a14:m>
                <a:r>
                  <a:rPr sz="1900">
                    <a:solidFill>
                      <a:srgbClr val="1E293B"/>
                    </a:solidFill>
                    <a:latin typeface="Calibri"/>
                  </a:rPr>
                  <a:t> = </a:t>
                </a:r>
                <a14:m>
                  <m:oMath xmlns:m="http://schemas.openxmlformats.org/officeDocument/2006/math">
                    <m:r>
                      <a:rPr lang="vi-VN" sz="1900" b="0">
                        <a:solidFill>
                          <a:srgbClr val="1E293B"/>
                        </a:solidFill>
                        <a:latin typeface="Cambria Math" panose="02040503050406030204" pitchFamily="18" charset="0"/>
                      </a:rPr>
                      <m:t>x</m:t>
                    </m:r>
                    <m:acc>
                      <m:accPr>
                        <m:chr m:val="⃗"/>
                      </m:accPr>
                      <m:e>
                        <m:r>
                          <a:rPr lang="vi-VN" sz="1900" b="0">
                            <a:solidFill>
                              <a:srgbClr val="1E293B"/>
                            </a:solidFill>
                            <a:latin typeface="Cambria Math" panose="02040503050406030204" pitchFamily="18" charset="0"/>
                          </a:rPr>
                          <m:t>i</m:t>
                        </m:r>
                      </m:e>
                    </m:acc>
                  </m:oMath>
                </a14:m>
                <a:r>
                  <a:rPr sz="1900">
                    <a:solidFill>
                      <a:srgbClr val="1E293B"/>
                    </a:solidFill>
                    <a:latin typeface="Calibri"/>
                  </a:rPr>
                  <a:t>; tương tự </a:t>
                </a:r>
                <a14:m>
                  <m:oMath xmlns:m="http://schemas.openxmlformats.org/officeDocument/2006/math">
                    <m:acc>
                      <m:accPr>
                        <m:chr m:val="⃗"/>
                      </m:accPr>
                      <m:e>
                        <m:r>
                          <a:rPr lang="vi-VN" sz="1900" b="0">
                            <a:solidFill>
                              <a:srgbClr val="1E293B"/>
                            </a:solidFill>
                            <a:latin typeface="Cambria Math" panose="02040503050406030204" pitchFamily="18" charset="0"/>
                          </a:rPr>
                          <m:t>OB</m:t>
                        </m:r>
                      </m:e>
                    </m:acc>
                  </m:oMath>
                </a14:m>
                <a:r>
                  <a:rPr sz="1900">
                    <a:solidFill>
                      <a:srgbClr val="1E293B"/>
                    </a:solidFill>
                    <a:latin typeface="Calibri"/>
                  </a:rPr>
                  <a:t> = </a:t>
                </a:r>
                <a14:m>
                  <m:oMath xmlns:m="http://schemas.openxmlformats.org/officeDocument/2006/math">
                    <m:r>
                      <a:rPr lang="vi-VN" sz="1900" b="0">
                        <a:solidFill>
                          <a:srgbClr val="1E293B"/>
                        </a:solidFill>
                        <a:latin typeface="Cambria Math" panose="02040503050406030204" pitchFamily="18" charset="0"/>
                      </a:rPr>
                      <m:t>y</m:t>
                    </m:r>
                    <m:acc>
                      <m:accPr>
                        <m:chr m:val="⃗"/>
                      </m:accPr>
                      <m:e>
                        <m:r>
                          <a:rPr lang="vi-VN" sz="1900" b="0">
                            <a:solidFill>
                              <a:srgbClr val="1E293B"/>
                            </a:solidFill>
                            <a:latin typeface="Cambria Math" panose="02040503050406030204" pitchFamily="18" charset="0"/>
                          </a:rPr>
                          <m:t>j</m:t>
                        </m:r>
                      </m:e>
                    </m:acc>
                  </m:oMath>
                </a14:m>
                <a:r>
                  <a:rPr sz="1900">
                    <a:solidFill>
                      <a:srgbClr val="1E293B"/>
                    </a:solidFill>
                    <a:latin typeface="Calibri"/>
                  </a:rPr>
                  <a:t>, </a:t>
                </a:r>
                <a14:m>
                  <m:oMath xmlns:m="http://schemas.openxmlformats.org/officeDocument/2006/math">
                    <m:acc>
                      <m:accPr>
                        <m:chr m:val="⃗"/>
                      </m:accPr>
                      <m:e>
                        <m:r>
                          <a:rPr lang="vi-VN" sz="1900" b="0">
                            <a:solidFill>
                              <a:srgbClr val="1E293B"/>
                            </a:solidFill>
                            <a:latin typeface="Cambria Math" panose="02040503050406030204" pitchFamily="18" charset="0"/>
                          </a:rPr>
                          <m:t>OC</m:t>
                        </m:r>
                      </m:e>
                    </m:acc>
                  </m:oMath>
                </a14:m>
                <a:r>
                  <a:rPr sz="1900">
                    <a:solidFill>
                      <a:srgbClr val="1E293B"/>
                    </a:solidFill>
                    <a:latin typeface="Calibri"/>
                  </a:rPr>
                  <a:t> = </a:t>
                </a:r>
                <a14:m>
                  <m:oMath xmlns:m="http://schemas.openxmlformats.org/officeDocument/2006/math">
                    <m:r>
                      <a:rPr lang="vi-VN" sz="1900" b="0">
                        <a:solidFill>
                          <a:srgbClr val="1E293B"/>
                        </a:solidFill>
                        <a:latin typeface="Cambria Math" panose="02040503050406030204" pitchFamily="18" charset="0"/>
                      </a:rPr>
                      <m:t>z</m:t>
                    </m:r>
                    <m:acc>
                      <m:accPr>
                        <m:chr m:val="⃗"/>
                      </m:accPr>
                      <m:e>
                        <m:r>
                          <a:rPr lang="vi-VN" sz="1900" b="0">
                            <a:solidFill>
                              <a:srgbClr val="1E293B"/>
                            </a:solidFill>
                            <a:latin typeface="Cambria Math" panose="02040503050406030204" pitchFamily="18" charset="0"/>
                          </a:rPr>
                          <m:t>k</m:t>
                        </m:r>
                      </m:e>
                    </m:acc>
                  </m:oMath>
                </a14:m>
                <a:r>
                  <a:rPr sz="1900">
                    <a:solidFill>
                      <a:srgbClr val="1E293B"/>
                    </a:solidFill>
                    <a:latin typeface="Calibri"/>
                  </a:rPr>
                  <a:t>.</a:t>
                </a:r>
              </a:p>
            </p:txBody>
          </p:sp>
        </mc:Choice>
        <mc:Fallback>
          <p:sp>
            <p:nvSpPr>
              <p:cNvPr id="11" name="TextBox 10"/>
              <p:cNvSpPr txBox="1"/>
              <p:nvPr/>
            </p:nvSpPr>
            <p:spPr>
              <a:xfrm>
                <a:off x="713232" y="3712464"/>
                <a:ext cx="826617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b) </a:t>
                </a:r>
                <a:r>
                  <a:rPr lang="vi-VN"/>
                  <a:t>\overrightarrow{OA}</a:t>
                </a:r>
                <a:r>
                  <a:rPr sz="1900">
                    <a:solidFill>
                      <a:srgbClr val="1E293B"/>
                    </a:solidFill>
                    <a:latin typeface="Calibri"/>
                  </a:rPr>
                  <a:t> cùng phương </a:t>
                </a:r>
                <a:r>
                  <a:rPr lang="vi-VN"/>
                  <a:t>\vec{i}</a:t>
                </a:r>
                <a:r>
                  <a:rPr sz="1900">
                    <a:solidFill>
                      <a:srgbClr val="1E293B"/>
                    </a:solidFill>
                    <a:latin typeface="Calibri"/>
                  </a:rPr>
                  <a:t> nên </a:t>
                </a:r>
                <a:r>
                  <a:rPr lang="vi-VN"/>
                  <a:t>\overrightarrow{OA}</a:t>
                </a:r>
                <a:r>
                  <a:rPr sz="1900">
                    <a:solidFill>
                      <a:srgbClr val="1E293B"/>
                    </a:solidFill>
                    <a:latin typeface="Calibri"/>
                  </a:rPr>
                  <a:t> = </a:t>
                </a:r>
                <a:r>
                  <a:rPr lang="vi-VN"/>
                  <a:t>x\vec{i}</a:t>
                </a:r>
                <a:r>
                  <a:rPr sz="1900">
                    <a:solidFill>
                      <a:srgbClr val="1E293B"/>
                    </a:solidFill>
                    <a:latin typeface="Calibri"/>
                  </a:rPr>
                  <a:t>; tương tự </a:t>
                </a:r>
                <a:r>
                  <a:rPr lang="vi-VN"/>
                  <a:t>\overrightarrow{OB}</a:t>
                </a:r>
                <a:r>
                  <a:rPr sz="1900">
                    <a:solidFill>
                      <a:srgbClr val="1E293B"/>
                    </a:solidFill>
                    <a:latin typeface="Calibri"/>
                  </a:rPr>
                  <a:t> = </a:t>
                </a:r>
                <a:r>
                  <a:rPr lang="vi-VN"/>
                  <a:t>y\vec{j}</a:t>
                </a:r>
                <a:r>
                  <a:rPr sz="1900">
                    <a:solidFill>
                      <a:srgbClr val="1E293B"/>
                    </a:solidFill>
                    <a:latin typeface="Calibri"/>
                  </a:rPr>
                  <a:t>, </a:t>
                </a:r>
                <a:r>
                  <a:rPr lang="vi-VN"/>
                  <a:t>\overrightarrow{OC}</a:t>
                </a:r>
                <a:r>
                  <a:rPr sz="1900">
                    <a:solidFill>
                      <a:srgbClr val="1E293B"/>
                    </a:solidFill>
                    <a:latin typeface="Calibri"/>
                  </a:rPr>
                  <a:t> = </a:t>
                </a:r>
                <a:r>
                  <a:rPr lang="vi-VN"/>
                  <a:t>z\vec{k}</a:t>
                </a:r>
                <a:r>
                  <a:rPr sz="1900">
                    <a:solidFill>
                      <a:srgbClr val="1E293B"/>
                    </a:solidFill>
                    <a:latin typeface="Calibri"/>
                  </a:rPr>
                  <a:t>.</a:t>
                </a:r>
              </a:p>
            </p:txBody>
          </p:sp>
        </mc:Fallback>
      </mc:AlternateContent>
      <p:sp>
        <p:nvSpPr>
          <p:cNvPr id="12" name="Rounded Rectangle 11"/>
          <p:cNvSpPr/>
          <p:nvPr/>
        </p:nvSpPr>
        <p:spPr>
          <a:xfrm>
            <a:off x="548640" y="4584192"/>
            <a:ext cx="8595360" cy="1423416"/>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4620768"/>
                <a:ext cx="8266176" cy="1350264"/>
              </a:xfrm>
              <a:prstGeom prst="rect">
                <a:avLst/>
              </a:prstGeom>
              <a:noFill/>
            </p:spPr>
            <p:txBody>
              <a:bodyPr wrap="square" anchor="ctr" lIns="45720" rIns="45720">
                <a:spAutoFit/>
              </a:bodyPr>
              <a:lstStyle/>
              <a:p>
                <a:pPr algn="l">
                  <a:spcAft>
                    <a:spcPts val="800"/>
                  </a:spcAft>
                </a:pPr>
                <a:r>
                  <a:rPr sz="1900">
                    <a:solidFill>
                      <a:srgbClr val="1E293B"/>
                    </a:solidFill>
                    <a:latin typeface="Calibri"/>
                  </a:rPr>
                  <a:t>Trong không gian </a:t>
                </a:r>
                <a14:m>
                  <m:oMath xmlns:m="http://schemas.openxmlformats.org/officeDocument/2006/math">
                    <m:r>
                      <a:rPr lang="vi-VN" sz="1900" b="0">
                        <a:solidFill>
                          <a:srgbClr val="1E293B"/>
                        </a:solidFill>
                        <a:latin typeface="Cambria Math" panose="02040503050406030204" pitchFamily="18" charset="0"/>
                      </a:rPr>
                      <m:t>Oxyz</m:t>
                    </m:r>
                  </m:oMath>
                </a14:m>
                <a:r>
                  <a:rPr sz="1900">
                    <a:solidFill>
                      <a:srgbClr val="1E293B"/>
                    </a:solidFill>
                    <a:latin typeface="Calibri"/>
                  </a:rPr>
                  <a:t>, cho một điểm </a:t>
                </a:r>
                <a14:m>
                  <m:oMath xmlns:m="http://schemas.openxmlformats.org/officeDocument/2006/math">
                    <m:r>
                      <a:rPr lang="vi-VN" sz="1900" b="0">
                        <a:solidFill>
                          <a:srgbClr val="1E293B"/>
                        </a:solidFill>
                        <a:latin typeface="Cambria Math" panose="02040503050406030204" pitchFamily="18" charset="0"/>
                      </a:rPr>
                      <m:t>M</m:t>
                    </m:r>
                  </m:oMath>
                </a14:m>
                <a:r>
                  <a:rPr sz="1900">
                    <a:solidFill>
                      <a:srgbClr val="1E293B"/>
                    </a:solidFill>
                    <a:latin typeface="Calibri"/>
                  </a:rPr>
                  <a:t> tuỳ ý. Bộ ba số </a:t>
                </a:r>
                <a14:m>
                  <m:oMath xmlns:m="http://schemas.openxmlformats.org/officeDocument/2006/math">
                    <m:d>
                      <m:dPr>
                        <m:sepChr m:val=""/>
                      </m:dPr>
                      <m:e>
                        <m:r>
                          <a:rPr lang="vi-VN" sz="1900" b="0">
                            <a:solidFill>
                              <a:srgbClr val="1E293B"/>
                            </a:solidFill>
                            <a:latin typeface="Cambria Math" panose="02040503050406030204" pitchFamily="18" charset="0"/>
                          </a:rPr>
                          <m:t>x</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y</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z</m:t>
                        </m:r>
                      </m:e>
                    </m:d>
                  </m:oMath>
                </a14:m>
                <a:r>
                  <a:rPr sz="1900">
                    <a:solidFill>
                      <a:srgbClr val="1E293B"/>
                    </a:solidFill>
                    <a:latin typeface="Calibri"/>
                  </a:rPr>
                  <a:t> duy nhất sao cho </a:t>
                </a:r>
                <a14:m>
                  <m:oMath xmlns:m="http://schemas.openxmlformats.org/officeDocument/2006/math">
                    <m:acc>
                      <m:accPr>
                        <m:chr m:val="⃗"/>
                      </m:accPr>
                      <m:e>
                        <m:r>
                          <a:rPr lang="vi-VN" sz="1900" b="0">
                            <a:solidFill>
                              <a:srgbClr val="1E293B"/>
                            </a:solidFill>
                            <a:latin typeface="Cambria Math" panose="02040503050406030204" pitchFamily="18" charset="0"/>
                          </a:rPr>
                          <m:t>OM</m:t>
                        </m:r>
                      </m:e>
                    </m:acc>
                  </m:oMath>
                </a14:m>
                <a:r>
                  <a:rPr sz="1900">
                    <a:solidFill>
                      <a:srgbClr val="1E293B"/>
                    </a:solidFill>
                    <a:latin typeface="Calibri"/>
                  </a:rPr>
                  <a:t> = </a:t>
                </a:r>
                <a14:m>
                  <m:oMath xmlns:m="http://schemas.openxmlformats.org/officeDocument/2006/math">
                    <m:r>
                      <a:rPr lang="vi-VN" sz="1900" b="0">
                        <a:solidFill>
                          <a:srgbClr val="1E293B"/>
                        </a:solidFill>
                        <a:latin typeface="Cambria Math" panose="02040503050406030204" pitchFamily="18" charset="0"/>
                      </a:rPr>
                      <m:t>x</m:t>
                    </m:r>
                    <m:acc>
                      <m:accPr>
                        <m:chr m:val="⃗"/>
                      </m:accPr>
                      <m:e>
                        <m:r>
                          <a:rPr lang="vi-VN" sz="1900" b="0">
                            <a:solidFill>
                              <a:srgbClr val="1E293B"/>
                            </a:solidFill>
                            <a:latin typeface="Cambria Math" panose="02040503050406030204" pitchFamily="18" charset="0"/>
                          </a:rPr>
                          <m:t>i</m:t>
                        </m:r>
                      </m:e>
                    </m:acc>
                    <m:r>
                      <a:rPr lang="vi-VN" sz="1900" b="0">
                        <a:solidFill>
                          <a:srgbClr val="1E293B"/>
                        </a:solidFill>
                        <a:latin typeface="Cambria Math" panose="02040503050406030204" pitchFamily="18" charset="0"/>
                      </a:rPr>
                      <m:t>+y</m:t>
                    </m:r>
                    <m:acc>
                      <m:accPr>
                        <m:chr m:val="⃗"/>
                      </m:accPr>
                      <m:e>
                        <m:r>
                          <a:rPr lang="vi-VN" sz="1900" b="0">
                            <a:solidFill>
                              <a:srgbClr val="1E293B"/>
                            </a:solidFill>
                            <a:latin typeface="Cambria Math" panose="02040503050406030204" pitchFamily="18" charset="0"/>
                          </a:rPr>
                          <m:t>j</m:t>
                        </m:r>
                      </m:e>
                    </m:acc>
                    <m:r>
                      <a:rPr lang="vi-VN" sz="1900" b="0">
                        <a:solidFill>
                          <a:srgbClr val="1E293B"/>
                        </a:solidFill>
                        <a:latin typeface="Cambria Math" panose="02040503050406030204" pitchFamily="18" charset="0"/>
                      </a:rPr>
                      <m:t>+z</m:t>
                    </m:r>
                    <m:acc>
                      <m:accPr>
                        <m:chr m:val="⃗"/>
                      </m:accPr>
                      <m:e>
                        <m:r>
                          <a:rPr lang="vi-VN" sz="1900" b="0">
                            <a:solidFill>
                              <a:srgbClr val="1E293B"/>
                            </a:solidFill>
                            <a:latin typeface="Cambria Math" panose="02040503050406030204" pitchFamily="18" charset="0"/>
                          </a:rPr>
                          <m:t>k</m:t>
                        </m:r>
                      </m:e>
                    </m:acc>
                  </m:oMath>
                </a14:m>
                <a:r>
                  <a:rPr sz="1900">
                    <a:solidFill>
                      <a:srgbClr val="1E293B"/>
                    </a:solidFill>
                    <a:latin typeface="Calibri"/>
                  </a:rPr>
                  <a:t> được gọi là </a:t>
                </a:r>
                <a:r>
                  <a:rPr sz="1900" b="1">
                    <a:solidFill>
                      <a:srgbClr val="1E293B"/>
                    </a:solidFill>
                    <a:latin typeface="Calibri"/>
                  </a:rPr>
                  <a:t>toạ độ</a:t>
                </a:r>
                <a:r>
                  <a:rPr sz="1900">
                    <a:solidFill>
                      <a:srgbClr val="1E293B"/>
                    </a:solidFill>
                    <a:latin typeface="Calibri"/>
                  </a:rPr>
                  <a:t> của điểm </a:t>
                </a:r>
                <a14:m>
                  <m:oMath xmlns:m="http://schemas.openxmlformats.org/officeDocument/2006/math">
                    <m:r>
                      <a:rPr lang="vi-VN" sz="1900" b="0">
                        <a:solidFill>
                          <a:srgbClr val="1E293B"/>
                        </a:solidFill>
                        <a:latin typeface="Cambria Math" panose="02040503050406030204" pitchFamily="18" charset="0"/>
                      </a:rPr>
                      <m:t>M</m:t>
                    </m:r>
                  </m:oMath>
                </a14:m>
                <a:r>
                  <a:rPr sz="1900">
                    <a:solidFill>
                      <a:srgbClr val="1E293B"/>
                    </a:solidFill>
                    <a:latin typeface="Calibri"/>
                  </a:rPr>
                  <a:t> đối với hệ toạ độ </a:t>
                </a:r>
                <a14:m>
                  <m:oMath xmlns:m="http://schemas.openxmlformats.org/officeDocument/2006/math">
                    <m:r>
                      <a:rPr lang="vi-VN" sz="1900" b="0">
                        <a:solidFill>
                          <a:srgbClr val="1E293B"/>
                        </a:solidFill>
                        <a:latin typeface="Cambria Math" panose="02040503050406030204" pitchFamily="18" charset="0"/>
                      </a:rPr>
                      <m:t>Oxyz</m:t>
                    </m:r>
                  </m:oMath>
                </a14:m>
                <a:r>
                  <a:rPr sz="1900">
                    <a:solidFill>
                      <a:srgbClr val="1E293B"/>
                    </a:solidFill>
                    <a:latin typeface="Calibri"/>
                  </a:rPr>
                  <a:t>. Ta viết </a:t>
                </a:r>
                <a14:m>
                  <m:oMath xmlns:m="http://schemas.openxmlformats.org/officeDocument/2006/math">
                    <m:r>
                      <a:rPr lang="vi-VN" sz="1900" b="0">
                        <a:solidFill>
                          <a:srgbClr val="1E293B"/>
                        </a:solidFill>
                        <a:latin typeface="Cambria Math" panose="02040503050406030204" pitchFamily="18" charset="0"/>
                      </a:rPr>
                      <m:t>M=(x;</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y;</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z)</m:t>
                    </m:r>
                  </m:oMath>
                </a14:m>
                <a:r>
                  <a:rPr sz="1900">
                    <a:solidFill>
                      <a:srgbClr val="1E293B"/>
                    </a:solidFill>
                    <a:latin typeface="Calibri"/>
                  </a:rPr>
                  <a:t> hoặc </a:t>
                </a:r>
                <a14:m>
                  <m:oMath xmlns:m="http://schemas.openxmlformats.org/officeDocument/2006/math">
                    <m:r>
                      <a:rPr lang="vi-VN" sz="1900" b="0">
                        <a:solidFill>
                          <a:srgbClr val="1E293B"/>
                        </a:solidFill>
                        <a:latin typeface="Cambria Math" panose="02040503050406030204" pitchFamily="18" charset="0"/>
                      </a:rPr>
                      <m:t>M(x;</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y;</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z)</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x</m:t>
                    </m:r>
                  </m:oMath>
                </a14:m>
                <a:r>
                  <a:rPr sz="1900">
                    <a:solidFill>
                      <a:srgbClr val="1E293B"/>
                    </a:solidFill>
                    <a:latin typeface="Calibri"/>
                  </a:rPr>
                  <a:t>: </a:t>
                </a:r>
                <a:r>
                  <a:rPr sz="1900" b="1">
                    <a:solidFill>
                      <a:srgbClr val="1E293B"/>
                    </a:solidFill>
                    <a:latin typeface="Calibri"/>
                  </a:rPr>
                  <a:t>hoành độ</a:t>
                </a:r>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y</m:t>
                    </m:r>
                  </m:oMath>
                </a14:m>
                <a:r>
                  <a:rPr sz="1900">
                    <a:solidFill>
                      <a:srgbClr val="1E293B"/>
                    </a:solidFill>
                    <a:latin typeface="Calibri"/>
                  </a:rPr>
                  <a:t>: </a:t>
                </a:r>
                <a:r>
                  <a:rPr sz="1900" b="1">
                    <a:solidFill>
                      <a:srgbClr val="1E293B"/>
                    </a:solidFill>
                    <a:latin typeface="Calibri"/>
                  </a:rPr>
                  <a:t>tung độ</a:t>
                </a:r>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z</m:t>
                    </m:r>
                  </m:oMath>
                </a14:m>
                <a:r>
                  <a:rPr sz="1900">
                    <a:solidFill>
                      <a:srgbClr val="1E293B"/>
                    </a:solidFill>
                    <a:latin typeface="Calibri"/>
                  </a:rPr>
                  <a:t>: </a:t>
                </a:r>
                <a:r>
                  <a:rPr sz="1900" b="1">
                    <a:solidFill>
                      <a:srgbClr val="1E293B"/>
                    </a:solidFill>
                    <a:latin typeface="Calibri"/>
                  </a:rPr>
                  <a:t>cao độ</a:t>
                </a:r>
                <a:r>
                  <a:rPr sz="1900">
                    <a:solidFill>
                      <a:srgbClr val="1E293B"/>
                    </a:solidFill>
                    <a:latin typeface="Calibri"/>
                  </a:rPr>
                  <a:t> của </a:t>
                </a:r>
                <a14:m>
                  <m:oMath xmlns:m="http://schemas.openxmlformats.org/officeDocument/2006/math">
                    <m:r>
                      <a:rPr lang="vi-VN" sz="1900" b="0">
                        <a:solidFill>
                          <a:srgbClr val="1E293B"/>
                        </a:solidFill>
                        <a:latin typeface="Cambria Math" panose="02040503050406030204" pitchFamily="18" charset="0"/>
                      </a:rPr>
                      <m:t>M</m:t>
                    </m:r>
                  </m:oMath>
                </a14:m>
                <a:r>
                  <a:rPr sz="1900">
                    <a:solidFill>
                      <a:srgbClr val="1E293B"/>
                    </a:solidFill>
                    <a:latin typeface="Calibri"/>
                  </a:rPr>
                  <a:t>.</a:t>
                </a:r>
              </a:p>
            </p:txBody>
          </p:sp>
        </mc:Choice>
        <mc:Fallback>
          <p:sp>
            <p:nvSpPr>
              <p:cNvPr id="13" name="TextBox 12"/>
              <p:cNvSpPr txBox="1"/>
              <p:nvPr/>
            </p:nvSpPr>
            <p:spPr>
              <a:xfrm>
                <a:off x="713232" y="4620768"/>
                <a:ext cx="8266176" cy="1350264"/>
              </a:xfrm>
              <a:prstGeom prst="rect">
                <a:avLst/>
              </a:prstGeom>
              <a:noFill/>
            </p:spPr>
            <p:txBody>
              <a:bodyPr wrap="square" anchor="ctr" lIns="45720" rIns="45720">
                <a:spAutoFit/>
              </a:bodyPr>
              <a:lstStyle/>
              <a:p>
                <a:pPr algn="l">
                  <a:spcAft>
                    <a:spcPts val="800"/>
                  </a:spcAft>
                </a:pPr>
                <a:r>
                  <a:rPr sz="1900">
                    <a:solidFill>
                      <a:srgbClr val="1E293B"/>
                    </a:solidFill>
                    <a:latin typeface="Calibri"/>
                  </a:rPr>
                  <a:t>Trong không gian </a:t>
                </a:r>
                <a:r>
                  <a:rPr lang="vi-VN"/>
                  <a:t>Oxyz</a:t>
                </a:r>
                <a:r>
                  <a:rPr sz="1900">
                    <a:solidFill>
                      <a:srgbClr val="1E293B"/>
                    </a:solidFill>
                    <a:latin typeface="Calibri"/>
                  </a:rPr>
                  <a:t>, cho một điểm </a:t>
                </a:r>
                <a:r>
                  <a:rPr lang="vi-VN"/>
                  <a:t>M</a:t>
                </a:r>
                <a:r>
                  <a:rPr sz="1900">
                    <a:solidFill>
                      <a:srgbClr val="1E293B"/>
                    </a:solidFill>
                    <a:latin typeface="Calibri"/>
                  </a:rPr>
                  <a:t> tuỳ ý. Bộ ba số </a:t>
                </a:r>
                <a:r>
                  <a:rPr lang="vi-VN"/>
                  <a:t>(x;\ y;\ z)</a:t>
                </a:r>
                <a:r>
                  <a:rPr sz="1900">
                    <a:solidFill>
                      <a:srgbClr val="1E293B"/>
                    </a:solidFill>
                    <a:latin typeface="Calibri"/>
                  </a:rPr>
                  <a:t> duy nhất sao cho </a:t>
                </a:r>
                <a:r>
                  <a:rPr lang="vi-VN"/>
                  <a:t>\overrightarrow{OM}</a:t>
                </a:r>
                <a:r>
                  <a:rPr sz="1900">
                    <a:solidFill>
                      <a:srgbClr val="1E293B"/>
                    </a:solidFill>
                    <a:latin typeface="Calibri"/>
                  </a:rPr>
                  <a:t> = </a:t>
                </a:r>
                <a:r>
                  <a:rPr lang="vi-VN"/>
                  <a:t>x\vec{i}+y\vec{j}+z\vec{k}</a:t>
                </a:r>
                <a:r>
                  <a:rPr sz="1900">
                    <a:solidFill>
                      <a:srgbClr val="1E293B"/>
                    </a:solidFill>
                    <a:latin typeface="Calibri"/>
                  </a:rPr>
                  <a:t> được gọi là </a:t>
                </a:r>
                <a:r>
                  <a:rPr sz="1900" b="1">
                    <a:solidFill>
                      <a:srgbClr val="1E293B"/>
                    </a:solidFill>
                    <a:latin typeface="Calibri"/>
                  </a:rPr>
                  <a:t>toạ độ</a:t>
                </a:r>
                <a:r>
                  <a:rPr sz="1900">
                    <a:solidFill>
                      <a:srgbClr val="1E293B"/>
                    </a:solidFill>
                    <a:latin typeface="Calibri"/>
                  </a:rPr>
                  <a:t> của điểm </a:t>
                </a:r>
                <a:r>
                  <a:rPr lang="vi-VN"/>
                  <a:t>M</a:t>
                </a:r>
                <a:r>
                  <a:rPr sz="1900">
                    <a:solidFill>
                      <a:srgbClr val="1E293B"/>
                    </a:solidFill>
                    <a:latin typeface="Calibri"/>
                  </a:rPr>
                  <a:t> đối với hệ toạ độ </a:t>
                </a:r>
                <a:r>
                  <a:rPr lang="vi-VN"/>
                  <a:t>Oxyz</a:t>
                </a:r>
                <a:r>
                  <a:rPr sz="1900">
                    <a:solidFill>
                      <a:srgbClr val="1E293B"/>
                    </a:solidFill>
                    <a:latin typeface="Calibri"/>
                  </a:rPr>
                  <a:t>. Ta viết </a:t>
                </a:r>
                <a:r>
                  <a:rPr lang="vi-VN"/>
                  <a:t>M=(x;\ y;\ z)</a:t>
                </a:r>
                <a:r>
                  <a:rPr sz="1900">
                    <a:solidFill>
                      <a:srgbClr val="1E293B"/>
                    </a:solidFill>
                    <a:latin typeface="Calibri"/>
                  </a:rPr>
                  <a:t> hoặc </a:t>
                </a:r>
                <a:r>
                  <a:rPr lang="vi-VN"/>
                  <a:t>M(x;\ y;\ z)</a:t>
                </a:r>
                <a:r>
                  <a:rPr sz="1900">
                    <a:solidFill>
                      <a:srgbClr val="1E293B"/>
                    </a:solidFill>
                    <a:latin typeface="Calibri"/>
                  </a:rPr>
                  <a:t>; </a:t>
                </a:r>
                <a:r>
                  <a:rPr lang="vi-VN"/>
                  <a:t>x</a:t>
                </a:r>
                <a:r>
                  <a:rPr sz="1900">
                    <a:solidFill>
                      <a:srgbClr val="1E293B"/>
                    </a:solidFill>
                    <a:latin typeface="Calibri"/>
                  </a:rPr>
                  <a:t>: </a:t>
                </a:r>
                <a:r>
                  <a:rPr sz="1900" b="1">
                    <a:solidFill>
                      <a:srgbClr val="1E293B"/>
                    </a:solidFill>
                    <a:latin typeface="Calibri"/>
                  </a:rPr>
                  <a:t>hoành độ</a:t>
                </a:r>
                <a:r>
                  <a:rPr sz="1900">
                    <a:solidFill>
                      <a:srgbClr val="1E293B"/>
                    </a:solidFill>
                    <a:latin typeface="Calibri"/>
                  </a:rPr>
                  <a:t>, </a:t>
                </a:r>
                <a:r>
                  <a:rPr lang="vi-VN"/>
                  <a:t>y</a:t>
                </a:r>
                <a:r>
                  <a:rPr sz="1900">
                    <a:solidFill>
                      <a:srgbClr val="1E293B"/>
                    </a:solidFill>
                    <a:latin typeface="Calibri"/>
                  </a:rPr>
                  <a:t>: </a:t>
                </a:r>
                <a:r>
                  <a:rPr sz="1900" b="1">
                    <a:solidFill>
                      <a:srgbClr val="1E293B"/>
                    </a:solidFill>
                    <a:latin typeface="Calibri"/>
                  </a:rPr>
                  <a:t>tung độ</a:t>
                </a:r>
                <a:r>
                  <a:rPr sz="1900">
                    <a:solidFill>
                      <a:srgbClr val="1E293B"/>
                    </a:solidFill>
                    <a:latin typeface="Calibri"/>
                  </a:rPr>
                  <a:t>, </a:t>
                </a:r>
                <a:r>
                  <a:rPr lang="vi-VN"/>
                  <a:t>z</a:t>
                </a:r>
                <a:r>
                  <a:rPr sz="1900">
                    <a:solidFill>
                      <a:srgbClr val="1E293B"/>
                    </a:solidFill>
                    <a:latin typeface="Calibri"/>
                  </a:rPr>
                  <a:t>: </a:t>
                </a:r>
                <a:r>
                  <a:rPr sz="1900" b="1">
                    <a:solidFill>
                      <a:srgbClr val="1E293B"/>
                    </a:solidFill>
                    <a:latin typeface="Calibri"/>
                  </a:rPr>
                  <a:t>cao độ</a:t>
                </a:r>
                <a:r>
                  <a:rPr sz="1900">
                    <a:solidFill>
                      <a:srgbClr val="1E293B"/>
                    </a:solidFill>
                    <a:latin typeface="Calibri"/>
                  </a:rPr>
                  <a:t> của </a:t>
                </a:r>
                <a:r>
                  <a:rPr lang="vi-VN"/>
                  <a:t>M</a:t>
                </a:r>
                <a:r>
                  <a:rPr sz="1900">
                    <a:solidFill>
                      <a:srgbClr val="1E293B"/>
                    </a:solidFill>
                    <a:latin typeface="Calibri"/>
                  </a:rPr>
                  <a:t>.</a:t>
                </a:r>
              </a:p>
            </p:txBody>
          </p:sp>
        </mc:Fallback>
      </mc:AlternateContent>
      <p:sp>
        <p:nvSpPr>
          <p:cNvPr id="14" name="s3_nen"/>
          <p:cNvSpPr/>
          <p:nvPr/>
        </p:nvSpPr>
        <p:spPr>
          <a:xfrm>
            <a:off x="9144000" y="4206240"/>
            <a:ext cx="2560320" cy="8138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s3_chu"/>
              <p:cNvSpPr txBox="1"/>
              <p:nvPr/>
            </p:nvSpPr>
            <p:spPr>
              <a:xfrm>
                <a:off x="9308592" y="4242816"/>
                <a:ext cx="2231136" cy="740664"/>
              </a:xfrm>
              <a:prstGeom prst="rect">
                <a:avLst/>
              </a:prstGeom>
              <a:noFill/>
            </p:spPr>
            <p:txBody>
              <a:bodyPr wrap="square" anchor="ctr" lIns="45720" rIns="45720">
                <a:spAutoFit/>
              </a:bodyPr>
              <a:lstStyle/>
              <a:p>
                <a:pPr algn="l">
                  <a:spcAft>
                    <a:spcPts val="800"/>
                  </a:spcAft>
                </a:pPr>
                <a:r>
                  <a:rPr sz="1800">
                    <a:solidFill>
                      <a:srgbClr val="1E293B"/>
                    </a:solidFill>
                    <a:latin typeface="Calibri"/>
                  </a:rPr>
                  <a:t>❓ Toạ độ gốc </a:t>
                </a:r>
                <a14:m>
                  <m:oMath xmlns:m="http://schemas.openxmlformats.org/officeDocument/2006/math">
                    <m:r>
                      <a:rPr lang="vi-VN" sz="1800" b="0">
                        <a:solidFill>
                          <a:srgbClr val="1E293B"/>
                        </a:solidFill>
                        <a:latin typeface="Cambria Math" panose="02040503050406030204" pitchFamily="18" charset="0"/>
                      </a:rPr>
                      <m:t>O</m:t>
                    </m:r>
                  </m:oMath>
                </a14:m>
                <a:r>
                  <a:rPr sz="1800">
                    <a:solidFill>
                      <a:srgbClr val="1E293B"/>
                    </a:solidFill>
                    <a:latin typeface="Calibri"/>
                  </a:rPr>
                  <a:t>: </a:t>
                </a:r>
                <a14:m>
                  <m:oMath xmlns:m="http://schemas.openxmlformats.org/officeDocument/2006/math">
                    <m:r>
                      <a:rPr lang="vi-VN" sz="1800" b="0">
                        <a:solidFill>
                          <a:srgbClr val="1E293B"/>
                        </a:solidFill>
                        <a:latin typeface="Cambria Math" panose="02040503050406030204" pitchFamily="18" charset="0"/>
                      </a:rPr>
                      <m:t>O(0;</m:t>
                    </m:r>
                    <m:r>
                      <m:rPr>
                        <m:sty m:val="p"/>
                      </m:rPr>
                      <a:rPr lang="vi-VN" sz="1800" b="0">
                        <a:solidFill>
                          <a:srgbClr val="1E293B"/>
                        </a:solidFill>
                        <a:latin typeface="Cambria Math" panose="02040503050406030204" pitchFamily="18" charset="0"/>
                      </a:rPr>
                      <m:t> </m:t>
                    </m:r>
                    <m:r>
                      <a:rPr lang="vi-VN" sz="1800" b="0">
                        <a:solidFill>
                          <a:srgbClr val="1E293B"/>
                        </a:solidFill>
                        <a:latin typeface="Cambria Math" panose="02040503050406030204" pitchFamily="18" charset="0"/>
                      </a:rPr>
                      <m:t>0;</m:t>
                    </m:r>
                    <m:r>
                      <m:rPr>
                        <m:sty m:val="p"/>
                      </m:rPr>
                      <a:rPr lang="vi-VN" sz="1800" b="0">
                        <a:solidFill>
                          <a:srgbClr val="1E293B"/>
                        </a:solidFill>
                        <a:latin typeface="Cambria Math" panose="02040503050406030204" pitchFamily="18" charset="0"/>
                      </a:rPr>
                      <m:t> </m:t>
                    </m:r>
                    <m:r>
                      <a:rPr lang="vi-VN" sz="1800" b="0">
                        <a:solidFill>
                          <a:srgbClr val="1E293B"/>
                        </a:solidFill>
                        <a:latin typeface="Cambria Math" panose="02040503050406030204" pitchFamily="18" charset="0"/>
                      </a:rPr>
                      <m:t>0)</m:t>
                    </m:r>
                  </m:oMath>
                </a14:m>
                <a:r>
                  <a:rPr sz="1800">
                    <a:solidFill>
                      <a:srgbClr val="1E293B"/>
                    </a:solidFill>
                    <a:latin typeface="Calibri"/>
                  </a:rPr>
                  <a:t>.</a:t>
                </a:r>
              </a:p>
            </p:txBody>
          </p:sp>
        </mc:Choice>
        <mc:Fallback>
          <p:sp>
            <p:nvSpPr>
              <p:cNvPr id="15" name="TextBox 14"/>
              <p:cNvSpPr txBox="1"/>
              <p:nvPr/>
            </p:nvSpPr>
            <p:spPr>
              <a:xfrm>
                <a:off x="9308592" y="4242816"/>
                <a:ext cx="2231136" cy="740664"/>
              </a:xfrm>
              <a:prstGeom prst="rect">
                <a:avLst/>
              </a:prstGeom>
              <a:noFill/>
            </p:spPr>
            <p:txBody>
              <a:bodyPr wrap="square" anchor="ctr" lIns="45720" rIns="45720">
                <a:spAutoFit/>
              </a:bodyPr>
              <a:lstStyle/>
              <a:p>
                <a:pPr algn="l">
                  <a:spcAft>
                    <a:spcPts val="800"/>
                  </a:spcAft>
                </a:pPr>
                <a:r>
                  <a:rPr sz="1800">
                    <a:solidFill>
                      <a:srgbClr val="1E293B"/>
                    </a:solidFill>
                    <a:latin typeface="Calibri"/>
                  </a:rPr>
                  <a:t>❓ Toạ độ gốc </a:t>
                </a:r>
                <a:r>
                  <a:rPr lang="vi-VN"/>
                  <a:t>O</a:t>
                </a:r>
                <a:r>
                  <a:rPr sz="1800">
                    <a:solidFill>
                      <a:srgbClr val="1E293B"/>
                    </a:solidFill>
                    <a:latin typeface="Calibri"/>
                  </a:rPr>
                  <a:t>: </a:t>
                </a:r>
                <a:r>
                  <a:rPr lang="vi-VN"/>
                  <a:t>O(0;\ 0;\ 0)</a:t>
                </a:r>
                <a:r>
                  <a:rPr sz="1800">
                    <a:solidFill>
                      <a:srgbClr val="1E293B"/>
                    </a:solidFill>
                    <a:latin typeface="Calibri"/>
                  </a:rPr>
                  <a:t>.</a:t>
                </a:r>
              </a:p>
            </p:txBody>
          </p:sp>
        </mc:Fallback>
      </mc:AlternateContent>
      <p:pic>
        <p:nvPicPr>
          <p:cNvPr id="16" name="Picture 15" descr="h237.png"/>
          <p:cNvPicPr>
            <a:picLocks noChangeAspect="1"/>
          </p:cNvPicPr>
          <p:nvPr/>
        </p:nvPicPr>
        <p:blipFill>
          <a:blip r:embed="rId3"/>
          <a:stretch>
            <a:fillRect/>
          </a:stretch>
        </p:blipFill>
        <p:spPr>
          <a:xfrm>
            <a:off x="9326880" y="1671656"/>
            <a:ext cx="2377440" cy="196020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2 – LUYỆN TẬP 2 (SGK TR.62)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Hệ trục toạ độ trong không gian – Toán 12          10</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6766560" cy="113385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2.</a:t>
                </a:r>
                <a:r>
                  <a:rPr sz="2100">
                    <a:solidFill>
                      <a:srgbClr val="1E293B"/>
                    </a:solidFill>
                    <a:latin typeface="Calibri"/>
                  </a:rPr>
                  <a:t> Hình 2.38 minh hoạ một hệ toạ độ </a:t>
                </a:r>
                <a14:m>
                  <m:oMath xmlns:m="http://schemas.openxmlformats.org/officeDocument/2006/math">
                    <m:r>
                      <a:rPr lang="vi-VN" sz="2100" b="0">
                        <a:solidFill>
                          <a:srgbClr val="1E293B"/>
                        </a:solidFill>
                        <a:latin typeface="Cambria Math" panose="02040503050406030204" pitchFamily="18" charset="0"/>
                      </a:rPr>
                      <m:t>Oxyz</m:t>
                    </m:r>
                  </m:oMath>
                </a14:m>
                <a:r>
                  <a:rPr sz="2100">
                    <a:solidFill>
                      <a:srgbClr val="1E293B"/>
                    </a:solidFill>
                    <a:latin typeface="Calibri"/>
                  </a:rPr>
                  <a:t> trong không gian cùng với các hình vuông có cạnh bằng 1 đơn vị. Tìm toạ độ của điểm </a:t>
                </a:r>
                <a14:m>
                  <m:oMath xmlns:m="http://schemas.openxmlformats.org/officeDocument/2006/math">
                    <m:r>
                      <a:rPr lang="vi-VN" sz="2100" b="0">
                        <a:solidFill>
                          <a:srgbClr val="1E293B"/>
                        </a:solidFill>
                        <a:latin typeface="Cambria Math" panose="02040503050406030204" pitchFamily="18" charset="0"/>
                      </a:rPr>
                      <m:t>M</m:t>
                    </m:r>
                  </m:oMath>
                </a14:m>
                <a:r>
                  <a:rPr sz="2100">
                    <a:solidFill>
                      <a:srgbClr val="1E293B"/>
                    </a:solidFill>
                    <a:latin typeface="Calibri"/>
                  </a:rPr>
                  <a:t>.</a:t>
                </a:r>
              </a:p>
            </p:txBody>
          </p:sp>
        </mc:Choice>
        <mc:Fallback>
          <p:sp>
            <p:nvSpPr>
              <p:cNvPr id="7" name="TextBox 6"/>
              <p:cNvSpPr txBox="1"/>
              <p:nvPr/>
            </p:nvSpPr>
            <p:spPr>
              <a:xfrm>
                <a:off x="548640" y="1371600"/>
                <a:ext cx="6766560" cy="113385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2.</a:t>
                </a:r>
                <a:r>
                  <a:rPr sz="2100">
                    <a:solidFill>
                      <a:srgbClr val="1E293B"/>
                    </a:solidFill>
                    <a:latin typeface="Calibri"/>
                  </a:rPr>
                  <a:t> Hình 2.38 minh hoạ một hệ toạ độ </a:t>
                </a:r>
                <a:r>
                  <a:rPr lang="vi-VN"/>
                  <a:t>Oxyz</a:t>
                </a:r>
                <a:r>
                  <a:rPr sz="2100">
                    <a:solidFill>
                      <a:srgbClr val="1E293B"/>
                    </a:solidFill>
                    <a:latin typeface="Calibri"/>
                  </a:rPr>
                  <a:t> trong không gian cùng với các hình vuông có cạnh bằng 1 đơn vị. Tìm toạ độ của điểm </a:t>
                </a:r>
                <a:r>
                  <a:rPr lang="vi-VN"/>
                  <a:t>M</a:t>
                </a:r>
                <a:r>
                  <a:rPr sz="2100">
                    <a:solidFill>
                      <a:srgbClr val="1E293B"/>
                    </a:solidFill>
                    <a:latin typeface="Calibri"/>
                  </a:rPr>
                  <a:t>.</a:t>
                </a:r>
              </a:p>
            </p:txBody>
          </p:sp>
        </mc:Fallback>
      </mc:AlternateContent>
      <p:sp>
        <p:nvSpPr>
          <p:cNvPr id="8" name="s1_nen"/>
          <p:cNvSpPr/>
          <p:nvPr/>
        </p:nvSpPr>
        <p:spPr>
          <a:xfrm>
            <a:off x="548640" y="2615184"/>
            <a:ext cx="6766560" cy="122529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651760"/>
                <a:ext cx="6437376" cy="1152144"/>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ABCM.FODE</m:t>
                    </m:r>
                  </m:oMath>
                </a14:m>
                <a:r>
                  <a:rPr sz="2100">
                    <a:solidFill>
                      <a:srgbClr val="1E293B"/>
                    </a:solidFill>
                    <a:latin typeface="Calibri"/>
                  </a:rPr>
                  <a:t> là hình hộp chữ nhật; quy tắc hình hộp: </a:t>
                </a:r>
                <a14:m>
                  <m:oMath xmlns:m="http://schemas.openxmlformats.org/officeDocument/2006/math">
                    <m:acc>
                      <m:accPr>
                        <m:chr m:val="⃗"/>
                      </m:accPr>
                      <m:e>
                        <m:r>
                          <a:rPr lang="vi-VN" sz="2100" b="0">
                            <a:solidFill>
                              <a:srgbClr val="1E293B"/>
                            </a:solidFill>
                            <a:latin typeface="Cambria Math" panose="02040503050406030204" pitchFamily="18" charset="0"/>
                          </a:rPr>
                          <m:t>OM</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OF</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OD</m:t>
                        </m:r>
                      </m:e>
                    </m:acc>
                  </m:oMath>
                </a14:m>
                <a:r>
                  <a:rPr sz="2100">
                    <a:solidFill>
                      <a:srgbClr val="1E293B"/>
                    </a:solidFill>
                    <a:latin typeface="Calibri"/>
                  </a:rPr>
                  <a:t> + </a:t>
                </a:r>
                <a14:m>
                  <m:oMath xmlns:m="http://schemas.openxmlformats.org/officeDocument/2006/math">
                    <m:acc>
                      <m:accPr>
                        <m:chr m:val="⃗"/>
                      </m:accPr>
                      <m:e>
                        <m:r>
                          <a:rPr lang="vi-VN" sz="2100" b="0">
                            <a:solidFill>
                              <a:srgbClr val="1E293B"/>
                            </a:solidFill>
                            <a:latin typeface="Cambria Math" panose="02040503050406030204" pitchFamily="18" charset="0"/>
                          </a:rPr>
                          <m:t>OB</m:t>
                        </m:r>
                      </m:e>
                    </m:acc>
                  </m:oMath>
                </a14:m>
                <a:r>
                  <a:rPr sz="2100">
                    <a:solidFill>
                      <a:srgbClr val="1E293B"/>
                    </a:solidFill>
                    <a:latin typeface="Calibri"/>
                  </a:rPr>
                  <a:t> = </a:t>
                </a:r>
                <a14:m>
                  <m:oMath xmlns:m="http://schemas.openxmlformats.org/officeDocument/2006/math">
                    <m:r>
                      <a:rPr lang="vi-VN" sz="2100" b="0">
                        <a:solidFill>
                          <a:srgbClr val="1E293B"/>
                        </a:solidFill>
                        <a:latin typeface="Cambria Math" panose="02040503050406030204" pitchFamily="18" charset="0"/>
                      </a:rPr>
                      <m:t>3</m:t>
                    </m:r>
                    <m:acc>
                      <m:accPr>
                        <m:chr m:val="⃗"/>
                      </m:accPr>
                      <m:e>
                        <m:r>
                          <a:rPr lang="vi-VN" sz="2100" b="0">
                            <a:solidFill>
                              <a:srgbClr val="1E293B"/>
                            </a:solidFill>
                            <a:latin typeface="Cambria Math" panose="02040503050406030204" pitchFamily="18" charset="0"/>
                          </a:rPr>
                          <m:t>i</m:t>
                        </m:r>
                      </m:e>
                    </m:acc>
                    <m:r>
                      <a:rPr lang="vi-VN" sz="2100" b="0">
                        <a:solidFill>
                          <a:srgbClr val="1E293B"/>
                        </a:solidFill>
                        <a:latin typeface="Cambria Math" panose="02040503050406030204" pitchFamily="18" charset="0"/>
                      </a:rPr>
                      <m:t>+4</m:t>
                    </m:r>
                    <m:acc>
                      <m:accPr>
                        <m:chr m:val="⃗"/>
                      </m:accPr>
                      <m:e>
                        <m:r>
                          <a:rPr lang="vi-VN" sz="2100" b="0">
                            <a:solidFill>
                              <a:srgbClr val="1E293B"/>
                            </a:solidFill>
                            <a:latin typeface="Cambria Math" panose="02040503050406030204" pitchFamily="18" charset="0"/>
                          </a:rPr>
                          <m:t>j</m:t>
                        </m:r>
                      </m:e>
                    </m:acc>
                    <m:r>
                      <a:rPr lang="vi-VN" sz="2100" b="0">
                        <a:solidFill>
                          <a:srgbClr val="1E293B"/>
                        </a:solidFill>
                        <a:latin typeface="Cambria Math" panose="02040503050406030204" pitchFamily="18" charset="0"/>
                      </a:rPr>
                      <m:t>+3</m:t>
                    </m:r>
                    <m:acc>
                      <m:accPr>
                        <m:chr m:val="⃗"/>
                      </m:accPr>
                      <m:e>
                        <m:r>
                          <a:rPr lang="vi-VN" sz="2100" b="0">
                            <a:solidFill>
                              <a:srgbClr val="1E293B"/>
                            </a:solidFill>
                            <a:latin typeface="Cambria Math" panose="02040503050406030204" pitchFamily="18" charset="0"/>
                          </a:rPr>
                          <m:t>k</m:t>
                        </m:r>
                      </m:e>
                    </m:acc>
                  </m:oMath>
                </a14:m>
                <a:r>
                  <a:rPr sz="2100">
                    <a:solidFill>
                      <a:srgbClr val="1E293B"/>
                    </a:solidFill>
                    <a:latin typeface="Calibri"/>
                  </a:rPr>
                  <a:t>. Vậy </a:t>
                </a:r>
                <a14:m>
                  <m:oMath xmlns:m="http://schemas.openxmlformats.org/officeDocument/2006/math">
                    <m:r>
                      <a:rPr lang="vi-VN" sz="2100" b="0">
                        <a:solidFill>
                          <a:srgbClr val="1E293B"/>
                        </a:solidFill>
                        <a:latin typeface="Cambria Math" panose="02040503050406030204" pitchFamily="18" charset="0"/>
                      </a:rPr>
                      <m:t>M(3;</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4;</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3)</m:t>
                    </m:r>
                  </m:oMath>
                </a14:m>
                <a:r>
                  <a:rPr sz="2100">
                    <a:solidFill>
                      <a:srgbClr val="1E293B"/>
                    </a:solidFill>
                    <a:latin typeface="Calibri"/>
                  </a:rPr>
                  <a:t>.</a:t>
                </a:r>
              </a:p>
            </p:txBody>
          </p:sp>
        </mc:Choice>
        <mc:Fallback>
          <p:sp>
            <p:nvSpPr>
              <p:cNvPr id="9" name="TextBox 8"/>
              <p:cNvSpPr txBox="1"/>
              <p:nvPr/>
            </p:nvSpPr>
            <p:spPr>
              <a:xfrm>
                <a:off x="713232" y="2651760"/>
                <a:ext cx="6437376" cy="1152144"/>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ABCM.FODE</a:t>
                </a:r>
                <a:r>
                  <a:rPr sz="2100">
                    <a:solidFill>
                      <a:srgbClr val="1E293B"/>
                    </a:solidFill>
                    <a:latin typeface="Calibri"/>
                  </a:rPr>
                  <a:t> là hình hộp chữ nhật; quy tắc hình hộp: </a:t>
                </a:r>
                <a:r>
                  <a:rPr lang="vi-VN"/>
                  <a:t>\overrightarrow{OM}</a:t>
                </a:r>
                <a:r>
                  <a:rPr sz="2100">
                    <a:solidFill>
                      <a:srgbClr val="1E293B"/>
                    </a:solidFill>
                    <a:latin typeface="Calibri"/>
                  </a:rPr>
                  <a:t> = </a:t>
                </a:r>
                <a:r>
                  <a:rPr lang="vi-VN"/>
                  <a:t>\overrightarrow{OF}</a:t>
                </a:r>
                <a:r>
                  <a:rPr sz="2100">
                    <a:solidFill>
                      <a:srgbClr val="1E293B"/>
                    </a:solidFill>
                    <a:latin typeface="Calibri"/>
                  </a:rPr>
                  <a:t> + </a:t>
                </a:r>
                <a:r>
                  <a:rPr lang="vi-VN"/>
                  <a:t>\overrightarrow{OD}</a:t>
                </a:r>
                <a:r>
                  <a:rPr sz="2100">
                    <a:solidFill>
                      <a:srgbClr val="1E293B"/>
                    </a:solidFill>
                    <a:latin typeface="Calibri"/>
                  </a:rPr>
                  <a:t> + </a:t>
                </a:r>
                <a:r>
                  <a:rPr lang="vi-VN"/>
                  <a:t>\overrightarrow{OB}</a:t>
                </a:r>
                <a:r>
                  <a:rPr sz="2100">
                    <a:solidFill>
                      <a:srgbClr val="1E293B"/>
                    </a:solidFill>
                    <a:latin typeface="Calibri"/>
                  </a:rPr>
                  <a:t> = </a:t>
                </a:r>
                <a:r>
                  <a:rPr lang="vi-VN"/>
                  <a:t>3\vec{i}+4\vec{j}+3\vec{k}</a:t>
                </a:r>
                <a:r>
                  <a:rPr sz="2100">
                    <a:solidFill>
                      <a:srgbClr val="1E293B"/>
                    </a:solidFill>
                    <a:latin typeface="Calibri"/>
                  </a:rPr>
                  <a:t>. Vậy </a:t>
                </a:r>
                <a:r>
                  <a:rPr lang="vi-VN"/>
                  <a:t>M(3;\ 4;\ 3)</a:t>
                </a:r>
                <a:r>
                  <a:rPr sz="21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TextBox 9"/>
              <p:cNvSpPr txBox="1"/>
              <p:nvPr/>
            </p:nvSpPr>
            <p:spPr>
              <a:xfrm>
                <a:off x="548640" y="3950208"/>
                <a:ext cx="676656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Luyện tập 2.</a:t>
                </a:r>
                <a:r>
                  <a:rPr sz="2100">
                    <a:solidFill>
                      <a:srgbClr val="1E293B"/>
                    </a:solidFill>
                    <a:latin typeface="Calibri"/>
                  </a:rPr>
                  <a:t> Tìm toạ độ của điểm </a:t>
                </a:r>
                <a14:m>
                  <m:oMath xmlns:m="http://schemas.openxmlformats.org/officeDocument/2006/math">
                    <m:r>
                      <a:rPr lang="vi-VN" sz="2100" b="0">
                        <a:solidFill>
                          <a:srgbClr val="1E293B"/>
                        </a:solidFill>
                        <a:latin typeface="Cambria Math" panose="02040503050406030204" pitchFamily="18" charset="0"/>
                      </a:rPr>
                      <m:t>N</m:t>
                    </m:r>
                  </m:oMath>
                </a14:m>
                <a:r>
                  <a:rPr sz="2100">
                    <a:solidFill>
                      <a:srgbClr val="1E293B"/>
                    </a:solidFill>
                    <a:latin typeface="Calibri"/>
                  </a:rPr>
                  <a:t> trong Hình 2.39.</a:t>
                </a:r>
              </a:p>
            </p:txBody>
          </p:sp>
        </mc:Choice>
        <mc:Fallback>
          <p:sp>
            <p:nvSpPr>
              <p:cNvPr id="10" name="TextBox 9"/>
              <p:cNvSpPr txBox="1"/>
              <p:nvPr/>
            </p:nvSpPr>
            <p:spPr>
              <a:xfrm>
                <a:off x="548640" y="3950208"/>
                <a:ext cx="676656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Luyện tập 2.</a:t>
                </a:r>
                <a:r>
                  <a:rPr sz="2100">
                    <a:solidFill>
                      <a:srgbClr val="1E293B"/>
                    </a:solidFill>
                    <a:latin typeface="Calibri"/>
                  </a:rPr>
                  <a:t> Tìm toạ độ của điểm </a:t>
                </a:r>
                <a:r>
                  <a:rPr lang="vi-VN"/>
                  <a:t>N</a:t>
                </a:r>
                <a:r>
                  <a:rPr sz="2100">
                    <a:solidFill>
                      <a:srgbClr val="1E293B"/>
                    </a:solidFill>
                    <a:latin typeface="Calibri"/>
                  </a:rPr>
                  <a:t> trong Hình 2.39.</a:t>
                </a:r>
              </a:p>
            </p:txBody>
          </p:sp>
        </mc:Fallback>
      </mc:AlternateContent>
      <p:sp>
        <p:nvSpPr>
          <p:cNvPr id="11" name="s2_nen"/>
          <p:cNvSpPr/>
          <p:nvPr/>
        </p:nvSpPr>
        <p:spPr>
          <a:xfrm>
            <a:off x="548640" y="4873752"/>
            <a:ext cx="676656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2_chu"/>
              <p:cNvSpPr txBox="1"/>
              <p:nvPr/>
            </p:nvSpPr>
            <p:spPr>
              <a:xfrm>
                <a:off x="713232" y="4910328"/>
                <a:ext cx="643737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N(2;</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5;</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4)</m:t>
                    </m:r>
                  </m:oMath>
                </a14:m>
                <a:r>
                  <a:rPr sz="2100">
                    <a:solidFill>
                      <a:srgbClr val="1E293B"/>
                    </a:solidFill>
                    <a:latin typeface="Calibri"/>
                  </a:rPr>
                  <a:t>.</a:t>
                </a:r>
              </a:p>
            </p:txBody>
          </p:sp>
        </mc:Choice>
        <mc:Fallback>
          <p:sp>
            <p:nvSpPr>
              <p:cNvPr id="12" name="TextBox 11"/>
              <p:cNvSpPr txBox="1"/>
              <p:nvPr/>
            </p:nvSpPr>
            <p:spPr>
              <a:xfrm>
                <a:off x="713232" y="4910328"/>
                <a:ext cx="643737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N(2;\ 5;\ 4)</a:t>
                </a:r>
                <a:r>
                  <a:rPr sz="2100">
                    <a:solidFill>
                      <a:srgbClr val="1E293B"/>
                    </a:solidFill>
                    <a:latin typeface="Calibri"/>
                  </a:rPr>
                  <a:t>.</a:t>
                </a:r>
              </a:p>
            </p:txBody>
          </p:sp>
        </mc:Fallback>
      </mc:AlternateContent>
      <p:pic>
        <p:nvPicPr>
          <p:cNvPr id="13" name="Picture 12" descr="h238.png"/>
          <p:cNvPicPr>
            <a:picLocks noChangeAspect="1"/>
          </p:cNvPicPr>
          <p:nvPr/>
        </p:nvPicPr>
        <p:blipFill>
          <a:blip r:embed="rId3"/>
          <a:stretch>
            <a:fillRect/>
          </a:stretch>
        </p:blipFill>
        <p:spPr>
          <a:xfrm>
            <a:off x="7498079" y="1631523"/>
            <a:ext cx="2103120" cy="1857594"/>
          </a:xfrm>
          <a:prstGeom prst="rect">
            <a:avLst/>
          </a:prstGeom>
        </p:spPr>
      </p:pic>
      <p:pic>
        <p:nvPicPr>
          <p:cNvPr id="14" name="Picture 13" descr="h239.png"/>
          <p:cNvPicPr>
            <a:picLocks noChangeAspect="1"/>
          </p:cNvPicPr>
          <p:nvPr/>
        </p:nvPicPr>
        <p:blipFill>
          <a:blip r:embed="rId4"/>
          <a:stretch>
            <a:fillRect/>
          </a:stretch>
        </p:blipFill>
        <p:spPr>
          <a:xfrm>
            <a:off x="9692640" y="1631523"/>
            <a:ext cx="2103120" cy="185759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3 – LUYỆN TẬP 3 (SGK TR.62)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Hệ trục toạ độ trong không gian – Toán 12          11</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778240" cy="104241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Ví dụ 3.</a:t>
                </a:r>
                <a:r>
                  <a:rPr sz="1900">
                    <a:solidFill>
                      <a:srgbClr val="1E293B"/>
                    </a:solidFill>
                    <a:latin typeface="Calibri"/>
                  </a:rPr>
                  <a:t> Cho hình hộp chữ nhật </a:t>
                </a:r>
                <a14:m>
                  <m:oMath xmlns:m="http://schemas.openxmlformats.org/officeDocument/2006/math">
                    <m:r>
                      <a:rPr lang="vi-VN" sz="1900" b="0">
                        <a:solidFill>
                          <a:srgbClr val="1E293B"/>
                        </a:solidFill>
                        <a:latin typeface="Cambria Math" panose="02040503050406030204" pitchFamily="18" charset="0"/>
                      </a:rPr>
                      <m:t>ABCD.</m:t>
                    </m:r>
                    <m:sSup>
                      <m:e>
                        <m:r>
                          <a:rPr lang="vi-VN" sz="1900" b="0">
                            <a:solidFill>
                              <a:srgbClr val="1E293B"/>
                            </a:solidFill>
                            <a:latin typeface="Cambria Math" panose="02040503050406030204" pitchFamily="18" charset="0"/>
                          </a:rPr>
                          <m:t>A</m:t>
                        </m:r>
                      </m:e>
                      <m:sup>
                        <m:r>
                          <a:rPr lang="vi-VN" sz="1900" b="0">
                            <a:solidFill>
                              <a:srgbClr val="1E293B"/>
                            </a:solidFill>
                            <a:latin typeface="Cambria Math" panose="02040503050406030204" pitchFamily="18" charset="0"/>
                          </a:rPr>
                          <m:t>′</m:t>
                        </m:r>
                      </m:sup>
                    </m:sSup>
                    <m:sSup>
                      <m:e>
                        <m:r>
                          <a:rPr lang="vi-VN" sz="1900" b="0">
                            <a:solidFill>
                              <a:srgbClr val="1E293B"/>
                            </a:solidFill>
                            <a:latin typeface="Cambria Math" panose="02040503050406030204" pitchFamily="18" charset="0"/>
                          </a:rPr>
                          <m:t>B</m:t>
                        </m:r>
                      </m:e>
                      <m:sup>
                        <m:r>
                          <a:rPr lang="vi-VN" sz="1900" b="0">
                            <a:solidFill>
                              <a:srgbClr val="1E293B"/>
                            </a:solidFill>
                            <a:latin typeface="Cambria Math" panose="02040503050406030204" pitchFamily="18" charset="0"/>
                          </a:rPr>
                          <m:t>′</m:t>
                        </m:r>
                      </m:sup>
                    </m:sSup>
                    <m:sSup>
                      <m:e>
                        <m:r>
                          <a:rPr lang="vi-VN" sz="1900" b="0">
                            <a:solidFill>
                              <a:srgbClr val="1E293B"/>
                            </a:solidFill>
                            <a:latin typeface="Cambria Math" panose="02040503050406030204" pitchFamily="18" charset="0"/>
                          </a:rPr>
                          <m:t>C</m:t>
                        </m:r>
                      </m:e>
                      <m:sup>
                        <m:r>
                          <a:rPr lang="vi-VN" sz="1900" b="0">
                            <a:solidFill>
                              <a:srgbClr val="1E293B"/>
                            </a:solidFill>
                            <a:latin typeface="Cambria Math" panose="02040503050406030204" pitchFamily="18" charset="0"/>
                          </a:rPr>
                          <m:t>′</m:t>
                        </m:r>
                      </m:sup>
                    </m:sSup>
                    <m:sSup>
                      <m:e>
                        <m:r>
                          <a:rPr lang="vi-VN" sz="1900" b="0">
                            <a:solidFill>
                              <a:srgbClr val="1E293B"/>
                            </a:solidFill>
                            <a:latin typeface="Cambria Math" panose="02040503050406030204" pitchFamily="18" charset="0"/>
                          </a:rPr>
                          <m:t>D</m:t>
                        </m:r>
                      </m:e>
                      <m:sup>
                        <m:r>
                          <a:rPr lang="vi-VN" sz="1900" b="0">
                            <a:solidFill>
                              <a:srgbClr val="1E293B"/>
                            </a:solidFill>
                            <a:latin typeface="Cambria Math" panose="02040503050406030204" pitchFamily="18" charset="0"/>
                          </a:rPr>
                          <m:t>′</m:t>
                        </m:r>
                      </m:sup>
                    </m:sSup>
                  </m:oMath>
                </a14:m>
                <a:r>
                  <a:rPr sz="1900">
                    <a:solidFill>
                      <a:srgbClr val="1E293B"/>
                    </a:solidFill>
                    <a:latin typeface="Calibri"/>
                  </a:rPr>
                  <a:t> có đỉnh </a:t>
                </a:r>
                <a14:m>
                  <m:oMath xmlns:m="http://schemas.openxmlformats.org/officeDocument/2006/math">
                    <m:sSup>
                      <m:e>
                        <m:r>
                          <a:rPr lang="vi-VN" sz="1900" b="0">
                            <a:solidFill>
                              <a:srgbClr val="1E293B"/>
                            </a:solidFill>
                            <a:latin typeface="Cambria Math" panose="02040503050406030204" pitchFamily="18" charset="0"/>
                          </a:rPr>
                          <m:t>A</m:t>
                        </m:r>
                      </m:e>
                      <m:sup>
                        <m:r>
                          <a:rPr lang="vi-VN" sz="1900" b="0">
                            <a:solidFill>
                              <a:srgbClr val="1E293B"/>
                            </a:solidFill>
                            <a:latin typeface="Cambria Math" panose="02040503050406030204" pitchFamily="18" charset="0"/>
                          </a:rPr>
                          <m:t>′</m:t>
                        </m:r>
                      </m:sup>
                    </m:sSup>
                  </m:oMath>
                </a14:m>
                <a:r>
                  <a:rPr sz="1900">
                    <a:solidFill>
                      <a:srgbClr val="1E293B"/>
                    </a:solidFill>
                    <a:latin typeface="Calibri"/>
                  </a:rPr>
                  <a:t> trùng gốc </a:t>
                </a:r>
                <a14:m>
                  <m:oMath xmlns:m="http://schemas.openxmlformats.org/officeDocument/2006/math">
                    <m:r>
                      <a:rPr lang="vi-VN" sz="1900" b="0">
                        <a:solidFill>
                          <a:srgbClr val="1E293B"/>
                        </a:solidFill>
                        <a:latin typeface="Cambria Math" panose="02040503050406030204" pitchFamily="18" charset="0"/>
                      </a:rPr>
                      <m:t>O</m:t>
                    </m:r>
                  </m:oMath>
                </a14:m>
                <a:r>
                  <a:rPr sz="1900">
                    <a:solidFill>
                      <a:srgbClr val="1E293B"/>
                    </a:solidFill>
                    <a:latin typeface="Calibri"/>
                  </a:rPr>
                  <a:t> và các đỉnh </a:t>
                </a:r>
                <a14:m>
                  <m:oMath xmlns:m="http://schemas.openxmlformats.org/officeDocument/2006/math">
                    <m:sSup>
                      <m:e>
                        <m:r>
                          <a:rPr lang="vi-VN" sz="1900" b="0">
                            <a:solidFill>
                              <a:srgbClr val="1E293B"/>
                            </a:solidFill>
                            <a:latin typeface="Cambria Math" panose="02040503050406030204" pitchFamily="18" charset="0"/>
                          </a:rPr>
                          <m:t>D</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sSup>
                      <m:e>
                        <m:r>
                          <a:rPr lang="vi-VN" sz="1900" b="0">
                            <a:solidFill>
                              <a:srgbClr val="1E293B"/>
                            </a:solidFill>
                            <a:latin typeface="Cambria Math" panose="02040503050406030204" pitchFamily="18" charset="0"/>
                          </a:rPr>
                          <m:t>B</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A</m:t>
                    </m:r>
                  </m:oMath>
                </a14:m>
                <a:r>
                  <a:rPr sz="1900">
                    <a:solidFill>
                      <a:srgbClr val="1E293B"/>
                    </a:solidFill>
                    <a:latin typeface="Calibri"/>
                  </a:rPr>
                  <a:t> lần lượt thuộc các tia </a:t>
                </a:r>
                <a14:m>
                  <m:oMath xmlns:m="http://schemas.openxmlformats.org/officeDocument/2006/math">
                    <m:r>
                      <a:rPr lang="vi-VN" sz="1900" b="0">
                        <a:solidFill>
                          <a:srgbClr val="1E293B"/>
                        </a:solidFill>
                        <a:latin typeface="Cambria Math" panose="02040503050406030204" pitchFamily="18" charset="0"/>
                      </a:rPr>
                      <m:t>Ox,</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Oy,</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Oz</m:t>
                    </m:r>
                  </m:oMath>
                </a14:m>
                <a:r>
                  <a:rPr sz="1900">
                    <a:solidFill>
                      <a:srgbClr val="1E293B"/>
                    </a:solidFill>
                    <a:latin typeface="Calibri"/>
                  </a:rPr>
                  <a:t> (H.2.40). Đỉnh </a:t>
                </a:r>
                <a14:m>
                  <m:oMath xmlns:m="http://schemas.openxmlformats.org/officeDocument/2006/math">
                    <m:r>
                      <a:rPr lang="vi-VN" sz="1900" b="0">
                        <a:solidFill>
                          <a:srgbClr val="1E293B"/>
                        </a:solidFill>
                        <a:latin typeface="Cambria Math" panose="02040503050406030204" pitchFamily="18" charset="0"/>
                      </a:rPr>
                      <m:t>C</m:t>
                    </m:r>
                  </m:oMath>
                </a14:m>
                <a:r>
                  <a:rPr sz="1900">
                    <a:solidFill>
                      <a:srgbClr val="1E293B"/>
                    </a:solidFill>
                    <a:latin typeface="Calibri"/>
                  </a:rPr>
                  <a:t> có toạ độ </a:t>
                </a:r>
                <a14:m>
                  <m:oMath xmlns:m="http://schemas.openxmlformats.org/officeDocument/2006/math">
                    <m:d>
                      <m:dPr>
                        <m:sepChr m:val=""/>
                      </m:dPr>
                      <m:e>
                        <m:r>
                          <a:rPr lang="vi-VN" sz="1900" b="0">
                            <a:solidFill>
                              <a:srgbClr val="1E293B"/>
                            </a:solidFill>
                            <a:latin typeface="Cambria Math" panose="02040503050406030204" pitchFamily="18" charset="0"/>
                          </a:rPr>
                          <m:t>2</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3</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5</m:t>
                        </m:r>
                      </m:e>
                    </m:d>
                  </m:oMath>
                </a14:m>
                <a:r>
                  <a:rPr sz="1900">
                    <a:solidFill>
                      <a:srgbClr val="1E293B"/>
                    </a:solidFill>
                    <a:latin typeface="Calibri"/>
                  </a:rPr>
                  <a:t>; tìm toạ độ của các đỉnh </a:t>
                </a:r>
                <a14:m>
                  <m:oMath xmlns:m="http://schemas.openxmlformats.org/officeDocument/2006/math">
                    <m:sSup>
                      <m:e>
                        <m:r>
                          <a:rPr lang="vi-VN" sz="1900" b="0">
                            <a:solidFill>
                              <a:srgbClr val="1E293B"/>
                            </a:solidFill>
                            <a:latin typeface="Cambria Math" panose="02040503050406030204" pitchFamily="18" charset="0"/>
                          </a:rPr>
                          <m:t>D</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sSup>
                      <m:e>
                        <m:r>
                          <a:rPr lang="vi-VN" sz="1900" b="0">
                            <a:solidFill>
                              <a:srgbClr val="1E293B"/>
                            </a:solidFill>
                            <a:latin typeface="Cambria Math" panose="02040503050406030204" pitchFamily="18" charset="0"/>
                          </a:rPr>
                          <m:t>B</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A</m:t>
                    </m:r>
                  </m:oMath>
                </a14:m>
                <a:r>
                  <a:rPr sz="1900">
                    <a:solidFill>
                      <a:srgbClr val="1E293B"/>
                    </a:solidFill>
                    <a:latin typeface="Calibri"/>
                  </a:rPr>
                  <a:t>.</a:t>
                </a:r>
              </a:p>
            </p:txBody>
          </p:sp>
        </mc:Choice>
        <mc:Fallback>
          <p:sp>
            <p:nvSpPr>
              <p:cNvPr id="7" name="TextBox 6"/>
              <p:cNvSpPr txBox="1"/>
              <p:nvPr/>
            </p:nvSpPr>
            <p:spPr>
              <a:xfrm>
                <a:off x="548640" y="1371600"/>
                <a:ext cx="8778240" cy="104241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Ví dụ 3.</a:t>
                </a:r>
                <a:r>
                  <a:rPr sz="1900">
                    <a:solidFill>
                      <a:srgbClr val="1E293B"/>
                    </a:solidFill>
                    <a:latin typeface="Calibri"/>
                  </a:rPr>
                  <a:t> Cho hình hộp chữ nhật </a:t>
                </a:r>
                <a:r>
                  <a:rPr lang="vi-VN"/>
                  <a:t>ABCD.A'B'C'D'</a:t>
                </a:r>
                <a:r>
                  <a:rPr sz="1900">
                    <a:solidFill>
                      <a:srgbClr val="1E293B"/>
                    </a:solidFill>
                    <a:latin typeface="Calibri"/>
                  </a:rPr>
                  <a:t> có đỉnh </a:t>
                </a:r>
                <a:r>
                  <a:rPr lang="vi-VN"/>
                  <a:t>A'</a:t>
                </a:r>
                <a:r>
                  <a:rPr sz="1900">
                    <a:solidFill>
                      <a:srgbClr val="1E293B"/>
                    </a:solidFill>
                    <a:latin typeface="Calibri"/>
                  </a:rPr>
                  <a:t> trùng gốc </a:t>
                </a:r>
                <a:r>
                  <a:rPr lang="vi-VN"/>
                  <a:t>O</a:t>
                </a:r>
                <a:r>
                  <a:rPr sz="1900">
                    <a:solidFill>
                      <a:srgbClr val="1E293B"/>
                    </a:solidFill>
                    <a:latin typeface="Calibri"/>
                  </a:rPr>
                  <a:t> và các đỉnh </a:t>
                </a:r>
                <a:r>
                  <a:rPr lang="vi-VN"/>
                  <a:t>D',\ B',\ A</a:t>
                </a:r>
                <a:r>
                  <a:rPr sz="1900">
                    <a:solidFill>
                      <a:srgbClr val="1E293B"/>
                    </a:solidFill>
                    <a:latin typeface="Calibri"/>
                  </a:rPr>
                  <a:t> lần lượt thuộc các tia </a:t>
                </a:r>
                <a:r>
                  <a:rPr lang="vi-VN"/>
                  <a:t>Ox,\ Oy,\ Oz</a:t>
                </a:r>
                <a:r>
                  <a:rPr sz="1900">
                    <a:solidFill>
                      <a:srgbClr val="1E293B"/>
                    </a:solidFill>
                    <a:latin typeface="Calibri"/>
                  </a:rPr>
                  <a:t> (H.2.40). Đỉnh </a:t>
                </a:r>
                <a:r>
                  <a:rPr lang="vi-VN"/>
                  <a:t>C</a:t>
                </a:r>
                <a:r>
                  <a:rPr sz="1900">
                    <a:solidFill>
                      <a:srgbClr val="1E293B"/>
                    </a:solidFill>
                    <a:latin typeface="Calibri"/>
                  </a:rPr>
                  <a:t> có toạ độ </a:t>
                </a:r>
                <a:r>
                  <a:rPr lang="vi-VN"/>
                  <a:t>(2;\ 3;\ 5)</a:t>
                </a:r>
                <a:r>
                  <a:rPr sz="1900">
                    <a:solidFill>
                      <a:srgbClr val="1E293B"/>
                    </a:solidFill>
                    <a:latin typeface="Calibri"/>
                  </a:rPr>
                  <a:t>; tìm toạ độ của các đỉnh </a:t>
                </a:r>
                <a:r>
                  <a:rPr lang="vi-VN"/>
                  <a:t>D',\ B',\ A</a:t>
                </a:r>
                <a:r>
                  <a:rPr sz="1900">
                    <a:solidFill>
                      <a:srgbClr val="1E293B"/>
                    </a:solidFill>
                    <a:latin typeface="Calibri"/>
                  </a:rPr>
                  <a:t>.</a:t>
                </a:r>
              </a:p>
            </p:txBody>
          </p:sp>
        </mc:Fallback>
      </mc:AlternateContent>
      <p:sp>
        <p:nvSpPr>
          <p:cNvPr id="8" name="s1_nen"/>
          <p:cNvSpPr/>
          <p:nvPr/>
        </p:nvSpPr>
        <p:spPr>
          <a:xfrm>
            <a:off x="548640" y="2468880"/>
            <a:ext cx="87782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505456"/>
                <a:ext cx="84490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 </a:t>
                </a:r>
                <a14:m>
                  <m:oMath xmlns:m="http://schemas.openxmlformats.org/officeDocument/2006/math">
                    <m:acc>
                      <m:accPr>
                        <m:chr m:val="⃗"/>
                      </m:accPr>
                      <m:e>
                        <m:r>
                          <a:rPr lang="vi-VN" sz="1900" b="0">
                            <a:solidFill>
                              <a:srgbClr val="1E293B"/>
                            </a:solidFill>
                            <a:latin typeface="Cambria Math" panose="02040503050406030204" pitchFamily="18" charset="0"/>
                          </a:rPr>
                          <m:t>O</m:t>
                        </m:r>
                        <m:sSup>
                          <m:e>
                            <m:r>
                              <a:rPr lang="vi-VN" sz="1900" b="0">
                                <a:solidFill>
                                  <a:srgbClr val="1E293B"/>
                                </a:solidFill>
                                <a:latin typeface="Cambria Math" panose="02040503050406030204" pitchFamily="18" charset="0"/>
                              </a:rPr>
                              <m:t>D</m:t>
                            </m:r>
                          </m:e>
                          <m:sup>
                            <m:r>
                              <a:rPr lang="vi-VN" sz="1900" b="0">
                                <a:solidFill>
                                  <a:srgbClr val="1E293B"/>
                                </a:solidFill>
                                <a:latin typeface="Cambria Math" panose="02040503050406030204" pitchFamily="18" charset="0"/>
                              </a:rPr>
                              <m:t>′</m:t>
                            </m:r>
                          </m:sup>
                        </m:sSup>
                      </m:e>
                    </m:acc>
                  </m:oMath>
                </a14:m>
                <a:r>
                  <a:rPr sz="1900">
                    <a:solidFill>
                      <a:srgbClr val="1E293B"/>
                    </a:solidFill>
                    <a:latin typeface="Calibri"/>
                  </a:rPr>
                  <a:t> = </a:t>
                </a:r>
                <a14:m>
                  <m:oMath xmlns:m="http://schemas.openxmlformats.org/officeDocument/2006/math">
                    <m:r>
                      <a:rPr lang="vi-VN" sz="1900" b="0">
                        <a:solidFill>
                          <a:srgbClr val="1E293B"/>
                        </a:solidFill>
                        <a:latin typeface="Cambria Math" panose="02040503050406030204" pitchFamily="18" charset="0"/>
                      </a:rPr>
                      <m:t>m</m:t>
                    </m:r>
                    <m:acc>
                      <m:accPr>
                        <m:chr m:val="⃗"/>
                      </m:accPr>
                      <m:e>
                        <m:r>
                          <a:rPr lang="vi-VN" sz="1900" b="0">
                            <a:solidFill>
                              <a:srgbClr val="1E293B"/>
                            </a:solidFill>
                            <a:latin typeface="Cambria Math" panose="02040503050406030204" pitchFamily="18" charset="0"/>
                          </a:rPr>
                          <m:t>i</m:t>
                        </m:r>
                      </m:e>
                    </m:acc>
                  </m:oMath>
                </a14:m>
                <a:r>
                  <a:rPr sz="1900">
                    <a:solidFill>
                      <a:srgbClr val="1E293B"/>
                    </a:solidFill>
                    <a:latin typeface="Calibri"/>
                  </a:rPr>
                  <a:t>, </a:t>
                </a:r>
                <a14:m>
                  <m:oMath xmlns:m="http://schemas.openxmlformats.org/officeDocument/2006/math">
                    <m:acc>
                      <m:accPr>
                        <m:chr m:val="⃗"/>
                      </m:accPr>
                      <m:e>
                        <m:r>
                          <a:rPr lang="vi-VN" sz="1900" b="0">
                            <a:solidFill>
                              <a:srgbClr val="1E293B"/>
                            </a:solidFill>
                            <a:latin typeface="Cambria Math" panose="02040503050406030204" pitchFamily="18" charset="0"/>
                          </a:rPr>
                          <m:t>O</m:t>
                        </m:r>
                        <m:sSup>
                          <m:e>
                            <m:r>
                              <a:rPr lang="vi-VN" sz="1900" b="0">
                                <a:solidFill>
                                  <a:srgbClr val="1E293B"/>
                                </a:solidFill>
                                <a:latin typeface="Cambria Math" panose="02040503050406030204" pitchFamily="18" charset="0"/>
                              </a:rPr>
                              <m:t>B</m:t>
                            </m:r>
                          </m:e>
                          <m:sup>
                            <m:r>
                              <a:rPr lang="vi-VN" sz="1900" b="0">
                                <a:solidFill>
                                  <a:srgbClr val="1E293B"/>
                                </a:solidFill>
                                <a:latin typeface="Cambria Math" panose="02040503050406030204" pitchFamily="18" charset="0"/>
                              </a:rPr>
                              <m:t>′</m:t>
                            </m:r>
                          </m:sup>
                        </m:sSup>
                      </m:e>
                    </m:acc>
                  </m:oMath>
                </a14:m>
                <a:r>
                  <a:rPr sz="1900">
                    <a:solidFill>
                      <a:srgbClr val="1E293B"/>
                    </a:solidFill>
                    <a:latin typeface="Calibri"/>
                  </a:rPr>
                  <a:t> = </a:t>
                </a:r>
                <a14:m>
                  <m:oMath xmlns:m="http://schemas.openxmlformats.org/officeDocument/2006/math">
                    <m:r>
                      <a:rPr lang="vi-VN" sz="1900" b="0">
                        <a:solidFill>
                          <a:srgbClr val="1E293B"/>
                        </a:solidFill>
                        <a:latin typeface="Cambria Math" panose="02040503050406030204" pitchFamily="18" charset="0"/>
                      </a:rPr>
                      <m:t>n</m:t>
                    </m:r>
                    <m:acc>
                      <m:accPr>
                        <m:chr m:val="⃗"/>
                      </m:accPr>
                      <m:e>
                        <m:r>
                          <a:rPr lang="vi-VN" sz="1900" b="0">
                            <a:solidFill>
                              <a:srgbClr val="1E293B"/>
                            </a:solidFill>
                            <a:latin typeface="Cambria Math" panose="02040503050406030204" pitchFamily="18" charset="0"/>
                          </a:rPr>
                          <m:t>j</m:t>
                        </m:r>
                      </m:e>
                    </m:acc>
                  </m:oMath>
                </a14:m>
                <a:r>
                  <a:rPr sz="1900">
                    <a:solidFill>
                      <a:srgbClr val="1E293B"/>
                    </a:solidFill>
                    <a:latin typeface="Calibri"/>
                  </a:rPr>
                  <a:t>, </a:t>
                </a:r>
                <a14:m>
                  <m:oMath xmlns:m="http://schemas.openxmlformats.org/officeDocument/2006/math">
                    <m:acc>
                      <m:accPr>
                        <m:chr m:val="⃗"/>
                      </m:accPr>
                      <m:e>
                        <m:r>
                          <a:rPr lang="vi-VN" sz="1900" b="0">
                            <a:solidFill>
                              <a:srgbClr val="1E293B"/>
                            </a:solidFill>
                            <a:latin typeface="Cambria Math" panose="02040503050406030204" pitchFamily="18" charset="0"/>
                          </a:rPr>
                          <m:t>OA</m:t>
                        </m:r>
                      </m:e>
                    </m:acc>
                  </m:oMath>
                </a14:m>
                <a:r>
                  <a:rPr sz="1900">
                    <a:solidFill>
                      <a:srgbClr val="1E293B"/>
                    </a:solidFill>
                    <a:latin typeface="Calibri"/>
                  </a:rPr>
                  <a:t> = </a:t>
                </a:r>
                <a14:m>
                  <m:oMath xmlns:m="http://schemas.openxmlformats.org/officeDocument/2006/math">
                    <m:r>
                      <a:rPr lang="vi-VN" sz="1900" b="0">
                        <a:solidFill>
                          <a:srgbClr val="1E293B"/>
                        </a:solidFill>
                        <a:latin typeface="Cambria Math" panose="02040503050406030204" pitchFamily="18" charset="0"/>
                      </a:rPr>
                      <m:t>p</m:t>
                    </m:r>
                    <m:acc>
                      <m:accPr>
                        <m:chr m:val="⃗"/>
                      </m:accPr>
                      <m:e>
                        <m:r>
                          <a:rPr lang="vi-VN" sz="1900" b="0">
                            <a:solidFill>
                              <a:srgbClr val="1E293B"/>
                            </a:solidFill>
                            <a:latin typeface="Cambria Math" panose="02040503050406030204" pitchFamily="18" charset="0"/>
                          </a:rPr>
                          <m:t>k</m:t>
                        </m:r>
                      </m:e>
                    </m:acc>
                  </m:oMath>
                </a14:m>
                <a:r>
                  <a:rPr sz="1900">
                    <a:solidFill>
                      <a:srgbClr val="1E293B"/>
                    </a:solidFill>
                    <a:latin typeface="Calibri"/>
                  </a:rPr>
                  <a:t> ⇒ </a:t>
                </a:r>
                <a14:m>
                  <m:oMath xmlns:m="http://schemas.openxmlformats.org/officeDocument/2006/math">
                    <m:acc>
                      <m:accPr>
                        <m:chr m:val="⃗"/>
                      </m:accPr>
                      <m:e>
                        <m:r>
                          <a:rPr lang="vi-VN" sz="1900" b="0">
                            <a:solidFill>
                              <a:srgbClr val="1E293B"/>
                            </a:solidFill>
                            <a:latin typeface="Cambria Math" panose="02040503050406030204" pitchFamily="18" charset="0"/>
                          </a:rPr>
                          <m:t>OC</m:t>
                        </m:r>
                      </m:e>
                    </m:acc>
                  </m:oMath>
                </a14:m>
                <a:r>
                  <a:rPr sz="1900">
                    <a:solidFill>
                      <a:srgbClr val="1E293B"/>
                    </a:solidFill>
                    <a:latin typeface="Calibri"/>
                  </a:rPr>
                  <a:t> = </a:t>
                </a:r>
                <a14:m>
                  <m:oMath xmlns:m="http://schemas.openxmlformats.org/officeDocument/2006/math">
                    <m:r>
                      <a:rPr lang="vi-VN" sz="1900" b="0">
                        <a:solidFill>
                          <a:srgbClr val="1E293B"/>
                        </a:solidFill>
                        <a:latin typeface="Cambria Math" panose="02040503050406030204" pitchFamily="18" charset="0"/>
                      </a:rPr>
                      <m:t>m</m:t>
                    </m:r>
                    <m:acc>
                      <m:accPr>
                        <m:chr m:val="⃗"/>
                      </m:accPr>
                      <m:e>
                        <m:r>
                          <a:rPr lang="vi-VN" sz="1900" b="0">
                            <a:solidFill>
                              <a:srgbClr val="1E293B"/>
                            </a:solidFill>
                            <a:latin typeface="Cambria Math" panose="02040503050406030204" pitchFamily="18" charset="0"/>
                          </a:rPr>
                          <m:t>i</m:t>
                        </m:r>
                      </m:e>
                    </m:acc>
                    <m:r>
                      <a:rPr lang="vi-VN" sz="1900" b="0">
                        <a:solidFill>
                          <a:srgbClr val="1E293B"/>
                        </a:solidFill>
                        <a:latin typeface="Cambria Math" panose="02040503050406030204" pitchFamily="18" charset="0"/>
                      </a:rPr>
                      <m:t>+n</m:t>
                    </m:r>
                    <m:acc>
                      <m:accPr>
                        <m:chr m:val="⃗"/>
                      </m:accPr>
                      <m:e>
                        <m:r>
                          <a:rPr lang="vi-VN" sz="1900" b="0">
                            <a:solidFill>
                              <a:srgbClr val="1E293B"/>
                            </a:solidFill>
                            <a:latin typeface="Cambria Math" panose="02040503050406030204" pitchFamily="18" charset="0"/>
                          </a:rPr>
                          <m:t>j</m:t>
                        </m:r>
                      </m:e>
                    </m:acc>
                    <m:r>
                      <a:rPr lang="vi-VN" sz="1900" b="0">
                        <a:solidFill>
                          <a:srgbClr val="1E293B"/>
                        </a:solidFill>
                        <a:latin typeface="Cambria Math" panose="02040503050406030204" pitchFamily="18" charset="0"/>
                      </a:rPr>
                      <m:t>+p</m:t>
                    </m:r>
                    <m:acc>
                      <m:accPr>
                        <m:chr m:val="⃗"/>
                      </m:accPr>
                      <m:e>
                        <m:r>
                          <a:rPr lang="vi-VN" sz="1900" b="0">
                            <a:solidFill>
                              <a:srgbClr val="1E293B"/>
                            </a:solidFill>
                            <a:latin typeface="Cambria Math" panose="02040503050406030204" pitchFamily="18" charset="0"/>
                          </a:rPr>
                          <m:t>k</m:t>
                        </m:r>
                      </m:e>
                    </m:acc>
                  </m:oMath>
                </a14:m>
                <a:r>
                  <a:rPr sz="1900">
                    <a:solidFill>
                      <a:srgbClr val="1E293B"/>
                    </a:solidFill>
                    <a:latin typeface="Calibri"/>
                  </a:rPr>
                  <a:t> (quy tắc hình hộp), nên </a:t>
                </a:r>
                <a14:m>
                  <m:oMath xmlns:m="http://schemas.openxmlformats.org/officeDocument/2006/math">
                    <m:r>
                      <a:rPr lang="vi-VN" sz="1900" b="0">
                        <a:solidFill>
                          <a:srgbClr val="1E293B"/>
                        </a:solidFill>
                        <a:latin typeface="Cambria Math" panose="02040503050406030204" pitchFamily="18" charset="0"/>
                      </a:rPr>
                      <m:t>m=2,</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n=3,</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p=5</m:t>
                    </m:r>
                  </m:oMath>
                </a14:m>
                <a:r>
                  <a:rPr sz="1900">
                    <a:solidFill>
                      <a:srgbClr val="1E293B"/>
                    </a:solidFill>
                    <a:latin typeface="Calibri"/>
                  </a:rPr>
                  <a:t>.</a:t>
                </a:r>
              </a:p>
            </p:txBody>
          </p:sp>
        </mc:Choice>
        <mc:Fallback>
          <p:sp>
            <p:nvSpPr>
              <p:cNvPr id="9" name="TextBox 8"/>
              <p:cNvSpPr txBox="1"/>
              <p:nvPr/>
            </p:nvSpPr>
            <p:spPr>
              <a:xfrm>
                <a:off x="713232" y="2505456"/>
                <a:ext cx="84490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 </a:t>
                </a:r>
                <a:r>
                  <a:rPr lang="vi-VN"/>
                  <a:t>\overrightarrow{OD'}</a:t>
                </a:r>
                <a:r>
                  <a:rPr sz="1900">
                    <a:solidFill>
                      <a:srgbClr val="1E293B"/>
                    </a:solidFill>
                    <a:latin typeface="Calibri"/>
                  </a:rPr>
                  <a:t> = </a:t>
                </a:r>
                <a:r>
                  <a:rPr lang="vi-VN"/>
                  <a:t>m\vec{i}</a:t>
                </a:r>
                <a:r>
                  <a:rPr sz="1900">
                    <a:solidFill>
                      <a:srgbClr val="1E293B"/>
                    </a:solidFill>
                    <a:latin typeface="Calibri"/>
                  </a:rPr>
                  <a:t>, </a:t>
                </a:r>
                <a:r>
                  <a:rPr lang="vi-VN"/>
                  <a:t>\overrightarrow{OB'}</a:t>
                </a:r>
                <a:r>
                  <a:rPr sz="1900">
                    <a:solidFill>
                      <a:srgbClr val="1E293B"/>
                    </a:solidFill>
                    <a:latin typeface="Calibri"/>
                  </a:rPr>
                  <a:t> = </a:t>
                </a:r>
                <a:r>
                  <a:rPr lang="vi-VN"/>
                  <a:t>n\vec{j}</a:t>
                </a:r>
                <a:r>
                  <a:rPr sz="1900">
                    <a:solidFill>
                      <a:srgbClr val="1E293B"/>
                    </a:solidFill>
                    <a:latin typeface="Calibri"/>
                  </a:rPr>
                  <a:t>, </a:t>
                </a:r>
                <a:r>
                  <a:rPr lang="vi-VN"/>
                  <a:t>\overrightarrow{OA}</a:t>
                </a:r>
                <a:r>
                  <a:rPr sz="1900">
                    <a:solidFill>
                      <a:srgbClr val="1E293B"/>
                    </a:solidFill>
                    <a:latin typeface="Calibri"/>
                  </a:rPr>
                  <a:t> = </a:t>
                </a:r>
                <a:r>
                  <a:rPr lang="vi-VN"/>
                  <a:t>p\vec{k}</a:t>
                </a:r>
                <a:r>
                  <a:rPr sz="1900">
                    <a:solidFill>
                      <a:srgbClr val="1E293B"/>
                    </a:solidFill>
                    <a:latin typeface="Calibri"/>
                  </a:rPr>
                  <a:t> ⇒ </a:t>
                </a:r>
                <a:r>
                  <a:rPr lang="vi-VN"/>
                  <a:t>\overrightarrow{OC}</a:t>
                </a:r>
                <a:r>
                  <a:rPr sz="1900">
                    <a:solidFill>
                      <a:srgbClr val="1E293B"/>
                    </a:solidFill>
                    <a:latin typeface="Calibri"/>
                  </a:rPr>
                  <a:t> = </a:t>
                </a:r>
                <a:r>
                  <a:rPr lang="vi-VN"/>
                  <a:t>m\vec{i}+n\vec{j}+p\vec{k}</a:t>
                </a:r>
                <a:r>
                  <a:rPr sz="1900">
                    <a:solidFill>
                      <a:srgbClr val="1E293B"/>
                    </a:solidFill>
                    <a:latin typeface="Calibri"/>
                  </a:rPr>
                  <a:t> (quy tắc hình hộp), nên </a:t>
                </a:r>
                <a:r>
                  <a:rPr lang="vi-VN"/>
                  <a:t>m=2,\ n=3,\ p=5</a:t>
                </a:r>
                <a:r>
                  <a:rPr sz="1900">
                    <a:solidFill>
                      <a:srgbClr val="1E293B"/>
                    </a:solidFill>
                    <a:latin typeface="Calibri"/>
                  </a:rPr>
                  <a:t>.</a:t>
                </a:r>
              </a:p>
            </p:txBody>
          </p:sp>
        </mc:Fallback>
      </mc:AlternateContent>
      <p:sp>
        <p:nvSpPr>
          <p:cNvPr id="10" name="s2_nen"/>
          <p:cNvSpPr/>
          <p:nvPr/>
        </p:nvSpPr>
        <p:spPr>
          <a:xfrm>
            <a:off x="548640" y="3368040"/>
            <a:ext cx="8778240" cy="554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404616"/>
                <a:ext cx="84490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 </a:t>
                </a:r>
                <a14:m>
                  <m:oMath xmlns:m="http://schemas.openxmlformats.org/officeDocument/2006/math">
                    <m:sSup>
                      <m:e>
                        <m:r>
                          <a:rPr lang="vi-VN" sz="1900" b="0">
                            <a:solidFill>
                              <a:srgbClr val="1E293B"/>
                            </a:solidFill>
                            <a:latin typeface="Cambria Math" panose="02040503050406030204" pitchFamily="18" charset="0"/>
                          </a:rPr>
                          <m:t>D</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(2;</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0;</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0)</m:t>
                    </m:r>
                  </m:oMath>
                </a14:m>
                <a:r>
                  <a:rPr sz="1900">
                    <a:solidFill>
                      <a:srgbClr val="1E293B"/>
                    </a:solidFill>
                    <a:latin typeface="Calibri"/>
                  </a:rPr>
                  <a:t>, </a:t>
                </a:r>
                <a14:m>
                  <m:oMath xmlns:m="http://schemas.openxmlformats.org/officeDocument/2006/math">
                    <m:sSup>
                      <m:e>
                        <m:r>
                          <a:rPr lang="vi-VN" sz="1900" b="0">
                            <a:solidFill>
                              <a:srgbClr val="1E293B"/>
                            </a:solidFill>
                            <a:latin typeface="Cambria Math" panose="02040503050406030204" pitchFamily="18" charset="0"/>
                          </a:rPr>
                          <m:t>B</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(0;</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3;</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0)</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A(0;</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0;</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5)</m:t>
                    </m:r>
                  </m:oMath>
                </a14:m>
                <a:r>
                  <a:rPr sz="1900">
                    <a:solidFill>
                      <a:srgbClr val="1E293B"/>
                    </a:solidFill>
                    <a:latin typeface="Calibri"/>
                  </a:rPr>
                  <a:t>.</a:t>
                </a:r>
              </a:p>
            </p:txBody>
          </p:sp>
        </mc:Choice>
        <mc:Fallback>
          <p:sp>
            <p:nvSpPr>
              <p:cNvPr id="11" name="TextBox 10"/>
              <p:cNvSpPr txBox="1"/>
              <p:nvPr/>
            </p:nvSpPr>
            <p:spPr>
              <a:xfrm>
                <a:off x="713232" y="3404616"/>
                <a:ext cx="84490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 </a:t>
                </a:r>
                <a:r>
                  <a:rPr lang="vi-VN"/>
                  <a:t>D'(2;\ 0;\ 0)</a:t>
                </a:r>
                <a:r>
                  <a:rPr sz="1900">
                    <a:solidFill>
                      <a:srgbClr val="1E293B"/>
                    </a:solidFill>
                    <a:latin typeface="Calibri"/>
                  </a:rPr>
                  <a:t>, </a:t>
                </a:r>
                <a:r>
                  <a:rPr lang="vi-VN"/>
                  <a:t>B'(0;\ 3;\ 0)</a:t>
                </a:r>
                <a:r>
                  <a:rPr sz="1900">
                    <a:solidFill>
                      <a:srgbClr val="1E293B"/>
                    </a:solidFill>
                    <a:latin typeface="Calibri"/>
                  </a:rPr>
                  <a:t>, </a:t>
                </a:r>
                <a:r>
                  <a:rPr lang="vi-VN"/>
                  <a:t>A(0;\ 0;\ 5)</a:t>
                </a:r>
                <a:r>
                  <a:rPr sz="19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2" name="TextBox 11"/>
              <p:cNvSpPr txBox="1"/>
              <p:nvPr/>
            </p:nvSpPr>
            <p:spPr>
              <a:xfrm>
                <a:off x="548640" y="3977639"/>
                <a:ext cx="8778240" cy="75285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Luyện tập 3.</a:t>
                </a:r>
                <a:r>
                  <a:rPr sz="1900">
                    <a:solidFill>
                      <a:srgbClr val="1E293B"/>
                    </a:solidFill>
                    <a:latin typeface="Calibri"/>
                  </a:rPr>
                  <a:t> Trong Ví dụ 3, hãy xác định toạ độ của các điểm </a:t>
                </a:r>
                <a14:m>
                  <m:oMath xmlns:m="http://schemas.openxmlformats.org/officeDocument/2006/math">
                    <m:r>
                      <a:rPr lang="vi-VN" sz="1900" b="0">
                        <a:solidFill>
                          <a:srgbClr val="1E293B"/>
                        </a:solidFill>
                        <a:latin typeface="Cambria Math" panose="02040503050406030204" pitchFamily="18" charset="0"/>
                      </a:rPr>
                      <m:t>B,</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D</m:t>
                    </m:r>
                  </m:oMath>
                </a14:m>
                <a:r>
                  <a:rPr sz="1900">
                    <a:solidFill>
                      <a:srgbClr val="1E293B"/>
                    </a:solidFill>
                    <a:latin typeface="Calibri"/>
                  </a:rPr>
                  <a:t> và </a:t>
                </a:r>
                <a14:m>
                  <m:oMath xmlns:m="http://schemas.openxmlformats.org/officeDocument/2006/math">
                    <m:sSup>
                      <m:e>
                        <m:r>
                          <a:rPr lang="vi-VN" sz="1900" b="0">
                            <a:solidFill>
                              <a:srgbClr val="1E293B"/>
                            </a:solidFill>
                            <a:latin typeface="Cambria Math" panose="02040503050406030204" pitchFamily="18" charset="0"/>
                          </a:rPr>
                          <m:t>C</m:t>
                        </m:r>
                      </m:e>
                      <m:sup>
                        <m:r>
                          <a:rPr lang="vi-VN" sz="1900" b="0">
                            <a:solidFill>
                              <a:srgbClr val="1E293B"/>
                            </a:solidFill>
                            <a:latin typeface="Cambria Math" panose="02040503050406030204" pitchFamily="18" charset="0"/>
                          </a:rPr>
                          <m:t>′</m:t>
                        </m:r>
                      </m:sup>
                    </m:sSup>
                  </m:oMath>
                </a14:m>
                <a:r>
                  <a:rPr sz="1900">
                    <a:solidFill>
                      <a:srgbClr val="1E293B"/>
                    </a:solidFill>
                    <a:latin typeface="Calibri"/>
                  </a:rPr>
                  <a:t>.</a:t>
                </a:r>
              </a:p>
            </p:txBody>
          </p:sp>
        </mc:Choice>
        <mc:Fallback>
          <p:sp>
            <p:nvSpPr>
              <p:cNvPr id="12" name="TextBox 11"/>
              <p:cNvSpPr txBox="1"/>
              <p:nvPr/>
            </p:nvSpPr>
            <p:spPr>
              <a:xfrm>
                <a:off x="548640" y="3977639"/>
                <a:ext cx="8778240" cy="75285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Luyện tập 3.</a:t>
                </a:r>
                <a:r>
                  <a:rPr sz="1900">
                    <a:solidFill>
                      <a:srgbClr val="1E293B"/>
                    </a:solidFill>
                    <a:latin typeface="Calibri"/>
                  </a:rPr>
                  <a:t> Trong Ví dụ 3, hãy xác định toạ độ của các điểm </a:t>
                </a:r>
                <a:r>
                  <a:rPr lang="vi-VN"/>
                  <a:t>B,\ D</a:t>
                </a:r>
                <a:r>
                  <a:rPr sz="1900">
                    <a:solidFill>
                      <a:srgbClr val="1E293B"/>
                    </a:solidFill>
                    <a:latin typeface="Calibri"/>
                  </a:rPr>
                  <a:t> và </a:t>
                </a:r>
                <a:r>
                  <a:rPr lang="vi-VN"/>
                  <a:t>C'</a:t>
                </a:r>
                <a:r>
                  <a:rPr sz="1900">
                    <a:solidFill>
                      <a:srgbClr val="1E293B"/>
                    </a:solidFill>
                    <a:latin typeface="Calibri"/>
                  </a:rPr>
                  <a:t>.</a:t>
                </a:r>
              </a:p>
            </p:txBody>
          </p:sp>
        </mc:Fallback>
      </mc:AlternateContent>
      <p:sp>
        <p:nvSpPr>
          <p:cNvPr id="13" name="s3_nen"/>
          <p:cNvSpPr/>
          <p:nvPr/>
        </p:nvSpPr>
        <p:spPr>
          <a:xfrm>
            <a:off x="548640" y="4785359"/>
            <a:ext cx="8778240" cy="554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4" name="s3_chu"/>
              <p:cNvSpPr txBox="1"/>
              <p:nvPr/>
            </p:nvSpPr>
            <p:spPr>
              <a:xfrm>
                <a:off x="713232" y="4821935"/>
                <a:ext cx="84490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B(0;</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3;</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5)</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D(2;</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0;</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5)</m:t>
                    </m:r>
                  </m:oMath>
                </a14:m>
                <a:r>
                  <a:rPr sz="1900">
                    <a:solidFill>
                      <a:srgbClr val="1E293B"/>
                    </a:solidFill>
                    <a:latin typeface="Calibri"/>
                  </a:rPr>
                  <a:t>, </a:t>
                </a:r>
                <a14:m>
                  <m:oMath xmlns:m="http://schemas.openxmlformats.org/officeDocument/2006/math">
                    <m:sSup>
                      <m:e>
                        <m:r>
                          <a:rPr lang="vi-VN" sz="1900" b="0">
                            <a:solidFill>
                              <a:srgbClr val="1E293B"/>
                            </a:solidFill>
                            <a:latin typeface="Cambria Math" panose="02040503050406030204" pitchFamily="18" charset="0"/>
                          </a:rPr>
                          <m:t>C</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(2;</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3;</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0)</m:t>
                    </m:r>
                  </m:oMath>
                </a14:m>
                <a:r>
                  <a:rPr sz="1900">
                    <a:solidFill>
                      <a:srgbClr val="1E293B"/>
                    </a:solidFill>
                    <a:latin typeface="Calibri"/>
                  </a:rPr>
                  <a:t>.</a:t>
                </a:r>
              </a:p>
            </p:txBody>
          </p:sp>
        </mc:Choice>
        <mc:Fallback>
          <p:sp>
            <p:nvSpPr>
              <p:cNvPr id="14" name="TextBox 13"/>
              <p:cNvSpPr txBox="1"/>
              <p:nvPr/>
            </p:nvSpPr>
            <p:spPr>
              <a:xfrm>
                <a:off x="713232" y="4821935"/>
                <a:ext cx="84490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 </a:t>
                </a:r>
                <a:r>
                  <a:rPr lang="vi-VN"/>
                  <a:t>B(0;\ 3;\ 5)</a:t>
                </a:r>
                <a:r>
                  <a:rPr sz="1900">
                    <a:solidFill>
                      <a:srgbClr val="1E293B"/>
                    </a:solidFill>
                    <a:latin typeface="Calibri"/>
                  </a:rPr>
                  <a:t>, </a:t>
                </a:r>
                <a:r>
                  <a:rPr lang="vi-VN"/>
                  <a:t>D(2;\ 0;\ 5)</a:t>
                </a:r>
                <a:r>
                  <a:rPr sz="1900">
                    <a:solidFill>
                      <a:srgbClr val="1E293B"/>
                    </a:solidFill>
                    <a:latin typeface="Calibri"/>
                  </a:rPr>
                  <a:t>, </a:t>
                </a:r>
                <a:r>
                  <a:rPr lang="vi-VN"/>
                  <a:t>C'(2;\ 3;\ 0)</a:t>
                </a:r>
                <a:r>
                  <a:rPr sz="1900">
                    <a:solidFill>
                      <a:srgbClr val="1E293B"/>
                    </a:solidFill>
                    <a:latin typeface="Calibri"/>
                  </a:rPr>
                  <a:t>.</a:t>
                </a:r>
              </a:p>
            </p:txBody>
          </p:sp>
        </mc:Fallback>
      </mc:AlternateContent>
      <p:sp>
        <p:nvSpPr>
          <p:cNvPr id="15" name="Rounded Rectangle 14"/>
          <p:cNvSpPr/>
          <p:nvPr/>
        </p:nvSpPr>
        <p:spPr>
          <a:xfrm>
            <a:off x="548640" y="5394959"/>
            <a:ext cx="8778240" cy="844295"/>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6" name="TextBox 15"/>
              <p:cNvSpPr txBox="1"/>
              <p:nvPr/>
            </p:nvSpPr>
            <p:spPr>
              <a:xfrm>
                <a:off x="713232" y="5431535"/>
                <a:ext cx="8449056" cy="771143"/>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Nhận xét.</a:t>
                </a:r>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M(x;</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y;</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z)</m:t>
                    </m:r>
                  </m:oMath>
                </a14:m>
                <a:r>
                  <a:rPr sz="1900">
                    <a:solidFill>
                      <a:srgbClr val="1E293B"/>
                    </a:solidFill>
                    <a:latin typeface="Calibri"/>
                  </a:rPr>
                  <a:t>: hình chiếu trên </a:t>
                </a:r>
                <a14:m>
                  <m:oMath xmlns:m="http://schemas.openxmlformats.org/officeDocument/2006/math">
                    <m:r>
                      <a:rPr lang="vi-VN" sz="1900" b="0">
                        <a:solidFill>
                          <a:srgbClr val="1E293B"/>
                        </a:solidFill>
                        <a:latin typeface="Cambria Math" panose="02040503050406030204" pitchFamily="18" charset="0"/>
                      </a:rPr>
                      <m:t>Ox,</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Oy,</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Oz</m:t>
                    </m:r>
                  </m:oMath>
                </a14:m>
                <a:r>
                  <a:rPr sz="1900">
                    <a:solidFill>
                      <a:srgbClr val="1E293B"/>
                    </a:solidFill>
                    <a:latin typeface="Calibri"/>
                  </a:rPr>
                  <a:t> là </a:t>
                </a:r>
                <a14:m>
                  <m:oMath xmlns:m="http://schemas.openxmlformats.org/officeDocument/2006/math">
                    <m:d>
                      <m:dPr>
                        <m:sepChr m:val=""/>
                      </m:dPr>
                      <m:e>
                        <m:r>
                          <a:rPr lang="vi-VN" sz="1900" b="0">
                            <a:solidFill>
                              <a:srgbClr val="1E293B"/>
                            </a:solidFill>
                            <a:latin typeface="Cambria Math" panose="02040503050406030204" pitchFamily="18" charset="0"/>
                          </a:rPr>
                          <m:t>x</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y</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z</m:t>
                        </m:r>
                      </m:e>
                    </m:d>
                  </m:oMath>
                </a14:m>
                <a:r>
                  <a:rPr sz="1900">
                    <a:solidFill>
                      <a:srgbClr val="1E293B"/>
                    </a:solidFill>
                    <a:latin typeface="Calibri"/>
                  </a:rPr>
                  <a:t>; trên </a:t>
                </a:r>
                <a14:m>
                  <m:oMath xmlns:m="http://schemas.openxmlformats.org/officeDocument/2006/math">
                    <m:d>
                      <m:dPr>
                        <m:sepChr m:val=""/>
                      </m:dPr>
                      <m:e>
                        <m:r>
                          <a:rPr lang="vi-VN" sz="1900" b="0">
                            <a:solidFill>
                              <a:srgbClr val="1E293B"/>
                            </a:solidFill>
                            <a:latin typeface="Cambria Math" panose="02040503050406030204" pitchFamily="18" charset="0"/>
                          </a:rPr>
                          <m:t>O</m:t>
                        </m:r>
                        <m:r>
                          <a:rPr lang="vi-VN" sz="1900" b="0">
                            <a:solidFill>
                              <a:srgbClr val="1E293B"/>
                            </a:solidFill>
                            <a:latin typeface="Cambria Math" panose="02040503050406030204" pitchFamily="18" charset="0"/>
                          </a:rPr>
                          <m:t>x</m:t>
                        </m:r>
                        <m:r>
                          <a:rPr lang="vi-VN" sz="1900" b="0">
                            <a:solidFill>
                              <a:srgbClr val="1E293B"/>
                            </a:solidFill>
                            <a:latin typeface="Cambria Math" panose="02040503050406030204" pitchFamily="18" charset="0"/>
                          </a:rPr>
                          <m:t>y</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O</m:t>
                        </m:r>
                        <m:r>
                          <a:rPr lang="vi-VN" sz="1900" b="0">
                            <a:solidFill>
                              <a:srgbClr val="1E293B"/>
                            </a:solidFill>
                            <a:latin typeface="Cambria Math" panose="02040503050406030204" pitchFamily="18" charset="0"/>
                          </a:rPr>
                          <m:t>y</m:t>
                        </m:r>
                        <m:r>
                          <a:rPr lang="vi-VN" sz="1900" b="0">
                            <a:solidFill>
                              <a:srgbClr val="1E293B"/>
                            </a:solidFill>
                            <a:latin typeface="Cambria Math" panose="02040503050406030204" pitchFamily="18" charset="0"/>
                          </a:rPr>
                          <m:t>z</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O</m:t>
                        </m:r>
                        <m:r>
                          <a:rPr lang="vi-VN" sz="1900" b="0">
                            <a:solidFill>
                              <a:srgbClr val="1E293B"/>
                            </a:solidFill>
                            <a:latin typeface="Cambria Math" panose="02040503050406030204" pitchFamily="18" charset="0"/>
                          </a:rPr>
                          <m:t>z</m:t>
                        </m:r>
                        <m:r>
                          <a:rPr lang="vi-VN" sz="1900" b="0">
                            <a:solidFill>
                              <a:srgbClr val="1E293B"/>
                            </a:solidFill>
                            <a:latin typeface="Cambria Math" panose="02040503050406030204" pitchFamily="18" charset="0"/>
                          </a:rPr>
                          <m:t>x</m:t>
                        </m:r>
                      </m:e>
                    </m:d>
                  </m:oMath>
                </a14:m>
                <a:r>
                  <a:rPr sz="1900">
                    <a:solidFill>
                      <a:srgbClr val="1E293B"/>
                    </a:solidFill>
                    <a:latin typeface="Calibri"/>
                  </a:rPr>
                  <a:t> là </a:t>
                </a:r>
                <a14:m>
                  <m:oMath xmlns:m="http://schemas.openxmlformats.org/officeDocument/2006/math">
                    <m:d>
                      <m:dPr>
                        <m:sepChr m:val=""/>
                      </m:dPr>
                      <m:e>
                        <m:r>
                          <a:rPr lang="vi-VN" sz="1900" b="0">
                            <a:solidFill>
                              <a:srgbClr val="1E293B"/>
                            </a:solidFill>
                            <a:latin typeface="Cambria Math" panose="02040503050406030204" pitchFamily="18" charset="0"/>
                          </a:rPr>
                          <m:t>x</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y</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y</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z</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x</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z</m:t>
                        </m:r>
                      </m:e>
                    </m:d>
                  </m:oMath>
                </a14:m>
                <a:r>
                  <a:rPr sz="1900">
                    <a:solidFill>
                      <a:srgbClr val="1E293B"/>
                    </a:solidFill>
                    <a:latin typeface="Calibri"/>
                  </a:rPr>
                  <a:t>.</a:t>
                </a:r>
              </a:p>
            </p:txBody>
          </p:sp>
        </mc:Choice>
        <mc:Fallback>
          <p:sp>
            <p:nvSpPr>
              <p:cNvPr id="16" name="TextBox 15"/>
              <p:cNvSpPr txBox="1"/>
              <p:nvPr/>
            </p:nvSpPr>
            <p:spPr>
              <a:xfrm>
                <a:off x="713232" y="5431535"/>
                <a:ext cx="8449056" cy="771143"/>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Nhận xét.</a:t>
                </a:r>
                <a:r>
                  <a:rPr sz="1900">
                    <a:solidFill>
                      <a:srgbClr val="1E293B"/>
                    </a:solidFill>
                    <a:latin typeface="Calibri"/>
                  </a:rPr>
                  <a:t> </a:t>
                </a:r>
                <a:r>
                  <a:rPr lang="vi-VN"/>
                  <a:t>M(x;\ y;\ z)</a:t>
                </a:r>
                <a:r>
                  <a:rPr sz="1900">
                    <a:solidFill>
                      <a:srgbClr val="1E293B"/>
                    </a:solidFill>
                    <a:latin typeface="Calibri"/>
                  </a:rPr>
                  <a:t>: hình chiếu trên </a:t>
                </a:r>
                <a:r>
                  <a:rPr lang="vi-VN"/>
                  <a:t>Ox,\ Oy,\ Oz</a:t>
                </a:r>
                <a:r>
                  <a:rPr sz="1900">
                    <a:solidFill>
                      <a:srgbClr val="1E293B"/>
                    </a:solidFill>
                    <a:latin typeface="Calibri"/>
                  </a:rPr>
                  <a:t> là </a:t>
                </a:r>
                <a:r>
                  <a:rPr lang="vi-VN"/>
                  <a:t>(x;0;0),\ (0;y;0),\ (0;0;z)</a:t>
                </a:r>
                <a:r>
                  <a:rPr sz="1900">
                    <a:solidFill>
                      <a:srgbClr val="1E293B"/>
                    </a:solidFill>
                    <a:latin typeface="Calibri"/>
                  </a:rPr>
                  <a:t>; trên </a:t>
                </a:r>
                <a:r>
                  <a:rPr lang="vi-VN"/>
                  <a:t>(Oxy),\ (Oyz),\ (Ozx)</a:t>
                </a:r>
                <a:r>
                  <a:rPr sz="1900">
                    <a:solidFill>
                      <a:srgbClr val="1E293B"/>
                    </a:solidFill>
                    <a:latin typeface="Calibri"/>
                  </a:rPr>
                  <a:t> là </a:t>
                </a:r>
                <a:r>
                  <a:rPr lang="vi-VN"/>
                  <a:t>(x;y;0),\ (0;y;z),\ (x;0;z)</a:t>
                </a:r>
                <a:r>
                  <a:rPr sz="1900">
                    <a:solidFill>
                      <a:srgbClr val="1E293B"/>
                    </a:solidFill>
                    <a:latin typeface="Calibri"/>
                  </a:rPr>
                  <a:t>.</a:t>
                </a:r>
              </a:p>
            </p:txBody>
          </p:sp>
        </mc:Fallback>
      </mc:AlternateContent>
      <p:pic>
        <p:nvPicPr>
          <p:cNvPr id="17" name="Picture 16" descr="h240.png"/>
          <p:cNvPicPr>
            <a:picLocks noChangeAspect="1"/>
          </p:cNvPicPr>
          <p:nvPr/>
        </p:nvPicPr>
        <p:blipFill>
          <a:blip r:embed="rId3"/>
          <a:stretch>
            <a:fillRect/>
          </a:stretch>
        </p:blipFill>
        <p:spPr>
          <a:xfrm>
            <a:off x="9509760" y="1684641"/>
            <a:ext cx="2194560" cy="175135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GEOGEBRA</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GEOGEBRA 3D – TOẠ ĐỘ CỦA ĐIỂM</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Hệ trục toạ độ trong không gian – Toán 12          12</a:t>
            </a:r>
          </a:p>
        </p:txBody>
      </p:sp>
      <mc:AlternateContent xmlns:mc="http://schemas.openxmlformats.org/markup-compatibility/2006">
        <mc:Choice xmlns:a14="http://schemas.microsoft.com/office/drawing/2010/main" Requires="a14">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Kéo thanh trượt </a:t>
                </a:r>
                <a14:m>
                  <m:oMath xmlns:m="http://schemas.openxmlformats.org/officeDocument/2006/math">
                    <m:r>
                      <a:rPr lang="vi-VN" sz="2200" b="0">
                        <a:solidFill>
                          <a:srgbClr val="1E293B"/>
                        </a:solidFill>
                        <a:latin typeface="Cambria Math" panose="02040503050406030204" pitchFamily="18" charset="0"/>
                      </a:rPr>
                      <m:t>x,</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y,</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z</m:t>
                    </m:r>
                  </m:oMath>
                </a14:m>
                <a:r>
                  <a:rPr sz="2200">
                    <a:solidFill>
                      <a:srgbClr val="1E293B"/>
                    </a:solidFill>
                    <a:latin typeface="Calibri"/>
                  </a:rPr>
                  <a:t> để di chuyển điểm </a:t>
                </a:r>
                <a14:m>
                  <m:oMath xmlns:m="http://schemas.openxmlformats.org/officeDocument/2006/math">
                    <m:r>
                      <a:rPr lang="vi-VN" sz="2200" b="0">
                        <a:solidFill>
                          <a:srgbClr val="1E293B"/>
                        </a:solidFill>
                        <a:latin typeface="Cambria Math" panose="02040503050406030204" pitchFamily="18" charset="0"/>
                      </a:rPr>
                      <m:t>M</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Hình hộp chữ nhật </a:t>
                </a:r>
                <a14:m>
                  <m:oMath xmlns:m="http://schemas.openxmlformats.org/officeDocument/2006/math">
                    <m:r>
                      <a:rPr lang="vi-VN" sz="2200" b="0">
                        <a:solidFill>
                          <a:srgbClr val="1E293B"/>
                        </a:solidFill>
                        <a:latin typeface="Cambria Math" panose="02040503050406030204" pitchFamily="18" charset="0"/>
                      </a:rPr>
                      <m:t>OADB.CFME</m:t>
                    </m:r>
                  </m:oMath>
                </a14:m>
                <a:r>
                  <a:rPr sz="2200">
                    <a:solidFill>
                      <a:srgbClr val="1E293B"/>
                    </a:solidFill>
                    <a:latin typeface="Calibri"/>
                  </a:rPr>
                  <a:t> nhận </a:t>
                </a:r>
                <a14:m>
                  <m:oMath xmlns:m="http://schemas.openxmlformats.org/officeDocument/2006/math">
                    <m:r>
                      <a:rPr lang="vi-VN" sz="2200" b="0">
                        <a:solidFill>
                          <a:srgbClr val="1E293B"/>
                        </a:solidFill>
                        <a:latin typeface="Cambria Math" panose="02040503050406030204" pitchFamily="18" charset="0"/>
                      </a:rPr>
                      <m:t>OM</m:t>
                    </m:r>
                  </m:oMath>
                </a14:m>
                <a:r>
                  <a:rPr sz="2200">
                    <a:solidFill>
                      <a:srgbClr val="1E293B"/>
                    </a:solidFill>
                    <a:latin typeface="Calibri"/>
                  </a:rPr>
                  <a:t> làm đường chéo.</a:t>
                </a:r>
              </a:p>
              <a:p>
                <a:pPr algn="l" marL="365760" indent="-365760">
                  <a:spcAft>
                    <a:spcPts val="800"/>
                  </a:spcAft>
                  <a:buClr>
                    <a:srgbClr val="1E40AF"/>
                  </a:buClr>
                  <a:buFont typeface="Arial"/>
                  <a:buChar char="•"/>
                </a:pPr>
                <a:r>
                  <a:rPr sz="2200">
                    <a:solidFill>
                      <a:srgbClr val="1E293B"/>
                    </a:solidFill>
                    <a:latin typeface="Calibri"/>
                  </a:rPr>
                  <a:t>Quan sát hình chiếu của </a:t>
                </a:r>
                <a14:m>
                  <m:oMath xmlns:m="http://schemas.openxmlformats.org/officeDocument/2006/math">
                    <m:r>
                      <a:rPr lang="vi-VN" sz="2200" b="0">
                        <a:solidFill>
                          <a:srgbClr val="1E293B"/>
                        </a:solidFill>
                        <a:latin typeface="Cambria Math" panose="02040503050406030204" pitchFamily="18" charset="0"/>
                      </a:rPr>
                      <m:t>M</m:t>
                    </m:r>
                  </m:oMath>
                </a14:m>
                <a:r>
                  <a:rPr sz="2200">
                    <a:solidFill>
                      <a:srgbClr val="1E293B"/>
                    </a:solidFill>
                    <a:latin typeface="Calibri"/>
                  </a:rPr>
                  <a:t> trên các trục và các mặt phẳng toạ độ.</a:t>
                </a:r>
              </a:p>
            </p:txBody>
          </p:sp>
        </mc:Choice>
        <mc:Fallback>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Kéo thanh trượt </a:t>
                </a:r>
                <a:r>
                  <a:rPr lang="vi-VN"/>
                  <a:t>x,\ y,\ z</a:t>
                </a:r>
                <a:r>
                  <a:rPr sz="2200">
                    <a:solidFill>
                      <a:srgbClr val="1E293B"/>
                    </a:solidFill>
                    <a:latin typeface="Calibri"/>
                  </a:rPr>
                  <a:t> để di chuyển điểm </a:t>
                </a:r>
                <a:r>
                  <a:rPr lang="vi-VN"/>
                  <a:t>M</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Hình hộp chữ nhật </a:t>
                </a:r>
                <a:r>
                  <a:rPr lang="vi-VN"/>
                  <a:t>OADB.CFME</a:t>
                </a:r>
                <a:r>
                  <a:rPr sz="2200">
                    <a:solidFill>
                      <a:srgbClr val="1E293B"/>
                    </a:solidFill>
                    <a:latin typeface="Calibri"/>
                  </a:rPr>
                  <a:t> nhận </a:t>
                </a:r>
                <a:r>
                  <a:rPr lang="vi-VN"/>
                  <a:t>OM</a:t>
                </a:r>
                <a:r>
                  <a:rPr sz="2200">
                    <a:solidFill>
                      <a:srgbClr val="1E293B"/>
                    </a:solidFill>
                    <a:latin typeface="Calibri"/>
                  </a:rPr>
                  <a:t> làm đường chéo.</a:t>
                </a:r>
              </a:p>
              <a:p>
                <a:pPr algn="l" marL="365760" indent="-365760">
                  <a:spcAft>
                    <a:spcPts val="800"/>
                  </a:spcAft>
                  <a:buClr>
                    <a:srgbClr val="1E40AF"/>
                  </a:buClr>
                  <a:buFont typeface="Arial"/>
                  <a:buChar char="•"/>
                </a:pPr>
                <a:r>
                  <a:rPr sz="2200">
                    <a:solidFill>
                      <a:srgbClr val="1E293B"/>
                    </a:solidFill>
                    <a:latin typeface="Calibri"/>
                  </a:rPr>
                  <a:t>Quan sát hình chiếu của </a:t>
                </a:r>
                <a:r>
                  <a:rPr lang="vi-VN"/>
                  <a:t>M</a:t>
                </a:r>
                <a:r>
                  <a:rPr sz="2200">
                    <a:solidFill>
                      <a:srgbClr val="1E293B"/>
                    </a:solidFill>
                    <a:latin typeface="Calibri"/>
                  </a:rPr>
                  <a:t> trên các trục và các mặt phẳng toạ độ.</a:t>
                </a:r>
              </a:p>
            </p:txBody>
          </p:sp>
        </mc:Fallback>
      </mc:AlternateContent>
      <p:sp>
        <p:nvSpPr>
          <p:cNvPr id="8" name="Rounded Rectangle 7">
            <a:hlinkClick r:id="rId3"/>
          </p:cNvPr>
          <p:cNvSpPr/>
          <p:nvPr/>
        </p:nvSpPr>
        <p:spPr>
          <a:xfrm>
            <a:off x="548640" y="5074920"/>
            <a:ext cx="3840480" cy="6858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  MỞ GEOGEBRA</a:t>
            </a:r>
          </a:p>
        </p:txBody>
      </p:sp>
      <p:pic>
        <p:nvPicPr>
          <p:cNvPr id="9" name="Picture 8" descr="qr_ggb_1.png"/>
          <p:cNvPicPr>
            <a:picLocks noChangeAspect="1"/>
          </p:cNvPicPr>
          <p:nvPr/>
        </p:nvPicPr>
        <p:blipFill>
          <a:blip r:embed="rId4"/>
          <a:stretch>
            <a:fillRect/>
          </a:stretch>
        </p:blipFill>
        <p:spPr>
          <a:xfrm>
            <a:off x="4572000" y="4572000"/>
            <a:ext cx="1325880" cy="1325880"/>
          </a:xfrm>
          <a:prstGeom prst="rect">
            <a:avLst/>
          </a:prstGeom>
        </p:spPr>
      </p:pic>
      <p:sp>
        <p:nvSpPr>
          <p:cNvPr id="10" name="TextBox 9"/>
          <p:cNvSpPr txBox="1"/>
          <p:nvPr/>
        </p:nvSpPr>
        <p:spPr>
          <a:xfrm>
            <a:off x="548640" y="5806440"/>
            <a:ext cx="3931920" cy="457200"/>
          </a:xfrm>
          <a:prstGeom prst="rect">
            <a:avLst/>
          </a:prstGeom>
          <a:noFill/>
        </p:spPr>
        <p:txBody>
          <a:bodyPr wrap="square" anchor="t" lIns="45720" rIns="45720">
            <a:spAutoFit/>
          </a:bodyPr>
          <a:lstStyle/>
          <a:p>
            <a:pPr algn="l">
              <a:spcAft>
                <a:spcPts val="800"/>
              </a:spcAft>
            </a:pPr>
            <a:r>
              <a:rPr sz="1400">
                <a:solidFill>
                  <a:srgbClr val="64748B"/>
                </a:solidFill>
                <a:latin typeface="Calibri"/>
              </a:rPr>
              <a:t>Quét QR mở trên điện thoại. Kéo điểm để thay đổi hình.</a:t>
            </a:r>
          </a:p>
        </p:txBody>
      </p:sp>
      <p:pic>
        <p:nvPicPr>
          <p:cNvPr id="11" name="Picture 10" descr="h237.png"/>
          <p:cNvPicPr>
            <a:picLocks noChangeAspect="1"/>
          </p:cNvPicPr>
          <p:nvPr/>
        </p:nvPicPr>
        <p:blipFill>
          <a:blip r:embed="rId5"/>
          <a:stretch>
            <a:fillRect/>
          </a:stretch>
        </p:blipFill>
        <p:spPr>
          <a:xfrm>
            <a:off x="6858000" y="1705417"/>
            <a:ext cx="4846320" cy="399580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TRÒ CHƠI: ĐÚNG HAY SAI?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Hệ trục toạ độ trong không gian – Toán 12          13</a:t>
            </a:r>
          </a:p>
        </p:txBody>
      </p:sp>
      <p:sp>
        <p:nvSpPr>
          <p:cNvPr id="7" name="TextBox 6"/>
          <p:cNvSpPr txBox="1"/>
          <p:nvPr/>
        </p:nvSpPr>
        <p:spPr>
          <a:xfrm>
            <a:off x="548640" y="1325880"/>
            <a:ext cx="11064240" cy="457200"/>
          </a:xfrm>
          <a:prstGeom prst="rect">
            <a:avLst/>
          </a:prstGeom>
          <a:noFill/>
        </p:spPr>
        <p:txBody>
          <a:bodyPr wrap="square" anchor="t" lIns="45720" rIns="45720">
            <a:spAutoFit/>
          </a:bodyPr>
          <a:lstStyle/>
          <a:p>
            <a:pPr algn="l">
              <a:spcAft>
                <a:spcPts val="800"/>
              </a:spcAft>
            </a:pPr>
            <a:r>
              <a:rPr sz="1800">
                <a:solidFill>
                  <a:srgbClr val="64748B"/>
                </a:solidFill>
                <a:latin typeface="Calibri"/>
              </a:rPr>
              <a:t>📋 Cả lớp giơ thẻ Đ / S trong 10 giây cho mỗi câu.</a:t>
            </a:r>
          </a:p>
        </p:txBody>
      </p:sp>
      <mc:AlternateContent xmlns:mc="http://schemas.openxmlformats.org/markup-compatibility/2006">
        <mc:Choice xmlns:a14="http://schemas.microsoft.com/office/drawing/2010/main" Requires="a14">
          <p:sp>
            <p:nvSpPr>
              <p:cNvPr id="8" name="TextBox 7"/>
              <p:cNvSpPr txBox="1"/>
              <p:nvPr/>
            </p:nvSpPr>
            <p:spPr>
              <a:xfrm>
                <a:off x="548640" y="1828800"/>
                <a:ext cx="5394960" cy="1179576"/>
              </a:xfrm>
              <a:prstGeom prst="rect">
                <a:avLst/>
              </a:prstGeom>
              <a:noFill/>
            </p:spPr>
            <p:txBody>
              <a:bodyPr wrap="square" anchor="t" lIns="45720" rIns="45720">
                <a:spAutoFit/>
              </a:bodyPr>
              <a:lstStyle/>
              <a:p>
                <a:pPr algn="l">
                  <a:spcAft>
                    <a:spcPts val="800"/>
                  </a:spcAft>
                </a:pPr>
                <a:r>
                  <a:rPr sz="2200">
                    <a:solidFill>
                      <a:srgbClr val="1E293B"/>
                    </a:solidFill>
                    <a:latin typeface="Calibri"/>
                  </a:rPr>
                  <a:t>Hình hộp chữ nhật </a:t>
                </a:r>
                <a14:m>
                  <m:oMath xmlns:m="http://schemas.openxmlformats.org/officeDocument/2006/math">
                    <m:r>
                      <a:rPr lang="vi-VN" sz="2200" b="0">
                        <a:solidFill>
                          <a:srgbClr val="1E293B"/>
                        </a:solidFill>
                        <a:latin typeface="Cambria Math" panose="02040503050406030204" pitchFamily="18" charset="0"/>
                      </a:rPr>
                      <m:t>ABCD.</m:t>
                    </m:r>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B</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A≡O</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D(2;0;0)</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B(0;4;0)</m:t>
                    </m:r>
                  </m:oMath>
                </a14:m>
                <a:r>
                  <a:rPr sz="2200">
                    <a:solidFill>
                      <a:srgbClr val="1E293B"/>
                    </a:solidFill>
                    <a:latin typeface="Calibri"/>
                  </a:rPr>
                  <a:t>, </a:t>
                </a:r>
                <a14:m>
                  <m:oMath xmlns:m="http://schemas.openxmlformats.org/officeDocument/2006/math">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(0;0;3)</m:t>
                    </m:r>
                  </m:oMath>
                </a14:m>
                <a:r>
                  <a:rPr sz="2200">
                    <a:solidFill>
                      <a:srgbClr val="1E293B"/>
                    </a:solidFill>
                    <a:latin typeface="Calibri"/>
                  </a:rPr>
                  <a:t> (H.2.45).</a:t>
                </a:r>
              </a:p>
            </p:txBody>
          </p:sp>
        </mc:Choice>
        <mc:Fallback>
          <p:sp>
            <p:nvSpPr>
              <p:cNvPr id="8" name="TextBox 7"/>
              <p:cNvSpPr txBox="1"/>
              <p:nvPr/>
            </p:nvSpPr>
            <p:spPr>
              <a:xfrm>
                <a:off x="548640" y="1828800"/>
                <a:ext cx="5394960" cy="1179576"/>
              </a:xfrm>
              <a:prstGeom prst="rect">
                <a:avLst/>
              </a:prstGeom>
              <a:noFill/>
            </p:spPr>
            <p:txBody>
              <a:bodyPr wrap="square" anchor="t" lIns="45720" rIns="45720">
                <a:spAutoFit/>
              </a:bodyPr>
              <a:lstStyle/>
              <a:p>
                <a:pPr algn="l">
                  <a:spcAft>
                    <a:spcPts val="800"/>
                  </a:spcAft>
                </a:pPr>
                <a:r>
                  <a:rPr sz="2200">
                    <a:solidFill>
                      <a:srgbClr val="1E293B"/>
                    </a:solidFill>
                    <a:latin typeface="Calibri"/>
                  </a:rPr>
                  <a:t>Hình hộp chữ nhật </a:t>
                </a:r>
                <a:r>
                  <a:rPr lang="vi-VN"/>
                  <a:t>ABCD.A'B'C'D'</a:t>
                </a:r>
                <a:r>
                  <a:rPr sz="2200">
                    <a:solidFill>
                      <a:srgbClr val="1E293B"/>
                    </a:solidFill>
                    <a:latin typeface="Calibri"/>
                  </a:rPr>
                  <a:t>: </a:t>
                </a:r>
                <a:r>
                  <a:rPr lang="vi-VN"/>
                  <a:t>A\equiv O</a:t>
                </a:r>
                <a:r>
                  <a:rPr sz="2200">
                    <a:solidFill>
                      <a:srgbClr val="1E293B"/>
                    </a:solidFill>
                    <a:latin typeface="Calibri"/>
                  </a:rPr>
                  <a:t>, </a:t>
                </a:r>
                <a:r>
                  <a:rPr lang="vi-VN"/>
                  <a:t>D(2;0;0)</a:t>
                </a:r>
                <a:r>
                  <a:rPr sz="2200">
                    <a:solidFill>
                      <a:srgbClr val="1E293B"/>
                    </a:solidFill>
                    <a:latin typeface="Calibri"/>
                  </a:rPr>
                  <a:t>, </a:t>
                </a:r>
                <a:r>
                  <a:rPr lang="vi-VN"/>
                  <a:t>B(0;4;0)</a:t>
                </a:r>
                <a:r>
                  <a:rPr sz="2200">
                    <a:solidFill>
                      <a:srgbClr val="1E293B"/>
                    </a:solidFill>
                    <a:latin typeface="Calibri"/>
                  </a:rPr>
                  <a:t>, </a:t>
                </a:r>
                <a:r>
                  <a:rPr lang="vi-VN"/>
                  <a:t>A'(0;0;3)</a:t>
                </a:r>
                <a:r>
                  <a:rPr sz="2200">
                    <a:solidFill>
                      <a:srgbClr val="1E293B"/>
                    </a:solidFill>
                    <a:latin typeface="Calibri"/>
                  </a:rPr>
                  <a:t> (H.2.45).</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548640" y="3145536"/>
                <a:ext cx="5394960" cy="559612"/>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1.</a:t>
                </a:r>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C(2;</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4;</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0)</m:t>
                    </m:r>
                  </m:oMath>
                </a14:m>
                <a:r>
                  <a:rPr sz="2100">
                    <a:solidFill>
                      <a:srgbClr val="1E293B"/>
                    </a:solidFill>
                    <a:latin typeface="Calibri"/>
                  </a:rPr>
                  <a:t>.</a:t>
                </a:r>
              </a:p>
            </p:txBody>
          </p:sp>
        </mc:Choice>
        <mc:Fallback>
          <p:sp>
            <p:nvSpPr>
              <p:cNvPr id="9" name="TextBox 8"/>
              <p:cNvSpPr txBox="1"/>
              <p:nvPr/>
            </p:nvSpPr>
            <p:spPr>
              <a:xfrm>
                <a:off x="548640" y="3145536"/>
                <a:ext cx="5394960" cy="559612"/>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1.</a:t>
                </a:r>
                <a:r>
                  <a:rPr sz="2100">
                    <a:solidFill>
                      <a:srgbClr val="1E293B"/>
                    </a:solidFill>
                    <a:latin typeface="Calibri"/>
                  </a:rPr>
                  <a:t> </a:t>
                </a:r>
                <a:r>
                  <a:rPr lang="vi-VN"/>
                  <a:t>C(2;\ 4;\ 0)</a:t>
                </a:r>
                <a:r>
                  <a:rPr sz="2100">
                    <a:solidFill>
                      <a:srgbClr val="1E293B"/>
                    </a:solidFill>
                    <a:latin typeface="Calibri"/>
                  </a:rPr>
                  <a:t>.</a:t>
                </a:r>
              </a:p>
            </p:txBody>
          </p:sp>
        </mc:Fallback>
      </mc:AlternateContent>
      <p:sp>
        <p:nvSpPr>
          <p:cNvPr id="10" name="s1_nen"/>
          <p:cNvSpPr/>
          <p:nvPr/>
        </p:nvSpPr>
        <p:spPr>
          <a:xfrm>
            <a:off x="6126480" y="3145536"/>
            <a:ext cx="2377440" cy="495604"/>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1_chu"/>
          <p:cNvSpPr txBox="1"/>
          <p:nvPr/>
        </p:nvSpPr>
        <p:spPr>
          <a:xfrm>
            <a:off x="6126480" y="3200400"/>
            <a:ext cx="2377440" cy="468172"/>
          </a:xfrm>
          <a:prstGeom prst="rect">
            <a:avLst/>
          </a:prstGeom>
          <a:noFill/>
        </p:spPr>
        <p:txBody>
          <a:bodyPr wrap="square" anchor="t" lIns="45720" rIns="45720">
            <a:spAutoFit/>
          </a:bodyPr>
          <a:lstStyle/>
          <a:p>
            <a:pPr algn="ctr">
              <a:spcAft>
                <a:spcPts val="800"/>
              </a:spcAft>
            </a:pPr>
            <a:r>
              <a:rPr sz="1700" b="1">
                <a:solidFill>
                  <a:srgbClr val="FFFFFF"/>
                </a:solidFill>
                <a:latin typeface="Calibri"/>
              </a:rPr>
              <a:t>ĐÚNG</a:t>
            </a:r>
          </a:p>
        </p:txBody>
      </p:sp>
      <mc:AlternateContent xmlns:mc="http://schemas.openxmlformats.org/markup-compatibility/2006">
        <mc:Choice xmlns:a14="http://schemas.microsoft.com/office/drawing/2010/main" Requires="a14">
          <p:sp>
            <p:nvSpPr>
              <p:cNvPr id="12" name="TextBox 11"/>
              <p:cNvSpPr txBox="1"/>
              <p:nvPr/>
            </p:nvSpPr>
            <p:spPr>
              <a:xfrm>
                <a:off x="548640" y="3750868"/>
                <a:ext cx="5394960" cy="559612"/>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2.</a:t>
                </a:r>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C</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(2;</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4;</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3)</m:t>
                    </m:r>
                  </m:oMath>
                </a14:m>
                <a:r>
                  <a:rPr sz="2100">
                    <a:solidFill>
                      <a:srgbClr val="1E293B"/>
                    </a:solidFill>
                    <a:latin typeface="Calibri"/>
                  </a:rPr>
                  <a:t>.</a:t>
                </a:r>
              </a:p>
            </p:txBody>
          </p:sp>
        </mc:Choice>
        <mc:Fallback>
          <p:sp>
            <p:nvSpPr>
              <p:cNvPr id="12" name="TextBox 11"/>
              <p:cNvSpPr txBox="1"/>
              <p:nvPr/>
            </p:nvSpPr>
            <p:spPr>
              <a:xfrm>
                <a:off x="548640" y="3750868"/>
                <a:ext cx="5394960" cy="559612"/>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2.</a:t>
                </a:r>
                <a:r>
                  <a:rPr sz="2100">
                    <a:solidFill>
                      <a:srgbClr val="1E293B"/>
                    </a:solidFill>
                    <a:latin typeface="Calibri"/>
                  </a:rPr>
                  <a:t> </a:t>
                </a:r>
                <a:r>
                  <a:rPr lang="vi-VN"/>
                  <a:t>C'(2;\ 4;\ 3)</a:t>
                </a:r>
                <a:r>
                  <a:rPr sz="2100">
                    <a:solidFill>
                      <a:srgbClr val="1E293B"/>
                    </a:solidFill>
                    <a:latin typeface="Calibri"/>
                  </a:rPr>
                  <a:t>.</a:t>
                </a:r>
              </a:p>
            </p:txBody>
          </p:sp>
        </mc:Fallback>
      </mc:AlternateContent>
      <p:sp>
        <p:nvSpPr>
          <p:cNvPr id="13" name="s2_nen"/>
          <p:cNvSpPr/>
          <p:nvPr/>
        </p:nvSpPr>
        <p:spPr>
          <a:xfrm>
            <a:off x="6126480" y="3750868"/>
            <a:ext cx="2377440" cy="495604"/>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2_chu"/>
          <p:cNvSpPr txBox="1"/>
          <p:nvPr/>
        </p:nvSpPr>
        <p:spPr>
          <a:xfrm>
            <a:off x="6126480" y="3805732"/>
            <a:ext cx="2377440" cy="468172"/>
          </a:xfrm>
          <a:prstGeom prst="rect">
            <a:avLst/>
          </a:prstGeom>
          <a:noFill/>
        </p:spPr>
        <p:txBody>
          <a:bodyPr wrap="square" anchor="t" lIns="45720" rIns="45720">
            <a:spAutoFit/>
          </a:bodyPr>
          <a:lstStyle/>
          <a:p>
            <a:pPr algn="ctr">
              <a:spcAft>
                <a:spcPts val="800"/>
              </a:spcAft>
            </a:pPr>
            <a:r>
              <a:rPr sz="1700" b="1">
                <a:solidFill>
                  <a:srgbClr val="FFFFFF"/>
                </a:solidFill>
                <a:latin typeface="Calibri"/>
              </a:rPr>
              <a:t>ĐÚNG</a:t>
            </a:r>
          </a:p>
        </p:txBody>
      </p:sp>
      <mc:AlternateContent xmlns:mc="http://schemas.openxmlformats.org/markup-compatibility/2006">
        <mc:Choice xmlns:a14="http://schemas.microsoft.com/office/drawing/2010/main" Requires="a14">
          <p:sp>
            <p:nvSpPr>
              <p:cNvPr id="15" name="TextBox 14"/>
              <p:cNvSpPr txBox="1"/>
              <p:nvPr/>
            </p:nvSpPr>
            <p:spPr>
              <a:xfrm>
                <a:off x="548640" y="4356201"/>
                <a:ext cx="5394960" cy="559612"/>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3.</a:t>
                </a:r>
                <a:r>
                  <a:rPr sz="2100">
                    <a:solidFill>
                      <a:srgbClr val="1E293B"/>
                    </a:solidFill>
                    <a:latin typeface="Calibri"/>
                  </a:rPr>
                  <a:t> Hình chiếu của </a:t>
                </a:r>
                <a14:m>
                  <m:oMath xmlns:m="http://schemas.openxmlformats.org/officeDocument/2006/math">
                    <m:r>
                      <a:rPr lang="vi-VN" sz="2100" b="0">
                        <a:solidFill>
                          <a:srgbClr val="1E293B"/>
                        </a:solidFill>
                        <a:latin typeface="Cambria Math" panose="02040503050406030204" pitchFamily="18" charset="0"/>
                      </a:rPr>
                      <m:t>M(1;−2;3)</m:t>
                    </m:r>
                  </m:oMath>
                </a14:m>
                <a:r>
                  <a:rPr sz="2100">
                    <a:solidFill>
                      <a:srgbClr val="1E293B"/>
                    </a:solidFill>
                    <a:latin typeface="Calibri"/>
                  </a:rPr>
                  <a:t> trên </a:t>
                </a:r>
                <a14:m>
                  <m:oMath xmlns:m="http://schemas.openxmlformats.org/officeDocument/2006/math">
                    <m:d>
                      <m:dPr>
                        <m:sepChr m:val=""/>
                      </m:dPr>
                      <m:e>
                        <m:r>
                          <a:rPr lang="vi-VN" sz="2100" b="0">
                            <a:solidFill>
                              <a:srgbClr val="1E293B"/>
                            </a:solidFill>
                            <a:latin typeface="Cambria Math" panose="02040503050406030204" pitchFamily="18" charset="0"/>
                          </a:rPr>
                          <m:t>O</m:t>
                        </m:r>
                        <m:r>
                          <a:rPr lang="vi-VN" sz="2100" b="0">
                            <a:solidFill>
                              <a:srgbClr val="1E293B"/>
                            </a:solidFill>
                            <a:latin typeface="Cambria Math" panose="02040503050406030204" pitchFamily="18" charset="0"/>
                          </a:rPr>
                          <m:t>x</m:t>
                        </m:r>
                        <m:r>
                          <a:rPr lang="vi-VN" sz="2100" b="0">
                            <a:solidFill>
                              <a:srgbClr val="1E293B"/>
                            </a:solidFill>
                            <a:latin typeface="Cambria Math" panose="02040503050406030204" pitchFamily="18" charset="0"/>
                          </a:rPr>
                          <m:t>y</m:t>
                        </m:r>
                      </m:e>
                    </m:d>
                  </m:oMath>
                </a14:m>
                <a:r>
                  <a:rPr sz="2100">
                    <a:solidFill>
                      <a:srgbClr val="1E293B"/>
                    </a:solidFill>
                    <a:latin typeface="Calibri"/>
                  </a:rPr>
                  <a:t> là </a:t>
                </a:r>
                <a14:m>
                  <m:oMath xmlns:m="http://schemas.openxmlformats.org/officeDocument/2006/math">
                    <m:d>
                      <m:dPr>
                        <m:sepChr m:val=""/>
                      </m:dPr>
                      <m:e>
                        <m:r>
                          <a:rPr lang="vi-VN" sz="2100" b="0">
                            <a:solidFill>
                              <a:srgbClr val="1E293B"/>
                            </a:solidFill>
                            <a:latin typeface="Cambria Math" panose="02040503050406030204" pitchFamily="18" charset="0"/>
                          </a:rPr>
                          <m:t>1</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2</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0</m:t>
                        </m:r>
                      </m:e>
                    </m:d>
                  </m:oMath>
                </a14:m>
                <a:r>
                  <a:rPr sz="2100">
                    <a:solidFill>
                      <a:srgbClr val="1E293B"/>
                    </a:solidFill>
                    <a:latin typeface="Calibri"/>
                  </a:rPr>
                  <a:t>.</a:t>
                </a:r>
              </a:p>
            </p:txBody>
          </p:sp>
        </mc:Choice>
        <mc:Fallback>
          <p:sp>
            <p:nvSpPr>
              <p:cNvPr id="15" name="TextBox 14"/>
              <p:cNvSpPr txBox="1"/>
              <p:nvPr/>
            </p:nvSpPr>
            <p:spPr>
              <a:xfrm>
                <a:off x="548640" y="4356201"/>
                <a:ext cx="5394960" cy="559612"/>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3.</a:t>
                </a:r>
                <a:r>
                  <a:rPr sz="2100">
                    <a:solidFill>
                      <a:srgbClr val="1E293B"/>
                    </a:solidFill>
                    <a:latin typeface="Calibri"/>
                  </a:rPr>
                  <a:t> Hình chiếu của </a:t>
                </a:r>
                <a:r>
                  <a:rPr lang="vi-VN"/>
                  <a:t>M(1;-2;3)</a:t>
                </a:r>
                <a:r>
                  <a:rPr sz="2100">
                    <a:solidFill>
                      <a:srgbClr val="1E293B"/>
                    </a:solidFill>
                    <a:latin typeface="Calibri"/>
                  </a:rPr>
                  <a:t> trên </a:t>
                </a:r>
                <a:r>
                  <a:rPr lang="vi-VN"/>
                  <a:t>(Oxy)</a:t>
                </a:r>
                <a:r>
                  <a:rPr sz="2100">
                    <a:solidFill>
                      <a:srgbClr val="1E293B"/>
                    </a:solidFill>
                    <a:latin typeface="Calibri"/>
                  </a:rPr>
                  <a:t> là </a:t>
                </a:r>
                <a:r>
                  <a:rPr lang="vi-VN"/>
                  <a:t>(1;-2;0)</a:t>
                </a:r>
                <a:r>
                  <a:rPr sz="2100">
                    <a:solidFill>
                      <a:srgbClr val="1E293B"/>
                    </a:solidFill>
                    <a:latin typeface="Calibri"/>
                  </a:rPr>
                  <a:t>.</a:t>
                </a:r>
              </a:p>
            </p:txBody>
          </p:sp>
        </mc:Fallback>
      </mc:AlternateContent>
      <p:sp>
        <p:nvSpPr>
          <p:cNvPr id="16" name="s3_nen"/>
          <p:cNvSpPr/>
          <p:nvPr/>
        </p:nvSpPr>
        <p:spPr>
          <a:xfrm>
            <a:off x="6126480" y="4356201"/>
            <a:ext cx="2377440" cy="495604"/>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3_chu"/>
          <p:cNvSpPr txBox="1"/>
          <p:nvPr/>
        </p:nvSpPr>
        <p:spPr>
          <a:xfrm>
            <a:off x="6126480" y="4411065"/>
            <a:ext cx="2377440" cy="468172"/>
          </a:xfrm>
          <a:prstGeom prst="rect">
            <a:avLst/>
          </a:prstGeom>
          <a:noFill/>
        </p:spPr>
        <p:txBody>
          <a:bodyPr wrap="square" anchor="t" lIns="45720" rIns="45720">
            <a:spAutoFit/>
          </a:bodyPr>
          <a:lstStyle/>
          <a:p>
            <a:pPr algn="ctr">
              <a:spcAft>
                <a:spcPts val="800"/>
              </a:spcAft>
            </a:pPr>
            <a:r>
              <a:rPr sz="1700" b="1">
                <a:solidFill>
                  <a:srgbClr val="FFFFFF"/>
                </a:solidFill>
                <a:latin typeface="Calibri"/>
              </a:rPr>
              <a:t>ĐÚNG</a:t>
            </a:r>
          </a:p>
        </p:txBody>
      </p:sp>
      <mc:AlternateContent xmlns:mc="http://schemas.openxmlformats.org/markup-compatibility/2006">
        <mc:Choice xmlns:a14="http://schemas.microsoft.com/office/drawing/2010/main" Requires="a14">
          <p:sp>
            <p:nvSpPr>
              <p:cNvPr id="18" name="TextBox 17"/>
              <p:cNvSpPr txBox="1"/>
              <p:nvPr/>
            </p:nvSpPr>
            <p:spPr>
              <a:xfrm>
                <a:off x="548640" y="4961534"/>
                <a:ext cx="5394960" cy="559612"/>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4.</a:t>
                </a:r>
                <a:r>
                  <a:rPr sz="2100">
                    <a:solidFill>
                      <a:srgbClr val="1E293B"/>
                    </a:solidFill>
                    <a:latin typeface="Calibri"/>
                  </a:rPr>
                  <a:t> Hình chiếu của </a:t>
                </a:r>
                <a14:m>
                  <m:oMath xmlns:m="http://schemas.openxmlformats.org/officeDocument/2006/math">
                    <m:r>
                      <a:rPr lang="vi-VN" sz="2100" b="0">
                        <a:solidFill>
                          <a:srgbClr val="1E293B"/>
                        </a:solidFill>
                        <a:latin typeface="Cambria Math" panose="02040503050406030204" pitchFamily="18" charset="0"/>
                      </a:rPr>
                      <m:t>M(1;−2;3)</m:t>
                    </m:r>
                  </m:oMath>
                </a14:m>
                <a:r>
                  <a:rPr sz="2100">
                    <a:solidFill>
                      <a:srgbClr val="1E293B"/>
                    </a:solidFill>
                    <a:latin typeface="Calibri"/>
                  </a:rPr>
                  <a:t> trên trục </a:t>
                </a:r>
                <a14:m>
                  <m:oMath xmlns:m="http://schemas.openxmlformats.org/officeDocument/2006/math">
                    <m:r>
                      <a:rPr lang="vi-VN" sz="2100" b="0">
                        <a:solidFill>
                          <a:srgbClr val="1E293B"/>
                        </a:solidFill>
                        <a:latin typeface="Cambria Math" panose="02040503050406030204" pitchFamily="18" charset="0"/>
                      </a:rPr>
                      <m:t>Oz</m:t>
                    </m:r>
                  </m:oMath>
                </a14:m>
                <a:r>
                  <a:rPr sz="2100">
                    <a:solidFill>
                      <a:srgbClr val="1E293B"/>
                    </a:solidFill>
                    <a:latin typeface="Calibri"/>
                  </a:rPr>
                  <a:t> là </a:t>
                </a:r>
                <a14:m>
                  <m:oMath xmlns:m="http://schemas.openxmlformats.org/officeDocument/2006/math">
                    <m:d>
                      <m:dPr>
                        <m:sepChr m:val=""/>
                      </m:dPr>
                      <m:e>
                        <m:r>
                          <a:rPr lang="vi-VN" sz="2100" b="0">
                            <a:solidFill>
                              <a:srgbClr val="1E293B"/>
                            </a:solidFill>
                            <a:latin typeface="Cambria Math" panose="02040503050406030204" pitchFamily="18" charset="0"/>
                          </a:rPr>
                          <m:t>1</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3</m:t>
                        </m:r>
                      </m:e>
                    </m:d>
                  </m:oMath>
                </a14:m>
                <a:r>
                  <a:rPr sz="2100">
                    <a:solidFill>
                      <a:srgbClr val="1E293B"/>
                    </a:solidFill>
                    <a:latin typeface="Calibri"/>
                  </a:rPr>
                  <a:t>.</a:t>
                </a:r>
              </a:p>
            </p:txBody>
          </p:sp>
        </mc:Choice>
        <mc:Fallback>
          <p:sp>
            <p:nvSpPr>
              <p:cNvPr id="18" name="TextBox 17"/>
              <p:cNvSpPr txBox="1"/>
              <p:nvPr/>
            </p:nvSpPr>
            <p:spPr>
              <a:xfrm>
                <a:off x="548640" y="4961534"/>
                <a:ext cx="5394960" cy="559612"/>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4.</a:t>
                </a:r>
                <a:r>
                  <a:rPr sz="2100">
                    <a:solidFill>
                      <a:srgbClr val="1E293B"/>
                    </a:solidFill>
                    <a:latin typeface="Calibri"/>
                  </a:rPr>
                  <a:t> Hình chiếu của </a:t>
                </a:r>
                <a:r>
                  <a:rPr lang="vi-VN"/>
                  <a:t>M(1;-2;3)</a:t>
                </a:r>
                <a:r>
                  <a:rPr sz="2100">
                    <a:solidFill>
                      <a:srgbClr val="1E293B"/>
                    </a:solidFill>
                    <a:latin typeface="Calibri"/>
                  </a:rPr>
                  <a:t> trên trục </a:t>
                </a:r>
                <a:r>
                  <a:rPr lang="vi-VN"/>
                  <a:t>Oz</a:t>
                </a:r>
                <a:r>
                  <a:rPr sz="2100">
                    <a:solidFill>
                      <a:srgbClr val="1E293B"/>
                    </a:solidFill>
                    <a:latin typeface="Calibri"/>
                  </a:rPr>
                  <a:t> là </a:t>
                </a:r>
                <a:r>
                  <a:rPr lang="vi-VN"/>
                  <a:t>(1;0;3)</a:t>
                </a:r>
                <a:r>
                  <a:rPr sz="2100">
                    <a:solidFill>
                      <a:srgbClr val="1E293B"/>
                    </a:solidFill>
                    <a:latin typeface="Calibri"/>
                  </a:rPr>
                  <a:t>.</a:t>
                </a:r>
              </a:p>
            </p:txBody>
          </p:sp>
        </mc:Fallback>
      </mc:AlternateContent>
      <p:sp>
        <p:nvSpPr>
          <p:cNvPr id="19" name="s4_nen"/>
          <p:cNvSpPr/>
          <p:nvPr/>
        </p:nvSpPr>
        <p:spPr>
          <a:xfrm>
            <a:off x="6126480" y="4961534"/>
            <a:ext cx="2377440" cy="495604"/>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4_chu"/>
          <p:cNvSpPr txBox="1"/>
          <p:nvPr/>
        </p:nvSpPr>
        <p:spPr>
          <a:xfrm>
            <a:off x="6126480" y="5016398"/>
            <a:ext cx="2377440" cy="468172"/>
          </a:xfrm>
          <a:prstGeom prst="rect">
            <a:avLst/>
          </a:prstGeom>
          <a:noFill/>
        </p:spPr>
        <p:txBody>
          <a:bodyPr wrap="square" anchor="t" lIns="45720" rIns="45720">
            <a:spAutoFit/>
          </a:bodyPr>
          <a:lstStyle/>
          <a:p>
            <a:pPr algn="ctr">
              <a:spcAft>
                <a:spcPts val="800"/>
              </a:spcAft>
            </a:pPr>
            <a:r>
              <a:rPr sz="1700" b="1">
                <a:solidFill>
                  <a:srgbClr val="FFFFFF"/>
                </a:solidFill>
                <a:latin typeface="Calibri"/>
              </a:rPr>
              <a:t>SAI</a:t>
            </a:r>
            <a:r>
              <a:rPr sz="1700">
                <a:solidFill>
                  <a:srgbClr val="FFFFFF"/>
                </a:solidFill>
                <a:latin typeface="Calibri"/>
              </a:rPr>
              <a:t> (đúng: (0; 0; 3))</a:t>
            </a:r>
          </a:p>
        </p:txBody>
      </p:sp>
      <mc:AlternateContent xmlns:mc="http://schemas.openxmlformats.org/markup-compatibility/2006">
        <mc:Choice xmlns:a14="http://schemas.microsoft.com/office/drawing/2010/main" Requires="a14">
          <p:sp>
            <p:nvSpPr>
              <p:cNvPr id="21" name="TextBox 20"/>
              <p:cNvSpPr txBox="1"/>
              <p:nvPr/>
            </p:nvSpPr>
            <p:spPr>
              <a:xfrm>
                <a:off x="548640" y="5566867"/>
                <a:ext cx="5394960" cy="559612"/>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5.</a:t>
                </a:r>
                <a:r>
                  <a:rPr sz="2100">
                    <a:solidFill>
                      <a:srgbClr val="1E293B"/>
                    </a:solidFill>
                    <a:latin typeface="Calibri"/>
                  </a:rPr>
                  <a:t> Điểm trên tia đối của tia </a:t>
                </a:r>
                <a14:m>
                  <m:oMath xmlns:m="http://schemas.openxmlformats.org/officeDocument/2006/math">
                    <m:r>
                      <a:rPr lang="vi-VN" sz="2100" b="0">
                        <a:solidFill>
                          <a:srgbClr val="1E293B"/>
                        </a:solidFill>
                        <a:latin typeface="Cambria Math" panose="02040503050406030204" pitchFamily="18" charset="0"/>
                      </a:rPr>
                      <m:t>Oy</m:t>
                    </m:r>
                  </m:oMath>
                </a14:m>
                <a:r>
                  <a:rPr sz="2100">
                    <a:solidFill>
                      <a:srgbClr val="1E293B"/>
                    </a:solidFill>
                    <a:latin typeface="Calibri"/>
                  </a:rPr>
                  <a:t>, cách </a:t>
                </a:r>
                <a14:m>
                  <m:oMath xmlns:m="http://schemas.openxmlformats.org/officeDocument/2006/math">
                    <m:r>
                      <a:rPr lang="vi-VN" sz="2100" b="0">
                        <a:solidFill>
                          <a:srgbClr val="1E293B"/>
                        </a:solidFill>
                        <a:latin typeface="Cambria Math" panose="02040503050406030204" pitchFamily="18" charset="0"/>
                      </a:rPr>
                      <m:t>O</m:t>
                    </m:r>
                  </m:oMath>
                </a14:m>
                <a:r>
                  <a:rPr sz="2100">
                    <a:solidFill>
                      <a:srgbClr val="1E293B"/>
                    </a:solidFill>
                    <a:latin typeface="Calibri"/>
                  </a:rPr>
                  <a:t> bằng 3 là </a:t>
                </a:r>
                <a14:m>
                  <m:oMath xmlns:m="http://schemas.openxmlformats.org/officeDocument/2006/math">
                    <m:d>
                      <m:dPr>
                        <m:sepChr m:val=""/>
                      </m:dPr>
                      <m:e>
                        <m:r>
                          <a:rPr lang="vi-VN" sz="2100" b="0">
                            <a:solidFill>
                              <a:srgbClr val="1E293B"/>
                            </a:solidFill>
                            <a:latin typeface="Cambria Math" panose="02040503050406030204" pitchFamily="18" charset="0"/>
                          </a:rPr>
                          <m:t>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3</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0</m:t>
                        </m:r>
                      </m:e>
                    </m:d>
                  </m:oMath>
                </a14:m>
                <a:r>
                  <a:rPr sz="2100">
                    <a:solidFill>
                      <a:srgbClr val="1E293B"/>
                    </a:solidFill>
                    <a:latin typeface="Calibri"/>
                  </a:rPr>
                  <a:t>.</a:t>
                </a:r>
              </a:p>
            </p:txBody>
          </p:sp>
        </mc:Choice>
        <mc:Fallback>
          <p:sp>
            <p:nvSpPr>
              <p:cNvPr id="21" name="TextBox 20"/>
              <p:cNvSpPr txBox="1"/>
              <p:nvPr/>
            </p:nvSpPr>
            <p:spPr>
              <a:xfrm>
                <a:off x="548640" y="5566867"/>
                <a:ext cx="5394960" cy="559612"/>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5.</a:t>
                </a:r>
                <a:r>
                  <a:rPr sz="2100">
                    <a:solidFill>
                      <a:srgbClr val="1E293B"/>
                    </a:solidFill>
                    <a:latin typeface="Calibri"/>
                  </a:rPr>
                  <a:t> Điểm trên tia đối của tia </a:t>
                </a:r>
                <a:r>
                  <a:rPr lang="vi-VN"/>
                  <a:t>Oy</a:t>
                </a:r>
                <a:r>
                  <a:rPr sz="2100">
                    <a:solidFill>
                      <a:srgbClr val="1E293B"/>
                    </a:solidFill>
                    <a:latin typeface="Calibri"/>
                  </a:rPr>
                  <a:t>, cách </a:t>
                </a:r>
                <a:r>
                  <a:rPr lang="vi-VN"/>
                  <a:t>O</a:t>
                </a:r>
                <a:r>
                  <a:rPr sz="2100">
                    <a:solidFill>
                      <a:srgbClr val="1E293B"/>
                    </a:solidFill>
                    <a:latin typeface="Calibri"/>
                  </a:rPr>
                  <a:t> bằng 3 là </a:t>
                </a:r>
                <a:r>
                  <a:rPr lang="vi-VN"/>
                  <a:t>(0;3;0)</a:t>
                </a:r>
                <a:r>
                  <a:rPr sz="2100">
                    <a:solidFill>
                      <a:srgbClr val="1E293B"/>
                    </a:solidFill>
                    <a:latin typeface="Calibri"/>
                  </a:rPr>
                  <a:t>.</a:t>
                </a:r>
              </a:p>
            </p:txBody>
          </p:sp>
        </mc:Fallback>
      </mc:AlternateContent>
      <p:sp>
        <p:nvSpPr>
          <p:cNvPr id="22" name="s5_nen"/>
          <p:cNvSpPr/>
          <p:nvPr/>
        </p:nvSpPr>
        <p:spPr>
          <a:xfrm>
            <a:off x="6126480" y="5566867"/>
            <a:ext cx="2377440" cy="495604"/>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5_chu"/>
          <p:cNvSpPr txBox="1"/>
          <p:nvPr/>
        </p:nvSpPr>
        <p:spPr>
          <a:xfrm>
            <a:off x="6126480" y="5621731"/>
            <a:ext cx="2377440" cy="468172"/>
          </a:xfrm>
          <a:prstGeom prst="rect">
            <a:avLst/>
          </a:prstGeom>
          <a:noFill/>
        </p:spPr>
        <p:txBody>
          <a:bodyPr wrap="square" anchor="t" lIns="45720" rIns="45720">
            <a:spAutoFit/>
          </a:bodyPr>
          <a:lstStyle/>
          <a:p>
            <a:pPr algn="ctr">
              <a:spcAft>
                <a:spcPts val="800"/>
              </a:spcAft>
            </a:pPr>
            <a:r>
              <a:rPr sz="1700" b="1">
                <a:solidFill>
                  <a:srgbClr val="FFFFFF"/>
                </a:solidFill>
                <a:latin typeface="Calibri"/>
              </a:rPr>
              <a:t>SAI</a:t>
            </a:r>
            <a:r>
              <a:rPr sz="1700">
                <a:solidFill>
                  <a:srgbClr val="FFFFFF"/>
                </a:solidFill>
                <a:latin typeface="Calibri"/>
              </a:rPr>
              <a:t> (đúng: (0; −3; 0))</a:t>
            </a:r>
          </a:p>
        </p:txBody>
      </p:sp>
      <p:pic>
        <p:nvPicPr>
          <p:cNvPr id="24" name="Picture 23" descr="h245.png"/>
          <p:cNvPicPr>
            <a:picLocks noChangeAspect="1"/>
          </p:cNvPicPr>
          <p:nvPr/>
        </p:nvPicPr>
        <p:blipFill>
          <a:blip r:embed="rId3"/>
          <a:stretch>
            <a:fillRect/>
          </a:stretch>
        </p:blipFill>
        <p:spPr>
          <a:xfrm>
            <a:off x="8778240" y="2443181"/>
            <a:ext cx="2926080" cy="242883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TỔNG KẾT TIẾT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Hệ trục toạ độ trong không gian – Toán 12          14</a:t>
            </a:r>
          </a:p>
        </p:txBody>
      </p:sp>
      <p:sp>
        <p:nvSpPr>
          <p:cNvPr id="7" name="Rounded Rectangle 6"/>
          <p:cNvSpPr/>
          <p:nvPr/>
        </p:nvSpPr>
        <p:spPr>
          <a:xfrm>
            <a:off x="548640" y="1463040"/>
            <a:ext cx="11064240" cy="103632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99616"/>
                <a:ext cx="10735056" cy="963167"/>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Hệ toạ độ </a:t>
                </a:r>
                <a14:m>
                  <m:oMath xmlns:m="http://schemas.openxmlformats.org/officeDocument/2006/math">
                    <m:r>
                      <a:rPr lang="vi-VN" sz="2200" b="0">
                        <a:solidFill>
                          <a:srgbClr val="1E293B"/>
                        </a:solidFill>
                        <a:latin typeface="Cambria Math" panose="02040503050406030204" pitchFamily="18" charset="0"/>
                      </a:rPr>
                      <m:t>Oxyz</m:t>
                    </m:r>
                  </m:oMath>
                </a14:m>
                <a:r>
                  <a:rPr sz="2200">
                    <a:solidFill>
                      <a:srgbClr val="1E293B"/>
                    </a:solidFill>
                    <a:latin typeface="Calibri"/>
                  </a:rPr>
                  <a:t>: ba trục đôi một vuông góc tại </a:t>
                </a:r>
                <a14:m>
                  <m:oMath xmlns:m="http://schemas.openxmlformats.org/officeDocument/2006/math">
                    <m:r>
                      <a:rPr lang="vi-VN" sz="2200" b="0">
                        <a:solidFill>
                          <a:srgbClr val="1E293B"/>
                        </a:solidFill>
                        <a:latin typeface="Cambria Math" panose="02040503050406030204" pitchFamily="18" charset="0"/>
                      </a:rPr>
                      <m:t>O</m:t>
                    </m:r>
                  </m:oMath>
                </a14:m>
                <a:r>
                  <a:rPr sz="2200">
                    <a:solidFill>
                      <a:srgbClr val="1E293B"/>
                    </a:solidFill>
                    <a:latin typeface="Calibri"/>
                  </a:rPr>
                  <a:t>, vectơ đơn vị </a:t>
                </a:r>
                <a14:m>
                  <m:oMath xmlns:m="http://schemas.openxmlformats.org/officeDocument/2006/math">
                    <m:acc>
                      <m:accPr>
                        <m:chr m:val="⃗"/>
                      </m:accPr>
                      <m:e>
                        <m:r>
                          <a:rPr lang="vi-VN" sz="2200" b="0">
                            <a:solidFill>
                              <a:srgbClr val="1E293B"/>
                            </a:solidFill>
                            <a:latin typeface="Cambria Math" panose="02040503050406030204" pitchFamily="18" charset="0"/>
                          </a:rPr>
                          <m:t>i</m:t>
                        </m:r>
                      </m:e>
                    </m:acc>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acc>
                      <m:accPr>
                        <m:chr m:val="⃗"/>
                      </m:accPr>
                      <m:e>
                        <m:r>
                          <a:rPr lang="vi-VN" sz="2200" b="0">
                            <a:solidFill>
                              <a:srgbClr val="1E293B"/>
                            </a:solidFill>
                            <a:latin typeface="Cambria Math" panose="02040503050406030204" pitchFamily="18" charset="0"/>
                          </a:rPr>
                          <m:t>j</m:t>
                        </m:r>
                      </m:e>
                    </m:acc>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acc>
                      <m:accPr>
                        <m:chr m:val="⃗"/>
                      </m:accPr>
                      <m:e>
                        <m:r>
                          <a:rPr lang="vi-VN" sz="2200" b="0">
                            <a:solidFill>
                              <a:srgbClr val="1E293B"/>
                            </a:solidFill>
                            <a:latin typeface="Cambria Math" panose="02040503050406030204" pitchFamily="18" charset="0"/>
                          </a:rPr>
                          <m:t>k</m:t>
                        </m:r>
                      </m:e>
                    </m:acc>
                  </m:oMath>
                </a14:m>
                <a:r>
                  <a:rPr sz="2200">
                    <a:solidFill>
                      <a:srgbClr val="1E293B"/>
                    </a:solidFill>
                    <a:latin typeface="Calibri"/>
                  </a:rPr>
                  <a:t>.</a:t>
                </a:r>
              </a:p>
              <a:p>
                <a:pPr algn="l" marL="365760" indent="-365760">
                  <a:spcAft>
                    <a:spcPts val="800"/>
                  </a:spcAft>
                  <a:buClr>
                    <a:srgbClr val="1E40AF"/>
                  </a:buClr>
                  <a:buFont typeface="Arial"/>
                  <a:buChar char="•"/>
                </a:pPr>
                <a14:m>
                  <m:oMath xmlns:m="http://schemas.openxmlformats.org/officeDocument/2006/math">
                    <m:r>
                      <a:rPr lang="vi-VN" sz="2200" b="0">
                        <a:solidFill>
                          <a:srgbClr val="1E293B"/>
                        </a:solidFill>
                        <a:latin typeface="Cambria Math" panose="02040503050406030204" pitchFamily="18" charset="0"/>
                      </a:rPr>
                      <m:t>M(x;</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y;</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z)</m:t>
                    </m:r>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OM</m:t>
                        </m:r>
                      </m:e>
                    </m:acc>
                    <m:r>
                      <a:rPr lang="vi-VN" sz="2200" b="0">
                        <a:solidFill>
                          <a:srgbClr val="1E293B"/>
                        </a:solidFill>
                        <a:latin typeface="Cambria Math" panose="02040503050406030204" pitchFamily="18" charset="0"/>
                      </a:rPr>
                      <m:t>=x</m:t>
                    </m:r>
                    <m:acc>
                      <m:accPr>
                        <m:chr m:val="⃗"/>
                      </m:accPr>
                      <m:e>
                        <m:r>
                          <a:rPr lang="vi-VN" sz="2200" b="0">
                            <a:solidFill>
                              <a:srgbClr val="1E293B"/>
                            </a:solidFill>
                            <a:latin typeface="Cambria Math" panose="02040503050406030204" pitchFamily="18" charset="0"/>
                          </a:rPr>
                          <m:t>i</m:t>
                        </m:r>
                      </m:e>
                    </m:acc>
                    <m:r>
                      <a:rPr lang="vi-VN" sz="2200" b="0">
                        <a:solidFill>
                          <a:srgbClr val="1E293B"/>
                        </a:solidFill>
                        <a:latin typeface="Cambria Math" panose="02040503050406030204" pitchFamily="18" charset="0"/>
                      </a:rPr>
                      <m:t>+y</m:t>
                    </m:r>
                    <m:acc>
                      <m:accPr>
                        <m:chr m:val="⃗"/>
                      </m:accPr>
                      <m:e>
                        <m:r>
                          <a:rPr lang="vi-VN" sz="2200" b="0">
                            <a:solidFill>
                              <a:srgbClr val="1E293B"/>
                            </a:solidFill>
                            <a:latin typeface="Cambria Math" panose="02040503050406030204" pitchFamily="18" charset="0"/>
                          </a:rPr>
                          <m:t>j</m:t>
                        </m:r>
                      </m:e>
                    </m:acc>
                    <m:r>
                      <a:rPr lang="vi-VN" sz="2200" b="0">
                        <a:solidFill>
                          <a:srgbClr val="1E293B"/>
                        </a:solidFill>
                        <a:latin typeface="Cambria Math" panose="02040503050406030204" pitchFamily="18" charset="0"/>
                      </a:rPr>
                      <m:t>+z</m:t>
                    </m:r>
                    <m:acc>
                      <m:accPr>
                        <m:chr m:val="⃗"/>
                      </m:accPr>
                      <m:e>
                        <m:r>
                          <a:rPr lang="vi-VN" sz="2200" b="0">
                            <a:solidFill>
                              <a:srgbClr val="1E293B"/>
                            </a:solidFill>
                            <a:latin typeface="Cambria Math" panose="02040503050406030204" pitchFamily="18" charset="0"/>
                          </a:rPr>
                          <m:t>k</m:t>
                        </m:r>
                      </m:e>
                    </m:acc>
                  </m:oMath>
                </a14:m>
                <a:r>
                  <a:rPr sz="2200">
                    <a:solidFill>
                      <a:srgbClr val="1E293B"/>
                    </a:solidFill>
                    <a:latin typeface="Calibri"/>
                  </a:rPr>
                  <a:t>; toạ độ hình chiếu trên trục, mặt phẳng toạ độ.</a:t>
                </a:r>
              </a:p>
            </p:txBody>
          </p:sp>
        </mc:Choice>
        <mc:Fallback>
          <p:sp>
            <p:nvSpPr>
              <p:cNvPr id="8" name="TextBox 7"/>
              <p:cNvSpPr txBox="1"/>
              <p:nvPr/>
            </p:nvSpPr>
            <p:spPr>
              <a:xfrm>
                <a:off x="713232" y="1499616"/>
                <a:ext cx="10735056" cy="963167"/>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Hệ toạ độ </a:t>
                </a:r>
                <a:r>
                  <a:rPr lang="vi-VN"/>
                  <a:t>Oxyz</a:t>
                </a:r>
                <a:r>
                  <a:rPr sz="2200">
                    <a:solidFill>
                      <a:srgbClr val="1E293B"/>
                    </a:solidFill>
                    <a:latin typeface="Calibri"/>
                  </a:rPr>
                  <a:t>: ba trục đôi một vuông góc tại </a:t>
                </a:r>
                <a:r>
                  <a:rPr lang="vi-VN"/>
                  <a:t>O</a:t>
                </a:r>
                <a:r>
                  <a:rPr sz="2200">
                    <a:solidFill>
                      <a:srgbClr val="1E293B"/>
                    </a:solidFill>
                    <a:latin typeface="Calibri"/>
                  </a:rPr>
                  <a:t>, vectơ đơn vị </a:t>
                </a:r>
                <a:r>
                  <a:rPr lang="vi-VN"/>
                  <a:t>\vec{i},\ \vec{j},\ \vec{k}</a:t>
                </a:r>
                <a:r>
                  <a:rPr sz="2200">
                    <a:solidFill>
                      <a:srgbClr val="1E293B"/>
                    </a:solidFill>
                    <a:latin typeface="Calibri"/>
                  </a:rPr>
                  <a:t>.</a:t>
                </a:r>
              </a:p>
              <a:p>
                <a:pPr algn="l" marL="365760" indent="-365760">
                  <a:spcAft>
                    <a:spcPts val="800"/>
                  </a:spcAft>
                  <a:buClr>
                    <a:srgbClr val="1E40AF"/>
                  </a:buClr>
                  <a:buFont typeface="Arial"/>
                  <a:buChar char="•"/>
                </a:pPr>
                <a:r>
                  <a:rPr lang="vi-VN"/>
                  <a:t>M(x;\ y;\ z)</a:t>
                </a:r>
                <a:r>
                  <a:rPr sz="2200">
                    <a:solidFill>
                      <a:srgbClr val="1E293B"/>
                    </a:solidFill>
                    <a:latin typeface="Calibri"/>
                  </a:rPr>
                  <a:t> ⇔ </a:t>
                </a:r>
                <a:r>
                  <a:rPr lang="vi-VN"/>
                  <a:t>\overrightarrow{OM}=x\vec{i}+y\vec{j}+z\vec{k}</a:t>
                </a:r>
                <a:r>
                  <a:rPr sz="2200">
                    <a:solidFill>
                      <a:srgbClr val="1E293B"/>
                    </a:solidFill>
                    <a:latin typeface="Calibri"/>
                  </a:rPr>
                  <a:t>; toạ độ hình chiếu trên trục, mặt phẳng toạ độ.</a:t>
                </a:r>
              </a:p>
            </p:txBody>
          </p:sp>
        </mc:Fallback>
      </mc:AlternateContent>
      <p:sp>
        <p:nvSpPr>
          <p:cNvPr id="9" name="Rounded Rectangle 8"/>
          <p:cNvSpPr/>
          <p:nvPr/>
        </p:nvSpPr>
        <p:spPr>
          <a:xfrm>
            <a:off x="548640" y="2727960"/>
            <a:ext cx="11064240" cy="1472184"/>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764536"/>
            <a:ext cx="10735056" cy="139903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Làm Bài tập 2.16, 2.17 (SGK tr.65).</a:t>
            </a:r>
          </a:p>
          <a:p>
            <a:pPr algn="l" marL="365760" indent="-365760">
              <a:spcAft>
                <a:spcPts val="800"/>
              </a:spcAft>
              <a:buClr>
                <a:srgbClr val="1E40AF"/>
              </a:buClr>
              <a:buFont typeface="Arial"/>
              <a:buChar char="•"/>
            </a:pPr>
            <a:r>
              <a:rPr sz="2200">
                <a:solidFill>
                  <a:srgbClr val="1E293B"/>
                </a:solidFill>
                <a:latin typeface="Calibri"/>
              </a:rPr>
              <a:t>Nghĩ cách chọn hệ toạ độ cho căn phòng ở tình huống mở đầu.</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2 (T35)</a:t>
            </a:r>
          </a:p>
          <a:p>
            <a:pPr>
              <a:spcAft>
                <a:spcPts val="600"/>
              </a:spcAft>
            </a:pPr>
            <a:r>
              <a:rPr sz="4000" b="1">
                <a:solidFill>
                  <a:srgbClr val="FFFFFF"/>
                </a:solidFill>
                <a:latin typeface="Cambria"/>
              </a:rPr>
              <a:t>Toạ độ của vectơ</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Xác định toạ độ của vectơ; toạ độ vectơ theo toạ độ hai đầu mút.</a:t>
            </a:r>
          </a:p>
          <a:p>
            <a:pPr algn="l">
              <a:spcAft>
                <a:spcPts val="800"/>
              </a:spcAft>
            </a:pPr>
            <a:r>
              <a:rPr sz="2200">
                <a:solidFill>
                  <a:srgbClr val="E0E7FF"/>
                </a:solidFill>
                <a:latin typeface="Calibri"/>
              </a:rPr>
              <a:t>• Vận dụng toạ độ để mô tả vị trí bóng đèn, độ dịch chuyển của máy bay.</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VẬN DỤNG 1 – GIẢI BÀI TOÁN MỞ ĐẦU (SGK TR.62)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Hệ trục toạ độ trong không gian – Toán 12          16</a:t>
            </a:r>
          </a:p>
        </p:txBody>
      </p:sp>
      <p:sp>
        <p:nvSpPr>
          <p:cNvPr id="7" name="TextBox 6"/>
          <p:cNvSpPr txBox="1"/>
          <p:nvPr/>
        </p:nvSpPr>
        <p:spPr>
          <a:xfrm>
            <a:off x="548640" y="1371600"/>
            <a:ext cx="7315200" cy="1179576"/>
          </a:xfrm>
          <a:prstGeom prst="rect">
            <a:avLst/>
          </a:prstGeom>
          <a:noFill/>
        </p:spPr>
        <p:txBody>
          <a:bodyPr wrap="square" anchor="t" lIns="45720" rIns="45720">
            <a:spAutoFit/>
          </a:bodyPr>
          <a:lstStyle/>
          <a:p>
            <a:pPr algn="l">
              <a:spcAft>
                <a:spcPts val="800"/>
              </a:spcAft>
            </a:pPr>
            <a:r>
              <a:rPr sz="2200">
                <a:solidFill>
                  <a:srgbClr val="1E293B"/>
                </a:solidFill>
                <a:latin typeface="Calibri"/>
              </a:rPr>
              <a:t>Trong tình huống mở đầu, hãy chọn một hệ toạ độ phù hợp và xác định toạ độ của chiếc bóng đèn đối với hệ toạ độ đó.</a:t>
            </a:r>
          </a:p>
        </p:txBody>
      </p:sp>
      <p:sp>
        <p:nvSpPr>
          <p:cNvPr id="8" name="s1_nen"/>
          <p:cNvSpPr/>
          <p:nvPr/>
        </p:nvSpPr>
        <p:spPr>
          <a:xfrm>
            <a:off x="548640" y="2688336"/>
            <a:ext cx="7315200" cy="127101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724912"/>
                <a:ext cx="6986016" cy="119786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Chọn </a:t>
                </a:r>
                <a14:m>
                  <m:oMath xmlns:m="http://schemas.openxmlformats.org/officeDocument/2006/math">
                    <m:r>
                      <a:rPr lang="vi-VN" sz="2200" b="0">
                        <a:solidFill>
                          <a:srgbClr val="1E293B"/>
                        </a:solidFill>
                        <a:latin typeface="Cambria Math" panose="02040503050406030204" pitchFamily="18" charset="0"/>
                      </a:rPr>
                      <m:t>O</m:t>
                    </m:r>
                  </m:oMath>
                </a14:m>
                <a:r>
                  <a:rPr sz="2200">
                    <a:solidFill>
                      <a:srgbClr val="1E293B"/>
                    </a:solidFill>
                    <a:latin typeface="Calibri"/>
                  </a:rPr>
                  <a:t> là góc nhà (giao của hai bức tường và sàn); </a:t>
                </a:r>
                <a14:m>
                  <m:oMath xmlns:m="http://schemas.openxmlformats.org/officeDocument/2006/math">
                    <m:r>
                      <a:rPr lang="vi-VN" sz="2200" b="0">
                        <a:solidFill>
                          <a:srgbClr val="1E293B"/>
                        </a:solidFill>
                        <a:latin typeface="Cambria Math" panose="02040503050406030204" pitchFamily="18" charset="0"/>
                      </a:rPr>
                      <m:t>Ox,</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Oy</m:t>
                    </m:r>
                  </m:oMath>
                </a14:m>
                <a:r>
                  <a:rPr sz="2200">
                    <a:solidFill>
                      <a:srgbClr val="1E293B"/>
                    </a:solidFill>
                    <a:latin typeface="Calibri"/>
                  </a:rPr>
                  <a:t> theo chân hai bức tường; </a:t>
                </a:r>
                <a14:m>
                  <m:oMath xmlns:m="http://schemas.openxmlformats.org/officeDocument/2006/math">
                    <m:r>
                      <a:rPr lang="vi-VN" sz="2200" b="0">
                        <a:solidFill>
                          <a:srgbClr val="1E293B"/>
                        </a:solidFill>
                        <a:latin typeface="Cambria Math" panose="02040503050406030204" pitchFamily="18" charset="0"/>
                      </a:rPr>
                      <m:t>Oz</m:t>
                    </m:r>
                  </m:oMath>
                </a14:m>
                <a:r>
                  <a:rPr sz="2200">
                    <a:solidFill>
                      <a:srgbClr val="1E293B"/>
                    </a:solidFill>
                    <a:latin typeface="Calibri"/>
                  </a:rPr>
                  <a:t> thẳng đứng lên trên; đơn vị mét.</a:t>
                </a:r>
              </a:p>
            </p:txBody>
          </p:sp>
        </mc:Choice>
        <mc:Fallback>
          <p:sp>
            <p:nvSpPr>
              <p:cNvPr id="9" name="TextBox 8"/>
              <p:cNvSpPr txBox="1"/>
              <p:nvPr/>
            </p:nvSpPr>
            <p:spPr>
              <a:xfrm>
                <a:off x="713232" y="2724912"/>
                <a:ext cx="6986016" cy="119786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Chọn </a:t>
                </a:r>
                <a:r>
                  <a:rPr lang="vi-VN"/>
                  <a:t>O</a:t>
                </a:r>
                <a:r>
                  <a:rPr sz="2200">
                    <a:solidFill>
                      <a:srgbClr val="1E293B"/>
                    </a:solidFill>
                    <a:latin typeface="Calibri"/>
                  </a:rPr>
                  <a:t> là góc nhà (giao của hai bức tường và sàn); </a:t>
                </a:r>
                <a:r>
                  <a:rPr lang="vi-VN"/>
                  <a:t>Ox,\ Oy</a:t>
                </a:r>
                <a:r>
                  <a:rPr sz="2200">
                    <a:solidFill>
                      <a:srgbClr val="1E293B"/>
                    </a:solidFill>
                    <a:latin typeface="Calibri"/>
                  </a:rPr>
                  <a:t> theo chân hai bức tường; </a:t>
                </a:r>
                <a:r>
                  <a:rPr lang="vi-VN"/>
                  <a:t>Oz</a:t>
                </a:r>
                <a:r>
                  <a:rPr sz="2200">
                    <a:solidFill>
                      <a:srgbClr val="1E293B"/>
                    </a:solidFill>
                    <a:latin typeface="Calibri"/>
                  </a:rPr>
                  <a:t> thẳng đứng lên trên; đơn vị mét.</a:t>
                </a:r>
              </a:p>
            </p:txBody>
          </p:sp>
        </mc:Fallback>
      </mc:AlternateContent>
      <p:sp>
        <p:nvSpPr>
          <p:cNvPr id="10" name="s2_nen"/>
          <p:cNvSpPr/>
          <p:nvPr/>
        </p:nvSpPr>
        <p:spPr>
          <a:xfrm>
            <a:off x="548640" y="4096512"/>
            <a:ext cx="7315200" cy="127101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133088"/>
                <a:ext cx="6986016" cy="119786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Bóng đèn cách hai tường 1,5 m và 1 m, cách sàn 2 m ⇒ toạ độ </a:t>
                </a:r>
                <a14:m>
                  <m:oMath xmlns:m="http://schemas.openxmlformats.org/officeDocument/2006/math">
                    <m:d>
                      <m:dPr>
                        <m:sepChr m:val=""/>
                      </m:dPr>
                      <m:e>
                        <m:r>
                          <a:rPr lang="vi-VN" sz="2200" b="0">
                            <a:solidFill>
                              <a:srgbClr val="1E293B"/>
                            </a:solidFill>
                            <a:latin typeface="Cambria Math" panose="02040503050406030204" pitchFamily="18" charset="0"/>
                          </a:rPr>
                          <m:t>1</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5</m:t>
                        </m:r>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1</m:t>
                        </m:r>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2</m:t>
                        </m:r>
                      </m:e>
                    </m:d>
                  </m:oMath>
                </a14:m>
                <a:r>
                  <a:rPr sz="2200">
                    <a:solidFill>
                      <a:srgbClr val="1E293B"/>
                    </a:solidFill>
                    <a:latin typeface="Calibri"/>
                  </a:rPr>
                  <a:t> (hoặc </a:t>
                </a:r>
                <a14:m>
                  <m:oMath xmlns:m="http://schemas.openxmlformats.org/officeDocument/2006/math">
                    <m:d>
                      <m:dPr>
                        <m:sepChr m:val=""/>
                      </m:dPr>
                      <m:e>
                        <m:r>
                          <a:rPr lang="vi-VN" sz="2200" b="0">
                            <a:solidFill>
                              <a:srgbClr val="1E293B"/>
                            </a:solidFill>
                            <a:latin typeface="Cambria Math" panose="02040503050406030204" pitchFamily="18" charset="0"/>
                          </a:rPr>
                          <m:t>1</m:t>
                        </m:r>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1</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5</m:t>
                        </m:r>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2</m:t>
                        </m:r>
                      </m:e>
                    </m:d>
                  </m:oMath>
                </a14:m>
                <a:r>
                  <a:rPr sz="2200">
                    <a:solidFill>
                      <a:srgbClr val="1E293B"/>
                    </a:solidFill>
                    <a:latin typeface="Calibri"/>
                  </a:rPr>
                  <a:t> tuỳ cách đặt tên trục).</a:t>
                </a:r>
              </a:p>
            </p:txBody>
          </p:sp>
        </mc:Choice>
        <mc:Fallback>
          <p:sp>
            <p:nvSpPr>
              <p:cNvPr id="11" name="TextBox 10"/>
              <p:cNvSpPr txBox="1"/>
              <p:nvPr/>
            </p:nvSpPr>
            <p:spPr>
              <a:xfrm>
                <a:off x="713232" y="4133088"/>
                <a:ext cx="6986016" cy="119786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Bóng đèn cách hai tường 1,5 m và 1 m, cách sàn 2 m ⇒ toạ độ </a:t>
                </a:r>
                <a:r>
                  <a:rPr lang="vi-VN"/>
                  <a:t>(1{,}5;\ 1;\ 2)</a:t>
                </a:r>
                <a:r>
                  <a:rPr sz="2200">
                    <a:solidFill>
                      <a:srgbClr val="1E293B"/>
                    </a:solidFill>
                    <a:latin typeface="Calibri"/>
                  </a:rPr>
                  <a:t> (hoặc </a:t>
                </a:r>
                <a:r>
                  <a:rPr lang="vi-VN"/>
                  <a:t>(1;\ 1{,}5;\ 2)</a:t>
                </a:r>
                <a:r>
                  <a:rPr sz="2200">
                    <a:solidFill>
                      <a:srgbClr val="1E293B"/>
                    </a:solidFill>
                    <a:latin typeface="Calibri"/>
                  </a:rPr>
                  <a:t> tuỳ cách đặt tên trục).</a:t>
                </a:r>
              </a:p>
            </p:txBody>
          </p:sp>
        </mc:Fallback>
      </mc:AlternateContent>
      <p:pic>
        <p:nvPicPr>
          <p:cNvPr id="12" name="Picture 11" descr="h234.png"/>
          <p:cNvPicPr>
            <a:picLocks noChangeAspect="1"/>
          </p:cNvPicPr>
          <p:nvPr/>
        </p:nvPicPr>
        <p:blipFill>
          <a:blip r:embed="rId3"/>
          <a:stretch>
            <a:fillRect/>
          </a:stretch>
        </p:blipFill>
        <p:spPr>
          <a:xfrm>
            <a:off x="8072099" y="1463040"/>
            <a:ext cx="3606841" cy="29260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TOẠ ĐỘ CỦA VECTƠ TRONG KHÔNG GIAN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Hệ trục toạ độ trong không gian – Toán 12          17</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595360" cy="10881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HĐ3.</a:t>
                </a:r>
                <a:r>
                  <a:rPr sz="2000">
                    <a:solidFill>
                      <a:srgbClr val="1E293B"/>
                    </a:solidFill>
                    <a:latin typeface="Calibri"/>
                  </a:rPr>
                  <a:t> Trong không gian </a:t>
                </a:r>
                <a14:m>
                  <m:oMath xmlns:m="http://schemas.openxmlformats.org/officeDocument/2006/math">
                    <m:r>
                      <a:rPr lang="vi-VN" sz="2000" b="0">
                        <a:solidFill>
                          <a:srgbClr val="1E293B"/>
                        </a:solidFill>
                        <a:latin typeface="Cambria Math" panose="02040503050406030204" pitchFamily="18" charset="0"/>
                      </a:rPr>
                      <m:t>Oxyz</m:t>
                    </m:r>
                  </m:oMath>
                </a14:m>
                <a:r>
                  <a:rPr sz="2000">
                    <a:solidFill>
                      <a:srgbClr val="1E293B"/>
                    </a:solidFill>
                    <a:latin typeface="Calibri"/>
                  </a:rPr>
                  <a:t>, cho vectơ </a:t>
                </a:r>
                <a14:m>
                  <m:oMath xmlns:m="http://schemas.openxmlformats.org/officeDocument/2006/math">
                    <m:acc>
                      <m:accPr>
                        <m:chr m:val="⃗"/>
                      </m:accPr>
                      <m:e>
                        <m:r>
                          <a:rPr lang="vi-VN" sz="2000" b="0">
                            <a:solidFill>
                              <a:srgbClr val="1E293B"/>
                            </a:solidFill>
                            <a:latin typeface="Cambria Math" panose="02040503050406030204" pitchFamily="18" charset="0"/>
                          </a:rPr>
                          <m:t>a</m:t>
                        </m:r>
                      </m:e>
                    </m:acc>
                  </m:oMath>
                </a14:m>
                <a:r>
                  <a:rPr sz="2000">
                    <a:solidFill>
                      <a:srgbClr val="1E293B"/>
                    </a:solidFill>
                    <a:latin typeface="Calibri"/>
                  </a:rPr>
                  <a:t> tuỳ ý (H.2.41). Lấy điểm </a:t>
                </a:r>
                <a14:m>
                  <m:oMath xmlns:m="http://schemas.openxmlformats.org/officeDocument/2006/math">
                    <m:r>
                      <a:rPr lang="vi-VN" sz="2000" b="0">
                        <a:solidFill>
                          <a:srgbClr val="1E293B"/>
                        </a:solidFill>
                        <a:latin typeface="Cambria Math" panose="02040503050406030204" pitchFamily="18" charset="0"/>
                      </a:rPr>
                      <m:t>M</m:t>
                    </m:r>
                  </m:oMath>
                </a14:m>
                <a:r>
                  <a:rPr sz="2000">
                    <a:solidFill>
                      <a:srgbClr val="1E293B"/>
                    </a:solidFill>
                    <a:latin typeface="Calibri"/>
                  </a:rPr>
                  <a:t> sao cho </a:t>
                </a:r>
                <a14:m>
                  <m:oMath xmlns:m="http://schemas.openxmlformats.org/officeDocument/2006/math">
                    <m:acc>
                      <m:accPr>
                        <m:chr m:val="⃗"/>
                      </m:accPr>
                      <m:e>
                        <m:r>
                          <a:rPr lang="vi-VN" sz="2000" b="0">
                            <a:solidFill>
                              <a:srgbClr val="1E293B"/>
                            </a:solidFill>
                            <a:latin typeface="Cambria Math" panose="02040503050406030204" pitchFamily="18" charset="0"/>
                          </a:rPr>
                          <m:t>OM</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a</m:t>
                        </m:r>
                      </m:e>
                    </m:acc>
                  </m:oMath>
                </a14:m>
                <a:r>
                  <a:rPr sz="2000">
                    <a:solidFill>
                      <a:srgbClr val="1E293B"/>
                    </a:solidFill>
                    <a:latin typeface="Calibri"/>
                  </a:rPr>
                  <a:t> và giải thích vì sao có bộ ba số </a:t>
                </a:r>
                <a14:m>
                  <m:oMath xmlns:m="http://schemas.openxmlformats.org/officeDocument/2006/math">
                    <m:d>
                      <m:dPr>
                        <m:sepChr m:val=""/>
                      </m:dPr>
                      <m:e>
                        <m:r>
                          <a:rPr lang="vi-VN" sz="2000" b="0">
                            <a:solidFill>
                              <a:srgbClr val="1E293B"/>
                            </a:solidFill>
                            <a:latin typeface="Cambria Math" panose="02040503050406030204" pitchFamily="18" charset="0"/>
                          </a:rPr>
                          <m:t>x</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y</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z</m:t>
                        </m:r>
                      </m:e>
                    </m:d>
                  </m:oMath>
                </a14:m>
                <a:r>
                  <a:rPr sz="2000">
                    <a:solidFill>
                      <a:srgbClr val="1E293B"/>
                    </a:solidFill>
                    <a:latin typeface="Calibri"/>
                  </a:rPr>
                  <a:t> sao cho </a:t>
                </a:r>
                <a14:m>
                  <m:oMath xmlns:m="http://schemas.openxmlformats.org/officeDocument/2006/math">
                    <m:acc>
                      <m:accPr>
                        <m:chr m:val="⃗"/>
                      </m:accPr>
                      <m:e>
                        <m:r>
                          <a:rPr lang="vi-VN" sz="2000" b="0">
                            <a:solidFill>
                              <a:srgbClr val="1E293B"/>
                            </a:solidFill>
                            <a:latin typeface="Cambria Math" panose="02040503050406030204" pitchFamily="18" charset="0"/>
                          </a:rPr>
                          <m:t>a</m:t>
                        </m:r>
                      </m:e>
                    </m:acc>
                    <m:r>
                      <a:rPr lang="vi-VN" sz="2000" b="0">
                        <a:solidFill>
                          <a:srgbClr val="1E293B"/>
                        </a:solidFill>
                        <a:latin typeface="Cambria Math" panose="02040503050406030204" pitchFamily="18" charset="0"/>
                      </a:rPr>
                      <m:t>=x</m:t>
                    </m:r>
                    <m:acc>
                      <m:accPr>
                        <m:chr m:val="⃗"/>
                      </m:accPr>
                      <m:e>
                        <m:r>
                          <a:rPr lang="vi-VN" sz="2000" b="0">
                            <a:solidFill>
                              <a:srgbClr val="1E293B"/>
                            </a:solidFill>
                            <a:latin typeface="Cambria Math" panose="02040503050406030204" pitchFamily="18" charset="0"/>
                          </a:rPr>
                          <m:t>i</m:t>
                        </m:r>
                      </m:e>
                    </m:acc>
                    <m:r>
                      <a:rPr lang="vi-VN" sz="2000" b="0">
                        <a:solidFill>
                          <a:srgbClr val="1E293B"/>
                        </a:solidFill>
                        <a:latin typeface="Cambria Math" panose="02040503050406030204" pitchFamily="18" charset="0"/>
                      </a:rPr>
                      <m:t>+y</m:t>
                    </m:r>
                    <m:acc>
                      <m:accPr>
                        <m:chr m:val="⃗"/>
                      </m:accPr>
                      <m:e>
                        <m:r>
                          <a:rPr lang="vi-VN" sz="2000" b="0">
                            <a:solidFill>
                              <a:srgbClr val="1E293B"/>
                            </a:solidFill>
                            <a:latin typeface="Cambria Math" panose="02040503050406030204" pitchFamily="18" charset="0"/>
                          </a:rPr>
                          <m:t>j</m:t>
                        </m:r>
                      </m:e>
                    </m:acc>
                    <m:r>
                      <a:rPr lang="vi-VN" sz="2000" b="0">
                        <a:solidFill>
                          <a:srgbClr val="1E293B"/>
                        </a:solidFill>
                        <a:latin typeface="Cambria Math" panose="02040503050406030204" pitchFamily="18" charset="0"/>
                      </a:rPr>
                      <m:t>+z</m:t>
                    </m:r>
                    <m:acc>
                      <m:accPr>
                        <m:chr m:val="⃗"/>
                      </m:accPr>
                      <m:e>
                        <m:r>
                          <a:rPr lang="vi-VN" sz="2000" b="0">
                            <a:solidFill>
                              <a:srgbClr val="1E293B"/>
                            </a:solidFill>
                            <a:latin typeface="Cambria Math" panose="02040503050406030204" pitchFamily="18" charset="0"/>
                          </a:rPr>
                          <m:t>k</m:t>
                        </m:r>
                      </m:e>
                    </m:acc>
                  </m:oMath>
                </a14:m>
                <a:r>
                  <a:rPr sz="2000">
                    <a:solidFill>
                      <a:srgbClr val="1E293B"/>
                    </a:solidFill>
                    <a:latin typeface="Calibri"/>
                  </a:rPr>
                  <a:t>.</a:t>
                </a:r>
              </a:p>
            </p:txBody>
          </p:sp>
        </mc:Choice>
        <mc:Fallback>
          <p:sp>
            <p:nvSpPr>
              <p:cNvPr id="7" name="TextBox 6"/>
              <p:cNvSpPr txBox="1"/>
              <p:nvPr/>
            </p:nvSpPr>
            <p:spPr>
              <a:xfrm>
                <a:off x="548640" y="1371600"/>
                <a:ext cx="8595360" cy="10881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HĐ3.</a:t>
                </a:r>
                <a:r>
                  <a:rPr sz="2000">
                    <a:solidFill>
                      <a:srgbClr val="1E293B"/>
                    </a:solidFill>
                    <a:latin typeface="Calibri"/>
                  </a:rPr>
                  <a:t> Trong không gian </a:t>
                </a:r>
                <a:r>
                  <a:rPr lang="vi-VN"/>
                  <a:t>Oxyz</a:t>
                </a:r>
                <a:r>
                  <a:rPr sz="2000">
                    <a:solidFill>
                      <a:srgbClr val="1E293B"/>
                    </a:solidFill>
                    <a:latin typeface="Calibri"/>
                  </a:rPr>
                  <a:t>, cho vectơ </a:t>
                </a:r>
                <a:r>
                  <a:rPr lang="vi-VN"/>
                  <a:t>\vec{a}</a:t>
                </a:r>
                <a:r>
                  <a:rPr sz="2000">
                    <a:solidFill>
                      <a:srgbClr val="1E293B"/>
                    </a:solidFill>
                    <a:latin typeface="Calibri"/>
                  </a:rPr>
                  <a:t> tuỳ ý (H.2.41). Lấy điểm </a:t>
                </a:r>
                <a:r>
                  <a:rPr lang="vi-VN"/>
                  <a:t>M</a:t>
                </a:r>
                <a:r>
                  <a:rPr sz="2000">
                    <a:solidFill>
                      <a:srgbClr val="1E293B"/>
                    </a:solidFill>
                    <a:latin typeface="Calibri"/>
                  </a:rPr>
                  <a:t> sao cho </a:t>
                </a:r>
                <a:r>
                  <a:rPr lang="vi-VN"/>
                  <a:t>\overrightarrow{OM}</a:t>
                </a:r>
                <a:r>
                  <a:rPr sz="2000">
                    <a:solidFill>
                      <a:srgbClr val="1E293B"/>
                    </a:solidFill>
                    <a:latin typeface="Calibri"/>
                  </a:rPr>
                  <a:t> = </a:t>
                </a:r>
                <a:r>
                  <a:rPr lang="vi-VN"/>
                  <a:t>\vec{a}</a:t>
                </a:r>
                <a:r>
                  <a:rPr sz="2000">
                    <a:solidFill>
                      <a:srgbClr val="1E293B"/>
                    </a:solidFill>
                    <a:latin typeface="Calibri"/>
                  </a:rPr>
                  <a:t> và giải thích vì sao có bộ ba số </a:t>
                </a:r>
                <a:r>
                  <a:rPr lang="vi-VN"/>
                  <a:t>(x;\ y;\ z)</a:t>
                </a:r>
                <a:r>
                  <a:rPr sz="2000">
                    <a:solidFill>
                      <a:srgbClr val="1E293B"/>
                    </a:solidFill>
                    <a:latin typeface="Calibri"/>
                  </a:rPr>
                  <a:t> sao cho </a:t>
                </a:r>
                <a:r>
                  <a:rPr lang="vi-VN"/>
                  <a:t>\vec{a}=x\vec{i}+y\vec{j}+z\vec{k}</a:t>
                </a:r>
                <a:r>
                  <a:rPr sz="2000">
                    <a:solidFill>
                      <a:srgbClr val="1E293B"/>
                    </a:solidFill>
                    <a:latin typeface="Calibri"/>
                  </a:rPr>
                  <a:t>.</a:t>
                </a:r>
              </a:p>
            </p:txBody>
          </p:sp>
        </mc:Fallback>
      </mc:AlternateContent>
      <p:sp>
        <p:nvSpPr>
          <p:cNvPr id="8" name="s1_nen"/>
          <p:cNvSpPr/>
          <p:nvPr/>
        </p:nvSpPr>
        <p:spPr>
          <a:xfrm>
            <a:off x="548640" y="2551176"/>
            <a:ext cx="859536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587752"/>
                <a:ext cx="826617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Theo HĐ2, </a:t>
                </a:r>
                <a14:m>
                  <m:oMath xmlns:m="http://schemas.openxmlformats.org/officeDocument/2006/math">
                    <m:acc>
                      <m:accPr>
                        <m:chr m:val="⃗"/>
                      </m:accPr>
                      <m:e>
                        <m:r>
                          <a:rPr lang="vi-VN" sz="2000" b="0">
                            <a:solidFill>
                              <a:srgbClr val="1E293B"/>
                            </a:solidFill>
                            <a:latin typeface="Cambria Math" panose="02040503050406030204" pitchFamily="18" charset="0"/>
                          </a:rPr>
                          <m:t>OM</m:t>
                        </m:r>
                      </m:e>
                    </m:acc>
                  </m:oMath>
                </a14:m>
                <a:r>
                  <a:rPr sz="2000">
                    <a:solidFill>
                      <a:srgbClr val="1E293B"/>
                    </a:solidFill>
                    <a:latin typeface="Calibri"/>
                  </a:rPr>
                  <a:t> = </a:t>
                </a:r>
                <a14:m>
                  <m:oMath xmlns:m="http://schemas.openxmlformats.org/officeDocument/2006/math">
                    <m:r>
                      <a:rPr lang="vi-VN" sz="2000" b="0">
                        <a:solidFill>
                          <a:srgbClr val="1E293B"/>
                        </a:solidFill>
                        <a:latin typeface="Cambria Math" panose="02040503050406030204" pitchFamily="18" charset="0"/>
                      </a:rPr>
                      <m:t>x</m:t>
                    </m:r>
                    <m:acc>
                      <m:accPr>
                        <m:chr m:val="⃗"/>
                      </m:accPr>
                      <m:e>
                        <m:r>
                          <a:rPr lang="vi-VN" sz="2000" b="0">
                            <a:solidFill>
                              <a:srgbClr val="1E293B"/>
                            </a:solidFill>
                            <a:latin typeface="Cambria Math" panose="02040503050406030204" pitchFamily="18" charset="0"/>
                          </a:rPr>
                          <m:t>i</m:t>
                        </m:r>
                      </m:e>
                    </m:acc>
                    <m:r>
                      <a:rPr lang="vi-VN" sz="2000" b="0">
                        <a:solidFill>
                          <a:srgbClr val="1E293B"/>
                        </a:solidFill>
                        <a:latin typeface="Cambria Math" panose="02040503050406030204" pitchFamily="18" charset="0"/>
                      </a:rPr>
                      <m:t>+y</m:t>
                    </m:r>
                    <m:acc>
                      <m:accPr>
                        <m:chr m:val="⃗"/>
                      </m:accPr>
                      <m:e>
                        <m:r>
                          <a:rPr lang="vi-VN" sz="2000" b="0">
                            <a:solidFill>
                              <a:srgbClr val="1E293B"/>
                            </a:solidFill>
                            <a:latin typeface="Cambria Math" panose="02040503050406030204" pitchFamily="18" charset="0"/>
                          </a:rPr>
                          <m:t>j</m:t>
                        </m:r>
                      </m:e>
                    </m:acc>
                    <m:r>
                      <a:rPr lang="vi-VN" sz="2000" b="0">
                        <a:solidFill>
                          <a:srgbClr val="1E293B"/>
                        </a:solidFill>
                        <a:latin typeface="Cambria Math" panose="02040503050406030204" pitchFamily="18" charset="0"/>
                      </a:rPr>
                      <m:t>+z</m:t>
                    </m:r>
                    <m:acc>
                      <m:accPr>
                        <m:chr m:val="⃗"/>
                      </m:accPr>
                      <m:e>
                        <m:r>
                          <a:rPr lang="vi-VN" sz="2000" b="0">
                            <a:solidFill>
                              <a:srgbClr val="1E293B"/>
                            </a:solidFill>
                            <a:latin typeface="Cambria Math" panose="02040503050406030204" pitchFamily="18" charset="0"/>
                          </a:rPr>
                          <m:t>k</m:t>
                        </m:r>
                      </m:e>
                    </m:acc>
                  </m:oMath>
                </a14:m>
                <a:r>
                  <a:rPr sz="2000">
                    <a:solidFill>
                      <a:srgbClr val="1E293B"/>
                    </a:solidFill>
                    <a:latin typeface="Calibri"/>
                  </a:rPr>
                  <a:t> với </a:t>
                </a:r>
                <a14:m>
                  <m:oMath xmlns:m="http://schemas.openxmlformats.org/officeDocument/2006/math">
                    <m:d>
                      <m:dPr>
                        <m:sepChr m:val=""/>
                      </m:dPr>
                      <m:e>
                        <m:r>
                          <a:rPr lang="vi-VN" sz="2000" b="0">
                            <a:solidFill>
                              <a:srgbClr val="1E293B"/>
                            </a:solidFill>
                            <a:latin typeface="Cambria Math" panose="02040503050406030204" pitchFamily="18" charset="0"/>
                          </a:rPr>
                          <m:t>x</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y</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z</m:t>
                        </m:r>
                      </m:e>
                    </m:d>
                  </m:oMath>
                </a14:m>
                <a:r>
                  <a:rPr sz="2000">
                    <a:solidFill>
                      <a:srgbClr val="1E293B"/>
                    </a:solidFill>
                    <a:latin typeface="Calibri"/>
                  </a:rPr>
                  <a:t> là toạ độ của </a:t>
                </a:r>
                <a14:m>
                  <m:oMath xmlns:m="http://schemas.openxmlformats.org/officeDocument/2006/math">
                    <m:r>
                      <a:rPr lang="vi-VN" sz="2000" b="0">
                        <a:solidFill>
                          <a:srgbClr val="1E293B"/>
                        </a:solidFill>
                        <a:latin typeface="Cambria Math" panose="02040503050406030204" pitchFamily="18" charset="0"/>
                      </a:rPr>
                      <m:t>M</m:t>
                    </m:r>
                  </m:oMath>
                </a14:m>
                <a:r>
                  <a:rPr sz="2000">
                    <a:solidFill>
                      <a:srgbClr val="1E293B"/>
                    </a:solidFill>
                    <a:latin typeface="Calibri"/>
                  </a:rPr>
                  <a:t>, nên </a:t>
                </a:r>
                <a14:m>
                  <m:oMath xmlns:m="http://schemas.openxmlformats.org/officeDocument/2006/math">
                    <m:acc>
                      <m:accPr>
                        <m:chr m:val="⃗"/>
                      </m:accPr>
                      <m:e>
                        <m:r>
                          <a:rPr lang="vi-VN" sz="2000" b="0">
                            <a:solidFill>
                              <a:srgbClr val="1E293B"/>
                            </a:solidFill>
                            <a:latin typeface="Cambria Math" panose="02040503050406030204" pitchFamily="18" charset="0"/>
                          </a:rPr>
                          <m:t>a</m:t>
                        </m:r>
                      </m:e>
                    </m:acc>
                    <m:r>
                      <a:rPr lang="vi-VN" sz="2000" b="0">
                        <a:solidFill>
                          <a:srgbClr val="1E293B"/>
                        </a:solidFill>
                        <a:latin typeface="Cambria Math" panose="02040503050406030204" pitchFamily="18" charset="0"/>
                      </a:rPr>
                      <m:t>=x</m:t>
                    </m:r>
                    <m:acc>
                      <m:accPr>
                        <m:chr m:val="⃗"/>
                      </m:accPr>
                      <m:e>
                        <m:r>
                          <a:rPr lang="vi-VN" sz="2000" b="0">
                            <a:solidFill>
                              <a:srgbClr val="1E293B"/>
                            </a:solidFill>
                            <a:latin typeface="Cambria Math" panose="02040503050406030204" pitchFamily="18" charset="0"/>
                          </a:rPr>
                          <m:t>i</m:t>
                        </m:r>
                      </m:e>
                    </m:acc>
                    <m:r>
                      <a:rPr lang="vi-VN" sz="2000" b="0">
                        <a:solidFill>
                          <a:srgbClr val="1E293B"/>
                        </a:solidFill>
                        <a:latin typeface="Cambria Math" panose="02040503050406030204" pitchFamily="18" charset="0"/>
                      </a:rPr>
                      <m:t>+y</m:t>
                    </m:r>
                    <m:acc>
                      <m:accPr>
                        <m:chr m:val="⃗"/>
                      </m:accPr>
                      <m:e>
                        <m:r>
                          <a:rPr lang="vi-VN" sz="2000" b="0">
                            <a:solidFill>
                              <a:srgbClr val="1E293B"/>
                            </a:solidFill>
                            <a:latin typeface="Cambria Math" panose="02040503050406030204" pitchFamily="18" charset="0"/>
                          </a:rPr>
                          <m:t>j</m:t>
                        </m:r>
                      </m:e>
                    </m:acc>
                    <m:r>
                      <a:rPr lang="vi-VN" sz="2000" b="0">
                        <a:solidFill>
                          <a:srgbClr val="1E293B"/>
                        </a:solidFill>
                        <a:latin typeface="Cambria Math" panose="02040503050406030204" pitchFamily="18" charset="0"/>
                      </a:rPr>
                      <m:t>+z</m:t>
                    </m:r>
                    <m:acc>
                      <m:accPr>
                        <m:chr m:val="⃗"/>
                      </m:accPr>
                      <m:e>
                        <m:r>
                          <a:rPr lang="vi-VN" sz="2000" b="0">
                            <a:solidFill>
                              <a:srgbClr val="1E293B"/>
                            </a:solidFill>
                            <a:latin typeface="Cambria Math" panose="02040503050406030204" pitchFamily="18" charset="0"/>
                          </a:rPr>
                          <m:t>k</m:t>
                        </m:r>
                      </m:e>
                    </m:acc>
                  </m:oMath>
                </a14:m>
                <a:r>
                  <a:rPr sz="2000">
                    <a:solidFill>
                      <a:srgbClr val="1E293B"/>
                    </a:solidFill>
                    <a:latin typeface="Calibri"/>
                  </a:rPr>
                  <a:t>.</a:t>
                </a:r>
              </a:p>
            </p:txBody>
          </p:sp>
        </mc:Choice>
        <mc:Fallback>
          <p:sp>
            <p:nvSpPr>
              <p:cNvPr id="9" name="TextBox 8"/>
              <p:cNvSpPr txBox="1"/>
              <p:nvPr/>
            </p:nvSpPr>
            <p:spPr>
              <a:xfrm>
                <a:off x="713232" y="2587752"/>
                <a:ext cx="826617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Theo HĐ2, </a:t>
                </a:r>
                <a:r>
                  <a:rPr lang="vi-VN"/>
                  <a:t>\overrightarrow{OM}</a:t>
                </a:r>
                <a:r>
                  <a:rPr sz="2000">
                    <a:solidFill>
                      <a:srgbClr val="1E293B"/>
                    </a:solidFill>
                    <a:latin typeface="Calibri"/>
                  </a:rPr>
                  <a:t> = </a:t>
                </a:r>
                <a:r>
                  <a:rPr lang="vi-VN"/>
                  <a:t>x\vec{i}+y\vec{j}+z\vec{k}</a:t>
                </a:r>
                <a:r>
                  <a:rPr sz="2000">
                    <a:solidFill>
                      <a:srgbClr val="1E293B"/>
                    </a:solidFill>
                    <a:latin typeface="Calibri"/>
                  </a:rPr>
                  <a:t> với </a:t>
                </a:r>
                <a:r>
                  <a:rPr lang="vi-VN"/>
                  <a:t>(x;y;z)</a:t>
                </a:r>
                <a:r>
                  <a:rPr sz="2000">
                    <a:solidFill>
                      <a:srgbClr val="1E293B"/>
                    </a:solidFill>
                    <a:latin typeface="Calibri"/>
                  </a:rPr>
                  <a:t> là toạ độ của </a:t>
                </a:r>
                <a:r>
                  <a:rPr lang="vi-VN"/>
                  <a:t>M</a:t>
                </a:r>
                <a:r>
                  <a:rPr sz="2000">
                    <a:solidFill>
                      <a:srgbClr val="1E293B"/>
                    </a:solidFill>
                    <a:latin typeface="Calibri"/>
                  </a:rPr>
                  <a:t>, nên </a:t>
                </a:r>
                <a:r>
                  <a:rPr lang="vi-VN"/>
                  <a:t>\vec{a}=x\vec{i}+y\vec{j}+z\vec{k}</a:t>
                </a:r>
                <a:r>
                  <a:rPr sz="2000">
                    <a:solidFill>
                      <a:srgbClr val="1E293B"/>
                    </a:solidFill>
                    <a:latin typeface="Calibri"/>
                  </a:rPr>
                  <a:t>.</a:t>
                </a:r>
              </a:p>
            </p:txBody>
          </p:sp>
        </mc:Fallback>
      </mc:AlternateContent>
      <p:sp>
        <p:nvSpPr>
          <p:cNvPr id="10" name="Rounded Rectangle 9"/>
          <p:cNvSpPr/>
          <p:nvPr/>
        </p:nvSpPr>
        <p:spPr>
          <a:xfrm>
            <a:off x="548640" y="3517392"/>
            <a:ext cx="8595360" cy="1179576"/>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713232" y="3553968"/>
                <a:ext cx="8266176" cy="11064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Trong không gian </a:t>
                </a:r>
                <a14:m>
                  <m:oMath xmlns:m="http://schemas.openxmlformats.org/officeDocument/2006/math">
                    <m:r>
                      <a:rPr lang="vi-VN" sz="2000" b="0">
                        <a:solidFill>
                          <a:srgbClr val="1E293B"/>
                        </a:solidFill>
                        <a:latin typeface="Cambria Math" panose="02040503050406030204" pitchFamily="18" charset="0"/>
                      </a:rPr>
                      <m:t>Oxyz</m:t>
                    </m:r>
                  </m:oMath>
                </a14:m>
                <a:r>
                  <a:rPr sz="2000">
                    <a:solidFill>
                      <a:srgbClr val="1E293B"/>
                    </a:solidFill>
                    <a:latin typeface="Calibri"/>
                  </a:rPr>
                  <a:t>, cho vectơ </a:t>
                </a:r>
                <a14:m>
                  <m:oMath xmlns:m="http://schemas.openxmlformats.org/officeDocument/2006/math">
                    <m:acc>
                      <m:accPr>
                        <m:chr m:val="⃗"/>
                      </m:accPr>
                      <m:e>
                        <m:r>
                          <a:rPr lang="vi-VN" sz="2000" b="0">
                            <a:solidFill>
                              <a:srgbClr val="1E293B"/>
                            </a:solidFill>
                            <a:latin typeface="Cambria Math" panose="02040503050406030204" pitchFamily="18" charset="0"/>
                          </a:rPr>
                          <m:t>a</m:t>
                        </m:r>
                      </m:e>
                    </m:acc>
                  </m:oMath>
                </a14:m>
                <a:r>
                  <a:rPr sz="2000">
                    <a:solidFill>
                      <a:srgbClr val="1E293B"/>
                    </a:solidFill>
                    <a:latin typeface="Calibri"/>
                  </a:rPr>
                  <a:t> tuỳ ý. Bộ ba số </a:t>
                </a:r>
                <a14:m>
                  <m:oMath xmlns:m="http://schemas.openxmlformats.org/officeDocument/2006/math">
                    <m:d>
                      <m:dPr>
                        <m:sepChr m:val=""/>
                      </m:dPr>
                      <m:e>
                        <m:r>
                          <a:rPr lang="vi-VN" sz="2000" b="0">
                            <a:solidFill>
                              <a:srgbClr val="1E293B"/>
                            </a:solidFill>
                            <a:latin typeface="Cambria Math" panose="02040503050406030204" pitchFamily="18" charset="0"/>
                          </a:rPr>
                          <m:t>x</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y</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z</m:t>
                        </m:r>
                      </m:e>
                    </m:d>
                  </m:oMath>
                </a14:m>
                <a:r>
                  <a:rPr sz="2000">
                    <a:solidFill>
                      <a:srgbClr val="1E293B"/>
                    </a:solidFill>
                    <a:latin typeface="Calibri"/>
                  </a:rPr>
                  <a:t> duy nhất sao cho </a:t>
                </a:r>
                <a14:m>
                  <m:oMath xmlns:m="http://schemas.openxmlformats.org/officeDocument/2006/math">
                    <m:acc>
                      <m:accPr>
                        <m:chr m:val="⃗"/>
                      </m:accPr>
                      <m:e>
                        <m:r>
                          <a:rPr lang="vi-VN" sz="2000" b="0">
                            <a:solidFill>
                              <a:srgbClr val="1E293B"/>
                            </a:solidFill>
                            <a:latin typeface="Cambria Math" panose="02040503050406030204" pitchFamily="18" charset="0"/>
                          </a:rPr>
                          <m:t>a</m:t>
                        </m:r>
                      </m:e>
                    </m:acc>
                    <m:r>
                      <a:rPr lang="vi-VN" sz="2000" b="0">
                        <a:solidFill>
                          <a:srgbClr val="1E293B"/>
                        </a:solidFill>
                        <a:latin typeface="Cambria Math" panose="02040503050406030204" pitchFamily="18" charset="0"/>
                      </a:rPr>
                      <m:t>=x</m:t>
                    </m:r>
                    <m:acc>
                      <m:accPr>
                        <m:chr m:val="⃗"/>
                      </m:accPr>
                      <m:e>
                        <m:r>
                          <a:rPr lang="vi-VN" sz="2000" b="0">
                            <a:solidFill>
                              <a:srgbClr val="1E293B"/>
                            </a:solidFill>
                            <a:latin typeface="Cambria Math" panose="02040503050406030204" pitchFamily="18" charset="0"/>
                          </a:rPr>
                          <m:t>i</m:t>
                        </m:r>
                      </m:e>
                    </m:acc>
                    <m:r>
                      <a:rPr lang="vi-VN" sz="2000" b="0">
                        <a:solidFill>
                          <a:srgbClr val="1E293B"/>
                        </a:solidFill>
                        <a:latin typeface="Cambria Math" panose="02040503050406030204" pitchFamily="18" charset="0"/>
                      </a:rPr>
                      <m:t>+y</m:t>
                    </m:r>
                    <m:acc>
                      <m:accPr>
                        <m:chr m:val="⃗"/>
                      </m:accPr>
                      <m:e>
                        <m:r>
                          <a:rPr lang="vi-VN" sz="2000" b="0">
                            <a:solidFill>
                              <a:srgbClr val="1E293B"/>
                            </a:solidFill>
                            <a:latin typeface="Cambria Math" panose="02040503050406030204" pitchFamily="18" charset="0"/>
                          </a:rPr>
                          <m:t>j</m:t>
                        </m:r>
                      </m:e>
                    </m:acc>
                    <m:r>
                      <a:rPr lang="vi-VN" sz="2000" b="0">
                        <a:solidFill>
                          <a:srgbClr val="1E293B"/>
                        </a:solidFill>
                        <a:latin typeface="Cambria Math" panose="02040503050406030204" pitchFamily="18" charset="0"/>
                      </a:rPr>
                      <m:t>+z</m:t>
                    </m:r>
                    <m:acc>
                      <m:accPr>
                        <m:chr m:val="⃗"/>
                      </m:accPr>
                      <m:e>
                        <m:r>
                          <a:rPr lang="vi-VN" sz="2000" b="0">
                            <a:solidFill>
                              <a:srgbClr val="1E293B"/>
                            </a:solidFill>
                            <a:latin typeface="Cambria Math" panose="02040503050406030204" pitchFamily="18" charset="0"/>
                          </a:rPr>
                          <m:t>k</m:t>
                        </m:r>
                      </m:e>
                    </m:acc>
                  </m:oMath>
                </a14:m>
                <a:r>
                  <a:rPr sz="2000">
                    <a:solidFill>
                      <a:srgbClr val="1E293B"/>
                    </a:solidFill>
                    <a:latin typeface="Calibri"/>
                  </a:rPr>
                  <a:t> được gọi là </a:t>
                </a:r>
                <a:r>
                  <a:rPr sz="2000" b="1">
                    <a:solidFill>
                      <a:srgbClr val="1E293B"/>
                    </a:solidFill>
                    <a:latin typeface="Calibri"/>
                  </a:rPr>
                  <a:t>toạ độ của vectơ</a:t>
                </a:r>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a</m:t>
                        </m:r>
                      </m:e>
                    </m:acc>
                  </m:oMath>
                </a14:m>
                <a:r>
                  <a:rPr sz="2000">
                    <a:solidFill>
                      <a:srgbClr val="1E293B"/>
                    </a:solidFill>
                    <a:latin typeface="Calibri"/>
                  </a:rPr>
                  <a:t>. Ta viết </a:t>
                </a:r>
                <a14:m>
                  <m:oMath xmlns:m="http://schemas.openxmlformats.org/officeDocument/2006/math">
                    <m:acc>
                      <m:accPr>
                        <m:chr m:val="⃗"/>
                      </m:accPr>
                      <m:e>
                        <m:r>
                          <a:rPr lang="vi-VN" sz="2000" b="0">
                            <a:solidFill>
                              <a:srgbClr val="1E293B"/>
                            </a:solidFill>
                            <a:latin typeface="Cambria Math" panose="02040503050406030204" pitchFamily="18" charset="0"/>
                          </a:rPr>
                          <m:t>a</m:t>
                        </m:r>
                      </m:e>
                    </m:acc>
                    <m:r>
                      <a:rPr lang="vi-VN" sz="2000" b="0">
                        <a:solidFill>
                          <a:srgbClr val="1E293B"/>
                        </a:solidFill>
                        <a:latin typeface="Cambria Math" panose="02040503050406030204" pitchFamily="18" charset="0"/>
                      </a:rPr>
                      <m:t>=(x;</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y;</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z)</m:t>
                    </m:r>
                  </m:oMath>
                </a14:m>
                <a:r>
                  <a:rPr sz="2000">
                    <a:solidFill>
                      <a:srgbClr val="1E293B"/>
                    </a:solidFill>
                    <a:latin typeface="Calibri"/>
                  </a:rPr>
                  <a:t> hoặc </a:t>
                </a:r>
                <a14:m>
                  <m:oMath xmlns:m="http://schemas.openxmlformats.org/officeDocument/2006/math">
                    <m:acc>
                      <m:accPr>
                        <m:chr m:val="⃗"/>
                      </m:accPr>
                      <m:e>
                        <m:r>
                          <a:rPr lang="vi-VN" sz="2000" b="0">
                            <a:solidFill>
                              <a:srgbClr val="1E293B"/>
                            </a:solidFill>
                            <a:latin typeface="Cambria Math" panose="02040503050406030204" pitchFamily="18" charset="0"/>
                          </a:rPr>
                          <m:t>a</m:t>
                        </m:r>
                      </m:e>
                    </m:acc>
                    <m:r>
                      <a:rPr lang="vi-VN" sz="2000" b="0">
                        <a:solidFill>
                          <a:srgbClr val="1E293B"/>
                        </a:solidFill>
                        <a:latin typeface="Cambria Math" panose="02040503050406030204" pitchFamily="18" charset="0"/>
                      </a:rPr>
                      <m:t>(x;</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y;</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z)</m:t>
                    </m:r>
                  </m:oMath>
                </a14:m>
                <a:r>
                  <a:rPr sz="2000">
                    <a:solidFill>
                      <a:srgbClr val="1E293B"/>
                    </a:solidFill>
                    <a:latin typeface="Calibri"/>
                  </a:rPr>
                  <a:t>.</a:t>
                </a:r>
              </a:p>
            </p:txBody>
          </p:sp>
        </mc:Choice>
        <mc:Fallback>
          <p:sp>
            <p:nvSpPr>
              <p:cNvPr id="11" name="TextBox 10"/>
              <p:cNvSpPr txBox="1"/>
              <p:nvPr/>
            </p:nvSpPr>
            <p:spPr>
              <a:xfrm>
                <a:off x="713232" y="3553968"/>
                <a:ext cx="8266176" cy="11064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Trong không gian </a:t>
                </a:r>
                <a:r>
                  <a:rPr lang="vi-VN"/>
                  <a:t>Oxyz</a:t>
                </a:r>
                <a:r>
                  <a:rPr sz="2000">
                    <a:solidFill>
                      <a:srgbClr val="1E293B"/>
                    </a:solidFill>
                    <a:latin typeface="Calibri"/>
                  </a:rPr>
                  <a:t>, cho vectơ </a:t>
                </a:r>
                <a:r>
                  <a:rPr lang="vi-VN"/>
                  <a:t>\vec{a}</a:t>
                </a:r>
                <a:r>
                  <a:rPr sz="2000">
                    <a:solidFill>
                      <a:srgbClr val="1E293B"/>
                    </a:solidFill>
                    <a:latin typeface="Calibri"/>
                  </a:rPr>
                  <a:t> tuỳ ý. Bộ ba số </a:t>
                </a:r>
                <a:r>
                  <a:rPr lang="vi-VN"/>
                  <a:t>(x;\ y;\ z)</a:t>
                </a:r>
                <a:r>
                  <a:rPr sz="2000">
                    <a:solidFill>
                      <a:srgbClr val="1E293B"/>
                    </a:solidFill>
                    <a:latin typeface="Calibri"/>
                  </a:rPr>
                  <a:t> duy nhất sao cho </a:t>
                </a:r>
                <a:r>
                  <a:rPr lang="vi-VN"/>
                  <a:t>\vec{a}=x\vec{i}+y\vec{j}+z\vec{k}</a:t>
                </a:r>
                <a:r>
                  <a:rPr sz="2000">
                    <a:solidFill>
                      <a:srgbClr val="1E293B"/>
                    </a:solidFill>
                    <a:latin typeface="Calibri"/>
                  </a:rPr>
                  <a:t> được gọi là </a:t>
                </a:r>
                <a:r>
                  <a:rPr sz="2000" b="1">
                    <a:solidFill>
                      <a:srgbClr val="1E293B"/>
                    </a:solidFill>
                    <a:latin typeface="Calibri"/>
                  </a:rPr>
                  <a:t>toạ độ của vectơ</a:t>
                </a:r>
                <a:r>
                  <a:rPr sz="2000">
                    <a:solidFill>
                      <a:srgbClr val="1E293B"/>
                    </a:solidFill>
                    <a:latin typeface="Calibri"/>
                  </a:rPr>
                  <a:t> </a:t>
                </a:r>
                <a:r>
                  <a:rPr lang="vi-VN"/>
                  <a:t>\vec{a}</a:t>
                </a:r>
                <a:r>
                  <a:rPr sz="2000">
                    <a:solidFill>
                      <a:srgbClr val="1E293B"/>
                    </a:solidFill>
                    <a:latin typeface="Calibri"/>
                  </a:rPr>
                  <a:t>. Ta viết </a:t>
                </a:r>
                <a:r>
                  <a:rPr lang="vi-VN"/>
                  <a:t>\vec{a}=(x;\ y;\ z)</a:t>
                </a:r>
                <a:r>
                  <a:rPr sz="2000">
                    <a:solidFill>
                      <a:srgbClr val="1E293B"/>
                    </a:solidFill>
                    <a:latin typeface="Calibri"/>
                  </a:rPr>
                  <a:t> hoặc </a:t>
                </a:r>
                <a:r>
                  <a:rPr lang="vi-VN"/>
                  <a:t>\vec{a}(x;\ y;\ z)</a:t>
                </a:r>
                <a:r>
                  <a:rPr sz="20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2" name="TextBox 11"/>
              <p:cNvSpPr txBox="1"/>
              <p:nvPr/>
            </p:nvSpPr>
            <p:spPr>
              <a:xfrm>
                <a:off x="548640" y="4788408"/>
                <a:ext cx="859536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Nhận xét.</a:t>
                </a:r>
                <a:r>
                  <a:rPr sz="2000">
                    <a:solidFill>
                      <a:srgbClr val="1E293B"/>
                    </a:solidFill>
                    <a:latin typeface="Calibri"/>
                  </a:rPr>
                  <a:t> Toạ độ của </a:t>
                </a:r>
                <a14:m>
                  <m:oMath xmlns:m="http://schemas.openxmlformats.org/officeDocument/2006/math">
                    <m:acc>
                      <m:accPr>
                        <m:chr m:val="⃗"/>
                      </m:accPr>
                      <m:e>
                        <m:r>
                          <a:rPr lang="vi-VN" sz="2000" b="0">
                            <a:solidFill>
                              <a:srgbClr val="1E293B"/>
                            </a:solidFill>
                            <a:latin typeface="Cambria Math" panose="02040503050406030204" pitchFamily="18" charset="0"/>
                          </a:rPr>
                          <m:t>a</m:t>
                        </m:r>
                      </m:e>
                    </m:acc>
                  </m:oMath>
                </a14:m>
                <a:r>
                  <a:rPr sz="2000">
                    <a:solidFill>
                      <a:srgbClr val="1E293B"/>
                    </a:solidFill>
                    <a:latin typeface="Calibri"/>
                  </a:rPr>
                  <a:t> cũng là toạ độ của điểm </a:t>
                </a:r>
                <a14:m>
                  <m:oMath xmlns:m="http://schemas.openxmlformats.org/officeDocument/2006/math">
                    <m:r>
                      <a:rPr lang="vi-VN" sz="2000" b="0">
                        <a:solidFill>
                          <a:srgbClr val="1E293B"/>
                        </a:solidFill>
                        <a:latin typeface="Cambria Math" panose="02040503050406030204" pitchFamily="18" charset="0"/>
                      </a:rPr>
                      <m:t>M</m:t>
                    </m:r>
                  </m:oMath>
                </a14:m>
                <a:r>
                  <a:rPr sz="2000">
                    <a:solidFill>
                      <a:srgbClr val="1E293B"/>
                    </a:solidFill>
                    <a:latin typeface="Calibri"/>
                  </a:rPr>
                  <a:t> sao cho </a:t>
                </a:r>
                <a14:m>
                  <m:oMath xmlns:m="http://schemas.openxmlformats.org/officeDocument/2006/math">
                    <m:acc>
                      <m:accPr>
                        <m:chr m:val="⃗"/>
                      </m:accPr>
                      <m:e>
                        <m:r>
                          <a:rPr lang="vi-VN" sz="2000" b="0">
                            <a:solidFill>
                              <a:srgbClr val="1E293B"/>
                            </a:solidFill>
                            <a:latin typeface="Cambria Math" panose="02040503050406030204" pitchFamily="18" charset="0"/>
                          </a:rPr>
                          <m:t>OM</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a</m:t>
                        </m:r>
                      </m:e>
                    </m:acc>
                  </m:oMath>
                </a14:m>
                <a:r>
                  <a:rPr sz="2000">
                    <a:solidFill>
                      <a:srgbClr val="1E293B"/>
                    </a:solidFill>
                    <a:latin typeface="Calibri"/>
                  </a:rPr>
                  <a:t>. Với </a:t>
                </a:r>
                <a14:m>
                  <m:oMath xmlns:m="http://schemas.openxmlformats.org/officeDocument/2006/math">
                    <m:acc>
                      <m:accPr>
                        <m:chr m:val="⃗"/>
                      </m:accPr>
                      <m:e>
                        <m:r>
                          <a:rPr lang="vi-VN" sz="2000" b="0">
                            <a:solidFill>
                              <a:srgbClr val="1E293B"/>
                            </a:solidFill>
                            <a:latin typeface="Cambria Math" panose="02040503050406030204" pitchFamily="18" charset="0"/>
                          </a:rPr>
                          <m:t>a</m:t>
                        </m:r>
                      </m:e>
                    </m:acc>
                    <m:r>
                      <a:rPr lang="vi-VN" sz="2000" b="0">
                        <a:solidFill>
                          <a:srgbClr val="1E293B"/>
                        </a:solidFill>
                        <a:latin typeface="Cambria Math" panose="02040503050406030204" pitchFamily="18" charset="0"/>
                      </a:rPr>
                      <m:t>=(x;y;z)</m:t>
                    </m:r>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b</m:t>
                        </m:r>
                      </m:e>
                    </m:acc>
                    <m:r>
                      <a:rPr lang="vi-VN" sz="2000" b="0">
                        <a:solidFill>
                          <a:srgbClr val="1E293B"/>
                        </a:solidFill>
                        <a:latin typeface="Cambria Math" panose="02040503050406030204" pitchFamily="18" charset="0"/>
                      </a:rPr>
                      <m:t>=(</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sSup>
                      <m:e>
                        <m:r>
                          <a:rPr lang="vi-VN" sz="2000" b="0">
                            <a:solidFill>
                              <a:srgbClr val="1E293B"/>
                            </a:solidFill>
                            <a:latin typeface="Cambria Math" panose="02040503050406030204" pitchFamily="18" charset="0"/>
                          </a:rPr>
                          <m:t>y</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sSup>
                      <m:e>
                        <m:r>
                          <a:rPr lang="vi-VN" sz="2000" b="0">
                            <a:solidFill>
                              <a:srgbClr val="1E293B"/>
                            </a:solidFill>
                            <a:latin typeface="Cambria Math" panose="02040503050406030204" pitchFamily="18" charset="0"/>
                          </a:rPr>
                          <m:t>z</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a</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m:t>
                        </m:r>
                      </m:e>
                    </m:acc>
                  </m:oMath>
                </a14:m>
                <a:r>
                  <a:rPr sz="2000">
                    <a:solidFill>
                      <a:srgbClr val="1E293B"/>
                    </a:solidFill>
                    <a:latin typeface="Calibri"/>
                  </a:rPr>
                  <a:t> ⇔ </a:t>
                </a:r>
                <a14:m>
                  <m:oMath xmlns:m="http://schemas.openxmlformats.org/officeDocument/2006/math">
                    <m:r>
                      <a:rPr lang="vi-VN" sz="2000" b="0">
                        <a:solidFill>
                          <a:srgbClr val="1E293B"/>
                        </a:solidFill>
                        <a:latin typeface="Cambria Math" panose="02040503050406030204" pitchFamily="18" charset="0"/>
                      </a:rPr>
                      <m:t>x=</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y=</m:t>
                    </m:r>
                    <m:sSup>
                      <m:e>
                        <m:r>
                          <a:rPr lang="vi-VN" sz="2000" b="0">
                            <a:solidFill>
                              <a:srgbClr val="1E293B"/>
                            </a:solidFill>
                            <a:latin typeface="Cambria Math" panose="02040503050406030204" pitchFamily="18" charset="0"/>
                          </a:rPr>
                          <m:t>y</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z=</m:t>
                    </m:r>
                    <m:sSup>
                      <m:e>
                        <m:r>
                          <a:rPr lang="vi-VN" sz="2000" b="0">
                            <a:solidFill>
                              <a:srgbClr val="1E293B"/>
                            </a:solidFill>
                            <a:latin typeface="Cambria Math" panose="02040503050406030204" pitchFamily="18" charset="0"/>
                          </a:rPr>
                          <m:t>z</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a:t>
                </a:r>
              </a:p>
            </p:txBody>
          </p:sp>
        </mc:Choice>
        <mc:Fallback>
          <p:sp>
            <p:nvSpPr>
              <p:cNvPr id="12" name="TextBox 11"/>
              <p:cNvSpPr txBox="1"/>
              <p:nvPr/>
            </p:nvSpPr>
            <p:spPr>
              <a:xfrm>
                <a:off x="548640" y="4788408"/>
                <a:ext cx="859536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Nhận xét.</a:t>
                </a:r>
                <a:r>
                  <a:rPr sz="2000">
                    <a:solidFill>
                      <a:srgbClr val="1E293B"/>
                    </a:solidFill>
                    <a:latin typeface="Calibri"/>
                  </a:rPr>
                  <a:t> Toạ độ của </a:t>
                </a:r>
                <a:r>
                  <a:rPr lang="vi-VN"/>
                  <a:t>\vec{a}</a:t>
                </a:r>
                <a:r>
                  <a:rPr sz="2000">
                    <a:solidFill>
                      <a:srgbClr val="1E293B"/>
                    </a:solidFill>
                    <a:latin typeface="Calibri"/>
                  </a:rPr>
                  <a:t> cũng là toạ độ của điểm </a:t>
                </a:r>
                <a:r>
                  <a:rPr lang="vi-VN"/>
                  <a:t>M</a:t>
                </a:r>
                <a:r>
                  <a:rPr sz="2000">
                    <a:solidFill>
                      <a:srgbClr val="1E293B"/>
                    </a:solidFill>
                    <a:latin typeface="Calibri"/>
                  </a:rPr>
                  <a:t> sao cho </a:t>
                </a:r>
                <a:r>
                  <a:rPr lang="vi-VN"/>
                  <a:t>\overrightarrow{OM}</a:t>
                </a:r>
                <a:r>
                  <a:rPr sz="2000">
                    <a:solidFill>
                      <a:srgbClr val="1E293B"/>
                    </a:solidFill>
                    <a:latin typeface="Calibri"/>
                  </a:rPr>
                  <a:t> = </a:t>
                </a:r>
                <a:r>
                  <a:rPr lang="vi-VN"/>
                  <a:t>\vec{a}</a:t>
                </a:r>
                <a:r>
                  <a:rPr sz="2000">
                    <a:solidFill>
                      <a:srgbClr val="1E293B"/>
                    </a:solidFill>
                    <a:latin typeface="Calibri"/>
                  </a:rPr>
                  <a:t>. Với </a:t>
                </a:r>
                <a:r>
                  <a:rPr lang="vi-VN"/>
                  <a:t>\vec{a}=(x;y;z)</a:t>
                </a:r>
                <a:r>
                  <a:rPr sz="2000">
                    <a:solidFill>
                      <a:srgbClr val="1E293B"/>
                    </a:solidFill>
                    <a:latin typeface="Calibri"/>
                  </a:rPr>
                  <a:t>, </a:t>
                </a:r>
                <a:r>
                  <a:rPr lang="vi-VN"/>
                  <a:t>\vec{b}=(x';y';z')</a:t>
                </a:r>
                <a:r>
                  <a:rPr sz="2000">
                    <a:solidFill>
                      <a:srgbClr val="1E293B"/>
                    </a:solidFill>
                    <a:latin typeface="Calibri"/>
                  </a:rPr>
                  <a:t>: </a:t>
                </a:r>
                <a:r>
                  <a:rPr lang="vi-VN"/>
                  <a:t>\vec{a}=\vec{b}</a:t>
                </a:r>
                <a:r>
                  <a:rPr sz="2000">
                    <a:solidFill>
                      <a:srgbClr val="1E293B"/>
                    </a:solidFill>
                    <a:latin typeface="Calibri"/>
                  </a:rPr>
                  <a:t> ⇔ </a:t>
                </a:r>
                <a:r>
                  <a:rPr lang="vi-VN"/>
                  <a:t>x=x',\ y=y',\ z=z'</a:t>
                </a:r>
                <a:r>
                  <a:rPr sz="2000">
                    <a:solidFill>
                      <a:srgbClr val="1E293B"/>
                    </a:solidFill>
                    <a:latin typeface="Calibri"/>
                  </a:rPr>
                  <a:t>.</a:t>
                </a:r>
              </a:p>
            </p:txBody>
          </p:sp>
        </mc:Fallback>
      </mc:AlternateContent>
      <p:pic>
        <p:nvPicPr>
          <p:cNvPr id="13" name="Picture 12" descr="h241.png"/>
          <p:cNvPicPr>
            <a:picLocks noChangeAspect="1"/>
          </p:cNvPicPr>
          <p:nvPr/>
        </p:nvPicPr>
        <p:blipFill>
          <a:blip r:embed="rId3"/>
          <a:stretch>
            <a:fillRect/>
          </a:stretch>
        </p:blipFill>
        <p:spPr>
          <a:xfrm>
            <a:off x="9326880" y="1683113"/>
            <a:ext cx="2377440" cy="175441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4 – LUYỆN TẬP 4 (SGK TR.63)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Hệ trục toạ độ trong không gian – Toán 12          18</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539496"/>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Ví dụ 4.</a:t>
                </a:r>
                <a:r>
                  <a:rPr sz="2400">
                    <a:solidFill>
                      <a:srgbClr val="1E293B"/>
                    </a:solidFill>
                    <a:latin typeface="Calibri"/>
                  </a:rPr>
                  <a:t> Trong không gian </a:t>
                </a:r>
                <a14:m>
                  <m:oMath xmlns:m="http://schemas.openxmlformats.org/officeDocument/2006/math">
                    <m:r>
                      <a:rPr lang="vi-VN" sz="2400" b="0">
                        <a:solidFill>
                          <a:srgbClr val="1E293B"/>
                        </a:solidFill>
                        <a:latin typeface="Cambria Math" panose="02040503050406030204" pitchFamily="18" charset="0"/>
                      </a:rPr>
                      <m:t>Oxyz</m:t>
                    </m:r>
                  </m:oMath>
                </a14:m>
                <a:r>
                  <a:rPr sz="2400">
                    <a:solidFill>
                      <a:srgbClr val="1E293B"/>
                    </a:solidFill>
                    <a:latin typeface="Calibri"/>
                  </a:rPr>
                  <a:t>, hãy tìm toạ độ của các vectơ </a:t>
                </a:r>
                <a14:m>
                  <m:oMath xmlns:m="http://schemas.openxmlformats.org/officeDocument/2006/math">
                    <m:acc>
                      <m:accPr>
                        <m:chr m:val="⃗"/>
                      </m:accPr>
                      <m:e>
                        <m:r>
                          <a:rPr lang="vi-VN" sz="2400" b="0">
                            <a:solidFill>
                              <a:srgbClr val="1E293B"/>
                            </a:solidFill>
                            <a:latin typeface="Cambria Math" panose="02040503050406030204" pitchFamily="18" charset="0"/>
                          </a:rPr>
                          <m:t>i</m:t>
                        </m:r>
                      </m:e>
                    </m:acc>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acc>
                      <m:accPr>
                        <m:chr m:val="⃗"/>
                      </m:accPr>
                      <m:e>
                        <m:r>
                          <a:rPr lang="vi-VN" sz="2400" b="0">
                            <a:solidFill>
                              <a:srgbClr val="1E293B"/>
                            </a:solidFill>
                            <a:latin typeface="Cambria Math" panose="02040503050406030204" pitchFamily="18" charset="0"/>
                          </a:rPr>
                          <m:t>j</m:t>
                        </m:r>
                      </m:e>
                    </m:acc>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acc>
                      <m:accPr>
                        <m:chr m:val="⃗"/>
                      </m:accPr>
                      <m:e>
                        <m:r>
                          <a:rPr lang="vi-VN" sz="2400" b="0">
                            <a:solidFill>
                              <a:srgbClr val="1E293B"/>
                            </a:solidFill>
                            <a:latin typeface="Cambria Math" panose="02040503050406030204" pitchFamily="18" charset="0"/>
                          </a:rPr>
                          <m:t>k</m:t>
                        </m:r>
                      </m:e>
                    </m:acc>
                  </m:oMath>
                </a14:m>
                <a:r>
                  <a:rPr sz="2400">
                    <a:solidFill>
                      <a:srgbClr val="1E293B"/>
                    </a:solidFill>
                    <a:latin typeface="Calibri"/>
                  </a:rPr>
                  <a:t>.</a:t>
                </a:r>
              </a:p>
            </p:txBody>
          </p:sp>
        </mc:Choice>
        <mc:Fallback>
          <p:sp>
            <p:nvSpPr>
              <p:cNvPr id="7" name="TextBox 6"/>
              <p:cNvSpPr txBox="1"/>
              <p:nvPr/>
            </p:nvSpPr>
            <p:spPr>
              <a:xfrm>
                <a:off x="548640" y="1371600"/>
                <a:ext cx="11064240" cy="539496"/>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Ví dụ 4.</a:t>
                </a:r>
                <a:r>
                  <a:rPr sz="2400">
                    <a:solidFill>
                      <a:srgbClr val="1E293B"/>
                    </a:solidFill>
                    <a:latin typeface="Calibri"/>
                  </a:rPr>
                  <a:t> Trong không gian </a:t>
                </a:r>
                <a:r>
                  <a:rPr lang="vi-VN"/>
                  <a:t>Oxyz</a:t>
                </a:r>
                <a:r>
                  <a:rPr sz="2400">
                    <a:solidFill>
                      <a:srgbClr val="1E293B"/>
                    </a:solidFill>
                    <a:latin typeface="Calibri"/>
                  </a:rPr>
                  <a:t>, hãy tìm toạ độ của các vectơ </a:t>
                </a:r>
                <a:r>
                  <a:rPr lang="vi-VN"/>
                  <a:t>\vec{i},\ \vec{j},\ \vec{k}</a:t>
                </a:r>
                <a:r>
                  <a:rPr sz="2400">
                    <a:solidFill>
                      <a:srgbClr val="1E293B"/>
                    </a:solidFill>
                    <a:latin typeface="Calibri"/>
                  </a:rPr>
                  <a:t>.</a:t>
                </a:r>
              </a:p>
            </p:txBody>
          </p:sp>
        </mc:Fallback>
      </mc:AlternateContent>
      <p:sp>
        <p:nvSpPr>
          <p:cNvPr id="8" name="s1_nen"/>
          <p:cNvSpPr/>
          <p:nvPr/>
        </p:nvSpPr>
        <p:spPr>
          <a:xfrm>
            <a:off x="548640" y="2048256"/>
            <a:ext cx="1106424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084832"/>
                <a:ext cx="1073505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i</m:t>
                        </m:r>
                      </m:e>
                    </m:acc>
                    <m:r>
                      <a:rPr lang="vi-VN" sz="2400" b="0">
                        <a:solidFill>
                          <a:srgbClr val="1E293B"/>
                        </a:solidFill>
                        <a:latin typeface="Cambria Math" panose="02040503050406030204" pitchFamily="18" charset="0"/>
                      </a:rPr>
                      <m:t>=1·</m:t>
                    </m:r>
                    <m:acc>
                      <m:accPr>
                        <m:chr m:val="⃗"/>
                      </m:accPr>
                      <m:e>
                        <m:r>
                          <a:rPr lang="vi-VN" sz="2400" b="0">
                            <a:solidFill>
                              <a:srgbClr val="1E293B"/>
                            </a:solidFill>
                            <a:latin typeface="Cambria Math" panose="02040503050406030204" pitchFamily="18" charset="0"/>
                          </a:rPr>
                          <m:t>i</m:t>
                        </m:r>
                      </m:e>
                    </m:acc>
                    <m:r>
                      <a:rPr lang="vi-VN" sz="2400" b="0">
                        <a:solidFill>
                          <a:srgbClr val="1E293B"/>
                        </a:solidFill>
                        <a:latin typeface="Cambria Math" panose="02040503050406030204" pitchFamily="18" charset="0"/>
                      </a:rPr>
                      <m:t>+0·</m:t>
                    </m:r>
                    <m:acc>
                      <m:accPr>
                        <m:chr m:val="⃗"/>
                      </m:accPr>
                      <m:e>
                        <m:r>
                          <a:rPr lang="vi-VN" sz="2400" b="0">
                            <a:solidFill>
                              <a:srgbClr val="1E293B"/>
                            </a:solidFill>
                            <a:latin typeface="Cambria Math" panose="02040503050406030204" pitchFamily="18" charset="0"/>
                          </a:rPr>
                          <m:t>j</m:t>
                        </m:r>
                      </m:e>
                    </m:acc>
                    <m:r>
                      <a:rPr lang="vi-VN" sz="2400" b="0">
                        <a:solidFill>
                          <a:srgbClr val="1E293B"/>
                        </a:solidFill>
                        <a:latin typeface="Cambria Math" panose="02040503050406030204" pitchFamily="18" charset="0"/>
                      </a:rPr>
                      <m:t>+0·</m:t>
                    </m:r>
                    <m:acc>
                      <m:accPr>
                        <m:chr m:val="⃗"/>
                      </m:accPr>
                      <m:e>
                        <m:r>
                          <a:rPr lang="vi-VN" sz="2400" b="0">
                            <a:solidFill>
                              <a:srgbClr val="1E293B"/>
                            </a:solidFill>
                            <a:latin typeface="Cambria Math" panose="02040503050406030204" pitchFamily="18" charset="0"/>
                          </a:rPr>
                          <m:t>k</m:t>
                        </m:r>
                      </m:e>
                    </m:acc>
                  </m:oMath>
                </a14:m>
                <a:r>
                  <a:rPr sz="2400">
                    <a:solidFill>
                      <a:srgbClr val="1E293B"/>
                    </a:solidFill>
                    <a:latin typeface="Calibri"/>
                  </a:rPr>
                  <a:t> nên </a:t>
                </a:r>
                <a14:m>
                  <m:oMath xmlns:m="http://schemas.openxmlformats.org/officeDocument/2006/math">
                    <m:acc>
                      <m:accPr>
                        <m:chr m:val="⃗"/>
                      </m:accPr>
                      <m:e>
                        <m:r>
                          <a:rPr lang="vi-VN" sz="2400" b="0">
                            <a:solidFill>
                              <a:srgbClr val="1E293B"/>
                            </a:solidFill>
                            <a:latin typeface="Cambria Math" panose="02040503050406030204" pitchFamily="18" charset="0"/>
                          </a:rPr>
                          <m:t>i</m:t>
                        </m:r>
                      </m:e>
                    </m:acc>
                    <m:r>
                      <a:rPr lang="vi-VN" sz="2400" b="0">
                        <a:solidFill>
                          <a:srgbClr val="1E293B"/>
                        </a:solidFill>
                        <a:latin typeface="Cambria Math" panose="02040503050406030204" pitchFamily="18" charset="0"/>
                      </a:rPr>
                      <m:t>=(1;0;0)</m:t>
                    </m:r>
                  </m:oMath>
                </a14:m>
                <a:r>
                  <a:rPr sz="2400">
                    <a:solidFill>
                      <a:srgbClr val="1E293B"/>
                    </a:solidFill>
                    <a:latin typeface="Calibri"/>
                  </a:rPr>
                  <a:t>; tương tự </a:t>
                </a:r>
                <a14:m>
                  <m:oMath xmlns:m="http://schemas.openxmlformats.org/officeDocument/2006/math">
                    <m:acc>
                      <m:accPr>
                        <m:chr m:val="⃗"/>
                      </m:accPr>
                      <m:e>
                        <m:r>
                          <a:rPr lang="vi-VN" sz="2400" b="0">
                            <a:solidFill>
                              <a:srgbClr val="1E293B"/>
                            </a:solidFill>
                            <a:latin typeface="Cambria Math" panose="02040503050406030204" pitchFamily="18" charset="0"/>
                          </a:rPr>
                          <m:t>j</m:t>
                        </m:r>
                      </m:e>
                    </m:acc>
                    <m:r>
                      <a:rPr lang="vi-VN" sz="2400" b="0">
                        <a:solidFill>
                          <a:srgbClr val="1E293B"/>
                        </a:solidFill>
                        <a:latin typeface="Cambria Math" panose="02040503050406030204" pitchFamily="18" charset="0"/>
                      </a:rPr>
                      <m:t>=(0;1;0)</m:t>
                    </m:r>
                  </m:oMath>
                </a14:m>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k</m:t>
                        </m:r>
                      </m:e>
                    </m:acc>
                    <m:r>
                      <a:rPr lang="vi-VN" sz="2400" b="0">
                        <a:solidFill>
                          <a:srgbClr val="1E293B"/>
                        </a:solidFill>
                        <a:latin typeface="Cambria Math" panose="02040503050406030204" pitchFamily="18" charset="0"/>
                      </a:rPr>
                      <m:t>=(0;0;1)</m:t>
                    </m:r>
                  </m:oMath>
                </a14:m>
                <a:r>
                  <a:rPr sz="2400">
                    <a:solidFill>
                      <a:srgbClr val="1E293B"/>
                    </a:solidFill>
                    <a:latin typeface="Calibri"/>
                  </a:rPr>
                  <a:t>.</a:t>
                </a:r>
              </a:p>
            </p:txBody>
          </p:sp>
        </mc:Choice>
        <mc:Fallback>
          <p:sp>
            <p:nvSpPr>
              <p:cNvPr id="9" name="TextBox 8"/>
              <p:cNvSpPr txBox="1"/>
              <p:nvPr/>
            </p:nvSpPr>
            <p:spPr>
              <a:xfrm>
                <a:off x="713232" y="2084832"/>
                <a:ext cx="1073505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 </a:t>
                </a:r>
                <a:r>
                  <a:rPr lang="vi-VN"/>
                  <a:t>\vec{i}=1\cdot\vec{i}+0\cdot\vec{j}+0\cdot\vec{k}</a:t>
                </a:r>
                <a:r>
                  <a:rPr sz="2400">
                    <a:solidFill>
                      <a:srgbClr val="1E293B"/>
                    </a:solidFill>
                    <a:latin typeface="Calibri"/>
                  </a:rPr>
                  <a:t> nên </a:t>
                </a:r>
                <a:r>
                  <a:rPr lang="vi-VN"/>
                  <a:t>\vec{i}=(1;0;0)</a:t>
                </a:r>
                <a:r>
                  <a:rPr sz="2400">
                    <a:solidFill>
                      <a:srgbClr val="1E293B"/>
                    </a:solidFill>
                    <a:latin typeface="Calibri"/>
                  </a:rPr>
                  <a:t>; tương tự </a:t>
                </a:r>
                <a:r>
                  <a:rPr lang="vi-VN"/>
                  <a:t>\vec{j}=(0;1;0)</a:t>
                </a:r>
                <a:r>
                  <a:rPr sz="2400">
                    <a:solidFill>
                      <a:srgbClr val="1E293B"/>
                    </a:solidFill>
                    <a:latin typeface="Calibri"/>
                  </a:rPr>
                  <a:t>, </a:t>
                </a:r>
                <a:r>
                  <a:rPr lang="vi-VN"/>
                  <a:t>\vec{k}=(0;0;1)</a:t>
                </a:r>
                <a:r>
                  <a:rPr sz="24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TextBox 9"/>
              <p:cNvSpPr txBox="1"/>
              <p:nvPr/>
            </p:nvSpPr>
            <p:spPr>
              <a:xfrm>
                <a:off x="548640" y="2816352"/>
                <a:ext cx="11064240" cy="905255"/>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Luyện tập 4.</a:t>
                </a:r>
                <a:r>
                  <a:rPr sz="2400">
                    <a:solidFill>
                      <a:srgbClr val="1E293B"/>
                    </a:solidFill>
                    <a:latin typeface="Calibri"/>
                  </a:rPr>
                  <a:t> Trong không gian </a:t>
                </a:r>
                <a14:m>
                  <m:oMath xmlns:m="http://schemas.openxmlformats.org/officeDocument/2006/math">
                    <m:r>
                      <a:rPr lang="vi-VN" sz="2400" b="0">
                        <a:solidFill>
                          <a:srgbClr val="1E293B"/>
                        </a:solidFill>
                        <a:latin typeface="Cambria Math" panose="02040503050406030204" pitchFamily="18" charset="0"/>
                      </a:rPr>
                      <m:t>Oxyz</m:t>
                    </m:r>
                  </m:oMath>
                </a14:m>
                <a:r>
                  <a:rPr sz="2400">
                    <a:solidFill>
                      <a:srgbClr val="1E293B"/>
                    </a:solidFill>
                    <a:latin typeface="Calibri"/>
                  </a:rPr>
                  <a:t>, hãy xác định toạ độ của vectơ </a:t>
                </a:r>
                <a14:m>
                  <m:oMath xmlns:m="http://schemas.openxmlformats.org/officeDocument/2006/math">
                    <m:acc>
                      <m:accPr>
                        <m:chr m:val="⃗"/>
                      </m:accPr>
                      <m:e>
                        <m:r>
                          <a:rPr lang="vi-VN" sz="2400" b="0">
                            <a:solidFill>
                              <a:srgbClr val="1E293B"/>
                            </a:solidFill>
                            <a:latin typeface="Cambria Math" panose="02040503050406030204" pitchFamily="18" charset="0"/>
                          </a:rPr>
                          <m:t>i</m:t>
                        </m:r>
                      </m:e>
                    </m:acc>
                    <m:r>
                      <a:rPr lang="vi-VN" sz="2400" b="0">
                        <a:solidFill>
                          <a:srgbClr val="1E293B"/>
                        </a:solidFill>
                        <a:latin typeface="Cambria Math" panose="02040503050406030204" pitchFamily="18" charset="0"/>
                      </a:rPr>
                      <m:t>+2</m:t>
                    </m:r>
                    <m:acc>
                      <m:accPr>
                        <m:chr m:val="⃗"/>
                      </m:accPr>
                      <m:e>
                        <m:r>
                          <a:rPr lang="vi-VN" sz="2400" b="0">
                            <a:solidFill>
                              <a:srgbClr val="1E293B"/>
                            </a:solidFill>
                            <a:latin typeface="Cambria Math" panose="02040503050406030204" pitchFamily="18" charset="0"/>
                          </a:rPr>
                          <m:t>j</m:t>
                        </m:r>
                      </m:e>
                    </m:acc>
                    <m:r>
                      <a:rPr lang="vi-VN" sz="2400" b="0">
                        <a:solidFill>
                          <a:srgbClr val="1E293B"/>
                        </a:solidFill>
                        <a:latin typeface="Cambria Math" panose="02040503050406030204" pitchFamily="18" charset="0"/>
                      </a:rPr>
                      <m:t>+5</m:t>
                    </m:r>
                    <m:acc>
                      <m:accPr>
                        <m:chr m:val="⃗"/>
                      </m:accPr>
                      <m:e>
                        <m:r>
                          <a:rPr lang="vi-VN" sz="2400" b="0">
                            <a:solidFill>
                              <a:srgbClr val="1E293B"/>
                            </a:solidFill>
                            <a:latin typeface="Cambria Math" panose="02040503050406030204" pitchFamily="18" charset="0"/>
                          </a:rPr>
                          <m:t>k</m:t>
                        </m:r>
                      </m:e>
                    </m:acc>
                  </m:oMath>
                </a14:m>
                <a:r>
                  <a:rPr sz="2400">
                    <a:solidFill>
                      <a:srgbClr val="1E293B"/>
                    </a:solidFill>
                    <a:latin typeface="Calibri"/>
                  </a:rPr>
                  <a:t>.</a:t>
                </a:r>
              </a:p>
            </p:txBody>
          </p:sp>
        </mc:Choice>
        <mc:Fallback>
          <p:sp>
            <p:nvSpPr>
              <p:cNvPr id="10" name="TextBox 9"/>
              <p:cNvSpPr txBox="1"/>
              <p:nvPr/>
            </p:nvSpPr>
            <p:spPr>
              <a:xfrm>
                <a:off x="548640" y="2816352"/>
                <a:ext cx="11064240" cy="905255"/>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Luyện tập 4.</a:t>
                </a:r>
                <a:r>
                  <a:rPr sz="2400">
                    <a:solidFill>
                      <a:srgbClr val="1E293B"/>
                    </a:solidFill>
                    <a:latin typeface="Calibri"/>
                  </a:rPr>
                  <a:t> Trong không gian </a:t>
                </a:r>
                <a:r>
                  <a:rPr lang="vi-VN"/>
                  <a:t>Oxyz</a:t>
                </a:r>
                <a:r>
                  <a:rPr sz="2400">
                    <a:solidFill>
                      <a:srgbClr val="1E293B"/>
                    </a:solidFill>
                    <a:latin typeface="Calibri"/>
                  </a:rPr>
                  <a:t>, hãy xác định toạ độ của vectơ </a:t>
                </a:r>
                <a:r>
                  <a:rPr lang="vi-VN"/>
                  <a:t>\vec{i}+2\vec{j}+5\vec{k}</a:t>
                </a:r>
                <a:r>
                  <a:rPr sz="2400">
                    <a:solidFill>
                      <a:srgbClr val="1E293B"/>
                    </a:solidFill>
                    <a:latin typeface="Calibri"/>
                  </a:rPr>
                  <a:t>.</a:t>
                </a:r>
              </a:p>
            </p:txBody>
          </p:sp>
        </mc:Fallback>
      </mc:AlternateContent>
      <p:sp>
        <p:nvSpPr>
          <p:cNvPr id="11" name="s2_nen"/>
          <p:cNvSpPr/>
          <p:nvPr/>
        </p:nvSpPr>
        <p:spPr>
          <a:xfrm>
            <a:off x="548640" y="3858768"/>
            <a:ext cx="1106424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2_chu"/>
              <p:cNvSpPr txBox="1"/>
              <p:nvPr/>
            </p:nvSpPr>
            <p:spPr>
              <a:xfrm>
                <a:off x="713232" y="3895344"/>
                <a:ext cx="1073505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 </a:t>
                </a:r>
                <a14:m>
                  <m:oMath xmlns:m="http://schemas.openxmlformats.org/officeDocument/2006/math">
                    <m:d>
                      <m:dPr>
                        <m:sepChr m:val=""/>
                      </m:dPr>
                      <m:e>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2</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5</m:t>
                        </m:r>
                      </m:e>
                    </m:d>
                  </m:oMath>
                </a14:m>
                <a:r>
                  <a:rPr sz="2400">
                    <a:solidFill>
                      <a:srgbClr val="1E293B"/>
                    </a:solidFill>
                    <a:latin typeface="Calibri"/>
                  </a:rPr>
                  <a:t>.</a:t>
                </a:r>
              </a:p>
            </p:txBody>
          </p:sp>
        </mc:Choice>
        <mc:Fallback>
          <p:sp>
            <p:nvSpPr>
              <p:cNvPr id="12" name="TextBox 11"/>
              <p:cNvSpPr txBox="1"/>
              <p:nvPr/>
            </p:nvSpPr>
            <p:spPr>
              <a:xfrm>
                <a:off x="713232" y="3895344"/>
                <a:ext cx="1073505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 </a:t>
                </a:r>
                <a:r>
                  <a:rPr lang="vi-VN"/>
                  <a:t>(1;\ 2;\ 5)</a:t>
                </a:r>
                <a:r>
                  <a:rPr sz="24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TOẠ ĐỘ VECTƠ THEO TOẠ ĐỘ HAI ĐẦU MÚT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Hệ trục toạ độ trong không gian – Toán 12          19</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1179576"/>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HĐ4.</a:t>
                </a:r>
                <a:r>
                  <a:rPr sz="2200">
                    <a:solidFill>
                      <a:srgbClr val="1E293B"/>
                    </a:solidFill>
                    <a:latin typeface="Calibri"/>
                  </a:rPr>
                  <a:t> Trong không gian </a:t>
                </a:r>
                <a14:m>
                  <m:oMath xmlns:m="http://schemas.openxmlformats.org/officeDocument/2006/math">
                    <m:r>
                      <a:rPr lang="vi-VN" sz="2200" b="0">
                        <a:solidFill>
                          <a:srgbClr val="1E293B"/>
                        </a:solidFill>
                        <a:latin typeface="Cambria Math" panose="02040503050406030204" pitchFamily="18" charset="0"/>
                      </a:rPr>
                      <m:t>Oxyz</m:t>
                    </m:r>
                  </m:oMath>
                </a14:m>
                <a:r>
                  <a:rPr sz="2200">
                    <a:solidFill>
                      <a:srgbClr val="1E293B"/>
                    </a:solidFill>
                    <a:latin typeface="Calibri"/>
                  </a:rPr>
                  <a:t>, cho hai điểm </a:t>
                </a:r>
                <a14:m>
                  <m:oMath xmlns:m="http://schemas.openxmlformats.org/officeDocument/2006/math">
                    <m:r>
                      <a:rPr lang="vi-VN" sz="2200" b="0">
                        <a:solidFill>
                          <a:srgbClr val="1E293B"/>
                        </a:solidFill>
                        <a:latin typeface="Cambria Math" panose="02040503050406030204" pitchFamily="18" charset="0"/>
                      </a:rPr>
                      <m:t>M(x;</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y;</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z)</m:t>
                    </m:r>
                  </m:oMath>
                </a14:m>
                <a:r>
                  <a:rPr sz="2200">
                    <a:solidFill>
                      <a:srgbClr val="1E293B"/>
                    </a:solidFill>
                    <a:latin typeface="Calibri"/>
                  </a:rPr>
                  <a:t> và </a:t>
                </a:r>
                <a14:m>
                  <m:oMath xmlns:m="http://schemas.openxmlformats.org/officeDocument/2006/math">
                    <m:r>
                      <a:rPr lang="vi-VN" sz="2200" b="0">
                        <a:solidFill>
                          <a:srgbClr val="1E293B"/>
                        </a:solidFill>
                        <a:latin typeface="Cambria Math" panose="02040503050406030204" pitchFamily="18" charset="0"/>
                      </a:rPr>
                      <m:t>N(</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sSup>
                      <m:e>
                        <m:r>
                          <a:rPr lang="vi-VN" sz="2200" b="0">
                            <a:solidFill>
                              <a:srgbClr val="1E293B"/>
                            </a:solidFill>
                            <a:latin typeface="Cambria Math" panose="02040503050406030204" pitchFamily="18" charset="0"/>
                          </a:rPr>
                          <m:t>z</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oMath>
                </a14:m>
                <a:r>
                  <a:rPr sz="2200">
                    <a:solidFill>
                      <a:srgbClr val="1E293B"/>
                    </a:solidFill>
                    <a:latin typeface="Calibri"/>
                  </a:rPr>
                  <a:t>. a) Hãy biểu diễn hai vectơ </a:t>
                </a:r>
                <a14:m>
                  <m:oMath xmlns:m="http://schemas.openxmlformats.org/officeDocument/2006/math">
                    <m:acc>
                      <m:accPr>
                        <m:chr m:val="⃗"/>
                      </m:accPr>
                      <m:e>
                        <m:r>
                          <a:rPr lang="vi-VN" sz="2200" b="0">
                            <a:solidFill>
                              <a:srgbClr val="1E293B"/>
                            </a:solidFill>
                            <a:latin typeface="Cambria Math" panose="02040503050406030204" pitchFamily="18" charset="0"/>
                          </a:rPr>
                          <m:t>OM</m:t>
                        </m:r>
                      </m:e>
                    </m:acc>
                  </m:oMath>
                </a14:m>
                <a:r>
                  <a:rPr sz="2200">
                    <a:solidFill>
                      <a:srgbClr val="1E293B"/>
                    </a:solidFill>
                    <a:latin typeface="Calibri"/>
                  </a:rPr>
                  <a:t> và </a:t>
                </a:r>
                <a14:m>
                  <m:oMath xmlns:m="http://schemas.openxmlformats.org/officeDocument/2006/math">
                    <m:acc>
                      <m:accPr>
                        <m:chr m:val="⃗"/>
                      </m:accPr>
                      <m:e>
                        <m:r>
                          <a:rPr lang="vi-VN" sz="2200" b="0">
                            <a:solidFill>
                              <a:srgbClr val="1E293B"/>
                            </a:solidFill>
                            <a:latin typeface="Cambria Math" panose="02040503050406030204" pitchFamily="18" charset="0"/>
                          </a:rPr>
                          <m:t>ON</m:t>
                        </m:r>
                      </m:e>
                    </m:acc>
                  </m:oMath>
                </a14:m>
                <a:r>
                  <a:rPr sz="2200">
                    <a:solidFill>
                      <a:srgbClr val="1E293B"/>
                    </a:solidFill>
                    <a:latin typeface="Calibri"/>
                  </a:rPr>
                  <a:t> qua các vectơ </a:t>
                </a:r>
                <a14:m>
                  <m:oMath xmlns:m="http://schemas.openxmlformats.org/officeDocument/2006/math">
                    <m:acc>
                      <m:accPr>
                        <m:chr m:val="⃗"/>
                      </m:accPr>
                      <m:e>
                        <m:r>
                          <a:rPr lang="vi-VN" sz="2200" b="0">
                            <a:solidFill>
                              <a:srgbClr val="1E293B"/>
                            </a:solidFill>
                            <a:latin typeface="Cambria Math" panose="02040503050406030204" pitchFamily="18" charset="0"/>
                          </a:rPr>
                          <m:t>i</m:t>
                        </m:r>
                      </m:e>
                    </m:acc>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acc>
                      <m:accPr>
                        <m:chr m:val="⃗"/>
                      </m:accPr>
                      <m:e>
                        <m:r>
                          <a:rPr lang="vi-VN" sz="2200" b="0">
                            <a:solidFill>
                              <a:srgbClr val="1E293B"/>
                            </a:solidFill>
                            <a:latin typeface="Cambria Math" panose="02040503050406030204" pitchFamily="18" charset="0"/>
                          </a:rPr>
                          <m:t>j</m:t>
                        </m:r>
                      </m:e>
                    </m:acc>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acc>
                      <m:accPr>
                        <m:chr m:val="⃗"/>
                      </m:accPr>
                      <m:e>
                        <m:r>
                          <a:rPr lang="vi-VN" sz="2200" b="0">
                            <a:solidFill>
                              <a:srgbClr val="1E293B"/>
                            </a:solidFill>
                            <a:latin typeface="Cambria Math" panose="02040503050406030204" pitchFamily="18" charset="0"/>
                          </a:rPr>
                          <m:t>k</m:t>
                        </m:r>
                      </m:e>
                    </m:acc>
                  </m:oMath>
                </a14:m>
                <a:r>
                  <a:rPr sz="2200">
                    <a:solidFill>
                      <a:srgbClr val="1E293B"/>
                    </a:solidFill>
                    <a:latin typeface="Calibri"/>
                  </a:rPr>
                  <a:t>. b) Xác định toạ độ của vectơ </a:t>
                </a:r>
                <a14:m>
                  <m:oMath xmlns:m="http://schemas.openxmlformats.org/officeDocument/2006/math">
                    <m:acc>
                      <m:accPr>
                        <m:chr m:val="⃗"/>
                      </m:accPr>
                      <m:e>
                        <m:r>
                          <a:rPr lang="vi-VN" sz="2200" b="0">
                            <a:solidFill>
                              <a:srgbClr val="1E293B"/>
                            </a:solidFill>
                            <a:latin typeface="Cambria Math" panose="02040503050406030204" pitchFamily="18" charset="0"/>
                          </a:rPr>
                          <m:t>MN</m:t>
                        </m:r>
                      </m:e>
                    </m:acc>
                  </m:oMath>
                </a14:m>
                <a:r>
                  <a:rPr sz="2200">
                    <a:solidFill>
                      <a:srgbClr val="1E293B"/>
                    </a:solidFill>
                    <a:latin typeface="Calibri"/>
                  </a:rPr>
                  <a:t>.</a:t>
                </a:r>
              </a:p>
            </p:txBody>
          </p:sp>
        </mc:Choice>
        <mc:Fallback>
          <p:sp>
            <p:nvSpPr>
              <p:cNvPr id="7" name="TextBox 6"/>
              <p:cNvSpPr txBox="1"/>
              <p:nvPr/>
            </p:nvSpPr>
            <p:spPr>
              <a:xfrm>
                <a:off x="548640" y="1371600"/>
                <a:ext cx="11064240" cy="1179576"/>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HĐ4.</a:t>
                </a:r>
                <a:r>
                  <a:rPr sz="2200">
                    <a:solidFill>
                      <a:srgbClr val="1E293B"/>
                    </a:solidFill>
                    <a:latin typeface="Calibri"/>
                  </a:rPr>
                  <a:t> Trong không gian </a:t>
                </a:r>
                <a:r>
                  <a:rPr lang="vi-VN"/>
                  <a:t>Oxyz</a:t>
                </a:r>
                <a:r>
                  <a:rPr sz="2200">
                    <a:solidFill>
                      <a:srgbClr val="1E293B"/>
                    </a:solidFill>
                    <a:latin typeface="Calibri"/>
                  </a:rPr>
                  <a:t>, cho hai điểm </a:t>
                </a:r>
                <a:r>
                  <a:rPr lang="vi-VN"/>
                  <a:t>M(x;\ y;\ z)</a:t>
                </a:r>
                <a:r>
                  <a:rPr sz="2200">
                    <a:solidFill>
                      <a:srgbClr val="1E293B"/>
                    </a:solidFill>
                    <a:latin typeface="Calibri"/>
                  </a:rPr>
                  <a:t> và </a:t>
                </a:r>
                <a:r>
                  <a:rPr lang="vi-VN"/>
                  <a:t>N(x';\ y';\ z')</a:t>
                </a:r>
                <a:r>
                  <a:rPr sz="2200">
                    <a:solidFill>
                      <a:srgbClr val="1E293B"/>
                    </a:solidFill>
                    <a:latin typeface="Calibri"/>
                  </a:rPr>
                  <a:t>. a) Hãy biểu diễn hai vectơ </a:t>
                </a:r>
                <a:r>
                  <a:rPr lang="vi-VN"/>
                  <a:t>\overrightarrow{OM}</a:t>
                </a:r>
                <a:r>
                  <a:rPr sz="2200">
                    <a:solidFill>
                      <a:srgbClr val="1E293B"/>
                    </a:solidFill>
                    <a:latin typeface="Calibri"/>
                  </a:rPr>
                  <a:t> và </a:t>
                </a:r>
                <a:r>
                  <a:rPr lang="vi-VN"/>
                  <a:t>\overrightarrow{ON}</a:t>
                </a:r>
                <a:r>
                  <a:rPr sz="2200">
                    <a:solidFill>
                      <a:srgbClr val="1E293B"/>
                    </a:solidFill>
                    <a:latin typeface="Calibri"/>
                  </a:rPr>
                  <a:t> qua các vectơ </a:t>
                </a:r>
                <a:r>
                  <a:rPr lang="vi-VN"/>
                  <a:t>\vec{i},\ \vec{j},\ \vec{k}</a:t>
                </a:r>
                <a:r>
                  <a:rPr sz="2200">
                    <a:solidFill>
                      <a:srgbClr val="1E293B"/>
                    </a:solidFill>
                    <a:latin typeface="Calibri"/>
                  </a:rPr>
                  <a:t>. b) Xác định toạ độ của vectơ </a:t>
                </a:r>
                <a:r>
                  <a:rPr lang="vi-VN"/>
                  <a:t>\overrightarrow{MN}</a:t>
                </a:r>
                <a:r>
                  <a:rPr sz="2200">
                    <a:solidFill>
                      <a:srgbClr val="1E293B"/>
                    </a:solidFill>
                    <a:latin typeface="Calibri"/>
                  </a:rPr>
                  <a:t>.</a:t>
                </a:r>
              </a:p>
            </p:txBody>
          </p:sp>
        </mc:Fallback>
      </mc:AlternateContent>
      <p:sp>
        <p:nvSpPr>
          <p:cNvPr id="8" name="s1_nen"/>
          <p:cNvSpPr/>
          <p:nvPr/>
        </p:nvSpPr>
        <p:spPr>
          <a:xfrm>
            <a:off x="548640" y="2688336"/>
            <a:ext cx="11064240" cy="935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724912"/>
                <a:ext cx="1073505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a) </a:t>
                </a:r>
                <a14:m>
                  <m:oMath xmlns:m="http://schemas.openxmlformats.org/officeDocument/2006/math">
                    <m:acc>
                      <m:accPr>
                        <m:chr m:val="⃗"/>
                      </m:accPr>
                      <m:e>
                        <m:r>
                          <a:rPr lang="vi-VN" sz="2200" b="0">
                            <a:solidFill>
                              <a:srgbClr val="1E293B"/>
                            </a:solidFill>
                            <a:latin typeface="Cambria Math" panose="02040503050406030204" pitchFamily="18" charset="0"/>
                          </a:rPr>
                          <m:t>OM</m:t>
                        </m:r>
                      </m:e>
                    </m:acc>
                  </m:oMath>
                </a14:m>
                <a:r>
                  <a:rPr sz="2200">
                    <a:solidFill>
                      <a:srgbClr val="1E293B"/>
                    </a:solidFill>
                    <a:latin typeface="Calibri"/>
                  </a:rPr>
                  <a:t> = </a:t>
                </a:r>
                <a14:m>
                  <m:oMath xmlns:m="http://schemas.openxmlformats.org/officeDocument/2006/math">
                    <m:r>
                      <a:rPr lang="vi-VN" sz="2200" b="0">
                        <a:solidFill>
                          <a:srgbClr val="1E293B"/>
                        </a:solidFill>
                        <a:latin typeface="Cambria Math" panose="02040503050406030204" pitchFamily="18" charset="0"/>
                      </a:rPr>
                      <m:t>x</m:t>
                    </m:r>
                    <m:acc>
                      <m:accPr>
                        <m:chr m:val="⃗"/>
                      </m:accPr>
                      <m:e>
                        <m:r>
                          <a:rPr lang="vi-VN" sz="2200" b="0">
                            <a:solidFill>
                              <a:srgbClr val="1E293B"/>
                            </a:solidFill>
                            <a:latin typeface="Cambria Math" panose="02040503050406030204" pitchFamily="18" charset="0"/>
                          </a:rPr>
                          <m:t>i</m:t>
                        </m:r>
                      </m:e>
                    </m:acc>
                    <m:r>
                      <a:rPr lang="vi-VN" sz="2200" b="0">
                        <a:solidFill>
                          <a:srgbClr val="1E293B"/>
                        </a:solidFill>
                        <a:latin typeface="Cambria Math" panose="02040503050406030204" pitchFamily="18" charset="0"/>
                      </a:rPr>
                      <m:t>+y</m:t>
                    </m:r>
                    <m:acc>
                      <m:accPr>
                        <m:chr m:val="⃗"/>
                      </m:accPr>
                      <m:e>
                        <m:r>
                          <a:rPr lang="vi-VN" sz="2200" b="0">
                            <a:solidFill>
                              <a:srgbClr val="1E293B"/>
                            </a:solidFill>
                            <a:latin typeface="Cambria Math" panose="02040503050406030204" pitchFamily="18" charset="0"/>
                          </a:rPr>
                          <m:t>j</m:t>
                        </m:r>
                      </m:e>
                    </m:acc>
                    <m:r>
                      <a:rPr lang="vi-VN" sz="2200" b="0">
                        <a:solidFill>
                          <a:srgbClr val="1E293B"/>
                        </a:solidFill>
                        <a:latin typeface="Cambria Math" panose="02040503050406030204" pitchFamily="18" charset="0"/>
                      </a:rPr>
                      <m:t>+z</m:t>
                    </m:r>
                    <m:acc>
                      <m:accPr>
                        <m:chr m:val="⃗"/>
                      </m:accPr>
                      <m:e>
                        <m:r>
                          <a:rPr lang="vi-VN" sz="2200" b="0">
                            <a:solidFill>
                              <a:srgbClr val="1E293B"/>
                            </a:solidFill>
                            <a:latin typeface="Cambria Math" panose="02040503050406030204" pitchFamily="18" charset="0"/>
                          </a:rPr>
                          <m:t>k</m:t>
                        </m:r>
                      </m:e>
                    </m:acc>
                  </m:oMath>
                </a14:m>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ON</m:t>
                        </m:r>
                      </m:e>
                    </m:acc>
                  </m:oMath>
                </a14:m>
                <a:r>
                  <a:rPr sz="2200">
                    <a:solidFill>
                      <a:srgbClr val="1E293B"/>
                    </a:solidFill>
                    <a:latin typeface="Calibri"/>
                  </a:rPr>
                  <a:t> = </a:t>
                </a:r>
                <a14:m>
                  <m:oMath xmlns:m="http://schemas.openxmlformats.org/officeDocument/2006/math">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m:t>
                        </m:r>
                      </m:sup>
                    </m:sSup>
                    <m:acc>
                      <m:accPr>
                        <m:chr m:val="⃗"/>
                      </m:accPr>
                      <m:e>
                        <m:r>
                          <a:rPr lang="vi-VN" sz="2200" b="0">
                            <a:solidFill>
                              <a:srgbClr val="1E293B"/>
                            </a:solidFill>
                            <a:latin typeface="Cambria Math" panose="02040503050406030204" pitchFamily="18" charset="0"/>
                          </a:rPr>
                          <m:t>i</m:t>
                        </m:r>
                      </m:e>
                    </m:acc>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m:t>
                        </m:r>
                      </m:sup>
                    </m:sSup>
                    <m:acc>
                      <m:accPr>
                        <m:chr m:val="⃗"/>
                      </m:accPr>
                      <m:e>
                        <m:r>
                          <a:rPr lang="vi-VN" sz="2200" b="0">
                            <a:solidFill>
                              <a:srgbClr val="1E293B"/>
                            </a:solidFill>
                            <a:latin typeface="Cambria Math" panose="02040503050406030204" pitchFamily="18" charset="0"/>
                          </a:rPr>
                          <m:t>j</m:t>
                        </m:r>
                      </m:e>
                    </m:acc>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z</m:t>
                        </m:r>
                      </m:e>
                      <m:sup>
                        <m:r>
                          <a:rPr lang="vi-VN" sz="2200" b="0">
                            <a:solidFill>
                              <a:srgbClr val="1E293B"/>
                            </a:solidFill>
                            <a:latin typeface="Cambria Math" panose="02040503050406030204" pitchFamily="18" charset="0"/>
                          </a:rPr>
                          <m:t>′</m:t>
                        </m:r>
                      </m:sup>
                    </m:sSup>
                    <m:acc>
                      <m:accPr>
                        <m:chr m:val="⃗"/>
                      </m:accPr>
                      <m:e>
                        <m:r>
                          <a:rPr lang="vi-VN" sz="2200" b="0">
                            <a:solidFill>
                              <a:srgbClr val="1E293B"/>
                            </a:solidFill>
                            <a:latin typeface="Cambria Math" panose="02040503050406030204" pitchFamily="18" charset="0"/>
                          </a:rPr>
                          <m:t>k</m:t>
                        </m:r>
                      </m:e>
                    </m:acc>
                  </m:oMath>
                </a14:m>
                <a:r>
                  <a:rPr sz="2200">
                    <a:solidFill>
                      <a:srgbClr val="1E293B"/>
                    </a:solidFill>
                    <a:latin typeface="Calibri"/>
                  </a:rPr>
                  <a:t>. b) </a:t>
                </a:r>
                <a14:m>
                  <m:oMath xmlns:m="http://schemas.openxmlformats.org/officeDocument/2006/math">
                    <m:acc>
                      <m:accPr>
                        <m:chr m:val="⃗"/>
                      </m:accPr>
                      <m:e>
                        <m:r>
                          <a:rPr lang="vi-VN" sz="2200" b="0">
                            <a:solidFill>
                              <a:srgbClr val="1E293B"/>
                            </a:solidFill>
                            <a:latin typeface="Cambria Math" panose="02040503050406030204" pitchFamily="18" charset="0"/>
                          </a:rPr>
                          <m:t>MN</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ON</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OM</m:t>
                        </m:r>
                      </m:e>
                    </m:acc>
                  </m:oMath>
                </a14:m>
                <a:r>
                  <a:rPr sz="2200">
                    <a:solidFill>
                      <a:srgbClr val="1E293B"/>
                    </a:solidFill>
                    <a:latin typeface="Calibri"/>
                  </a:rPr>
                  <a:t> = </a:t>
                </a:r>
                <a14:m>
                  <m:oMath xmlns:m="http://schemas.openxmlformats.org/officeDocument/2006/math">
                    <m:d>
                      <m:dPr>
                        <m:sepChr m:val=""/>
                      </m:dPr>
                      <m:e>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x</m:t>
                        </m:r>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y</m:t>
                        </m:r>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sSup>
                          <m:e>
                            <m:r>
                              <a:rPr lang="vi-VN" sz="2200" b="0">
                                <a:solidFill>
                                  <a:srgbClr val="1E293B"/>
                                </a:solidFill>
                                <a:latin typeface="Cambria Math" panose="02040503050406030204" pitchFamily="18" charset="0"/>
                              </a:rPr>
                              <m:t>z</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z</m:t>
                        </m:r>
                      </m:e>
                    </m:d>
                  </m:oMath>
                </a14:m>
                <a:r>
                  <a:rPr sz="2200">
                    <a:solidFill>
                      <a:srgbClr val="1E293B"/>
                    </a:solidFill>
                    <a:latin typeface="Calibri"/>
                  </a:rPr>
                  <a:t>.</a:t>
                </a:r>
              </a:p>
            </p:txBody>
          </p:sp>
        </mc:Choice>
        <mc:Fallback>
          <p:sp>
            <p:nvSpPr>
              <p:cNvPr id="9" name="TextBox 8"/>
              <p:cNvSpPr txBox="1"/>
              <p:nvPr/>
            </p:nvSpPr>
            <p:spPr>
              <a:xfrm>
                <a:off x="713232" y="2724912"/>
                <a:ext cx="1073505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a) </a:t>
                </a:r>
                <a:r>
                  <a:rPr lang="vi-VN"/>
                  <a:t>\overrightarrow{OM}</a:t>
                </a:r>
                <a:r>
                  <a:rPr sz="2200">
                    <a:solidFill>
                      <a:srgbClr val="1E293B"/>
                    </a:solidFill>
                    <a:latin typeface="Calibri"/>
                  </a:rPr>
                  <a:t> = </a:t>
                </a:r>
                <a:r>
                  <a:rPr lang="vi-VN"/>
                  <a:t>x\vec{i}+y\vec{j}+z\vec{k}</a:t>
                </a:r>
                <a:r>
                  <a:rPr sz="2200">
                    <a:solidFill>
                      <a:srgbClr val="1E293B"/>
                    </a:solidFill>
                    <a:latin typeface="Calibri"/>
                  </a:rPr>
                  <a:t>, </a:t>
                </a:r>
                <a:r>
                  <a:rPr lang="vi-VN"/>
                  <a:t>\overrightarrow{ON}</a:t>
                </a:r>
                <a:r>
                  <a:rPr sz="2200">
                    <a:solidFill>
                      <a:srgbClr val="1E293B"/>
                    </a:solidFill>
                    <a:latin typeface="Calibri"/>
                  </a:rPr>
                  <a:t> = </a:t>
                </a:r>
                <a:r>
                  <a:rPr lang="vi-VN"/>
                  <a:t>x'\vec{i}+y'\vec{j}+z'\vec{k}</a:t>
                </a:r>
                <a:r>
                  <a:rPr sz="2200">
                    <a:solidFill>
                      <a:srgbClr val="1E293B"/>
                    </a:solidFill>
                    <a:latin typeface="Calibri"/>
                  </a:rPr>
                  <a:t>. b) </a:t>
                </a:r>
                <a:r>
                  <a:rPr lang="vi-VN"/>
                  <a:t>\overrightarrow{MN}</a:t>
                </a:r>
                <a:r>
                  <a:rPr sz="2200">
                    <a:solidFill>
                      <a:srgbClr val="1E293B"/>
                    </a:solidFill>
                    <a:latin typeface="Calibri"/>
                  </a:rPr>
                  <a:t> = </a:t>
                </a:r>
                <a:r>
                  <a:rPr lang="vi-VN"/>
                  <a:t>\overrightarrow{ON}</a:t>
                </a:r>
                <a:r>
                  <a:rPr sz="2200">
                    <a:solidFill>
                      <a:srgbClr val="1E293B"/>
                    </a:solidFill>
                    <a:latin typeface="Calibri"/>
                  </a:rPr>
                  <a:t> − </a:t>
                </a:r>
                <a:r>
                  <a:rPr lang="vi-VN"/>
                  <a:t>\overrightarrow{OM}</a:t>
                </a:r>
                <a:r>
                  <a:rPr sz="2200">
                    <a:solidFill>
                      <a:srgbClr val="1E293B"/>
                    </a:solidFill>
                    <a:latin typeface="Calibri"/>
                  </a:rPr>
                  <a:t> = </a:t>
                </a:r>
                <a:r>
                  <a:rPr lang="vi-VN"/>
                  <a:t>(x'-x;\ y'-y;\ z'-z)</a:t>
                </a:r>
                <a:r>
                  <a:rPr sz="2200">
                    <a:solidFill>
                      <a:srgbClr val="1E293B"/>
                    </a:solidFill>
                    <a:latin typeface="Calibri"/>
                  </a:rPr>
                  <a:t>.</a:t>
                </a:r>
              </a:p>
            </p:txBody>
          </p:sp>
        </mc:Fallback>
      </mc:AlternateContent>
      <p:sp>
        <p:nvSpPr>
          <p:cNvPr id="10" name="Rounded Rectangle 9"/>
          <p:cNvSpPr/>
          <p:nvPr/>
        </p:nvSpPr>
        <p:spPr>
          <a:xfrm>
            <a:off x="548640" y="3761232"/>
            <a:ext cx="11064240" cy="935735"/>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713232" y="3797808"/>
                <a:ext cx="10735056" cy="862583"/>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Trong không gian </a:t>
                </a:r>
                <a14:m>
                  <m:oMath xmlns:m="http://schemas.openxmlformats.org/officeDocument/2006/math">
                    <m:r>
                      <a:rPr lang="vi-VN" sz="2400" b="0">
                        <a:solidFill>
                          <a:srgbClr val="1E293B"/>
                        </a:solidFill>
                        <a:latin typeface="Cambria Math" panose="02040503050406030204" pitchFamily="18" charset="0"/>
                      </a:rPr>
                      <m:t>Oxyz</m:t>
                    </m:r>
                  </m:oMath>
                </a14:m>
                <a:r>
                  <a:rPr sz="2400">
                    <a:solidFill>
                      <a:srgbClr val="1E293B"/>
                    </a:solidFill>
                    <a:latin typeface="Calibri"/>
                  </a:rPr>
                  <a:t>, cho hai điểm </a:t>
                </a:r>
                <a14:m>
                  <m:oMath xmlns:m="http://schemas.openxmlformats.org/officeDocument/2006/math">
                    <m:r>
                      <a:rPr lang="vi-VN" sz="2400" b="0">
                        <a:solidFill>
                          <a:srgbClr val="1E293B"/>
                        </a:solidFill>
                        <a:latin typeface="Cambria Math" panose="02040503050406030204" pitchFamily="18" charset="0"/>
                      </a:rPr>
                      <m:t>M(</m:t>
                    </m:r>
                    <m:sSub>
                      <m:e>
                        <m:r>
                          <a:rPr lang="vi-VN" sz="2400" b="0">
                            <a:solidFill>
                              <a:srgbClr val="1E293B"/>
                            </a:solidFill>
                            <a:latin typeface="Cambria Math" panose="02040503050406030204" pitchFamily="18" charset="0"/>
                          </a:rPr>
                          <m:t>x</m:t>
                        </m:r>
                      </m:e>
                      <m:sub>
                        <m:r>
                          <a:rPr lang="vi-VN" sz="2400" b="0">
                            <a:solidFill>
                              <a:srgbClr val="1E293B"/>
                            </a:solidFill>
                            <a:latin typeface="Cambria Math" panose="02040503050406030204" pitchFamily="18" charset="0"/>
                          </a:rPr>
                          <m:t>M</m:t>
                        </m:r>
                      </m:sub>
                    </m:sSub>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sSub>
                      <m:e>
                        <m:r>
                          <a:rPr lang="vi-VN" sz="2400" b="0">
                            <a:solidFill>
                              <a:srgbClr val="1E293B"/>
                            </a:solidFill>
                            <a:latin typeface="Cambria Math" panose="02040503050406030204" pitchFamily="18" charset="0"/>
                          </a:rPr>
                          <m:t>y</m:t>
                        </m:r>
                      </m:e>
                      <m:sub>
                        <m:r>
                          <a:rPr lang="vi-VN" sz="2400" b="0">
                            <a:solidFill>
                              <a:srgbClr val="1E293B"/>
                            </a:solidFill>
                            <a:latin typeface="Cambria Math" panose="02040503050406030204" pitchFamily="18" charset="0"/>
                          </a:rPr>
                          <m:t>M</m:t>
                        </m:r>
                      </m:sub>
                    </m:sSub>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sSub>
                      <m:e>
                        <m:r>
                          <a:rPr lang="vi-VN" sz="2400" b="0">
                            <a:solidFill>
                              <a:srgbClr val="1E293B"/>
                            </a:solidFill>
                            <a:latin typeface="Cambria Math" panose="02040503050406030204" pitchFamily="18" charset="0"/>
                          </a:rPr>
                          <m:t>z</m:t>
                        </m:r>
                      </m:e>
                      <m:sub>
                        <m:r>
                          <a:rPr lang="vi-VN" sz="2400" b="0">
                            <a:solidFill>
                              <a:srgbClr val="1E293B"/>
                            </a:solidFill>
                            <a:latin typeface="Cambria Math" panose="02040503050406030204" pitchFamily="18" charset="0"/>
                          </a:rPr>
                          <m:t>M</m:t>
                        </m:r>
                      </m:sub>
                    </m:sSub>
                    <m:r>
                      <a:rPr lang="vi-VN" sz="2400" b="0">
                        <a:solidFill>
                          <a:srgbClr val="1E293B"/>
                        </a:solidFill>
                        <a:latin typeface="Cambria Math" panose="02040503050406030204" pitchFamily="18" charset="0"/>
                      </a:rPr>
                      <m:t>)</m:t>
                    </m:r>
                  </m:oMath>
                </a14:m>
                <a:r>
                  <a:rPr sz="2400">
                    <a:solidFill>
                      <a:srgbClr val="1E293B"/>
                    </a:solidFill>
                    <a:latin typeface="Calibri"/>
                  </a:rPr>
                  <a:t> và </a:t>
                </a:r>
                <a14:m>
                  <m:oMath xmlns:m="http://schemas.openxmlformats.org/officeDocument/2006/math">
                    <m:r>
                      <a:rPr lang="vi-VN" sz="2400" b="0">
                        <a:solidFill>
                          <a:srgbClr val="1E293B"/>
                        </a:solidFill>
                        <a:latin typeface="Cambria Math" panose="02040503050406030204" pitchFamily="18" charset="0"/>
                      </a:rPr>
                      <m:t>N(</m:t>
                    </m:r>
                    <m:sSub>
                      <m:e>
                        <m:r>
                          <a:rPr lang="vi-VN" sz="2400" b="0">
                            <a:solidFill>
                              <a:srgbClr val="1E293B"/>
                            </a:solidFill>
                            <a:latin typeface="Cambria Math" panose="02040503050406030204" pitchFamily="18" charset="0"/>
                          </a:rPr>
                          <m:t>x</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sSub>
                      <m:e>
                        <m:r>
                          <a:rPr lang="vi-VN" sz="2400" b="0">
                            <a:solidFill>
                              <a:srgbClr val="1E293B"/>
                            </a:solidFill>
                            <a:latin typeface="Cambria Math" panose="02040503050406030204" pitchFamily="18" charset="0"/>
                          </a:rPr>
                          <m:t>y</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sSub>
                      <m:e>
                        <m:r>
                          <a:rPr lang="vi-VN" sz="2400" b="0">
                            <a:solidFill>
                              <a:srgbClr val="1E293B"/>
                            </a:solidFill>
                            <a:latin typeface="Cambria Math" panose="02040503050406030204" pitchFamily="18" charset="0"/>
                          </a:rPr>
                          <m:t>z</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oMath>
                </a14:m>
                <a:r>
                  <a:rPr sz="2400">
                    <a:solidFill>
                      <a:srgbClr val="1E293B"/>
                    </a:solidFill>
                    <a:latin typeface="Calibri"/>
                  </a:rPr>
                  <a:t>. Khi đó: </a:t>
                </a:r>
                <a14:m>
                  <m:oMath xmlns:m="http://schemas.openxmlformats.org/officeDocument/2006/math">
                    <m:acc>
                      <m:accPr>
                        <m:chr m:val="⃗"/>
                      </m:accPr>
                      <m:e>
                        <m:r>
                          <a:rPr lang="vi-VN" sz="2400" b="0">
                            <a:solidFill>
                              <a:srgbClr val="1E293B"/>
                            </a:solidFill>
                            <a:latin typeface="Cambria Math" panose="02040503050406030204" pitchFamily="18" charset="0"/>
                          </a:rPr>
                          <m:t>MN</m:t>
                        </m:r>
                      </m:e>
                    </m:acc>
                  </m:oMath>
                </a14:m>
                <a:r>
                  <a:rPr sz="2400">
                    <a:solidFill>
                      <a:srgbClr val="1E293B"/>
                    </a:solidFill>
                    <a:latin typeface="Calibri"/>
                  </a:rPr>
                  <a:t> = </a:t>
                </a:r>
                <a14:m>
                  <m:oMath xmlns:m="http://schemas.openxmlformats.org/officeDocument/2006/math">
                    <m:d>
                      <m:dPr>
                        <m:sepChr m:val=""/>
                      </m:dPr>
                      <m:e>
                        <m:sSub>
                          <m:e>
                            <m:r>
                              <a:rPr lang="vi-VN" sz="2400" b="0">
                                <a:solidFill>
                                  <a:srgbClr val="1E293B"/>
                                </a:solidFill>
                                <a:latin typeface="Cambria Math" panose="02040503050406030204" pitchFamily="18" charset="0"/>
                              </a:rPr>
                              <m:t>x</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x</m:t>
                            </m:r>
                          </m:e>
                          <m:sub>
                            <m:r>
                              <a:rPr lang="vi-VN" sz="2400" b="0">
                                <a:solidFill>
                                  <a:srgbClr val="1E293B"/>
                                </a:solidFill>
                                <a:latin typeface="Cambria Math" panose="02040503050406030204" pitchFamily="18" charset="0"/>
                              </a:rPr>
                              <m:t>M</m:t>
                            </m:r>
                          </m:sub>
                        </m:sSub>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sSub>
                          <m:e>
                            <m:r>
                              <a:rPr lang="vi-VN" sz="2400" b="0">
                                <a:solidFill>
                                  <a:srgbClr val="1E293B"/>
                                </a:solidFill>
                                <a:latin typeface="Cambria Math" panose="02040503050406030204" pitchFamily="18" charset="0"/>
                              </a:rPr>
                              <m:t>y</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y</m:t>
                            </m:r>
                          </m:e>
                          <m:sub>
                            <m:r>
                              <a:rPr lang="vi-VN" sz="2400" b="0">
                                <a:solidFill>
                                  <a:srgbClr val="1E293B"/>
                                </a:solidFill>
                                <a:latin typeface="Cambria Math" panose="02040503050406030204" pitchFamily="18" charset="0"/>
                              </a:rPr>
                              <m:t>M</m:t>
                            </m:r>
                          </m:sub>
                        </m:sSub>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sSub>
                          <m:e>
                            <m:r>
                              <a:rPr lang="vi-VN" sz="2400" b="0">
                                <a:solidFill>
                                  <a:srgbClr val="1E293B"/>
                                </a:solidFill>
                                <a:latin typeface="Cambria Math" panose="02040503050406030204" pitchFamily="18" charset="0"/>
                              </a:rPr>
                              <m:t>z</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z</m:t>
                            </m:r>
                          </m:e>
                          <m:sub>
                            <m:r>
                              <a:rPr lang="vi-VN" sz="2400" b="0">
                                <a:solidFill>
                                  <a:srgbClr val="1E293B"/>
                                </a:solidFill>
                                <a:latin typeface="Cambria Math" panose="02040503050406030204" pitchFamily="18" charset="0"/>
                              </a:rPr>
                              <m:t>M</m:t>
                            </m:r>
                          </m:sub>
                        </m:sSub>
                      </m:e>
                    </m:d>
                  </m:oMath>
                </a14:m>
                <a:r>
                  <a:rPr sz="2400">
                    <a:solidFill>
                      <a:srgbClr val="1E293B"/>
                    </a:solidFill>
                    <a:latin typeface="Calibri"/>
                  </a:rPr>
                  <a:t>.</a:t>
                </a:r>
              </a:p>
            </p:txBody>
          </p:sp>
        </mc:Choice>
        <mc:Fallback>
          <p:sp>
            <p:nvSpPr>
              <p:cNvPr id="11" name="TextBox 10"/>
              <p:cNvSpPr txBox="1"/>
              <p:nvPr/>
            </p:nvSpPr>
            <p:spPr>
              <a:xfrm>
                <a:off x="713232" y="3797808"/>
                <a:ext cx="10735056" cy="862583"/>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Trong không gian </a:t>
                </a:r>
                <a:r>
                  <a:rPr lang="vi-VN"/>
                  <a:t>Oxyz</a:t>
                </a:r>
                <a:r>
                  <a:rPr sz="2400">
                    <a:solidFill>
                      <a:srgbClr val="1E293B"/>
                    </a:solidFill>
                    <a:latin typeface="Calibri"/>
                  </a:rPr>
                  <a:t>, cho hai điểm </a:t>
                </a:r>
                <a:r>
                  <a:rPr lang="vi-VN"/>
                  <a:t>M(x_M;\ y_M;\ z_M)</a:t>
                </a:r>
                <a:r>
                  <a:rPr sz="2400">
                    <a:solidFill>
                      <a:srgbClr val="1E293B"/>
                    </a:solidFill>
                    <a:latin typeface="Calibri"/>
                  </a:rPr>
                  <a:t> và </a:t>
                </a:r>
                <a:r>
                  <a:rPr lang="vi-VN"/>
                  <a:t>N(x_N;\ y_N;\ z_N)</a:t>
                </a:r>
                <a:r>
                  <a:rPr sz="2400">
                    <a:solidFill>
                      <a:srgbClr val="1E293B"/>
                    </a:solidFill>
                    <a:latin typeface="Calibri"/>
                  </a:rPr>
                  <a:t>. Khi đó: </a:t>
                </a:r>
                <a:r>
                  <a:rPr lang="vi-VN"/>
                  <a:t>\overrightarrow{MN}</a:t>
                </a:r>
                <a:r>
                  <a:rPr sz="2400">
                    <a:solidFill>
                      <a:srgbClr val="1E293B"/>
                    </a:solidFill>
                    <a:latin typeface="Calibri"/>
                  </a:rPr>
                  <a:t> = </a:t>
                </a:r>
                <a:r>
                  <a:rPr lang="vi-VN"/>
                  <a:t>(x_N-x_M;\ y_N-y_M;\ z_N-z_M)</a:t>
                </a:r>
                <a:r>
                  <a:rPr sz="24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5 (SGK TR.63 – 64)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Hệ trục toạ độ trong không gian – Toán 12          20</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595360" cy="10881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Ví dụ 5.</a:t>
                </a:r>
                <a:r>
                  <a:rPr sz="2000">
                    <a:solidFill>
                      <a:srgbClr val="1E293B"/>
                    </a:solidFill>
                    <a:latin typeface="Calibri"/>
                  </a:rPr>
                  <a:t> Cho hình lăng trụ tam giác </a:t>
                </a:r>
                <a14:m>
                  <m:oMath xmlns:m="http://schemas.openxmlformats.org/officeDocument/2006/math">
                    <m:r>
                      <a:rPr lang="vi-VN" sz="2000" b="0">
                        <a:solidFill>
                          <a:srgbClr val="1E293B"/>
                        </a:solidFill>
                        <a:latin typeface="Cambria Math" panose="02040503050406030204" pitchFamily="18" charset="0"/>
                      </a:rPr>
                      <m:t>ABC.</m:t>
                    </m:r>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có </a:t>
                </a:r>
                <a14:m>
                  <m:oMath xmlns:m="http://schemas.openxmlformats.org/officeDocument/2006/math">
                    <m:r>
                      <a:rPr lang="vi-VN" sz="2000" b="0">
                        <a:solidFill>
                          <a:srgbClr val="1E293B"/>
                        </a:solidFill>
                        <a:latin typeface="Cambria Math" panose="02040503050406030204" pitchFamily="18" charset="0"/>
                      </a:rPr>
                      <m:t>A(1;0;2)</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B(3;2;5)</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C(7;−3;9)</m:t>
                    </m:r>
                  </m:oMath>
                </a14:m>
                <a:r>
                  <a:rPr sz="2000">
                    <a:solidFill>
                      <a:srgbClr val="1E293B"/>
                    </a:solidFill>
                    <a:latin typeface="Calibri"/>
                  </a:rPr>
                  <a:t> và </a:t>
                </a:r>
                <a14:m>
                  <m:oMath xmlns:m="http://schemas.openxmlformats.org/officeDocument/2006/math">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(5;0;1)</m:t>
                    </m:r>
                  </m:oMath>
                </a14:m>
                <a:r>
                  <a:rPr sz="2000">
                    <a:solidFill>
                      <a:srgbClr val="1E293B"/>
                    </a:solidFill>
                    <a:latin typeface="Calibri"/>
                  </a:rPr>
                  <a:t> (H.2.42). a) Tìm toạ độ của </a:t>
                </a:r>
                <a14:m>
                  <m:oMath xmlns:m="http://schemas.openxmlformats.org/officeDocument/2006/math">
                    <m:acc>
                      <m:accPr>
                        <m:chr m:val="⃗"/>
                      </m:accPr>
                      <m:e>
                        <m:r>
                          <a:rPr lang="vi-VN" sz="2000" b="0">
                            <a:solidFill>
                              <a:srgbClr val="1E293B"/>
                            </a:solidFill>
                            <a:latin typeface="Cambria Math" panose="02040503050406030204" pitchFamily="18" charset="0"/>
                          </a:rPr>
                          <m:t>A</m:t>
                        </m:r>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e>
                    </m:acc>
                  </m:oMath>
                </a14:m>
                <a:r>
                  <a:rPr sz="2000">
                    <a:solidFill>
                      <a:srgbClr val="1E293B"/>
                    </a:solidFill>
                    <a:latin typeface="Calibri"/>
                  </a:rPr>
                  <a:t>. b) Tìm toạ độ của các điểm </a:t>
                </a:r>
                <a14:m>
                  <m:oMath xmlns:m="http://schemas.openxmlformats.org/officeDocument/2006/math">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a:t>
                </a:r>
              </a:p>
            </p:txBody>
          </p:sp>
        </mc:Choice>
        <mc:Fallback>
          <p:sp>
            <p:nvSpPr>
              <p:cNvPr id="7" name="TextBox 6"/>
              <p:cNvSpPr txBox="1"/>
              <p:nvPr/>
            </p:nvSpPr>
            <p:spPr>
              <a:xfrm>
                <a:off x="548640" y="1371600"/>
                <a:ext cx="8595360" cy="10881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Ví dụ 5.</a:t>
                </a:r>
                <a:r>
                  <a:rPr sz="2000">
                    <a:solidFill>
                      <a:srgbClr val="1E293B"/>
                    </a:solidFill>
                    <a:latin typeface="Calibri"/>
                  </a:rPr>
                  <a:t> Cho hình lăng trụ tam giác </a:t>
                </a:r>
                <a:r>
                  <a:rPr lang="vi-VN"/>
                  <a:t>ABC.A'B'C'</a:t>
                </a:r>
                <a:r>
                  <a:rPr sz="2000">
                    <a:solidFill>
                      <a:srgbClr val="1E293B"/>
                    </a:solidFill>
                    <a:latin typeface="Calibri"/>
                  </a:rPr>
                  <a:t> có </a:t>
                </a:r>
                <a:r>
                  <a:rPr lang="vi-VN"/>
                  <a:t>A(1;0;2)</a:t>
                </a:r>
                <a:r>
                  <a:rPr sz="2000">
                    <a:solidFill>
                      <a:srgbClr val="1E293B"/>
                    </a:solidFill>
                    <a:latin typeface="Calibri"/>
                  </a:rPr>
                  <a:t>, </a:t>
                </a:r>
                <a:r>
                  <a:rPr lang="vi-VN"/>
                  <a:t>B(3;2;5)</a:t>
                </a:r>
                <a:r>
                  <a:rPr sz="2000">
                    <a:solidFill>
                      <a:srgbClr val="1E293B"/>
                    </a:solidFill>
                    <a:latin typeface="Calibri"/>
                  </a:rPr>
                  <a:t>, </a:t>
                </a:r>
                <a:r>
                  <a:rPr lang="vi-VN"/>
                  <a:t>C(7;-3;9)</a:t>
                </a:r>
                <a:r>
                  <a:rPr sz="2000">
                    <a:solidFill>
                      <a:srgbClr val="1E293B"/>
                    </a:solidFill>
                    <a:latin typeface="Calibri"/>
                  </a:rPr>
                  <a:t> và </a:t>
                </a:r>
                <a:r>
                  <a:rPr lang="vi-VN"/>
                  <a:t>A'(5;0;1)</a:t>
                </a:r>
                <a:r>
                  <a:rPr sz="2000">
                    <a:solidFill>
                      <a:srgbClr val="1E293B"/>
                    </a:solidFill>
                    <a:latin typeface="Calibri"/>
                  </a:rPr>
                  <a:t> (H.2.42). a) Tìm toạ độ của </a:t>
                </a:r>
                <a:r>
                  <a:rPr lang="vi-VN"/>
                  <a:t>\overrightarrow{AA'}</a:t>
                </a:r>
                <a:r>
                  <a:rPr sz="2000">
                    <a:solidFill>
                      <a:srgbClr val="1E293B"/>
                    </a:solidFill>
                    <a:latin typeface="Calibri"/>
                  </a:rPr>
                  <a:t>. b) Tìm toạ độ của các điểm </a:t>
                </a:r>
                <a:r>
                  <a:rPr lang="vi-VN"/>
                  <a:t>B',\ C'</a:t>
                </a:r>
                <a:r>
                  <a:rPr sz="2000">
                    <a:solidFill>
                      <a:srgbClr val="1E293B"/>
                    </a:solidFill>
                    <a:latin typeface="Calibri"/>
                  </a:rPr>
                  <a:t>.</a:t>
                </a:r>
              </a:p>
            </p:txBody>
          </p:sp>
        </mc:Fallback>
      </mc:AlternateContent>
      <p:sp>
        <p:nvSpPr>
          <p:cNvPr id="8" name="s1_nen"/>
          <p:cNvSpPr/>
          <p:nvPr/>
        </p:nvSpPr>
        <p:spPr>
          <a:xfrm>
            <a:off x="548640" y="2532888"/>
            <a:ext cx="859536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569464"/>
                <a:ext cx="826617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14:m>
                  <m:oMath xmlns:m="http://schemas.openxmlformats.org/officeDocument/2006/math">
                    <m:acc>
                      <m:accPr>
                        <m:chr m:val="⃗"/>
                      </m:accPr>
                      <m:e>
                        <m:r>
                          <a:rPr lang="vi-VN" sz="2000" b="0">
                            <a:solidFill>
                              <a:srgbClr val="1E293B"/>
                            </a:solidFill>
                            <a:latin typeface="Cambria Math" panose="02040503050406030204" pitchFamily="18" charset="0"/>
                          </a:rPr>
                          <m:t>A</m:t>
                        </m:r>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e>
                    </m:acc>
                  </m:oMath>
                </a14:m>
                <a:r>
                  <a:rPr sz="2000">
                    <a:solidFill>
                      <a:srgbClr val="1E293B"/>
                    </a:solidFill>
                    <a:latin typeface="Calibri"/>
                  </a:rPr>
                  <a:t> = </a:t>
                </a:r>
                <a14:m>
                  <m:oMath xmlns:m="http://schemas.openxmlformats.org/officeDocument/2006/math">
                    <m:d>
                      <m:dPr>
                        <m:sepChr m:val=""/>
                      </m:dPr>
                      <m:e>
                        <m:r>
                          <a:rPr lang="vi-VN" sz="2000" b="0">
                            <a:solidFill>
                              <a:srgbClr val="1E293B"/>
                            </a:solidFill>
                            <a:latin typeface="Cambria Math" panose="02040503050406030204" pitchFamily="18" charset="0"/>
                          </a:rPr>
                          <m:t>4</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0</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1</m:t>
                        </m:r>
                      </m:e>
                    </m:d>
                  </m:oMath>
                </a14:m>
                <a:r>
                  <a:rPr sz="2000">
                    <a:solidFill>
                      <a:srgbClr val="1E293B"/>
                    </a:solidFill>
                    <a:latin typeface="Calibri"/>
                  </a:rPr>
                  <a:t>.</a:t>
                </a:r>
              </a:p>
            </p:txBody>
          </p:sp>
        </mc:Choice>
        <mc:Fallback>
          <p:sp>
            <p:nvSpPr>
              <p:cNvPr id="9" name="TextBox 8"/>
              <p:cNvSpPr txBox="1"/>
              <p:nvPr/>
            </p:nvSpPr>
            <p:spPr>
              <a:xfrm>
                <a:off x="713232" y="2569464"/>
                <a:ext cx="826617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r>
                  <a:rPr lang="vi-VN"/>
                  <a:t>\overrightarrow{AA'}</a:t>
                </a:r>
                <a:r>
                  <a:rPr sz="2000">
                    <a:solidFill>
                      <a:srgbClr val="1E293B"/>
                    </a:solidFill>
                    <a:latin typeface="Calibri"/>
                  </a:rPr>
                  <a:t> = </a:t>
                </a:r>
                <a:r>
                  <a:rPr lang="vi-VN"/>
                  <a:t>(4;\ 0;\ -1)</a:t>
                </a:r>
                <a:r>
                  <a:rPr sz="2000">
                    <a:solidFill>
                      <a:srgbClr val="1E293B"/>
                    </a:solidFill>
                    <a:latin typeface="Calibri"/>
                  </a:rPr>
                  <a:t>.</a:t>
                </a:r>
              </a:p>
            </p:txBody>
          </p:sp>
        </mc:Fallback>
      </mc:AlternateContent>
      <p:sp>
        <p:nvSpPr>
          <p:cNvPr id="10" name="s2_nen"/>
          <p:cNvSpPr/>
          <p:nvPr/>
        </p:nvSpPr>
        <p:spPr>
          <a:xfrm>
            <a:off x="548640" y="3176016"/>
            <a:ext cx="859536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212592"/>
                <a:ext cx="826617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14:m>
                  <m:oMath xmlns:m="http://schemas.openxmlformats.org/officeDocument/2006/math">
                    <m:r>
                      <a:rPr lang="vi-VN" sz="2000" b="0">
                        <a:solidFill>
                          <a:srgbClr val="1E293B"/>
                        </a:solidFill>
                        <a:latin typeface="Cambria Math" panose="02040503050406030204" pitchFamily="18" charset="0"/>
                      </a:rPr>
                      <m:t>AB</m:t>
                    </m:r>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là hình bình hành nên </a:t>
                </a:r>
                <a14:m>
                  <m:oMath xmlns:m="http://schemas.openxmlformats.org/officeDocument/2006/math">
                    <m:acc>
                      <m:accPr>
                        <m:chr m:val="⃗"/>
                      </m:accPr>
                      <m:e>
                        <m:r>
                          <a:rPr lang="vi-VN" sz="2000" b="0">
                            <a:solidFill>
                              <a:srgbClr val="1E293B"/>
                            </a:solidFill>
                            <a:latin typeface="Cambria Math" panose="02040503050406030204" pitchFamily="18" charset="0"/>
                          </a:rPr>
                          <m:t>B</m:t>
                        </m:r>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A</m:t>
                        </m:r>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e>
                    </m:acc>
                  </m:oMath>
                </a14:m>
                <a:r>
                  <a:rPr sz="2000">
                    <a:solidFill>
                      <a:srgbClr val="1E293B"/>
                    </a:solidFill>
                    <a:latin typeface="Calibri"/>
                  </a:rPr>
                  <a:t>: </a:t>
                </a:r>
                <a14:m>
                  <m:oMath xmlns:m="http://schemas.openxmlformats.org/officeDocument/2006/math">
                    <m:d>
                      <m:dPr>
                        <m:sepChr m:val=""/>
                      </m:dPr>
                      <m:e>
                        <m:r>
                          <a:rPr lang="vi-VN" sz="2000" b="0">
                            <a:solidFill>
                              <a:srgbClr val="1E293B"/>
                            </a:solidFill>
                            <a:latin typeface="Cambria Math" panose="02040503050406030204" pitchFamily="18" charset="0"/>
                          </a:rPr>
                          <m:t>x</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3</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y</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2</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z</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5</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4</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0</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1</m:t>
                        </m:r>
                      </m:e>
                    </m:d>
                  </m:oMath>
                </a14:m>
                <a:r>
                  <a:rPr sz="2000">
                    <a:solidFill>
                      <a:srgbClr val="1E293B"/>
                    </a:solidFill>
                    <a:latin typeface="Calibri"/>
                  </a:rPr>
                  <a:t> ⇒ </a:t>
                </a:r>
                <a14:m>
                  <m:oMath xmlns:m="http://schemas.openxmlformats.org/officeDocument/2006/math">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(7;</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2;</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4)</m:t>
                    </m:r>
                  </m:oMath>
                </a14:m>
                <a:r>
                  <a:rPr sz="2000">
                    <a:solidFill>
                      <a:srgbClr val="1E293B"/>
                    </a:solidFill>
                    <a:latin typeface="Calibri"/>
                  </a:rPr>
                  <a:t>.</a:t>
                </a:r>
              </a:p>
            </p:txBody>
          </p:sp>
        </mc:Choice>
        <mc:Fallback>
          <p:sp>
            <p:nvSpPr>
              <p:cNvPr id="11" name="TextBox 10"/>
              <p:cNvSpPr txBox="1"/>
              <p:nvPr/>
            </p:nvSpPr>
            <p:spPr>
              <a:xfrm>
                <a:off x="713232" y="3212592"/>
                <a:ext cx="826617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r>
                  <a:rPr lang="vi-VN"/>
                  <a:t>ABB'A'</a:t>
                </a:r>
                <a:r>
                  <a:rPr sz="2000">
                    <a:solidFill>
                      <a:srgbClr val="1E293B"/>
                    </a:solidFill>
                    <a:latin typeface="Calibri"/>
                  </a:rPr>
                  <a:t> là hình bình hành nên </a:t>
                </a:r>
                <a:r>
                  <a:rPr lang="vi-VN"/>
                  <a:t>\overrightarrow{BB'}</a:t>
                </a:r>
                <a:r>
                  <a:rPr sz="2000">
                    <a:solidFill>
                      <a:srgbClr val="1E293B"/>
                    </a:solidFill>
                    <a:latin typeface="Calibri"/>
                  </a:rPr>
                  <a:t> = </a:t>
                </a:r>
                <a:r>
                  <a:rPr lang="vi-VN"/>
                  <a:t>\overrightarrow{AA'}</a:t>
                </a:r>
                <a:r>
                  <a:rPr sz="2000">
                    <a:solidFill>
                      <a:srgbClr val="1E293B"/>
                    </a:solidFill>
                    <a:latin typeface="Calibri"/>
                  </a:rPr>
                  <a:t>: </a:t>
                </a:r>
                <a:r>
                  <a:rPr lang="vi-VN"/>
                  <a:t>(x-3;\ y-2;\ z-5)=(4;\ 0;\ -1)</a:t>
                </a:r>
                <a:r>
                  <a:rPr sz="2000">
                    <a:solidFill>
                      <a:srgbClr val="1E293B"/>
                    </a:solidFill>
                    <a:latin typeface="Calibri"/>
                  </a:rPr>
                  <a:t> ⇒ </a:t>
                </a:r>
                <a:r>
                  <a:rPr lang="vi-VN"/>
                  <a:t>B'(7;\ 2;\ 4)</a:t>
                </a:r>
                <a:r>
                  <a:rPr sz="2000">
                    <a:solidFill>
                      <a:srgbClr val="1E293B"/>
                    </a:solidFill>
                    <a:latin typeface="Calibri"/>
                  </a:rPr>
                  <a:t>.</a:t>
                </a:r>
              </a:p>
            </p:txBody>
          </p:sp>
        </mc:Fallback>
      </mc:AlternateContent>
      <p:sp>
        <p:nvSpPr>
          <p:cNvPr id="12" name="s3_nen"/>
          <p:cNvSpPr/>
          <p:nvPr/>
        </p:nvSpPr>
        <p:spPr>
          <a:xfrm>
            <a:off x="548640" y="4123944"/>
            <a:ext cx="859536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4160520"/>
                <a:ext cx="826617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Tương tự </a:t>
                </a:r>
                <a14:m>
                  <m:oMath xmlns:m="http://schemas.openxmlformats.org/officeDocument/2006/math">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(11;</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−3;</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8)</m:t>
                    </m:r>
                  </m:oMath>
                </a14:m>
                <a:r>
                  <a:rPr sz="2000">
                    <a:solidFill>
                      <a:srgbClr val="1E293B"/>
                    </a:solidFill>
                    <a:latin typeface="Calibri"/>
                  </a:rPr>
                  <a:t>.</a:t>
                </a:r>
              </a:p>
            </p:txBody>
          </p:sp>
        </mc:Choice>
        <mc:Fallback>
          <p:sp>
            <p:nvSpPr>
              <p:cNvPr id="13" name="TextBox 12"/>
              <p:cNvSpPr txBox="1"/>
              <p:nvPr/>
            </p:nvSpPr>
            <p:spPr>
              <a:xfrm>
                <a:off x="713232" y="4160520"/>
                <a:ext cx="826617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Tương tự </a:t>
                </a:r>
                <a:r>
                  <a:rPr lang="vi-VN"/>
                  <a:t>C'(11;\ -3;\ 8)</a:t>
                </a:r>
                <a:r>
                  <a:rPr sz="2000">
                    <a:solidFill>
                      <a:srgbClr val="1E293B"/>
                    </a:solidFill>
                    <a:latin typeface="Calibri"/>
                  </a:rPr>
                  <a:t>.</a:t>
                </a:r>
              </a:p>
            </p:txBody>
          </p:sp>
        </mc:Fallback>
      </mc:AlternateContent>
      <p:pic>
        <p:nvPicPr>
          <p:cNvPr id="14" name="Picture 13" descr="h242.png"/>
          <p:cNvPicPr>
            <a:picLocks noChangeAspect="1"/>
          </p:cNvPicPr>
          <p:nvPr/>
        </p:nvPicPr>
        <p:blipFill>
          <a:blip r:embed="rId3"/>
          <a:stretch>
            <a:fillRect/>
          </a:stretch>
        </p:blipFill>
        <p:spPr>
          <a:xfrm>
            <a:off x="9326880" y="1850117"/>
            <a:ext cx="2377440" cy="142040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LUYỆN TẬP 5 (SGK TR.64)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Hệ trục toạ độ trong không gian – Toán 12          21</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595360" cy="844295"/>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Luyện tập 5.</a:t>
                </a:r>
                <a:r>
                  <a:rPr sz="2200">
                    <a:solidFill>
                      <a:srgbClr val="1E293B"/>
                    </a:solidFill>
                    <a:latin typeface="Calibri"/>
                  </a:rPr>
                  <a:t> Trong Ví dụ 5, xác định toạ độ của các điểm </a:t>
                </a:r>
                <a14:m>
                  <m:oMath xmlns:m="http://schemas.openxmlformats.org/officeDocument/2006/math">
                    <m:r>
                      <a:rPr lang="vi-VN" sz="2200" b="0">
                        <a:solidFill>
                          <a:srgbClr val="1E293B"/>
                        </a:solidFill>
                        <a:latin typeface="Cambria Math" panose="02040503050406030204" pitchFamily="18" charset="0"/>
                      </a:rPr>
                      <m:t>D</m:t>
                    </m:r>
                  </m:oMath>
                </a14:m>
                <a:r>
                  <a:rPr sz="2200">
                    <a:solidFill>
                      <a:srgbClr val="1E293B"/>
                    </a:solidFill>
                    <a:latin typeface="Calibri"/>
                  </a:rPr>
                  <a:t> và </a:t>
                </a:r>
                <a14:m>
                  <m:oMath xmlns:m="http://schemas.openxmlformats.org/officeDocument/2006/math">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sao cho </a:t>
                </a:r>
                <a14:m>
                  <m:oMath xmlns:m="http://schemas.openxmlformats.org/officeDocument/2006/math">
                    <m:r>
                      <a:rPr lang="vi-VN" sz="2200" b="0">
                        <a:solidFill>
                          <a:srgbClr val="1E293B"/>
                        </a:solidFill>
                        <a:latin typeface="Cambria Math" panose="02040503050406030204" pitchFamily="18" charset="0"/>
                      </a:rPr>
                      <m:t>ABCD.</m:t>
                    </m:r>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B</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là hình hộp.</a:t>
                </a:r>
              </a:p>
            </p:txBody>
          </p:sp>
        </mc:Choice>
        <mc:Fallback>
          <p:sp>
            <p:nvSpPr>
              <p:cNvPr id="7" name="TextBox 6"/>
              <p:cNvSpPr txBox="1"/>
              <p:nvPr/>
            </p:nvSpPr>
            <p:spPr>
              <a:xfrm>
                <a:off x="548640" y="1371600"/>
                <a:ext cx="8595360" cy="844295"/>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Luyện tập 5.</a:t>
                </a:r>
                <a:r>
                  <a:rPr sz="2200">
                    <a:solidFill>
                      <a:srgbClr val="1E293B"/>
                    </a:solidFill>
                    <a:latin typeface="Calibri"/>
                  </a:rPr>
                  <a:t> Trong Ví dụ 5, xác định toạ độ của các điểm </a:t>
                </a:r>
                <a:r>
                  <a:rPr lang="vi-VN"/>
                  <a:t>D</a:t>
                </a:r>
                <a:r>
                  <a:rPr sz="2200">
                    <a:solidFill>
                      <a:srgbClr val="1E293B"/>
                    </a:solidFill>
                    <a:latin typeface="Calibri"/>
                  </a:rPr>
                  <a:t> và </a:t>
                </a:r>
                <a:r>
                  <a:rPr lang="vi-VN"/>
                  <a:t>D'</a:t>
                </a:r>
                <a:r>
                  <a:rPr sz="2200">
                    <a:solidFill>
                      <a:srgbClr val="1E293B"/>
                    </a:solidFill>
                    <a:latin typeface="Calibri"/>
                  </a:rPr>
                  <a:t> sao cho </a:t>
                </a:r>
                <a:r>
                  <a:rPr lang="vi-VN"/>
                  <a:t>ABCD.A'B'C'D'</a:t>
                </a:r>
                <a:r>
                  <a:rPr sz="2200">
                    <a:solidFill>
                      <a:srgbClr val="1E293B"/>
                    </a:solidFill>
                    <a:latin typeface="Calibri"/>
                  </a:rPr>
                  <a:t> là hình hộp.</a:t>
                </a:r>
              </a:p>
            </p:txBody>
          </p:sp>
        </mc:Fallback>
      </mc:AlternateContent>
      <p:sp>
        <p:nvSpPr>
          <p:cNvPr id="8" name="s1_nen"/>
          <p:cNvSpPr/>
          <p:nvPr/>
        </p:nvSpPr>
        <p:spPr>
          <a:xfrm>
            <a:off x="548640" y="2353056"/>
            <a:ext cx="8595360" cy="935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389632"/>
                <a:ext cx="826617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AD</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BC</m:t>
                        </m:r>
                      </m:e>
                    </m:acc>
                  </m:oMath>
                </a14:m>
                <a:r>
                  <a:rPr sz="2200">
                    <a:solidFill>
                      <a:srgbClr val="1E293B"/>
                    </a:solidFill>
                    <a:latin typeface="Calibri"/>
                  </a:rPr>
                  <a:t> = </a:t>
                </a:r>
                <a14:m>
                  <m:oMath xmlns:m="http://schemas.openxmlformats.org/officeDocument/2006/math">
                    <m:d>
                      <m:dPr>
                        <m:sepChr m:val=""/>
                      </m:dPr>
                      <m:e>
                        <m:r>
                          <a:rPr lang="vi-VN" sz="2200" b="0">
                            <a:solidFill>
                              <a:srgbClr val="1E293B"/>
                            </a:solidFill>
                            <a:latin typeface="Cambria Math" panose="02040503050406030204" pitchFamily="18" charset="0"/>
                          </a:rPr>
                          <m:t>4</m:t>
                        </m:r>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5</m:t>
                        </m:r>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4</m:t>
                        </m:r>
                      </m:e>
                    </m:d>
                  </m:oMath>
                </a14:m>
                <a:r>
                  <a:rPr sz="2200">
                    <a:solidFill>
                      <a:srgbClr val="1E293B"/>
                    </a:solidFill>
                    <a:latin typeface="Calibri"/>
                  </a:rPr>
                  <a:t> ⇒ </a:t>
                </a:r>
                <a14:m>
                  <m:oMath xmlns:m="http://schemas.openxmlformats.org/officeDocument/2006/math">
                    <m:r>
                      <a:rPr lang="vi-VN" sz="2200" b="0">
                        <a:solidFill>
                          <a:srgbClr val="1E293B"/>
                        </a:solidFill>
                        <a:latin typeface="Cambria Math" panose="02040503050406030204" pitchFamily="18" charset="0"/>
                      </a:rPr>
                      <m:t>D(5;</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−5;</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6)</m:t>
                    </m:r>
                  </m:oMath>
                </a14:m>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D</m:t>
                        </m:r>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A</m:t>
                        </m:r>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m:t>
                            </m:r>
                          </m:sup>
                        </m:sSup>
                      </m:e>
                    </m:acc>
                  </m:oMath>
                </a14:m>
                <a:r>
                  <a:rPr sz="2200">
                    <a:solidFill>
                      <a:srgbClr val="1E293B"/>
                    </a:solidFill>
                    <a:latin typeface="Calibri"/>
                  </a:rPr>
                  <a:t> ⇒ </a:t>
                </a:r>
                <a14:m>
                  <m:oMath xmlns:m="http://schemas.openxmlformats.org/officeDocument/2006/math">
                    <m:sSup>
                      <m:e>
                        <m:r>
                          <a:rPr lang="vi-VN" sz="2200" b="0">
                            <a:solidFill>
                              <a:srgbClr val="1E293B"/>
                            </a:solidFill>
                            <a:latin typeface="Cambria Math" panose="02040503050406030204" pitchFamily="18" charset="0"/>
                          </a:rPr>
                          <m:t>D</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(9;</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−5;</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5)</m:t>
                    </m:r>
                  </m:oMath>
                </a14:m>
                <a:r>
                  <a:rPr sz="2200">
                    <a:solidFill>
                      <a:srgbClr val="1E293B"/>
                    </a:solidFill>
                    <a:latin typeface="Calibri"/>
                  </a:rPr>
                  <a:t>.</a:t>
                </a:r>
              </a:p>
            </p:txBody>
          </p:sp>
        </mc:Choice>
        <mc:Fallback>
          <p:sp>
            <p:nvSpPr>
              <p:cNvPr id="9" name="TextBox 8"/>
              <p:cNvSpPr txBox="1"/>
              <p:nvPr/>
            </p:nvSpPr>
            <p:spPr>
              <a:xfrm>
                <a:off x="713232" y="2389632"/>
                <a:ext cx="826617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r>
                  <a:rPr lang="vi-VN"/>
                  <a:t>\overrightarrow{AD}</a:t>
                </a:r>
                <a:r>
                  <a:rPr sz="2200">
                    <a:solidFill>
                      <a:srgbClr val="1E293B"/>
                    </a:solidFill>
                    <a:latin typeface="Calibri"/>
                  </a:rPr>
                  <a:t> = </a:t>
                </a:r>
                <a:r>
                  <a:rPr lang="vi-VN"/>
                  <a:t>\overrightarrow{BC}</a:t>
                </a:r>
                <a:r>
                  <a:rPr sz="2200">
                    <a:solidFill>
                      <a:srgbClr val="1E293B"/>
                    </a:solidFill>
                    <a:latin typeface="Calibri"/>
                  </a:rPr>
                  <a:t> = </a:t>
                </a:r>
                <a:r>
                  <a:rPr lang="vi-VN"/>
                  <a:t>(4;\ -5;\ 4)</a:t>
                </a:r>
                <a:r>
                  <a:rPr sz="2200">
                    <a:solidFill>
                      <a:srgbClr val="1E293B"/>
                    </a:solidFill>
                    <a:latin typeface="Calibri"/>
                  </a:rPr>
                  <a:t> ⇒ </a:t>
                </a:r>
                <a:r>
                  <a:rPr lang="vi-VN"/>
                  <a:t>D(5;\ -5;\ 6)</a:t>
                </a:r>
                <a:r>
                  <a:rPr sz="2200">
                    <a:solidFill>
                      <a:srgbClr val="1E293B"/>
                    </a:solidFill>
                    <a:latin typeface="Calibri"/>
                  </a:rPr>
                  <a:t>; </a:t>
                </a:r>
                <a:r>
                  <a:rPr lang="vi-VN"/>
                  <a:t>\overrightarrow{DD'}</a:t>
                </a:r>
                <a:r>
                  <a:rPr sz="2200">
                    <a:solidFill>
                      <a:srgbClr val="1E293B"/>
                    </a:solidFill>
                    <a:latin typeface="Calibri"/>
                  </a:rPr>
                  <a:t> = </a:t>
                </a:r>
                <a:r>
                  <a:rPr lang="vi-VN"/>
                  <a:t>\overrightarrow{AA'}</a:t>
                </a:r>
                <a:r>
                  <a:rPr sz="2200">
                    <a:solidFill>
                      <a:srgbClr val="1E293B"/>
                    </a:solidFill>
                    <a:latin typeface="Calibri"/>
                  </a:rPr>
                  <a:t> ⇒ </a:t>
                </a:r>
                <a:r>
                  <a:rPr lang="vi-VN"/>
                  <a:t>D'(9;\ -5;\ 5)</a:t>
                </a:r>
                <a:r>
                  <a:rPr sz="2200">
                    <a:solidFill>
                      <a:srgbClr val="1E293B"/>
                    </a:solidFill>
                    <a:latin typeface="Calibri"/>
                  </a:rPr>
                  <a:t>.</a:t>
                </a:r>
              </a:p>
            </p:txBody>
          </p:sp>
        </mc:Fallback>
      </mc:AlternateContent>
      <p:pic>
        <p:nvPicPr>
          <p:cNvPr id="10" name="Picture 9" descr="h242.png"/>
          <p:cNvPicPr>
            <a:picLocks noChangeAspect="1"/>
          </p:cNvPicPr>
          <p:nvPr/>
        </p:nvPicPr>
        <p:blipFill>
          <a:blip r:embed="rId3"/>
          <a:stretch>
            <a:fillRect/>
          </a:stretch>
        </p:blipFill>
        <p:spPr>
          <a:xfrm>
            <a:off x="9326880" y="1850117"/>
            <a:ext cx="2377440" cy="142040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VẬN DỤNG 2 – HÀNH TRÌNH MÁY BAY (SGK TR.64)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Hệ trục toạ độ trong không gian – Toán 12          22</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6949440" cy="2734056"/>
              </a:xfrm>
              <a:prstGeom prst="rect">
                <a:avLst/>
              </a:prstGeom>
              <a:noFill/>
            </p:spPr>
            <p:txBody>
              <a:bodyPr wrap="square" anchor="t" lIns="45720" rIns="45720">
                <a:spAutoFit/>
              </a:bodyPr>
              <a:lstStyle/>
              <a:p>
                <a:pPr algn="l">
                  <a:spcAft>
                    <a:spcPts val="800"/>
                  </a:spcAft>
                </a:pPr>
                <a:r>
                  <a:rPr sz="2100">
                    <a:solidFill>
                      <a:srgbClr val="1E293B"/>
                    </a:solidFill>
                    <a:latin typeface="Calibri"/>
                  </a:rPr>
                  <a:t>Lập hệ toạ độ </a:t>
                </a:r>
                <a14:m>
                  <m:oMath xmlns:m="http://schemas.openxmlformats.org/officeDocument/2006/math">
                    <m:r>
                      <a:rPr lang="vi-VN" sz="2100" b="0">
                        <a:solidFill>
                          <a:srgbClr val="1E293B"/>
                        </a:solidFill>
                        <a:latin typeface="Cambria Math" panose="02040503050406030204" pitchFamily="18" charset="0"/>
                      </a:rPr>
                      <m:t>Oxyz</m:t>
                    </m:r>
                  </m:oMath>
                </a14:m>
                <a:r>
                  <a:rPr sz="2100">
                    <a:solidFill>
                      <a:srgbClr val="1E293B"/>
                    </a:solidFill>
                    <a:latin typeface="Calibri"/>
                  </a:rPr>
                  <a:t> có gốc </a:t>
                </a:r>
                <a14:m>
                  <m:oMath xmlns:m="http://schemas.openxmlformats.org/officeDocument/2006/math">
                    <m:r>
                      <a:rPr lang="vi-VN" sz="2100" b="0">
                        <a:solidFill>
                          <a:srgbClr val="1E293B"/>
                        </a:solidFill>
                        <a:latin typeface="Cambria Math" panose="02040503050406030204" pitchFamily="18" charset="0"/>
                      </a:rPr>
                      <m:t>O</m:t>
                    </m:r>
                  </m:oMath>
                </a14:m>
                <a:r>
                  <a:rPr sz="2100">
                    <a:solidFill>
                      <a:srgbClr val="1E293B"/>
                    </a:solidFill>
                    <a:latin typeface="Calibri"/>
                  </a:rPr>
                  <a:t> trùng với trung tâm kiểm soát không lưu, </a:t>
                </a:r>
                <a14:m>
                  <m:oMath xmlns:m="http://schemas.openxmlformats.org/officeDocument/2006/math">
                    <m:d>
                      <m:dPr>
                        <m:sepChr m:val=""/>
                      </m:dPr>
                      <m:e>
                        <m:r>
                          <a:rPr lang="vi-VN" sz="2100" b="0">
                            <a:solidFill>
                              <a:srgbClr val="1E293B"/>
                            </a:solidFill>
                            <a:latin typeface="Cambria Math" panose="02040503050406030204" pitchFamily="18" charset="0"/>
                          </a:rPr>
                          <m:t>O</m:t>
                        </m:r>
                        <m:r>
                          <a:rPr lang="vi-VN" sz="2100" b="0">
                            <a:solidFill>
                              <a:srgbClr val="1E293B"/>
                            </a:solidFill>
                            <a:latin typeface="Cambria Math" panose="02040503050406030204" pitchFamily="18" charset="0"/>
                          </a:rPr>
                          <m:t>x</m:t>
                        </m:r>
                        <m:r>
                          <a:rPr lang="vi-VN" sz="2100" b="0">
                            <a:solidFill>
                              <a:srgbClr val="1E293B"/>
                            </a:solidFill>
                            <a:latin typeface="Cambria Math" panose="02040503050406030204" pitchFamily="18" charset="0"/>
                          </a:rPr>
                          <m:t>y</m:t>
                        </m:r>
                      </m:e>
                    </m:d>
                  </m:oMath>
                </a14:m>
                <a:r>
                  <a:rPr sz="2100">
                    <a:solidFill>
                      <a:srgbClr val="1E293B"/>
                    </a:solidFill>
                    <a:latin typeface="Calibri"/>
                  </a:rPr>
                  <a:t> trùng mặt đất, </a:t>
                </a:r>
                <a14:m>
                  <m:oMath xmlns:m="http://schemas.openxmlformats.org/officeDocument/2006/math">
                    <m:r>
                      <a:rPr lang="vi-VN" sz="2100" b="0">
                        <a:solidFill>
                          <a:srgbClr val="1E293B"/>
                        </a:solidFill>
                        <a:latin typeface="Cambria Math" panose="02040503050406030204" pitchFamily="18" charset="0"/>
                      </a:rPr>
                      <m:t>Ox</m:t>
                    </m:r>
                  </m:oMath>
                </a14:m>
                <a:r>
                  <a:rPr sz="2100">
                    <a:solidFill>
                      <a:srgbClr val="1E293B"/>
                    </a:solidFill>
                    <a:latin typeface="Calibri"/>
                  </a:rPr>
                  <a:t> hướng tây, </a:t>
                </a:r>
                <a14:m>
                  <m:oMath xmlns:m="http://schemas.openxmlformats.org/officeDocument/2006/math">
                    <m:r>
                      <a:rPr lang="vi-VN" sz="2100" b="0">
                        <a:solidFill>
                          <a:srgbClr val="1E293B"/>
                        </a:solidFill>
                        <a:latin typeface="Cambria Math" panose="02040503050406030204" pitchFamily="18" charset="0"/>
                      </a:rPr>
                      <m:t>Oy</m:t>
                    </m:r>
                  </m:oMath>
                </a14:m>
                <a:r>
                  <a:rPr sz="2100">
                    <a:solidFill>
                      <a:srgbClr val="1E293B"/>
                    </a:solidFill>
                    <a:latin typeface="Calibri"/>
                  </a:rPr>
                  <a:t> hướng nam, </a:t>
                </a:r>
                <a14:m>
                  <m:oMath xmlns:m="http://schemas.openxmlformats.org/officeDocument/2006/math">
                    <m:r>
                      <a:rPr lang="vi-VN" sz="2100" b="0">
                        <a:solidFill>
                          <a:srgbClr val="1E293B"/>
                        </a:solidFill>
                        <a:latin typeface="Cambria Math" panose="02040503050406030204" pitchFamily="18" charset="0"/>
                      </a:rPr>
                      <m:t>Oz</m:t>
                    </m:r>
                  </m:oMath>
                </a14:m>
                <a:r>
                  <a:rPr sz="2100">
                    <a:solidFill>
                      <a:srgbClr val="1E293B"/>
                    </a:solidFill>
                    <a:latin typeface="Calibri"/>
                  </a:rPr>
                  <a:t> thẳng đứng lên trời (H.2.43). Sau khi cất cánh và đạt độ cao nhất định, máy bay duy trì hướng bay về phía nam với tốc độ không đổi 890 km/h trong nửa giờ. Xác định toạ độ của vectơ biểu diễn độ dịch chuyển của máy bay trong nửa giờ đó (đơn vị kilômét).</a:t>
                </a:r>
              </a:p>
            </p:txBody>
          </p:sp>
        </mc:Choice>
        <mc:Fallback>
          <p:sp>
            <p:nvSpPr>
              <p:cNvPr id="7" name="TextBox 6"/>
              <p:cNvSpPr txBox="1"/>
              <p:nvPr/>
            </p:nvSpPr>
            <p:spPr>
              <a:xfrm>
                <a:off x="548640" y="1371600"/>
                <a:ext cx="6949440" cy="2734056"/>
              </a:xfrm>
              <a:prstGeom prst="rect">
                <a:avLst/>
              </a:prstGeom>
              <a:noFill/>
            </p:spPr>
            <p:txBody>
              <a:bodyPr wrap="square" anchor="t" lIns="45720" rIns="45720">
                <a:spAutoFit/>
              </a:bodyPr>
              <a:lstStyle/>
              <a:p>
                <a:pPr algn="l">
                  <a:spcAft>
                    <a:spcPts val="800"/>
                  </a:spcAft>
                </a:pPr>
                <a:r>
                  <a:rPr sz="2100">
                    <a:solidFill>
                      <a:srgbClr val="1E293B"/>
                    </a:solidFill>
                    <a:latin typeface="Calibri"/>
                  </a:rPr>
                  <a:t>Lập hệ toạ độ </a:t>
                </a:r>
                <a:r>
                  <a:rPr lang="vi-VN"/>
                  <a:t>Oxyz</a:t>
                </a:r>
                <a:r>
                  <a:rPr sz="2100">
                    <a:solidFill>
                      <a:srgbClr val="1E293B"/>
                    </a:solidFill>
                    <a:latin typeface="Calibri"/>
                  </a:rPr>
                  <a:t> có gốc </a:t>
                </a:r>
                <a:r>
                  <a:rPr lang="vi-VN"/>
                  <a:t>O</a:t>
                </a:r>
                <a:r>
                  <a:rPr sz="2100">
                    <a:solidFill>
                      <a:srgbClr val="1E293B"/>
                    </a:solidFill>
                    <a:latin typeface="Calibri"/>
                  </a:rPr>
                  <a:t> trùng với trung tâm kiểm soát không lưu, </a:t>
                </a:r>
                <a:r>
                  <a:rPr lang="vi-VN"/>
                  <a:t>(Oxy)</a:t>
                </a:r>
                <a:r>
                  <a:rPr sz="2100">
                    <a:solidFill>
                      <a:srgbClr val="1E293B"/>
                    </a:solidFill>
                    <a:latin typeface="Calibri"/>
                  </a:rPr>
                  <a:t> trùng mặt đất, </a:t>
                </a:r>
                <a:r>
                  <a:rPr lang="vi-VN"/>
                  <a:t>Ox</a:t>
                </a:r>
                <a:r>
                  <a:rPr sz="2100">
                    <a:solidFill>
                      <a:srgbClr val="1E293B"/>
                    </a:solidFill>
                    <a:latin typeface="Calibri"/>
                  </a:rPr>
                  <a:t> hướng tây, </a:t>
                </a:r>
                <a:r>
                  <a:rPr lang="vi-VN"/>
                  <a:t>Oy</a:t>
                </a:r>
                <a:r>
                  <a:rPr sz="2100">
                    <a:solidFill>
                      <a:srgbClr val="1E293B"/>
                    </a:solidFill>
                    <a:latin typeface="Calibri"/>
                  </a:rPr>
                  <a:t> hướng nam, </a:t>
                </a:r>
                <a:r>
                  <a:rPr lang="vi-VN"/>
                  <a:t>Oz</a:t>
                </a:r>
                <a:r>
                  <a:rPr sz="2100">
                    <a:solidFill>
                      <a:srgbClr val="1E293B"/>
                    </a:solidFill>
                    <a:latin typeface="Calibri"/>
                  </a:rPr>
                  <a:t> thẳng đứng lên trời (H.2.43). Sau khi cất cánh và đạt độ cao nhất định, máy bay duy trì hướng bay về phía nam với tốc độ không đổi 890 km/h trong nửa giờ. Xác định toạ độ của vectơ biểu diễn độ dịch chuyển của máy bay trong nửa giờ đó (đơn vị kilômét).</a:t>
                </a:r>
              </a:p>
            </p:txBody>
          </p:sp>
        </mc:Fallback>
      </mc:AlternateContent>
      <p:sp>
        <p:nvSpPr>
          <p:cNvPr id="8" name="s1_nen"/>
          <p:cNvSpPr/>
          <p:nvPr/>
        </p:nvSpPr>
        <p:spPr>
          <a:xfrm>
            <a:off x="548640" y="4242816"/>
            <a:ext cx="6949440" cy="122529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4279392"/>
                <a:ext cx="6620255" cy="1152144"/>
              </a:xfrm>
              <a:prstGeom prst="rect">
                <a:avLst/>
              </a:prstGeom>
              <a:noFill/>
            </p:spPr>
            <p:txBody>
              <a:bodyPr wrap="square" anchor="ctr" lIns="45720" rIns="45720">
                <a:spAutoFit/>
              </a:bodyPr>
              <a:lstStyle/>
              <a:p>
                <a:pPr algn="l">
                  <a:spcAft>
                    <a:spcPts val="800"/>
                  </a:spcAft>
                </a:pPr>
                <a:r>
                  <a:rPr sz="2100">
                    <a:solidFill>
                      <a:srgbClr val="1E293B"/>
                    </a:solidFill>
                    <a:latin typeface="Calibri"/>
                  </a:rPr>
                  <a:t>Quãng đường </a:t>
                </a:r>
                <a14:m>
                  <m:oMath xmlns:m="http://schemas.openxmlformats.org/officeDocument/2006/math">
                    <m:r>
                      <a:rPr lang="vi-VN" sz="2100" b="0">
                        <a:solidFill>
                          <a:srgbClr val="1E293B"/>
                        </a:solidFill>
                        <a:latin typeface="Cambria Math" panose="02040503050406030204" pitchFamily="18" charset="0"/>
                      </a:rPr>
                      <m:t>890·0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5=445</m:t>
                    </m:r>
                  </m:oMath>
                </a14:m>
                <a:r>
                  <a:rPr sz="2100">
                    <a:solidFill>
                      <a:srgbClr val="1E293B"/>
                    </a:solidFill>
                    <a:latin typeface="Calibri"/>
                  </a:rPr>
                  <a:t> km theo chiều dương trục </a:t>
                </a:r>
                <a14:m>
                  <m:oMath xmlns:m="http://schemas.openxmlformats.org/officeDocument/2006/math">
                    <m:r>
                      <a:rPr lang="vi-VN" sz="2100" b="0">
                        <a:solidFill>
                          <a:srgbClr val="1E293B"/>
                        </a:solidFill>
                        <a:latin typeface="Cambria Math" panose="02040503050406030204" pitchFamily="18" charset="0"/>
                      </a:rPr>
                      <m:t>Oy</m:t>
                    </m:r>
                  </m:oMath>
                </a14:m>
                <a:r>
                  <a:rPr sz="2100">
                    <a:solidFill>
                      <a:srgbClr val="1E293B"/>
                    </a:solidFill>
                    <a:latin typeface="Calibri"/>
                  </a:rPr>
                  <a:t>, độ cao không đổi ⇒ vectơ dịch chuyển </a:t>
                </a:r>
                <a14:m>
                  <m:oMath xmlns:m="http://schemas.openxmlformats.org/officeDocument/2006/math">
                    <m:r>
                      <a:rPr lang="vi-VN" sz="2100" b="0">
                        <a:solidFill>
                          <a:srgbClr val="1E293B"/>
                        </a:solidFill>
                        <a:latin typeface="Cambria Math" panose="02040503050406030204" pitchFamily="18" charset="0"/>
                      </a:rPr>
                      <m:t>445</m:t>
                    </m:r>
                    <m:acc>
                      <m:accPr>
                        <m:chr m:val="⃗"/>
                      </m:accPr>
                      <m:e>
                        <m:r>
                          <a:rPr lang="vi-VN" sz="2100" b="0">
                            <a:solidFill>
                              <a:srgbClr val="1E293B"/>
                            </a:solidFill>
                            <a:latin typeface="Cambria Math" panose="02040503050406030204" pitchFamily="18" charset="0"/>
                          </a:rPr>
                          <m:t>j</m:t>
                        </m:r>
                      </m:e>
                    </m:acc>
                    <m:r>
                      <a:rPr lang="vi-VN" sz="2100" b="0">
                        <a:solidFill>
                          <a:srgbClr val="1E293B"/>
                        </a:solidFill>
                        <a:latin typeface="Cambria Math" panose="02040503050406030204" pitchFamily="18" charset="0"/>
                      </a:rPr>
                      <m:t>=(0;</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445;</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0)</m:t>
                    </m:r>
                  </m:oMath>
                </a14:m>
                <a:r>
                  <a:rPr sz="2100">
                    <a:solidFill>
                      <a:srgbClr val="1E293B"/>
                    </a:solidFill>
                    <a:latin typeface="Calibri"/>
                  </a:rPr>
                  <a:t>.</a:t>
                </a:r>
              </a:p>
            </p:txBody>
          </p:sp>
        </mc:Choice>
        <mc:Fallback>
          <p:sp>
            <p:nvSpPr>
              <p:cNvPr id="9" name="TextBox 8"/>
              <p:cNvSpPr txBox="1"/>
              <p:nvPr/>
            </p:nvSpPr>
            <p:spPr>
              <a:xfrm>
                <a:off x="713232" y="4279392"/>
                <a:ext cx="6620255" cy="1152144"/>
              </a:xfrm>
              <a:prstGeom prst="rect">
                <a:avLst/>
              </a:prstGeom>
              <a:noFill/>
            </p:spPr>
            <p:txBody>
              <a:bodyPr wrap="square" anchor="ctr" lIns="45720" rIns="45720">
                <a:spAutoFit/>
              </a:bodyPr>
              <a:lstStyle/>
              <a:p>
                <a:pPr algn="l">
                  <a:spcAft>
                    <a:spcPts val="800"/>
                  </a:spcAft>
                </a:pPr>
                <a:r>
                  <a:rPr sz="2100">
                    <a:solidFill>
                      <a:srgbClr val="1E293B"/>
                    </a:solidFill>
                    <a:latin typeface="Calibri"/>
                  </a:rPr>
                  <a:t>Quãng đường </a:t>
                </a:r>
                <a:r>
                  <a:rPr lang="vi-VN"/>
                  <a:t>890\cdot 0{,}5=445</a:t>
                </a:r>
                <a:r>
                  <a:rPr sz="2100">
                    <a:solidFill>
                      <a:srgbClr val="1E293B"/>
                    </a:solidFill>
                    <a:latin typeface="Calibri"/>
                  </a:rPr>
                  <a:t> km theo chiều dương trục </a:t>
                </a:r>
                <a:r>
                  <a:rPr lang="vi-VN"/>
                  <a:t>Oy</a:t>
                </a:r>
                <a:r>
                  <a:rPr sz="2100">
                    <a:solidFill>
                      <a:srgbClr val="1E293B"/>
                    </a:solidFill>
                    <a:latin typeface="Calibri"/>
                  </a:rPr>
                  <a:t>, độ cao không đổi ⇒ vectơ dịch chuyển </a:t>
                </a:r>
                <a:r>
                  <a:rPr lang="vi-VN"/>
                  <a:t>445\vec{j}=(0;\ 445;\ 0)</a:t>
                </a:r>
                <a:r>
                  <a:rPr sz="2100">
                    <a:solidFill>
                      <a:srgbClr val="1E293B"/>
                    </a:solidFill>
                    <a:latin typeface="Calibri"/>
                  </a:rPr>
                  <a:t>.</a:t>
                </a:r>
              </a:p>
            </p:txBody>
          </p:sp>
        </mc:Fallback>
      </mc:AlternateContent>
      <p:pic>
        <p:nvPicPr>
          <p:cNvPr id="10" name="Picture 9" descr="h243.png"/>
          <p:cNvPicPr>
            <a:picLocks noChangeAspect="1"/>
          </p:cNvPicPr>
          <p:nvPr/>
        </p:nvPicPr>
        <p:blipFill>
          <a:blip r:embed="rId3"/>
          <a:stretch>
            <a:fillRect/>
          </a:stretch>
        </p:blipFill>
        <p:spPr>
          <a:xfrm>
            <a:off x="7845436" y="1463040"/>
            <a:ext cx="3694408" cy="32918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GEOGEBRA</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GEOGEBRA 3D – TOẠ ĐỘ VECTƠ THEO HAI ĐẦU MÚT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Hệ trục toạ độ trong không gian – Toán 12          23</a:t>
            </a:r>
          </a:p>
        </p:txBody>
      </p:sp>
      <mc:AlternateContent xmlns:mc="http://schemas.openxmlformats.org/markup-compatibility/2006">
        <mc:Choice xmlns:a14="http://schemas.microsoft.com/office/drawing/2010/main" Requires="a14">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Kéo điểm </a:t>
                </a:r>
                <a14:m>
                  <m:oMath xmlns:m="http://schemas.openxmlformats.org/officeDocument/2006/math">
                    <m:r>
                      <a:rPr lang="vi-VN" sz="2200" b="0">
                        <a:solidFill>
                          <a:srgbClr val="1E293B"/>
                        </a:solidFill>
                        <a:latin typeface="Cambria Math" panose="02040503050406030204" pitchFamily="18" charset="0"/>
                      </a:rPr>
                      <m:t>M,</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N</m:t>
                    </m:r>
                  </m:oMath>
                </a14:m>
                <a:r>
                  <a:rPr sz="2200">
                    <a:solidFill>
                      <a:srgbClr val="1E293B"/>
                    </a:solidFill>
                    <a:latin typeface="Calibri"/>
                  </a:rPr>
                  <a:t> (thanh trượt toạ độ).</a:t>
                </a:r>
              </a:p>
              <a:p>
                <a:pPr algn="l" marL="365760" indent="-365760">
                  <a:spcAft>
                    <a:spcPts val="800"/>
                  </a:spcAft>
                  <a:buClr>
                    <a:srgbClr val="1E40AF"/>
                  </a:buClr>
                  <a:buFont typeface="Arial"/>
                  <a:buChar char="•"/>
                </a:pPr>
                <a:r>
                  <a:rPr sz="2200">
                    <a:solidFill>
                      <a:srgbClr val="1E293B"/>
                    </a:solidFill>
                    <a:latin typeface="Calibri"/>
                  </a:rPr>
                  <a:t>Bảng giá trị: </a:t>
                </a:r>
                <a14:m>
                  <m:oMath xmlns:m="http://schemas.openxmlformats.org/officeDocument/2006/math">
                    <m:acc>
                      <m:accPr>
                        <m:chr m:val="⃗"/>
                      </m:accPr>
                      <m:e>
                        <m:r>
                          <a:rPr lang="vi-VN" sz="2200" b="0">
                            <a:solidFill>
                              <a:srgbClr val="1E293B"/>
                            </a:solidFill>
                            <a:latin typeface="Cambria Math" panose="02040503050406030204" pitchFamily="18" charset="0"/>
                          </a:rPr>
                          <m:t>MN</m:t>
                        </m:r>
                      </m:e>
                    </m:acc>
                  </m:oMath>
                </a14:m>
                <a:r>
                  <a:rPr sz="2200">
                    <a:solidFill>
                      <a:srgbClr val="1E293B"/>
                    </a:solidFill>
                    <a:latin typeface="Calibri"/>
                  </a:rPr>
                  <a:t> = </a:t>
                </a:r>
                <a14:m>
                  <m:oMath xmlns:m="http://schemas.openxmlformats.org/officeDocument/2006/math">
                    <m:d>
                      <m:dPr>
                        <m:sepChr m:val=""/>
                      </m:dPr>
                      <m:e>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M</m:t>
                            </m:r>
                          </m:sub>
                        </m:sSub>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sSub>
                          <m:e>
                            <m:r>
                              <a:rPr lang="vi-VN" sz="2200" b="0">
                                <a:solidFill>
                                  <a:srgbClr val="1E293B"/>
                                </a:solidFill>
                                <a:latin typeface="Cambria Math" panose="02040503050406030204" pitchFamily="18" charset="0"/>
                              </a:rPr>
                              <m:t>y</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y</m:t>
                            </m:r>
                          </m:e>
                          <m:sub>
                            <m:r>
                              <a:rPr lang="vi-VN" sz="2200" b="0">
                                <a:solidFill>
                                  <a:srgbClr val="1E293B"/>
                                </a:solidFill>
                                <a:latin typeface="Cambria Math" panose="02040503050406030204" pitchFamily="18" charset="0"/>
                              </a:rPr>
                              <m:t>M</m:t>
                            </m:r>
                          </m:sub>
                        </m:sSub>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sSub>
                          <m:e>
                            <m:r>
                              <a:rPr lang="vi-VN" sz="2200" b="0">
                                <a:solidFill>
                                  <a:srgbClr val="1E293B"/>
                                </a:solidFill>
                                <a:latin typeface="Cambria Math" panose="02040503050406030204" pitchFamily="18" charset="0"/>
                              </a:rPr>
                              <m:t>z</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z</m:t>
                            </m:r>
                          </m:e>
                          <m:sub>
                            <m:r>
                              <a:rPr lang="vi-VN" sz="2200" b="0">
                                <a:solidFill>
                                  <a:srgbClr val="1E293B"/>
                                </a:solidFill>
                                <a:latin typeface="Cambria Math" panose="02040503050406030204" pitchFamily="18" charset="0"/>
                              </a:rPr>
                              <m:t>M</m:t>
                            </m:r>
                          </m:sub>
                        </m:sSub>
                      </m:e>
                    </m:d>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Vectơ </a:t>
                </a:r>
                <a14:m>
                  <m:oMath xmlns:m="http://schemas.openxmlformats.org/officeDocument/2006/math">
                    <m:acc>
                      <m:accPr>
                        <m:chr m:val="⃗"/>
                      </m:accPr>
                      <m:e>
                        <m:r>
                          <a:rPr lang="vi-VN" sz="2200" b="0">
                            <a:solidFill>
                              <a:srgbClr val="1E293B"/>
                            </a:solidFill>
                            <a:latin typeface="Cambria Math" panose="02040503050406030204" pitchFamily="18" charset="0"/>
                          </a:rPr>
                          <m:t>u</m:t>
                        </m:r>
                      </m:e>
                    </m:acc>
                  </m:oMath>
                </a14:m>
                <a:r>
                  <a:rPr sz="2200">
                    <a:solidFill>
                      <a:srgbClr val="1E293B"/>
                    </a:solidFill>
                    <a:latin typeface="Calibri"/>
                  </a:rPr>
                  <a:t> vẽ từ gốc </a:t>
                </a:r>
                <a14:m>
                  <m:oMath xmlns:m="http://schemas.openxmlformats.org/officeDocument/2006/math">
                    <m:r>
                      <a:rPr lang="vi-VN" sz="2200" b="0">
                        <a:solidFill>
                          <a:srgbClr val="1E293B"/>
                        </a:solidFill>
                        <a:latin typeface="Cambria Math" panose="02040503050406030204" pitchFamily="18" charset="0"/>
                      </a:rPr>
                      <m:t>O</m:t>
                    </m:r>
                  </m:oMath>
                </a14:m>
                <a:r>
                  <a:rPr sz="2200">
                    <a:solidFill>
                      <a:srgbClr val="1E293B"/>
                    </a:solidFill>
                    <a:latin typeface="Calibri"/>
                  </a:rPr>
                  <a:t> bằng </a:t>
                </a:r>
                <a14:m>
                  <m:oMath xmlns:m="http://schemas.openxmlformats.org/officeDocument/2006/math">
                    <m:acc>
                      <m:accPr>
                        <m:chr m:val="⃗"/>
                      </m:accPr>
                      <m:e>
                        <m:r>
                          <a:rPr lang="vi-VN" sz="2200" b="0">
                            <a:solidFill>
                              <a:srgbClr val="1E293B"/>
                            </a:solidFill>
                            <a:latin typeface="Cambria Math" panose="02040503050406030204" pitchFamily="18" charset="0"/>
                          </a:rPr>
                          <m:t>MN</m:t>
                        </m:r>
                      </m:e>
                    </m:acc>
                  </m:oMath>
                </a14:m>
                <a:r>
                  <a:rPr sz="2200">
                    <a:solidFill>
                      <a:srgbClr val="1E293B"/>
                    </a:solidFill>
                    <a:latin typeface="Calibri"/>
                  </a:rPr>
                  <a:t>: điểm cuối có toạ độ đúng bằng toạ độ của </a:t>
                </a:r>
                <a14:m>
                  <m:oMath xmlns:m="http://schemas.openxmlformats.org/officeDocument/2006/math">
                    <m:acc>
                      <m:accPr>
                        <m:chr m:val="⃗"/>
                      </m:accPr>
                      <m:e>
                        <m:r>
                          <a:rPr lang="vi-VN" sz="2200" b="0">
                            <a:solidFill>
                              <a:srgbClr val="1E293B"/>
                            </a:solidFill>
                            <a:latin typeface="Cambria Math" panose="02040503050406030204" pitchFamily="18" charset="0"/>
                          </a:rPr>
                          <m:t>MN</m:t>
                        </m:r>
                      </m:e>
                    </m:acc>
                  </m:oMath>
                </a14:m>
                <a:r>
                  <a:rPr sz="2200">
                    <a:solidFill>
                      <a:srgbClr val="1E293B"/>
                    </a:solidFill>
                    <a:latin typeface="Calibri"/>
                  </a:rPr>
                  <a:t>.</a:t>
                </a:r>
              </a:p>
            </p:txBody>
          </p:sp>
        </mc:Choice>
        <mc:Fallback>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Kéo điểm </a:t>
                </a:r>
                <a:r>
                  <a:rPr lang="vi-VN"/>
                  <a:t>M,\ N</a:t>
                </a:r>
                <a:r>
                  <a:rPr sz="2200">
                    <a:solidFill>
                      <a:srgbClr val="1E293B"/>
                    </a:solidFill>
                    <a:latin typeface="Calibri"/>
                  </a:rPr>
                  <a:t> (thanh trượt toạ độ).</a:t>
                </a:r>
              </a:p>
              <a:p>
                <a:pPr algn="l" marL="365760" indent="-365760">
                  <a:spcAft>
                    <a:spcPts val="800"/>
                  </a:spcAft>
                  <a:buClr>
                    <a:srgbClr val="1E40AF"/>
                  </a:buClr>
                  <a:buFont typeface="Arial"/>
                  <a:buChar char="•"/>
                </a:pPr>
                <a:r>
                  <a:rPr sz="2200">
                    <a:solidFill>
                      <a:srgbClr val="1E293B"/>
                    </a:solidFill>
                    <a:latin typeface="Calibri"/>
                  </a:rPr>
                  <a:t>Bảng giá trị: </a:t>
                </a:r>
                <a:r>
                  <a:rPr lang="vi-VN"/>
                  <a:t>\overrightarrow{MN}</a:t>
                </a:r>
                <a:r>
                  <a:rPr sz="2200">
                    <a:solidFill>
                      <a:srgbClr val="1E293B"/>
                    </a:solidFill>
                    <a:latin typeface="Calibri"/>
                  </a:rPr>
                  <a:t> = </a:t>
                </a:r>
                <a:r>
                  <a:rPr lang="vi-VN"/>
                  <a:t>(x_N-x_M;\ y_N-y_M;\ z_N-z_M)</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Vectơ </a:t>
                </a:r>
                <a:r>
                  <a:rPr lang="vi-VN"/>
                  <a:t>\vec{u}</a:t>
                </a:r>
                <a:r>
                  <a:rPr sz="2200">
                    <a:solidFill>
                      <a:srgbClr val="1E293B"/>
                    </a:solidFill>
                    <a:latin typeface="Calibri"/>
                  </a:rPr>
                  <a:t> vẽ từ gốc </a:t>
                </a:r>
                <a:r>
                  <a:rPr lang="vi-VN"/>
                  <a:t>O</a:t>
                </a:r>
                <a:r>
                  <a:rPr sz="2200">
                    <a:solidFill>
                      <a:srgbClr val="1E293B"/>
                    </a:solidFill>
                    <a:latin typeface="Calibri"/>
                  </a:rPr>
                  <a:t> bằng </a:t>
                </a:r>
                <a:r>
                  <a:rPr lang="vi-VN"/>
                  <a:t>\overrightarrow{MN}</a:t>
                </a:r>
                <a:r>
                  <a:rPr sz="2200">
                    <a:solidFill>
                      <a:srgbClr val="1E293B"/>
                    </a:solidFill>
                    <a:latin typeface="Calibri"/>
                  </a:rPr>
                  <a:t>: điểm cuối có toạ độ đúng bằng toạ độ của </a:t>
                </a:r>
                <a:r>
                  <a:rPr lang="vi-VN"/>
                  <a:t>\overrightarrow{MN}</a:t>
                </a:r>
                <a:r>
                  <a:rPr sz="2200">
                    <a:solidFill>
                      <a:srgbClr val="1E293B"/>
                    </a:solidFill>
                    <a:latin typeface="Calibri"/>
                  </a:rPr>
                  <a:t>.</a:t>
                </a:r>
              </a:p>
            </p:txBody>
          </p:sp>
        </mc:Fallback>
      </mc:AlternateContent>
      <p:sp>
        <p:nvSpPr>
          <p:cNvPr id="8" name="Rounded Rectangle 7">
            <a:hlinkClick r:id="rId3"/>
          </p:cNvPr>
          <p:cNvSpPr/>
          <p:nvPr/>
        </p:nvSpPr>
        <p:spPr>
          <a:xfrm>
            <a:off x="548640" y="5074920"/>
            <a:ext cx="3840480" cy="6858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  MỞ GEOGEBRA</a:t>
            </a:r>
          </a:p>
        </p:txBody>
      </p:sp>
      <p:pic>
        <p:nvPicPr>
          <p:cNvPr id="9" name="Picture 8" descr="qr_ggb_2.png"/>
          <p:cNvPicPr>
            <a:picLocks noChangeAspect="1"/>
          </p:cNvPicPr>
          <p:nvPr/>
        </p:nvPicPr>
        <p:blipFill>
          <a:blip r:embed="rId4"/>
          <a:stretch>
            <a:fillRect/>
          </a:stretch>
        </p:blipFill>
        <p:spPr>
          <a:xfrm>
            <a:off x="4572000" y="4572000"/>
            <a:ext cx="1325880" cy="1325880"/>
          </a:xfrm>
          <a:prstGeom prst="rect">
            <a:avLst/>
          </a:prstGeom>
        </p:spPr>
      </p:pic>
      <p:sp>
        <p:nvSpPr>
          <p:cNvPr id="10" name="TextBox 9"/>
          <p:cNvSpPr txBox="1"/>
          <p:nvPr/>
        </p:nvSpPr>
        <p:spPr>
          <a:xfrm>
            <a:off x="548640" y="5806440"/>
            <a:ext cx="3931920" cy="457200"/>
          </a:xfrm>
          <a:prstGeom prst="rect">
            <a:avLst/>
          </a:prstGeom>
          <a:noFill/>
        </p:spPr>
        <p:txBody>
          <a:bodyPr wrap="square" anchor="t" lIns="45720" rIns="45720">
            <a:spAutoFit/>
          </a:bodyPr>
          <a:lstStyle/>
          <a:p>
            <a:pPr algn="l">
              <a:spcAft>
                <a:spcPts val="800"/>
              </a:spcAft>
            </a:pPr>
            <a:r>
              <a:rPr sz="1400">
                <a:solidFill>
                  <a:srgbClr val="64748B"/>
                </a:solidFill>
                <a:latin typeface="Calibri"/>
              </a:rPr>
              <a:t>Quét QR mở trên điện thoại. Kéo điểm để thay đổi hình.</a:t>
            </a:r>
          </a:p>
        </p:txBody>
      </p:sp>
      <p:pic>
        <p:nvPicPr>
          <p:cNvPr id="11" name="Picture 10" descr="h241.png"/>
          <p:cNvPicPr>
            <a:picLocks noChangeAspect="1"/>
          </p:cNvPicPr>
          <p:nvPr/>
        </p:nvPicPr>
        <p:blipFill>
          <a:blip r:embed="rId5"/>
          <a:stretch>
            <a:fillRect/>
          </a:stretch>
        </p:blipFill>
        <p:spPr>
          <a:xfrm>
            <a:off x="6858000" y="1915168"/>
            <a:ext cx="4846320" cy="3576303"/>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TRÒ CHƠI: TRUY TÌM TOẠ ĐỘ</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Hệ trục toạ độ trong không gian – Toán 12          24</a:t>
            </a:r>
          </a:p>
        </p:txBody>
      </p:sp>
      <p:sp>
        <p:nvSpPr>
          <p:cNvPr id="7" name="TextBox 6"/>
          <p:cNvSpPr txBox="1"/>
          <p:nvPr/>
        </p:nvSpPr>
        <p:spPr>
          <a:xfrm>
            <a:off x="548640" y="1325880"/>
            <a:ext cx="11064240" cy="457200"/>
          </a:xfrm>
          <a:prstGeom prst="rect">
            <a:avLst/>
          </a:prstGeom>
          <a:noFill/>
        </p:spPr>
        <p:txBody>
          <a:bodyPr wrap="square" anchor="t" lIns="45720" rIns="45720">
            <a:spAutoFit/>
          </a:bodyPr>
          <a:lstStyle/>
          <a:p>
            <a:pPr algn="l">
              <a:spcAft>
                <a:spcPts val="800"/>
              </a:spcAft>
            </a:pPr>
            <a:r>
              <a:rPr sz="1800">
                <a:solidFill>
                  <a:srgbClr val="64748B"/>
                </a:solidFill>
                <a:latin typeface="Calibri"/>
              </a:rPr>
              <a:t>📋 Cặp đôi ghi bảng con; mỗi câu 20 giây.</a:t>
            </a:r>
          </a:p>
        </p:txBody>
      </p:sp>
      <mc:AlternateContent xmlns:mc="http://schemas.openxmlformats.org/markup-compatibility/2006">
        <mc:Choice xmlns:a14="http://schemas.microsoft.com/office/drawing/2010/main" Requires="a14">
          <p:sp>
            <p:nvSpPr>
              <p:cNvPr id="8" name="TextBox 7"/>
              <p:cNvSpPr txBox="1"/>
              <p:nvPr/>
            </p:nvSpPr>
            <p:spPr>
              <a:xfrm>
                <a:off x="548640" y="1783080"/>
                <a:ext cx="7589520" cy="640080"/>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a:t>
                </a:r>
                <a14:m>
                  <m:oMath xmlns:m="http://schemas.openxmlformats.org/officeDocument/2006/math">
                    <m:r>
                      <a:rPr lang="vi-VN" sz="2200" b="0">
                        <a:solidFill>
                          <a:srgbClr val="1E293B"/>
                        </a:solidFill>
                        <a:latin typeface="Cambria Math" panose="02040503050406030204" pitchFamily="18" charset="0"/>
                      </a:rPr>
                      <m:t>A(1;</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0;</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2)</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B(3;</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2;</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5)</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M(2;</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−1;</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4)</m:t>
                    </m:r>
                  </m:oMath>
                </a14:m>
                <a:r>
                  <a:rPr sz="2200">
                    <a:solidFill>
                      <a:srgbClr val="1E293B"/>
                    </a:solidFill>
                    <a:latin typeface="Calibri"/>
                  </a:rPr>
                  <a:t>.</a:t>
                </a:r>
              </a:p>
            </p:txBody>
          </p:sp>
        </mc:Choice>
        <mc:Fallback>
          <p:sp>
            <p:nvSpPr>
              <p:cNvPr id="8" name="TextBox 7"/>
              <p:cNvSpPr txBox="1"/>
              <p:nvPr/>
            </p:nvSpPr>
            <p:spPr>
              <a:xfrm>
                <a:off x="548640" y="1783080"/>
                <a:ext cx="7589520" cy="640080"/>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a:t>
                </a:r>
                <a:r>
                  <a:rPr lang="vi-VN"/>
                  <a:t>A(1;\ 0;\ 2)</a:t>
                </a:r>
                <a:r>
                  <a:rPr sz="2200">
                    <a:solidFill>
                      <a:srgbClr val="1E293B"/>
                    </a:solidFill>
                    <a:latin typeface="Calibri"/>
                  </a:rPr>
                  <a:t>, </a:t>
                </a:r>
                <a:r>
                  <a:rPr lang="vi-VN"/>
                  <a:t>B(3;\ 2;\ 5)</a:t>
                </a:r>
                <a:r>
                  <a:rPr sz="2200">
                    <a:solidFill>
                      <a:srgbClr val="1E293B"/>
                    </a:solidFill>
                    <a:latin typeface="Calibri"/>
                  </a:rPr>
                  <a:t>, </a:t>
                </a:r>
                <a:r>
                  <a:rPr lang="vi-VN"/>
                  <a:t>M(2;\ -1;\ 4)</a:t>
                </a:r>
                <a:r>
                  <a:rPr sz="22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548640" y="2468879"/>
                <a:ext cx="566928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a:t>
                </a:r>
                <a:r>
                  <a:rPr sz="2400">
                    <a:solidFill>
                      <a:srgbClr val="1E293B"/>
                    </a:solidFill>
                    <a:latin typeface="Calibri"/>
                  </a:rPr>
                  <a:t> Toạ độ </a:t>
                </a:r>
                <a14:m>
                  <m:oMath xmlns:m="http://schemas.openxmlformats.org/officeDocument/2006/math">
                    <m:acc>
                      <m:accPr>
                        <m:chr m:val="⃗"/>
                      </m:accPr>
                      <m:e>
                        <m:r>
                          <a:rPr lang="vi-VN" sz="2400" b="0">
                            <a:solidFill>
                              <a:srgbClr val="1E293B"/>
                            </a:solidFill>
                            <a:latin typeface="Cambria Math" panose="02040503050406030204" pitchFamily="18" charset="0"/>
                          </a:rPr>
                          <m:t>AB</m:t>
                        </m:r>
                      </m:e>
                    </m:acc>
                  </m:oMath>
                </a14:m>
                <a:r>
                  <a:rPr sz="2400">
                    <a:solidFill>
                      <a:srgbClr val="1E293B"/>
                    </a:solidFill>
                    <a:latin typeface="Calibri"/>
                  </a:rPr>
                  <a:t>?</a:t>
                </a:r>
              </a:p>
            </p:txBody>
          </p:sp>
        </mc:Choice>
        <mc:Fallback>
          <p:sp>
            <p:nvSpPr>
              <p:cNvPr id="9" name="TextBox 8"/>
              <p:cNvSpPr txBox="1"/>
              <p:nvPr/>
            </p:nvSpPr>
            <p:spPr>
              <a:xfrm>
                <a:off x="548640" y="2468879"/>
                <a:ext cx="566928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a:t>
                </a:r>
                <a:r>
                  <a:rPr sz="2400">
                    <a:solidFill>
                      <a:srgbClr val="1E293B"/>
                    </a:solidFill>
                    <a:latin typeface="Calibri"/>
                  </a:rPr>
                  <a:t> Toạ độ </a:t>
                </a:r>
                <a:r>
                  <a:rPr lang="vi-VN"/>
                  <a:t>\overrightarrow{AB}</a:t>
                </a:r>
                <a:r>
                  <a:rPr sz="2400">
                    <a:solidFill>
                      <a:srgbClr val="1E293B"/>
                    </a:solidFill>
                    <a:latin typeface="Calibri"/>
                  </a:rPr>
                  <a:t>?</a:t>
                </a:r>
              </a:p>
            </p:txBody>
          </p:sp>
        </mc:Fallback>
      </mc:AlternateContent>
      <p:sp>
        <p:nvSpPr>
          <p:cNvPr id="10" name="s1_nen"/>
          <p:cNvSpPr/>
          <p:nvPr/>
        </p:nvSpPr>
        <p:spPr>
          <a:xfrm>
            <a:off x="6309360" y="2423160"/>
            <a:ext cx="329184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1_chu"/>
              <p:cNvSpPr txBox="1"/>
              <p:nvPr/>
            </p:nvSpPr>
            <p:spPr>
              <a:xfrm>
                <a:off x="6473952" y="2459736"/>
                <a:ext cx="29626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d>
                      <m:dPr>
                        <m:sepChr m:val=""/>
                      </m:dPr>
                      <m:e>
                        <m:r>
                          <a:rPr lang="vi-VN" sz="2400" b="0">
                            <a:solidFill>
                              <a:srgbClr val="1E293B"/>
                            </a:solidFill>
                            <a:latin typeface="Cambria Math" panose="02040503050406030204" pitchFamily="18" charset="0"/>
                          </a:rPr>
                          <m:t>2</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2</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3</m:t>
                        </m:r>
                      </m:e>
                    </m:d>
                  </m:oMath>
                </a14:m>
              </a:p>
            </p:txBody>
          </p:sp>
        </mc:Choice>
        <mc:Fallback>
          <p:sp>
            <p:nvSpPr>
              <p:cNvPr id="11" name="TextBox 10"/>
              <p:cNvSpPr txBox="1"/>
              <p:nvPr/>
            </p:nvSpPr>
            <p:spPr>
              <a:xfrm>
                <a:off x="6473952" y="2459736"/>
                <a:ext cx="29626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(2;\ 2;\ 3)</a:t>
                </a:r>
              </a:p>
            </p:txBody>
          </p:sp>
        </mc:Fallback>
      </mc:AlternateContent>
      <mc:AlternateContent xmlns:mc="http://schemas.openxmlformats.org/markup-compatibility/2006">
        <mc:Choice xmlns:a14="http://schemas.microsoft.com/office/drawing/2010/main" Requires="a14">
          <p:sp>
            <p:nvSpPr>
              <p:cNvPr id="12" name="TextBox 11"/>
              <p:cNvSpPr txBox="1"/>
              <p:nvPr/>
            </p:nvSpPr>
            <p:spPr>
              <a:xfrm>
                <a:off x="548640" y="3417570"/>
                <a:ext cx="566928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2.</a:t>
                </a:r>
                <a:r>
                  <a:rPr sz="2400">
                    <a:solidFill>
                      <a:srgbClr val="1E293B"/>
                    </a:solidFill>
                    <a:latin typeface="Calibri"/>
                  </a:rPr>
                  <a:t> Toạ độ </a:t>
                </a:r>
                <a14:m>
                  <m:oMath xmlns:m="http://schemas.openxmlformats.org/officeDocument/2006/math">
                    <m:acc>
                      <m:accPr>
                        <m:chr m:val="⃗"/>
                      </m:accPr>
                      <m:e>
                        <m:r>
                          <a:rPr lang="vi-VN" sz="2400" b="0">
                            <a:solidFill>
                              <a:srgbClr val="1E293B"/>
                            </a:solidFill>
                            <a:latin typeface="Cambria Math" panose="02040503050406030204" pitchFamily="18" charset="0"/>
                          </a:rPr>
                          <m:t>BA</m:t>
                        </m:r>
                      </m:e>
                    </m:acc>
                  </m:oMath>
                </a14:m>
                <a:r>
                  <a:rPr sz="2400">
                    <a:solidFill>
                      <a:srgbClr val="1E293B"/>
                    </a:solidFill>
                    <a:latin typeface="Calibri"/>
                  </a:rPr>
                  <a:t>?</a:t>
                </a:r>
              </a:p>
            </p:txBody>
          </p:sp>
        </mc:Choice>
        <mc:Fallback>
          <p:sp>
            <p:nvSpPr>
              <p:cNvPr id="12" name="TextBox 11"/>
              <p:cNvSpPr txBox="1"/>
              <p:nvPr/>
            </p:nvSpPr>
            <p:spPr>
              <a:xfrm>
                <a:off x="548640" y="3417570"/>
                <a:ext cx="566928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2.</a:t>
                </a:r>
                <a:r>
                  <a:rPr sz="2400">
                    <a:solidFill>
                      <a:srgbClr val="1E293B"/>
                    </a:solidFill>
                    <a:latin typeface="Calibri"/>
                  </a:rPr>
                  <a:t> Toạ độ </a:t>
                </a:r>
                <a:r>
                  <a:rPr lang="vi-VN"/>
                  <a:t>\overrightarrow{BA}</a:t>
                </a:r>
                <a:r>
                  <a:rPr sz="2400">
                    <a:solidFill>
                      <a:srgbClr val="1E293B"/>
                    </a:solidFill>
                    <a:latin typeface="Calibri"/>
                  </a:rPr>
                  <a:t>?</a:t>
                </a:r>
              </a:p>
            </p:txBody>
          </p:sp>
        </mc:Fallback>
      </mc:AlternateContent>
      <p:sp>
        <p:nvSpPr>
          <p:cNvPr id="13" name="s2_nen"/>
          <p:cNvSpPr/>
          <p:nvPr/>
        </p:nvSpPr>
        <p:spPr>
          <a:xfrm>
            <a:off x="6309360" y="3371850"/>
            <a:ext cx="329184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4" name="s2_chu"/>
              <p:cNvSpPr txBox="1"/>
              <p:nvPr/>
            </p:nvSpPr>
            <p:spPr>
              <a:xfrm>
                <a:off x="6473952" y="3408426"/>
                <a:ext cx="29626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d>
                      <m:dPr>
                        <m:sepChr m:val=""/>
                      </m:dPr>
                      <m:e>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3</m:t>
                        </m:r>
                      </m:e>
                    </m:d>
                  </m:oMath>
                </a14:m>
              </a:p>
            </p:txBody>
          </p:sp>
        </mc:Choice>
        <mc:Fallback>
          <p:sp>
            <p:nvSpPr>
              <p:cNvPr id="14" name="TextBox 13"/>
              <p:cNvSpPr txBox="1"/>
              <p:nvPr/>
            </p:nvSpPr>
            <p:spPr>
              <a:xfrm>
                <a:off x="6473952" y="3408426"/>
                <a:ext cx="29626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(-2;\ -2;\ -3)</a:t>
                </a:r>
              </a:p>
            </p:txBody>
          </p:sp>
        </mc:Fallback>
      </mc:AlternateContent>
      <mc:AlternateContent xmlns:mc="http://schemas.openxmlformats.org/markup-compatibility/2006">
        <mc:Choice xmlns:a14="http://schemas.microsoft.com/office/drawing/2010/main" Requires="a14">
          <p:sp>
            <p:nvSpPr>
              <p:cNvPr id="15" name="TextBox 14"/>
              <p:cNvSpPr txBox="1"/>
              <p:nvPr/>
            </p:nvSpPr>
            <p:spPr>
              <a:xfrm>
                <a:off x="548640" y="4366259"/>
                <a:ext cx="566928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3.</a:t>
                </a:r>
                <a:r>
                  <a:rPr sz="2400">
                    <a:solidFill>
                      <a:srgbClr val="1E293B"/>
                    </a:solidFill>
                    <a:latin typeface="Calibri"/>
                  </a:rPr>
                  <a:t> Toạ độ </a:t>
                </a:r>
                <a14:m>
                  <m:oMath xmlns:m="http://schemas.openxmlformats.org/officeDocument/2006/math">
                    <m:acc>
                      <m:accPr>
                        <m:chr m:val="⃗"/>
                      </m:accPr>
                      <m:e>
                        <m:r>
                          <a:rPr lang="vi-VN" sz="2400" b="0">
                            <a:solidFill>
                              <a:srgbClr val="1E293B"/>
                            </a:solidFill>
                            <a:latin typeface="Cambria Math" panose="02040503050406030204" pitchFamily="18" charset="0"/>
                          </a:rPr>
                          <m:t>OM</m:t>
                        </m:r>
                      </m:e>
                    </m:acc>
                  </m:oMath>
                </a14:m>
                <a:r>
                  <a:rPr sz="2400">
                    <a:solidFill>
                      <a:srgbClr val="1E293B"/>
                    </a:solidFill>
                    <a:latin typeface="Calibri"/>
                  </a:rPr>
                  <a:t>?</a:t>
                </a:r>
              </a:p>
            </p:txBody>
          </p:sp>
        </mc:Choice>
        <mc:Fallback>
          <p:sp>
            <p:nvSpPr>
              <p:cNvPr id="15" name="TextBox 14"/>
              <p:cNvSpPr txBox="1"/>
              <p:nvPr/>
            </p:nvSpPr>
            <p:spPr>
              <a:xfrm>
                <a:off x="548640" y="4366259"/>
                <a:ext cx="566928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3.</a:t>
                </a:r>
                <a:r>
                  <a:rPr sz="2400">
                    <a:solidFill>
                      <a:srgbClr val="1E293B"/>
                    </a:solidFill>
                    <a:latin typeface="Calibri"/>
                  </a:rPr>
                  <a:t> Toạ độ </a:t>
                </a:r>
                <a:r>
                  <a:rPr lang="vi-VN"/>
                  <a:t>\overrightarrow{OM}</a:t>
                </a:r>
                <a:r>
                  <a:rPr sz="2400">
                    <a:solidFill>
                      <a:srgbClr val="1E293B"/>
                    </a:solidFill>
                    <a:latin typeface="Calibri"/>
                  </a:rPr>
                  <a:t>?</a:t>
                </a:r>
              </a:p>
            </p:txBody>
          </p:sp>
        </mc:Fallback>
      </mc:AlternateContent>
      <p:sp>
        <p:nvSpPr>
          <p:cNvPr id="16" name="s3_nen"/>
          <p:cNvSpPr/>
          <p:nvPr/>
        </p:nvSpPr>
        <p:spPr>
          <a:xfrm>
            <a:off x="6309360" y="4320540"/>
            <a:ext cx="329184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3_chu"/>
              <p:cNvSpPr txBox="1"/>
              <p:nvPr/>
            </p:nvSpPr>
            <p:spPr>
              <a:xfrm>
                <a:off x="6473952" y="4357116"/>
                <a:ext cx="29626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d>
                      <m:dPr>
                        <m:sepChr m:val=""/>
                      </m:dPr>
                      <m:e>
                        <m:r>
                          <a:rPr lang="vi-VN" sz="2400" b="0">
                            <a:solidFill>
                              <a:srgbClr val="1E293B"/>
                            </a:solidFill>
                            <a:latin typeface="Cambria Math" panose="02040503050406030204" pitchFamily="18" charset="0"/>
                          </a:rPr>
                          <m:t>2</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4</m:t>
                        </m:r>
                      </m:e>
                    </m:d>
                  </m:oMath>
                </a14:m>
              </a:p>
            </p:txBody>
          </p:sp>
        </mc:Choice>
        <mc:Fallback>
          <p:sp>
            <p:nvSpPr>
              <p:cNvPr id="17" name="TextBox 16"/>
              <p:cNvSpPr txBox="1"/>
              <p:nvPr/>
            </p:nvSpPr>
            <p:spPr>
              <a:xfrm>
                <a:off x="6473952" y="4357116"/>
                <a:ext cx="29626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(2;\ -1;\ 4)</a:t>
                </a:r>
              </a:p>
            </p:txBody>
          </p:sp>
        </mc:Fallback>
      </mc:AlternateContent>
      <mc:AlternateContent xmlns:mc="http://schemas.openxmlformats.org/markup-compatibility/2006">
        <mc:Choice xmlns:a14="http://schemas.microsoft.com/office/drawing/2010/main" Requires="a14">
          <p:sp>
            <p:nvSpPr>
              <p:cNvPr id="18" name="TextBox 17"/>
              <p:cNvSpPr txBox="1"/>
              <p:nvPr/>
            </p:nvSpPr>
            <p:spPr>
              <a:xfrm>
                <a:off x="548640" y="5314950"/>
                <a:ext cx="566928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4.</a:t>
                </a:r>
                <a:r>
                  <a:rPr sz="2400">
                    <a:solidFill>
                      <a:srgbClr val="1E293B"/>
                    </a:solidFill>
                    <a:latin typeface="Calibri"/>
                  </a:rPr>
                  <a:t> Toạ độ </a:t>
                </a:r>
                <a14:m>
                  <m:oMath xmlns:m="http://schemas.openxmlformats.org/officeDocument/2006/math">
                    <m:r>
                      <a:rPr lang="vi-VN" sz="2400" b="0">
                        <a:solidFill>
                          <a:srgbClr val="1E293B"/>
                        </a:solidFill>
                        <a:latin typeface="Cambria Math" panose="02040503050406030204" pitchFamily="18" charset="0"/>
                      </a:rPr>
                      <m:t>3</m:t>
                    </m:r>
                    <m:acc>
                      <m:accPr>
                        <m:chr m:val="⃗"/>
                      </m:accPr>
                      <m:e>
                        <m:r>
                          <a:rPr lang="vi-VN" sz="2400" b="0">
                            <a:solidFill>
                              <a:srgbClr val="1E293B"/>
                            </a:solidFill>
                            <a:latin typeface="Cambria Math" panose="02040503050406030204" pitchFamily="18" charset="0"/>
                          </a:rPr>
                          <m:t>i</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k</m:t>
                        </m:r>
                      </m:e>
                    </m:acc>
                  </m:oMath>
                </a14:m>
                <a:r>
                  <a:rPr sz="2400">
                    <a:solidFill>
                      <a:srgbClr val="1E293B"/>
                    </a:solidFill>
                    <a:latin typeface="Calibri"/>
                  </a:rPr>
                  <a:t>?</a:t>
                </a:r>
              </a:p>
            </p:txBody>
          </p:sp>
        </mc:Choice>
        <mc:Fallback>
          <p:sp>
            <p:nvSpPr>
              <p:cNvPr id="18" name="TextBox 17"/>
              <p:cNvSpPr txBox="1"/>
              <p:nvPr/>
            </p:nvSpPr>
            <p:spPr>
              <a:xfrm>
                <a:off x="548640" y="5314950"/>
                <a:ext cx="566928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4.</a:t>
                </a:r>
                <a:r>
                  <a:rPr sz="2400">
                    <a:solidFill>
                      <a:srgbClr val="1E293B"/>
                    </a:solidFill>
                    <a:latin typeface="Calibri"/>
                  </a:rPr>
                  <a:t> Toạ độ </a:t>
                </a:r>
                <a:r>
                  <a:rPr lang="vi-VN"/>
                  <a:t>3\vec{i}-\vec{k}</a:t>
                </a:r>
                <a:r>
                  <a:rPr sz="2400">
                    <a:solidFill>
                      <a:srgbClr val="1E293B"/>
                    </a:solidFill>
                    <a:latin typeface="Calibri"/>
                  </a:rPr>
                  <a:t>?</a:t>
                </a:r>
              </a:p>
            </p:txBody>
          </p:sp>
        </mc:Fallback>
      </mc:AlternateContent>
      <p:sp>
        <p:nvSpPr>
          <p:cNvPr id="19" name="s4_nen"/>
          <p:cNvSpPr/>
          <p:nvPr/>
        </p:nvSpPr>
        <p:spPr>
          <a:xfrm>
            <a:off x="6309360" y="5269230"/>
            <a:ext cx="329184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20" name="s4_chu"/>
              <p:cNvSpPr txBox="1"/>
              <p:nvPr/>
            </p:nvSpPr>
            <p:spPr>
              <a:xfrm>
                <a:off x="6473952" y="5305806"/>
                <a:ext cx="29626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d>
                      <m:dPr>
                        <m:sepChr m:val=""/>
                      </m:dPr>
                      <m:e>
                        <m:r>
                          <a:rPr lang="vi-VN" sz="2400" b="0">
                            <a:solidFill>
                              <a:srgbClr val="1E293B"/>
                            </a:solidFill>
                            <a:latin typeface="Cambria Math" panose="02040503050406030204" pitchFamily="18" charset="0"/>
                          </a:rPr>
                          <m:t>3</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e>
                    </m:d>
                  </m:oMath>
                </a14:m>
              </a:p>
            </p:txBody>
          </p:sp>
        </mc:Choice>
        <mc:Fallback>
          <p:sp>
            <p:nvSpPr>
              <p:cNvPr id="20" name="TextBox 19"/>
              <p:cNvSpPr txBox="1"/>
              <p:nvPr/>
            </p:nvSpPr>
            <p:spPr>
              <a:xfrm>
                <a:off x="6473952" y="5305806"/>
                <a:ext cx="29626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(3;\ 0;\ -1)</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TỔNG KẾT TIẾT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Hệ trục toạ độ trong không gian – Toán 12          25</a:t>
            </a:r>
          </a:p>
        </p:txBody>
      </p:sp>
      <p:sp>
        <p:nvSpPr>
          <p:cNvPr id="7" name="Rounded Rectangle 6"/>
          <p:cNvSpPr/>
          <p:nvPr/>
        </p:nvSpPr>
        <p:spPr>
          <a:xfrm>
            <a:off x="548640" y="1463040"/>
            <a:ext cx="11064240" cy="103632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99616"/>
                <a:ext cx="10735056" cy="963167"/>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14:m>
                  <m:oMath xmlns:m="http://schemas.openxmlformats.org/officeDocument/2006/math">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=x</m:t>
                    </m:r>
                    <m:acc>
                      <m:accPr>
                        <m:chr m:val="⃗"/>
                      </m:accPr>
                      <m:e>
                        <m:r>
                          <a:rPr lang="vi-VN" sz="2200" b="0">
                            <a:solidFill>
                              <a:srgbClr val="1E293B"/>
                            </a:solidFill>
                            <a:latin typeface="Cambria Math" panose="02040503050406030204" pitchFamily="18" charset="0"/>
                          </a:rPr>
                          <m:t>i</m:t>
                        </m:r>
                      </m:e>
                    </m:acc>
                    <m:r>
                      <a:rPr lang="vi-VN" sz="2200" b="0">
                        <a:solidFill>
                          <a:srgbClr val="1E293B"/>
                        </a:solidFill>
                        <a:latin typeface="Cambria Math" panose="02040503050406030204" pitchFamily="18" charset="0"/>
                      </a:rPr>
                      <m:t>+y</m:t>
                    </m:r>
                    <m:acc>
                      <m:accPr>
                        <m:chr m:val="⃗"/>
                      </m:accPr>
                      <m:e>
                        <m:r>
                          <a:rPr lang="vi-VN" sz="2200" b="0">
                            <a:solidFill>
                              <a:srgbClr val="1E293B"/>
                            </a:solidFill>
                            <a:latin typeface="Cambria Math" panose="02040503050406030204" pitchFamily="18" charset="0"/>
                          </a:rPr>
                          <m:t>j</m:t>
                        </m:r>
                      </m:e>
                    </m:acc>
                    <m:r>
                      <a:rPr lang="vi-VN" sz="2200" b="0">
                        <a:solidFill>
                          <a:srgbClr val="1E293B"/>
                        </a:solidFill>
                        <a:latin typeface="Cambria Math" panose="02040503050406030204" pitchFamily="18" charset="0"/>
                      </a:rPr>
                      <m:t>+z</m:t>
                    </m:r>
                    <m:acc>
                      <m:accPr>
                        <m:chr m:val="⃗"/>
                      </m:accPr>
                      <m:e>
                        <m:r>
                          <a:rPr lang="vi-VN" sz="2200" b="0">
                            <a:solidFill>
                              <a:srgbClr val="1E293B"/>
                            </a:solidFill>
                            <a:latin typeface="Cambria Math" panose="02040503050406030204" pitchFamily="18" charset="0"/>
                          </a:rPr>
                          <m:t>k</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=(x;y;z)</m:t>
                    </m:r>
                  </m:oMath>
                </a14:m>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i</m:t>
                        </m:r>
                      </m:e>
                    </m:acc>
                    <m:r>
                      <a:rPr lang="vi-VN" sz="2200" b="0">
                        <a:solidFill>
                          <a:srgbClr val="1E293B"/>
                        </a:solidFill>
                        <a:latin typeface="Cambria Math" panose="02040503050406030204" pitchFamily="18" charset="0"/>
                      </a:rPr>
                      <m:t>=(1;0;0)</m:t>
                    </m:r>
                  </m:oMath>
                </a14:m>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j</m:t>
                        </m:r>
                      </m:e>
                    </m:acc>
                    <m:r>
                      <a:rPr lang="vi-VN" sz="2200" b="0">
                        <a:solidFill>
                          <a:srgbClr val="1E293B"/>
                        </a:solidFill>
                        <a:latin typeface="Cambria Math" panose="02040503050406030204" pitchFamily="18" charset="0"/>
                      </a:rPr>
                      <m:t>=(0;1;0)</m:t>
                    </m:r>
                  </m:oMath>
                </a14:m>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k</m:t>
                        </m:r>
                      </m:e>
                    </m:acc>
                    <m:r>
                      <a:rPr lang="vi-VN" sz="2200" b="0">
                        <a:solidFill>
                          <a:srgbClr val="1E293B"/>
                        </a:solidFill>
                        <a:latin typeface="Cambria Math" panose="02040503050406030204" pitchFamily="18" charset="0"/>
                      </a:rPr>
                      <m:t>=(0;0;1)</m:t>
                    </m:r>
                  </m:oMath>
                </a14:m>
                <a:r>
                  <a:rPr sz="2200">
                    <a:solidFill>
                      <a:srgbClr val="1E293B"/>
                    </a:solidFill>
                    <a:latin typeface="Calibri"/>
                  </a:rPr>
                  <a:t>.</a:t>
                </a:r>
              </a:p>
              <a:p>
                <a:pPr algn="l" marL="365760" indent="-365760">
                  <a:spcAft>
                    <a:spcPts val="800"/>
                  </a:spcAft>
                  <a:buClr>
                    <a:srgbClr val="1E40AF"/>
                  </a:buClr>
                  <a:buFont typeface="Arial"/>
                  <a:buChar char="•"/>
                </a:pPr>
                <a14:m>
                  <m:oMath xmlns:m="http://schemas.openxmlformats.org/officeDocument/2006/math">
                    <m:acc>
                      <m:accPr>
                        <m:chr m:val="⃗"/>
                      </m:accPr>
                      <m:e>
                        <m:r>
                          <a:rPr lang="vi-VN" sz="2200" b="0">
                            <a:solidFill>
                              <a:srgbClr val="1E293B"/>
                            </a:solidFill>
                            <a:latin typeface="Cambria Math" panose="02040503050406030204" pitchFamily="18" charset="0"/>
                          </a:rPr>
                          <m:t>MN</m:t>
                        </m:r>
                      </m:e>
                    </m:acc>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M</m:t>
                        </m:r>
                      </m:sub>
                    </m:sSub>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sSub>
                      <m:e>
                        <m:r>
                          <a:rPr lang="vi-VN" sz="2200" b="0">
                            <a:solidFill>
                              <a:srgbClr val="1E293B"/>
                            </a:solidFill>
                            <a:latin typeface="Cambria Math" panose="02040503050406030204" pitchFamily="18" charset="0"/>
                          </a:rPr>
                          <m:t>y</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y</m:t>
                        </m:r>
                      </m:e>
                      <m:sub>
                        <m:r>
                          <a:rPr lang="vi-VN" sz="2200" b="0">
                            <a:solidFill>
                              <a:srgbClr val="1E293B"/>
                            </a:solidFill>
                            <a:latin typeface="Cambria Math" panose="02040503050406030204" pitchFamily="18" charset="0"/>
                          </a:rPr>
                          <m:t>M</m:t>
                        </m:r>
                      </m:sub>
                    </m:sSub>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sSub>
                      <m:e>
                        <m:r>
                          <a:rPr lang="vi-VN" sz="2200" b="0">
                            <a:solidFill>
                              <a:srgbClr val="1E293B"/>
                            </a:solidFill>
                            <a:latin typeface="Cambria Math" panose="02040503050406030204" pitchFamily="18" charset="0"/>
                          </a:rPr>
                          <m:t>z</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z</m:t>
                        </m:r>
                      </m:e>
                      <m:sub>
                        <m:r>
                          <a:rPr lang="vi-VN" sz="2200" b="0">
                            <a:solidFill>
                              <a:srgbClr val="1E293B"/>
                            </a:solidFill>
                            <a:latin typeface="Cambria Math" panose="02040503050406030204" pitchFamily="18" charset="0"/>
                          </a:rPr>
                          <m:t>M</m:t>
                        </m:r>
                      </m:sub>
                    </m:sSub>
                    <m:r>
                      <a:rPr lang="vi-VN" sz="2200" b="0">
                        <a:solidFill>
                          <a:srgbClr val="1E293B"/>
                        </a:solidFill>
                        <a:latin typeface="Cambria Math" panose="02040503050406030204" pitchFamily="18" charset="0"/>
                      </a:rPr>
                      <m:t>)</m:t>
                    </m:r>
                  </m:oMath>
                </a14:m>
                <a:r>
                  <a:rPr sz="2200">
                    <a:solidFill>
                      <a:srgbClr val="1E293B"/>
                    </a:solidFill>
                    <a:latin typeface="Calibri"/>
                  </a:rPr>
                  <a:t>.</a:t>
                </a:r>
              </a:p>
            </p:txBody>
          </p:sp>
        </mc:Choice>
        <mc:Fallback>
          <p:sp>
            <p:nvSpPr>
              <p:cNvPr id="8" name="TextBox 7"/>
              <p:cNvSpPr txBox="1"/>
              <p:nvPr/>
            </p:nvSpPr>
            <p:spPr>
              <a:xfrm>
                <a:off x="713232" y="1499616"/>
                <a:ext cx="10735056" cy="963167"/>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lang="vi-VN"/>
                  <a:t>\vec{a}=x\vec{i}+y\vec{j}+z\vec{k}</a:t>
                </a:r>
                <a:r>
                  <a:rPr sz="2200">
                    <a:solidFill>
                      <a:srgbClr val="1E293B"/>
                    </a:solidFill>
                    <a:latin typeface="Calibri"/>
                  </a:rPr>
                  <a:t> ⇔ </a:t>
                </a:r>
                <a:r>
                  <a:rPr lang="vi-VN"/>
                  <a:t>\vec{a}=(x;y;z)</a:t>
                </a:r>
                <a:r>
                  <a:rPr sz="2200">
                    <a:solidFill>
                      <a:srgbClr val="1E293B"/>
                    </a:solidFill>
                    <a:latin typeface="Calibri"/>
                  </a:rPr>
                  <a:t>; </a:t>
                </a:r>
                <a:r>
                  <a:rPr lang="vi-VN"/>
                  <a:t>\vec{i}=(1;0;0)</a:t>
                </a:r>
                <a:r>
                  <a:rPr sz="2200">
                    <a:solidFill>
                      <a:srgbClr val="1E293B"/>
                    </a:solidFill>
                    <a:latin typeface="Calibri"/>
                  </a:rPr>
                  <a:t>, </a:t>
                </a:r>
                <a:r>
                  <a:rPr lang="vi-VN"/>
                  <a:t>\vec{j}=(0;1;0)</a:t>
                </a:r>
                <a:r>
                  <a:rPr sz="2200">
                    <a:solidFill>
                      <a:srgbClr val="1E293B"/>
                    </a:solidFill>
                    <a:latin typeface="Calibri"/>
                  </a:rPr>
                  <a:t>, </a:t>
                </a:r>
                <a:r>
                  <a:rPr lang="vi-VN"/>
                  <a:t>\vec{k}=(0;0;1)</a:t>
                </a:r>
                <a:r>
                  <a:rPr sz="2200">
                    <a:solidFill>
                      <a:srgbClr val="1E293B"/>
                    </a:solidFill>
                    <a:latin typeface="Calibri"/>
                  </a:rPr>
                  <a:t>.</a:t>
                </a:r>
              </a:p>
              <a:p>
                <a:pPr algn="l" marL="365760" indent="-365760">
                  <a:spcAft>
                    <a:spcPts val="800"/>
                  </a:spcAft>
                  <a:buClr>
                    <a:srgbClr val="1E40AF"/>
                  </a:buClr>
                  <a:buFont typeface="Arial"/>
                  <a:buChar char="•"/>
                </a:pPr>
                <a:r>
                  <a:rPr lang="vi-VN"/>
                  <a:t>\overrightarrow{MN}=(x_N-x_M;\ y_N-y_M;\ z_N-z_M)</a:t>
                </a:r>
                <a:r>
                  <a:rPr sz="2200">
                    <a:solidFill>
                      <a:srgbClr val="1E293B"/>
                    </a:solidFill>
                    <a:latin typeface="Calibri"/>
                  </a:rPr>
                  <a:t>.</a:t>
                </a:r>
              </a:p>
            </p:txBody>
          </p:sp>
        </mc:Fallback>
      </mc:AlternateContent>
      <p:sp>
        <p:nvSpPr>
          <p:cNvPr id="9" name="Rounded Rectangle 8"/>
          <p:cNvSpPr/>
          <p:nvPr/>
        </p:nvSpPr>
        <p:spPr>
          <a:xfrm>
            <a:off x="548640" y="2727960"/>
            <a:ext cx="11064240" cy="1472184"/>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764536"/>
            <a:ext cx="10735056" cy="139903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Làm Bài tập 2.15, 2.18 (SGK tr.65).</a:t>
            </a:r>
          </a:p>
          <a:p>
            <a:pPr algn="l" marL="365760" indent="-365760">
              <a:spcAft>
                <a:spcPts val="800"/>
              </a:spcAft>
              <a:buClr>
                <a:srgbClr val="1E40AF"/>
              </a:buClr>
              <a:buFont typeface="Arial"/>
              <a:buChar char="•"/>
            </a:pPr>
            <a:r>
              <a:rPr sz="2200">
                <a:solidFill>
                  <a:srgbClr val="1E293B"/>
                </a:solidFill>
                <a:latin typeface="Calibri"/>
              </a:rPr>
              <a:t>Tiết sau luyện tập: mang máy tính cầm tay.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3 (T36)</a:t>
            </a:r>
          </a:p>
          <a:p>
            <a:pPr>
              <a:spcAft>
                <a:spcPts val="600"/>
              </a:spcAft>
            </a:pPr>
            <a:r>
              <a:rPr sz="4000" b="1">
                <a:solidFill>
                  <a:srgbClr val="FFFFFF"/>
                </a:solidFill>
                <a:latin typeface="Cambria"/>
              </a:rPr>
              <a:t>Luyện tập</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Vận dụng toạ độ điểm, toạ độ vectơ giải Bài tập 2.13 – 2.19.</a:t>
            </a:r>
          </a:p>
          <a:p>
            <a:pPr algn="l">
              <a:spcAft>
                <a:spcPts val="800"/>
              </a:spcAft>
            </a:pPr>
            <a:r>
              <a:rPr sz="2200">
                <a:solidFill>
                  <a:srgbClr val="E0E7FF"/>
                </a:solidFill>
                <a:latin typeface="Calibri"/>
              </a:rPr>
              <a:t>• Tìm hiểu toạ độ cầu (Em có biết?).</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KHỞI ĐỘNG: HỘP QUÀ BÍ MẬT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Hệ trục toạ độ trong không gian – Toán 12          27</a:t>
            </a:r>
          </a:p>
        </p:txBody>
      </p:sp>
      <mc:AlternateContent xmlns:mc="http://schemas.openxmlformats.org/markup-compatibility/2006">
        <mc:Choice xmlns:a14="http://schemas.microsoft.com/office/drawing/2010/main" Requires="a14">
          <p:sp>
            <p:nvSpPr>
              <p:cNvPr id="7" name="TextBox 6"/>
              <p:cNvSpPr txBox="1"/>
              <p:nvPr/>
            </p:nvSpPr>
            <p:spPr>
              <a:xfrm>
                <a:off x="548640" y="1417320"/>
                <a:ext cx="11064240" cy="640080"/>
              </a:xfrm>
              <a:prstGeom prst="rect">
                <a:avLst/>
              </a:prstGeom>
              <a:noFill/>
            </p:spPr>
            <p:txBody>
              <a:bodyPr wrap="square" anchor="t" lIns="45720" rIns="45720">
                <a:spAutoFit/>
              </a:bodyPr>
              <a:lstStyle/>
              <a:p>
                <a:pPr algn="ctr">
                  <a:spcAft>
                    <a:spcPts val="800"/>
                  </a:spcAft>
                </a:pPr>
                <a:r>
                  <a:rPr sz="2400">
                    <a:solidFill>
                      <a:srgbClr val="1E293B"/>
                    </a:solidFill>
                    <a:latin typeface="Calibri"/>
                  </a:rPr>
                  <a:t>Hình hộp chữ nhật </a:t>
                </a:r>
                <a14:m>
                  <m:oMath xmlns:m="http://schemas.openxmlformats.org/officeDocument/2006/math">
                    <m:r>
                      <a:rPr lang="vi-VN" sz="2400" b="0">
                        <a:solidFill>
                          <a:srgbClr val="1E293B"/>
                        </a:solidFill>
                        <a:latin typeface="Cambria Math" panose="02040503050406030204" pitchFamily="18" charset="0"/>
                      </a:rPr>
                      <m:t>ABCD.</m:t>
                    </m:r>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m:t>
                        </m:r>
                      </m:sup>
                    </m:sSup>
                    <m:sSup>
                      <m:e>
                        <m:r>
                          <a:rPr lang="vi-VN" sz="2400" b="0">
                            <a:solidFill>
                              <a:srgbClr val="1E293B"/>
                            </a:solidFill>
                            <a:latin typeface="Cambria Math" panose="02040503050406030204" pitchFamily="18" charset="0"/>
                          </a:rPr>
                          <m:t>B</m:t>
                        </m:r>
                      </m:e>
                      <m:sup>
                        <m:r>
                          <a:rPr lang="vi-VN" sz="2400" b="0">
                            <a:solidFill>
                              <a:srgbClr val="1E293B"/>
                            </a:solidFill>
                            <a:latin typeface="Cambria Math" panose="02040503050406030204" pitchFamily="18" charset="0"/>
                          </a:rPr>
                          <m:t>′</m:t>
                        </m:r>
                      </m:sup>
                    </m:sSup>
                    <m:sSup>
                      <m:e>
                        <m:r>
                          <a:rPr lang="vi-VN" sz="2400" b="0">
                            <a:solidFill>
                              <a:srgbClr val="1E293B"/>
                            </a:solidFill>
                            <a:latin typeface="Cambria Math" panose="02040503050406030204" pitchFamily="18" charset="0"/>
                          </a:rPr>
                          <m:t>C</m:t>
                        </m:r>
                      </m:e>
                      <m:sup>
                        <m:r>
                          <a:rPr lang="vi-VN" sz="2400" b="0">
                            <a:solidFill>
                              <a:srgbClr val="1E293B"/>
                            </a:solidFill>
                            <a:latin typeface="Cambria Math" panose="02040503050406030204" pitchFamily="18" charset="0"/>
                          </a:rPr>
                          <m:t>′</m:t>
                        </m:r>
                      </m:sup>
                    </m:sSup>
                    <m:sSup>
                      <m:e>
                        <m:r>
                          <a:rPr lang="vi-VN" sz="2400" b="0">
                            <a:solidFill>
                              <a:srgbClr val="1E293B"/>
                            </a:solidFill>
                            <a:latin typeface="Cambria Math" panose="02040503050406030204" pitchFamily="18" charset="0"/>
                          </a:rPr>
                          <m:t>D</m:t>
                        </m:r>
                      </m:e>
                      <m:sup>
                        <m:r>
                          <a:rPr lang="vi-VN" sz="2400" b="0">
                            <a:solidFill>
                              <a:srgbClr val="1E293B"/>
                            </a:solidFill>
                            <a:latin typeface="Cambria Math" panose="02040503050406030204" pitchFamily="18" charset="0"/>
                          </a:rPr>
                          <m:t>′</m:t>
                        </m:r>
                      </m:sup>
                    </m:sSup>
                  </m:oMath>
                </a14:m>
                <a:r>
                  <a:rPr sz="2400">
                    <a:solidFill>
                      <a:srgbClr val="1E293B"/>
                    </a:solidFill>
                    <a:latin typeface="Calibri"/>
                  </a:rPr>
                  <a:t> với </a:t>
                </a:r>
                <a14:m>
                  <m:oMath xmlns:m="http://schemas.openxmlformats.org/officeDocument/2006/math">
                    <m:r>
                      <a:rPr lang="vi-VN" sz="2400" b="0">
                        <a:solidFill>
                          <a:srgbClr val="1E293B"/>
                        </a:solidFill>
                        <a:latin typeface="Cambria Math" panose="02040503050406030204" pitchFamily="18" charset="0"/>
                      </a:rPr>
                      <m:t>A≡O</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D(2;0;0)</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B(0;4;0)</m:t>
                    </m:r>
                  </m:oMath>
                </a14:m>
                <a:r>
                  <a:rPr sz="2400">
                    <a:solidFill>
                      <a:srgbClr val="1E293B"/>
                    </a:solidFill>
                    <a:latin typeface="Calibri"/>
                  </a:rPr>
                  <a:t>, </a:t>
                </a:r>
                <a14:m>
                  <m:oMath xmlns:m="http://schemas.openxmlformats.org/officeDocument/2006/math">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(0;0;3)</m:t>
                    </m:r>
                  </m:oMath>
                </a14:m>
                <a:r>
                  <a:rPr sz="2400">
                    <a:solidFill>
                      <a:srgbClr val="1E293B"/>
                    </a:solidFill>
                    <a:latin typeface="Calibri"/>
                  </a:rPr>
                  <a:t>. Chọn một hộp quà!</a:t>
                </a:r>
              </a:p>
            </p:txBody>
          </p:sp>
        </mc:Choice>
        <mc:Fallback>
          <p:sp>
            <p:nvSpPr>
              <p:cNvPr id="7" name="TextBox 6"/>
              <p:cNvSpPr txBox="1"/>
              <p:nvPr/>
            </p:nvSpPr>
            <p:spPr>
              <a:xfrm>
                <a:off x="548640" y="1417320"/>
                <a:ext cx="11064240" cy="640080"/>
              </a:xfrm>
              <a:prstGeom prst="rect">
                <a:avLst/>
              </a:prstGeom>
              <a:noFill/>
            </p:spPr>
            <p:txBody>
              <a:bodyPr wrap="square" anchor="t" lIns="45720" rIns="45720">
                <a:spAutoFit/>
              </a:bodyPr>
              <a:lstStyle/>
              <a:p>
                <a:pPr algn="ctr">
                  <a:spcAft>
                    <a:spcPts val="800"/>
                  </a:spcAft>
                </a:pPr>
                <a:r>
                  <a:rPr sz="2400">
                    <a:solidFill>
                      <a:srgbClr val="1E293B"/>
                    </a:solidFill>
                    <a:latin typeface="Calibri"/>
                  </a:rPr>
                  <a:t>Hình hộp chữ nhật </a:t>
                </a:r>
                <a:r>
                  <a:rPr lang="vi-VN"/>
                  <a:t>ABCD.A'B'C'D'</a:t>
                </a:r>
                <a:r>
                  <a:rPr sz="2400">
                    <a:solidFill>
                      <a:srgbClr val="1E293B"/>
                    </a:solidFill>
                    <a:latin typeface="Calibri"/>
                  </a:rPr>
                  <a:t> với </a:t>
                </a:r>
                <a:r>
                  <a:rPr lang="vi-VN"/>
                  <a:t>A\equiv O</a:t>
                </a:r>
                <a:r>
                  <a:rPr sz="2400">
                    <a:solidFill>
                      <a:srgbClr val="1E293B"/>
                    </a:solidFill>
                    <a:latin typeface="Calibri"/>
                  </a:rPr>
                  <a:t>, </a:t>
                </a:r>
                <a:r>
                  <a:rPr lang="vi-VN"/>
                  <a:t>D(2;0;0)</a:t>
                </a:r>
                <a:r>
                  <a:rPr sz="2400">
                    <a:solidFill>
                      <a:srgbClr val="1E293B"/>
                    </a:solidFill>
                    <a:latin typeface="Calibri"/>
                  </a:rPr>
                  <a:t>, </a:t>
                </a:r>
                <a:r>
                  <a:rPr lang="vi-VN"/>
                  <a:t>B(0;4;0)</a:t>
                </a:r>
                <a:r>
                  <a:rPr sz="2400">
                    <a:solidFill>
                      <a:srgbClr val="1E293B"/>
                    </a:solidFill>
                    <a:latin typeface="Calibri"/>
                  </a:rPr>
                  <a:t>, </a:t>
                </a:r>
                <a:r>
                  <a:rPr lang="vi-VN"/>
                  <a:t>A'(0;0;3)</a:t>
                </a:r>
                <a:r>
                  <a:rPr sz="2400">
                    <a:solidFill>
                      <a:srgbClr val="1E293B"/>
                    </a:solidFill>
                    <a:latin typeface="Calibri"/>
                  </a:rPr>
                  <a:t>. Chọn một hộp quà!</a:t>
                </a:r>
              </a:p>
            </p:txBody>
          </p:sp>
        </mc:Fallback>
      </mc:AlternateContent>
      <p:sp>
        <p:nvSpPr>
          <p:cNvPr id="8" name="Rounded Rectangle 7">
            <a:hlinkClick action="ppaction://hlinksldjump" r:id="rId3"/>
          </p:cNvPr>
          <p:cNvSpPr/>
          <p:nvPr/>
        </p:nvSpPr>
        <p:spPr>
          <a:xfrm>
            <a:off x="914399" y="2468880"/>
            <a:ext cx="2377440" cy="219456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200" b="1">
                <a:solidFill>
                  <a:srgbClr val="FFFFFF"/>
                </a:solidFill>
                <a:latin typeface="Calibri"/>
              </a:rPr>
              <a:t>🎁</a:t>
            </a:r>
          </a:p>
          <a:p>
            <a:pPr algn="ctr"/>
            <a:r>
              <a:rPr sz="3200" b="1">
                <a:solidFill>
                  <a:srgbClr val="FFFFFF"/>
                </a:solidFill>
                <a:latin typeface="Calibri"/>
              </a:rPr>
              <a:t>HỘP 1</a:t>
            </a:r>
          </a:p>
        </p:txBody>
      </p:sp>
      <p:sp>
        <p:nvSpPr>
          <p:cNvPr id="9" name="Rounded Rectangle 8">
            <a:hlinkClick action="ppaction://hlinksldjump" r:id="rId4"/>
          </p:cNvPr>
          <p:cNvSpPr/>
          <p:nvPr/>
        </p:nvSpPr>
        <p:spPr>
          <a:xfrm>
            <a:off x="3566159" y="2468880"/>
            <a:ext cx="2377440" cy="219456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200" b="1">
                <a:solidFill>
                  <a:srgbClr val="FFFFFF"/>
                </a:solidFill>
                <a:latin typeface="Calibri"/>
              </a:rPr>
              <a:t>🎁</a:t>
            </a:r>
          </a:p>
          <a:p>
            <a:pPr algn="ctr"/>
            <a:r>
              <a:rPr sz="3200" b="1">
                <a:solidFill>
                  <a:srgbClr val="FFFFFF"/>
                </a:solidFill>
                <a:latin typeface="Calibri"/>
              </a:rPr>
              <a:t>HỘP 2</a:t>
            </a:r>
          </a:p>
        </p:txBody>
      </p:sp>
      <p:sp>
        <p:nvSpPr>
          <p:cNvPr id="10" name="Rounded Rectangle 9">
            <a:hlinkClick action="ppaction://hlinksldjump" r:id="rId5"/>
          </p:cNvPr>
          <p:cNvSpPr/>
          <p:nvPr/>
        </p:nvSpPr>
        <p:spPr>
          <a:xfrm>
            <a:off x="6217920" y="2468880"/>
            <a:ext cx="2377440" cy="219456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200" b="1">
                <a:solidFill>
                  <a:srgbClr val="FFFFFF"/>
                </a:solidFill>
                <a:latin typeface="Calibri"/>
              </a:rPr>
              <a:t>🎁</a:t>
            </a:r>
          </a:p>
          <a:p>
            <a:pPr algn="ctr"/>
            <a:r>
              <a:rPr sz="3200" b="1">
                <a:solidFill>
                  <a:srgbClr val="FFFFFF"/>
                </a:solidFill>
                <a:latin typeface="Calibri"/>
              </a:rPr>
              <a:t>HỘP 3</a:t>
            </a:r>
          </a:p>
        </p:txBody>
      </p:sp>
      <p:sp>
        <p:nvSpPr>
          <p:cNvPr id="11" name="Rounded Rectangle 10">
            <a:hlinkClick action="ppaction://hlinksldjump" r:id="rId6"/>
          </p:cNvPr>
          <p:cNvSpPr/>
          <p:nvPr/>
        </p:nvSpPr>
        <p:spPr>
          <a:xfrm>
            <a:off x="8869680" y="2468880"/>
            <a:ext cx="2377440" cy="219456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200" b="1">
                <a:solidFill>
                  <a:srgbClr val="FFFFFF"/>
                </a:solidFill>
                <a:latin typeface="Calibri"/>
              </a:rPr>
              <a:t>🎁</a:t>
            </a:r>
          </a:p>
          <a:p>
            <a:pPr algn="ctr"/>
            <a:r>
              <a:rPr sz="3200" b="1">
                <a:solidFill>
                  <a:srgbClr val="FFFFFF"/>
                </a:solidFill>
                <a:latin typeface="Calibri"/>
              </a:rPr>
              <a:t>HỘP 4</a:t>
            </a:r>
          </a:p>
        </p:txBody>
      </p:sp>
      <p:sp>
        <p:nvSpPr>
          <p:cNvPr id="12" name="TextBox 11"/>
          <p:cNvSpPr txBox="1"/>
          <p:nvPr/>
        </p:nvSpPr>
        <p:spPr>
          <a:xfrm>
            <a:off x="548640" y="5029200"/>
            <a:ext cx="11064240" cy="731520"/>
          </a:xfrm>
          <a:prstGeom prst="rect">
            <a:avLst/>
          </a:prstGeom>
          <a:noFill/>
        </p:spPr>
        <p:txBody>
          <a:bodyPr wrap="square" anchor="t" lIns="45720" rIns="45720">
            <a:spAutoFit/>
          </a:bodyPr>
          <a:lstStyle/>
          <a:p>
            <a:pPr algn="ctr">
              <a:spcAft>
                <a:spcPts val="800"/>
              </a:spcAft>
            </a:pPr>
            <a:r>
              <a:rPr sz="2000">
                <a:solidFill>
                  <a:srgbClr val="64748B"/>
                </a:solidFill>
                <a:latin typeface="Calibri"/>
              </a:rPr>
              <a:t>📋 Mỗi đội chọn 1 hộp – trả lời đúng trong 30 giây nhận quà ghi trong hộp.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HỘP QUÀ SỐ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Hệ trục toạ độ trong không gian – Toán 12          28</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768096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Toạ độ đỉnh </a:t>
                </a:r>
                <a14:m>
                  <m:oMath xmlns:m="http://schemas.openxmlformats.org/officeDocument/2006/math">
                    <m:r>
                      <a:rPr lang="vi-VN" sz="2600" b="0">
                        <a:solidFill>
                          <a:srgbClr val="1E293B"/>
                        </a:solidFill>
                        <a:latin typeface="Cambria Math" panose="02040503050406030204" pitchFamily="18" charset="0"/>
                      </a:rPr>
                      <m:t>C</m:t>
                    </m:r>
                  </m:oMath>
                </a14:m>
                <a:r>
                  <a:rPr sz="2600">
                    <a:solidFill>
                      <a:srgbClr val="1E293B"/>
                    </a:solidFill>
                    <a:latin typeface="Calibri"/>
                  </a:rPr>
                  <a:t>?</a:t>
                </a:r>
              </a:p>
            </p:txBody>
          </p:sp>
        </mc:Choice>
        <mc:Fallback>
          <p:sp>
            <p:nvSpPr>
              <p:cNvPr id="7" name="TextBox 6"/>
              <p:cNvSpPr txBox="1"/>
              <p:nvPr/>
            </p:nvSpPr>
            <p:spPr>
              <a:xfrm>
                <a:off x="548640" y="1463040"/>
                <a:ext cx="768096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Toạ độ đỉnh </a:t>
                </a:r>
                <a:r>
                  <a:rPr lang="vi-VN"/>
                  <a:t>C</a:t>
                </a:r>
                <a:r>
                  <a:rPr sz="2600">
                    <a:solidFill>
                      <a:srgbClr val="1E293B"/>
                    </a:solidFill>
                    <a:latin typeface="Calibri"/>
                  </a:rPr>
                  <a:t>?</a:t>
                </a:r>
              </a:p>
            </p:txBody>
          </p:sp>
        </mc:Fallback>
      </mc:AlternateContent>
      <p:sp>
        <p:nvSpPr>
          <p:cNvPr id="8" name="s1_nen"/>
          <p:cNvSpPr/>
          <p:nvPr/>
        </p:nvSpPr>
        <p:spPr>
          <a:xfrm>
            <a:off x="548640" y="3017520"/>
            <a:ext cx="768096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054096"/>
                <a:ext cx="735177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C(2;</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4;</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m:t>
                    </m:r>
                  </m:oMath>
                </a14:m>
                <a:r>
                  <a:rPr sz="2400">
                    <a:solidFill>
                      <a:srgbClr val="1E293B"/>
                    </a:solidFill>
                    <a:latin typeface="Calibri"/>
                  </a:rPr>
                  <a:t>.</a:t>
                </a:r>
              </a:p>
            </p:txBody>
          </p:sp>
        </mc:Choice>
        <mc:Fallback>
          <p:sp>
            <p:nvSpPr>
              <p:cNvPr id="9" name="TextBox 8"/>
              <p:cNvSpPr txBox="1"/>
              <p:nvPr/>
            </p:nvSpPr>
            <p:spPr>
              <a:xfrm>
                <a:off x="713232" y="3054096"/>
                <a:ext cx="735177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 </a:t>
                </a:r>
                <a:r>
                  <a:rPr lang="vi-VN"/>
                  <a:t>C(2;\ 4;\ 0)</a:t>
                </a:r>
                <a:r>
                  <a:rPr sz="2400">
                    <a:solidFill>
                      <a:srgbClr val="1E293B"/>
                    </a:solidFill>
                    <a:latin typeface="Calibri"/>
                  </a:rPr>
                  <a:t>.</a:t>
                </a:r>
              </a:p>
            </p:txBody>
          </p:sp>
        </mc:Fallback>
      </mc:AlternateContent>
      <p:sp>
        <p:nvSpPr>
          <p:cNvPr id="10" name="s2_nen"/>
          <p:cNvSpPr/>
          <p:nvPr/>
        </p:nvSpPr>
        <p:spPr>
          <a:xfrm>
            <a:off x="548640" y="3831335"/>
            <a:ext cx="7680960" cy="630936"/>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2_chu"/>
          <p:cNvSpPr txBox="1"/>
          <p:nvPr/>
        </p:nvSpPr>
        <p:spPr>
          <a:xfrm>
            <a:off x="713232" y="3867911"/>
            <a:ext cx="7351776" cy="557784"/>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Một tràng pháo tay</a:t>
            </a:r>
          </a:p>
        </p:txBody>
      </p:sp>
      <p:pic>
        <p:nvPicPr>
          <p:cNvPr id="12" name="Picture 11" descr="h245.png"/>
          <p:cNvPicPr>
            <a:picLocks noChangeAspect="1"/>
          </p:cNvPicPr>
          <p:nvPr/>
        </p:nvPicPr>
        <p:blipFill>
          <a:blip r:embed="rId3"/>
          <a:stretch>
            <a:fillRect/>
          </a:stretch>
        </p:blipFill>
        <p:spPr>
          <a:xfrm>
            <a:off x="8412480" y="1651299"/>
            <a:ext cx="3291840" cy="2732442"/>
          </a:xfrm>
          <a:prstGeom prst="rect">
            <a:avLst/>
          </a:prstGeom>
        </p:spPr>
      </p:pic>
      <p:sp>
        <p:nvSpPr>
          <p:cNvPr id="13" name="Rounded Rectangle 12">
            <a:hlinkClick action="ppaction://hlinksldjump" r:id="rId4"/>
          </p:cNvPr>
          <p:cNvSpPr/>
          <p:nvPr/>
        </p:nvSpPr>
        <p:spPr>
          <a:xfrm>
            <a:off x="8778240" y="5303520"/>
            <a:ext cx="2743200" cy="59436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Về hộp quà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HỘP QUÀ SỐ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Hệ trục toạ độ trong không gian – Toán 12          29</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768096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Toạ độ đỉnh </a:t>
                </a:r>
                <a14:m>
                  <m:oMath xmlns:m="http://schemas.openxmlformats.org/officeDocument/2006/math">
                    <m:sSup>
                      <m:e>
                        <m:r>
                          <a:rPr lang="vi-VN" sz="2600" b="0">
                            <a:solidFill>
                              <a:srgbClr val="1E293B"/>
                            </a:solidFill>
                            <a:latin typeface="Cambria Math" panose="02040503050406030204" pitchFamily="18" charset="0"/>
                          </a:rPr>
                          <m:t>D</m:t>
                        </m:r>
                      </m:e>
                      <m:sup>
                        <m:r>
                          <a:rPr lang="vi-VN" sz="2600" b="0">
                            <a:solidFill>
                              <a:srgbClr val="1E293B"/>
                            </a:solidFill>
                            <a:latin typeface="Cambria Math" panose="02040503050406030204" pitchFamily="18" charset="0"/>
                          </a:rPr>
                          <m:t>′</m:t>
                        </m:r>
                      </m:sup>
                    </m:sSup>
                  </m:oMath>
                </a14:m>
                <a:r>
                  <a:rPr sz="2600">
                    <a:solidFill>
                      <a:srgbClr val="1E293B"/>
                    </a:solidFill>
                    <a:latin typeface="Calibri"/>
                  </a:rPr>
                  <a:t>?</a:t>
                </a:r>
              </a:p>
            </p:txBody>
          </p:sp>
        </mc:Choice>
        <mc:Fallback>
          <p:sp>
            <p:nvSpPr>
              <p:cNvPr id="7" name="TextBox 6"/>
              <p:cNvSpPr txBox="1"/>
              <p:nvPr/>
            </p:nvSpPr>
            <p:spPr>
              <a:xfrm>
                <a:off x="548640" y="1463040"/>
                <a:ext cx="768096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Toạ độ đỉnh </a:t>
                </a:r>
                <a:r>
                  <a:rPr lang="vi-VN"/>
                  <a:t>D'</a:t>
                </a:r>
                <a:r>
                  <a:rPr sz="2600">
                    <a:solidFill>
                      <a:srgbClr val="1E293B"/>
                    </a:solidFill>
                    <a:latin typeface="Calibri"/>
                  </a:rPr>
                  <a:t>?</a:t>
                </a:r>
              </a:p>
            </p:txBody>
          </p:sp>
        </mc:Fallback>
      </mc:AlternateContent>
      <p:sp>
        <p:nvSpPr>
          <p:cNvPr id="8" name="s1_nen"/>
          <p:cNvSpPr/>
          <p:nvPr/>
        </p:nvSpPr>
        <p:spPr>
          <a:xfrm>
            <a:off x="548640" y="3017520"/>
            <a:ext cx="768096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054096"/>
                <a:ext cx="735177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 </a:t>
                </a:r>
                <a14:m>
                  <m:oMath xmlns:m="http://schemas.openxmlformats.org/officeDocument/2006/math">
                    <m:sSup>
                      <m:e>
                        <m:r>
                          <a:rPr lang="vi-VN" sz="2400" b="0">
                            <a:solidFill>
                              <a:srgbClr val="1E293B"/>
                            </a:solidFill>
                            <a:latin typeface="Cambria Math" panose="02040503050406030204" pitchFamily="18" charset="0"/>
                          </a:rPr>
                          <m:t>D</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(2;</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3)</m:t>
                    </m:r>
                  </m:oMath>
                </a14:m>
                <a:r>
                  <a:rPr sz="2400">
                    <a:solidFill>
                      <a:srgbClr val="1E293B"/>
                    </a:solidFill>
                    <a:latin typeface="Calibri"/>
                  </a:rPr>
                  <a:t>.</a:t>
                </a:r>
              </a:p>
            </p:txBody>
          </p:sp>
        </mc:Choice>
        <mc:Fallback>
          <p:sp>
            <p:nvSpPr>
              <p:cNvPr id="9" name="TextBox 8"/>
              <p:cNvSpPr txBox="1"/>
              <p:nvPr/>
            </p:nvSpPr>
            <p:spPr>
              <a:xfrm>
                <a:off x="713232" y="3054096"/>
                <a:ext cx="735177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 </a:t>
                </a:r>
                <a:r>
                  <a:rPr lang="vi-VN"/>
                  <a:t>D'(2;\ 0;\ 3)</a:t>
                </a:r>
                <a:r>
                  <a:rPr sz="2400">
                    <a:solidFill>
                      <a:srgbClr val="1E293B"/>
                    </a:solidFill>
                    <a:latin typeface="Calibri"/>
                  </a:rPr>
                  <a:t>.</a:t>
                </a:r>
              </a:p>
            </p:txBody>
          </p:sp>
        </mc:Fallback>
      </mc:AlternateContent>
      <p:sp>
        <p:nvSpPr>
          <p:cNvPr id="10" name="s2_nen"/>
          <p:cNvSpPr/>
          <p:nvPr/>
        </p:nvSpPr>
        <p:spPr>
          <a:xfrm>
            <a:off x="548640" y="3831335"/>
            <a:ext cx="7680960" cy="630936"/>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2_chu"/>
          <p:cNvSpPr txBox="1"/>
          <p:nvPr/>
        </p:nvSpPr>
        <p:spPr>
          <a:xfrm>
            <a:off x="713232" y="3867911"/>
            <a:ext cx="7351776" cy="557784"/>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+1 điểm cộng</a:t>
            </a:r>
          </a:p>
        </p:txBody>
      </p:sp>
      <p:pic>
        <p:nvPicPr>
          <p:cNvPr id="12" name="Picture 11" descr="h245.png"/>
          <p:cNvPicPr>
            <a:picLocks noChangeAspect="1"/>
          </p:cNvPicPr>
          <p:nvPr/>
        </p:nvPicPr>
        <p:blipFill>
          <a:blip r:embed="rId3"/>
          <a:stretch>
            <a:fillRect/>
          </a:stretch>
        </p:blipFill>
        <p:spPr>
          <a:xfrm>
            <a:off x="8412480" y="1651299"/>
            <a:ext cx="3291840" cy="2732442"/>
          </a:xfrm>
          <a:prstGeom prst="rect">
            <a:avLst/>
          </a:prstGeom>
        </p:spPr>
      </p:pic>
      <p:sp>
        <p:nvSpPr>
          <p:cNvPr id="13" name="Rounded Rectangle 12">
            <a:hlinkClick action="ppaction://hlinksldjump" r:id="rId4"/>
          </p:cNvPr>
          <p:cNvSpPr/>
          <p:nvPr/>
        </p:nvSpPr>
        <p:spPr>
          <a:xfrm>
            <a:off x="8778240" y="5303520"/>
            <a:ext cx="2743200" cy="59436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Về hộp quà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HỘP QUÀ SỐ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Hệ trục toạ độ trong không gian – Toán 12          30</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768096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Toạ độ vectơ </a:t>
                </a:r>
                <a14:m>
                  <m:oMath xmlns:m="http://schemas.openxmlformats.org/officeDocument/2006/math">
                    <m:acc>
                      <m:accPr>
                        <m:chr m:val="⃗"/>
                      </m:accPr>
                      <m:e>
                        <m:r>
                          <a:rPr lang="vi-VN" sz="2600" b="0">
                            <a:solidFill>
                              <a:srgbClr val="1E293B"/>
                            </a:solidFill>
                            <a:latin typeface="Cambria Math" panose="02040503050406030204" pitchFamily="18" charset="0"/>
                          </a:rPr>
                          <m:t>A</m:t>
                        </m:r>
                        <m:sSup>
                          <m:e>
                            <m:r>
                              <a:rPr lang="vi-VN" sz="2600" b="0">
                                <a:solidFill>
                                  <a:srgbClr val="1E293B"/>
                                </a:solidFill>
                                <a:latin typeface="Cambria Math" panose="02040503050406030204" pitchFamily="18" charset="0"/>
                              </a:rPr>
                              <m:t>C</m:t>
                            </m:r>
                          </m:e>
                          <m:sup>
                            <m:r>
                              <a:rPr lang="vi-VN" sz="2600" b="0">
                                <a:solidFill>
                                  <a:srgbClr val="1E293B"/>
                                </a:solidFill>
                                <a:latin typeface="Cambria Math" panose="02040503050406030204" pitchFamily="18" charset="0"/>
                              </a:rPr>
                              <m:t>′</m:t>
                            </m:r>
                          </m:sup>
                        </m:sSup>
                      </m:e>
                    </m:acc>
                  </m:oMath>
                </a14:m>
                <a:r>
                  <a:rPr sz="2600">
                    <a:solidFill>
                      <a:srgbClr val="1E293B"/>
                    </a:solidFill>
                    <a:latin typeface="Calibri"/>
                  </a:rPr>
                  <a:t>?</a:t>
                </a:r>
              </a:p>
            </p:txBody>
          </p:sp>
        </mc:Choice>
        <mc:Fallback>
          <p:sp>
            <p:nvSpPr>
              <p:cNvPr id="7" name="TextBox 6"/>
              <p:cNvSpPr txBox="1"/>
              <p:nvPr/>
            </p:nvSpPr>
            <p:spPr>
              <a:xfrm>
                <a:off x="548640" y="1463040"/>
                <a:ext cx="768096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Toạ độ vectơ </a:t>
                </a:r>
                <a:r>
                  <a:rPr lang="vi-VN"/>
                  <a:t>\overrightarrow{AC'}</a:t>
                </a:r>
                <a:r>
                  <a:rPr sz="2600">
                    <a:solidFill>
                      <a:srgbClr val="1E293B"/>
                    </a:solidFill>
                    <a:latin typeface="Calibri"/>
                  </a:rPr>
                  <a:t>?</a:t>
                </a:r>
              </a:p>
            </p:txBody>
          </p:sp>
        </mc:Fallback>
      </mc:AlternateContent>
      <p:sp>
        <p:nvSpPr>
          <p:cNvPr id="8" name="s1_nen"/>
          <p:cNvSpPr/>
          <p:nvPr/>
        </p:nvSpPr>
        <p:spPr>
          <a:xfrm>
            <a:off x="548640" y="3017520"/>
            <a:ext cx="768096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054096"/>
                <a:ext cx="735177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 </a:t>
                </a:r>
                <a14:m>
                  <m:oMath xmlns:m="http://schemas.openxmlformats.org/officeDocument/2006/math">
                    <m:d>
                      <m:dPr>
                        <m:sepChr m:val=""/>
                      </m:dPr>
                      <m:e>
                        <m:r>
                          <a:rPr lang="vi-VN" sz="2400" b="0">
                            <a:solidFill>
                              <a:srgbClr val="1E293B"/>
                            </a:solidFill>
                            <a:latin typeface="Cambria Math" panose="02040503050406030204" pitchFamily="18" charset="0"/>
                          </a:rPr>
                          <m:t>2</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4</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3</m:t>
                        </m:r>
                      </m:e>
                    </m:d>
                  </m:oMath>
                </a14:m>
                <a:r>
                  <a:rPr sz="2400">
                    <a:solidFill>
                      <a:srgbClr val="1E293B"/>
                    </a:solidFill>
                    <a:latin typeface="Calibri"/>
                  </a:rPr>
                  <a:t>.</a:t>
                </a:r>
              </a:p>
            </p:txBody>
          </p:sp>
        </mc:Choice>
        <mc:Fallback>
          <p:sp>
            <p:nvSpPr>
              <p:cNvPr id="9" name="TextBox 8"/>
              <p:cNvSpPr txBox="1"/>
              <p:nvPr/>
            </p:nvSpPr>
            <p:spPr>
              <a:xfrm>
                <a:off x="713232" y="3054096"/>
                <a:ext cx="735177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 </a:t>
                </a:r>
                <a:r>
                  <a:rPr lang="vi-VN"/>
                  <a:t>(2;\ 4;\ 3)</a:t>
                </a:r>
                <a:r>
                  <a:rPr sz="2400">
                    <a:solidFill>
                      <a:srgbClr val="1E293B"/>
                    </a:solidFill>
                    <a:latin typeface="Calibri"/>
                  </a:rPr>
                  <a:t>.</a:t>
                </a:r>
              </a:p>
            </p:txBody>
          </p:sp>
        </mc:Fallback>
      </mc:AlternateContent>
      <p:sp>
        <p:nvSpPr>
          <p:cNvPr id="10" name="s2_nen"/>
          <p:cNvSpPr/>
          <p:nvPr/>
        </p:nvSpPr>
        <p:spPr>
          <a:xfrm>
            <a:off x="548640" y="3831335"/>
            <a:ext cx="7680960" cy="630936"/>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2_chu"/>
          <p:cNvSpPr txBox="1"/>
          <p:nvPr/>
        </p:nvSpPr>
        <p:spPr>
          <a:xfrm>
            <a:off x="713232" y="3867911"/>
            <a:ext cx="7351776" cy="557784"/>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Quyền chọn bạn trả lời tiếp</a:t>
            </a:r>
          </a:p>
        </p:txBody>
      </p:sp>
      <p:pic>
        <p:nvPicPr>
          <p:cNvPr id="12" name="Picture 11" descr="h245.png"/>
          <p:cNvPicPr>
            <a:picLocks noChangeAspect="1"/>
          </p:cNvPicPr>
          <p:nvPr/>
        </p:nvPicPr>
        <p:blipFill>
          <a:blip r:embed="rId3"/>
          <a:stretch>
            <a:fillRect/>
          </a:stretch>
        </p:blipFill>
        <p:spPr>
          <a:xfrm>
            <a:off x="8412480" y="1651299"/>
            <a:ext cx="3291840" cy="2732442"/>
          </a:xfrm>
          <a:prstGeom prst="rect">
            <a:avLst/>
          </a:prstGeom>
        </p:spPr>
      </p:pic>
      <p:sp>
        <p:nvSpPr>
          <p:cNvPr id="13" name="Rounded Rectangle 12">
            <a:hlinkClick action="ppaction://hlinksldjump" r:id="rId4"/>
          </p:cNvPr>
          <p:cNvSpPr/>
          <p:nvPr/>
        </p:nvSpPr>
        <p:spPr>
          <a:xfrm>
            <a:off x="8778240" y="5303520"/>
            <a:ext cx="2743200" cy="59436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Về hộp quà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HỘP QUÀ SỐ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Hệ trục toạ độ trong không gian – Toán 12          31</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768096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Toạ độ vectơ </a:t>
                </a:r>
                <a14:m>
                  <m:oMath xmlns:m="http://schemas.openxmlformats.org/officeDocument/2006/math">
                    <m:acc>
                      <m:accPr>
                        <m:chr m:val="⃗"/>
                      </m:accPr>
                      <m:e>
                        <m:sSup>
                          <m:e>
                            <m:r>
                              <a:rPr lang="vi-VN" sz="2600" b="0">
                                <a:solidFill>
                                  <a:srgbClr val="1E293B"/>
                                </a:solidFill>
                                <a:latin typeface="Cambria Math" panose="02040503050406030204" pitchFamily="18" charset="0"/>
                              </a:rPr>
                              <m:t>B</m:t>
                            </m:r>
                          </m:e>
                          <m:sup>
                            <m:r>
                              <a:rPr lang="vi-VN" sz="2600" b="0">
                                <a:solidFill>
                                  <a:srgbClr val="1E293B"/>
                                </a:solidFill>
                                <a:latin typeface="Cambria Math" panose="02040503050406030204" pitchFamily="18" charset="0"/>
                              </a:rPr>
                              <m:t>′</m:t>
                            </m:r>
                          </m:sup>
                        </m:sSup>
                        <m:r>
                          <a:rPr lang="vi-VN" sz="2600" b="0">
                            <a:solidFill>
                              <a:srgbClr val="1E293B"/>
                            </a:solidFill>
                            <a:latin typeface="Cambria Math" panose="02040503050406030204" pitchFamily="18" charset="0"/>
                          </a:rPr>
                          <m:t>D</m:t>
                        </m:r>
                      </m:e>
                    </m:acc>
                  </m:oMath>
                </a14:m>
                <a:r>
                  <a:rPr sz="2600">
                    <a:solidFill>
                      <a:srgbClr val="1E293B"/>
                    </a:solidFill>
                    <a:latin typeface="Calibri"/>
                  </a:rPr>
                  <a:t>?</a:t>
                </a:r>
              </a:p>
            </p:txBody>
          </p:sp>
        </mc:Choice>
        <mc:Fallback>
          <p:sp>
            <p:nvSpPr>
              <p:cNvPr id="7" name="TextBox 6"/>
              <p:cNvSpPr txBox="1"/>
              <p:nvPr/>
            </p:nvSpPr>
            <p:spPr>
              <a:xfrm>
                <a:off x="548640" y="1463040"/>
                <a:ext cx="768096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Toạ độ vectơ </a:t>
                </a:r>
                <a:r>
                  <a:rPr lang="vi-VN"/>
                  <a:t>\overrightarrow{B'D}</a:t>
                </a:r>
                <a:r>
                  <a:rPr sz="2600">
                    <a:solidFill>
                      <a:srgbClr val="1E293B"/>
                    </a:solidFill>
                    <a:latin typeface="Calibri"/>
                  </a:rPr>
                  <a:t>?</a:t>
                </a:r>
              </a:p>
            </p:txBody>
          </p:sp>
        </mc:Fallback>
      </mc:AlternateContent>
      <p:sp>
        <p:nvSpPr>
          <p:cNvPr id="8" name="s1_nen"/>
          <p:cNvSpPr/>
          <p:nvPr/>
        </p:nvSpPr>
        <p:spPr>
          <a:xfrm>
            <a:off x="548640" y="3017520"/>
            <a:ext cx="768096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054096"/>
                <a:ext cx="735177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 </a:t>
                </a:r>
                <a14:m>
                  <m:oMath xmlns:m="http://schemas.openxmlformats.org/officeDocument/2006/math">
                    <m:d>
                      <m:dPr>
                        <m:sepChr m:val=""/>
                      </m:dPr>
                      <m:e>
                        <m:r>
                          <a:rPr lang="vi-VN" sz="2400" b="0">
                            <a:solidFill>
                              <a:srgbClr val="1E293B"/>
                            </a:solidFill>
                            <a:latin typeface="Cambria Math" panose="02040503050406030204" pitchFamily="18" charset="0"/>
                          </a:rPr>
                          <m:t>2</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4</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3</m:t>
                        </m:r>
                      </m:e>
                    </m:d>
                  </m:oMath>
                </a14:m>
                <a:r>
                  <a:rPr sz="2400">
                    <a:solidFill>
                      <a:srgbClr val="1E293B"/>
                    </a:solidFill>
                    <a:latin typeface="Calibri"/>
                  </a:rPr>
                  <a:t> vì </a:t>
                </a:r>
                <a14:m>
                  <m:oMath xmlns:m="http://schemas.openxmlformats.org/officeDocument/2006/math">
                    <m:sSup>
                      <m:e>
                        <m:r>
                          <a:rPr lang="vi-VN" sz="2400" b="0">
                            <a:solidFill>
                              <a:srgbClr val="1E293B"/>
                            </a:solidFill>
                            <a:latin typeface="Cambria Math" panose="02040503050406030204" pitchFamily="18" charset="0"/>
                          </a:rPr>
                          <m:t>B</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(0;4;3)</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D(2;0;0)</m:t>
                    </m:r>
                  </m:oMath>
                </a14:m>
                <a:r>
                  <a:rPr sz="2400">
                    <a:solidFill>
                      <a:srgbClr val="1E293B"/>
                    </a:solidFill>
                    <a:latin typeface="Calibri"/>
                  </a:rPr>
                  <a:t>.</a:t>
                </a:r>
              </a:p>
            </p:txBody>
          </p:sp>
        </mc:Choice>
        <mc:Fallback>
          <p:sp>
            <p:nvSpPr>
              <p:cNvPr id="9" name="TextBox 8"/>
              <p:cNvSpPr txBox="1"/>
              <p:nvPr/>
            </p:nvSpPr>
            <p:spPr>
              <a:xfrm>
                <a:off x="713232" y="3054096"/>
                <a:ext cx="7351776" cy="557784"/>
              </a:xfrm>
              <a:prstGeom prst="rect">
                <a:avLst/>
              </a:prstGeom>
              <a:noFill/>
            </p:spPr>
            <p:txBody>
              <a:bodyPr wrap="square" anchor="ctr" lIns="45720" rIns="45720">
                <a:spAutoFit/>
              </a:bodyPr>
              <a:lstStyle/>
              <a:p>
                <a:pPr algn="l">
                  <a:spcAft>
                    <a:spcPts val="800"/>
                  </a:spcAft>
                </a:pPr>
                <a:r>
                  <a:rPr sz="2400">
                    <a:solidFill>
                      <a:srgbClr val="1E293B"/>
                    </a:solidFill>
                    <a:latin typeface="Calibri"/>
                  </a:rPr>
                  <a:t> </a:t>
                </a:r>
                <a:r>
                  <a:rPr lang="vi-VN"/>
                  <a:t>(2;\ -4;\ -3)</a:t>
                </a:r>
                <a:r>
                  <a:rPr sz="2400">
                    <a:solidFill>
                      <a:srgbClr val="1E293B"/>
                    </a:solidFill>
                    <a:latin typeface="Calibri"/>
                  </a:rPr>
                  <a:t> vì </a:t>
                </a:r>
                <a:r>
                  <a:rPr lang="vi-VN"/>
                  <a:t>B'(0;4;3)</a:t>
                </a:r>
                <a:r>
                  <a:rPr sz="2400">
                    <a:solidFill>
                      <a:srgbClr val="1E293B"/>
                    </a:solidFill>
                    <a:latin typeface="Calibri"/>
                  </a:rPr>
                  <a:t>, </a:t>
                </a:r>
                <a:r>
                  <a:rPr lang="vi-VN"/>
                  <a:t>D(2;0;0)</a:t>
                </a:r>
                <a:r>
                  <a:rPr sz="2400">
                    <a:solidFill>
                      <a:srgbClr val="1E293B"/>
                    </a:solidFill>
                    <a:latin typeface="Calibri"/>
                  </a:rPr>
                  <a:t>.</a:t>
                </a:r>
              </a:p>
            </p:txBody>
          </p:sp>
        </mc:Fallback>
      </mc:AlternateContent>
      <p:sp>
        <p:nvSpPr>
          <p:cNvPr id="10" name="s2_nen"/>
          <p:cNvSpPr/>
          <p:nvPr/>
        </p:nvSpPr>
        <p:spPr>
          <a:xfrm>
            <a:off x="548640" y="3831335"/>
            <a:ext cx="7680960" cy="630936"/>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2_chu"/>
          <p:cNvSpPr txBox="1"/>
          <p:nvPr/>
        </p:nvSpPr>
        <p:spPr>
          <a:xfrm>
            <a:off x="713232" y="3867911"/>
            <a:ext cx="7351776" cy="557784"/>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+1 điểm cộng</a:t>
            </a:r>
          </a:p>
        </p:txBody>
      </p:sp>
      <p:pic>
        <p:nvPicPr>
          <p:cNvPr id="12" name="Picture 11" descr="h245.png"/>
          <p:cNvPicPr>
            <a:picLocks noChangeAspect="1"/>
          </p:cNvPicPr>
          <p:nvPr/>
        </p:nvPicPr>
        <p:blipFill>
          <a:blip r:embed="rId3"/>
          <a:stretch>
            <a:fillRect/>
          </a:stretch>
        </p:blipFill>
        <p:spPr>
          <a:xfrm>
            <a:off x="8412480" y="1651299"/>
            <a:ext cx="3291840" cy="2732442"/>
          </a:xfrm>
          <a:prstGeom prst="rect">
            <a:avLst/>
          </a:prstGeom>
        </p:spPr>
      </p:pic>
      <p:sp>
        <p:nvSpPr>
          <p:cNvPr id="13" name="Rounded Rectangle 12">
            <a:hlinkClick action="ppaction://hlinksldjump" r:id="rId4"/>
          </p:cNvPr>
          <p:cNvSpPr/>
          <p:nvPr/>
        </p:nvSpPr>
        <p:spPr>
          <a:xfrm>
            <a:off x="8778240" y="5303520"/>
            <a:ext cx="2743200" cy="59436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Về hộp quà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2.13 – 2.14 (SGK TR.64)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Hệ trục toạ độ trong không gian – Toán 12          32</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412480" cy="2590800"/>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2.13.</a:t>
                </a:r>
                <a:r>
                  <a:rPr sz="1900">
                    <a:solidFill>
                      <a:srgbClr val="1E293B"/>
                    </a:solidFill>
                    <a:latin typeface="Calibri"/>
                  </a:rPr>
                  <a:t> Cho ba vectơ </a:t>
                </a:r>
                <a14:m>
                  <m:oMath xmlns:m="http://schemas.openxmlformats.org/officeDocument/2006/math">
                    <m:acc>
                      <m:accPr>
                        <m:chr m:val="⃗"/>
                      </m:accPr>
                      <m:e>
                        <m:r>
                          <a:rPr lang="vi-VN" sz="1900" b="0">
                            <a:solidFill>
                              <a:srgbClr val="1E293B"/>
                            </a:solidFill>
                            <a:latin typeface="Cambria Math" panose="02040503050406030204" pitchFamily="18" charset="0"/>
                          </a:rPr>
                          <m:t>a</m:t>
                        </m:r>
                      </m:e>
                    </m:acc>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acc>
                      <m:accPr>
                        <m:chr m:val="⃗"/>
                      </m:accPr>
                      <m:e>
                        <m:r>
                          <a:rPr lang="vi-VN" sz="1900" b="0">
                            <a:solidFill>
                              <a:srgbClr val="1E293B"/>
                            </a:solidFill>
                            <a:latin typeface="Cambria Math" panose="02040503050406030204" pitchFamily="18" charset="0"/>
                          </a:rPr>
                          <m:t>b</m:t>
                        </m:r>
                      </m:e>
                    </m:acc>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acc>
                      <m:accPr>
                        <m:chr m:val="⃗"/>
                      </m:accPr>
                      <m:e>
                        <m:r>
                          <a:rPr lang="vi-VN" sz="1900" b="0">
                            <a:solidFill>
                              <a:srgbClr val="1E293B"/>
                            </a:solidFill>
                            <a:latin typeface="Cambria Math" panose="02040503050406030204" pitchFamily="18" charset="0"/>
                          </a:rPr>
                          <m:t>c</m:t>
                        </m:r>
                      </m:e>
                    </m:acc>
                  </m:oMath>
                </a14:m>
                <a:r>
                  <a:rPr sz="1900">
                    <a:solidFill>
                      <a:srgbClr val="1E293B"/>
                    </a:solidFill>
                    <a:latin typeface="Calibri"/>
                  </a:rPr>
                  <a:t> đều khác </a:t>
                </a:r>
                <a14:m>
                  <m:oMath xmlns:m="http://schemas.openxmlformats.org/officeDocument/2006/math">
                    <m:acc>
                      <m:accPr>
                        <m:chr m:val="⃗"/>
                      </m:accPr>
                      <m:e>
                        <m:r>
                          <a:rPr lang="vi-VN" sz="1900" b="0">
                            <a:solidFill>
                              <a:srgbClr val="1E293B"/>
                            </a:solidFill>
                            <a:latin typeface="Cambria Math" panose="02040503050406030204" pitchFamily="18" charset="0"/>
                          </a:rPr>
                          <m:t>0</m:t>
                        </m:r>
                      </m:e>
                    </m:acc>
                  </m:oMath>
                </a14:m>
                <a:r>
                  <a:rPr sz="1900">
                    <a:solidFill>
                      <a:srgbClr val="1E293B"/>
                    </a:solidFill>
                    <a:latin typeface="Calibri"/>
                  </a:rPr>
                  <a:t> và có giá đôi một vuông góc. Mệnh đề nào đúng? a) Có thể lập hệ toạ độ có các trục lần lượt song song với giá của </a:t>
                </a:r>
                <a14:m>
                  <m:oMath xmlns:m="http://schemas.openxmlformats.org/officeDocument/2006/math">
                    <m:acc>
                      <m:accPr>
                        <m:chr m:val="⃗"/>
                      </m:accPr>
                      <m:e>
                        <m:r>
                          <a:rPr lang="vi-VN" sz="1900" b="0">
                            <a:solidFill>
                              <a:srgbClr val="1E293B"/>
                            </a:solidFill>
                            <a:latin typeface="Cambria Math" panose="02040503050406030204" pitchFamily="18" charset="0"/>
                          </a:rPr>
                          <m:t>a</m:t>
                        </m:r>
                      </m:e>
                    </m:acc>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acc>
                      <m:accPr>
                        <m:chr m:val="⃗"/>
                      </m:accPr>
                      <m:e>
                        <m:r>
                          <a:rPr lang="vi-VN" sz="1900" b="0">
                            <a:solidFill>
                              <a:srgbClr val="1E293B"/>
                            </a:solidFill>
                            <a:latin typeface="Cambria Math" panose="02040503050406030204" pitchFamily="18" charset="0"/>
                          </a:rPr>
                          <m:t>b</m:t>
                        </m:r>
                      </m:e>
                    </m:acc>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acc>
                      <m:accPr>
                        <m:chr m:val="⃗"/>
                      </m:accPr>
                      <m:e>
                        <m:r>
                          <a:rPr lang="vi-VN" sz="1900" b="0">
                            <a:solidFill>
                              <a:srgbClr val="1E293B"/>
                            </a:solidFill>
                            <a:latin typeface="Cambria Math" panose="02040503050406030204" pitchFamily="18" charset="0"/>
                          </a:rPr>
                          <m:t>c</m:t>
                        </m:r>
                      </m:e>
                    </m:acc>
                  </m:oMath>
                </a14:m>
                <a:r>
                  <a:rPr sz="1900">
                    <a:solidFill>
                      <a:srgbClr val="1E293B"/>
                    </a:solidFill>
                    <a:latin typeface="Calibri"/>
                  </a:rPr>
                  <a:t>. b) … các trục lần lượt trùng với giá của </a:t>
                </a:r>
                <a14:m>
                  <m:oMath xmlns:m="http://schemas.openxmlformats.org/officeDocument/2006/math">
                    <m:acc>
                      <m:accPr>
                        <m:chr m:val="⃗"/>
                      </m:accPr>
                      <m:e>
                        <m:r>
                          <a:rPr lang="vi-VN" sz="1900" b="0">
                            <a:solidFill>
                              <a:srgbClr val="1E293B"/>
                            </a:solidFill>
                            <a:latin typeface="Cambria Math" panose="02040503050406030204" pitchFamily="18" charset="0"/>
                          </a:rPr>
                          <m:t>a</m:t>
                        </m:r>
                      </m:e>
                    </m:acc>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acc>
                      <m:accPr>
                        <m:chr m:val="⃗"/>
                      </m:accPr>
                      <m:e>
                        <m:r>
                          <a:rPr lang="vi-VN" sz="1900" b="0">
                            <a:solidFill>
                              <a:srgbClr val="1E293B"/>
                            </a:solidFill>
                            <a:latin typeface="Cambria Math" panose="02040503050406030204" pitchFamily="18" charset="0"/>
                          </a:rPr>
                          <m:t>b</m:t>
                        </m:r>
                      </m:e>
                    </m:acc>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acc>
                      <m:accPr>
                        <m:chr m:val="⃗"/>
                      </m:accPr>
                      <m:e>
                        <m:r>
                          <a:rPr lang="vi-VN" sz="1900" b="0">
                            <a:solidFill>
                              <a:srgbClr val="1E293B"/>
                            </a:solidFill>
                            <a:latin typeface="Cambria Math" panose="02040503050406030204" pitchFamily="18" charset="0"/>
                          </a:rPr>
                          <m:t>c</m:t>
                        </m:r>
                      </m:e>
                    </m:acc>
                  </m:oMath>
                </a14:m>
                <a:r>
                  <a:rPr sz="1900">
                    <a:solidFill>
                      <a:srgbClr val="1E293B"/>
                    </a:solidFill>
                    <a:latin typeface="Calibri"/>
                  </a:rPr>
                  <a:t>. c) … </a:t>
                </a:r>
                <a14:m>
                  <m:oMath xmlns:m="http://schemas.openxmlformats.org/officeDocument/2006/math">
                    <m:acc>
                      <m:accPr>
                        <m:chr m:val="⃗"/>
                      </m:accPr>
                      <m:e>
                        <m:r>
                          <a:rPr lang="vi-VN" sz="1900" b="0">
                            <a:solidFill>
                              <a:srgbClr val="1E293B"/>
                            </a:solidFill>
                            <a:latin typeface="Cambria Math" panose="02040503050406030204" pitchFamily="18" charset="0"/>
                          </a:rPr>
                          <m:t>i</m:t>
                        </m:r>
                      </m:e>
                    </m:acc>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acc>
                      <m:accPr>
                        <m:chr m:val="⃗"/>
                      </m:accPr>
                      <m:e>
                        <m:r>
                          <a:rPr lang="vi-VN" sz="1900" b="0">
                            <a:solidFill>
                              <a:srgbClr val="1E293B"/>
                            </a:solidFill>
                            <a:latin typeface="Cambria Math" panose="02040503050406030204" pitchFamily="18" charset="0"/>
                          </a:rPr>
                          <m:t>j</m:t>
                        </m:r>
                      </m:e>
                    </m:acc>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acc>
                      <m:accPr>
                        <m:chr m:val="⃗"/>
                      </m:accPr>
                      <m:e>
                        <m:r>
                          <a:rPr lang="vi-VN" sz="1900" b="0">
                            <a:solidFill>
                              <a:srgbClr val="1E293B"/>
                            </a:solidFill>
                            <a:latin typeface="Cambria Math" panose="02040503050406030204" pitchFamily="18" charset="0"/>
                          </a:rPr>
                          <m:t>k</m:t>
                        </m:r>
                      </m:e>
                    </m:acc>
                  </m:oMath>
                </a14:m>
                <a:r>
                  <a:rPr sz="1900">
                    <a:solidFill>
                      <a:srgbClr val="1E293B"/>
                    </a:solidFill>
                    <a:latin typeface="Calibri"/>
                  </a:rPr>
                  <a:t> lần lượt bằng </a:t>
                </a:r>
                <a14:m>
                  <m:oMath xmlns:m="http://schemas.openxmlformats.org/officeDocument/2006/math">
                    <m:acc>
                      <m:accPr>
                        <m:chr m:val="⃗"/>
                      </m:accPr>
                      <m:e>
                        <m:r>
                          <a:rPr lang="vi-VN" sz="1900" b="0">
                            <a:solidFill>
                              <a:srgbClr val="1E293B"/>
                            </a:solidFill>
                            <a:latin typeface="Cambria Math" panose="02040503050406030204" pitchFamily="18" charset="0"/>
                          </a:rPr>
                          <m:t>a</m:t>
                        </m:r>
                      </m:e>
                    </m:acc>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acc>
                      <m:accPr>
                        <m:chr m:val="⃗"/>
                      </m:accPr>
                      <m:e>
                        <m:r>
                          <a:rPr lang="vi-VN" sz="1900" b="0">
                            <a:solidFill>
                              <a:srgbClr val="1E293B"/>
                            </a:solidFill>
                            <a:latin typeface="Cambria Math" panose="02040503050406030204" pitchFamily="18" charset="0"/>
                          </a:rPr>
                          <m:t>b</m:t>
                        </m:r>
                      </m:e>
                    </m:acc>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acc>
                      <m:accPr>
                        <m:chr m:val="⃗"/>
                      </m:accPr>
                      <m:e>
                        <m:r>
                          <a:rPr lang="vi-VN" sz="1900" b="0">
                            <a:solidFill>
                              <a:srgbClr val="1E293B"/>
                            </a:solidFill>
                            <a:latin typeface="Cambria Math" panose="02040503050406030204" pitchFamily="18" charset="0"/>
                          </a:rPr>
                          <m:t>c</m:t>
                        </m:r>
                      </m:e>
                    </m:acc>
                  </m:oMath>
                </a14:m>
                <a:r>
                  <a:rPr sz="1900">
                    <a:solidFill>
                      <a:srgbClr val="1E293B"/>
                    </a:solidFill>
                    <a:latin typeface="Calibri"/>
                  </a:rPr>
                  <a:t>. d) … </a:t>
                </a:r>
                <a14:m>
                  <m:oMath xmlns:m="http://schemas.openxmlformats.org/officeDocument/2006/math">
                    <m:acc>
                      <m:accPr>
                        <m:chr m:val="⃗"/>
                      </m:accPr>
                      <m:e>
                        <m:r>
                          <a:rPr lang="vi-VN" sz="1900" b="0">
                            <a:solidFill>
                              <a:srgbClr val="1E293B"/>
                            </a:solidFill>
                            <a:latin typeface="Cambria Math" panose="02040503050406030204" pitchFamily="18" charset="0"/>
                          </a:rPr>
                          <m:t>i</m:t>
                        </m:r>
                      </m:e>
                    </m:acc>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acc>
                      <m:accPr>
                        <m:chr m:val="⃗"/>
                      </m:accPr>
                      <m:e>
                        <m:r>
                          <a:rPr lang="vi-VN" sz="1900" b="0">
                            <a:solidFill>
                              <a:srgbClr val="1E293B"/>
                            </a:solidFill>
                            <a:latin typeface="Cambria Math" panose="02040503050406030204" pitchFamily="18" charset="0"/>
                          </a:rPr>
                          <m:t>j</m:t>
                        </m:r>
                      </m:e>
                    </m:acc>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acc>
                      <m:accPr>
                        <m:chr m:val="⃗"/>
                      </m:accPr>
                      <m:e>
                        <m:r>
                          <a:rPr lang="vi-VN" sz="1900" b="0">
                            <a:solidFill>
                              <a:srgbClr val="1E293B"/>
                            </a:solidFill>
                            <a:latin typeface="Cambria Math" panose="02040503050406030204" pitchFamily="18" charset="0"/>
                          </a:rPr>
                          <m:t>k</m:t>
                        </m:r>
                      </m:e>
                    </m:acc>
                  </m:oMath>
                </a14:m>
                <a:r>
                  <a:rPr sz="1900">
                    <a:solidFill>
                      <a:srgbClr val="1E293B"/>
                    </a:solidFill>
                    <a:latin typeface="Calibri"/>
                  </a:rPr>
                  <a:t> lần lượt cùng phương với </a:t>
                </a:r>
                <a14:m>
                  <m:oMath xmlns:m="http://schemas.openxmlformats.org/officeDocument/2006/math">
                    <m:acc>
                      <m:accPr>
                        <m:chr m:val="⃗"/>
                      </m:accPr>
                      <m:e>
                        <m:r>
                          <a:rPr lang="vi-VN" sz="1900" b="0">
                            <a:solidFill>
                              <a:srgbClr val="1E293B"/>
                            </a:solidFill>
                            <a:latin typeface="Cambria Math" panose="02040503050406030204" pitchFamily="18" charset="0"/>
                          </a:rPr>
                          <m:t>a</m:t>
                        </m:r>
                      </m:e>
                    </m:acc>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acc>
                      <m:accPr>
                        <m:chr m:val="⃗"/>
                      </m:accPr>
                      <m:e>
                        <m:r>
                          <a:rPr lang="vi-VN" sz="1900" b="0">
                            <a:solidFill>
                              <a:srgbClr val="1E293B"/>
                            </a:solidFill>
                            <a:latin typeface="Cambria Math" panose="02040503050406030204" pitchFamily="18" charset="0"/>
                          </a:rPr>
                          <m:t>b</m:t>
                        </m:r>
                      </m:e>
                    </m:acc>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acc>
                      <m:accPr>
                        <m:chr m:val="⃗"/>
                      </m:accPr>
                      <m:e>
                        <m:r>
                          <a:rPr lang="vi-VN" sz="1900" b="0">
                            <a:solidFill>
                              <a:srgbClr val="1E293B"/>
                            </a:solidFill>
                            <a:latin typeface="Cambria Math" panose="02040503050406030204" pitchFamily="18" charset="0"/>
                          </a:rPr>
                          <m:t>c</m:t>
                        </m:r>
                      </m:e>
                    </m:acc>
                  </m:oMath>
                </a14:m>
                <a:r>
                  <a:rPr sz="1900">
                    <a:solidFill>
                      <a:srgbClr val="1E293B"/>
                    </a:solidFill>
                    <a:latin typeface="Calibri"/>
                  </a:rPr>
                  <a:t>.</a:t>
                </a:r>
              </a:p>
              <a:p>
                <a:pPr algn="l">
                  <a:spcAft>
                    <a:spcPts val="800"/>
                  </a:spcAft>
                </a:pPr>
                <a:r>
                  <a:rPr sz="1900" b="1">
                    <a:solidFill>
                      <a:srgbClr val="1E293B"/>
                    </a:solidFill>
                    <a:latin typeface="Calibri"/>
                  </a:rPr>
                  <a:t>2.14.</a:t>
                </a:r>
                <a:r>
                  <a:rPr sz="1900">
                    <a:solidFill>
                      <a:srgbClr val="1E293B"/>
                    </a:solidFill>
                    <a:latin typeface="Calibri"/>
                  </a:rPr>
                  <a:t> Mô tả hệ toạ độ </a:t>
                </a:r>
                <a14:m>
                  <m:oMath xmlns:m="http://schemas.openxmlformats.org/officeDocument/2006/math">
                    <m:r>
                      <a:rPr lang="vi-VN" sz="1900" b="0">
                        <a:solidFill>
                          <a:srgbClr val="1E293B"/>
                        </a:solidFill>
                        <a:latin typeface="Cambria Math" panose="02040503050406030204" pitchFamily="18" charset="0"/>
                      </a:rPr>
                      <m:t>Oxyz</m:t>
                    </m:r>
                  </m:oMath>
                </a14:m>
                <a:r>
                  <a:rPr sz="1900">
                    <a:solidFill>
                      <a:srgbClr val="1E293B"/>
                    </a:solidFill>
                    <a:latin typeface="Calibri"/>
                  </a:rPr>
                  <a:t> trong căn phòng ở Hình 2.44 sao cho gốc </a:t>
                </a:r>
                <a14:m>
                  <m:oMath xmlns:m="http://schemas.openxmlformats.org/officeDocument/2006/math">
                    <m:r>
                      <a:rPr lang="vi-VN" sz="1900" b="0">
                        <a:solidFill>
                          <a:srgbClr val="1E293B"/>
                        </a:solidFill>
                        <a:latin typeface="Cambria Math" panose="02040503050406030204" pitchFamily="18" charset="0"/>
                      </a:rPr>
                      <m:t>O</m:t>
                    </m:r>
                  </m:oMath>
                </a14:m>
                <a:r>
                  <a:rPr sz="1900">
                    <a:solidFill>
                      <a:srgbClr val="1E293B"/>
                    </a:solidFill>
                    <a:latin typeface="Calibri"/>
                  </a:rPr>
                  <a:t> trùng góc trên của căn phòng, khung tranh nằm trong mặt phẳng </a:t>
                </a:r>
                <a14:m>
                  <m:oMath xmlns:m="http://schemas.openxmlformats.org/officeDocument/2006/math">
                    <m:d>
                      <m:dPr>
                        <m:sepChr m:val=""/>
                      </m:dPr>
                      <m:e>
                        <m:r>
                          <a:rPr lang="vi-VN" sz="1900" b="0">
                            <a:solidFill>
                              <a:srgbClr val="1E293B"/>
                            </a:solidFill>
                            <a:latin typeface="Cambria Math" panose="02040503050406030204" pitchFamily="18" charset="0"/>
                          </a:rPr>
                          <m:t>O</m:t>
                        </m:r>
                        <m:r>
                          <a:rPr lang="vi-VN" sz="1900" b="0">
                            <a:solidFill>
                              <a:srgbClr val="1E293B"/>
                            </a:solidFill>
                            <a:latin typeface="Cambria Math" panose="02040503050406030204" pitchFamily="18" charset="0"/>
                          </a:rPr>
                          <m:t>x</m:t>
                        </m:r>
                        <m:r>
                          <a:rPr lang="vi-VN" sz="1900" b="0">
                            <a:solidFill>
                              <a:srgbClr val="1E293B"/>
                            </a:solidFill>
                            <a:latin typeface="Cambria Math" panose="02040503050406030204" pitchFamily="18" charset="0"/>
                          </a:rPr>
                          <m:t>y</m:t>
                        </m:r>
                      </m:e>
                    </m:d>
                  </m:oMath>
                </a14:m>
                <a:r>
                  <a:rPr sz="1900">
                    <a:solidFill>
                      <a:srgbClr val="1E293B"/>
                    </a:solidFill>
                    <a:latin typeface="Calibri"/>
                  </a:rPr>
                  <a:t> và mặt trần nhà trùng mặt phẳng </a:t>
                </a:r>
                <a14:m>
                  <m:oMath xmlns:m="http://schemas.openxmlformats.org/officeDocument/2006/math">
                    <m:d>
                      <m:dPr>
                        <m:sepChr m:val=""/>
                      </m:dPr>
                      <m:e>
                        <m:r>
                          <a:rPr lang="vi-VN" sz="1900" b="0">
                            <a:solidFill>
                              <a:srgbClr val="1E293B"/>
                            </a:solidFill>
                            <a:latin typeface="Cambria Math" panose="02040503050406030204" pitchFamily="18" charset="0"/>
                          </a:rPr>
                          <m:t>O</m:t>
                        </m:r>
                        <m:r>
                          <a:rPr lang="vi-VN" sz="1900" b="0">
                            <a:solidFill>
                              <a:srgbClr val="1E293B"/>
                            </a:solidFill>
                            <a:latin typeface="Cambria Math" panose="02040503050406030204" pitchFamily="18" charset="0"/>
                          </a:rPr>
                          <m:t>x</m:t>
                        </m:r>
                        <m:r>
                          <a:rPr lang="vi-VN" sz="1900" b="0">
                            <a:solidFill>
                              <a:srgbClr val="1E293B"/>
                            </a:solidFill>
                            <a:latin typeface="Cambria Math" panose="02040503050406030204" pitchFamily="18" charset="0"/>
                          </a:rPr>
                          <m:t>z</m:t>
                        </m:r>
                      </m:e>
                    </m:d>
                  </m:oMath>
                </a14:m>
                <a:r>
                  <a:rPr sz="1900">
                    <a:solidFill>
                      <a:srgbClr val="1E293B"/>
                    </a:solidFill>
                    <a:latin typeface="Calibri"/>
                  </a:rPr>
                  <a:t>.</a:t>
                </a:r>
              </a:p>
            </p:txBody>
          </p:sp>
        </mc:Choice>
        <mc:Fallback>
          <p:sp>
            <p:nvSpPr>
              <p:cNvPr id="7" name="TextBox 6"/>
              <p:cNvSpPr txBox="1"/>
              <p:nvPr/>
            </p:nvSpPr>
            <p:spPr>
              <a:xfrm>
                <a:off x="548640" y="1371600"/>
                <a:ext cx="8412480" cy="2590800"/>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2.13.</a:t>
                </a:r>
                <a:r>
                  <a:rPr sz="1900">
                    <a:solidFill>
                      <a:srgbClr val="1E293B"/>
                    </a:solidFill>
                    <a:latin typeface="Calibri"/>
                  </a:rPr>
                  <a:t> Cho ba vectơ </a:t>
                </a:r>
                <a:r>
                  <a:rPr lang="vi-VN"/>
                  <a:t>\vec{a},\ \vec{b},\ \vec{c}</a:t>
                </a:r>
                <a:r>
                  <a:rPr sz="1900">
                    <a:solidFill>
                      <a:srgbClr val="1E293B"/>
                    </a:solidFill>
                    <a:latin typeface="Calibri"/>
                  </a:rPr>
                  <a:t> đều khác </a:t>
                </a:r>
                <a:r>
                  <a:rPr lang="vi-VN"/>
                  <a:t>\vec{0}</a:t>
                </a:r>
                <a:r>
                  <a:rPr sz="1900">
                    <a:solidFill>
                      <a:srgbClr val="1E293B"/>
                    </a:solidFill>
                    <a:latin typeface="Calibri"/>
                  </a:rPr>
                  <a:t> và có giá đôi một vuông góc. Mệnh đề nào đúng? a) Có thể lập hệ toạ độ có các trục lần lượt song song với giá của </a:t>
                </a:r>
                <a:r>
                  <a:rPr lang="vi-VN"/>
                  <a:t>\vec{a},\ \vec{b},\ \vec{c}</a:t>
                </a:r>
                <a:r>
                  <a:rPr sz="1900">
                    <a:solidFill>
                      <a:srgbClr val="1E293B"/>
                    </a:solidFill>
                    <a:latin typeface="Calibri"/>
                  </a:rPr>
                  <a:t>. b) … các trục lần lượt trùng với giá của </a:t>
                </a:r>
                <a:r>
                  <a:rPr lang="vi-VN"/>
                  <a:t>\vec{a},\ \vec{b},\ \vec{c}</a:t>
                </a:r>
                <a:r>
                  <a:rPr sz="1900">
                    <a:solidFill>
                      <a:srgbClr val="1E293B"/>
                    </a:solidFill>
                    <a:latin typeface="Calibri"/>
                  </a:rPr>
                  <a:t>. c) … </a:t>
                </a:r>
                <a:r>
                  <a:rPr lang="vi-VN"/>
                  <a:t>\vec{i},\ \vec{j},\ \vec{k}</a:t>
                </a:r>
                <a:r>
                  <a:rPr sz="1900">
                    <a:solidFill>
                      <a:srgbClr val="1E293B"/>
                    </a:solidFill>
                    <a:latin typeface="Calibri"/>
                  </a:rPr>
                  <a:t> lần lượt bằng </a:t>
                </a:r>
                <a:r>
                  <a:rPr lang="vi-VN"/>
                  <a:t>\vec{a},\ \vec{b},\ \vec{c}</a:t>
                </a:r>
                <a:r>
                  <a:rPr sz="1900">
                    <a:solidFill>
                      <a:srgbClr val="1E293B"/>
                    </a:solidFill>
                    <a:latin typeface="Calibri"/>
                  </a:rPr>
                  <a:t>. d) … </a:t>
                </a:r>
                <a:r>
                  <a:rPr lang="vi-VN"/>
                  <a:t>\vec{i},\ \vec{j},\ \vec{k}</a:t>
                </a:r>
                <a:r>
                  <a:rPr sz="1900">
                    <a:solidFill>
                      <a:srgbClr val="1E293B"/>
                    </a:solidFill>
                    <a:latin typeface="Calibri"/>
                  </a:rPr>
                  <a:t> lần lượt cùng phương với </a:t>
                </a:r>
                <a:r>
                  <a:rPr lang="vi-VN"/>
                  <a:t>\vec{a},\ \vec{b},\ \vec{c}</a:t>
                </a:r>
                <a:r>
                  <a:rPr sz="1900">
                    <a:solidFill>
                      <a:srgbClr val="1E293B"/>
                    </a:solidFill>
                    <a:latin typeface="Calibri"/>
                  </a:rPr>
                  <a:t>.</a:t>
                </a:r>
              </a:p>
              <a:p>
                <a:pPr algn="l">
                  <a:spcAft>
                    <a:spcPts val="800"/>
                  </a:spcAft>
                </a:pPr>
                <a:r>
                  <a:rPr sz="1900" b="1">
                    <a:solidFill>
                      <a:srgbClr val="1E293B"/>
                    </a:solidFill>
                    <a:latin typeface="Calibri"/>
                  </a:rPr>
                  <a:t>2.14.</a:t>
                </a:r>
                <a:r>
                  <a:rPr sz="1900">
                    <a:solidFill>
                      <a:srgbClr val="1E293B"/>
                    </a:solidFill>
                    <a:latin typeface="Calibri"/>
                  </a:rPr>
                  <a:t> Mô tả hệ toạ độ </a:t>
                </a:r>
                <a:r>
                  <a:rPr lang="vi-VN"/>
                  <a:t>Oxyz</a:t>
                </a:r>
                <a:r>
                  <a:rPr sz="1900">
                    <a:solidFill>
                      <a:srgbClr val="1E293B"/>
                    </a:solidFill>
                    <a:latin typeface="Calibri"/>
                  </a:rPr>
                  <a:t> trong căn phòng ở Hình 2.44 sao cho gốc </a:t>
                </a:r>
                <a:r>
                  <a:rPr lang="vi-VN"/>
                  <a:t>O</a:t>
                </a:r>
                <a:r>
                  <a:rPr sz="1900">
                    <a:solidFill>
                      <a:srgbClr val="1E293B"/>
                    </a:solidFill>
                    <a:latin typeface="Calibri"/>
                  </a:rPr>
                  <a:t> trùng góc trên của căn phòng, khung tranh nằm trong mặt phẳng </a:t>
                </a:r>
                <a:r>
                  <a:rPr lang="vi-VN"/>
                  <a:t>(Oxy)</a:t>
                </a:r>
                <a:r>
                  <a:rPr sz="1900">
                    <a:solidFill>
                      <a:srgbClr val="1E293B"/>
                    </a:solidFill>
                    <a:latin typeface="Calibri"/>
                  </a:rPr>
                  <a:t> và mặt trần nhà trùng mặt phẳng </a:t>
                </a:r>
                <a:r>
                  <a:rPr lang="vi-VN"/>
                  <a:t>(Oxz)</a:t>
                </a:r>
                <a:r>
                  <a:rPr sz="1900">
                    <a:solidFill>
                      <a:srgbClr val="1E293B"/>
                    </a:solidFill>
                    <a:latin typeface="Calibri"/>
                  </a:rPr>
                  <a:t>.</a:t>
                </a:r>
              </a:p>
            </p:txBody>
          </p:sp>
        </mc:Fallback>
      </mc:AlternateContent>
      <p:sp>
        <p:nvSpPr>
          <p:cNvPr id="8" name="s1_nen"/>
          <p:cNvSpPr/>
          <p:nvPr/>
        </p:nvSpPr>
        <p:spPr>
          <a:xfrm>
            <a:off x="548640" y="4099560"/>
            <a:ext cx="110642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4136136"/>
                <a:ext cx="10735056" cy="771143"/>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2.13.</a:t>
                </a:r>
                <a:r>
                  <a:rPr sz="1900">
                    <a:solidFill>
                      <a:srgbClr val="1E293B"/>
                    </a:solidFill>
                    <a:latin typeface="Calibri"/>
                  </a:rPr>
                  <a:t> a) Đúng; b) Sai (ba giá có thể không cắt nhau); c) Sai (</a:t>
                </a:r>
                <a14:m>
                  <m:oMath xmlns:m="http://schemas.openxmlformats.org/officeDocument/2006/math">
                    <m:acc>
                      <m:accPr>
                        <m:chr m:val="⃗"/>
                      </m:accPr>
                      <m:e>
                        <m:r>
                          <a:rPr lang="vi-VN" sz="1900" b="0">
                            <a:solidFill>
                              <a:srgbClr val="1E293B"/>
                            </a:solidFill>
                            <a:latin typeface="Cambria Math" panose="02040503050406030204" pitchFamily="18" charset="0"/>
                          </a:rPr>
                          <m:t>a</m:t>
                        </m:r>
                      </m:e>
                    </m:acc>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acc>
                      <m:accPr>
                        <m:chr m:val="⃗"/>
                      </m:accPr>
                      <m:e>
                        <m:r>
                          <a:rPr lang="vi-VN" sz="1900" b="0">
                            <a:solidFill>
                              <a:srgbClr val="1E293B"/>
                            </a:solidFill>
                            <a:latin typeface="Cambria Math" panose="02040503050406030204" pitchFamily="18" charset="0"/>
                          </a:rPr>
                          <m:t>b</m:t>
                        </m:r>
                      </m:e>
                    </m:acc>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acc>
                      <m:accPr>
                        <m:chr m:val="⃗"/>
                      </m:accPr>
                      <m:e>
                        <m:r>
                          <a:rPr lang="vi-VN" sz="1900" b="0">
                            <a:solidFill>
                              <a:srgbClr val="1E293B"/>
                            </a:solidFill>
                            <a:latin typeface="Cambria Math" panose="02040503050406030204" pitchFamily="18" charset="0"/>
                          </a:rPr>
                          <m:t>c</m:t>
                        </m:r>
                      </m:e>
                    </m:acc>
                  </m:oMath>
                </a14:m>
                <a:r>
                  <a:rPr sz="1900">
                    <a:solidFill>
                      <a:srgbClr val="1E293B"/>
                    </a:solidFill>
                    <a:latin typeface="Calibri"/>
                  </a:rPr>
                  <a:t> có thể không có độ dài 1); d) Đúng.</a:t>
                </a:r>
              </a:p>
            </p:txBody>
          </p:sp>
        </mc:Choice>
        <mc:Fallback>
          <p:sp>
            <p:nvSpPr>
              <p:cNvPr id="9" name="TextBox 8"/>
              <p:cNvSpPr txBox="1"/>
              <p:nvPr/>
            </p:nvSpPr>
            <p:spPr>
              <a:xfrm>
                <a:off x="713232" y="4136136"/>
                <a:ext cx="10735056" cy="771143"/>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2.13.</a:t>
                </a:r>
                <a:r>
                  <a:rPr sz="1900">
                    <a:solidFill>
                      <a:srgbClr val="1E293B"/>
                    </a:solidFill>
                    <a:latin typeface="Calibri"/>
                  </a:rPr>
                  <a:t> a) Đúng; b) Sai (ba giá có thể không cắt nhau); c) Sai (</a:t>
                </a:r>
                <a:r>
                  <a:rPr lang="vi-VN"/>
                  <a:t>\vec{a},\ \vec{b},\ \vec{c}</a:t>
                </a:r>
                <a:r>
                  <a:rPr sz="1900">
                    <a:solidFill>
                      <a:srgbClr val="1E293B"/>
                    </a:solidFill>
                    <a:latin typeface="Calibri"/>
                  </a:rPr>
                  <a:t> có thể không có độ dài 1); d) Đúng.</a:t>
                </a:r>
              </a:p>
            </p:txBody>
          </p:sp>
        </mc:Fallback>
      </mc:AlternateContent>
      <p:sp>
        <p:nvSpPr>
          <p:cNvPr id="10" name="s2_nen"/>
          <p:cNvSpPr/>
          <p:nvPr/>
        </p:nvSpPr>
        <p:spPr>
          <a:xfrm>
            <a:off x="548640" y="5017008"/>
            <a:ext cx="110642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5053584"/>
                <a:ext cx="10735056" cy="771143"/>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2.14.</a:t>
                </a:r>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O</m:t>
                    </m:r>
                  </m:oMath>
                </a14:m>
                <a:r>
                  <a:rPr sz="1900">
                    <a:solidFill>
                      <a:srgbClr val="1E293B"/>
                    </a:solidFill>
                    <a:latin typeface="Calibri"/>
                  </a:rPr>
                  <a:t>: góc trên; </a:t>
                </a:r>
                <a14:m>
                  <m:oMath xmlns:m="http://schemas.openxmlformats.org/officeDocument/2006/math">
                    <m:r>
                      <a:rPr lang="vi-VN" sz="1900" b="0">
                        <a:solidFill>
                          <a:srgbClr val="1E293B"/>
                        </a:solidFill>
                        <a:latin typeface="Cambria Math" panose="02040503050406030204" pitchFamily="18" charset="0"/>
                      </a:rPr>
                      <m:t>Ox</m:t>
                    </m:r>
                  </m:oMath>
                </a14:m>
                <a:r>
                  <a:rPr sz="1900">
                    <a:solidFill>
                      <a:srgbClr val="1E293B"/>
                    </a:solidFill>
                    <a:latin typeface="Calibri"/>
                  </a:rPr>
                  <a:t>: giao tuyến của trần với bức tường treo tranh; </a:t>
                </a:r>
                <a14:m>
                  <m:oMath xmlns:m="http://schemas.openxmlformats.org/officeDocument/2006/math">
                    <m:r>
                      <a:rPr lang="vi-VN" sz="1900" b="0">
                        <a:solidFill>
                          <a:srgbClr val="1E293B"/>
                        </a:solidFill>
                        <a:latin typeface="Cambria Math" panose="02040503050406030204" pitchFamily="18" charset="0"/>
                      </a:rPr>
                      <m:t>Oy</m:t>
                    </m:r>
                  </m:oMath>
                </a14:m>
                <a:r>
                  <a:rPr sz="1900">
                    <a:solidFill>
                      <a:srgbClr val="1E293B"/>
                    </a:solidFill>
                    <a:latin typeface="Calibri"/>
                  </a:rPr>
                  <a:t>: giao tuyến của hai bức tường (hướng xuống); </a:t>
                </a:r>
                <a14:m>
                  <m:oMath xmlns:m="http://schemas.openxmlformats.org/officeDocument/2006/math">
                    <m:r>
                      <a:rPr lang="vi-VN" sz="1900" b="0">
                        <a:solidFill>
                          <a:srgbClr val="1E293B"/>
                        </a:solidFill>
                        <a:latin typeface="Cambria Math" panose="02040503050406030204" pitchFamily="18" charset="0"/>
                      </a:rPr>
                      <m:t>Oz</m:t>
                    </m:r>
                  </m:oMath>
                </a14:m>
                <a:r>
                  <a:rPr sz="1900">
                    <a:solidFill>
                      <a:srgbClr val="1E293B"/>
                    </a:solidFill>
                    <a:latin typeface="Calibri"/>
                  </a:rPr>
                  <a:t>: giao tuyến của trần với bức tường còn lại.</a:t>
                </a:r>
              </a:p>
            </p:txBody>
          </p:sp>
        </mc:Choice>
        <mc:Fallback>
          <p:sp>
            <p:nvSpPr>
              <p:cNvPr id="11" name="TextBox 10"/>
              <p:cNvSpPr txBox="1"/>
              <p:nvPr/>
            </p:nvSpPr>
            <p:spPr>
              <a:xfrm>
                <a:off x="713232" y="5053584"/>
                <a:ext cx="10735056" cy="771143"/>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2.14.</a:t>
                </a:r>
                <a:r>
                  <a:rPr sz="1900">
                    <a:solidFill>
                      <a:srgbClr val="1E293B"/>
                    </a:solidFill>
                    <a:latin typeface="Calibri"/>
                  </a:rPr>
                  <a:t> </a:t>
                </a:r>
                <a:r>
                  <a:rPr lang="vi-VN"/>
                  <a:t>O</a:t>
                </a:r>
                <a:r>
                  <a:rPr sz="1900">
                    <a:solidFill>
                      <a:srgbClr val="1E293B"/>
                    </a:solidFill>
                    <a:latin typeface="Calibri"/>
                  </a:rPr>
                  <a:t>: góc trên; </a:t>
                </a:r>
                <a:r>
                  <a:rPr lang="vi-VN"/>
                  <a:t>Ox</a:t>
                </a:r>
                <a:r>
                  <a:rPr sz="1900">
                    <a:solidFill>
                      <a:srgbClr val="1E293B"/>
                    </a:solidFill>
                    <a:latin typeface="Calibri"/>
                  </a:rPr>
                  <a:t>: giao tuyến của trần với bức tường treo tranh; </a:t>
                </a:r>
                <a:r>
                  <a:rPr lang="vi-VN"/>
                  <a:t>Oy</a:t>
                </a:r>
                <a:r>
                  <a:rPr sz="1900">
                    <a:solidFill>
                      <a:srgbClr val="1E293B"/>
                    </a:solidFill>
                    <a:latin typeface="Calibri"/>
                  </a:rPr>
                  <a:t>: giao tuyến của hai bức tường (hướng xuống); </a:t>
                </a:r>
                <a:r>
                  <a:rPr lang="vi-VN"/>
                  <a:t>Oz</a:t>
                </a:r>
                <a:r>
                  <a:rPr sz="1900">
                    <a:solidFill>
                      <a:srgbClr val="1E293B"/>
                    </a:solidFill>
                    <a:latin typeface="Calibri"/>
                  </a:rPr>
                  <a:t>: giao tuyến của trần với bức tường còn lại.</a:t>
                </a:r>
              </a:p>
            </p:txBody>
          </p:sp>
        </mc:Fallback>
      </mc:AlternateContent>
      <p:pic>
        <p:nvPicPr>
          <p:cNvPr id="12" name="Picture 11" descr="h244.png"/>
          <p:cNvPicPr>
            <a:picLocks noChangeAspect="1"/>
          </p:cNvPicPr>
          <p:nvPr/>
        </p:nvPicPr>
        <p:blipFill>
          <a:blip r:embed="rId3"/>
          <a:stretch>
            <a:fillRect/>
          </a:stretch>
        </p:blipFill>
        <p:spPr>
          <a:xfrm>
            <a:off x="9144000" y="1463141"/>
            <a:ext cx="2560320" cy="240771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2.15 – 2.16 – 2.17 (SGK TR.65)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Hệ trục toạ độ trong không gian – Toán 12          33</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412480" cy="2112263"/>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2.15.</a:t>
                </a:r>
                <a:r>
                  <a:rPr sz="1900">
                    <a:solidFill>
                      <a:srgbClr val="1E293B"/>
                    </a:solidFill>
                    <a:latin typeface="Calibri"/>
                  </a:rPr>
                  <a:t> Xác định toạ độ của </a:t>
                </a:r>
                <a14:m>
                  <m:oMath xmlns:m="http://schemas.openxmlformats.org/officeDocument/2006/math">
                    <m:acc>
                      <m:accPr>
                        <m:chr m:val="⃗"/>
                      </m:accPr>
                      <m:e>
                        <m:r>
                          <a:rPr lang="vi-VN" sz="1900" b="0">
                            <a:solidFill>
                              <a:srgbClr val="1E293B"/>
                            </a:solidFill>
                            <a:latin typeface="Cambria Math" panose="02040503050406030204" pitchFamily="18" charset="0"/>
                          </a:rPr>
                          <m:t>AB</m:t>
                        </m:r>
                      </m:e>
                    </m:acc>
                  </m:oMath>
                </a14:m>
                <a:r>
                  <a:rPr sz="1900">
                    <a:solidFill>
                      <a:srgbClr val="1E293B"/>
                    </a:solidFill>
                    <a:latin typeface="Calibri"/>
                  </a:rPr>
                  <a:t>: a) </a:t>
                </a:r>
                <a14:m>
                  <m:oMath xmlns:m="http://schemas.openxmlformats.org/officeDocument/2006/math">
                    <m:r>
                      <a:rPr lang="vi-VN" sz="1900" b="0">
                        <a:solidFill>
                          <a:srgbClr val="1E293B"/>
                        </a:solidFill>
                        <a:latin typeface="Cambria Math" panose="02040503050406030204" pitchFamily="18" charset="0"/>
                      </a:rPr>
                      <m:t>A(0;0;0)</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B(4;2;−5)</m:t>
                    </m:r>
                  </m:oMath>
                </a14:m>
                <a:r>
                  <a:rPr sz="1900">
                    <a:solidFill>
                      <a:srgbClr val="1E293B"/>
                    </a:solidFill>
                    <a:latin typeface="Calibri"/>
                  </a:rPr>
                  <a:t>; b) </a:t>
                </a:r>
                <a14:m>
                  <m:oMath xmlns:m="http://schemas.openxmlformats.org/officeDocument/2006/math">
                    <m:r>
                      <a:rPr lang="vi-VN" sz="1900" b="0">
                        <a:solidFill>
                          <a:srgbClr val="1E293B"/>
                        </a:solidFill>
                        <a:latin typeface="Cambria Math" panose="02040503050406030204" pitchFamily="18" charset="0"/>
                      </a:rPr>
                      <m:t>A(1;−3;7)</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B(1;−3;7)</m:t>
                    </m:r>
                  </m:oMath>
                </a14:m>
                <a:r>
                  <a:rPr sz="1900">
                    <a:solidFill>
                      <a:srgbClr val="1E293B"/>
                    </a:solidFill>
                    <a:latin typeface="Calibri"/>
                  </a:rPr>
                  <a:t>; c) </a:t>
                </a:r>
                <a14:m>
                  <m:oMath xmlns:m="http://schemas.openxmlformats.org/officeDocument/2006/math">
                    <m:r>
                      <a:rPr lang="vi-VN" sz="1900" b="0">
                        <a:solidFill>
                          <a:srgbClr val="1E293B"/>
                        </a:solidFill>
                        <a:latin typeface="Cambria Math" panose="02040503050406030204" pitchFamily="18" charset="0"/>
                      </a:rPr>
                      <m:t>A(5;4;9)</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B(−5;7;2)</m:t>
                    </m:r>
                  </m:oMath>
                </a14:m>
                <a:r>
                  <a:rPr sz="1900">
                    <a:solidFill>
                      <a:srgbClr val="1E293B"/>
                    </a:solidFill>
                    <a:latin typeface="Calibri"/>
                  </a:rPr>
                  <a:t>.</a:t>
                </a:r>
              </a:p>
              <a:p>
                <a:pPr algn="l">
                  <a:spcAft>
                    <a:spcPts val="800"/>
                  </a:spcAft>
                </a:pPr>
                <a:r>
                  <a:rPr sz="1900" b="1">
                    <a:solidFill>
                      <a:srgbClr val="1E293B"/>
                    </a:solidFill>
                    <a:latin typeface="Calibri"/>
                  </a:rPr>
                  <a:t>2.16.</a:t>
                </a:r>
                <a:r>
                  <a:rPr sz="1900">
                    <a:solidFill>
                      <a:srgbClr val="1E293B"/>
                    </a:solidFill>
                    <a:latin typeface="Calibri"/>
                  </a:rPr>
                  <a:t> Xác định toạ độ điểm </a:t>
                </a:r>
                <a14:m>
                  <m:oMath xmlns:m="http://schemas.openxmlformats.org/officeDocument/2006/math">
                    <m:r>
                      <a:rPr lang="vi-VN" sz="1900" b="0">
                        <a:solidFill>
                          <a:srgbClr val="1E293B"/>
                        </a:solidFill>
                        <a:latin typeface="Cambria Math" panose="02040503050406030204" pitchFamily="18" charset="0"/>
                      </a:rPr>
                      <m:t>A</m:t>
                    </m:r>
                  </m:oMath>
                </a14:m>
                <a:r>
                  <a:rPr sz="1900">
                    <a:solidFill>
                      <a:srgbClr val="1E293B"/>
                    </a:solidFill>
                    <a:latin typeface="Calibri"/>
                  </a:rPr>
                  <a:t>: a) </a:t>
                </a:r>
                <a14:m>
                  <m:oMath xmlns:m="http://schemas.openxmlformats.org/officeDocument/2006/math">
                    <m:r>
                      <a:rPr lang="vi-VN" sz="1900" b="0">
                        <a:solidFill>
                          <a:srgbClr val="1E293B"/>
                        </a:solidFill>
                        <a:latin typeface="Cambria Math" panose="02040503050406030204" pitchFamily="18" charset="0"/>
                      </a:rPr>
                      <m:t>A</m:t>
                    </m:r>
                  </m:oMath>
                </a14:m>
                <a:r>
                  <a:rPr sz="1900">
                    <a:solidFill>
                      <a:srgbClr val="1E293B"/>
                    </a:solidFill>
                    <a:latin typeface="Calibri"/>
                  </a:rPr>
                  <a:t> trùng gốc toạ độ; b) </a:t>
                </a:r>
                <a14:m>
                  <m:oMath xmlns:m="http://schemas.openxmlformats.org/officeDocument/2006/math">
                    <m:r>
                      <a:rPr lang="vi-VN" sz="1900" b="0">
                        <a:solidFill>
                          <a:srgbClr val="1E293B"/>
                        </a:solidFill>
                        <a:latin typeface="Cambria Math" panose="02040503050406030204" pitchFamily="18" charset="0"/>
                      </a:rPr>
                      <m:t>A</m:t>
                    </m:r>
                  </m:oMath>
                </a14:m>
                <a:r>
                  <a:rPr sz="1900">
                    <a:solidFill>
                      <a:srgbClr val="1E293B"/>
                    </a:solidFill>
                    <a:latin typeface="Calibri"/>
                  </a:rPr>
                  <a:t> nằm trên tia </a:t>
                </a:r>
                <a14:m>
                  <m:oMath xmlns:m="http://schemas.openxmlformats.org/officeDocument/2006/math">
                    <m:r>
                      <a:rPr lang="vi-VN" sz="1900" b="0">
                        <a:solidFill>
                          <a:srgbClr val="1E293B"/>
                        </a:solidFill>
                        <a:latin typeface="Cambria Math" panose="02040503050406030204" pitchFamily="18" charset="0"/>
                      </a:rPr>
                      <m:t>Ox</m:t>
                    </m:r>
                  </m:oMath>
                </a14:m>
                <a:r>
                  <a:rPr sz="1900">
                    <a:solidFill>
                      <a:srgbClr val="1E293B"/>
                    </a:solidFill>
                    <a:latin typeface="Calibri"/>
                  </a:rPr>
                  <a:t> và </a:t>
                </a:r>
                <a14:m>
                  <m:oMath xmlns:m="http://schemas.openxmlformats.org/officeDocument/2006/math">
                    <m:r>
                      <a:rPr lang="vi-VN" sz="1900" b="0">
                        <a:solidFill>
                          <a:srgbClr val="1E293B"/>
                        </a:solidFill>
                        <a:latin typeface="Cambria Math" panose="02040503050406030204" pitchFamily="18" charset="0"/>
                      </a:rPr>
                      <m:t>OA=2</m:t>
                    </m:r>
                  </m:oMath>
                </a14:m>
                <a:r>
                  <a:rPr sz="1900">
                    <a:solidFill>
                      <a:srgbClr val="1E293B"/>
                    </a:solidFill>
                    <a:latin typeface="Calibri"/>
                  </a:rPr>
                  <a:t>; c) </a:t>
                </a:r>
                <a14:m>
                  <m:oMath xmlns:m="http://schemas.openxmlformats.org/officeDocument/2006/math">
                    <m:r>
                      <a:rPr lang="vi-VN" sz="1900" b="0">
                        <a:solidFill>
                          <a:srgbClr val="1E293B"/>
                        </a:solidFill>
                        <a:latin typeface="Cambria Math" panose="02040503050406030204" pitchFamily="18" charset="0"/>
                      </a:rPr>
                      <m:t>A</m:t>
                    </m:r>
                  </m:oMath>
                </a14:m>
                <a:r>
                  <a:rPr sz="1900">
                    <a:solidFill>
                      <a:srgbClr val="1E293B"/>
                    </a:solidFill>
                    <a:latin typeface="Calibri"/>
                  </a:rPr>
                  <a:t> nằm trên tia đối của tia </a:t>
                </a:r>
                <a14:m>
                  <m:oMath xmlns:m="http://schemas.openxmlformats.org/officeDocument/2006/math">
                    <m:r>
                      <a:rPr lang="vi-VN" sz="1900" b="0">
                        <a:solidFill>
                          <a:srgbClr val="1E293B"/>
                        </a:solidFill>
                        <a:latin typeface="Cambria Math" panose="02040503050406030204" pitchFamily="18" charset="0"/>
                      </a:rPr>
                      <m:t>Oy</m:t>
                    </m:r>
                  </m:oMath>
                </a14:m>
                <a:r>
                  <a:rPr sz="1900">
                    <a:solidFill>
                      <a:srgbClr val="1E293B"/>
                    </a:solidFill>
                    <a:latin typeface="Calibri"/>
                  </a:rPr>
                  <a:t> và </a:t>
                </a:r>
                <a14:m>
                  <m:oMath xmlns:m="http://schemas.openxmlformats.org/officeDocument/2006/math">
                    <m:r>
                      <a:rPr lang="vi-VN" sz="1900" b="0">
                        <a:solidFill>
                          <a:srgbClr val="1E293B"/>
                        </a:solidFill>
                        <a:latin typeface="Cambria Math" panose="02040503050406030204" pitchFamily="18" charset="0"/>
                      </a:rPr>
                      <m:t>OA=3</m:t>
                    </m:r>
                  </m:oMath>
                </a14:m>
                <a:r>
                  <a:rPr sz="1900">
                    <a:solidFill>
                      <a:srgbClr val="1E293B"/>
                    </a:solidFill>
                    <a:latin typeface="Calibri"/>
                  </a:rPr>
                  <a:t>.</a:t>
                </a:r>
              </a:p>
              <a:p>
                <a:pPr algn="l">
                  <a:spcAft>
                    <a:spcPts val="800"/>
                  </a:spcAft>
                </a:pPr>
                <a:r>
                  <a:rPr sz="1900" b="1">
                    <a:solidFill>
                      <a:srgbClr val="1E293B"/>
                    </a:solidFill>
                    <a:latin typeface="Calibri"/>
                  </a:rPr>
                  <a:t>2.17.</a:t>
                </a:r>
                <a:r>
                  <a:rPr sz="1900">
                    <a:solidFill>
                      <a:srgbClr val="1E293B"/>
                    </a:solidFill>
                    <a:latin typeface="Calibri"/>
                  </a:rPr>
                  <a:t> Hình hộp chữ nhật </a:t>
                </a:r>
                <a14:m>
                  <m:oMath xmlns:m="http://schemas.openxmlformats.org/officeDocument/2006/math">
                    <m:r>
                      <a:rPr lang="vi-VN" sz="1900" b="0">
                        <a:solidFill>
                          <a:srgbClr val="1E293B"/>
                        </a:solidFill>
                        <a:latin typeface="Cambria Math" panose="02040503050406030204" pitchFamily="18" charset="0"/>
                      </a:rPr>
                      <m:t>ABCD.</m:t>
                    </m:r>
                    <m:sSup>
                      <m:e>
                        <m:r>
                          <a:rPr lang="vi-VN" sz="1900" b="0">
                            <a:solidFill>
                              <a:srgbClr val="1E293B"/>
                            </a:solidFill>
                            <a:latin typeface="Cambria Math" panose="02040503050406030204" pitchFamily="18" charset="0"/>
                          </a:rPr>
                          <m:t>A</m:t>
                        </m:r>
                      </m:e>
                      <m:sup>
                        <m:r>
                          <a:rPr lang="vi-VN" sz="1900" b="0">
                            <a:solidFill>
                              <a:srgbClr val="1E293B"/>
                            </a:solidFill>
                            <a:latin typeface="Cambria Math" panose="02040503050406030204" pitchFamily="18" charset="0"/>
                          </a:rPr>
                          <m:t>′</m:t>
                        </m:r>
                      </m:sup>
                    </m:sSup>
                    <m:sSup>
                      <m:e>
                        <m:r>
                          <a:rPr lang="vi-VN" sz="1900" b="0">
                            <a:solidFill>
                              <a:srgbClr val="1E293B"/>
                            </a:solidFill>
                            <a:latin typeface="Cambria Math" panose="02040503050406030204" pitchFamily="18" charset="0"/>
                          </a:rPr>
                          <m:t>B</m:t>
                        </m:r>
                      </m:e>
                      <m:sup>
                        <m:r>
                          <a:rPr lang="vi-VN" sz="1900" b="0">
                            <a:solidFill>
                              <a:srgbClr val="1E293B"/>
                            </a:solidFill>
                            <a:latin typeface="Cambria Math" panose="02040503050406030204" pitchFamily="18" charset="0"/>
                          </a:rPr>
                          <m:t>′</m:t>
                        </m:r>
                      </m:sup>
                    </m:sSup>
                    <m:sSup>
                      <m:e>
                        <m:r>
                          <a:rPr lang="vi-VN" sz="1900" b="0">
                            <a:solidFill>
                              <a:srgbClr val="1E293B"/>
                            </a:solidFill>
                            <a:latin typeface="Cambria Math" panose="02040503050406030204" pitchFamily="18" charset="0"/>
                          </a:rPr>
                          <m:t>C</m:t>
                        </m:r>
                      </m:e>
                      <m:sup>
                        <m:r>
                          <a:rPr lang="vi-VN" sz="1900" b="0">
                            <a:solidFill>
                              <a:srgbClr val="1E293B"/>
                            </a:solidFill>
                            <a:latin typeface="Cambria Math" panose="02040503050406030204" pitchFamily="18" charset="0"/>
                          </a:rPr>
                          <m:t>′</m:t>
                        </m:r>
                      </m:sup>
                    </m:sSup>
                    <m:sSup>
                      <m:e>
                        <m:r>
                          <a:rPr lang="vi-VN" sz="1900" b="0">
                            <a:solidFill>
                              <a:srgbClr val="1E293B"/>
                            </a:solidFill>
                            <a:latin typeface="Cambria Math" panose="02040503050406030204" pitchFamily="18" charset="0"/>
                          </a:rPr>
                          <m:t>D</m:t>
                        </m:r>
                      </m:e>
                      <m:sup>
                        <m:r>
                          <a:rPr lang="vi-VN" sz="1900" b="0">
                            <a:solidFill>
                              <a:srgbClr val="1E293B"/>
                            </a:solidFill>
                            <a:latin typeface="Cambria Math" panose="02040503050406030204" pitchFamily="18" charset="0"/>
                          </a:rPr>
                          <m:t>′</m:t>
                        </m:r>
                      </m:sup>
                    </m:sSup>
                  </m:oMath>
                </a14:m>
                <a:r>
                  <a:rPr sz="1900">
                    <a:solidFill>
                      <a:srgbClr val="1E293B"/>
                    </a:solidFill>
                    <a:latin typeface="Calibri"/>
                  </a:rPr>
                  <a:t> có </a:t>
                </a:r>
                <a14:m>
                  <m:oMath xmlns:m="http://schemas.openxmlformats.org/officeDocument/2006/math">
                    <m:r>
                      <a:rPr lang="vi-VN" sz="1900" b="0">
                        <a:solidFill>
                          <a:srgbClr val="1E293B"/>
                        </a:solidFill>
                        <a:latin typeface="Cambria Math" panose="02040503050406030204" pitchFamily="18" charset="0"/>
                      </a:rPr>
                      <m:t>A≡O</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D(2;0;0)</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B(0;4;0)</m:t>
                    </m:r>
                  </m:oMath>
                </a14:m>
                <a:r>
                  <a:rPr sz="1900">
                    <a:solidFill>
                      <a:srgbClr val="1E293B"/>
                    </a:solidFill>
                    <a:latin typeface="Calibri"/>
                  </a:rPr>
                  <a:t>, </a:t>
                </a:r>
                <a14:m>
                  <m:oMath xmlns:m="http://schemas.openxmlformats.org/officeDocument/2006/math">
                    <m:sSup>
                      <m:e>
                        <m:r>
                          <a:rPr lang="vi-VN" sz="1900" b="0">
                            <a:solidFill>
                              <a:srgbClr val="1E293B"/>
                            </a:solidFill>
                            <a:latin typeface="Cambria Math" panose="02040503050406030204" pitchFamily="18" charset="0"/>
                          </a:rPr>
                          <m:t>A</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(0;0;3)</m:t>
                    </m:r>
                  </m:oMath>
                </a14:m>
                <a:r>
                  <a:rPr sz="1900">
                    <a:solidFill>
                      <a:srgbClr val="1E293B"/>
                    </a:solidFill>
                    <a:latin typeface="Calibri"/>
                  </a:rPr>
                  <a:t> (H.2.45). Xác định toạ độ các đỉnh còn lại.</a:t>
                </a:r>
              </a:p>
            </p:txBody>
          </p:sp>
        </mc:Choice>
        <mc:Fallback>
          <p:sp>
            <p:nvSpPr>
              <p:cNvPr id="7" name="TextBox 6"/>
              <p:cNvSpPr txBox="1"/>
              <p:nvPr/>
            </p:nvSpPr>
            <p:spPr>
              <a:xfrm>
                <a:off x="548640" y="1371600"/>
                <a:ext cx="8412480" cy="2112263"/>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2.15.</a:t>
                </a:r>
                <a:r>
                  <a:rPr sz="1900">
                    <a:solidFill>
                      <a:srgbClr val="1E293B"/>
                    </a:solidFill>
                    <a:latin typeface="Calibri"/>
                  </a:rPr>
                  <a:t> Xác định toạ độ của </a:t>
                </a:r>
                <a:r>
                  <a:rPr lang="vi-VN"/>
                  <a:t>\overrightarrow{AB}</a:t>
                </a:r>
                <a:r>
                  <a:rPr sz="1900">
                    <a:solidFill>
                      <a:srgbClr val="1E293B"/>
                    </a:solidFill>
                    <a:latin typeface="Calibri"/>
                  </a:rPr>
                  <a:t>: a) </a:t>
                </a:r>
                <a:r>
                  <a:rPr lang="vi-VN"/>
                  <a:t>A(0;0;0)</a:t>
                </a:r>
                <a:r>
                  <a:rPr sz="1900">
                    <a:solidFill>
                      <a:srgbClr val="1E293B"/>
                    </a:solidFill>
                    <a:latin typeface="Calibri"/>
                  </a:rPr>
                  <a:t>, </a:t>
                </a:r>
                <a:r>
                  <a:rPr lang="vi-VN"/>
                  <a:t>B(4;2;-5)</a:t>
                </a:r>
                <a:r>
                  <a:rPr sz="1900">
                    <a:solidFill>
                      <a:srgbClr val="1E293B"/>
                    </a:solidFill>
                    <a:latin typeface="Calibri"/>
                  </a:rPr>
                  <a:t>; b) </a:t>
                </a:r>
                <a:r>
                  <a:rPr lang="vi-VN"/>
                  <a:t>A(1;-3;7)</a:t>
                </a:r>
                <a:r>
                  <a:rPr sz="1900">
                    <a:solidFill>
                      <a:srgbClr val="1E293B"/>
                    </a:solidFill>
                    <a:latin typeface="Calibri"/>
                  </a:rPr>
                  <a:t>, </a:t>
                </a:r>
                <a:r>
                  <a:rPr lang="vi-VN"/>
                  <a:t>B(1;-3;7)</a:t>
                </a:r>
                <a:r>
                  <a:rPr sz="1900">
                    <a:solidFill>
                      <a:srgbClr val="1E293B"/>
                    </a:solidFill>
                    <a:latin typeface="Calibri"/>
                  </a:rPr>
                  <a:t>; c) </a:t>
                </a:r>
                <a:r>
                  <a:rPr lang="vi-VN"/>
                  <a:t>A(5;4;9)</a:t>
                </a:r>
                <a:r>
                  <a:rPr sz="1900">
                    <a:solidFill>
                      <a:srgbClr val="1E293B"/>
                    </a:solidFill>
                    <a:latin typeface="Calibri"/>
                  </a:rPr>
                  <a:t>, </a:t>
                </a:r>
                <a:r>
                  <a:rPr lang="vi-VN"/>
                  <a:t>B(-5;7;2)</a:t>
                </a:r>
                <a:r>
                  <a:rPr sz="1900">
                    <a:solidFill>
                      <a:srgbClr val="1E293B"/>
                    </a:solidFill>
                    <a:latin typeface="Calibri"/>
                  </a:rPr>
                  <a:t>.</a:t>
                </a:r>
              </a:p>
              <a:p>
                <a:pPr algn="l">
                  <a:spcAft>
                    <a:spcPts val="800"/>
                  </a:spcAft>
                </a:pPr>
                <a:r>
                  <a:rPr sz="1900" b="1">
                    <a:solidFill>
                      <a:srgbClr val="1E293B"/>
                    </a:solidFill>
                    <a:latin typeface="Calibri"/>
                  </a:rPr>
                  <a:t>2.16.</a:t>
                </a:r>
                <a:r>
                  <a:rPr sz="1900">
                    <a:solidFill>
                      <a:srgbClr val="1E293B"/>
                    </a:solidFill>
                    <a:latin typeface="Calibri"/>
                  </a:rPr>
                  <a:t> Xác định toạ độ điểm </a:t>
                </a:r>
                <a:r>
                  <a:rPr lang="vi-VN"/>
                  <a:t>A</a:t>
                </a:r>
                <a:r>
                  <a:rPr sz="1900">
                    <a:solidFill>
                      <a:srgbClr val="1E293B"/>
                    </a:solidFill>
                    <a:latin typeface="Calibri"/>
                  </a:rPr>
                  <a:t>: a) </a:t>
                </a:r>
                <a:r>
                  <a:rPr lang="vi-VN"/>
                  <a:t>A</a:t>
                </a:r>
                <a:r>
                  <a:rPr sz="1900">
                    <a:solidFill>
                      <a:srgbClr val="1E293B"/>
                    </a:solidFill>
                    <a:latin typeface="Calibri"/>
                  </a:rPr>
                  <a:t> trùng gốc toạ độ; b) </a:t>
                </a:r>
                <a:r>
                  <a:rPr lang="vi-VN"/>
                  <a:t>A</a:t>
                </a:r>
                <a:r>
                  <a:rPr sz="1900">
                    <a:solidFill>
                      <a:srgbClr val="1E293B"/>
                    </a:solidFill>
                    <a:latin typeface="Calibri"/>
                  </a:rPr>
                  <a:t> nằm trên tia </a:t>
                </a:r>
                <a:r>
                  <a:rPr lang="vi-VN"/>
                  <a:t>Ox</a:t>
                </a:r>
                <a:r>
                  <a:rPr sz="1900">
                    <a:solidFill>
                      <a:srgbClr val="1E293B"/>
                    </a:solidFill>
                    <a:latin typeface="Calibri"/>
                  </a:rPr>
                  <a:t> và </a:t>
                </a:r>
                <a:r>
                  <a:rPr lang="vi-VN"/>
                  <a:t>OA=2</a:t>
                </a:r>
                <a:r>
                  <a:rPr sz="1900">
                    <a:solidFill>
                      <a:srgbClr val="1E293B"/>
                    </a:solidFill>
                    <a:latin typeface="Calibri"/>
                  </a:rPr>
                  <a:t>; c) </a:t>
                </a:r>
                <a:r>
                  <a:rPr lang="vi-VN"/>
                  <a:t>A</a:t>
                </a:r>
                <a:r>
                  <a:rPr sz="1900">
                    <a:solidFill>
                      <a:srgbClr val="1E293B"/>
                    </a:solidFill>
                    <a:latin typeface="Calibri"/>
                  </a:rPr>
                  <a:t> nằm trên tia đối của tia </a:t>
                </a:r>
                <a:r>
                  <a:rPr lang="vi-VN"/>
                  <a:t>Oy</a:t>
                </a:r>
                <a:r>
                  <a:rPr sz="1900">
                    <a:solidFill>
                      <a:srgbClr val="1E293B"/>
                    </a:solidFill>
                    <a:latin typeface="Calibri"/>
                  </a:rPr>
                  <a:t> và </a:t>
                </a:r>
                <a:r>
                  <a:rPr lang="vi-VN"/>
                  <a:t>OA=3</a:t>
                </a:r>
                <a:r>
                  <a:rPr sz="1900">
                    <a:solidFill>
                      <a:srgbClr val="1E293B"/>
                    </a:solidFill>
                    <a:latin typeface="Calibri"/>
                  </a:rPr>
                  <a:t>.</a:t>
                </a:r>
              </a:p>
              <a:p>
                <a:pPr algn="l">
                  <a:spcAft>
                    <a:spcPts val="800"/>
                  </a:spcAft>
                </a:pPr>
                <a:r>
                  <a:rPr sz="1900" b="1">
                    <a:solidFill>
                      <a:srgbClr val="1E293B"/>
                    </a:solidFill>
                    <a:latin typeface="Calibri"/>
                  </a:rPr>
                  <a:t>2.17.</a:t>
                </a:r>
                <a:r>
                  <a:rPr sz="1900">
                    <a:solidFill>
                      <a:srgbClr val="1E293B"/>
                    </a:solidFill>
                    <a:latin typeface="Calibri"/>
                  </a:rPr>
                  <a:t> Hình hộp chữ nhật </a:t>
                </a:r>
                <a:r>
                  <a:rPr lang="vi-VN"/>
                  <a:t>ABCD.A'B'C'D'</a:t>
                </a:r>
                <a:r>
                  <a:rPr sz="1900">
                    <a:solidFill>
                      <a:srgbClr val="1E293B"/>
                    </a:solidFill>
                    <a:latin typeface="Calibri"/>
                  </a:rPr>
                  <a:t> có </a:t>
                </a:r>
                <a:r>
                  <a:rPr lang="vi-VN"/>
                  <a:t>A\equiv O</a:t>
                </a:r>
                <a:r>
                  <a:rPr sz="1900">
                    <a:solidFill>
                      <a:srgbClr val="1E293B"/>
                    </a:solidFill>
                    <a:latin typeface="Calibri"/>
                  </a:rPr>
                  <a:t>, </a:t>
                </a:r>
                <a:r>
                  <a:rPr lang="vi-VN"/>
                  <a:t>D(2;0;0)</a:t>
                </a:r>
                <a:r>
                  <a:rPr sz="1900">
                    <a:solidFill>
                      <a:srgbClr val="1E293B"/>
                    </a:solidFill>
                    <a:latin typeface="Calibri"/>
                  </a:rPr>
                  <a:t>, </a:t>
                </a:r>
                <a:r>
                  <a:rPr lang="vi-VN"/>
                  <a:t>B(0;4;0)</a:t>
                </a:r>
                <a:r>
                  <a:rPr sz="1900">
                    <a:solidFill>
                      <a:srgbClr val="1E293B"/>
                    </a:solidFill>
                    <a:latin typeface="Calibri"/>
                  </a:rPr>
                  <a:t>, </a:t>
                </a:r>
                <a:r>
                  <a:rPr lang="vi-VN"/>
                  <a:t>A'(0;0;3)</a:t>
                </a:r>
                <a:r>
                  <a:rPr sz="1900">
                    <a:solidFill>
                      <a:srgbClr val="1E293B"/>
                    </a:solidFill>
                    <a:latin typeface="Calibri"/>
                  </a:rPr>
                  <a:t> (H.2.45). Xác định toạ độ các đỉnh còn lại.</a:t>
                </a:r>
              </a:p>
            </p:txBody>
          </p:sp>
        </mc:Fallback>
      </mc:AlternateContent>
      <p:sp>
        <p:nvSpPr>
          <p:cNvPr id="8" name="s1_nen"/>
          <p:cNvSpPr/>
          <p:nvPr/>
        </p:nvSpPr>
        <p:spPr>
          <a:xfrm>
            <a:off x="548640" y="3621023"/>
            <a:ext cx="110642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657599"/>
                <a:ext cx="10735056" cy="771143"/>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2.15.</a:t>
                </a:r>
                <a:r>
                  <a:rPr sz="1900">
                    <a:solidFill>
                      <a:srgbClr val="1E293B"/>
                    </a:solidFill>
                    <a:latin typeface="Calibri"/>
                  </a:rPr>
                  <a:t> a) </a:t>
                </a:r>
                <a14:m>
                  <m:oMath xmlns:m="http://schemas.openxmlformats.org/officeDocument/2006/math">
                    <m:d>
                      <m:dPr>
                        <m:sepChr m:val=""/>
                      </m:dPr>
                      <m:e>
                        <m:r>
                          <a:rPr lang="vi-VN" sz="1900" b="0">
                            <a:solidFill>
                              <a:srgbClr val="1E293B"/>
                            </a:solidFill>
                            <a:latin typeface="Cambria Math" panose="02040503050406030204" pitchFamily="18" charset="0"/>
                          </a:rPr>
                          <m:t>4</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2</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5</m:t>
                        </m:r>
                      </m:e>
                    </m:d>
                  </m:oMath>
                </a14:m>
                <a:r>
                  <a:rPr sz="1900">
                    <a:solidFill>
                      <a:srgbClr val="1E293B"/>
                    </a:solidFill>
                    <a:latin typeface="Calibri"/>
                  </a:rPr>
                  <a:t>; b) </a:t>
                </a:r>
                <a14:m>
                  <m:oMath xmlns:m="http://schemas.openxmlformats.org/officeDocument/2006/math">
                    <m:d>
                      <m:dPr>
                        <m:sepChr m:val=""/>
                      </m:dPr>
                      <m:e>
                        <m:r>
                          <a:rPr lang="vi-VN" sz="1900" b="0">
                            <a:solidFill>
                              <a:srgbClr val="1E293B"/>
                            </a:solidFill>
                            <a:latin typeface="Cambria Math" panose="02040503050406030204" pitchFamily="18" charset="0"/>
                          </a:rPr>
                          <m:t>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0</m:t>
                        </m:r>
                      </m:e>
                    </m:d>
                  </m:oMath>
                </a14:m>
                <a:r>
                  <a:rPr sz="1900">
                    <a:solidFill>
                      <a:srgbClr val="1E293B"/>
                    </a:solidFill>
                    <a:latin typeface="Calibri"/>
                  </a:rPr>
                  <a:t>; c) </a:t>
                </a:r>
                <a14:m>
                  <m:oMath xmlns:m="http://schemas.openxmlformats.org/officeDocument/2006/math">
                    <m:d>
                      <m:dPr>
                        <m:sepChr m:val=""/>
                      </m:dPr>
                      <m:e>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10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3</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7</m:t>
                        </m:r>
                      </m:e>
                    </m:d>
                  </m:oMath>
                </a14:m>
                <a:r>
                  <a:rPr sz="1900">
                    <a:solidFill>
                      <a:srgbClr val="1E293B"/>
                    </a:solidFill>
                    <a:latin typeface="Calibri"/>
                  </a:rPr>
                  <a:t>. </a:t>
                </a:r>
                <a:r>
                  <a:rPr sz="1900" b="1">
                    <a:solidFill>
                      <a:srgbClr val="1E293B"/>
                    </a:solidFill>
                    <a:latin typeface="Calibri"/>
                  </a:rPr>
                  <a:t>2.16.</a:t>
                </a:r>
                <a:r>
                  <a:rPr sz="1900">
                    <a:solidFill>
                      <a:srgbClr val="1E293B"/>
                    </a:solidFill>
                    <a:latin typeface="Calibri"/>
                  </a:rPr>
                  <a:t> a) </a:t>
                </a:r>
                <a14:m>
                  <m:oMath xmlns:m="http://schemas.openxmlformats.org/officeDocument/2006/math">
                    <m:d>
                      <m:dPr>
                        <m:sepChr m:val=""/>
                      </m:dPr>
                      <m:e>
                        <m:r>
                          <a:rPr lang="vi-VN" sz="1900" b="0">
                            <a:solidFill>
                              <a:srgbClr val="1E293B"/>
                            </a:solidFill>
                            <a:latin typeface="Cambria Math" panose="02040503050406030204" pitchFamily="18" charset="0"/>
                          </a:rPr>
                          <m:t>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0</m:t>
                        </m:r>
                      </m:e>
                    </m:d>
                  </m:oMath>
                </a14:m>
                <a:r>
                  <a:rPr sz="1900">
                    <a:solidFill>
                      <a:srgbClr val="1E293B"/>
                    </a:solidFill>
                    <a:latin typeface="Calibri"/>
                  </a:rPr>
                  <a:t>; b) </a:t>
                </a:r>
                <a14:m>
                  <m:oMath xmlns:m="http://schemas.openxmlformats.org/officeDocument/2006/math">
                    <m:d>
                      <m:dPr>
                        <m:sepChr m:val=""/>
                      </m:dPr>
                      <m:e>
                        <m:r>
                          <a:rPr lang="vi-VN" sz="1900" b="0">
                            <a:solidFill>
                              <a:srgbClr val="1E293B"/>
                            </a:solidFill>
                            <a:latin typeface="Cambria Math" panose="02040503050406030204" pitchFamily="18" charset="0"/>
                          </a:rPr>
                          <m:t>2</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0</m:t>
                        </m:r>
                      </m:e>
                    </m:d>
                  </m:oMath>
                </a14:m>
                <a:r>
                  <a:rPr sz="1900">
                    <a:solidFill>
                      <a:srgbClr val="1E293B"/>
                    </a:solidFill>
                    <a:latin typeface="Calibri"/>
                  </a:rPr>
                  <a:t>; c) </a:t>
                </a:r>
                <a14:m>
                  <m:oMath xmlns:m="http://schemas.openxmlformats.org/officeDocument/2006/math">
                    <m:d>
                      <m:dPr>
                        <m:sepChr m:val=""/>
                      </m:dPr>
                      <m:e>
                        <m:r>
                          <a:rPr lang="vi-VN" sz="1900" b="0">
                            <a:solidFill>
                              <a:srgbClr val="1E293B"/>
                            </a:solidFill>
                            <a:latin typeface="Cambria Math" panose="02040503050406030204" pitchFamily="18" charset="0"/>
                          </a:rPr>
                          <m:t>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3</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0</m:t>
                        </m:r>
                      </m:e>
                    </m:d>
                  </m:oMath>
                </a14:m>
                <a:r>
                  <a:rPr sz="1900">
                    <a:solidFill>
                      <a:srgbClr val="1E293B"/>
                    </a:solidFill>
                    <a:latin typeface="Calibri"/>
                  </a:rPr>
                  <a:t>.</a:t>
                </a:r>
              </a:p>
            </p:txBody>
          </p:sp>
        </mc:Choice>
        <mc:Fallback>
          <p:sp>
            <p:nvSpPr>
              <p:cNvPr id="9" name="TextBox 8"/>
              <p:cNvSpPr txBox="1"/>
              <p:nvPr/>
            </p:nvSpPr>
            <p:spPr>
              <a:xfrm>
                <a:off x="713232" y="3657599"/>
                <a:ext cx="10735056" cy="771143"/>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2.15.</a:t>
                </a:r>
                <a:r>
                  <a:rPr sz="1900">
                    <a:solidFill>
                      <a:srgbClr val="1E293B"/>
                    </a:solidFill>
                    <a:latin typeface="Calibri"/>
                  </a:rPr>
                  <a:t> a) </a:t>
                </a:r>
                <a:r>
                  <a:rPr lang="vi-VN"/>
                  <a:t>(4;2;-5)</a:t>
                </a:r>
                <a:r>
                  <a:rPr sz="1900">
                    <a:solidFill>
                      <a:srgbClr val="1E293B"/>
                    </a:solidFill>
                    <a:latin typeface="Calibri"/>
                  </a:rPr>
                  <a:t>; b) </a:t>
                </a:r>
                <a:r>
                  <a:rPr lang="vi-VN"/>
                  <a:t>(0;0;0)</a:t>
                </a:r>
                <a:r>
                  <a:rPr sz="1900">
                    <a:solidFill>
                      <a:srgbClr val="1E293B"/>
                    </a:solidFill>
                    <a:latin typeface="Calibri"/>
                  </a:rPr>
                  <a:t>; c) </a:t>
                </a:r>
                <a:r>
                  <a:rPr lang="vi-VN"/>
                  <a:t>(-10;3;-7)</a:t>
                </a:r>
                <a:r>
                  <a:rPr sz="1900">
                    <a:solidFill>
                      <a:srgbClr val="1E293B"/>
                    </a:solidFill>
                    <a:latin typeface="Calibri"/>
                  </a:rPr>
                  <a:t>. </a:t>
                </a:r>
                <a:r>
                  <a:rPr sz="1900" b="1">
                    <a:solidFill>
                      <a:srgbClr val="1E293B"/>
                    </a:solidFill>
                    <a:latin typeface="Calibri"/>
                  </a:rPr>
                  <a:t>2.16.</a:t>
                </a:r>
                <a:r>
                  <a:rPr sz="1900">
                    <a:solidFill>
                      <a:srgbClr val="1E293B"/>
                    </a:solidFill>
                    <a:latin typeface="Calibri"/>
                  </a:rPr>
                  <a:t> a) </a:t>
                </a:r>
                <a:r>
                  <a:rPr lang="vi-VN"/>
                  <a:t>(0;0;0)</a:t>
                </a:r>
                <a:r>
                  <a:rPr sz="1900">
                    <a:solidFill>
                      <a:srgbClr val="1E293B"/>
                    </a:solidFill>
                    <a:latin typeface="Calibri"/>
                  </a:rPr>
                  <a:t>; b) </a:t>
                </a:r>
                <a:r>
                  <a:rPr lang="vi-VN"/>
                  <a:t>(2;0;0)</a:t>
                </a:r>
                <a:r>
                  <a:rPr sz="1900">
                    <a:solidFill>
                      <a:srgbClr val="1E293B"/>
                    </a:solidFill>
                    <a:latin typeface="Calibri"/>
                  </a:rPr>
                  <a:t>; c) </a:t>
                </a:r>
                <a:r>
                  <a:rPr lang="vi-VN"/>
                  <a:t>(0;-3;0)</a:t>
                </a:r>
                <a:r>
                  <a:rPr sz="1900">
                    <a:solidFill>
                      <a:srgbClr val="1E293B"/>
                    </a:solidFill>
                    <a:latin typeface="Calibri"/>
                  </a:rPr>
                  <a:t>.</a:t>
                </a:r>
              </a:p>
            </p:txBody>
          </p:sp>
        </mc:Fallback>
      </mc:AlternateContent>
      <p:sp>
        <p:nvSpPr>
          <p:cNvPr id="10" name="s2_nen"/>
          <p:cNvSpPr/>
          <p:nvPr/>
        </p:nvSpPr>
        <p:spPr>
          <a:xfrm>
            <a:off x="548640" y="4538472"/>
            <a:ext cx="11064240" cy="554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575048"/>
                <a:ext cx="10735056" cy="481583"/>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2.17.</a:t>
                </a:r>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C(2;4;0)</m:t>
                    </m:r>
                  </m:oMath>
                </a14:m>
                <a:r>
                  <a:rPr sz="1900">
                    <a:solidFill>
                      <a:srgbClr val="1E293B"/>
                    </a:solidFill>
                    <a:latin typeface="Calibri"/>
                  </a:rPr>
                  <a:t>, </a:t>
                </a:r>
                <a14:m>
                  <m:oMath xmlns:m="http://schemas.openxmlformats.org/officeDocument/2006/math">
                    <m:sSup>
                      <m:e>
                        <m:r>
                          <a:rPr lang="vi-VN" sz="1900" b="0">
                            <a:solidFill>
                              <a:srgbClr val="1E293B"/>
                            </a:solidFill>
                            <a:latin typeface="Cambria Math" panose="02040503050406030204" pitchFamily="18" charset="0"/>
                          </a:rPr>
                          <m:t>B</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(0;4;3)</m:t>
                    </m:r>
                  </m:oMath>
                </a14:m>
                <a:r>
                  <a:rPr sz="1900">
                    <a:solidFill>
                      <a:srgbClr val="1E293B"/>
                    </a:solidFill>
                    <a:latin typeface="Calibri"/>
                  </a:rPr>
                  <a:t>, </a:t>
                </a:r>
                <a14:m>
                  <m:oMath xmlns:m="http://schemas.openxmlformats.org/officeDocument/2006/math">
                    <m:sSup>
                      <m:e>
                        <m:r>
                          <a:rPr lang="vi-VN" sz="1900" b="0">
                            <a:solidFill>
                              <a:srgbClr val="1E293B"/>
                            </a:solidFill>
                            <a:latin typeface="Cambria Math" panose="02040503050406030204" pitchFamily="18" charset="0"/>
                          </a:rPr>
                          <m:t>C</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(2;4;3)</m:t>
                    </m:r>
                  </m:oMath>
                </a14:m>
                <a:r>
                  <a:rPr sz="1900">
                    <a:solidFill>
                      <a:srgbClr val="1E293B"/>
                    </a:solidFill>
                    <a:latin typeface="Calibri"/>
                  </a:rPr>
                  <a:t>, </a:t>
                </a:r>
                <a14:m>
                  <m:oMath xmlns:m="http://schemas.openxmlformats.org/officeDocument/2006/math">
                    <m:sSup>
                      <m:e>
                        <m:r>
                          <a:rPr lang="vi-VN" sz="1900" b="0">
                            <a:solidFill>
                              <a:srgbClr val="1E293B"/>
                            </a:solidFill>
                            <a:latin typeface="Cambria Math" panose="02040503050406030204" pitchFamily="18" charset="0"/>
                          </a:rPr>
                          <m:t>D</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(2;0;3)</m:t>
                    </m:r>
                  </m:oMath>
                </a14:m>
                <a:r>
                  <a:rPr sz="1900">
                    <a:solidFill>
                      <a:srgbClr val="1E293B"/>
                    </a:solidFill>
                    <a:latin typeface="Calibri"/>
                  </a:rPr>
                  <a:t>.</a:t>
                </a:r>
              </a:p>
            </p:txBody>
          </p:sp>
        </mc:Choice>
        <mc:Fallback>
          <p:sp>
            <p:nvSpPr>
              <p:cNvPr id="11" name="TextBox 10"/>
              <p:cNvSpPr txBox="1"/>
              <p:nvPr/>
            </p:nvSpPr>
            <p:spPr>
              <a:xfrm>
                <a:off x="713232" y="4575048"/>
                <a:ext cx="10735056" cy="481583"/>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2.17.</a:t>
                </a:r>
                <a:r>
                  <a:rPr sz="1900">
                    <a:solidFill>
                      <a:srgbClr val="1E293B"/>
                    </a:solidFill>
                    <a:latin typeface="Calibri"/>
                  </a:rPr>
                  <a:t> </a:t>
                </a:r>
                <a:r>
                  <a:rPr lang="vi-VN"/>
                  <a:t>C(2;4;0)</a:t>
                </a:r>
                <a:r>
                  <a:rPr sz="1900">
                    <a:solidFill>
                      <a:srgbClr val="1E293B"/>
                    </a:solidFill>
                    <a:latin typeface="Calibri"/>
                  </a:rPr>
                  <a:t>, </a:t>
                </a:r>
                <a:r>
                  <a:rPr lang="vi-VN"/>
                  <a:t>B'(0;4;3)</a:t>
                </a:r>
                <a:r>
                  <a:rPr sz="1900">
                    <a:solidFill>
                      <a:srgbClr val="1E293B"/>
                    </a:solidFill>
                    <a:latin typeface="Calibri"/>
                  </a:rPr>
                  <a:t>, </a:t>
                </a:r>
                <a:r>
                  <a:rPr lang="vi-VN"/>
                  <a:t>C'(2;4;3)</a:t>
                </a:r>
                <a:r>
                  <a:rPr sz="1900">
                    <a:solidFill>
                      <a:srgbClr val="1E293B"/>
                    </a:solidFill>
                    <a:latin typeface="Calibri"/>
                  </a:rPr>
                  <a:t>, </a:t>
                </a:r>
                <a:r>
                  <a:rPr lang="vi-VN"/>
                  <a:t>D'(2;0;3)</a:t>
                </a:r>
                <a:r>
                  <a:rPr sz="1900">
                    <a:solidFill>
                      <a:srgbClr val="1E293B"/>
                    </a:solidFill>
                    <a:latin typeface="Calibri"/>
                  </a:rPr>
                  <a:t>.</a:t>
                </a:r>
              </a:p>
            </p:txBody>
          </p:sp>
        </mc:Fallback>
      </mc:AlternateContent>
      <p:pic>
        <p:nvPicPr>
          <p:cNvPr id="12" name="Picture 11" descr="h245.png"/>
          <p:cNvPicPr>
            <a:picLocks noChangeAspect="1"/>
          </p:cNvPicPr>
          <p:nvPr/>
        </p:nvPicPr>
        <p:blipFill>
          <a:blip r:embed="rId3"/>
          <a:stretch>
            <a:fillRect/>
          </a:stretch>
        </p:blipFill>
        <p:spPr>
          <a:xfrm>
            <a:off x="9151813" y="1371600"/>
            <a:ext cx="2544694" cy="211226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2.18 – 2.19 (SGK TR.65)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Hệ trục toạ độ trong không gian – Toán 12          34</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1432560"/>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2.18.</a:t>
                </a:r>
                <a:r>
                  <a:rPr sz="1900">
                    <a:solidFill>
                      <a:srgbClr val="1E293B"/>
                    </a:solidFill>
                    <a:latin typeface="Calibri"/>
                  </a:rPr>
                  <a:t> Cho hình hộp </a:t>
                </a:r>
                <a14:m>
                  <m:oMath xmlns:m="http://schemas.openxmlformats.org/officeDocument/2006/math">
                    <m:r>
                      <a:rPr lang="vi-VN" sz="1900" b="0">
                        <a:solidFill>
                          <a:srgbClr val="1E293B"/>
                        </a:solidFill>
                        <a:latin typeface="Cambria Math" panose="02040503050406030204" pitchFamily="18" charset="0"/>
                      </a:rPr>
                      <m:t>OABC.</m:t>
                    </m:r>
                    <m:sSup>
                      <m:e>
                        <m:r>
                          <a:rPr lang="vi-VN" sz="1900" b="0">
                            <a:solidFill>
                              <a:srgbClr val="1E293B"/>
                            </a:solidFill>
                            <a:latin typeface="Cambria Math" panose="02040503050406030204" pitchFamily="18" charset="0"/>
                          </a:rPr>
                          <m:t>O</m:t>
                        </m:r>
                      </m:e>
                      <m:sup>
                        <m:r>
                          <a:rPr lang="vi-VN" sz="1900" b="0">
                            <a:solidFill>
                              <a:srgbClr val="1E293B"/>
                            </a:solidFill>
                            <a:latin typeface="Cambria Math" panose="02040503050406030204" pitchFamily="18" charset="0"/>
                          </a:rPr>
                          <m:t>′</m:t>
                        </m:r>
                      </m:sup>
                    </m:sSup>
                    <m:sSup>
                      <m:e>
                        <m:r>
                          <a:rPr lang="vi-VN" sz="1900" b="0">
                            <a:solidFill>
                              <a:srgbClr val="1E293B"/>
                            </a:solidFill>
                            <a:latin typeface="Cambria Math" panose="02040503050406030204" pitchFamily="18" charset="0"/>
                          </a:rPr>
                          <m:t>A</m:t>
                        </m:r>
                      </m:e>
                      <m:sup>
                        <m:r>
                          <a:rPr lang="vi-VN" sz="1900" b="0">
                            <a:solidFill>
                              <a:srgbClr val="1E293B"/>
                            </a:solidFill>
                            <a:latin typeface="Cambria Math" panose="02040503050406030204" pitchFamily="18" charset="0"/>
                          </a:rPr>
                          <m:t>′</m:t>
                        </m:r>
                      </m:sup>
                    </m:sSup>
                    <m:sSup>
                      <m:e>
                        <m:r>
                          <a:rPr lang="vi-VN" sz="1900" b="0">
                            <a:solidFill>
                              <a:srgbClr val="1E293B"/>
                            </a:solidFill>
                            <a:latin typeface="Cambria Math" panose="02040503050406030204" pitchFamily="18" charset="0"/>
                          </a:rPr>
                          <m:t>B</m:t>
                        </m:r>
                      </m:e>
                      <m:sup>
                        <m:r>
                          <a:rPr lang="vi-VN" sz="1900" b="0">
                            <a:solidFill>
                              <a:srgbClr val="1E293B"/>
                            </a:solidFill>
                            <a:latin typeface="Cambria Math" panose="02040503050406030204" pitchFamily="18" charset="0"/>
                          </a:rPr>
                          <m:t>′</m:t>
                        </m:r>
                      </m:sup>
                    </m:sSup>
                    <m:sSup>
                      <m:e>
                        <m:r>
                          <a:rPr lang="vi-VN" sz="1900" b="0">
                            <a:solidFill>
                              <a:srgbClr val="1E293B"/>
                            </a:solidFill>
                            <a:latin typeface="Cambria Math" panose="02040503050406030204" pitchFamily="18" charset="0"/>
                          </a:rPr>
                          <m:t>C</m:t>
                        </m:r>
                      </m:e>
                      <m:sup>
                        <m:r>
                          <a:rPr lang="vi-VN" sz="1900" b="0">
                            <a:solidFill>
                              <a:srgbClr val="1E293B"/>
                            </a:solidFill>
                            <a:latin typeface="Cambria Math" panose="02040503050406030204" pitchFamily="18" charset="0"/>
                          </a:rPr>
                          <m:t>′</m:t>
                        </m:r>
                      </m:sup>
                    </m:sSup>
                  </m:oMath>
                </a14:m>
                <a:r>
                  <a:rPr sz="1900">
                    <a:solidFill>
                      <a:srgbClr val="1E293B"/>
                    </a:solidFill>
                    <a:latin typeface="Calibri"/>
                  </a:rPr>
                  <a:t> có </a:t>
                </a:r>
                <a14:m>
                  <m:oMath xmlns:m="http://schemas.openxmlformats.org/officeDocument/2006/math">
                    <m:r>
                      <a:rPr lang="vi-VN" sz="1900" b="0">
                        <a:solidFill>
                          <a:srgbClr val="1E293B"/>
                        </a:solidFill>
                        <a:latin typeface="Cambria Math" panose="02040503050406030204" pitchFamily="18" charset="0"/>
                      </a:rPr>
                      <m:t>A(1;1;−1)</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B(0;3;0)</m:t>
                    </m:r>
                  </m:oMath>
                </a14:m>
                <a:r>
                  <a:rPr sz="1900">
                    <a:solidFill>
                      <a:srgbClr val="1E293B"/>
                    </a:solidFill>
                    <a:latin typeface="Calibri"/>
                  </a:rPr>
                  <a:t>, </a:t>
                </a:r>
                <a14:m>
                  <m:oMath xmlns:m="http://schemas.openxmlformats.org/officeDocument/2006/math">
                    <m:sSup>
                      <m:e>
                        <m:r>
                          <a:rPr lang="vi-VN" sz="1900" b="0">
                            <a:solidFill>
                              <a:srgbClr val="1E293B"/>
                            </a:solidFill>
                            <a:latin typeface="Cambria Math" panose="02040503050406030204" pitchFamily="18" charset="0"/>
                          </a:rPr>
                          <m:t>C</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(2;−3;6)</m:t>
                    </m:r>
                  </m:oMath>
                </a14:m>
                <a:r>
                  <a:rPr sz="1900">
                    <a:solidFill>
                      <a:srgbClr val="1E293B"/>
                    </a:solidFill>
                    <a:latin typeface="Calibri"/>
                  </a:rPr>
                  <a:t>. a) Xác định toạ độ của điểm </a:t>
                </a:r>
                <a14:m>
                  <m:oMath xmlns:m="http://schemas.openxmlformats.org/officeDocument/2006/math">
                    <m:r>
                      <a:rPr lang="vi-VN" sz="1900" b="0">
                        <a:solidFill>
                          <a:srgbClr val="1E293B"/>
                        </a:solidFill>
                        <a:latin typeface="Cambria Math" panose="02040503050406030204" pitchFamily="18" charset="0"/>
                      </a:rPr>
                      <m:t>C</m:t>
                    </m:r>
                  </m:oMath>
                </a14:m>
                <a:r>
                  <a:rPr sz="1900">
                    <a:solidFill>
                      <a:srgbClr val="1E293B"/>
                    </a:solidFill>
                    <a:latin typeface="Calibri"/>
                  </a:rPr>
                  <a:t>. b) Xác định toạ độ các đỉnh còn lại của hình hộp.</a:t>
                </a:r>
              </a:p>
              <a:p>
                <a:pPr algn="l">
                  <a:spcAft>
                    <a:spcPts val="800"/>
                  </a:spcAft>
                </a:pPr>
                <a:r>
                  <a:rPr sz="1900" b="1">
                    <a:solidFill>
                      <a:srgbClr val="1E293B"/>
                    </a:solidFill>
                    <a:latin typeface="Calibri"/>
                  </a:rPr>
                  <a:t>2.19.</a:t>
                </a:r>
                <a:r>
                  <a:rPr sz="1900">
                    <a:solidFill>
                      <a:srgbClr val="1E293B"/>
                    </a:solidFill>
                    <a:latin typeface="Calibri"/>
                  </a:rPr>
                  <a:t> Trong Vận dụng 2, hãy giải thích vì sao tại mỗi thời điểm chiếc máy bay di chuyển trên đường băng thì toạ độ của nó luôn có dạng </a:t>
                </a:r>
                <a14:m>
                  <m:oMath xmlns:m="http://schemas.openxmlformats.org/officeDocument/2006/math">
                    <m:d>
                      <m:dPr>
                        <m:sepChr m:val=""/>
                      </m:dPr>
                      <m:e>
                        <m:r>
                          <a:rPr lang="vi-VN" sz="1900" b="0">
                            <a:solidFill>
                              <a:srgbClr val="1E293B"/>
                            </a:solidFill>
                            <a:latin typeface="Cambria Math" panose="02040503050406030204" pitchFamily="18" charset="0"/>
                          </a:rPr>
                          <m:t>x</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y</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0</m:t>
                        </m:r>
                      </m:e>
                    </m:d>
                  </m:oMath>
                </a14:m>
                <a:r>
                  <a:rPr sz="1900">
                    <a:solidFill>
                      <a:srgbClr val="1E293B"/>
                    </a:solidFill>
                    <a:latin typeface="Calibri"/>
                  </a:rPr>
                  <a:t>.</a:t>
                </a:r>
              </a:p>
            </p:txBody>
          </p:sp>
        </mc:Choice>
        <mc:Fallback>
          <p:sp>
            <p:nvSpPr>
              <p:cNvPr id="7" name="TextBox 6"/>
              <p:cNvSpPr txBox="1"/>
              <p:nvPr/>
            </p:nvSpPr>
            <p:spPr>
              <a:xfrm>
                <a:off x="548640" y="1371600"/>
                <a:ext cx="11064240" cy="1432560"/>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2.18.</a:t>
                </a:r>
                <a:r>
                  <a:rPr sz="1900">
                    <a:solidFill>
                      <a:srgbClr val="1E293B"/>
                    </a:solidFill>
                    <a:latin typeface="Calibri"/>
                  </a:rPr>
                  <a:t> Cho hình hộp </a:t>
                </a:r>
                <a:r>
                  <a:rPr lang="vi-VN"/>
                  <a:t>OABC.O'A'B'C'</a:t>
                </a:r>
                <a:r>
                  <a:rPr sz="1900">
                    <a:solidFill>
                      <a:srgbClr val="1E293B"/>
                    </a:solidFill>
                    <a:latin typeface="Calibri"/>
                  </a:rPr>
                  <a:t> có </a:t>
                </a:r>
                <a:r>
                  <a:rPr lang="vi-VN"/>
                  <a:t>A(1;1;-1)</a:t>
                </a:r>
                <a:r>
                  <a:rPr sz="1900">
                    <a:solidFill>
                      <a:srgbClr val="1E293B"/>
                    </a:solidFill>
                    <a:latin typeface="Calibri"/>
                  </a:rPr>
                  <a:t>, </a:t>
                </a:r>
                <a:r>
                  <a:rPr lang="vi-VN"/>
                  <a:t>B(0;3;0)</a:t>
                </a:r>
                <a:r>
                  <a:rPr sz="1900">
                    <a:solidFill>
                      <a:srgbClr val="1E293B"/>
                    </a:solidFill>
                    <a:latin typeface="Calibri"/>
                  </a:rPr>
                  <a:t>, </a:t>
                </a:r>
                <a:r>
                  <a:rPr lang="vi-VN"/>
                  <a:t>C'(2;-3;6)</a:t>
                </a:r>
                <a:r>
                  <a:rPr sz="1900">
                    <a:solidFill>
                      <a:srgbClr val="1E293B"/>
                    </a:solidFill>
                    <a:latin typeface="Calibri"/>
                  </a:rPr>
                  <a:t>. a) Xác định toạ độ của điểm </a:t>
                </a:r>
                <a:r>
                  <a:rPr lang="vi-VN"/>
                  <a:t>C</a:t>
                </a:r>
                <a:r>
                  <a:rPr sz="1900">
                    <a:solidFill>
                      <a:srgbClr val="1E293B"/>
                    </a:solidFill>
                    <a:latin typeface="Calibri"/>
                  </a:rPr>
                  <a:t>. b) Xác định toạ độ các đỉnh còn lại của hình hộp.</a:t>
                </a:r>
              </a:p>
              <a:p>
                <a:pPr algn="l">
                  <a:spcAft>
                    <a:spcPts val="800"/>
                  </a:spcAft>
                </a:pPr>
                <a:r>
                  <a:rPr sz="1900" b="1">
                    <a:solidFill>
                      <a:srgbClr val="1E293B"/>
                    </a:solidFill>
                    <a:latin typeface="Calibri"/>
                  </a:rPr>
                  <a:t>2.19.</a:t>
                </a:r>
                <a:r>
                  <a:rPr sz="1900">
                    <a:solidFill>
                      <a:srgbClr val="1E293B"/>
                    </a:solidFill>
                    <a:latin typeface="Calibri"/>
                  </a:rPr>
                  <a:t> Trong Vận dụng 2, hãy giải thích vì sao tại mỗi thời điểm chiếc máy bay di chuyển trên đường băng thì toạ độ của nó luôn có dạng </a:t>
                </a:r>
                <a:r>
                  <a:rPr lang="vi-VN"/>
                  <a:t>(x;\ y;\ 0)</a:t>
                </a:r>
                <a:r>
                  <a:rPr sz="1900">
                    <a:solidFill>
                      <a:srgbClr val="1E293B"/>
                    </a:solidFill>
                    <a:latin typeface="Calibri"/>
                  </a:rPr>
                  <a:t>.</a:t>
                </a:r>
              </a:p>
            </p:txBody>
          </p:sp>
        </mc:Fallback>
      </mc:AlternateContent>
      <p:sp>
        <p:nvSpPr>
          <p:cNvPr id="8" name="s1_nen"/>
          <p:cNvSpPr/>
          <p:nvPr/>
        </p:nvSpPr>
        <p:spPr>
          <a:xfrm>
            <a:off x="548640" y="2941320"/>
            <a:ext cx="110642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977896"/>
                <a:ext cx="10735056" cy="771143"/>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2.18.</a:t>
                </a:r>
                <a:r>
                  <a:rPr sz="1900">
                    <a:solidFill>
                      <a:srgbClr val="1E293B"/>
                    </a:solidFill>
                    <a:latin typeface="Calibri"/>
                  </a:rPr>
                  <a:t> a) </a:t>
                </a:r>
                <a14:m>
                  <m:oMath xmlns:m="http://schemas.openxmlformats.org/officeDocument/2006/math">
                    <m:r>
                      <a:rPr lang="vi-VN" sz="1900" b="0">
                        <a:solidFill>
                          <a:srgbClr val="1E293B"/>
                        </a:solidFill>
                        <a:latin typeface="Cambria Math" panose="02040503050406030204" pitchFamily="18" charset="0"/>
                      </a:rPr>
                      <m:t>OABC</m:t>
                    </m:r>
                  </m:oMath>
                </a14:m>
                <a:r>
                  <a:rPr sz="1900">
                    <a:solidFill>
                      <a:srgbClr val="1E293B"/>
                    </a:solidFill>
                    <a:latin typeface="Calibri"/>
                  </a:rPr>
                  <a:t> là hình bình hành: </a:t>
                </a:r>
                <a14:m>
                  <m:oMath xmlns:m="http://schemas.openxmlformats.org/officeDocument/2006/math">
                    <m:acc>
                      <m:accPr>
                        <m:chr m:val="⃗"/>
                      </m:accPr>
                      <m:e>
                        <m:r>
                          <a:rPr lang="vi-VN" sz="1900" b="0">
                            <a:solidFill>
                              <a:srgbClr val="1E293B"/>
                            </a:solidFill>
                            <a:latin typeface="Cambria Math" panose="02040503050406030204" pitchFamily="18" charset="0"/>
                          </a:rPr>
                          <m:t>OC</m:t>
                        </m:r>
                      </m:e>
                    </m:acc>
                  </m:oMath>
                </a14:m>
                <a:r>
                  <a:rPr sz="1900">
                    <a:solidFill>
                      <a:srgbClr val="1E293B"/>
                    </a:solidFill>
                    <a:latin typeface="Calibri"/>
                  </a:rPr>
                  <a:t> = </a:t>
                </a:r>
                <a14:m>
                  <m:oMath xmlns:m="http://schemas.openxmlformats.org/officeDocument/2006/math">
                    <m:acc>
                      <m:accPr>
                        <m:chr m:val="⃗"/>
                      </m:accPr>
                      <m:e>
                        <m:r>
                          <a:rPr lang="vi-VN" sz="1900" b="0">
                            <a:solidFill>
                              <a:srgbClr val="1E293B"/>
                            </a:solidFill>
                            <a:latin typeface="Cambria Math" panose="02040503050406030204" pitchFamily="18" charset="0"/>
                          </a:rPr>
                          <m:t>AB</m:t>
                        </m:r>
                      </m:e>
                    </m:acc>
                  </m:oMath>
                </a14:m>
                <a:r>
                  <a:rPr sz="1900">
                    <a:solidFill>
                      <a:srgbClr val="1E293B"/>
                    </a:solidFill>
                    <a:latin typeface="Calibri"/>
                  </a:rPr>
                  <a:t> = </a:t>
                </a:r>
                <a14:m>
                  <m:oMath xmlns:m="http://schemas.openxmlformats.org/officeDocument/2006/math">
                    <m:d>
                      <m:dPr>
                        <m:sepChr m:val=""/>
                      </m:dPr>
                      <m:e>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1</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2</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1</m:t>
                        </m:r>
                      </m:e>
                    </m:d>
                  </m:oMath>
                </a14:m>
                <a:r>
                  <a:rPr sz="1900">
                    <a:solidFill>
                      <a:srgbClr val="1E293B"/>
                    </a:solidFill>
                    <a:latin typeface="Calibri"/>
                  </a:rPr>
                  <a:t> ⇒ </a:t>
                </a:r>
                <a14:m>
                  <m:oMath xmlns:m="http://schemas.openxmlformats.org/officeDocument/2006/math">
                    <m:r>
                      <a:rPr lang="vi-VN" sz="1900" b="0">
                        <a:solidFill>
                          <a:srgbClr val="1E293B"/>
                        </a:solidFill>
                        <a:latin typeface="Cambria Math" panose="02040503050406030204" pitchFamily="18" charset="0"/>
                      </a:rPr>
                      <m:t>C(−1;2;1)</m:t>
                    </m:r>
                  </m:oMath>
                </a14:m>
                <a:r>
                  <a:rPr sz="1900">
                    <a:solidFill>
                      <a:srgbClr val="1E293B"/>
                    </a:solidFill>
                    <a:latin typeface="Calibri"/>
                  </a:rPr>
                  <a:t>. b) </a:t>
                </a:r>
                <a14:m>
                  <m:oMath xmlns:m="http://schemas.openxmlformats.org/officeDocument/2006/math">
                    <m:acc>
                      <m:accPr>
                        <m:chr m:val="⃗"/>
                      </m:accPr>
                      <m:e>
                        <m:r>
                          <a:rPr lang="vi-VN" sz="1900" b="0">
                            <a:solidFill>
                              <a:srgbClr val="1E293B"/>
                            </a:solidFill>
                            <a:latin typeface="Cambria Math" panose="02040503050406030204" pitchFamily="18" charset="0"/>
                          </a:rPr>
                          <m:t>O</m:t>
                        </m:r>
                        <m:sSup>
                          <m:e>
                            <m:r>
                              <a:rPr lang="vi-VN" sz="1900" b="0">
                                <a:solidFill>
                                  <a:srgbClr val="1E293B"/>
                                </a:solidFill>
                                <a:latin typeface="Cambria Math" panose="02040503050406030204" pitchFamily="18" charset="0"/>
                              </a:rPr>
                              <m:t>O</m:t>
                            </m:r>
                          </m:e>
                          <m:sup>
                            <m:r>
                              <a:rPr lang="vi-VN" sz="1900" b="0">
                                <a:solidFill>
                                  <a:srgbClr val="1E293B"/>
                                </a:solidFill>
                                <a:latin typeface="Cambria Math" panose="02040503050406030204" pitchFamily="18" charset="0"/>
                              </a:rPr>
                              <m:t>′</m:t>
                            </m:r>
                          </m:sup>
                        </m:sSup>
                      </m:e>
                    </m:acc>
                  </m:oMath>
                </a14:m>
                <a:r>
                  <a:rPr sz="1900">
                    <a:solidFill>
                      <a:srgbClr val="1E293B"/>
                    </a:solidFill>
                    <a:latin typeface="Calibri"/>
                  </a:rPr>
                  <a:t> = </a:t>
                </a:r>
                <a14:m>
                  <m:oMath xmlns:m="http://schemas.openxmlformats.org/officeDocument/2006/math">
                    <m:acc>
                      <m:accPr>
                        <m:chr m:val="⃗"/>
                      </m:accPr>
                      <m:e>
                        <m:r>
                          <a:rPr lang="vi-VN" sz="1900" b="0">
                            <a:solidFill>
                              <a:srgbClr val="1E293B"/>
                            </a:solidFill>
                            <a:latin typeface="Cambria Math" panose="02040503050406030204" pitchFamily="18" charset="0"/>
                          </a:rPr>
                          <m:t>C</m:t>
                        </m:r>
                        <m:sSup>
                          <m:e>
                            <m:r>
                              <a:rPr lang="vi-VN" sz="1900" b="0">
                                <a:solidFill>
                                  <a:srgbClr val="1E293B"/>
                                </a:solidFill>
                                <a:latin typeface="Cambria Math" panose="02040503050406030204" pitchFamily="18" charset="0"/>
                              </a:rPr>
                              <m:t>C</m:t>
                            </m:r>
                          </m:e>
                          <m:sup>
                            <m:r>
                              <a:rPr lang="vi-VN" sz="1900" b="0">
                                <a:solidFill>
                                  <a:srgbClr val="1E293B"/>
                                </a:solidFill>
                                <a:latin typeface="Cambria Math" panose="02040503050406030204" pitchFamily="18" charset="0"/>
                              </a:rPr>
                              <m:t>′</m:t>
                            </m:r>
                          </m:sup>
                        </m:sSup>
                      </m:e>
                    </m:acc>
                  </m:oMath>
                </a14:m>
                <a:r>
                  <a:rPr sz="1900">
                    <a:solidFill>
                      <a:srgbClr val="1E293B"/>
                    </a:solidFill>
                    <a:latin typeface="Calibri"/>
                  </a:rPr>
                  <a:t> = </a:t>
                </a:r>
                <a14:m>
                  <m:oMath xmlns:m="http://schemas.openxmlformats.org/officeDocument/2006/math">
                    <m:d>
                      <m:dPr>
                        <m:sepChr m:val=""/>
                      </m:dPr>
                      <m:e>
                        <m:r>
                          <a:rPr lang="vi-VN" sz="1900" b="0">
                            <a:solidFill>
                              <a:srgbClr val="1E293B"/>
                            </a:solidFill>
                            <a:latin typeface="Cambria Math" panose="02040503050406030204" pitchFamily="18" charset="0"/>
                          </a:rPr>
                          <m:t>3</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5</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5</m:t>
                        </m:r>
                      </m:e>
                    </m:d>
                  </m:oMath>
                </a14:m>
                <a:r>
                  <a:rPr sz="1900">
                    <a:solidFill>
                      <a:srgbClr val="1E293B"/>
                    </a:solidFill>
                    <a:latin typeface="Calibri"/>
                  </a:rPr>
                  <a:t> ⇒ </a:t>
                </a:r>
                <a14:m>
                  <m:oMath xmlns:m="http://schemas.openxmlformats.org/officeDocument/2006/math">
                    <m:sSup>
                      <m:e>
                        <m:r>
                          <a:rPr lang="vi-VN" sz="1900" b="0">
                            <a:solidFill>
                              <a:srgbClr val="1E293B"/>
                            </a:solidFill>
                            <a:latin typeface="Cambria Math" panose="02040503050406030204" pitchFamily="18" charset="0"/>
                          </a:rPr>
                          <m:t>O</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(3;−5;5)</m:t>
                    </m:r>
                  </m:oMath>
                </a14:m>
                <a:r>
                  <a:rPr sz="1900">
                    <a:solidFill>
                      <a:srgbClr val="1E293B"/>
                    </a:solidFill>
                    <a:latin typeface="Calibri"/>
                  </a:rPr>
                  <a:t>, </a:t>
                </a:r>
                <a14:m>
                  <m:oMath xmlns:m="http://schemas.openxmlformats.org/officeDocument/2006/math">
                    <m:sSup>
                      <m:e>
                        <m:r>
                          <a:rPr lang="vi-VN" sz="1900" b="0">
                            <a:solidFill>
                              <a:srgbClr val="1E293B"/>
                            </a:solidFill>
                            <a:latin typeface="Cambria Math" panose="02040503050406030204" pitchFamily="18" charset="0"/>
                          </a:rPr>
                          <m:t>A</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(4;−4;4)</m:t>
                    </m:r>
                  </m:oMath>
                </a14:m>
                <a:r>
                  <a:rPr sz="1900">
                    <a:solidFill>
                      <a:srgbClr val="1E293B"/>
                    </a:solidFill>
                    <a:latin typeface="Calibri"/>
                  </a:rPr>
                  <a:t>, </a:t>
                </a:r>
                <a14:m>
                  <m:oMath xmlns:m="http://schemas.openxmlformats.org/officeDocument/2006/math">
                    <m:sSup>
                      <m:e>
                        <m:r>
                          <a:rPr lang="vi-VN" sz="1900" b="0">
                            <a:solidFill>
                              <a:srgbClr val="1E293B"/>
                            </a:solidFill>
                            <a:latin typeface="Cambria Math" panose="02040503050406030204" pitchFamily="18" charset="0"/>
                          </a:rPr>
                          <m:t>B</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(3;−2;5)</m:t>
                    </m:r>
                  </m:oMath>
                </a14:m>
                <a:r>
                  <a:rPr sz="1900">
                    <a:solidFill>
                      <a:srgbClr val="1E293B"/>
                    </a:solidFill>
                    <a:latin typeface="Calibri"/>
                  </a:rPr>
                  <a:t>.</a:t>
                </a:r>
              </a:p>
            </p:txBody>
          </p:sp>
        </mc:Choice>
        <mc:Fallback>
          <p:sp>
            <p:nvSpPr>
              <p:cNvPr id="9" name="TextBox 8"/>
              <p:cNvSpPr txBox="1"/>
              <p:nvPr/>
            </p:nvSpPr>
            <p:spPr>
              <a:xfrm>
                <a:off x="713232" y="2977896"/>
                <a:ext cx="10735056" cy="771143"/>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2.18.</a:t>
                </a:r>
                <a:r>
                  <a:rPr sz="1900">
                    <a:solidFill>
                      <a:srgbClr val="1E293B"/>
                    </a:solidFill>
                    <a:latin typeface="Calibri"/>
                  </a:rPr>
                  <a:t> a) </a:t>
                </a:r>
                <a:r>
                  <a:rPr lang="vi-VN"/>
                  <a:t>OABC</a:t>
                </a:r>
                <a:r>
                  <a:rPr sz="1900">
                    <a:solidFill>
                      <a:srgbClr val="1E293B"/>
                    </a:solidFill>
                    <a:latin typeface="Calibri"/>
                  </a:rPr>
                  <a:t> là hình bình hành: </a:t>
                </a:r>
                <a:r>
                  <a:rPr lang="vi-VN"/>
                  <a:t>\overrightarrow{OC}</a:t>
                </a:r>
                <a:r>
                  <a:rPr sz="1900">
                    <a:solidFill>
                      <a:srgbClr val="1E293B"/>
                    </a:solidFill>
                    <a:latin typeface="Calibri"/>
                  </a:rPr>
                  <a:t> = </a:t>
                </a:r>
                <a:r>
                  <a:rPr lang="vi-VN"/>
                  <a:t>\overrightarrow{AB}</a:t>
                </a:r>
                <a:r>
                  <a:rPr sz="1900">
                    <a:solidFill>
                      <a:srgbClr val="1E293B"/>
                    </a:solidFill>
                    <a:latin typeface="Calibri"/>
                  </a:rPr>
                  <a:t> = </a:t>
                </a:r>
                <a:r>
                  <a:rPr lang="vi-VN"/>
                  <a:t>(-1;2;1)</a:t>
                </a:r>
                <a:r>
                  <a:rPr sz="1900">
                    <a:solidFill>
                      <a:srgbClr val="1E293B"/>
                    </a:solidFill>
                    <a:latin typeface="Calibri"/>
                  </a:rPr>
                  <a:t> ⇒ </a:t>
                </a:r>
                <a:r>
                  <a:rPr lang="vi-VN"/>
                  <a:t>C(-1;2;1)</a:t>
                </a:r>
                <a:r>
                  <a:rPr sz="1900">
                    <a:solidFill>
                      <a:srgbClr val="1E293B"/>
                    </a:solidFill>
                    <a:latin typeface="Calibri"/>
                  </a:rPr>
                  <a:t>. b) </a:t>
                </a:r>
                <a:r>
                  <a:rPr lang="vi-VN"/>
                  <a:t>\overrightarrow{OO'}</a:t>
                </a:r>
                <a:r>
                  <a:rPr sz="1900">
                    <a:solidFill>
                      <a:srgbClr val="1E293B"/>
                    </a:solidFill>
                    <a:latin typeface="Calibri"/>
                  </a:rPr>
                  <a:t> = </a:t>
                </a:r>
                <a:r>
                  <a:rPr lang="vi-VN"/>
                  <a:t>\overrightarrow{CC'}</a:t>
                </a:r>
                <a:r>
                  <a:rPr sz="1900">
                    <a:solidFill>
                      <a:srgbClr val="1E293B"/>
                    </a:solidFill>
                    <a:latin typeface="Calibri"/>
                  </a:rPr>
                  <a:t> = </a:t>
                </a:r>
                <a:r>
                  <a:rPr lang="vi-VN"/>
                  <a:t>(3;-5;5)</a:t>
                </a:r>
                <a:r>
                  <a:rPr sz="1900">
                    <a:solidFill>
                      <a:srgbClr val="1E293B"/>
                    </a:solidFill>
                    <a:latin typeface="Calibri"/>
                  </a:rPr>
                  <a:t> ⇒ </a:t>
                </a:r>
                <a:r>
                  <a:rPr lang="vi-VN"/>
                  <a:t>O'(3;-5;5)</a:t>
                </a:r>
                <a:r>
                  <a:rPr sz="1900">
                    <a:solidFill>
                      <a:srgbClr val="1E293B"/>
                    </a:solidFill>
                    <a:latin typeface="Calibri"/>
                  </a:rPr>
                  <a:t>, </a:t>
                </a:r>
                <a:r>
                  <a:rPr lang="vi-VN"/>
                  <a:t>A'(4;-4;4)</a:t>
                </a:r>
                <a:r>
                  <a:rPr sz="1900">
                    <a:solidFill>
                      <a:srgbClr val="1E293B"/>
                    </a:solidFill>
                    <a:latin typeface="Calibri"/>
                  </a:rPr>
                  <a:t>, </a:t>
                </a:r>
                <a:r>
                  <a:rPr lang="vi-VN"/>
                  <a:t>B'(3;-2;5)</a:t>
                </a:r>
                <a:r>
                  <a:rPr sz="1900">
                    <a:solidFill>
                      <a:srgbClr val="1E293B"/>
                    </a:solidFill>
                    <a:latin typeface="Calibri"/>
                  </a:rPr>
                  <a:t>.</a:t>
                </a:r>
              </a:p>
            </p:txBody>
          </p:sp>
        </mc:Fallback>
      </mc:AlternateContent>
      <p:sp>
        <p:nvSpPr>
          <p:cNvPr id="10" name="s2_nen"/>
          <p:cNvSpPr/>
          <p:nvPr/>
        </p:nvSpPr>
        <p:spPr>
          <a:xfrm>
            <a:off x="548640" y="3858768"/>
            <a:ext cx="110642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895344"/>
                <a:ext cx="10735056" cy="771143"/>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2.19.</a:t>
                </a:r>
                <a:r>
                  <a:rPr sz="1900">
                    <a:solidFill>
                      <a:srgbClr val="1E293B"/>
                    </a:solidFill>
                    <a:latin typeface="Calibri"/>
                  </a:rPr>
                  <a:t> Đường băng nằm trên mặt đất, tức mặt phẳng </a:t>
                </a:r>
                <a14:m>
                  <m:oMath xmlns:m="http://schemas.openxmlformats.org/officeDocument/2006/math">
                    <m:d>
                      <m:dPr>
                        <m:sepChr m:val=""/>
                      </m:dPr>
                      <m:e>
                        <m:r>
                          <a:rPr lang="vi-VN" sz="1900" b="0">
                            <a:solidFill>
                              <a:srgbClr val="1E293B"/>
                            </a:solidFill>
                            <a:latin typeface="Cambria Math" panose="02040503050406030204" pitchFamily="18" charset="0"/>
                          </a:rPr>
                          <m:t>O</m:t>
                        </m:r>
                        <m:r>
                          <a:rPr lang="vi-VN" sz="1900" b="0">
                            <a:solidFill>
                              <a:srgbClr val="1E293B"/>
                            </a:solidFill>
                            <a:latin typeface="Cambria Math" panose="02040503050406030204" pitchFamily="18" charset="0"/>
                          </a:rPr>
                          <m:t>x</m:t>
                        </m:r>
                        <m:r>
                          <a:rPr lang="vi-VN" sz="1900" b="0">
                            <a:solidFill>
                              <a:srgbClr val="1E293B"/>
                            </a:solidFill>
                            <a:latin typeface="Cambria Math" panose="02040503050406030204" pitchFamily="18" charset="0"/>
                          </a:rPr>
                          <m:t>y</m:t>
                        </m:r>
                      </m:e>
                    </m:d>
                  </m:oMath>
                </a14:m>
                <a:r>
                  <a:rPr sz="1900">
                    <a:solidFill>
                      <a:srgbClr val="1E293B"/>
                    </a:solidFill>
                    <a:latin typeface="Calibri"/>
                  </a:rPr>
                  <a:t>, nên cao độ của máy bay bằng 0: toạ độ dạng </a:t>
                </a:r>
                <a14:m>
                  <m:oMath xmlns:m="http://schemas.openxmlformats.org/officeDocument/2006/math">
                    <m:d>
                      <m:dPr>
                        <m:sepChr m:val=""/>
                      </m:dPr>
                      <m:e>
                        <m:r>
                          <a:rPr lang="vi-VN" sz="1900" b="0">
                            <a:solidFill>
                              <a:srgbClr val="1E293B"/>
                            </a:solidFill>
                            <a:latin typeface="Cambria Math" panose="02040503050406030204" pitchFamily="18" charset="0"/>
                          </a:rPr>
                          <m:t>x</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y</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0</m:t>
                        </m:r>
                      </m:e>
                    </m:d>
                  </m:oMath>
                </a14:m>
                <a:r>
                  <a:rPr sz="1900">
                    <a:solidFill>
                      <a:srgbClr val="1E293B"/>
                    </a:solidFill>
                    <a:latin typeface="Calibri"/>
                  </a:rPr>
                  <a:t>.</a:t>
                </a:r>
              </a:p>
            </p:txBody>
          </p:sp>
        </mc:Choice>
        <mc:Fallback>
          <p:sp>
            <p:nvSpPr>
              <p:cNvPr id="11" name="TextBox 10"/>
              <p:cNvSpPr txBox="1"/>
              <p:nvPr/>
            </p:nvSpPr>
            <p:spPr>
              <a:xfrm>
                <a:off x="713232" y="3895344"/>
                <a:ext cx="10735056" cy="771143"/>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2.19.</a:t>
                </a:r>
                <a:r>
                  <a:rPr sz="1900">
                    <a:solidFill>
                      <a:srgbClr val="1E293B"/>
                    </a:solidFill>
                    <a:latin typeface="Calibri"/>
                  </a:rPr>
                  <a:t> Đường băng nằm trên mặt đất, tức mặt phẳng </a:t>
                </a:r>
                <a:r>
                  <a:rPr lang="vi-VN"/>
                  <a:t>(Oxy)</a:t>
                </a:r>
                <a:r>
                  <a:rPr sz="1900">
                    <a:solidFill>
                      <a:srgbClr val="1E293B"/>
                    </a:solidFill>
                    <a:latin typeface="Calibri"/>
                  </a:rPr>
                  <a:t>, nên cao độ của máy bay bằng 0: toạ độ dạng </a:t>
                </a:r>
                <a:r>
                  <a:rPr lang="vi-VN"/>
                  <a:t>(x;\ y;\ 0)</a:t>
                </a:r>
                <a:r>
                  <a:rPr sz="19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EM CÓ BIẾT? – TOẠ ĐỘ CẦU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Hệ trục toạ độ trong không gian – Toán 12          35</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315200" cy="457200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100">
                    <a:solidFill>
                      <a:srgbClr val="1E293B"/>
                    </a:solidFill>
                    <a:latin typeface="Calibri"/>
                  </a:rPr>
                  <a:t>Tên gọi “toạ độ Descartes” lấy theo tên nhà toán học Pháp René Descartes (1596 – 1650).</a:t>
                </a:r>
              </a:p>
              <a:p>
                <a:pPr algn="l" marL="365760" indent="-365760">
                  <a:spcAft>
                    <a:spcPts val="800"/>
                  </a:spcAft>
                  <a:buClr>
                    <a:srgbClr val="1E40AF"/>
                  </a:buClr>
                  <a:buFont typeface="Arial"/>
                  <a:buChar char="•"/>
                </a:pPr>
                <a:r>
                  <a:rPr sz="2100" b="1">
                    <a:solidFill>
                      <a:srgbClr val="1E293B"/>
                    </a:solidFill>
                    <a:latin typeface="Calibri"/>
                  </a:rPr>
                  <a:t>Toạ độ cầu</a:t>
                </a:r>
                <a:r>
                  <a:rPr sz="2100">
                    <a:solidFill>
                      <a:srgbClr val="1E293B"/>
                    </a:solidFill>
                    <a:latin typeface="Calibri"/>
                  </a:rPr>
                  <a:t> </a:t>
                </a:r>
                <a14:m>
                  <m:oMath xmlns:m="http://schemas.openxmlformats.org/officeDocument/2006/math">
                    <m:d>
                      <m:dPr>
                        <m:sepChr m:val=""/>
                      </m:dPr>
                      <m:e>
                        <m:r>
                          <a:rPr lang="vi-VN" sz="2100" b="0">
                            <a:solidFill>
                              <a:srgbClr val="1E293B"/>
                            </a:solidFill>
                            <a:latin typeface="Cambria Math" panose="02040503050406030204" pitchFamily="18" charset="0"/>
                          </a:rPr>
                          <m:t>r</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θ</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ϕ</m:t>
                        </m:r>
                      </m:e>
                    </m:d>
                  </m:oMath>
                </a14:m>
                <a:r>
                  <a:rPr sz="2100">
                    <a:solidFill>
                      <a:srgbClr val="1E293B"/>
                    </a:solidFill>
                    <a:latin typeface="Calibri"/>
                  </a:rPr>
                  <a:t> của </a:t>
                </a:r>
                <a14:m>
                  <m:oMath xmlns:m="http://schemas.openxmlformats.org/officeDocument/2006/math">
                    <m:r>
                      <a:rPr lang="vi-VN" sz="2100" b="0">
                        <a:solidFill>
                          <a:srgbClr val="1E293B"/>
                        </a:solidFill>
                        <a:latin typeface="Cambria Math" panose="02040503050406030204" pitchFamily="18" charset="0"/>
                      </a:rPr>
                      <m:t>M</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r=OM</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θ</m:t>
                    </m:r>
                  </m:oMath>
                </a14:m>
                <a:r>
                  <a:rPr sz="2100">
                    <a:solidFill>
                      <a:srgbClr val="1E293B"/>
                    </a:solidFill>
                    <a:latin typeface="Calibri"/>
                  </a:rPr>
                  <a:t> là góc phương vị (kinh độ), </a:t>
                </a:r>
                <a14:m>
                  <m:oMath xmlns:m="http://schemas.openxmlformats.org/officeDocument/2006/math">
                    <m:r>
                      <a:rPr lang="vi-VN" sz="2100" b="0">
                        <a:solidFill>
                          <a:srgbClr val="1E293B"/>
                        </a:solidFill>
                        <a:latin typeface="Cambria Math" panose="02040503050406030204" pitchFamily="18" charset="0"/>
                      </a:rPr>
                      <m:t>ϕ</m:t>
                    </m:r>
                  </m:oMath>
                </a14:m>
                <a:r>
                  <a:rPr sz="2100">
                    <a:solidFill>
                      <a:srgbClr val="1E293B"/>
                    </a:solidFill>
                    <a:latin typeface="Calibri"/>
                  </a:rPr>
                  <a:t> là góc cực.</a:t>
                </a:r>
              </a:p>
              <a:p>
                <a:pPr algn="l" marL="365760" indent="-365760">
                  <a:spcAft>
                    <a:spcPts val="800"/>
                  </a:spcAft>
                  <a:buClr>
                    <a:srgbClr val="1E40AF"/>
                  </a:buClr>
                  <a:buFont typeface="Arial"/>
                  <a:buChar char="•"/>
                </a:pPr>
                <a:r>
                  <a:rPr sz="2100">
                    <a:solidFill>
                      <a:srgbClr val="1E293B"/>
                    </a:solidFill>
                    <a:latin typeface="Calibri"/>
                  </a:rPr>
                  <a:t>Liên hệ: </a:t>
                </a:r>
                <a14:m>
                  <m:oMath xmlns:m="http://schemas.openxmlformats.org/officeDocument/2006/math">
                    <m:r>
                      <a:rPr lang="vi-VN" sz="2100" b="0">
                        <a:solidFill>
                          <a:srgbClr val="1E293B"/>
                        </a:solidFill>
                        <a:latin typeface="Cambria Math" panose="02040503050406030204" pitchFamily="18" charset="0"/>
                      </a:rPr>
                      <m:t>x=r</m:t>
                    </m:r>
                    <m:r>
                      <m:rPr>
                        <m:sty m:val="p"/>
                      </m:rPr>
                      <a:rPr lang="vi-VN" sz="2100" b="0">
                        <a:solidFill>
                          <a:srgbClr val="1E293B"/>
                        </a:solidFill>
                        <a:latin typeface="Cambria Math" panose="02040503050406030204" pitchFamily="18" charset="0"/>
                      </a:rPr>
                      <m:t>cos</m:t>
                    </m:r>
                    <m:r>
                      <a:rPr lang="vi-VN" sz="2100" b="0">
                        <a:solidFill>
                          <a:srgbClr val="1E293B"/>
                        </a:solidFill>
                        <a:latin typeface="Cambria Math" panose="02040503050406030204" pitchFamily="18" charset="0"/>
                      </a:rPr>
                      <m:t>θ</m:t>
                    </m:r>
                    <m:r>
                      <m:rPr>
                        <m:sty m:val="p"/>
                      </m:rPr>
                      <a:rPr lang="vi-VN" sz="2100" b="0">
                        <a:solidFill>
                          <a:srgbClr val="1E293B"/>
                        </a:solidFill>
                        <a:latin typeface="Cambria Math" panose="02040503050406030204" pitchFamily="18" charset="0"/>
                      </a:rPr>
                      <m:t>sin</m:t>
                    </m:r>
                    <m:r>
                      <a:rPr lang="vi-VN" sz="2100" b="0">
                        <a:solidFill>
                          <a:srgbClr val="1E293B"/>
                        </a:solidFill>
                        <a:latin typeface="Cambria Math" panose="02040503050406030204" pitchFamily="18" charset="0"/>
                      </a:rPr>
                      <m:t>ϕ</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y=r</m:t>
                    </m:r>
                    <m:r>
                      <m:rPr>
                        <m:sty m:val="p"/>
                      </m:rPr>
                      <a:rPr lang="vi-VN" sz="2100" b="0">
                        <a:solidFill>
                          <a:srgbClr val="1E293B"/>
                        </a:solidFill>
                        <a:latin typeface="Cambria Math" panose="02040503050406030204" pitchFamily="18" charset="0"/>
                      </a:rPr>
                      <m:t>sin</m:t>
                    </m:r>
                    <m:r>
                      <a:rPr lang="vi-VN" sz="2100" b="0">
                        <a:solidFill>
                          <a:srgbClr val="1E293B"/>
                        </a:solidFill>
                        <a:latin typeface="Cambria Math" panose="02040503050406030204" pitchFamily="18" charset="0"/>
                      </a:rPr>
                      <m:t>θ</m:t>
                    </m:r>
                    <m:r>
                      <m:rPr>
                        <m:sty m:val="p"/>
                      </m:rPr>
                      <a:rPr lang="vi-VN" sz="2100" b="0">
                        <a:solidFill>
                          <a:srgbClr val="1E293B"/>
                        </a:solidFill>
                        <a:latin typeface="Cambria Math" panose="02040503050406030204" pitchFamily="18" charset="0"/>
                      </a:rPr>
                      <m:t>sin</m:t>
                    </m:r>
                    <m:r>
                      <a:rPr lang="vi-VN" sz="2100" b="0">
                        <a:solidFill>
                          <a:srgbClr val="1E293B"/>
                        </a:solidFill>
                        <a:latin typeface="Cambria Math" panose="02040503050406030204" pitchFamily="18" charset="0"/>
                      </a:rPr>
                      <m:t>ϕ</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z=r</m:t>
                    </m:r>
                    <m:r>
                      <m:rPr>
                        <m:sty m:val="p"/>
                      </m:rPr>
                      <a:rPr lang="vi-VN" sz="2100" b="0">
                        <a:solidFill>
                          <a:srgbClr val="1E293B"/>
                        </a:solidFill>
                        <a:latin typeface="Cambria Math" panose="02040503050406030204" pitchFamily="18" charset="0"/>
                      </a:rPr>
                      <m:t>cos</m:t>
                    </m:r>
                    <m:r>
                      <a:rPr lang="vi-VN" sz="2100" b="0">
                        <a:solidFill>
                          <a:srgbClr val="1E293B"/>
                        </a:solidFill>
                        <a:latin typeface="Cambria Math" panose="02040503050406030204" pitchFamily="18" charset="0"/>
                      </a:rPr>
                      <m:t>ϕ</m:t>
                    </m:r>
                  </m:oMath>
                </a14:m>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Toạ độ cầu thuận tiện cho tính toán trên mặt cầu, dùng phổ biến trong toán học, vật lí, địa lí và thiên văn.</a:t>
                </a:r>
              </a:p>
            </p:txBody>
          </p:sp>
        </mc:Choice>
        <mc:Fallback>
          <p:sp>
            <p:nvSpPr>
              <p:cNvPr id="7" name="TextBox 6"/>
              <p:cNvSpPr txBox="1"/>
              <p:nvPr/>
            </p:nvSpPr>
            <p:spPr>
              <a:xfrm>
                <a:off x="548640" y="1371600"/>
                <a:ext cx="7315200" cy="457200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100">
                    <a:solidFill>
                      <a:srgbClr val="1E293B"/>
                    </a:solidFill>
                    <a:latin typeface="Calibri"/>
                  </a:rPr>
                  <a:t>Tên gọi “toạ độ Descartes” lấy theo tên nhà toán học Pháp René Descartes (1596 – 1650).</a:t>
                </a:r>
              </a:p>
              <a:p>
                <a:pPr algn="l" marL="365760" indent="-365760">
                  <a:spcAft>
                    <a:spcPts val="800"/>
                  </a:spcAft>
                  <a:buClr>
                    <a:srgbClr val="1E40AF"/>
                  </a:buClr>
                  <a:buFont typeface="Arial"/>
                  <a:buChar char="•"/>
                </a:pPr>
                <a:r>
                  <a:rPr sz="2100" b="1">
                    <a:solidFill>
                      <a:srgbClr val="1E293B"/>
                    </a:solidFill>
                    <a:latin typeface="Calibri"/>
                  </a:rPr>
                  <a:t>Toạ độ cầu</a:t>
                </a:r>
                <a:r>
                  <a:rPr sz="2100">
                    <a:solidFill>
                      <a:srgbClr val="1E293B"/>
                    </a:solidFill>
                    <a:latin typeface="Calibri"/>
                  </a:rPr>
                  <a:t> </a:t>
                </a:r>
                <a:r>
                  <a:rPr lang="vi-VN"/>
                  <a:t>(r;\ \theta;\ \phi)</a:t>
                </a:r>
                <a:r>
                  <a:rPr sz="2100">
                    <a:solidFill>
                      <a:srgbClr val="1E293B"/>
                    </a:solidFill>
                    <a:latin typeface="Calibri"/>
                  </a:rPr>
                  <a:t> của </a:t>
                </a:r>
                <a:r>
                  <a:rPr lang="vi-VN"/>
                  <a:t>M</a:t>
                </a:r>
                <a:r>
                  <a:rPr sz="2100">
                    <a:solidFill>
                      <a:srgbClr val="1E293B"/>
                    </a:solidFill>
                    <a:latin typeface="Calibri"/>
                  </a:rPr>
                  <a:t>: </a:t>
                </a:r>
                <a:r>
                  <a:rPr lang="vi-VN"/>
                  <a:t>r=OM</a:t>
                </a:r>
                <a:r>
                  <a:rPr sz="2100">
                    <a:solidFill>
                      <a:srgbClr val="1E293B"/>
                    </a:solidFill>
                    <a:latin typeface="Calibri"/>
                  </a:rPr>
                  <a:t>, </a:t>
                </a:r>
                <a:r>
                  <a:rPr lang="vi-VN"/>
                  <a:t>\theta</a:t>
                </a:r>
                <a:r>
                  <a:rPr sz="2100">
                    <a:solidFill>
                      <a:srgbClr val="1E293B"/>
                    </a:solidFill>
                    <a:latin typeface="Calibri"/>
                  </a:rPr>
                  <a:t> là góc phương vị (kinh độ), </a:t>
                </a:r>
                <a:r>
                  <a:rPr lang="vi-VN"/>
                  <a:t>\phi</a:t>
                </a:r>
                <a:r>
                  <a:rPr sz="2100">
                    <a:solidFill>
                      <a:srgbClr val="1E293B"/>
                    </a:solidFill>
                    <a:latin typeface="Calibri"/>
                  </a:rPr>
                  <a:t> là góc cực.</a:t>
                </a:r>
              </a:p>
              <a:p>
                <a:pPr algn="l" marL="365760" indent="-365760">
                  <a:spcAft>
                    <a:spcPts val="800"/>
                  </a:spcAft>
                  <a:buClr>
                    <a:srgbClr val="1E40AF"/>
                  </a:buClr>
                  <a:buFont typeface="Arial"/>
                  <a:buChar char="•"/>
                </a:pPr>
                <a:r>
                  <a:rPr sz="2100">
                    <a:solidFill>
                      <a:srgbClr val="1E293B"/>
                    </a:solidFill>
                    <a:latin typeface="Calibri"/>
                  </a:rPr>
                  <a:t>Liên hệ: </a:t>
                </a:r>
                <a:r>
                  <a:rPr lang="vi-VN"/>
                  <a:t>x=r\cos\theta\sin\phi</a:t>
                </a:r>
                <a:r>
                  <a:rPr sz="2100">
                    <a:solidFill>
                      <a:srgbClr val="1E293B"/>
                    </a:solidFill>
                    <a:latin typeface="Calibri"/>
                  </a:rPr>
                  <a:t>; </a:t>
                </a:r>
                <a:r>
                  <a:rPr lang="vi-VN"/>
                  <a:t>y=r\sin\theta\sin\phi</a:t>
                </a:r>
                <a:r>
                  <a:rPr sz="2100">
                    <a:solidFill>
                      <a:srgbClr val="1E293B"/>
                    </a:solidFill>
                    <a:latin typeface="Calibri"/>
                  </a:rPr>
                  <a:t>; </a:t>
                </a:r>
                <a:r>
                  <a:rPr lang="vi-VN"/>
                  <a:t>z=r\cos\phi</a:t>
                </a:r>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Toạ độ cầu thuận tiện cho tính toán trên mặt cầu, dùng phổ biến trong toán học, vật lí, địa lí và thiên văn.</a:t>
                </a:r>
              </a:p>
            </p:txBody>
          </p:sp>
        </mc:Fallback>
      </mc:AlternateContent>
      <p:pic>
        <p:nvPicPr>
          <p:cNvPr id="8" name="Picture 7" descr="h246.png"/>
          <p:cNvPicPr>
            <a:picLocks noChangeAspect="1"/>
          </p:cNvPicPr>
          <p:nvPr/>
        </p:nvPicPr>
        <p:blipFill>
          <a:blip r:embed="rId3"/>
          <a:stretch>
            <a:fillRect/>
          </a:stretch>
        </p:blipFill>
        <p:spPr>
          <a:xfrm>
            <a:off x="8046720" y="1917058"/>
            <a:ext cx="3657600" cy="3298204"/>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CỦNG CỐ TRỰC TUYẾN – NHIỆM VỤ VỀ NHÀ</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Hệ trục toạ độ trong không gian – Toán 12          36</a:t>
            </a:r>
          </a:p>
        </p:txBody>
      </p:sp>
      <p:sp>
        <p:nvSpPr>
          <p:cNvPr id="7" name="TextBox 6"/>
          <p:cNvSpPr txBox="1"/>
          <p:nvPr/>
        </p:nvSpPr>
        <p:spPr>
          <a:xfrm>
            <a:off x="548640" y="1417320"/>
            <a:ext cx="7589520" cy="475488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Bài củng cố trực tuyến</a:t>
            </a:r>
            <a:r>
              <a:rPr sz="2200">
                <a:solidFill>
                  <a:srgbClr val="1E293B"/>
                </a:solidFill>
                <a:latin typeface="Calibri"/>
              </a:rPr>
              <a:t> – quét mã QR hoặc mở đường link:</a:t>
            </a:r>
          </a:p>
          <a:p>
            <a:pPr algn="l">
              <a:spcAft>
                <a:spcPts val="800"/>
              </a:spcAft>
            </a:pPr>
            <a:r>
              <a:rPr sz="2000">
                <a:solidFill>
                  <a:srgbClr val="64748B"/>
                </a:solidFill>
                <a:latin typeface="Calibri"/>
              </a:rPr>
              <a:t>https://trangtu66.github.io/Taode_thi_online/cc_bai7_t12.html</a:t>
            </a:r>
          </a:p>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Hoàn thành Bài tập 2.13 – 2.19.</a:t>
            </a:r>
          </a:p>
          <a:p>
            <a:pPr algn="l" marL="365760" indent="-365760">
              <a:spcAft>
                <a:spcPts val="800"/>
              </a:spcAft>
              <a:buClr>
                <a:srgbClr val="1E40AF"/>
              </a:buClr>
              <a:buFont typeface="Arial"/>
              <a:buChar char="•"/>
            </a:pPr>
            <a:r>
              <a:rPr sz="2200">
                <a:solidFill>
                  <a:srgbClr val="1E293B"/>
                </a:solidFill>
                <a:latin typeface="Calibri"/>
              </a:rPr>
              <a:t>Đọc trước </a:t>
            </a:r>
            <a:r>
              <a:rPr sz="2200" b="1">
                <a:solidFill>
                  <a:srgbClr val="1E293B"/>
                </a:solidFill>
                <a:latin typeface="Calibri"/>
              </a:rPr>
              <a:t>Bài 8. Biểu thức toạ độ của các phép toán vectơ</a:t>
            </a:r>
            <a:r>
              <a:rPr sz="2200">
                <a:solidFill>
                  <a:srgbClr val="1E293B"/>
                </a:solidFill>
                <a:latin typeface="Calibri"/>
              </a:rPr>
              <a:t> (SGK tr.67).</a:t>
            </a:r>
          </a:p>
          <a:p>
            <a:pPr algn="l" marL="365760" indent="-365760">
              <a:spcAft>
                <a:spcPts val="800"/>
              </a:spcAft>
              <a:buClr>
                <a:srgbClr val="1E40AF"/>
              </a:buClr>
              <a:buFont typeface="Arial"/>
              <a:buChar char="•"/>
            </a:pPr>
            <a:r>
              <a:rPr sz="2200">
                <a:solidFill>
                  <a:srgbClr val="1E293B"/>
                </a:solidFill>
                <a:latin typeface="Calibri"/>
              </a:rPr>
              <a:t>Nhóm: chọn hệ toạ độ cho lớp học, đo và ghi toạ độ của quạt trần, đèn, camera.</a:t>
            </a:r>
          </a:p>
        </p:txBody>
      </p:sp>
      <p:pic>
        <p:nvPicPr>
          <p:cNvPr id="8" name="Picture 7" descr="QR_CungCo_Bai7_Toan12.png"/>
          <p:cNvPicPr>
            <a:picLocks noChangeAspect="1"/>
          </p:cNvPicPr>
          <p:nvPr/>
        </p:nvPicPr>
        <p:blipFill>
          <a:blip r:embed="rId3"/>
          <a:stretch>
            <a:fillRect/>
          </a:stretch>
        </p:blipFill>
        <p:spPr>
          <a:xfrm>
            <a:off x="8412480" y="1554480"/>
            <a:ext cx="3291840" cy="3291840"/>
          </a:xfrm>
          <a:prstGeom prst="rect">
            <a:avLst/>
          </a:prstGeom>
        </p:spPr>
      </p:pic>
      <p:sp>
        <p:nvSpPr>
          <p:cNvPr id="9" name="Rounded Rectangle 8">
            <a:hlinkClick r:id="rId4"/>
          </p:cNvPr>
          <p:cNvSpPr/>
          <p:nvPr/>
        </p:nvSpPr>
        <p:spPr>
          <a:xfrm>
            <a:off x="8412480" y="5029200"/>
            <a:ext cx="3291840" cy="59436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MỞ BÀI CỦNG CỐ</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SƠ ĐỒ TƯ DUY – BÀI 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Hệ trục toạ độ trong không gian – Toán 12          37</a:t>
            </a:r>
          </a:p>
        </p:txBody>
      </p:sp>
      <p:pic>
        <p:nvPicPr>
          <p:cNvPr id="7" name="Picture 6" descr="SoDoTuDuy_TOAN12_Bai7_HeTrucToaDo_T34-36.png"/>
          <p:cNvPicPr>
            <a:picLocks noChangeAspect="1"/>
          </p:cNvPicPr>
          <p:nvPr/>
        </p:nvPicPr>
        <p:blipFill>
          <a:blip r:embed="rId3"/>
          <a:stretch>
            <a:fillRect/>
          </a:stretch>
        </p:blipFill>
        <p:spPr>
          <a:xfrm>
            <a:off x="1765397" y="1371600"/>
            <a:ext cx="8630725" cy="484632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106863" y="457200"/>
            <a:ext cx="1536192"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DÀNH CHO GV</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PHỤ LỤC 1 – SAI LẦM THƯỜNG GẶP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Hệ trục toạ độ trong không gian – Toán 12          38</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100">
                    <a:solidFill>
                      <a:srgbClr val="1E293B"/>
                    </a:solidFill>
                    <a:latin typeface="Calibri"/>
                  </a:rPr>
                  <a:t>Nhầm toạ độ hình chiếu trên trục với hình chiếu trên mặt phẳng toạ độ.</a:t>
                </a:r>
              </a:p>
              <a:p>
                <a:pPr algn="l" marL="365760" indent="-365760">
                  <a:spcAft>
                    <a:spcPts val="800"/>
                  </a:spcAft>
                  <a:buClr>
                    <a:srgbClr val="1E40AF"/>
                  </a:buClr>
                  <a:buFont typeface="Arial"/>
                  <a:buChar char="•"/>
                </a:pPr>
                <a:r>
                  <a:rPr sz="2100">
                    <a:solidFill>
                      <a:srgbClr val="1E293B"/>
                    </a:solidFill>
                    <a:latin typeface="Calibri"/>
                  </a:rPr>
                  <a:t>Lấy toạ độ điểm đầu trừ điểm cuối khi tính toạ độ vectơ.</a:t>
                </a:r>
              </a:p>
              <a:p>
                <a:pPr algn="l" marL="365760" indent="-365760">
                  <a:spcAft>
                    <a:spcPts val="800"/>
                  </a:spcAft>
                  <a:buClr>
                    <a:srgbClr val="1E40AF"/>
                  </a:buClr>
                  <a:buFont typeface="Arial"/>
                  <a:buChar char="•"/>
                </a:pPr>
                <a:r>
                  <a:rPr sz="2100">
                    <a:solidFill>
                      <a:srgbClr val="1E293B"/>
                    </a:solidFill>
                    <a:latin typeface="Calibri"/>
                  </a:rPr>
                  <a:t>Tia đối của tia </a:t>
                </a:r>
                <a14:m>
                  <m:oMath xmlns:m="http://schemas.openxmlformats.org/officeDocument/2006/math">
                    <m:r>
                      <a:rPr lang="vi-VN" sz="2100" b="0">
                        <a:solidFill>
                          <a:srgbClr val="1E293B"/>
                        </a:solidFill>
                        <a:latin typeface="Cambria Math" panose="02040503050406030204" pitchFamily="18" charset="0"/>
                      </a:rPr>
                      <m:t>Oy</m:t>
                    </m:r>
                  </m:oMath>
                </a14:m>
                <a:r>
                  <a:rPr sz="2100">
                    <a:solidFill>
                      <a:srgbClr val="1E293B"/>
                    </a:solidFill>
                    <a:latin typeface="Calibri"/>
                  </a:rPr>
                  <a:t>: quên dấu âm </a:t>
                </a:r>
                <a14:m>
                  <m:oMath xmlns:m="http://schemas.openxmlformats.org/officeDocument/2006/math">
                    <m:d>
                      <m:dPr>
                        <m:sepChr m:val=""/>
                      </m:dPr>
                      <m:e>
                        <m:r>
                          <a:rPr lang="vi-VN" sz="2100" b="0">
                            <a:solidFill>
                              <a:srgbClr val="1E293B"/>
                            </a:solidFill>
                            <a:latin typeface="Cambria Math" panose="02040503050406030204" pitchFamily="18" charset="0"/>
                          </a:rPr>
                          <m:t>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3</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0</m:t>
                        </m:r>
                      </m:e>
                    </m:d>
                  </m:oMath>
                </a14:m>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Bài 2.13c: quên điều kiện độ dài 1 của vectơ đơn vị.</a:t>
                </a:r>
              </a:p>
            </p:txBody>
          </p:sp>
        </mc:Choice>
        <mc:Fallback>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100">
                    <a:solidFill>
                      <a:srgbClr val="1E293B"/>
                    </a:solidFill>
                    <a:latin typeface="Calibri"/>
                  </a:rPr>
                  <a:t>Nhầm toạ độ hình chiếu trên trục với hình chiếu trên mặt phẳng toạ độ.</a:t>
                </a:r>
              </a:p>
              <a:p>
                <a:pPr algn="l" marL="365760" indent="-365760">
                  <a:spcAft>
                    <a:spcPts val="800"/>
                  </a:spcAft>
                  <a:buClr>
                    <a:srgbClr val="1E40AF"/>
                  </a:buClr>
                  <a:buFont typeface="Arial"/>
                  <a:buChar char="•"/>
                </a:pPr>
                <a:r>
                  <a:rPr sz="2100">
                    <a:solidFill>
                      <a:srgbClr val="1E293B"/>
                    </a:solidFill>
                    <a:latin typeface="Calibri"/>
                  </a:rPr>
                  <a:t>Lấy toạ độ điểm đầu trừ điểm cuối khi tính toạ độ vectơ.</a:t>
                </a:r>
              </a:p>
              <a:p>
                <a:pPr algn="l" marL="365760" indent="-365760">
                  <a:spcAft>
                    <a:spcPts val="800"/>
                  </a:spcAft>
                  <a:buClr>
                    <a:srgbClr val="1E40AF"/>
                  </a:buClr>
                  <a:buFont typeface="Arial"/>
                  <a:buChar char="•"/>
                </a:pPr>
                <a:r>
                  <a:rPr sz="2100">
                    <a:solidFill>
                      <a:srgbClr val="1E293B"/>
                    </a:solidFill>
                    <a:latin typeface="Calibri"/>
                  </a:rPr>
                  <a:t>Tia đối của tia </a:t>
                </a:r>
                <a:r>
                  <a:rPr lang="vi-VN"/>
                  <a:t>Oy</a:t>
                </a:r>
                <a:r>
                  <a:rPr sz="2100">
                    <a:solidFill>
                      <a:srgbClr val="1E293B"/>
                    </a:solidFill>
                    <a:latin typeface="Calibri"/>
                  </a:rPr>
                  <a:t>: quên dấu âm </a:t>
                </a:r>
                <a:r>
                  <a:rPr lang="vi-VN"/>
                  <a:t>(0;-3;0)</a:t>
                </a:r>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Bài 2.13c: quên điều kiện độ dài 1 của vectơ đơn vị.</a:t>
                </a:r>
              </a:p>
            </p:txBody>
          </p:sp>
        </mc:Fallback>
      </mc:AlternateContent>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106863" y="457200"/>
            <a:ext cx="1536192"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DÀNH CHO GV</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PHỤ LỤC 2 – PHÂN HOÁ, DỰ PHÒNG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Hệ trục toạ độ trong không gian – Toán 12          39</a:t>
            </a:r>
          </a:p>
        </p:txBody>
      </p:sp>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b="1">
                <a:solidFill>
                  <a:srgbClr val="1E293B"/>
                </a:solidFill>
                <a:latin typeface="Calibri"/>
              </a:rPr>
              <a:t>HS cần hỗ trợ:</a:t>
            </a:r>
            <a:r>
              <a:rPr sz="2000">
                <a:solidFill>
                  <a:srgbClr val="1E293B"/>
                </a:solidFill>
                <a:latin typeface="Calibri"/>
              </a:rPr>
              <a:t> mô hình khung hình hộp và 3 que màu làm ba trục; giao HĐ1, HĐ2, LT2, Bài 2.15, 2.16.</a:t>
            </a:r>
          </a:p>
          <a:p>
            <a:pPr algn="l" marL="365760" indent="-365760">
              <a:spcAft>
                <a:spcPts val="800"/>
              </a:spcAft>
              <a:buClr>
                <a:srgbClr val="1E40AF"/>
              </a:buClr>
              <a:buFont typeface="Arial"/>
              <a:buChar char="•"/>
            </a:pPr>
            <a:r>
              <a:rPr sz="2000" b="1">
                <a:solidFill>
                  <a:srgbClr val="1E293B"/>
                </a:solidFill>
                <a:latin typeface="Calibri"/>
              </a:rPr>
              <a:t>HS khá, giỏi:</a:t>
            </a:r>
            <a:r>
              <a:rPr sz="2000">
                <a:solidFill>
                  <a:srgbClr val="1E293B"/>
                </a:solidFill>
                <a:latin typeface="Calibri"/>
              </a:rPr>
              <a:t> Bài 2.18; tìm hiểu đổi toạ độ cầu ↔ Descartes.</a:t>
            </a:r>
          </a:p>
          <a:p>
            <a:pPr algn="l" marL="365760" indent="-365760">
              <a:spcAft>
                <a:spcPts val="800"/>
              </a:spcAft>
              <a:buClr>
                <a:srgbClr val="1E40AF"/>
              </a:buClr>
              <a:buFont typeface="Arial"/>
              <a:buChar char="•"/>
            </a:pPr>
            <a:r>
              <a:rPr sz="2000" b="1">
                <a:solidFill>
                  <a:srgbClr val="1E293B"/>
                </a:solidFill>
                <a:latin typeface="Calibri"/>
              </a:rPr>
              <a:t>12A2, 12A7 (khiếm thị):</a:t>
            </a:r>
            <a:r>
              <a:rPr sz="2000">
                <a:solidFill>
                  <a:srgbClr val="1E293B"/>
                </a:solidFill>
                <a:latin typeface="Calibri"/>
              </a:rPr>
              <a:t> GV đọc to toạ độ; HS sờ mô hình góc phòng; phóng to slide. </a:t>
            </a:r>
            <a:r>
              <a:rPr sz="2000" b="1">
                <a:solidFill>
                  <a:srgbClr val="1E293B"/>
                </a:solidFill>
                <a:latin typeface="Calibri"/>
              </a:rPr>
              <a:t>12A3, 12A5, 12A7 (vận động):</a:t>
            </a:r>
            <a:r>
              <a:rPr sz="2000">
                <a:solidFill>
                  <a:srgbClr val="1E293B"/>
                </a:solidFill>
                <a:latin typeface="Calibri"/>
              </a:rPr>
              <a:t> trả lời tại chỗ.</a:t>
            </a:r>
          </a:p>
          <a:p>
            <a:pPr algn="l" marL="365760" indent="-365760">
              <a:spcAft>
                <a:spcPts val="800"/>
              </a:spcAft>
              <a:buClr>
                <a:srgbClr val="1E40AF"/>
              </a:buClr>
              <a:buFont typeface="Arial"/>
              <a:buChar char="•"/>
            </a:pPr>
            <a:r>
              <a:rPr sz="2000" b="1">
                <a:solidFill>
                  <a:srgbClr val="1E293B"/>
                </a:solidFill>
                <a:latin typeface="Calibri"/>
              </a:rPr>
              <a:t>Mất điện/mạng:</a:t>
            </a:r>
            <a:r>
              <a:rPr sz="2000">
                <a:solidFill>
                  <a:srgbClr val="1E293B"/>
                </a:solidFill>
                <a:latin typeface="Calibri"/>
              </a:rPr>
              <a:t> KHBD in; mô hình góc lớp học thay GeoGebra 3D.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