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Lớp có HS khuyết tật: 12A2, 12A7 (khiếm thị) – GV đọc to công thức, bảng biến thiên, mô tả đồ thị; 12A3, 12A5, 12A7 (vận động) – HS trả lời tại chỗ, không cần lên bảng.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tr.33.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5' – Khái niệm tốc độ thay đổi 7' – Ví dụ 1: 8' – Ví dụ 2: 7' – Ví dụ 3: 7' – Ví dụ 4: 5' – LT1, tổng kết 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HS dự đoán: giảm giá → doanh thu tăng hay giảm? Thử giá 90: 30 000 × 90 = 2 700 000 &gt; 2 700 000? (bằng 27 000 × 100). Giải ở Ví dụ 6 (Tiết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GV giảng giải. Nhấn mạnh: đạo hàm f'(a) là tốc độ thay đổi tức thời tại x = 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GV trình bày. Click 1–3. Vận tốc âm: vật chuyển động ngược chiều dương (đi xuống).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Mô hình quần thể nấm men. Click 1–3. Ý nghĩa: tăng nhưng có ngưỡng (giới hạn 100 tế bào).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Click 1–3. C(201) − C(200) ≈ C'(200).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 1–3. Liên hệ: xử lí khí thải nhà máy chế biến cà phê ở địa phương.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HS bấm máy. Click 1, 2 (đã kiểm tra bằng sympy). Liên hệ sức khoẻ: đo huyết áp.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Quy trình 3' – Ví dụ 5: 6' – LT2: 6' – hàm cầu, doanh thu, lợi nhuận 3' – Ví dụ 6: 6' – Ví dụ 7: 6' – Vận dụng 6' – Rung chuông vàng (rút gọn) 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chép 3 bước. Khó nhất: lập hàm số và miền xác định.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Click 1–3. Chú ý (SGK): thể tích không đổi thì diện tích bề mặt nhỏ nhất khi h = 2r.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HS lập hàm thời gian T(x) theo nhóm. Click 1–3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giảng giải các thuật ngữ kinh tế.</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Click 1–3. p = p(x) bậc nhất vì tốc độ thay đổi của x tỉ lệ với của 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Click 1–3. Đọc đồ thị: P(20) = 0 – hoà vốn.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Nhóm 4 HS. Click 1–3 (đã kiểm tra bằng sympy). Hàm cầu: p = 14 − 0,5·(x − 1 000)/100.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dẫn, đáp số để HS tự kiểm tra (đối chiếu SGV tr.75 – 76;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dẫn, đáp số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6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B: s(2) = 1; C: gia tốc a(2) = 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A: C(50) = 3 500.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 – S – Đ – Đ.</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Liên hệ vườn ươm cà phê ở Vĩnh Thạnh.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hyperlink" Target="https://trangtu66.github.io/Taode_thi_online/cc_bai5_t12.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000" b="1">
                <a:solidFill>
                  <a:srgbClr val="FCD34D"/>
                </a:solidFill>
                <a:latin typeface="Cambria"/>
              </a:rPr>
              <a:t>CHƯƠNG I. ỨNG DỤNG ĐẠO HÀM ĐỂ KHẢO SÁT VÀ VẼ ĐỒ THỊ HÀM SỐ</a:t>
            </a:r>
          </a:p>
          <a:p>
            <a:pPr>
              <a:spcAft>
                <a:spcPts val="600"/>
              </a:spcAft>
            </a:pPr>
            <a:r>
              <a:rPr sz="3000" b="1">
                <a:solidFill>
                  <a:srgbClr val="FFFFFF"/>
                </a:solidFill>
                <a:latin typeface="Cambria"/>
              </a:rPr>
              <a:t>BÀI 5</a:t>
            </a:r>
          </a:p>
          <a:p>
            <a:pPr>
              <a:spcAft>
                <a:spcPts val="600"/>
              </a:spcAft>
            </a:pPr>
            <a:r>
              <a:rPr sz="4000" b="1">
                <a:solidFill>
                  <a:srgbClr val="FFFFFF"/>
                </a:solidFill>
                <a:latin typeface="Cambria"/>
              </a:rPr>
              <a:t>ỨNG DỤNG ĐẠO HÀM ĐỂ GIẢI QUYẾT MỘT SỐ VẤN ĐỀ LIÊN QUAN ĐẾN THỰC TIỄN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2 tiết: T19 – T20</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a:t>
            </a:r>
          </a:p>
        </p:txBody>
      </p:sp>
      <p:sp>
        <p:nvSpPr>
          <p:cNvPr id="7" name="Rounded Rectangle 6"/>
          <p:cNvSpPr/>
          <p:nvPr/>
        </p:nvSpPr>
        <p:spPr>
          <a:xfrm>
            <a:off x="548640" y="1417320"/>
            <a:ext cx="11064240" cy="13716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298448"/>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tr.33)</a:t>
            </a:r>
          </a:p>
          <a:p>
            <a:pPr algn="l" marL="365760" indent="-365760">
              <a:spcAft>
                <a:spcPts val="800"/>
              </a:spcAft>
              <a:buClr>
                <a:srgbClr val="1E40AF"/>
              </a:buClr>
              <a:buFont typeface="Arial"/>
              <a:buChar char="•"/>
            </a:pPr>
            <a:r>
              <a:rPr sz="2200">
                <a:solidFill>
                  <a:srgbClr val="1E293B"/>
                </a:solidFill>
                <a:latin typeface="Calibri"/>
              </a:rPr>
              <a:t>Vận dụng đạo hàm và khảo sát hàm số để giải quyết một số vấn đề liên quan đến thực tiễn.</a:t>
            </a:r>
          </a:p>
        </p:txBody>
      </p:sp>
      <p:sp>
        <p:nvSpPr>
          <p:cNvPr id="9" name="TextBox 8"/>
          <p:cNvSpPr txBox="1"/>
          <p:nvPr/>
        </p:nvSpPr>
        <p:spPr>
          <a:xfrm>
            <a:off x="548640" y="3017520"/>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mô hình hoá toán học (lập hàm số từ bài toán thực tế); giải quyết vấn đề (tối ưu hoá); tư duy và lập luận (ý nghĩa của đạo hàm); sử dụng công cụ (máy tính cầm tay, GeoGebra).</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 (tiết kiệm vật liệu, chi phí).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2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T19</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Tốc độ thay đổi của một đại lượng: Ví dụ 1 – 4; Luyện tập 1</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T20</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2. Bài toán tối ưu hoá: Ví dụ 5 – 7; Luyện tập 2; Vận dụng</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(T19)</a:t>
            </a:r>
          </a:p>
          <a:p>
            <a:pPr>
              <a:spcAft>
                <a:spcPts val="600"/>
              </a:spcAft>
            </a:pPr>
            <a:r>
              <a:rPr sz="4000" b="1">
                <a:solidFill>
                  <a:srgbClr val="FFFFFF"/>
                </a:solidFill>
                <a:latin typeface="Cambria"/>
              </a:rPr>
              <a:t>Tốc độ thay đổi của một đại lượng</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Hiểu đạo hàm là tốc độ thay đổi tức thời của một đại lượng.</a:t>
            </a:r>
          </a:p>
          <a:p>
            <a:pPr algn="l">
              <a:spcAft>
                <a:spcPts val="800"/>
              </a:spcAft>
            </a:pPr>
            <a:r>
              <a:rPr sz="2200">
                <a:solidFill>
                  <a:srgbClr val="E0E7FF"/>
                </a:solidFill>
                <a:latin typeface="Calibri"/>
              </a:rPr>
              <a:t>• Vận dụng vào vận tốc, gia tốc, tốc độ tăng trưởng, chi phí biên.</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GIÁ VÉ SÂN VẬN ĐỘNG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5</a:t>
            </a:r>
          </a:p>
        </p:txBody>
      </p:sp>
      <p:sp>
        <p:nvSpPr>
          <p:cNvPr id="7" name="TextBox 6"/>
          <p:cNvSpPr txBox="1"/>
          <p:nvPr/>
        </p:nvSpPr>
        <p:spPr>
          <a:xfrm>
            <a:off x="548640" y="1417320"/>
            <a:ext cx="6766560" cy="438912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đội bóng đá thi đấu trong một sân vận động có sức chứa 55 000 khán giả. Với giá mỗi vé là 100 nghìn đồng, số khán giả trung bình là 27 000 người. Qua thăm dò dư luận, mỗi khi giá vé giảm thêm 10 nghìn đồng, sẽ có thêm khoảng 3 000 khán giả. </a:t>
            </a:r>
            <a:r>
              <a:rPr sz="2200" b="1">
                <a:solidFill>
                  <a:srgbClr val="1E293B"/>
                </a:solidFill>
                <a:latin typeface="Calibri"/>
              </a:rPr>
              <a:t>Hỏi ban tổ chức nên đặt giá vé là bao nhiêu để doanh thu từ tiền bán vé là lớn nhất?</a:t>
            </a:r>
          </a:p>
          <a:p>
            <a:pPr algn="l">
              <a:spcAft>
                <a:spcPts val="800"/>
              </a:spcAft>
            </a:pPr>
            <a:r>
              <a:rPr sz="2000">
                <a:solidFill>
                  <a:srgbClr val="64748B"/>
                </a:solidFill>
                <a:latin typeface="Calibri"/>
              </a:rPr>
              <a:t>(SGK Toán 12 tập một, tr.33)</a:t>
            </a:r>
          </a:p>
        </p:txBody>
      </p:sp>
      <p:pic>
        <p:nvPicPr>
          <p:cNvPr id="8" name="Picture 7" descr="b5_sanvd.png"/>
          <p:cNvPicPr>
            <a:picLocks noChangeAspect="1"/>
          </p:cNvPicPr>
          <p:nvPr/>
        </p:nvPicPr>
        <p:blipFill>
          <a:blip r:embed="rId3"/>
          <a:stretch>
            <a:fillRect/>
          </a:stretch>
        </p:blipFill>
        <p:spPr>
          <a:xfrm>
            <a:off x="7498079" y="2113009"/>
            <a:ext cx="4206240" cy="272342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TỐC ĐỘ THAY ĐỔI CỦA MỘT ĐẠI LƯỢNG (SGK TR.33)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667256"/>
              </a:xfrm>
              <a:prstGeom prst="rect">
                <a:avLst/>
              </a:prstGeom>
              <a:noFill/>
            </p:spPr>
            <p:txBody>
              <a:bodyPr wrap="square" anchor="t" lIns="45720" rIns="45720">
                <a:spAutoFit/>
              </a:bodyPr>
              <a:lstStyle/>
              <a:p>
                <a:pPr algn="l">
                  <a:spcAft>
                    <a:spcPts val="800"/>
                  </a:spcAft>
                </a:pPr>
                <a:r>
                  <a:rPr sz="2000">
                    <a:solidFill>
                      <a:srgbClr val="1E293B"/>
                    </a:solidFill>
                    <a:latin typeface="Calibri"/>
                  </a:rPr>
                  <a:t>Giả sử </a:t>
                </a:r>
                <a14:m>
                  <m:oMath xmlns:m="http://schemas.openxmlformats.org/officeDocument/2006/math">
                    <m:r>
                      <a:rPr lang="vi-VN" sz="2000" b="0">
                        <a:solidFill>
                          <a:srgbClr val="1E293B"/>
                        </a:solidFill>
                        <a:latin typeface="Cambria Math" panose="02040503050406030204" pitchFamily="18" charset="0"/>
                      </a:rPr>
                      <m:t>y=f(x)</m:t>
                    </m:r>
                  </m:oMath>
                </a14:m>
                <a:r>
                  <a:rPr sz="2000">
                    <a:solidFill>
                      <a:srgbClr val="1E293B"/>
                    </a:solidFill>
                    <a:latin typeface="Calibri"/>
                  </a:rPr>
                  <a:t>. Nếu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thay đổi từ </a:t>
                </a:r>
                <a14:m>
                  <m:oMath xmlns:m="http://schemas.openxmlformats.org/officeDocument/2006/math">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oMath>
                </a14:m>
                <a:r>
                  <a:rPr sz="2000">
                    <a:solidFill>
                      <a:srgbClr val="1E293B"/>
                    </a:solidFill>
                    <a:latin typeface="Calibri"/>
                  </a:rPr>
                  <a:t> đến </a:t>
                </a:r>
                <a14:m>
                  <m:oMath xmlns:m="http://schemas.openxmlformats.org/officeDocument/2006/math">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m:t>
                        </m:r>
                      </m:sub>
                    </m:sSub>
                  </m:oMath>
                </a14:m>
                <a:r>
                  <a:rPr sz="2000">
                    <a:solidFill>
                      <a:srgbClr val="1E293B"/>
                    </a:solidFill>
                    <a:latin typeface="Calibri"/>
                  </a:rPr>
                  <a:t> thì </a:t>
                </a:r>
                <a14:m>
                  <m:oMath xmlns:m="http://schemas.openxmlformats.org/officeDocument/2006/math">
                    <m:r>
                      <a:rPr lang="vi-VN" sz="2000" b="0">
                        <a:solidFill>
                          <a:srgbClr val="1E293B"/>
                        </a:solidFill>
                        <a:latin typeface="Cambria Math" panose="02040503050406030204" pitchFamily="18" charset="0"/>
                      </a:rPr>
                      <m:t>Δx=</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m:t>
                        </m:r>
                      </m:sub>
                    </m:sSub>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Δy=f(</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m:t>
                        </m:r>
                      </m:sub>
                    </m:sSub>
                    <m:r>
                      <a:rPr lang="vi-VN" sz="2000" b="0">
                        <a:solidFill>
                          <a:srgbClr val="1E293B"/>
                        </a:solidFill>
                        <a:latin typeface="Cambria Math" panose="02040503050406030204" pitchFamily="18" charset="0"/>
                      </a:rPr>
                      <m:t>)−f(</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r>
                      <a:rPr lang="vi-VN" sz="2000" b="0">
                        <a:solidFill>
                          <a:srgbClr val="1E293B"/>
                        </a:solidFill>
                        <a:latin typeface="Cambria Math" panose="02040503050406030204" pitchFamily="18" charset="0"/>
                      </a:rPr>
                      <m:t>)</m:t>
                    </m:r>
                  </m:oMath>
                </a14:m>
                <a:r>
                  <a:rPr sz="2000">
                    <a:solidFill>
                      <a:srgbClr val="1E293B"/>
                    </a:solidFill>
                    <a:latin typeface="Calibri"/>
                  </a:rPr>
                  <a:t>. Tỉ số </a:t>
                </a:r>
                <a14:m>
                  <m:oMath xmlns:m="http://schemas.openxmlformats.org/officeDocument/2006/math">
                    <m:f>
                      <m:fPr>
                        <m:type m:val="bar"/>
                      </m:fPr>
                      <m:num>
                        <m:r>
                          <a:rPr lang="vi-VN" sz="2000" b="0">
                            <a:solidFill>
                              <a:srgbClr val="1E293B"/>
                            </a:solidFill>
                            <a:latin typeface="Cambria Math" panose="02040503050406030204" pitchFamily="18" charset="0"/>
                          </a:rPr>
                          <m:t>Δy</m:t>
                        </m:r>
                      </m:num>
                      <m:den>
                        <m:r>
                          <a:rPr lang="vi-VN" sz="2000" b="0">
                            <a:solidFill>
                              <a:srgbClr val="1E293B"/>
                            </a:solidFill>
                            <a:latin typeface="Cambria Math" panose="02040503050406030204" pitchFamily="18" charset="0"/>
                          </a:rPr>
                          <m:t>Δx</m:t>
                        </m:r>
                      </m:den>
                    </m:f>
                  </m:oMath>
                </a14:m>
                <a:r>
                  <a:rPr sz="2000">
                    <a:solidFill>
                      <a:srgbClr val="1E293B"/>
                    </a:solidFill>
                    <a:latin typeface="Calibri"/>
                  </a:rPr>
                  <a:t> được gọi là </a:t>
                </a:r>
                <a:r>
                  <a:rPr sz="2000" b="1">
                    <a:solidFill>
                      <a:srgbClr val="1E293B"/>
                    </a:solidFill>
                    <a:latin typeface="Calibri"/>
                  </a:rPr>
                  <a:t>tốc độ thay đổi trung bình</a:t>
                </a:r>
                <a:r>
                  <a:rPr sz="2000">
                    <a:solidFill>
                      <a:srgbClr val="1E293B"/>
                    </a:solidFill>
                    <a:latin typeface="Calibri"/>
                  </a:rPr>
                  <a:t> của </a:t>
                </a:r>
                <a14:m>
                  <m:oMath xmlns:m="http://schemas.openxmlformats.org/officeDocument/2006/math">
                    <m:r>
                      <a:rPr lang="vi-VN" sz="2000" b="0">
                        <a:solidFill>
                          <a:srgbClr val="1E293B"/>
                        </a:solidFill>
                        <a:latin typeface="Cambria Math" panose="02040503050406030204" pitchFamily="18" charset="0"/>
                      </a:rPr>
                      <m:t>y</m:t>
                    </m:r>
                  </m:oMath>
                </a14:m>
                <a:r>
                  <a:rPr sz="2000">
                    <a:solidFill>
                      <a:srgbClr val="1E293B"/>
                    </a:solidFill>
                    <a:latin typeface="Calibri"/>
                  </a:rPr>
                  <a:t> đối với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trên đoạn </a:t>
                </a:r>
                <a14:m>
                  <m:oMath xmlns:m="http://schemas.openxmlformats.org/officeDocument/2006/math">
                    <m:d>
                      <m:dPr>
                        <m:begChr m:val="["/>
                        <m:sepChr m:val=""/>
                        <m:endChr m:val="]"/>
                      </m:dPr>
                      <m:e>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m:t>
                            </m:r>
                          </m:sub>
                        </m:sSub>
                      </m:e>
                    </m:d>
                  </m:oMath>
                </a14:m>
                <a:r>
                  <a:rPr sz="2000">
                    <a:solidFill>
                      <a:srgbClr val="1E293B"/>
                    </a:solidFill>
                    <a:latin typeface="Calibri"/>
                  </a:rPr>
                  <a:t>. Giới hạn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Δx→0</m:t>
                        </m:r>
                      </m:lim>
                    </m:limLow>
                    <m:f>
                      <m:fPr>
                        <m:type m:val="bar"/>
                      </m:fPr>
                      <m:num>
                        <m:r>
                          <a:rPr lang="vi-VN" sz="2000" b="0">
                            <a:solidFill>
                              <a:srgbClr val="1E293B"/>
                            </a:solidFill>
                            <a:latin typeface="Cambria Math" panose="02040503050406030204" pitchFamily="18" charset="0"/>
                          </a:rPr>
                          <m:t>Δy</m:t>
                        </m:r>
                      </m:num>
                      <m:den>
                        <m:r>
                          <a:rPr lang="vi-VN" sz="2000" b="0">
                            <a:solidFill>
                              <a:srgbClr val="1E293B"/>
                            </a:solidFill>
                            <a:latin typeface="Cambria Math" panose="02040503050406030204" pitchFamily="18" charset="0"/>
                          </a:rPr>
                          <m:t>Δx</m:t>
                        </m:r>
                      </m:den>
                    </m:f>
                  </m:oMath>
                </a14:m>
                <a:r>
                  <a:rPr sz="2000">
                    <a:solidFill>
                      <a:srgbClr val="1E293B"/>
                    </a:solidFill>
                    <a:latin typeface="Calibri"/>
                  </a:rPr>
                  <a:t> được gọi là </a:t>
                </a:r>
                <a:r>
                  <a:rPr sz="2000" b="1">
                    <a:solidFill>
                      <a:srgbClr val="1E293B"/>
                    </a:solidFill>
                    <a:latin typeface="Calibri"/>
                  </a:rPr>
                  <a:t>tốc độ thay đổi tức thời</a:t>
                </a:r>
                <a:r>
                  <a:rPr sz="2000">
                    <a:solidFill>
                      <a:srgbClr val="1E293B"/>
                    </a:solidFill>
                    <a:latin typeface="Calibri"/>
                  </a:rPr>
                  <a:t> của </a:t>
                </a:r>
                <a14:m>
                  <m:oMath xmlns:m="http://schemas.openxmlformats.org/officeDocument/2006/math">
                    <m:r>
                      <a:rPr lang="vi-VN" sz="2000" b="0">
                        <a:solidFill>
                          <a:srgbClr val="1E293B"/>
                        </a:solidFill>
                        <a:latin typeface="Cambria Math" panose="02040503050406030204" pitchFamily="18" charset="0"/>
                      </a:rPr>
                      <m:t>y</m:t>
                    </m:r>
                  </m:oMath>
                </a14:m>
                <a:r>
                  <a:rPr sz="2000">
                    <a:solidFill>
                      <a:srgbClr val="1E293B"/>
                    </a:solidFill>
                    <a:latin typeface="Calibri"/>
                  </a:rPr>
                  <a:t> đối với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tại </a:t>
                </a:r>
                <a14:m>
                  <m:oMath xmlns:m="http://schemas.openxmlformats.org/officeDocument/2006/math">
                    <m:r>
                      <a:rPr lang="vi-VN" sz="2000" b="0">
                        <a:solidFill>
                          <a:srgbClr val="1E293B"/>
                        </a:solidFill>
                        <a:latin typeface="Cambria Math" panose="02040503050406030204" pitchFamily="18" charset="0"/>
                      </a:rPr>
                      <m:t>x=</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oMath>
                </a14:m>
                <a:r>
                  <a:rPr sz="2000">
                    <a:solidFill>
                      <a:srgbClr val="1E293B"/>
                    </a:solidFill>
                    <a:latin typeface="Calibri"/>
                  </a:rPr>
                  <a:t>.</a:t>
                </a:r>
              </a:p>
            </p:txBody>
          </p:sp>
        </mc:Choice>
        <mc:Fallback>
          <p:sp>
            <p:nvSpPr>
              <p:cNvPr id="7" name="TextBox 6"/>
              <p:cNvSpPr txBox="1"/>
              <p:nvPr/>
            </p:nvSpPr>
            <p:spPr>
              <a:xfrm>
                <a:off x="548640" y="1371600"/>
                <a:ext cx="11064240" cy="1667256"/>
              </a:xfrm>
              <a:prstGeom prst="rect">
                <a:avLst/>
              </a:prstGeom>
              <a:noFill/>
            </p:spPr>
            <p:txBody>
              <a:bodyPr wrap="square" anchor="t" lIns="45720" rIns="45720">
                <a:spAutoFit/>
              </a:bodyPr>
              <a:lstStyle/>
              <a:p>
                <a:pPr algn="l">
                  <a:spcAft>
                    <a:spcPts val="800"/>
                  </a:spcAft>
                </a:pPr>
                <a:r>
                  <a:rPr sz="2000">
                    <a:solidFill>
                      <a:srgbClr val="1E293B"/>
                    </a:solidFill>
                    <a:latin typeface="Calibri"/>
                  </a:rPr>
                  <a:t>Giả sử </a:t>
                </a:r>
                <a:r>
                  <a:rPr lang="vi-VN"/>
                  <a:t>y=f(x)</a:t>
                </a:r>
                <a:r>
                  <a:rPr sz="2000">
                    <a:solidFill>
                      <a:srgbClr val="1E293B"/>
                    </a:solidFill>
                    <a:latin typeface="Calibri"/>
                  </a:rPr>
                  <a:t>. Nếu </a:t>
                </a:r>
                <a:r>
                  <a:rPr lang="vi-VN"/>
                  <a:t>x</a:t>
                </a:r>
                <a:r>
                  <a:rPr sz="2000">
                    <a:solidFill>
                      <a:srgbClr val="1E293B"/>
                    </a:solidFill>
                    <a:latin typeface="Calibri"/>
                  </a:rPr>
                  <a:t> thay đổi từ </a:t>
                </a:r>
                <a:r>
                  <a:rPr lang="vi-VN"/>
                  <a:t>x_1</a:t>
                </a:r>
                <a:r>
                  <a:rPr sz="2000">
                    <a:solidFill>
                      <a:srgbClr val="1E293B"/>
                    </a:solidFill>
                    <a:latin typeface="Calibri"/>
                  </a:rPr>
                  <a:t> đến </a:t>
                </a:r>
                <a:r>
                  <a:rPr lang="vi-VN"/>
                  <a:t>x_2</a:t>
                </a:r>
                <a:r>
                  <a:rPr sz="2000">
                    <a:solidFill>
                      <a:srgbClr val="1E293B"/>
                    </a:solidFill>
                    <a:latin typeface="Calibri"/>
                  </a:rPr>
                  <a:t> thì </a:t>
                </a:r>
                <a:r>
                  <a:rPr lang="vi-VN"/>
                  <a:t>\Delta x=x_2-x_1</a:t>
                </a:r>
                <a:r>
                  <a:rPr sz="2000">
                    <a:solidFill>
                      <a:srgbClr val="1E293B"/>
                    </a:solidFill>
                    <a:latin typeface="Calibri"/>
                  </a:rPr>
                  <a:t>, </a:t>
                </a:r>
                <a:r>
                  <a:rPr lang="vi-VN"/>
                  <a:t>\Delta y=f(x_2)-f(x_1)</a:t>
                </a:r>
                <a:r>
                  <a:rPr sz="2000">
                    <a:solidFill>
                      <a:srgbClr val="1E293B"/>
                    </a:solidFill>
                    <a:latin typeface="Calibri"/>
                  </a:rPr>
                  <a:t>. Tỉ số </a:t>
                </a:r>
                <a:r>
                  <a:rPr lang="vi-VN"/>
                  <a:t>\frac{\Delta y}{\Delta x}</a:t>
                </a:r>
                <a:r>
                  <a:rPr sz="2000">
                    <a:solidFill>
                      <a:srgbClr val="1E293B"/>
                    </a:solidFill>
                    <a:latin typeface="Calibri"/>
                  </a:rPr>
                  <a:t> được gọi là </a:t>
                </a:r>
                <a:r>
                  <a:rPr sz="2000" b="1">
                    <a:solidFill>
                      <a:srgbClr val="1E293B"/>
                    </a:solidFill>
                    <a:latin typeface="Calibri"/>
                  </a:rPr>
                  <a:t>tốc độ thay đổi trung bình</a:t>
                </a:r>
                <a:r>
                  <a:rPr sz="2000">
                    <a:solidFill>
                      <a:srgbClr val="1E293B"/>
                    </a:solidFill>
                    <a:latin typeface="Calibri"/>
                  </a:rPr>
                  <a:t> của </a:t>
                </a:r>
                <a:r>
                  <a:rPr lang="vi-VN"/>
                  <a:t>y</a:t>
                </a:r>
                <a:r>
                  <a:rPr sz="2000">
                    <a:solidFill>
                      <a:srgbClr val="1E293B"/>
                    </a:solidFill>
                    <a:latin typeface="Calibri"/>
                  </a:rPr>
                  <a:t> đối với </a:t>
                </a:r>
                <a:r>
                  <a:rPr lang="vi-VN"/>
                  <a:t>x</a:t>
                </a:r>
                <a:r>
                  <a:rPr sz="2000">
                    <a:solidFill>
                      <a:srgbClr val="1E293B"/>
                    </a:solidFill>
                    <a:latin typeface="Calibri"/>
                  </a:rPr>
                  <a:t> trên đoạn </a:t>
                </a:r>
                <a:r>
                  <a:rPr lang="vi-VN"/>
                  <a:t>[x_1;\ x_2]</a:t>
                </a:r>
                <a:r>
                  <a:rPr sz="2000">
                    <a:solidFill>
                      <a:srgbClr val="1E293B"/>
                    </a:solidFill>
                    <a:latin typeface="Calibri"/>
                  </a:rPr>
                  <a:t>. Giới hạn </a:t>
                </a:r>
                <a:r>
                  <a:rPr lang="vi-VN"/>
                  <a:t>\lim\limits_{\Delta x\to 0}\frac{\Delta y}{\Delta x}</a:t>
                </a:r>
                <a:r>
                  <a:rPr sz="2000">
                    <a:solidFill>
                      <a:srgbClr val="1E293B"/>
                    </a:solidFill>
                    <a:latin typeface="Calibri"/>
                  </a:rPr>
                  <a:t> được gọi là </a:t>
                </a:r>
                <a:r>
                  <a:rPr sz="2000" b="1">
                    <a:solidFill>
                      <a:srgbClr val="1E293B"/>
                    </a:solidFill>
                    <a:latin typeface="Calibri"/>
                  </a:rPr>
                  <a:t>tốc độ thay đổi tức thời</a:t>
                </a:r>
                <a:r>
                  <a:rPr sz="2000">
                    <a:solidFill>
                      <a:srgbClr val="1E293B"/>
                    </a:solidFill>
                    <a:latin typeface="Calibri"/>
                  </a:rPr>
                  <a:t> của </a:t>
                </a:r>
                <a:r>
                  <a:rPr lang="vi-VN"/>
                  <a:t>y</a:t>
                </a:r>
                <a:r>
                  <a:rPr sz="2000">
                    <a:solidFill>
                      <a:srgbClr val="1E293B"/>
                    </a:solidFill>
                    <a:latin typeface="Calibri"/>
                  </a:rPr>
                  <a:t> đối với </a:t>
                </a:r>
                <a:r>
                  <a:rPr lang="vi-VN"/>
                  <a:t>x</a:t>
                </a:r>
                <a:r>
                  <a:rPr sz="2000">
                    <a:solidFill>
                      <a:srgbClr val="1E293B"/>
                    </a:solidFill>
                    <a:latin typeface="Calibri"/>
                  </a:rPr>
                  <a:t> tại </a:t>
                </a:r>
                <a:r>
                  <a:rPr lang="vi-VN"/>
                  <a:t>x=x_1</a:t>
                </a:r>
                <a:r>
                  <a:rPr sz="2000">
                    <a:solidFill>
                      <a:srgbClr val="1E293B"/>
                    </a:solidFill>
                    <a:latin typeface="Calibri"/>
                  </a:rPr>
                  <a:t>.</a:t>
                </a:r>
              </a:p>
            </p:txBody>
          </p:sp>
        </mc:Fallback>
      </mc:AlternateContent>
      <p:sp>
        <p:nvSpPr>
          <p:cNvPr id="8" name="s1_nen"/>
          <p:cNvSpPr/>
          <p:nvPr/>
        </p:nvSpPr>
        <p:spPr>
          <a:xfrm>
            <a:off x="548640" y="3148584"/>
            <a:ext cx="11064240" cy="87477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8516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Đạo hàm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(a)</m:t>
                    </m:r>
                  </m:oMath>
                </a14:m>
                <a:r>
                  <a:rPr sz="2000">
                    <a:solidFill>
                      <a:srgbClr val="1E293B"/>
                    </a:solidFill>
                    <a:latin typeface="Calibri"/>
                  </a:rPr>
                  <a:t> là tốc độ thay đổi tức thời của đại lượng </a:t>
                </a:r>
                <a14:m>
                  <m:oMath xmlns:m="http://schemas.openxmlformats.org/officeDocument/2006/math">
                    <m:r>
                      <a:rPr lang="vi-VN" sz="2000" b="0">
                        <a:solidFill>
                          <a:srgbClr val="1E293B"/>
                        </a:solidFill>
                        <a:latin typeface="Cambria Math" panose="02040503050406030204" pitchFamily="18" charset="0"/>
                      </a:rPr>
                      <m:t>y=f(x)</m:t>
                    </m:r>
                  </m:oMath>
                </a14:m>
                <a:r>
                  <a:rPr sz="2000">
                    <a:solidFill>
                      <a:srgbClr val="1E293B"/>
                    </a:solidFill>
                    <a:latin typeface="Calibri"/>
                  </a:rPr>
                  <a:t> đối với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tại điểm </a:t>
                </a:r>
                <a14:m>
                  <m:oMath xmlns:m="http://schemas.openxmlformats.org/officeDocument/2006/math">
                    <m:r>
                      <a:rPr lang="vi-VN" sz="2000" b="0">
                        <a:solidFill>
                          <a:srgbClr val="1E293B"/>
                        </a:solidFill>
                        <a:latin typeface="Cambria Math" panose="02040503050406030204" pitchFamily="18" charset="0"/>
                      </a:rPr>
                      <m:t>x=a</m:t>
                    </m:r>
                  </m:oMath>
                </a14:m>
                <a:r>
                  <a:rPr sz="2000">
                    <a:solidFill>
                      <a:srgbClr val="1E293B"/>
                    </a:solidFill>
                    <a:latin typeface="Calibri"/>
                  </a:rPr>
                  <a:t>.</a:t>
                </a:r>
              </a:p>
            </p:txBody>
          </p:sp>
        </mc:Choice>
        <mc:Fallback>
          <p:sp>
            <p:nvSpPr>
              <p:cNvPr id="9" name="TextBox 8"/>
              <p:cNvSpPr txBox="1"/>
              <p:nvPr/>
            </p:nvSpPr>
            <p:spPr>
              <a:xfrm>
                <a:off x="713232" y="318516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Đạo hàm </a:t>
                </a:r>
                <a:r>
                  <a:rPr lang="vi-VN"/>
                  <a:t>f'(a)</a:t>
                </a:r>
                <a:r>
                  <a:rPr sz="2000">
                    <a:solidFill>
                      <a:srgbClr val="1E293B"/>
                    </a:solidFill>
                    <a:latin typeface="Calibri"/>
                  </a:rPr>
                  <a:t> là tốc độ thay đổi tức thời của đại lượng </a:t>
                </a:r>
                <a:r>
                  <a:rPr lang="vi-VN"/>
                  <a:t>y=f(x)</a:t>
                </a:r>
                <a:r>
                  <a:rPr sz="2000">
                    <a:solidFill>
                      <a:srgbClr val="1E293B"/>
                    </a:solidFill>
                    <a:latin typeface="Calibri"/>
                  </a:rPr>
                  <a:t> đối với </a:t>
                </a:r>
                <a:r>
                  <a:rPr lang="vi-VN"/>
                  <a:t>x</a:t>
                </a:r>
                <a:r>
                  <a:rPr sz="2000">
                    <a:solidFill>
                      <a:srgbClr val="1E293B"/>
                    </a:solidFill>
                    <a:latin typeface="Calibri"/>
                  </a:rPr>
                  <a:t> tại điểm </a:t>
                </a:r>
                <a:r>
                  <a:rPr lang="vi-VN"/>
                  <a:t>x=a</a:t>
                </a:r>
                <a:r>
                  <a:rPr sz="2000">
                    <a:solidFill>
                      <a:srgbClr val="1E293B"/>
                    </a:solidFill>
                    <a:latin typeface="Calibri"/>
                  </a:rPr>
                  <a:t>.</a:t>
                </a:r>
              </a:p>
            </p:txBody>
          </p:sp>
        </mc:Fallback>
      </mc:AlternateContent>
      <p:sp>
        <p:nvSpPr>
          <p:cNvPr id="10" name="s2_nen"/>
          <p:cNvSpPr/>
          <p:nvPr/>
        </p:nvSpPr>
        <p:spPr>
          <a:xfrm>
            <a:off x="548640" y="4133088"/>
            <a:ext cx="11064240" cy="209092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69664"/>
                <a:ext cx="10735056" cy="2017776"/>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000">
                    <a:solidFill>
                      <a:srgbClr val="1E293B"/>
                    </a:solidFill>
                    <a:latin typeface="Calibri"/>
                  </a:rPr>
                  <a:t>Vật lí: </a:t>
                </a:r>
                <a14:m>
                  <m:oMath xmlns:m="http://schemas.openxmlformats.org/officeDocument/2006/math">
                    <m:r>
                      <a:rPr lang="vi-VN" sz="2000" b="0">
                        <a:solidFill>
                          <a:srgbClr val="1E293B"/>
                        </a:solidFill>
                        <a:latin typeface="Cambria Math" panose="02040503050406030204" pitchFamily="18" charset="0"/>
                      </a:rPr>
                      <m:t>v=</m:t>
                    </m:r>
                    <m:sSup>
                      <m:e>
                        <m:r>
                          <a:rPr lang="vi-VN" sz="2000" b="0">
                            <a:solidFill>
                              <a:srgbClr val="1E293B"/>
                            </a:solidFill>
                            <a:latin typeface="Cambria Math" panose="02040503050406030204" pitchFamily="18" charset="0"/>
                          </a:rPr>
                          <m:t>s</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 là vận tốc tức thời; gia tốc </a:t>
                </a:r>
                <a14:m>
                  <m:oMath xmlns:m="http://schemas.openxmlformats.org/officeDocument/2006/math">
                    <m:r>
                      <a:rPr lang="vi-VN" sz="2000" b="0">
                        <a:solidFill>
                          <a:srgbClr val="1E293B"/>
                        </a:solidFill>
                        <a:latin typeface="Cambria Math" panose="02040503050406030204" pitchFamily="18" charset="0"/>
                      </a:rPr>
                      <m:t>a(t)=</m:t>
                    </m:r>
                    <m:sSup>
                      <m:e>
                        <m:r>
                          <a:rPr lang="vi-VN" sz="2000" b="0">
                            <a:solidFill>
                              <a:srgbClr val="1E293B"/>
                            </a:solidFill>
                            <a:latin typeface="Cambria Math" panose="02040503050406030204" pitchFamily="18" charset="0"/>
                          </a:rPr>
                          <m:t>v</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sSup>
                      <m:e>
                        <m:r>
                          <a:rPr lang="vi-VN" sz="2000" b="0">
                            <a:solidFill>
                              <a:srgbClr val="1E293B"/>
                            </a:solidFill>
                            <a:latin typeface="Cambria Math" panose="02040503050406030204" pitchFamily="18" charset="0"/>
                          </a:rPr>
                          <m:t>s</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Hoá học: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 là tốc độ phản ứng tức thời của chất có nồng độ </a:t>
                </a:r>
                <a14:m>
                  <m:oMath xmlns:m="http://schemas.openxmlformats.org/officeDocument/2006/math">
                    <m:r>
                      <a:rPr lang="vi-VN" sz="2000" b="0">
                        <a:solidFill>
                          <a:srgbClr val="1E293B"/>
                        </a:solidFill>
                        <a:latin typeface="Cambria Math" panose="02040503050406030204" pitchFamily="18" charset="0"/>
                      </a:rPr>
                      <m:t>C(t)</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Sinh học: </a:t>
                </a:r>
                <a14:m>
                  <m:oMath xmlns:m="http://schemas.openxmlformats.org/officeDocument/2006/math">
                    <m:sSup>
                      <m:e>
                        <m:r>
                          <a:rPr lang="vi-VN" sz="2000" b="0">
                            <a:solidFill>
                              <a:srgbClr val="1E293B"/>
                            </a:solidFill>
                            <a:latin typeface="Cambria Math" panose="02040503050406030204" pitchFamily="18" charset="0"/>
                          </a:rPr>
                          <m:t>P</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 là tốc độ tăng trưởng tức thời của quần thể.</a:t>
                </a:r>
              </a:p>
              <a:p>
                <a:pPr algn="l" marL="365760" indent="-365760">
                  <a:spcAft>
                    <a:spcPts val="800"/>
                  </a:spcAft>
                  <a:buClr>
                    <a:srgbClr val="1E40AF"/>
                  </a:buClr>
                  <a:buFont typeface="Arial"/>
                  <a:buChar char="•"/>
                </a:pPr>
                <a:r>
                  <a:rPr sz="2000">
                    <a:solidFill>
                      <a:srgbClr val="1E293B"/>
                    </a:solidFill>
                    <a:latin typeface="Calibri"/>
                  </a:rPr>
                  <a:t>Kinh tế: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m:t>
                    </m:r>
                  </m:oMath>
                </a14:m>
                <a:r>
                  <a:rPr sz="2000">
                    <a:solidFill>
                      <a:srgbClr val="1E293B"/>
                    </a:solidFill>
                    <a:latin typeface="Calibri"/>
                  </a:rPr>
                  <a:t> là </a:t>
                </a:r>
                <a:r>
                  <a:rPr sz="2000" b="1">
                    <a:solidFill>
                      <a:srgbClr val="1E293B"/>
                    </a:solidFill>
                    <a:latin typeface="Calibri"/>
                  </a:rPr>
                  <a:t>chi phí biên</a:t>
                </a:r>
                <a:r>
                  <a:rPr sz="2000">
                    <a:solidFill>
                      <a:srgbClr val="1E293B"/>
                    </a:solidFill>
                    <a:latin typeface="Calibri"/>
                  </a:rPr>
                  <a:t> – xấp xỉ chi phí sản xuất thêm đơn vị hàng hoá thứ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a:t>
                </a:r>
              </a:p>
            </p:txBody>
          </p:sp>
        </mc:Choice>
        <mc:Fallback>
          <p:sp>
            <p:nvSpPr>
              <p:cNvPr id="11" name="TextBox 10"/>
              <p:cNvSpPr txBox="1"/>
              <p:nvPr/>
            </p:nvSpPr>
            <p:spPr>
              <a:xfrm>
                <a:off x="713232" y="4169664"/>
                <a:ext cx="10735056" cy="2017776"/>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000">
                    <a:solidFill>
                      <a:srgbClr val="1E293B"/>
                    </a:solidFill>
                    <a:latin typeface="Calibri"/>
                  </a:rPr>
                  <a:t>Vật lí: </a:t>
                </a:r>
                <a:r>
                  <a:rPr lang="vi-VN"/>
                  <a:t>v=s'(t)</a:t>
                </a:r>
                <a:r>
                  <a:rPr sz="2000">
                    <a:solidFill>
                      <a:srgbClr val="1E293B"/>
                    </a:solidFill>
                    <a:latin typeface="Calibri"/>
                  </a:rPr>
                  <a:t> là vận tốc tức thời; gia tốc </a:t>
                </a:r>
                <a:r>
                  <a:rPr lang="vi-VN"/>
                  <a:t>a(t)=v'(t)=s''(t)</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Hoá học: </a:t>
                </a:r>
                <a:r>
                  <a:rPr lang="vi-VN"/>
                  <a:t>C'(t)</a:t>
                </a:r>
                <a:r>
                  <a:rPr sz="2000">
                    <a:solidFill>
                      <a:srgbClr val="1E293B"/>
                    </a:solidFill>
                    <a:latin typeface="Calibri"/>
                  </a:rPr>
                  <a:t> là tốc độ phản ứng tức thời của chất có nồng độ </a:t>
                </a:r>
                <a:r>
                  <a:rPr lang="vi-VN"/>
                  <a:t>C(t)</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Sinh học: </a:t>
                </a:r>
                <a:r>
                  <a:rPr lang="vi-VN"/>
                  <a:t>P'(t)</a:t>
                </a:r>
                <a:r>
                  <a:rPr sz="2000">
                    <a:solidFill>
                      <a:srgbClr val="1E293B"/>
                    </a:solidFill>
                    <a:latin typeface="Calibri"/>
                  </a:rPr>
                  <a:t> là tốc độ tăng trưởng tức thời của quần thể.</a:t>
                </a:r>
              </a:p>
              <a:p>
                <a:pPr algn="l" marL="365760" indent="-365760">
                  <a:spcAft>
                    <a:spcPts val="800"/>
                  </a:spcAft>
                  <a:buClr>
                    <a:srgbClr val="1E40AF"/>
                  </a:buClr>
                  <a:buFont typeface="Arial"/>
                  <a:buChar char="•"/>
                </a:pPr>
                <a:r>
                  <a:rPr sz="2000">
                    <a:solidFill>
                      <a:srgbClr val="1E293B"/>
                    </a:solidFill>
                    <a:latin typeface="Calibri"/>
                  </a:rPr>
                  <a:t>Kinh tế: </a:t>
                </a:r>
                <a:r>
                  <a:rPr lang="vi-VN"/>
                  <a:t>C'(x)</a:t>
                </a:r>
                <a:r>
                  <a:rPr sz="2000">
                    <a:solidFill>
                      <a:srgbClr val="1E293B"/>
                    </a:solidFill>
                    <a:latin typeface="Calibri"/>
                  </a:rPr>
                  <a:t> là </a:t>
                </a:r>
                <a:r>
                  <a:rPr sz="2000" b="1">
                    <a:solidFill>
                      <a:srgbClr val="1E293B"/>
                    </a:solidFill>
                    <a:latin typeface="Calibri"/>
                  </a:rPr>
                  <a:t>chi phí biên</a:t>
                </a:r>
                <a:r>
                  <a:rPr sz="2000">
                    <a:solidFill>
                      <a:srgbClr val="1E293B"/>
                    </a:solidFill>
                    <a:latin typeface="Calibri"/>
                  </a:rPr>
                  <a:t> – xấp xỉ chi phí sản xuất thêm đơn vị hàng hoá thứ </a:t>
                </a:r>
                <a:r>
                  <a:rPr lang="vi-VN"/>
                  <a:t>x+1</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(SGK TR.34)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7</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7863840" cy="2002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Độ cao (mét) của một vật phóng thẳng đứng lên từ điểm cách mặt đất 2 m với vận tốc ban đầu 24,5 m/s là </a:t>
                </a:r>
                <a14:m>
                  <m:oMath xmlns:m="http://schemas.openxmlformats.org/officeDocument/2006/math">
                    <m:r>
                      <a:rPr lang="vi-VN" sz="2000" b="0">
                        <a:solidFill>
                          <a:srgbClr val="1E293B"/>
                        </a:solidFill>
                        <a:latin typeface="Cambria Math" panose="02040503050406030204" pitchFamily="18" charset="0"/>
                      </a:rPr>
                      <m:t>h(t)=2+24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5t−4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m:t>
                    </m:r>
                    <m:sSup>
                      <m:e>
                        <m:r>
                          <a:rPr lang="vi-VN" sz="2000" b="0">
                            <a:solidFill>
                              <a:srgbClr val="1E293B"/>
                            </a:solidFill>
                            <a:latin typeface="Cambria Math" panose="02040503050406030204" pitchFamily="18" charset="0"/>
                          </a:rPr>
                          <m:t>t</m:t>
                        </m:r>
                      </m:e>
                      <m:sup>
                        <m:r>
                          <a:rPr lang="vi-VN" sz="2000" b="0">
                            <a:solidFill>
                              <a:srgbClr val="1E293B"/>
                            </a:solidFill>
                            <a:latin typeface="Cambria Math" panose="02040503050406030204" pitchFamily="18" charset="0"/>
                          </a:rPr>
                          <m:t>2</m:t>
                        </m:r>
                      </m:sup>
                    </m:sSup>
                  </m:oMath>
                </a14:m>
                <a:r>
                  <a:rPr sz="2000">
                    <a:solidFill>
                      <a:srgbClr val="1E293B"/>
                    </a:solidFill>
                    <a:latin typeface="Calibri"/>
                  </a:rPr>
                  <a:t>. a) Tìm vận tốc của vật sau 2 giây. b) Khi nào vật đạt độ cao lớn nhất và độ cao lớn nhất đó là bao nhiêu? c) Khi nào vật chạm đất và vận tốc lúc chạm đất là bao nhiêu?</a:t>
                </a:r>
              </a:p>
            </p:txBody>
          </p:sp>
        </mc:Choice>
        <mc:Fallback>
          <p:sp>
            <p:nvSpPr>
              <p:cNvPr id="7" name="TextBox 6"/>
              <p:cNvSpPr txBox="1"/>
              <p:nvPr/>
            </p:nvSpPr>
            <p:spPr>
              <a:xfrm>
                <a:off x="548640" y="1325880"/>
                <a:ext cx="7863840" cy="2002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Độ cao (mét) của một vật phóng thẳng đứng lên từ điểm cách mặt đất 2 m với vận tốc ban đầu 24,5 m/s là </a:t>
                </a:r>
                <a:r>
                  <a:rPr lang="vi-VN"/>
                  <a:t>h(t)=2+24{,}5t-4{,}9t^2</a:t>
                </a:r>
                <a:r>
                  <a:rPr sz="2000">
                    <a:solidFill>
                      <a:srgbClr val="1E293B"/>
                    </a:solidFill>
                    <a:latin typeface="Calibri"/>
                  </a:rPr>
                  <a:t>. a) Tìm vận tốc của vật sau 2 giây. b) Khi nào vật đạt độ cao lớn nhất và độ cao lớn nhất đó là bao nhiêu? c) Khi nào vật chạm đất và vận tốc lúc chạm đất là bao nhiêu?</a:t>
                </a:r>
              </a:p>
            </p:txBody>
          </p:sp>
        </mc:Fallback>
      </mc:AlternateContent>
      <p:sp>
        <p:nvSpPr>
          <p:cNvPr id="8" name="s1_nen"/>
          <p:cNvSpPr/>
          <p:nvPr/>
        </p:nvSpPr>
        <p:spPr>
          <a:xfrm>
            <a:off x="548640" y="3392424"/>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429000"/>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v=</m:t>
                    </m:r>
                    <m:sSup>
                      <m:e>
                        <m:r>
                          <a:rPr lang="vi-VN" sz="2000" b="0">
                            <a:solidFill>
                              <a:srgbClr val="1E293B"/>
                            </a:solidFill>
                            <a:latin typeface="Cambria Math" panose="02040503050406030204" pitchFamily="18" charset="0"/>
                          </a:rPr>
                          <m:t>h</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8t</m:t>
                    </m:r>
                  </m:oMath>
                </a14:m>
                <a:r>
                  <a:rPr sz="2000">
                    <a:solidFill>
                      <a:srgbClr val="1E293B"/>
                    </a:solidFill>
                    <a:latin typeface="Calibri"/>
                  </a:rPr>
                  <a:t> (m/s); </a:t>
                </a:r>
                <a14:m>
                  <m:oMath xmlns:m="http://schemas.openxmlformats.org/officeDocument/2006/math">
                    <m:r>
                      <a:rPr lang="vi-VN" sz="2000" b="0">
                        <a:solidFill>
                          <a:srgbClr val="1E293B"/>
                        </a:solidFill>
                        <a:latin typeface="Cambria Math" panose="02040503050406030204" pitchFamily="18" charset="0"/>
                      </a:rPr>
                      <m:t>v(2)=24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m:t>
                    </m:r>
                  </m:oMath>
                </a14:m>
                <a:r>
                  <a:rPr sz="2000">
                    <a:solidFill>
                      <a:srgbClr val="1E293B"/>
                    </a:solidFill>
                    <a:latin typeface="Calibri"/>
                  </a:rPr>
                  <a:t> (m/s).</a:t>
                </a:r>
              </a:p>
            </p:txBody>
          </p:sp>
        </mc:Choice>
        <mc:Fallback>
          <p:sp>
            <p:nvSpPr>
              <p:cNvPr id="9" name="TextBox 8"/>
              <p:cNvSpPr txBox="1"/>
              <p:nvPr/>
            </p:nvSpPr>
            <p:spPr>
              <a:xfrm>
                <a:off x="713232" y="3429000"/>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v=h'(t)=24{,}5-9{,}8t</a:t>
                </a:r>
                <a:r>
                  <a:rPr sz="2000">
                    <a:solidFill>
                      <a:srgbClr val="1E293B"/>
                    </a:solidFill>
                    <a:latin typeface="Calibri"/>
                  </a:rPr>
                  <a:t> (m/s); </a:t>
                </a:r>
                <a:r>
                  <a:rPr lang="vi-VN"/>
                  <a:t>v(2)=24{,}5-9{,}8\cdot 2=4{,}9</a:t>
                </a:r>
                <a:r>
                  <a:rPr sz="2000">
                    <a:solidFill>
                      <a:srgbClr val="1E293B"/>
                    </a:solidFill>
                    <a:latin typeface="Calibri"/>
                  </a:rPr>
                  <a:t> (m/s).</a:t>
                </a:r>
              </a:p>
            </p:txBody>
          </p:sp>
        </mc:Fallback>
      </mc:AlternateContent>
      <p:sp>
        <p:nvSpPr>
          <p:cNvPr id="10" name="s2_nen"/>
          <p:cNvSpPr/>
          <p:nvPr/>
        </p:nvSpPr>
        <p:spPr>
          <a:xfrm>
            <a:off x="548640" y="4331208"/>
            <a:ext cx="78638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367784"/>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r>
                      <a:rPr lang="vi-VN" sz="2000" b="0">
                        <a:solidFill>
                          <a:srgbClr val="1E293B"/>
                        </a:solidFill>
                        <a:latin typeface="Cambria Math" panose="02040503050406030204" pitchFamily="18" charset="0"/>
                      </a:rPr>
                      <m:t>h(t)</m:t>
                    </m:r>
                  </m:oMath>
                </a14:m>
                <a:r>
                  <a:rPr sz="2000">
                    <a:solidFill>
                      <a:srgbClr val="1E293B"/>
                    </a:solidFill>
                    <a:latin typeface="Calibri"/>
                  </a:rPr>
                  <a:t> là hàm bậc hai có </a:t>
                </a:r>
                <a14:m>
                  <m:oMath xmlns:m="http://schemas.openxmlformats.org/officeDocument/2006/math">
                    <m:r>
                      <a:rPr lang="vi-VN" sz="2000" b="0">
                        <a:solidFill>
                          <a:srgbClr val="1E293B"/>
                        </a:solidFill>
                        <a:latin typeface="Cambria Math" panose="02040503050406030204" pitchFamily="18" charset="0"/>
                      </a:rPr>
                      <m:t>a=−4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9&lt;0</m:t>
                    </m:r>
                  </m:oMath>
                </a14:m>
                <a:r>
                  <a:rPr sz="2000">
                    <a:solidFill>
                      <a:srgbClr val="1E293B"/>
                    </a:solidFill>
                    <a:latin typeface="Calibri"/>
                  </a:rPr>
                  <a:t> nên đạt lớn nhất tại </a:t>
                </a:r>
                <a14:m>
                  <m:oMath xmlns:m="http://schemas.openxmlformats.org/officeDocument/2006/math">
                    <m:r>
                      <a:rPr lang="vi-VN" sz="2000" b="0">
                        <a:solidFill>
                          <a:srgbClr val="1E293B"/>
                        </a:solidFill>
                        <a:latin typeface="Cambria Math" panose="02040503050406030204" pitchFamily="18" charset="0"/>
                      </a:rPr>
                      <m:t>t=−</m:t>
                    </m:r>
                    <m:f>
                      <m:fPr>
                        <m:type m:val="bar"/>
                      </m:fPr>
                      <m:num>
                        <m:r>
                          <a:rPr lang="vi-VN" sz="2000" b="0">
                            <a:solidFill>
                              <a:srgbClr val="1E293B"/>
                            </a:solidFill>
                            <a:latin typeface="Cambria Math" panose="02040503050406030204" pitchFamily="18" charset="0"/>
                          </a:rPr>
                          <m:t>b</m:t>
                        </m:r>
                      </m:num>
                      <m:den>
                        <m:r>
                          <a:rPr lang="vi-VN" sz="2000" b="0">
                            <a:solidFill>
                              <a:srgbClr val="1E293B"/>
                            </a:solidFill>
                            <a:latin typeface="Cambria Math" panose="02040503050406030204" pitchFamily="18" charset="0"/>
                          </a:rPr>
                          <m:t>2a</m:t>
                        </m:r>
                      </m:den>
                    </m:f>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(giây); </a:t>
                </a:r>
                <a14:m>
                  <m:oMath xmlns:m="http://schemas.openxmlformats.org/officeDocument/2006/math">
                    <m:r>
                      <a:rPr lang="vi-VN" sz="2000" b="0">
                        <a:solidFill>
                          <a:srgbClr val="1E293B"/>
                        </a:solidFill>
                        <a:latin typeface="Cambria Math" panose="02040503050406030204" pitchFamily="18" charset="0"/>
                      </a:rPr>
                      <m:t>h(2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5)=32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625</m:t>
                    </m:r>
                  </m:oMath>
                </a14:m>
                <a:r>
                  <a:rPr sz="2000">
                    <a:solidFill>
                      <a:srgbClr val="1E293B"/>
                    </a:solidFill>
                    <a:latin typeface="Calibri"/>
                  </a:rPr>
                  <a:t> (m).</a:t>
                </a:r>
              </a:p>
            </p:txBody>
          </p:sp>
        </mc:Choice>
        <mc:Fallback>
          <p:sp>
            <p:nvSpPr>
              <p:cNvPr id="11" name="TextBox 10"/>
              <p:cNvSpPr txBox="1"/>
              <p:nvPr/>
            </p:nvSpPr>
            <p:spPr>
              <a:xfrm>
                <a:off x="713232" y="4367784"/>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h(t)</a:t>
                </a:r>
                <a:r>
                  <a:rPr sz="2000">
                    <a:solidFill>
                      <a:srgbClr val="1E293B"/>
                    </a:solidFill>
                    <a:latin typeface="Calibri"/>
                  </a:rPr>
                  <a:t> là hàm bậc hai có </a:t>
                </a:r>
                <a:r>
                  <a:rPr lang="vi-VN"/>
                  <a:t>a=-4{,}9&lt;0</a:t>
                </a:r>
                <a:r>
                  <a:rPr sz="2000">
                    <a:solidFill>
                      <a:srgbClr val="1E293B"/>
                    </a:solidFill>
                    <a:latin typeface="Calibri"/>
                  </a:rPr>
                  <a:t> nên đạt lớn nhất tại </a:t>
                </a:r>
                <a:r>
                  <a:rPr lang="vi-VN"/>
                  <a:t>t=-\frac{b}{2a}=2{,}5</a:t>
                </a:r>
                <a:r>
                  <a:rPr sz="2000">
                    <a:solidFill>
                      <a:srgbClr val="1E293B"/>
                    </a:solidFill>
                    <a:latin typeface="Calibri"/>
                  </a:rPr>
                  <a:t> (giây); </a:t>
                </a:r>
                <a:r>
                  <a:rPr lang="vi-VN"/>
                  <a:t>h(2{,}5)=32{,}625</a:t>
                </a:r>
                <a:r>
                  <a:rPr sz="2000">
                    <a:solidFill>
                      <a:srgbClr val="1E293B"/>
                    </a:solidFill>
                    <a:latin typeface="Calibri"/>
                  </a:rPr>
                  <a:t> (m).</a:t>
                </a:r>
              </a:p>
            </p:txBody>
          </p:sp>
        </mc:Fallback>
      </mc:AlternateContent>
      <p:sp>
        <p:nvSpPr>
          <p:cNvPr id="12" name="s3_nen"/>
          <p:cNvSpPr/>
          <p:nvPr/>
        </p:nvSpPr>
        <p:spPr>
          <a:xfrm>
            <a:off x="548640" y="5407152"/>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443728"/>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14:m>
                  <m:oMath xmlns:m="http://schemas.openxmlformats.org/officeDocument/2006/math">
                    <m:r>
                      <a:rPr lang="vi-VN" sz="2000" b="0">
                        <a:solidFill>
                          <a:srgbClr val="1E293B"/>
                        </a:solidFill>
                        <a:latin typeface="Cambria Math" panose="02040503050406030204" pitchFamily="18" charset="0"/>
                      </a:rPr>
                      <m:t>h=0⇔t≈5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08</m:t>
                    </m:r>
                  </m:oMath>
                </a14:m>
                <a:r>
                  <a:rPr sz="2000">
                    <a:solidFill>
                      <a:srgbClr val="1E293B"/>
                    </a:solidFill>
                    <a:latin typeface="Calibri"/>
                  </a:rPr>
                  <a:t> (giây); </a:t>
                </a:r>
                <a14:m>
                  <m:oMath xmlns:m="http://schemas.openxmlformats.org/officeDocument/2006/math">
                    <m:r>
                      <a:rPr lang="vi-VN" sz="2000" b="0">
                        <a:solidFill>
                          <a:srgbClr val="1E293B"/>
                        </a:solidFill>
                        <a:latin typeface="Cambria Math" panose="02040503050406030204" pitchFamily="18" charset="0"/>
                      </a:rPr>
                      <m:t>v(5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08)=24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08=−25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284</m:t>
                    </m:r>
                  </m:oMath>
                </a14:m>
                <a:r>
                  <a:rPr sz="2000">
                    <a:solidFill>
                      <a:srgbClr val="1E293B"/>
                    </a:solidFill>
                    <a:latin typeface="Calibri"/>
                  </a:rPr>
                  <a:t> (m/s) – vật chuyển động ngược chiều dương.</a:t>
                </a:r>
              </a:p>
            </p:txBody>
          </p:sp>
        </mc:Choice>
        <mc:Fallback>
          <p:sp>
            <p:nvSpPr>
              <p:cNvPr id="13" name="TextBox 12"/>
              <p:cNvSpPr txBox="1"/>
              <p:nvPr/>
            </p:nvSpPr>
            <p:spPr>
              <a:xfrm>
                <a:off x="713232" y="5443728"/>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h=0\Leftrightarrow t\approx 5{,}08</a:t>
                </a:r>
                <a:r>
                  <a:rPr sz="2000">
                    <a:solidFill>
                      <a:srgbClr val="1E293B"/>
                    </a:solidFill>
                    <a:latin typeface="Calibri"/>
                  </a:rPr>
                  <a:t> (giây); </a:t>
                </a:r>
                <a:r>
                  <a:rPr lang="vi-VN"/>
                  <a:t>v(5{,}08)=24{,}5-9{,}8\cdot 5{,}08=-25{,}284</a:t>
                </a:r>
                <a:r>
                  <a:rPr sz="2000">
                    <a:solidFill>
                      <a:srgbClr val="1E293B"/>
                    </a:solidFill>
                    <a:latin typeface="Calibri"/>
                  </a:rPr>
                  <a:t> (m/s) – vật chuyển động ngược chiều dương.</a:t>
                </a:r>
              </a:p>
            </p:txBody>
          </p:sp>
        </mc:Fallback>
      </mc:AlternateContent>
      <p:pic>
        <p:nvPicPr>
          <p:cNvPr id="14" name="Picture 13" descr="b1_bong.png"/>
          <p:cNvPicPr>
            <a:picLocks noChangeAspect="1"/>
          </p:cNvPicPr>
          <p:nvPr/>
        </p:nvPicPr>
        <p:blipFill>
          <a:blip r:embed="rId3"/>
          <a:stretch>
            <a:fillRect/>
          </a:stretch>
        </p:blipFill>
        <p:spPr>
          <a:xfrm>
            <a:off x="8595360" y="1831406"/>
            <a:ext cx="3108960" cy="25551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(SGK TR.34 – 35)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27787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Số lượng quần thể nấm men được mô hình hoá bằng </a:t>
                </a:r>
                <a14:m>
                  <m:oMath xmlns:m="http://schemas.openxmlformats.org/officeDocument/2006/math">
                    <m:r>
                      <a:rPr lang="vi-VN" sz="2100" b="0">
                        <a:solidFill>
                          <a:srgbClr val="1E293B"/>
                        </a:solidFill>
                        <a:latin typeface="Cambria Math" panose="02040503050406030204" pitchFamily="18" charset="0"/>
                      </a:rPr>
                      <m:t>P(t)=</m:t>
                    </m:r>
                    <m:f>
                      <m:fPr>
                        <m:type m:val="bar"/>
                      </m:fPr>
                      <m:num>
                        <m:r>
                          <a:rPr lang="vi-VN" sz="2100" b="0">
                            <a:solidFill>
                              <a:srgbClr val="1E293B"/>
                            </a:solidFill>
                            <a:latin typeface="Cambria Math" panose="02040503050406030204" pitchFamily="18" charset="0"/>
                          </a:rPr>
                          <m:t>a</m:t>
                        </m:r>
                      </m:num>
                      <m:den>
                        <m:r>
                          <a:rPr lang="vi-VN" sz="2100" b="0">
                            <a:solidFill>
                              <a:srgbClr val="1E293B"/>
                            </a:solidFill>
                            <a:latin typeface="Cambria Math" panose="02040503050406030204" pitchFamily="18" charset="0"/>
                          </a:rPr>
                          <m:t>b+</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den>
                    </m:f>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t</m:t>
                    </m:r>
                  </m:oMath>
                </a14:m>
                <a:r>
                  <a:rPr sz="2100">
                    <a:solidFill>
                      <a:srgbClr val="1E293B"/>
                    </a:solidFill>
                    <a:latin typeface="Calibri"/>
                  </a:rPr>
                  <a:t>: giờ). Tại </a:t>
                </a:r>
                <a14:m>
                  <m:oMath xmlns:m="http://schemas.openxmlformats.org/officeDocument/2006/math">
                    <m:r>
                      <a:rPr lang="vi-VN" sz="2100" b="0">
                        <a:solidFill>
                          <a:srgbClr val="1E293B"/>
                        </a:solidFill>
                        <a:latin typeface="Cambria Math" panose="02040503050406030204" pitchFamily="18" charset="0"/>
                      </a:rPr>
                      <m:t>t=0</m:t>
                    </m:r>
                  </m:oMath>
                </a14:m>
                <a:r>
                  <a:rPr sz="2100">
                    <a:solidFill>
                      <a:srgbClr val="1E293B"/>
                    </a:solidFill>
                    <a:latin typeface="Calibri"/>
                  </a:rPr>
                  <a:t>, quần thể có 20 tế bào và tăng với tốc độ 12 tế bào/giờ. Tìm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b</m:t>
                    </m:r>
                  </m:oMath>
                </a14:m>
                <a:r>
                  <a:rPr sz="2100">
                    <a:solidFill>
                      <a:srgbClr val="1E293B"/>
                    </a:solidFill>
                    <a:latin typeface="Calibri"/>
                  </a:rPr>
                  <a:t>. Theo mô hình này, điều gì xảy ra với quần thể nấm men về lâu dài?</a:t>
                </a:r>
              </a:p>
            </p:txBody>
          </p:sp>
        </mc:Choice>
        <mc:Fallback>
          <p:sp>
            <p:nvSpPr>
              <p:cNvPr id="7" name="TextBox 6"/>
              <p:cNvSpPr txBox="1"/>
              <p:nvPr/>
            </p:nvSpPr>
            <p:spPr>
              <a:xfrm>
                <a:off x="548640" y="1371600"/>
                <a:ext cx="11064240" cy="127787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Số lượng quần thể nấm men được mô hình hoá bằng </a:t>
                </a:r>
                <a:r>
                  <a:rPr lang="vi-VN"/>
                  <a:t>P(t)=\frac{a}{b+e^{-0{,}75t}}</a:t>
                </a:r>
                <a:r>
                  <a:rPr sz="2100">
                    <a:solidFill>
                      <a:srgbClr val="1E293B"/>
                    </a:solidFill>
                    <a:latin typeface="Calibri"/>
                  </a:rPr>
                  <a:t> (</a:t>
                </a:r>
                <a:r>
                  <a:rPr lang="vi-VN"/>
                  <a:t>t</a:t>
                </a:r>
                <a:r>
                  <a:rPr sz="2100">
                    <a:solidFill>
                      <a:srgbClr val="1E293B"/>
                    </a:solidFill>
                    <a:latin typeface="Calibri"/>
                  </a:rPr>
                  <a:t>: giờ). Tại </a:t>
                </a:r>
                <a:r>
                  <a:rPr lang="vi-VN"/>
                  <a:t>t=0</a:t>
                </a:r>
                <a:r>
                  <a:rPr sz="2100">
                    <a:solidFill>
                      <a:srgbClr val="1E293B"/>
                    </a:solidFill>
                    <a:latin typeface="Calibri"/>
                  </a:rPr>
                  <a:t>, quần thể có 20 tế bào và tăng với tốc độ 12 tế bào/giờ. Tìm </a:t>
                </a:r>
                <a:r>
                  <a:rPr lang="vi-VN"/>
                  <a:t>a</a:t>
                </a:r>
                <a:r>
                  <a:rPr sz="2100">
                    <a:solidFill>
                      <a:srgbClr val="1E293B"/>
                    </a:solidFill>
                    <a:latin typeface="Calibri"/>
                  </a:rPr>
                  <a:t> và </a:t>
                </a:r>
                <a:r>
                  <a:rPr lang="vi-VN"/>
                  <a:t>b</a:t>
                </a:r>
                <a:r>
                  <a:rPr sz="2100">
                    <a:solidFill>
                      <a:srgbClr val="1E293B"/>
                    </a:solidFill>
                    <a:latin typeface="Calibri"/>
                  </a:rPr>
                  <a:t>. Theo mô hình này, điều gì xảy ra với quần thể nấm men về lâu dài?</a:t>
                </a:r>
              </a:p>
            </p:txBody>
          </p:sp>
        </mc:Fallback>
      </mc:AlternateContent>
      <p:sp>
        <p:nvSpPr>
          <p:cNvPr id="8" name="s1_nen"/>
          <p:cNvSpPr/>
          <p:nvPr/>
        </p:nvSpPr>
        <p:spPr>
          <a:xfrm>
            <a:off x="548640" y="2759202"/>
            <a:ext cx="11064240" cy="133731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95778"/>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P</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m:t>
                    </m:r>
                    <m:f>
                      <m:fPr>
                        <m:type m:val="bar"/>
                      </m:fPr>
                      <m:num>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75a</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num>
                      <m:den>
                        <m:sSup>
                          <m:e>
                            <m:d>
                              <m:dPr>
                                <m:sepChr m:val=""/>
                              </m:dPr>
                              <m:e>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e>
                            </m:d>
                          </m:e>
                          <m:sup>
                            <m:r>
                              <a:rPr lang="vi-VN" sz="2100" b="0">
                                <a:solidFill>
                                  <a:srgbClr val="1E293B"/>
                                </a:solidFill>
                                <a:latin typeface="Cambria Math" panose="02040503050406030204" pitchFamily="18" charset="0"/>
                              </a:rPr>
                              <m:t>2</m:t>
                            </m:r>
                          </m:sup>
                        </m:sSup>
                      </m:den>
                    </m:f>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P(0)=20</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P</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(0)=12</m:t>
                    </m:r>
                  </m:oMath>
                </a14:m>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a</m:t>
                        </m:r>
                      </m:num>
                      <m:den>
                        <m:r>
                          <a:rPr lang="vi-VN" sz="2100" b="0">
                            <a:solidFill>
                              <a:srgbClr val="1E293B"/>
                            </a:solidFill>
                            <a:latin typeface="Cambria Math" panose="02040503050406030204" pitchFamily="18" charset="0"/>
                          </a:rPr>
                          <m:t>b+1</m:t>
                        </m:r>
                      </m:den>
                    </m:f>
                    <m:r>
                      <a:rPr lang="vi-VN" sz="2100" b="0">
                        <a:solidFill>
                          <a:srgbClr val="1E293B"/>
                        </a:solidFill>
                        <a:latin typeface="Cambria Math" panose="02040503050406030204" pitchFamily="18" charset="0"/>
                      </a:rPr>
                      <m:t>=20</m:t>
                    </m:r>
                  </m:oMath>
                </a14:m>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75a</m:t>
                        </m:r>
                      </m:num>
                      <m:den>
                        <m:sSup>
                          <m:e>
                            <m:d>
                              <m:dPr>
                                <m:sepChr m:val=""/>
                              </m:dPr>
                              <m:e>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=12</m:t>
                    </m:r>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a=25</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b=</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a:t>
                </a:r>
              </a:p>
            </p:txBody>
          </p:sp>
        </mc:Choice>
        <mc:Fallback>
          <p:sp>
            <p:nvSpPr>
              <p:cNvPr id="9" name="TextBox 8"/>
              <p:cNvSpPr txBox="1"/>
              <p:nvPr/>
            </p:nvSpPr>
            <p:spPr>
              <a:xfrm>
                <a:off x="713232" y="2795778"/>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P'(t)=\frac{0{,}75ae^{-0{,}75t}}{(b+e^{-0{,}75t})^2}</a:t>
                </a:r>
                <a:r>
                  <a:rPr sz="2100">
                    <a:solidFill>
                      <a:srgbClr val="1E293B"/>
                    </a:solidFill>
                    <a:latin typeface="Calibri"/>
                  </a:rPr>
                  <a:t>. </a:t>
                </a:r>
                <a:r>
                  <a:rPr lang="vi-VN"/>
                  <a:t>P(0)=20</a:t>
                </a:r>
                <a:r>
                  <a:rPr sz="2100">
                    <a:solidFill>
                      <a:srgbClr val="1E293B"/>
                    </a:solidFill>
                    <a:latin typeface="Calibri"/>
                  </a:rPr>
                  <a:t>, </a:t>
                </a:r>
                <a:r>
                  <a:rPr lang="vi-VN"/>
                  <a:t>P'(0)=12</a:t>
                </a:r>
                <a:r>
                  <a:rPr sz="2100">
                    <a:solidFill>
                      <a:srgbClr val="1E293B"/>
                    </a:solidFill>
                    <a:latin typeface="Calibri"/>
                  </a:rPr>
                  <a:t>: </a:t>
                </a:r>
                <a:r>
                  <a:rPr lang="vi-VN"/>
                  <a:t>\frac{a}{b+1}=20</a:t>
                </a:r>
                <a:r>
                  <a:rPr sz="2100">
                    <a:solidFill>
                      <a:srgbClr val="1E293B"/>
                    </a:solidFill>
                    <a:latin typeface="Calibri"/>
                  </a:rPr>
                  <a:t>, </a:t>
                </a:r>
                <a:r>
                  <a:rPr lang="vi-VN"/>
                  <a:t>\frac{0{,}75a}{(b+1)^2}=12</a:t>
                </a:r>
                <a:r>
                  <a:rPr sz="2100">
                    <a:solidFill>
                      <a:srgbClr val="1E293B"/>
                    </a:solidFill>
                    <a:latin typeface="Calibri"/>
                  </a:rPr>
                  <a:t> ⇒ </a:t>
                </a:r>
                <a:r>
                  <a:rPr lang="vi-VN"/>
                  <a:t>a=25</a:t>
                </a:r>
                <a:r>
                  <a:rPr sz="2100">
                    <a:solidFill>
                      <a:srgbClr val="1E293B"/>
                    </a:solidFill>
                    <a:latin typeface="Calibri"/>
                  </a:rPr>
                  <a:t>, </a:t>
                </a:r>
                <a:r>
                  <a:rPr lang="vi-VN"/>
                  <a:t>b=\frac{1}{4}</a:t>
                </a:r>
                <a:r>
                  <a:rPr sz="2100">
                    <a:solidFill>
                      <a:srgbClr val="1E293B"/>
                    </a:solidFill>
                    <a:latin typeface="Calibri"/>
                  </a:rPr>
                  <a:t>.</a:t>
                </a:r>
              </a:p>
            </p:txBody>
          </p:sp>
        </mc:Fallback>
      </mc:AlternateContent>
      <p:sp>
        <p:nvSpPr>
          <p:cNvPr id="10" name="s2_nen"/>
          <p:cNvSpPr/>
          <p:nvPr/>
        </p:nvSpPr>
        <p:spPr>
          <a:xfrm>
            <a:off x="548640" y="4206240"/>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242816"/>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P</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m:t>
                    </m:r>
                    <m:f>
                      <m:fPr>
                        <m:type m:val="bar"/>
                      </m:fPr>
                      <m:num>
                        <m:r>
                          <a:rPr lang="vi-VN" sz="2100" b="0">
                            <a:solidFill>
                              <a:srgbClr val="1E293B"/>
                            </a:solidFill>
                            <a:latin typeface="Cambria Math" panose="02040503050406030204" pitchFamily="18" charset="0"/>
                          </a:rPr>
                          <m:t>18</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num>
                      <m:den>
                        <m:sSup>
                          <m:e>
                            <m:d>
                              <m:dPr>
                                <m:sepChr m:val="+"/>
                              </m:dPr>
                              <m:e>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4</m:t>
                                    </m:r>
                                  </m:den>
                                </m:f>
                              </m:e>
                              <m:e>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&gt;0</m:t>
                    </m:r>
                  </m:oMath>
                </a14:m>
                <a:r>
                  <a:rPr sz="2100">
                    <a:solidFill>
                      <a:srgbClr val="1E293B"/>
                    </a:solidFill>
                    <a:latin typeface="Calibri"/>
                  </a:rPr>
                  <a:t>: số lượng quần thể luôn tăng.</a:t>
                </a:r>
              </a:p>
            </p:txBody>
          </p:sp>
        </mc:Choice>
        <mc:Fallback>
          <p:sp>
            <p:nvSpPr>
              <p:cNvPr id="11" name="TextBox 10"/>
              <p:cNvSpPr txBox="1"/>
              <p:nvPr/>
            </p:nvSpPr>
            <p:spPr>
              <a:xfrm>
                <a:off x="713232" y="4242816"/>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P'(t)=\frac{18{,}75e^{-0{,}75t}}{\left(\frac{1}{4}+e^{-0{,}75t}\right)^2}&gt;0</a:t>
                </a:r>
                <a:r>
                  <a:rPr sz="2100">
                    <a:solidFill>
                      <a:srgbClr val="1E293B"/>
                    </a:solidFill>
                    <a:latin typeface="Calibri"/>
                  </a:rPr>
                  <a:t>: số lượng quần thể luôn tăng.</a:t>
                </a:r>
              </a:p>
            </p:txBody>
          </p:sp>
        </mc:Fallback>
      </mc:AlternateContent>
      <p:sp>
        <p:nvSpPr>
          <p:cNvPr id="12" name="s3_nen"/>
          <p:cNvSpPr/>
          <p:nvPr/>
        </p:nvSpPr>
        <p:spPr>
          <a:xfrm>
            <a:off x="548640" y="5189220"/>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225796"/>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limLow>
                      <m:e>
                        <m:r>
                          <a:rPr lang="vi-VN" sz="2100" b="0">
                            <a:solidFill>
                              <a:srgbClr val="1E293B"/>
                            </a:solidFill>
                            <a:latin typeface="Cambria Math" panose="02040503050406030204" pitchFamily="18" charset="0"/>
                          </a:rPr>
                          <m:t>lim</m:t>
                        </m:r>
                      </m:e>
                      <m:lim>
                        <m:r>
                          <a:rPr lang="vi-VN" sz="2100" b="0">
                            <a:solidFill>
                              <a:srgbClr val="1E293B"/>
                            </a:solidFill>
                            <a:latin typeface="Cambria Math" panose="02040503050406030204" pitchFamily="18" charset="0"/>
                          </a:rPr>
                          <m:t>t→+∞</m:t>
                        </m:r>
                      </m:lim>
                    </m:limLow>
                    <m:r>
                      <a:rPr lang="vi-VN" sz="2100" b="0">
                        <a:solidFill>
                          <a:srgbClr val="1E293B"/>
                        </a:solidFill>
                        <a:latin typeface="Cambria Math" panose="02040503050406030204" pitchFamily="18" charset="0"/>
                      </a:rPr>
                      <m:t>P(t)=</m:t>
                    </m:r>
                    <m:limLow>
                      <m:e>
                        <m:r>
                          <a:rPr lang="vi-VN" sz="2100" b="0">
                            <a:solidFill>
                              <a:srgbClr val="1E293B"/>
                            </a:solidFill>
                            <a:latin typeface="Cambria Math" panose="02040503050406030204" pitchFamily="18" charset="0"/>
                          </a:rPr>
                          <m:t>lim</m:t>
                        </m:r>
                      </m:e>
                      <m:lim>
                        <m:r>
                          <a:rPr lang="vi-VN" sz="2100" b="0">
                            <a:solidFill>
                              <a:srgbClr val="1E293B"/>
                            </a:solidFill>
                            <a:latin typeface="Cambria Math" panose="02040503050406030204" pitchFamily="18" charset="0"/>
                          </a:rPr>
                          <m:t>t→+∞</m:t>
                        </m:r>
                      </m:lim>
                    </m:limLow>
                    <m:f>
                      <m:fPr>
                        <m:type m:val="bar"/>
                      </m:fPr>
                      <m:num>
                        <m:r>
                          <a:rPr lang="vi-VN" sz="2100" b="0">
                            <a:solidFill>
                              <a:srgbClr val="1E293B"/>
                            </a:solidFill>
                            <a:latin typeface="Cambria Math" panose="02040503050406030204" pitchFamily="18" charset="0"/>
                          </a:rPr>
                          <m:t>25</m:t>
                        </m:r>
                      </m:num>
                      <m:den>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den>
                    </m:f>
                    <m:r>
                      <a:rPr lang="vi-VN" sz="2100" b="0">
                        <a:solidFill>
                          <a:srgbClr val="1E293B"/>
                        </a:solidFill>
                        <a:latin typeface="Cambria Math" panose="02040503050406030204" pitchFamily="18" charset="0"/>
                      </a:rPr>
                      <m:t>=100</m:t>
                    </m:r>
                  </m:oMath>
                </a14:m>
                <a:r>
                  <a:rPr sz="2100">
                    <a:solidFill>
                      <a:srgbClr val="1E293B"/>
                    </a:solidFill>
                    <a:latin typeface="Calibri"/>
                  </a:rPr>
                  <a:t>: quần thể tăng nhưng không vượt quá 100 tế bào.</a:t>
                </a:r>
              </a:p>
            </p:txBody>
          </p:sp>
        </mc:Choice>
        <mc:Fallback>
          <p:sp>
            <p:nvSpPr>
              <p:cNvPr id="13" name="TextBox 12"/>
              <p:cNvSpPr txBox="1"/>
              <p:nvPr/>
            </p:nvSpPr>
            <p:spPr>
              <a:xfrm>
                <a:off x="713232" y="5225796"/>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\lim\limits_{t\to+\infty}P(t)=\lim\limits_{t\to+\infty}\frac{25}{\frac{1}{4}+e^{-0{,}75t}}=100</a:t>
                </a:r>
                <a:r>
                  <a:rPr sz="2100">
                    <a:solidFill>
                      <a:srgbClr val="1E293B"/>
                    </a:solidFill>
                    <a:latin typeface="Calibri"/>
                  </a:rPr>
                  <a:t>: quần thể tăng nhưng không vượt quá 100 tế bào.</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CHI PHÍ BIÊN (SGK TR.35)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51485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Chi phí </a:t>
                </a:r>
                <a14:m>
                  <m:oMath xmlns:m="http://schemas.openxmlformats.org/officeDocument/2006/math">
                    <m:r>
                      <a:rPr lang="vi-VN" sz="2200" b="0">
                        <a:solidFill>
                          <a:srgbClr val="1E293B"/>
                        </a:solidFill>
                        <a:latin typeface="Cambria Math" panose="02040503050406030204" pitchFamily="18" charset="0"/>
                      </a:rPr>
                      <m:t>C(x)</m:t>
                    </m:r>
                  </m:oMath>
                </a14:m>
                <a:r>
                  <a:rPr sz="2200">
                    <a:solidFill>
                      <a:srgbClr val="1E293B"/>
                    </a:solidFill>
                    <a:latin typeface="Calibri"/>
                  </a:rPr>
                  <a:t> (nghìn đồng) để sản xuất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đơn vị hàng hoá là </a:t>
                </a:r>
                <a14:m>
                  <m:oMath xmlns:m="http://schemas.openxmlformats.org/officeDocument/2006/math">
                    <m:r>
                      <a:rPr lang="vi-VN" sz="2200" b="0">
                        <a:solidFill>
                          <a:srgbClr val="1E293B"/>
                        </a:solidFill>
                        <a:latin typeface="Cambria Math" panose="02040503050406030204" pitchFamily="18" charset="0"/>
                      </a:rPr>
                      <m:t>C(x)=30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000+300x−2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125</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oMath>
                </a14:m>
                <a:r>
                  <a:rPr sz="2200">
                    <a:solidFill>
                      <a:srgbClr val="1E293B"/>
                    </a:solidFill>
                    <a:latin typeface="Calibri"/>
                  </a:rPr>
                  <a:t>. a) Tìm hàm chi phí biên. b) Tìm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(200)</m:t>
                    </m:r>
                  </m:oMath>
                </a14:m>
                <a:r>
                  <a:rPr sz="2200">
                    <a:solidFill>
                      <a:srgbClr val="1E293B"/>
                    </a:solidFill>
                    <a:latin typeface="Calibri"/>
                  </a:rPr>
                  <a:t> và giải thích ý nghĩa. c) So sánh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(200)</m:t>
                    </m:r>
                  </m:oMath>
                </a14:m>
                <a:r>
                  <a:rPr sz="2200">
                    <a:solidFill>
                      <a:srgbClr val="1E293B"/>
                    </a:solidFill>
                    <a:latin typeface="Calibri"/>
                  </a:rPr>
                  <a:t> với chi phí sản xuất đơn vị hàng hoá thứ 201.</a:t>
                </a:r>
              </a:p>
            </p:txBody>
          </p:sp>
        </mc:Choice>
        <mc:Fallback>
          <p:sp>
            <p:nvSpPr>
              <p:cNvPr id="7" name="TextBox 6"/>
              <p:cNvSpPr txBox="1"/>
              <p:nvPr/>
            </p:nvSpPr>
            <p:spPr>
              <a:xfrm>
                <a:off x="548640" y="1371600"/>
                <a:ext cx="11064240" cy="151485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Chi phí </a:t>
                </a:r>
                <a:r>
                  <a:rPr lang="vi-VN"/>
                  <a:t>C(x)</a:t>
                </a:r>
                <a:r>
                  <a:rPr sz="2200">
                    <a:solidFill>
                      <a:srgbClr val="1E293B"/>
                    </a:solidFill>
                    <a:latin typeface="Calibri"/>
                  </a:rPr>
                  <a:t> (nghìn đồng) để sản xuất </a:t>
                </a:r>
                <a:r>
                  <a:rPr lang="vi-VN"/>
                  <a:t>x</a:t>
                </a:r>
                <a:r>
                  <a:rPr sz="2200">
                    <a:solidFill>
                      <a:srgbClr val="1E293B"/>
                    </a:solidFill>
                    <a:latin typeface="Calibri"/>
                  </a:rPr>
                  <a:t> đơn vị hàng hoá là </a:t>
                </a:r>
                <a:r>
                  <a:rPr lang="vi-VN"/>
                  <a:t>C(x)=30\ 000+300x-2{,}5x^2+0{,}125x^3</a:t>
                </a:r>
                <a:r>
                  <a:rPr sz="2200">
                    <a:solidFill>
                      <a:srgbClr val="1E293B"/>
                    </a:solidFill>
                    <a:latin typeface="Calibri"/>
                  </a:rPr>
                  <a:t>. a) Tìm hàm chi phí biên. b) Tìm </a:t>
                </a:r>
                <a:r>
                  <a:rPr lang="vi-VN"/>
                  <a:t>C'(200)</a:t>
                </a:r>
                <a:r>
                  <a:rPr sz="2200">
                    <a:solidFill>
                      <a:srgbClr val="1E293B"/>
                    </a:solidFill>
                    <a:latin typeface="Calibri"/>
                  </a:rPr>
                  <a:t> và giải thích ý nghĩa. c) So sánh </a:t>
                </a:r>
                <a:r>
                  <a:rPr lang="vi-VN"/>
                  <a:t>C'(200)</a:t>
                </a:r>
                <a:r>
                  <a:rPr sz="2200">
                    <a:solidFill>
                      <a:srgbClr val="1E293B"/>
                    </a:solidFill>
                    <a:latin typeface="Calibri"/>
                  </a:rPr>
                  <a:t> với chi phí sản xuất đơn vị hàng hoá thứ 201.</a:t>
                </a:r>
              </a:p>
            </p:txBody>
          </p:sp>
        </mc:Fallback>
      </mc:AlternateContent>
      <p:sp>
        <p:nvSpPr>
          <p:cNvPr id="8" name="s1_nen"/>
          <p:cNvSpPr/>
          <p:nvPr/>
        </p:nvSpPr>
        <p:spPr>
          <a:xfrm>
            <a:off x="548640" y="3023616"/>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6019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(x)=300−5x+0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375</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9" name="TextBox 8"/>
              <p:cNvSpPr txBox="1"/>
              <p:nvPr/>
            </p:nvSpPr>
            <p:spPr>
              <a:xfrm>
                <a:off x="713232" y="306019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C'(x)=300-5x+0{,}375x^2</a:t>
                </a:r>
                <a:r>
                  <a:rPr sz="2200">
                    <a:solidFill>
                      <a:srgbClr val="1E293B"/>
                    </a:solidFill>
                    <a:latin typeface="Calibri"/>
                  </a:rPr>
                  <a:t>.</a:t>
                </a:r>
              </a:p>
            </p:txBody>
          </p:sp>
        </mc:Fallback>
      </mc:AlternateContent>
      <p:sp>
        <p:nvSpPr>
          <p:cNvPr id="10" name="s2_nen"/>
          <p:cNvSpPr/>
          <p:nvPr/>
        </p:nvSpPr>
        <p:spPr>
          <a:xfrm>
            <a:off x="548640" y="3761232"/>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797808"/>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(200)=300−5·200+0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375·</m:t>
                    </m:r>
                    <m:sSup>
                      <m:e>
                        <m:r>
                          <a:rPr lang="vi-VN" sz="2200" b="0">
                            <a:solidFill>
                              <a:srgbClr val="1E293B"/>
                            </a:solidFill>
                            <a:latin typeface="Cambria Math" panose="02040503050406030204" pitchFamily="18" charset="0"/>
                          </a:rPr>
                          <m:t>200</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300</m:t>
                    </m:r>
                  </m:oMath>
                </a14:m>
                <a:r>
                  <a:rPr sz="2200">
                    <a:solidFill>
                      <a:srgbClr val="1E293B"/>
                    </a:solidFill>
                    <a:latin typeface="Calibri"/>
                  </a:rPr>
                  <a:t>: chi phí sản xuất thêm đơn vị hàng hoá thứ 201 là khoảng 14 300 nghìn đồng.</a:t>
                </a:r>
              </a:p>
            </p:txBody>
          </p:sp>
        </mc:Choice>
        <mc:Fallback>
          <p:sp>
            <p:nvSpPr>
              <p:cNvPr id="11" name="TextBox 10"/>
              <p:cNvSpPr txBox="1"/>
              <p:nvPr/>
            </p:nvSpPr>
            <p:spPr>
              <a:xfrm>
                <a:off x="713232" y="3797808"/>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r>
                  <a:rPr lang="vi-VN"/>
                  <a:t>C'(200)=300-5\cdot 200+0{,}375\cdot 200^2=14\ 300</a:t>
                </a:r>
                <a:r>
                  <a:rPr sz="2200">
                    <a:solidFill>
                      <a:srgbClr val="1E293B"/>
                    </a:solidFill>
                    <a:latin typeface="Calibri"/>
                  </a:rPr>
                  <a:t>: chi phí sản xuất thêm đơn vị hàng hoá thứ 201 là khoảng 14 300 nghìn đồng.</a:t>
                </a:r>
              </a:p>
            </p:txBody>
          </p:sp>
        </mc:Fallback>
      </mc:AlternateContent>
      <p:sp>
        <p:nvSpPr>
          <p:cNvPr id="12" name="s3_nen"/>
          <p:cNvSpPr/>
          <p:nvPr/>
        </p:nvSpPr>
        <p:spPr>
          <a:xfrm>
            <a:off x="548640" y="4834128"/>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870704"/>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C(201)−C(200)=1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372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625−990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000=14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372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625</m:t>
                    </m:r>
                  </m:oMath>
                </a14:m>
                <a:r>
                  <a:rPr sz="2200">
                    <a:solidFill>
                      <a:srgbClr val="1E293B"/>
                    </a:solidFill>
                    <a:latin typeface="Calibri"/>
                  </a:rPr>
                  <a:t> (nghìn đồng) – xấp xỉ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(200)</m:t>
                    </m:r>
                  </m:oMath>
                </a14:m>
                <a:r>
                  <a:rPr sz="2200">
                    <a:solidFill>
                      <a:srgbClr val="1E293B"/>
                    </a:solidFill>
                    <a:latin typeface="Calibri"/>
                  </a:rPr>
                  <a:t>.</a:t>
                </a:r>
              </a:p>
            </p:txBody>
          </p:sp>
        </mc:Choice>
        <mc:Fallback>
          <p:sp>
            <p:nvSpPr>
              <p:cNvPr id="13" name="TextBox 12"/>
              <p:cNvSpPr txBox="1"/>
              <p:nvPr/>
            </p:nvSpPr>
            <p:spPr>
              <a:xfrm>
                <a:off x="713232" y="4870704"/>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r>
                  <a:rPr lang="vi-VN"/>
                  <a:t>C(201)-C(200)=1\ 004\ 372{,}625-990\ 000=14\ 372{,}625</a:t>
                </a:r>
                <a:r>
                  <a:rPr sz="2200">
                    <a:solidFill>
                      <a:srgbClr val="1E293B"/>
                    </a:solidFill>
                    <a:latin typeface="Calibri"/>
                  </a:rPr>
                  <a:t> (nghìn đồng) – xấp xỉ </a:t>
                </a:r>
                <a:r>
                  <a:rPr lang="vi-VN"/>
                  <a:t>C'(200)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4 – CHI PHÍ XỬ LÍ Ô NHIỄM (SGK TR.35 – 36)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8348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4.</a:t>
                </a:r>
                <a:r>
                  <a:rPr sz="2000">
                    <a:solidFill>
                      <a:srgbClr val="1E293B"/>
                    </a:solidFill>
                    <a:latin typeface="Calibri"/>
                  </a:rPr>
                  <a:t> Để loại bỏ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chất gây ô nhiễm không khí từ khí thải của một nhà máy, chi phí là </a:t>
                </a:r>
                <a14:m>
                  <m:oMath xmlns:m="http://schemas.openxmlformats.org/officeDocument/2006/math">
                    <m:r>
                      <a:rPr lang="vi-VN" sz="2000" b="0">
                        <a:solidFill>
                          <a:srgbClr val="1E293B"/>
                        </a:solidFill>
                        <a:latin typeface="Cambria Math" panose="02040503050406030204" pitchFamily="18" charset="0"/>
                      </a:rPr>
                      <m:t>C(x)=</m:t>
                    </m:r>
                    <m:f>
                      <m:fPr>
                        <m:type m:val="bar"/>
                      </m:fPr>
                      <m:num>
                        <m:r>
                          <a:rPr lang="vi-VN" sz="2000" b="0">
                            <a:solidFill>
                              <a:srgbClr val="1E293B"/>
                            </a:solidFill>
                            <a:latin typeface="Cambria Math" panose="02040503050406030204" pitchFamily="18" charset="0"/>
                          </a:rPr>
                          <m:t>300x</m:t>
                        </m:r>
                      </m:num>
                      <m:den>
                        <m:r>
                          <a:rPr lang="vi-VN" sz="2000" b="0">
                            <a:solidFill>
                              <a:srgbClr val="1E293B"/>
                            </a:solidFill>
                            <a:latin typeface="Cambria Math" panose="02040503050406030204" pitchFamily="18" charset="0"/>
                          </a:rPr>
                          <m:t>100−x</m:t>
                        </m:r>
                      </m:den>
                    </m:f>
                  </m:oMath>
                </a14:m>
                <a:r>
                  <a:rPr sz="2000">
                    <a:solidFill>
                      <a:srgbClr val="1E293B"/>
                    </a:solidFill>
                    <a:latin typeface="Calibri"/>
                  </a:rPr>
                  <a:t> (triệu đồng), </a:t>
                </a:r>
                <a14:m>
                  <m:oMath xmlns:m="http://schemas.openxmlformats.org/officeDocument/2006/math">
                    <m:r>
                      <a:rPr lang="vi-VN" sz="2000" b="0">
                        <a:solidFill>
                          <a:srgbClr val="1E293B"/>
                        </a:solidFill>
                        <a:latin typeface="Cambria Math" panose="02040503050406030204" pitchFamily="18" charset="0"/>
                      </a:rPr>
                      <m:t>0≤x&lt;100</m:t>
                    </m:r>
                  </m:oMath>
                </a14:m>
                <a:r>
                  <a:rPr sz="2000">
                    <a:solidFill>
                      <a:srgbClr val="1E293B"/>
                    </a:solidFill>
                    <a:latin typeface="Calibri"/>
                  </a:rPr>
                  <a:t>. Khảo sát và vẽ đồ thị </a:t>
                </a:r>
                <a14:m>
                  <m:oMath xmlns:m="http://schemas.openxmlformats.org/officeDocument/2006/math">
                    <m:r>
                      <a:rPr lang="vi-VN" sz="2000" b="0">
                        <a:solidFill>
                          <a:srgbClr val="1E293B"/>
                        </a:solidFill>
                        <a:latin typeface="Cambria Math" panose="02040503050406030204" pitchFamily="18" charset="0"/>
                      </a:rPr>
                      <m:t>y=C(x)</m:t>
                    </m:r>
                  </m:oMath>
                </a14:m>
                <a:r>
                  <a:rPr sz="2000">
                    <a:solidFill>
                      <a:srgbClr val="1E293B"/>
                    </a:solidFill>
                    <a:latin typeface="Calibri"/>
                  </a:rPr>
                  <a:t>. a) Chi phí thay đổi thế nào khi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tăng? b) Có thể loại bỏ được 100% chất gây ô nhiễm không? Vì sao?</a:t>
                </a:r>
              </a:p>
            </p:txBody>
          </p:sp>
        </mc:Choice>
        <mc:Fallback>
          <p:sp>
            <p:nvSpPr>
              <p:cNvPr id="7" name="TextBox 6"/>
              <p:cNvSpPr txBox="1"/>
              <p:nvPr/>
            </p:nvSpPr>
            <p:spPr>
              <a:xfrm>
                <a:off x="548640" y="1371600"/>
                <a:ext cx="7863840" cy="18348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4.</a:t>
                </a:r>
                <a:r>
                  <a:rPr sz="2000">
                    <a:solidFill>
                      <a:srgbClr val="1E293B"/>
                    </a:solidFill>
                    <a:latin typeface="Calibri"/>
                  </a:rPr>
                  <a:t> Để loại bỏ </a:t>
                </a:r>
                <a:r>
                  <a:rPr lang="vi-VN"/>
                  <a:t>x\%</a:t>
                </a:r>
                <a:r>
                  <a:rPr sz="2000">
                    <a:solidFill>
                      <a:srgbClr val="1E293B"/>
                    </a:solidFill>
                    <a:latin typeface="Calibri"/>
                  </a:rPr>
                  <a:t> chất gây ô nhiễm không khí từ khí thải của một nhà máy, chi phí là </a:t>
                </a:r>
                <a:r>
                  <a:rPr lang="vi-VN"/>
                  <a:t>C(x)=\frac{300x}{100-x}</a:t>
                </a:r>
                <a:r>
                  <a:rPr sz="2000">
                    <a:solidFill>
                      <a:srgbClr val="1E293B"/>
                    </a:solidFill>
                    <a:latin typeface="Calibri"/>
                  </a:rPr>
                  <a:t> (triệu đồng), </a:t>
                </a:r>
                <a:r>
                  <a:rPr lang="vi-VN"/>
                  <a:t>0\le x&lt;100</a:t>
                </a:r>
                <a:r>
                  <a:rPr sz="2000">
                    <a:solidFill>
                      <a:srgbClr val="1E293B"/>
                    </a:solidFill>
                    <a:latin typeface="Calibri"/>
                  </a:rPr>
                  <a:t>. Khảo sát và vẽ đồ thị </a:t>
                </a:r>
                <a:r>
                  <a:rPr lang="vi-VN"/>
                  <a:t>y=C(x)</a:t>
                </a:r>
                <a:r>
                  <a:rPr sz="2000">
                    <a:solidFill>
                      <a:srgbClr val="1E293B"/>
                    </a:solidFill>
                    <a:latin typeface="Calibri"/>
                  </a:rPr>
                  <a:t>. a) Chi phí thay đổi thế nào khi </a:t>
                </a:r>
                <a:r>
                  <a:rPr lang="vi-VN"/>
                  <a:t>x</a:t>
                </a:r>
                <a:r>
                  <a:rPr sz="2000">
                    <a:solidFill>
                      <a:srgbClr val="1E293B"/>
                    </a:solidFill>
                    <a:latin typeface="Calibri"/>
                  </a:rPr>
                  <a:t> tăng? b) Có thể loại bỏ được 100% chất gây ô nhiễm không? Vì sao?</a:t>
                </a:r>
              </a:p>
            </p:txBody>
          </p:sp>
        </mc:Fallback>
      </mc:AlternateContent>
      <p:sp>
        <p:nvSpPr>
          <p:cNvPr id="8" name="s1_nen"/>
          <p:cNvSpPr/>
          <p:nvPr/>
        </p:nvSpPr>
        <p:spPr>
          <a:xfrm>
            <a:off x="548640" y="3297936"/>
            <a:ext cx="78638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334512"/>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30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m:t>
                        </m:r>
                      </m:num>
                      <m:den>
                        <m:sSup>
                          <m:e>
                            <m:d>
                              <m:dPr>
                                <m:sepChr m:val=""/>
                              </m:dPr>
                              <m:e>
                                <m:r>
                                  <a:rPr lang="vi-VN" sz="2000" b="0">
                                    <a:solidFill>
                                      <a:srgbClr val="1E293B"/>
                                    </a:solidFill>
                                    <a:latin typeface="Cambria Math" panose="02040503050406030204" pitchFamily="18" charset="0"/>
                                  </a:rPr>
                                  <m:t>100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x</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&gt;0</m:t>
                    </m:r>
                  </m:oMath>
                </a14:m>
                <a:r>
                  <a:rPr sz="2000">
                    <a:solidFill>
                      <a:srgbClr val="1E293B"/>
                    </a:solidFill>
                    <a:latin typeface="Calibri"/>
                  </a:rPr>
                  <a:t> với mọi </a:t>
                </a:r>
                <a14:m>
                  <m:oMath xmlns:m="http://schemas.openxmlformats.org/officeDocument/2006/math">
                    <m:d>
                      <m:dPr>
                        <m:begChr m:val=""/>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100</m:t>
                        </m:r>
                      </m:e>
                    </m:d>
                  </m:oMath>
                </a14:m>
                <a:r>
                  <a:rPr sz="2000">
                    <a:solidFill>
                      <a:srgbClr val="1E293B"/>
                    </a:solidFill>
                    <a:latin typeface="Calibri"/>
                  </a:rPr>
                  <a:t>: đồng biến;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sSup>
                          <m:e>
                            <m:r>
                              <a:rPr lang="vi-VN" sz="2000" b="0">
                                <a:solidFill>
                                  <a:srgbClr val="1E293B"/>
                                </a:solidFill>
                                <a:latin typeface="Cambria Math" panose="02040503050406030204" pitchFamily="18" charset="0"/>
                              </a:rPr>
                              <m:t>100</m:t>
                            </m:r>
                          </m:e>
                          <m:sup>
                            <m:r>
                              <a:rPr lang="vi-VN" sz="2000" b="0">
                                <a:solidFill>
                                  <a:srgbClr val="1E293B"/>
                                </a:solidFill>
                                <a:latin typeface="Cambria Math" panose="02040503050406030204" pitchFamily="18" charset="0"/>
                              </a:rPr>
                              <m:t>−</m:t>
                            </m:r>
                          </m:sup>
                        </m:sSup>
                      </m:lim>
                    </m:limLow>
                    <m:r>
                      <a:rPr lang="vi-VN" sz="2000" b="0">
                        <a:solidFill>
                          <a:srgbClr val="1E293B"/>
                        </a:solidFill>
                        <a:latin typeface="Cambria Math" panose="02040503050406030204" pitchFamily="18" charset="0"/>
                      </a:rPr>
                      <m:t>C(x)=+∞</m:t>
                    </m:r>
                  </m:oMath>
                </a14:m>
                <a:r>
                  <a:rPr sz="2000">
                    <a:solidFill>
                      <a:srgbClr val="1E293B"/>
                    </a:solidFill>
                    <a:latin typeface="Calibri"/>
                  </a:rPr>
                  <a:t>: tiệm cận đứng </a:t>
                </a:r>
                <a14:m>
                  <m:oMath xmlns:m="http://schemas.openxmlformats.org/officeDocument/2006/math">
                    <m:r>
                      <a:rPr lang="vi-VN" sz="2000" b="0">
                        <a:solidFill>
                          <a:srgbClr val="1E293B"/>
                        </a:solidFill>
                        <a:latin typeface="Cambria Math" panose="02040503050406030204" pitchFamily="18" charset="0"/>
                      </a:rPr>
                      <m:t>x=100</m:t>
                    </m:r>
                  </m:oMath>
                </a14:m>
                <a:r>
                  <a:rPr sz="2000">
                    <a:solidFill>
                      <a:srgbClr val="1E293B"/>
                    </a:solidFill>
                    <a:latin typeface="Calibri"/>
                  </a:rPr>
                  <a:t>.</a:t>
                </a:r>
              </a:p>
            </p:txBody>
          </p:sp>
        </mc:Choice>
        <mc:Fallback>
          <p:sp>
            <p:nvSpPr>
              <p:cNvPr id="9" name="TextBox 8"/>
              <p:cNvSpPr txBox="1"/>
              <p:nvPr/>
            </p:nvSpPr>
            <p:spPr>
              <a:xfrm>
                <a:off x="713232" y="3334512"/>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y'=\frac{30\ 000}{(100-x)^2}&gt;0</a:t>
                </a:r>
                <a:r>
                  <a:rPr sz="2000">
                    <a:solidFill>
                      <a:srgbClr val="1E293B"/>
                    </a:solidFill>
                    <a:latin typeface="Calibri"/>
                  </a:rPr>
                  <a:t> với mọi </a:t>
                </a:r>
                <a:r>
                  <a:rPr lang="vi-VN"/>
                  <a:t>x\in[0;\ 100)</a:t>
                </a:r>
                <a:r>
                  <a:rPr sz="2000">
                    <a:solidFill>
                      <a:srgbClr val="1E293B"/>
                    </a:solidFill>
                    <a:latin typeface="Calibri"/>
                  </a:rPr>
                  <a:t>: đồng biến; </a:t>
                </a:r>
                <a:r>
                  <a:rPr lang="vi-VN"/>
                  <a:t>\lim\limits_{x\to 100^-}C(x)=+\infty</a:t>
                </a:r>
                <a:r>
                  <a:rPr sz="2000">
                    <a:solidFill>
                      <a:srgbClr val="1E293B"/>
                    </a:solidFill>
                    <a:latin typeface="Calibri"/>
                  </a:rPr>
                  <a:t>: tiệm cận đứng </a:t>
                </a:r>
                <a:r>
                  <a:rPr lang="vi-VN"/>
                  <a:t>x=100</a:t>
                </a:r>
                <a:r>
                  <a:rPr sz="2000">
                    <a:solidFill>
                      <a:srgbClr val="1E293B"/>
                    </a:solidFill>
                    <a:latin typeface="Calibri"/>
                  </a:rPr>
                  <a:t>.</a:t>
                </a:r>
              </a:p>
            </p:txBody>
          </p:sp>
        </mc:Fallback>
      </mc:AlternateContent>
      <p:sp>
        <p:nvSpPr>
          <p:cNvPr id="10" name="s2_nen"/>
          <p:cNvSpPr/>
          <p:nvPr/>
        </p:nvSpPr>
        <p:spPr>
          <a:xfrm>
            <a:off x="548640" y="4401311"/>
            <a:ext cx="78638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437887"/>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Chi phí </a:t>
                </a:r>
                <a14:m>
                  <m:oMath xmlns:m="http://schemas.openxmlformats.org/officeDocument/2006/math">
                    <m:r>
                      <a:rPr lang="vi-VN" sz="2000" b="0">
                        <a:solidFill>
                          <a:srgbClr val="1E293B"/>
                        </a:solidFill>
                        <a:latin typeface="Cambria Math" panose="02040503050406030204" pitchFamily="18" charset="0"/>
                      </a:rPr>
                      <m:t>C(x)</m:t>
                    </m:r>
                  </m:oMath>
                </a14:m>
                <a:r>
                  <a:rPr sz="2000">
                    <a:solidFill>
                      <a:srgbClr val="1E293B"/>
                    </a:solidFill>
                    <a:latin typeface="Calibri"/>
                  </a:rPr>
                  <a:t> luôn tăng khi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tăng.</a:t>
                </a:r>
              </a:p>
            </p:txBody>
          </p:sp>
        </mc:Choice>
        <mc:Fallback>
          <p:sp>
            <p:nvSpPr>
              <p:cNvPr id="11" name="TextBox 10"/>
              <p:cNvSpPr txBox="1"/>
              <p:nvPr/>
            </p:nvSpPr>
            <p:spPr>
              <a:xfrm>
                <a:off x="713232" y="4437887"/>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Chi phí </a:t>
                </a:r>
                <a:r>
                  <a:rPr lang="vi-VN"/>
                  <a:t>C(x)</a:t>
                </a:r>
                <a:r>
                  <a:rPr sz="2000">
                    <a:solidFill>
                      <a:srgbClr val="1E293B"/>
                    </a:solidFill>
                    <a:latin typeface="Calibri"/>
                  </a:rPr>
                  <a:t> luôn tăng khi </a:t>
                </a:r>
                <a:r>
                  <a:rPr lang="vi-VN"/>
                  <a:t>x</a:t>
                </a:r>
                <a:r>
                  <a:rPr sz="2000">
                    <a:solidFill>
                      <a:srgbClr val="1E293B"/>
                    </a:solidFill>
                    <a:latin typeface="Calibri"/>
                  </a:rPr>
                  <a:t> tăng.</a:t>
                </a:r>
              </a:p>
            </p:txBody>
          </p:sp>
        </mc:Fallback>
      </mc:AlternateContent>
      <p:sp>
        <p:nvSpPr>
          <p:cNvPr id="12" name="s3_nen"/>
          <p:cNvSpPr/>
          <p:nvPr/>
        </p:nvSpPr>
        <p:spPr>
          <a:xfrm>
            <a:off x="548640" y="5062727"/>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099303"/>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Không thể loại bỏ 100% chất gây ô nhiễm (hàm số không xác định tại </a:t>
                </a:r>
                <a14:m>
                  <m:oMath xmlns:m="http://schemas.openxmlformats.org/officeDocument/2006/math">
                    <m:r>
                      <a:rPr lang="vi-VN" sz="2000" b="0">
                        <a:solidFill>
                          <a:srgbClr val="1E293B"/>
                        </a:solidFill>
                        <a:latin typeface="Cambria Math" panose="02040503050406030204" pitchFamily="18" charset="0"/>
                      </a:rPr>
                      <m:t>x=100</m:t>
                    </m:r>
                  </m:oMath>
                </a14:m>
                <a:r>
                  <a:rPr sz="2000">
                    <a:solidFill>
                      <a:srgbClr val="1E293B"/>
                    </a:solidFill>
                    <a:latin typeface="Calibri"/>
                  </a:rPr>
                  <a:t>, chi phí tăng vô hạn khi </a:t>
                </a:r>
                <a14:m>
                  <m:oMath xmlns:m="http://schemas.openxmlformats.org/officeDocument/2006/math">
                    <m:r>
                      <a:rPr lang="vi-VN" sz="2000" b="0">
                        <a:solidFill>
                          <a:srgbClr val="1E293B"/>
                        </a:solidFill>
                        <a:latin typeface="Cambria Math" panose="02040503050406030204" pitchFamily="18" charset="0"/>
                      </a:rPr>
                      <m:t>x→</m:t>
                    </m:r>
                    <m:sSup>
                      <m:e>
                        <m:r>
                          <a:rPr lang="vi-VN" sz="2000" b="0">
                            <a:solidFill>
                              <a:srgbClr val="1E293B"/>
                            </a:solidFill>
                            <a:latin typeface="Cambria Math" panose="02040503050406030204" pitchFamily="18" charset="0"/>
                          </a:rPr>
                          <m:t>100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3" name="TextBox 12"/>
              <p:cNvSpPr txBox="1"/>
              <p:nvPr/>
            </p:nvSpPr>
            <p:spPr>
              <a:xfrm>
                <a:off x="713232" y="5099303"/>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Không thể loại bỏ 100% chất gây ô nhiễm (hàm số không xác định tại </a:t>
                </a:r>
                <a:r>
                  <a:rPr lang="vi-VN"/>
                  <a:t>x=100</a:t>
                </a:r>
                <a:r>
                  <a:rPr sz="2000">
                    <a:solidFill>
                      <a:srgbClr val="1E293B"/>
                    </a:solidFill>
                    <a:latin typeface="Calibri"/>
                  </a:rPr>
                  <a:t>, chi phí tăng vô hạn khi </a:t>
                </a:r>
                <a:r>
                  <a:rPr lang="vi-VN"/>
                  <a:t>x\to 100^-</a:t>
                </a:r>
                <a:r>
                  <a:rPr sz="2000">
                    <a:solidFill>
                      <a:srgbClr val="1E293B"/>
                    </a:solidFill>
                    <a:latin typeface="Calibri"/>
                  </a:rPr>
                  <a:t>).</a:t>
                </a:r>
              </a:p>
            </p:txBody>
          </p:sp>
        </mc:Fallback>
      </mc:AlternateContent>
      <p:pic>
        <p:nvPicPr>
          <p:cNvPr id="14" name="Picture 13" descr="b5_h134.png"/>
          <p:cNvPicPr>
            <a:picLocks noChangeAspect="1"/>
          </p:cNvPicPr>
          <p:nvPr/>
        </p:nvPicPr>
        <p:blipFill>
          <a:blip r:embed="rId3"/>
          <a:stretch>
            <a:fillRect/>
          </a:stretch>
        </p:blipFill>
        <p:spPr>
          <a:xfrm>
            <a:off x="8686800" y="1676086"/>
            <a:ext cx="2926080" cy="2865748"/>
          </a:xfrm>
          <a:prstGeom prst="rect">
            <a:avLst/>
          </a:prstGeom>
        </p:spPr>
      </p:pic>
      <p:sp>
        <p:nvSpPr>
          <p:cNvPr id="15" name="TextBox 14"/>
          <p:cNvSpPr txBox="1"/>
          <p:nvPr/>
        </p:nvSpPr>
        <p:spPr>
          <a:xfrm>
            <a:off x="8686800" y="4773168"/>
            <a:ext cx="29260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1.34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1 – HUYẾT ÁP (SGK TR.36)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11</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1383030"/>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1.</a:t>
                </a:r>
                <a:r>
                  <a:rPr sz="2300">
                    <a:solidFill>
                      <a:srgbClr val="1E293B"/>
                    </a:solidFill>
                    <a:latin typeface="Calibri"/>
                  </a:rPr>
                  <a:t> Huyết áp tâm thu </a:t>
                </a:r>
                <a14:m>
                  <m:oMath xmlns:m="http://schemas.openxmlformats.org/officeDocument/2006/math">
                    <m:r>
                      <a:rPr lang="vi-VN" sz="2300" b="0">
                        <a:solidFill>
                          <a:srgbClr val="1E293B"/>
                        </a:solidFill>
                        <a:latin typeface="Cambria Math" panose="02040503050406030204" pitchFamily="18" charset="0"/>
                      </a:rPr>
                      <m:t>P</m:t>
                    </m:r>
                  </m:oMath>
                </a14:m>
                <a:r>
                  <a:rPr sz="2300">
                    <a:solidFill>
                      <a:srgbClr val="1E293B"/>
                    </a:solidFill>
                    <a:latin typeface="Calibri"/>
                  </a:rPr>
                  <a:t> (mmHg) của một người được cho bởi </a:t>
                </a:r>
                <a14:m>
                  <m:oMath xmlns:m="http://schemas.openxmlformats.org/officeDocument/2006/math">
                    <m:r>
                      <a:rPr lang="vi-VN" sz="2300" b="0">
                        <a:solidFill>
                          <a:srgbClr val="1E293B"/>
                        </a:solidFill>
                        <a:latin typeface="Cambria Math" panose="02040503050406030204" pitchFamily="18" charset="0"/>
                      </a:rPr>
                      <m:t>P(t)=</m:t>
                    </m:r>
                    <m:f>
                      <m:fPr>
                        <m:type m:val="bar"/>
                      </m:fPr>
                      <m:num>
                        <m:r>
                          <a:rPr lang="vi-VN" sz="2300" b="0">
                            <a:solidFill>
                              <a:srgbClr val="1E293B"/>
                            </a:solidFill>
                            <a:latin typeface="Cambria Math" panose="02040503050406030204" pitchFamily="18" charset="0"/>
                          </a:rPr>
                          <m:t>25</m:t>
                        </m:r>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+125</m:t>
                        </m:r>
                      </m:num>
                      <m:den>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+1</m:t>
                        </m:r>
                      </m:den>
                    </m:f>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0≤t≤10</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t</m:t>
                    </m:r>
                  </m:oMath>
                </a14:m>
                <a:r>
                  <a:rPr sz="2300">
                    <a:solidFill>
                      <a:srgbClr val="1E293B"/>
                    </a:solidFill>
                    <a:latin typeface="Calibri"/>
                  </a:rPr>
                  <a:t>: giây). Tính tốc độ thay đổi của huyết áp sau 5 giây kể từ khi máu rời tim.</a:t>
                </a:r>
              </a:p>
            </p:txBody>
          </p:sp>
        </mc:Choice>
        <mc:Fallback>
          <p:sp>
            <p:nvSpPr>
              <p:cNvPr id="7" name="TextBox 6"/>
              <p:cNvSpPr txBox="1"/>
              <p:nvPr/>
            </p:nvSpPr>
            <p:spPr>
              <a:xfrm>
                <a:off x="548640" y="1463040"/>
                <a:ext cx="11064240" cy="1383030"/>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1.</a:t>
                </a:r>
                <a:r>
                  <a:rPr sz="2300">
                    <a:solidFill>
                      <a:srgbClr val="1E293B"/>
                    </a:solidFill>
                    <a:latin typeface="Calibri"/>
                  </a:rPr>
                  <a:t> Huyết áp tâm thu </a:t>
                </a:r>
                <a:r>
                  <a:rPr lang="vi-VN"/>
                  <a:t>P</a:t>
                </a:r>
                <a:r>
                  <a:rPr sz="2300">
                    <a:solidFill>
                      <a:srgbClr val="1E293B"/>
                    </a:solidFill>
                    <a:latin typeface="Calibri"/>
                  </a:rPr>
                  <a:t> (mmHg) của một người được cho bởi </a:t>
                </a:r>
                <a:r>
                  <a:rPr lang="vi-VN"/>
                  <a:t>P(t)=\frac{25t^2+125}{t^2+1}</a:t>
                </a:r>
                <a:r>
                  <a:rPr sz="2300">
                    <a:solidFill>
                      <a:srgbClr val="1E293B"/>
                    </a:solidFill>
                    <a:latin typeface="Calibri"/>
                  </a:rPr>
                  <a:t>, </a:t>
                </a:r>
                <a:r>
                  <a:rPr lang="vi-VN"/>
                  <a:t>0\le t\le 10</a:t>
                </a:r>
                <a:r>
                  <a:rPr sz="2300">
                    <a:solidFill>
                      <a:srgbClr val="1E293B"/>
                    </a:solidFill>
                    <a:latin typeface="Calibri"/>
                  </a:rPr>
                  <a:t> (</a:t>
                </a:r>
                <a:r>
                  <a:rPr lang="vi-VN"/>
                  <a:t>t</a:t>
                </a:r>
                <a:r>
                  <a:rPr sz="2300">
                    <a:solidFill>
                      <a:srgbClr val="1E293B"/>
                    </a:solidFill>
                    <a:latin typeface="Calibri"/>
                  </a:rPr>
                  <a:t>: giây). Tính tốc độ thay đổi của huyết áp sau 5 giây kể từ khi máu rời tim.</a:t>
                </a:r>
              </a:p>
            </p:txBody>
          </p:sp>
        </mc:Fallback>
      </mc:AlternateContent>
      <p:sp>
        <p:nvSpPr>
          <p:cNvPr id="8" name="s1_nen"/>
          <p:cNvSpPr/>
          <p:nvPr/>
        </p:nvSpPr>
        <p:spPr>
          <a:xfrm>
            <a:off x="548640" y="3028950"/>
            <a:ext cx="11064240" cy="93116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65526"/>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sSup>
                      <m:e>
                        <m:r>
                          <a:rPr lang="vi-VN" sz="2300" b="0">
                            <a:solidFill>
                              <a:srgbClr val="1E293B"/>
                            </a:solidFill>
                            <a:latin typeface="Cambria Math" panose="02040503050406030204" pitchFamily="18" charset="0"/>
                          </a:rPr>
                          <m:t>P</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(t)=</m:t>
                    </m:r>
                    <m:f>
                      <m:fPr>
                        <m:type m:val="bar"/>
                      </m:fPr>
                      <m:num>
                        <m:r>
                          <a:rPr lang="vi-VN" sz="2300" b="0">
                            <a:solidFill>
                              <a:srgbClr val="1E293B"/>
                            </a:solidFill>
                            <a:latin typeface="Cambria Math" panose="02040503050406030204" pitchFamily="18" charset="0"/>
                          </a:rPr>
                          <m:t>50t(</m:t>
                        </m:r>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+1)−2t(25</m:t>
                        </m:r>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+125)</m:t>
                        </m:r>
                      </m:num>
                      <m:den>
                        <m:sSup>
                          <m:e>
                            <m:d>
                              <m:dPr>
                                <m:sepChr m:val=""/>
                              </m:dPr>
                              <m:e>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1</m:t>
                                </m:r>
                              </m:e>
                            </m:d>
                          </m:e>
                          <m:sup>
                            <m:r>
                              <a:rPr lang="vi-VN" sz="2300" b="0">
                                <a:solidFill>
                                  <a:srgbClr val="1E293B"/>
                                </a:solidFill>
                                <a:latin typeface="Cambria Math" panose="02040503050406030204" pitchFamily="18" charset="0"/>
                              </a:rPr>
                              <m:t>2</m:t>
                            </m:r>
                          </m:sup>
                        </m:sSup>
                      </m:den>
                    </m:f>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−200t</m:t>
                        </m:r>
                      </m:num>
                      <m:den>
                        <m:sSup>
                          <m:e>
                            <m:d>
                              <m:dPr>
                                <m:sepChr m:val=""/>
                              </m:dPr>
                              <m:e>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1</m:t>
                                </m:r>
                              </m:e>
                            </m:d>
                          </m:e>
                          <m:sup>
                            <m:r>
                              <a:rPr lang="vi-VN" sz="2300" b="0">
                                <a:solidFill>
                                  <a:srgbClr val="1E293B"/>
                                </a:solidFill>
                                <a:latin typeface="Cambria Math" panose="02040503050406030204" pitchFamily="18" charset="0"/>
                              </a:rPr>
                              <m:t>2</m:t>
                            </m:r>
                          </m:sup>
                        </m:sSup>
                      </m:den>
                    </m:f>
                  </m:oMath>
                </a14:m>
                <a:r>
                  <a:rPr sz="2300">
                    <a:solidFill>
                      <a:srgbClr val="1E293B"/>
                    </a:solidFill>
                    <a:latin typeface="Calibri"/>
                  </a:rPr>
                  <a:t>.</a:t>
                </a:r>
              </a:p>
            </p:txBody>
          </p:sp>
        </mc:Choice>
        <mc:Fallback>
          <p:sp>
            <p:nvSpPr>
              <p:cNvPr id="9" name="TextBox 8"/>
              <p:cNvSpPr txBox="1"/>
              <p:nvPr/>
            </p:nvSpPr>
            <p:spPr>
              <a:xfrm>
                <a:off x="713232" y="3065526"/>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P'(t)=\frac{50t(t^2+1)-2t(25t^2+125)}{(t^2+1)^2}=\frac{-200t}{(t^2+1)^2}</a:t>
                </a:r>
                <a:r>
                  <a:rPr sz="2300">
                    <a:solidFill>
                      <a:srgbClr val="1E293B"/>
                    </a:solidFill>
                    <a:latin typeface="Calibri"/>
                  </a:rPr>
                  <a:t>.</a:t>
                </a:r>
              </a:p>
            </p:txBody>
          </p:sp>
        </mc:Fallback>
      </mc:AlternateContent>
      <p:sp>
        <p:nvSpPr>
          <p:cNvPr id="10" name="s2_nen"/>
          <p:cNvSpPr/>
          <p:nvPr/>
        </p:nvSpPr>
        <p:spPr>
          <a:xfrm>
            <a:off x="548640" y="4142994"/>
            <a:ext cx="11064240" cy="128168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79570"/>
                <a:ext cx="10735056" cy="1208532"/>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sSup>
                      <m:e>
                        <m:r>
                          <a:rPr lang="vi-VN" sz="2300" b="0">
                            <a:solidFill>
                              <a:srgbClr val="1E293B"/>
                            </a:solidFill>
                            <a:latin typeface="Cambria Math" panose="02040503050406030204" pitchFamily="18" charset="0"/>
                          </a:rPr>
                          <m:t>P</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(5)=</m:t>
                    </m:r>
                    <m:f>
                      <m:fPr>
                        <m:type m:val="bar"/>
                      </m:fPr>
                      <m:num>
                        <m:r>
                          <a:rPr lang="vi-VN" sz="2300" b="0">
                            <a:solidFill>
                              <a:srgbClr val="1E293B"/>
                            </a:solidFill>
                            <a:latin typeface="Cambria Math" panose="02040503050406030204" pitchFamily="18" charset="0"/>
                          </a:rPr>
                          <m:t>−1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000</m:t>
                        </m:r>
                      </m:num>
                      <m:den>
                        <m:r>
                          <a:rPr lang="vi-VN" sz="2300" b="0">
                            <a:solidFill>
                              <a:srgbClr val="1E293B"/>
                            </a:solidFill>
                            <a:latin typeface="Cambria Math" panose="02040503050406030204" pitchFamily="18" charset="0"/>
                          </a:rPr>
                          <m:t>676</m:t>
                        </m:r>
                      </m:den>
                    </m:f>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250</m:t>
                        </m:r>
                      </m:num>
                      <m:den>
                        <m:r>
                          <a:rPr lang="vi-VN" sz="2300" b="0">
                            <a:solidFill>
                              <a:srgbClr val="1E293B"/>
                            </a:solidFill>
                            <a:latin typeface="Cambria Math" panose="02040503050406030204" pitchFamily="18" charset="0"/>
                          </a:rPr>
                          <m:t>169</m:t>
                        </m:r>
                      </m:den>
                    </m:f>
                    <m:r>
                      <a:rPr lang="vi-VN" sz="2300" b="0">
                        <a:solidFill>
                          <a:srgbClr val="1E293B"/>
                        </a:solidFill>
                        <a:latin typeface="Cambria Math" panose="02040503050406030204" pitchFamily="18" charset="0"/>
                      </a:rPr>
                      <m:t>≈−1</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48</m:t>
                    </m:r>
                  </m:oMath>
                </a14:m>
                <a:r>
                  <a:rPr sz="2300">
                    <a:solidFill>
                      <a:srgbClr val="1E293B"/>
                    </a:solidFill>
                    <a:latin typeface="Calibri"/>
                  </a:rPr>
                  <a:t> (mmHg/giây): sau 5 giây, huyết áp đang giảm với tốc độ khoảng 1,48 mmHg/giây.</a:t>
                </a:r>
              </a:p>
            </p:txBody>
          </p:sp>
        </mc:Choice>
        <mc:Fallback>
          <p:sp>
            <p:nvSpPr>
              <p:cNvPr id="11" name="TextBox 10"/>
              <p:cNvSpPr txBox="1"/>
              <p:nvPr/>
            </p:nvSpPr>
            <p:spPr>
              <a:xfrm>
                <a:off x="713232" y="4179570"/>
                <a:ext cx="10735056" cy="1208532"/>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P'(5)=\frac{-1\ 000}{676}=-\frac{250}{169}\approx-1{,}48</a:t>
                </a:r>
                <a:r>
                  <a:rPr sz="2300">
                    <a:solidFill>
                      <a:srgbClr val="1E293B"/>
                    </a:solidFill>
                    <a:latin typeface="Calibri"/>
                  </a:rPr>
                  <a:t> (mmHg/giây): sau 5 giây, huyết áp đang giảm với tốc độ khoảng 1,48 mmHg/giây.</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12</a:t>
            </a:r>
          </a:p>
        </p:txBody>
      </p:sp>
      <p:sp>
        <p:nvSpPr>
          <p:cNvPr id="7" name="Rounded Rectangle 6"/>
          <p:cNvSpPr/>
          <p:nvPr/>
        </p:nvSpPr>
        <p:spPr>
          <a:xfrm>
            <a:off x="548640" y="1463040"/>
            <a:ext cx="11064240" cy="17068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99616"/>
            <a:ext cx="10735056" cy="163372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Đạo hàm = tốc độ thay đổi tức thời: vận tốc, gia tốc, tốc độ phản ứng, tốc độ tăng trưởng, chi phí biên.</a:t>
            </a:r>
          </a:p>
          <a:p>
            <a:pPr algn="l" marL="365760" indent="-365760">
              <a:spcAft>
                <a:spcPts val="800"/>
              </a:spcAft>
              <a:buClr>
                <a:srgbClr val="1E40AF"/>
              </a:buClr>
              <a:buFont typeface="Arial"/>
              <a:buChar char="•"/>
            </a:pPr>
            <a:r>
              <a:rPr sz="2200">
                <a:solidFill>
                  <a:srgbClr val="1E293B"/>
                </a:solidFill>
                <a:latin typeface="Calibri"/>
              </a:rPr>
              <a:t>Dấu của đạo hàm cho biết đại lượng đang tăng hay giảm; giới hạn tại vô cực cho "ngưỡng".</a:t>
            </a:r>
          </a:p>
        </p:txBody>
      </p:sp>
      <p:sp>
        <p:nvSpPr>
          <p:cNvPr id="9" name="Rounded Rectangle 8"/>
          <p:cNvSpPr/>
          <p:nvPr/>
        </p:nvSpPr>
        <p:spPr>
          <a:xfrm>
            <a:off x="548640" y="339852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43509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1.26, 1.27 (SGK tr.40 – 41).</a:t>
            </a:r>
          </a:p>
          <a:p>
            <a:pPr algn="l" marL="365760" indent="-365760">
              <a:spcAft>
                <a:spcPts val="800"/>
              </a:spcAft>
              <a:buClr>
                <a:srgbClr val="1E40AF"/>
              </a:buClr>
              <a:buFont typeface="Arial"/>
              <a:buChar char="•"/>
            </a:pPr>
            <a:r>
              <a:rPr sz="2200">
                <a:solidFill>
                  <a:srgbClr val="1E293B"/>
                </a:solidFill>
                <a:latin typeface="Calibri"/>
              </a:rPr>
              <a:t>Đọc trước mục 2 (SGK tr.36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(T20)</a:t>
            </a:r>
          </a:p>
          <a:p>
            <a:pPr>
              <a:spcAft>
                <a:spcPts val="600"/>
              </a:spcAft>
            </a:pPr>
            <a:r>
              <a:rPr sz="4000" b="1">
                <a:solidFill>
                  <a:srgbClr val="FFFFFF"/>
                </a:solidFill>
                <a:latin typeface="Cambria"/>
              </a:rPr>
              <a:t>Một vài bài toán tối ưu hoá đơn giản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Thực hiện quy trình 3 bước giải bài toán tối ưu hoá.</a:t>
            </a:r>
          </a:p>
          <a:p>
            <a:pPr algn="l">
              <a:spcAft>
                <a:spcPts val="800"/>
              </a:spcAft>
            </a:pPr>
            <a:r>
              <a:rPr sz="2200">
                <a:solidFill>
                  <a:srgbClr val="E0E7FF"/>
                </a:solidFill>
                <a:latin typeface="Calibri"/>
              </a:rPr>
              <a:t>• Giải bài toán doanh thu, lợi nhuận, chi phí.</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QUY TRÌNH GIẢI BÀI TOÁN TỐI ƯU HOÁ (SGK TR.36 – 37)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14</a:t>
            </a:r>
          </a:p>
        </p:txBody>
      </p:sp>
      <p:sp>
        <p:nvSpPr>
          <p:cNvPr id="7" name="Rounded Rectangle 6"/>
          <p:cNvSpPr/>
          <p:nvPr/>
        </p:nvSpPr>
        <p:spPr>
          <a:xfrm>
            <a:off x="548640" y="1554480"/>
            <a:ext cx="11064240" cy="339242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591056"/>
                <a:ext cx="10735056" cy="3319272"/>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Bước 1.</a:t>
                </a:r>
                <a:r>
                  <a:rPr sz="2400">
                    <a:solidFill>
                      <a:srgbClr val="1E293B"/>
                    </a:solidFill>
                    <a:latin typeface="Calibri"/>
                  </a:rPr>
                  <a:t> Xác định đại lượng </a:t>
                </a:r>
                <a14:m>
                  <m:oMath xmlns:m="http://schemas.openxmlformats.org/officeDocument/2006/math">
                    <m:r>
                      <a:rPr lang="vi-VN" sz="2400" b="0">
                        <a:solidFill>
                          <a:srgbClr val="1E293B"/>
                        </a:solidFill>
                        <a:latin typeface="Cambria Math" panose="02040503050406030204" pitchFamily="18" charset="0"/>
                      </a:rPr>
                      <m:t>Q</m:t>
                    </m:r>
                  </m:oMath>
                </a14:m>
                <a:r>
                  <a:rPr sz="2400">
                    <a:solidFill>
                      <a:srgbClr val="1E293B"/>
                    </a:solidFill>
                    <a:latin typeface="Calibri"/>
                  </a:rPr>
                  <a:t> mà ta cần làm cho giá trị của đại lượng ấy lớn nhất hoặc nhỏ nhất và biểu diễn nó qua các đại lượng khác trong bài toán.</a:t>
                </a:r>
              </a:p>
              <a:p>
                <a:pPr algn="l">
                  <a:spcAft>
                    <a:spcPts val="800"/>
                  </a:spcAft>
                </a:pPr>
                <a:r>
                  <a:rPr sz="2400" b="1">
                    <a:solidFill>
                      <a:srgbClr val="1E293B"/>
                    </a:solidFill>
                    <a:latin typeface="Calibri"/>
                  </a:rPr>
                  <a:t>Bước 2.</a:t>
                </a:r>
                <a:r>
                  <a:rPr sz="2400">
                    <a:solidFill>
                      <a:srgbClr val="1E293B"/>
                    </a:solidFill>
                    <a:latin typeface="Calibri"/>
                  </a:rPr>
                  <a:t> Chọn một đại lượng thích hợp nào đó, kí hiệu là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và biểu diễn các đại lượng khác ở Bước 1 theo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Khi đó, </a:t>
                </a:r>
                <a14:m>
                  <m:oMath xmlns:m="http://schemas.openxmlformats.org/officeDocument/2006/math">
                    <m:r>
                      <a:rPr lang="vi-VN" sz="2400" b="0">
                        <a:solidFill>
                          <a:srgbClr val="1E293B"/>
                        </a:solidFill>
                        <a:latin typeface="Cambria Math" panose="02040503050406030204" pitchFamily="18" charset="0"/>
                      </a:rPr>
                      <m:t>Q</m:t>
                    </m:r>
                  </m:oMath>
                </a14:m>
                <a:r>
                  <a:rPr sz="2400">
                    <a:solidFill>
                      <a:srgbClr val="1E293B"/>
                    </a:solidFill>
                    <a:latin typeface="Calibri"/>
                  </a:rPr>
                  <a:t> sẽ là hàm số của một biến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Tìm tập xác định của hàm số </a:t>
                </a:r>
                <a14:m>
                  <m:oMath xmlns:m="http://schemas.openxmlformats.org/officeDocument/2006/math">
                    <m:r>
                      <a:rPr lang="vi-VN" sz="2400" b="0">
                        <a:solidFill>
                          <a:srgbClr val="1E293B"/>
                        </a:solidFill>
                        <a:latin typeface="Cambria Math" panose="02040503050406030204" pitchFamily="18" charset="0"/>
                      </a:rPr>
                      <m:t>Q=Q(x)</m:t>
                    </m:r>
                  </m:oMath>
                </a14:m>
                <a:r>
                  <a:rPr sz="2400">
                    <a:solidFill>
                      <a:srgbClr val="1E293B"/>
                    </a:solidFill>
                    <a:latin typeface="Calibri"/>
                  </a:rPr>
                  <a:t>.</a:t>
                </a:r>
              </a:p>
              <a:p>
                <a:pPr algn="l">
                  <a:spcAft>
                    <a:spcPts val="800"/>
                  </a:spcAft>
                </a:pPr>
                <a:r>
                  <a:rPr sz="2400" b="1">
                    <a:solidFill>
                      <a:srgbClr val="1E293B"/>
                    </a:solidFill>
                    <a:latin typeface="Calibri"/>
                  </a:rPr>
                  <a:t>Bước 3.</a:t>
                </a:r>
                <a:r>
                  <a:rPr sz="2400">
                    <a:solidFill>
                      <a:srgbClr val="1E293B"/>
                    </a:solidFill>
                    <a:latin typeface="Calibri"/>
                  </a:rPr>
                  <a:t> Tìm giá trị lớn nhất hoặc giá trị nhỏ nhất của hàm số </a:t>
                </a:r>
                <a14:m>
                  <m:oMath xmlns:m="http://schemas.openxmlformats.org/officeDocument/2006/math">
                    <m:r>
                      <a:rPr lang="vi-VN" sz="2400" b="0">
                        <a:solidFill>
                          <a:srgbClr val="1E293B"/>
                        </a:solidFill>
                        <a:latin typeface="Cambria Math" panose="02040503050406030204" pitchFamily="18" charset="0"/>
                      </a:rPr>
                      <m:t>Q=Q(x)</m:t>
                    </m:r>
                  </m:oMath>
                </a14:m>
                <a:r>
                  <a:rPr sz="2400">
                    <a:solidFill>
                      <a:srgbClr val="1E293B"/>
                    </a:solidFill>
                    <a:latin typeface="Calibri"/>
                  </a:rPr>
                  <a:t> bằng các phương pháp đã biết và kết luận.</a:t>
                </a:r>
              </a:p>
            </p:txBody>
          </p:sp>
        </mc:Choice>
        <mc:Fallback>
          <p:sp>
            <p:nvSpPr>
              <p:cNvPr id="8" name="TextBox 7"/>
              <p:cNvSpPr txBox="1"/>
              <p:nvPr/>
            </p:nvSpPr>
            <p:spPr>
              <a:xfrm>
                <a:off x="713232" y="1591056"/>
                <a:ext cx="10735056" cy="3319272"/>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Bước 1.</a:t>
                </a:r>
                <a:r>
                  <a:rPr sz="2400">
                    <a:solidFill>
                      <a:srgbClr val="1E293B"/>
                    </a:solidFill>
                    <a:latin typeface="Calibri"/>
                  </a:rPr>
                  <a:t> Xác định đại lượng </a:t>
                </a:r>
                <a:r>
                  <a:rPr lang="vi-VN"/>
                  <a:t>Q</a:t>
                </a:r>
                <a:r>
                  <a:rPr sz="2400">
                    <a:solidFill>
                      <a:srgbClr val="1E293B"/>
                    </a:solidFill>
                    <a:latin typeface="Calibri"/>
                  </a:rPr>
                  <a:t> mà ta cần làm cho giá trị của đại lượng ấy lớn nhất hoặc nhỏ nhất và biểu diễn nó qua các đại lượng khác trong bài toán.</a:t>
                </a:r>
              </a:p>
              <a:p>
                <a:pPr algn="l">
                  <a:spcAft>
                    <a:spcPts val="800"/>
                  </a:spcAft>
                </a:pPr>
                <a:r>
                  <a:rPr sz="2400" b="1">
                    <a:solidFill>
                      <a:srgbClr val="1E293B"/>
                    </a:solidFill>
                    <a:latin typeface="Calibri"/>
                  </a:rPr>
                  <a:t>Bước 2.</a:t>
                </a:r>
                <a:r>
                  <a:rPr sz="2400">
                    <a:solidFill>
                      <a:srgbClr val="1E293B"/>
                    </a:solidFill>
                    <a:latin typeface="Calibri"/>
                  </a:rPr>
                  <a:t> Chọn một đại lượng thích hợp nào đó, kí hiệu là </a:t>
                </a:r>
                <a:r>
                  <a:rPr lang="vi-VN"/>
                  <a:t>x</a:t>
                </a:r>
                <a:r>
                  <a:rPr sz="2400">
                    <a:solidFill>
                      <a:srgbClr val="1E293B"/>
                    </a:solidFill>
                    <a:latin typeface="Calibri"/>
                  </a:rPr>
                  <a:t>, và biểu diễn các đại lượng khác ở Bước 1 theo </a:t>
                </a:r>
                <a:r>
                  <a:rPr lang="vi-VN"/>
                  <a:t>x</a:t>
                </a:r>
                <a:r>
                  <a:rPr sz="2400">
                    <a:solidFill>
                      <a:srgbClr val="1E293B"/>
                    </a:solidFill>
                    <a:latin typeface="Calibri"/>
                  </a:rPr>
                  <a:t>. Khi đó, </a:t>
                </a:r>
                <a:r>
                  <a:rPr lang="vi-VN"/>
                  <a:t>Q</a:t>
                </a:r>
                <a:r>
                  <a:rPr sz="2400">
                    <a:solidFill>
                      <a:srgbClr val="1E293B"/>
                    </a:solidFill>
                    <a:latin typeface="Calibri"/>
                  </a:rPr>
                  <a:t> sẽ là hàm số của một biến </a:t>
                </a:r>
                <a:r>
                  <a:rPr lang="vi-VN"/>
                  <a:t>x</a:t>
                </a:r>
                <a:r>
                  <a:rPr sz="2400">
                    <a:solidFill>
                      <a:srgbClr val="1E293B"/>
                    </a:solidFill>
                    <a:latin typeface="Calibri"/>
                  </a:rPr>
                  <a:t>. Tìm tập xác định của hàm số </a:t>
                </a:r>
                <a:r>
                  <a:rPr lang="vi-VN"/>
                  <a:t>Q=Q(x)</a:t>
                </a:r>
                <a:r>
                  <a:rPr sz="2400">
                    <a:solidFill>
                      <a:srgbClr val="1E293B"/>
                    </a:solidFill>
                    <a:latin typeface="Calibri"/>
                  </a:rPr>
                  <a:t>.</a:t>
                </a:r>
              </a:p>
              <a:p>
                <a:pPr algn="l">
                  <a:spcAft>
                    <a:spcPts val="800"/>
                  </a:spcAft>
                </a:pPr>
                <a:r>
                  <a:rPr sz="2400" b="1">
                    <a:solidFill>
                      <a:srgbClr val="1E293B"/>
                    </a:solidFill>
                    <a:latin typeface="Calibri"/>
                  </a:rPr>
                  <a:t>Bước 3.</a:t>
                </a:r>
                <a:r>
                  <a:rPr sz="2400">
                    <a:solidFill>
                      <a:srgbClr val="1E293B"/>
                    </a:solidFill>
                    <a:latin typeface="Calibri"/>
                  </a:rPr>
                  <a:t> Tìm giá trị lớn nhất hoặc giá trị nhỏ nhất của hàm số </a:t>
                </a:r>
                <a:r>
                  <a:rPr lang="vi-VN"/>
                  <a:t>Q=Q(x)</a:t>
                </a:r>
                <a:r>
                  <a:rPr sz="2400">
                    <a:solidFill>
                      <a:srgbClr val="1E293B"/>
                    </a:solidFill>
                    <a:latin typeface="Calibri"/>
                  </a:rPr>
                  <a:t> bằng các phương pháp đã biết và kết luận.</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 HỘP ĐỰNG HÌNH TRỤ (SGK TR.37)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15</a:t>
            </a:r>
          </a:p>
        </p:txBody>
      </p:sp>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5.</a:t>
            </a:r>
            <a:r>
              <a:rPr sz="2100">
                <a:solidFill>
                  <a:srgbClr val="1E293B"/>
                </a:solidFill>
                <a:latin typeface="Calibri"/>
              </a:rPr>
              <a:t> Làm hộp đựng hình trụ có thể tích 1 lít. Tìm kích thước của hộp để chi phí vật liệu là nhỏ nhất (tính theo cm, làm tròn đến hàng phần trăm).</a:t>
            </a:r>
          </a:p>
        </p:txBody>
      </p:sp>
      <p:sp>
        <p:nvSpPr>
          <p:cNvPr id="8" name="s1_nen"/>
          <p:cNvSpPr/>
          <p:nvPr/>
        </p:nvSpPr>
        <p:spPr>
          <a:xfrm>
            <a:off x="548640" y="2295144"/>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3172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V=π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h=1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000⇒h=</m:t>
                    </m:r>
                    <m:f>
                      <m:fPr>
                        <m:type m:val="bar"/>
                      </m:fPr>
                      <m:num>
                        <m:r>
                          <a:rPr lang="vi-VN" sz="2100" b="0">
                            <a:solidFill>
                              <a:srgbClr val="1E293B"/>
                            </a:solidFill>
                            <a:latin typeface="Cambria Math" panose="02040503050406030204" pitchFamily="18" charset="0"/>
                          </a:rPr>
                          <m:t>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num>
                      <m:den>
                        <m:r>
                          <a:rPr lang="vi-VN" sz="2100" b="0">
                            <a:solidFill>
                              <a:srgbClr val="1E293B"/>
                            </a:solidFill>
                            <a:latin typeface="Cambria Math" panose="02040503050406030204" pitchFamily="18" charset="0"/>
                          </a:rPr>
                          <m:t>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den>
                    </m:f>
                  </m:oMath>
                </a14:m>
                <a:r>
                  <a:rPr sz="2100">
                    <a:solidFill>
                      <a:srgbClr val="1E293B"/>
                    </a:solidFill>
                    <a:latin typeface="Calibri"/>
                  </a:rPr>
                  <a:t>; diện tích toàn phần </a:t>
                </a:r>
                <a14:m>
                  <m:oMath xmlns:m="http://schemas.openxmlformats.org/officeDocument/2006/math">
                    <m:r>
                      <a:rPr lang="vi-VN" sz="2100" b="0">
                        <a:solidFill>
                          <a:srgbClr val="1E293B"/>
                        </a:solidFill>
                        <a:latin typeface="Cambria Math" panose="02040503050406030204" pitchFamily="18" charset="0"/>
                      </a:rPr>
                      <m:t>S=2π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+2πrh=2π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num>
                      <m:den>
                        <m:r>
                          <a:rPr lang="vi-VN" sz="2100" b="0">
                            <a:solidFill>
                              <a:srgbClr val="1E293B"/>
                            </a:solidFill>
                            <a:latin typeface="Cambria Math" panose="02040503050406030204" pitchFamily="18" charset="0"/>
                          </a:rPr>
                          <m:t>r</m:t>
                        </m:r>
                      </m:den>
                    </m:f>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r&gt;0</m:t>
                    </m:r>
                  </m:oMath>
                </a14:m>
                <a:r>
                  <a:rPr sz="2100">
                    <a:solidFill>
                      <a:srgbClr val="1E293B"/>
                    </a:solidFill>
                    <a:latin typeface="Calibri"/>
                  </a:rPr>
                  <a:t>.</a:t>
                </a:r>
              </a:p>
            </p:txBody>
          </p:sp>
        </mc:Choice>
        <mc:Fallback>
          <p:sp>
            <p:nvSpPr>
              <p:cNvPr id="9" name="TextBox 8"/>
              <p:cNvSpPr txBox="1"/>
              <p:nvPr/>
            </p:nvSpPr>
            <p:spPr>
              <a:xfrm>
                <a:off x="713232" y="233172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V=\pi r^2h=1\ 000\Rightarrow h=\frac{1\ 000}{\pi r^2}</a:t>
                </a:r>
                <a:r>
                  <a:rPr sz="2100">
                    <a:solidFill>
                      <a:srgbClr val="1E293B"/>
                    </a:solidFill>
                    <a:latin typeface="Calibri"/>
                  </a:rPr>
                  <a:t>; diện tích toàn phần </a:t>
                </a:r>
                <a:r>
                  <a:rPr lang="vi-VN"/>
                  <a:t>S=2\pi r^2+2\pi rh=2\pi r^2+\frac{2\ 000}{r}</a:t>
                </a:r>
                <a:r>
                  <a:rPr sz="2100">
                    <a:solidFill>
                      <a:srgbClr val="1E293B"/>
                    </a:solidFill>
                    <a:latin typeface="Calibri"/>
                  </a:rPr>
                  <a:t>, </a:t>
                </a:r>
                <a:r>
                  <a:rPr lang="vi-VN"/>
                  <a:t>r&gt;0</a:t>
                </a:r>
                <a:r>
                  <a:rPr sz="2100">
                    <a:solidFill>
                      <a:srgbClr val="1E293B"/>
                    </a:solidFill>
                    <a:latin typeface="Calibri"/>
                  </a:rPr>
                  <a:t>.</a:t>
                </a:r>
              </a:p>
            </p:txBody>
          </p:sp>
        </mc:Fallback>
      </mc:AlternateContent>
      <p:sp>
        <p:nvSpPr>
          <p:cNvPr id="10" name="s2_nen"/>
          <p:cNvSpPr/>
          <p:nvPr/>
        </p:nvSpPr>
        <p:spPr>
          <a:xfrm>
            <a:off x="548640" y="3278124"/>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1470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S</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=4πr−</m:t>
                    </m:r>
                    <m:f>
                      <m:fPr>
                        <m:type m:val="bar"/>
                      </m:fPr>
                      <m:num>
                        <m:r>
                          <a:rPr lang="vi-VN" sz="2100" b="0">
                            <a:solidFill>
                              <a:srgbClr val="1E293B"/>
                            </a:solidFill>
                            <a:latin typeface="Cambria Math" panose="02040503050406030204" pitchFamily="18" charset="0"/>
                          </a:rPr>
                          <m:t>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num>
                      <m:den>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=0⇔r=</m:t>
                    </m:r>
                    <m:rad>
                      <m:radPr>
                        <m:degHide m:val="off"/>
                      </m:radPr>
                      <m:deg>
                        <m:r>
                          <a:rPr lang="vi-VN" sz="2100" b="0">
                            <a:solidFill>
                              <a:srgbClr val="1E293B"/>
                            </a:solidFill>
                            <a:latin typeface="Cambria Math" panose="02040503050406030204" pitchFamily="18" charset="0"/>
                          </a:rPr>
                          <m:t>3</m:t>
                        </m:r>
                      </m:deg>
                      <m:e>
                        <m:f>
                          <m:fPr>
                            <m:type m:val="bar"/>
                          </m:fPr>
                          <m:num>
                            <m:r>
                              <a:rPr lang="vi-VN" sz="2100" b="0">
                                <a:solidFill>
                                  <a:srgbClr val="1E293B"/>
                                </a:solidFill>
                                <a:latin typeface="Cambria Math" panose="02040503050406030204" pitchFamily="18" charset="0"/>
                              </a:rPr>
                              <m:t>500</m:t>
                            </m:r>
                          </m:num>
                          <m:den>
                            <m:r>
                              <a:rPr lang="vi-VN" sz="2100" b="0">
                                <a:solidFill>
                                  <a:srgbClr val="1E293B"/>
                                </a:solidFill>
                                <a:latin typeface="Cambria Math" panose="02040503050406030204" pitchFamily="18" charset="0"/>
                              </a:rPr>
                              <m:t>π</m:t>
                            </m:r>
                          </m:den>
                        </m:f>
                      </m:e>
                    </m:rad>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S</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đổi dấu từ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sang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S</m:t>
                    </m:r>
                  </m:oMath>
                </a14:m>
                <a:r>
                  <a:rPr sz="2100">
                    <a:solidFill>
                      <a:srgbClr val="1E293B"/>
                    </a:solidFill>
                    <a:latin typeface="Calibri"/>
                  </a:rPr>
                  <a:t> nhỏ nhất tại đó.</a:t>
                </a:r>
              </a:p>
            </p:txBody>
          </p:sp>
        </mc:Choice>
        <mc:Fallback>
          <p:sp>
            <p:nvSpPr>
              <p:cNvPr id="11" name="TextBox 10"/>
              <p:cNvSpPr txBox="1"/>
              <p:nvPr/>
            </p:nvSpPr>
            <p:spPr>
              <a:xfrm>
                <a:off x="713232" y="331470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S'=4\pi r-\frac{2\ 000}{r^2}=0\Leftrightarrow r=\sqrt[3]{\frac{500}{\pi}}</a:t>
                </a:r>
                <a:r>
                  <a:rPr sz="2100">
                    <a:solidFill>
                      <a:srgbClr val="1E293B"/>
                    </a:solidFill>
                    <a:latin typeface="Calibri"/>
                  </a:rPr>
                  <a:t>; </a:t>
                </a:r>
                <a:r>
                  <a:rPr lang="vi-VN"/>
                  <a:t>S'</a:t>
                </a:r>
                <a:r>
                  <a:rPr sz="2100">
                    <a:solidFill>
                      <a:srgbClr val="1E293B"/>
                    </a:solidFill>
                    <a:latin typeface="Calibri"/>
                  </a:rPr>
                  <a:t> đổi dấu từ </a:t>
                </a:r>
                <a:r>
                  <a:rPr lang="vi-VN"/>
                  <a:t>-</a:t>
                </a:r>
                <a:r>
                  <a:rPr sz="2100">
                    <a:solidFill>
                      <a:srgbClr val="1E293B"/>
                    </a:solidFill>
                    <a:latin typeface="Calibri"/>
                  </a:rPr>
                  <a:t> sang </a:t>
                </a:r>
                <a:r>
                  <a:rPr lang="vi-VN"/>
                  <a:t>+</a:t>
                </a:r>
                <a:r>
                  <a:rPr sz="2100">
                    <a:solidFill>
                      <a:srgbClr val="1E293B"/>
                    </a:solidFill>
                    <a:latin typeface="Calibri"/>
                  </a:rPr>
                  <a:t> nên </a:t>
                </a:r>
                <a:r>
                  <a:rPr lang="vi-VN"/>
                  <a:t>S</a:t>
                </a:r>
                <a:r>
                  <a:rPr sz="2100">
                    <a:solidFill>
                      <a:srgbClr val="1E293B"/>
                    </a:solidFill>
                    <a:latin typeface="Calibri"/>
                  </a:rPr>
                  <a:t> nhỏ nhất tại đó.</a:t>
                </a:r>
              </a:p>
            </p:txBody>
          </p:sp>
        </mc:Fallback>
      </mc:AlternateContent>
      <p:sp>
        <p:nvSpPr>
          <p:cNvPr id="12" name="s3_nen"/>
          <p:cNvSpPr/>
          <p:nvPr/>
        </p:nvSpPr>
        <p:spPr>
          <a:xfrm>
            <a:off x="548640" y="4581144"/>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61772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r=</m:t>
                    </m:r>
                    <m:rad>
                      <m:radPr>
                        <m:degHide m:val="off"/>
                      </m:radPr>
                      <m:deg>
                        <m:r>
                          <a:rPr lang="vi-VN" sz="2100" b="0">
                            <a:solidFill>
                              <a:srgbClr val="1E293B"/>
                            </a:solidFill>
                            <a:latin typeface="Cambria Math" panose="02040503050406030204" pitchFamily="18" charset="0"/>
                          </a:rPr>
                          <m:t>3</m:t>
                        </m:r>
                      </m:deg>
                      <m:e>
                        <m:f>
                          <m:fPr>
                            <m:type m:val="bar"/>
                          </m:fPr>
                          <m:num>
                            <m:r>
                              <a:rPr lang="vi-VN" sz="2100" b="0">
                                <a:solidFill>
                                  <a:srgbClr val="1E293B"/>
                                </a:solidFill>
                                <a:latin typeface="Cambria Math" panose="02040503050406030204" pitchFamily="18" charset="0"/>
                              </a:rPr>
                              <m:t>500</m:t>
                            </m:r>
                          </m:num>
                          <m:den>
                            <m:r>
                              <a:rPr lang="vi-VN" sz="2100" b="0">
                                <a:solidFill>
                                  <a:srgbClr val="1E293B"/>
                                </a:solidFill>
                                <a:latin typeface="Cambria Math" panose="02040503050406030204" pitchFamily="18" charset="0"/>
                              </a:rPr>
                              <m:t>π</m:t>
                            </m:r>
                          </m:den>
                        </m:f>
                      </m:e>
                    </m:rad>
                    <m:r>
                      <a:rPr lang="vi-VN" sz="2100" b="0">
                        <a:solidFill>
                          <a:srgbClr val="1E293B"/>
                        </a:solidFill>
                        <a:latin typeface="Cambria Math" panose="02040503050406030204" pitchFamily="18" charset="0"/>
                      </a:rPr>
                      <m:t>≈5</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42</m:t>
                    </m:r>
                  </m:oMath>
                </a14:m>
                <a:r>
                  <a:rPr sz="2100">
                    <a:solidFill>
                      <a:srgbClr val="1E293B"/>
                    </a:solidFill>
                    <a:latin typeface="Calibri"/>
                  </a:rPr>
                  <a:t> cm, </a:t>
                </a:r>
                <a14:m>
                  <m:oMath xmlns:m="http://schemas.openxmlformats.org/officeDocument/2006/math">
                    <m:r>
                      <a:rPr lang="vi-VN" sz="2100" b="0">
                        <a:solidFill>
                          <a:srgbClr val="1E293B"/>
                        </a:solidFill>
                        <a:latin typeface="Cambria Math" panose="02040503050406030204" pitchFamily="18" charset="0"/>
                      </a:rPr>
                      <m:t>h=</m:t>
                    </m:r>
                    <m:f>
                      <m:fPr>
                        <m:type m:val="bar"/>
                      </m:fPr>
                      <m:num>
                        <m:r>
                          <a:rPr lang="vi-VN" sz="2100" b="0">
                            <a:solidFill>
                              <a:srgbClr val="1E293B"/>
                            </a:solidFill>
                            <a:latin typeface="Cambria Math" panose="02040503050406030204" pitchFamily="18" charset="0"/>
                          </a:rPr>
                          <m:t>100</m:t>
                        </m:r>
                      </m:num>
                      <m:den>
                        <m:rad>
                          <m:radPr>
                            <m:degHide m:val="off"/>
                          </m:radPr>
                          <m:deg>
                            <m:r>
                              <a:rPr lang="vi-VN" sz="2100" b="0">
                                <a:solidFill>
                                  <a:srgbClr val="1E293B"/>
                                </a:solidFill>
                                <a:latin typeface="Cambria Math" panose="02040503050406030204" pitchFamily="18" charset="0"/>
                              </a:rPr>
                              <m:t>3</m:t>
                            </m:r>
                          </m:deg>
                          <m:e>
                            <m:r>
                              <a:rPr lang="vi-VN" sz="2100" b="0">
                                <a:solidFill>
                                  <a:srgbClr val="1E293B"/>
                                </a:solidFill>
                                <a:latin typeface="Cambria Math" panose="02040503050406030204" pitchFamily="18" charset="0"/>
                              </a:rPr>
                              <m:t>250π</m:t>
                            </m:r>
                          </m:e>
                        </m:rad>
                      </m:den>
                    </m:f>
                    <m:r>
                      <a:rPr lang="vi-VN" sz="2100" b="0">
                        <a:solidFill>
                          <a:srgbClr val="1E293B"/>
                        </a:solidFill>
                        <a:latin typeface="Cambria Math" panose="02040503050406030204" pitchFamily="18" charset="0"/>
                      </a:rPr>
                      <m:t>≈10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84</m:t>
                    </m:r>
                  </m:oMath>
                </a14:m>
                <a:r>
                  <a:rPr sz="2100">
                    <a:solidFill>
                      <a:srgbClr val="1E293B"/>
                    </a:solidFill>
                    <a:latin typeface="Calibri"/>
                  </a:rPr>
                  <a:t> cm. </a:t>
                </a:r>
                <a:r>
                  <a:rPr sz="2100" b="1">
                    <a:solidFill>
                      <a:srgbClr val="1E293B"/>
                    </a:solidFill>
                    <a:latin typeface="Calibri"/>
                  </a:rPr>
                  <a:t>Chú ý.</a:t>
                </a:r>
                <a:r>
                  <a:rPr sz="2100">
                    <a:solidFill>
                      <a:srgbClr val="1E293B"/>
                    </a:solidFill>
                    <a:latin typeface="Calibri"/>
                  </a:rPr>
                  <a:t> Thể tích không đổi thì diện tích bề mặt nhỏ nhất khi chiều cao bằng đường kính đáy.</a:t>
                </a:r>
              </a:p>
            </p:txBody>
          </p:sp>
        </mc:Choice>
        <mc:Fallback>
          <p:sp>
            <p:nvSpPr>
              <p:cNvPr id="13" name="TextBox 12"/>
              <p:cNvSpPr txBox="1"/>
              <p:nvPr/>
            </p:nvSpPr>
            <p:spPr>
              <a:xfrm>
                <a:off x="713232" y="461772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r=\sqrt[3]{\frac{500}{\pi}}\approx 5{,}42</a:t>
                </a:r>
                <a:r>
                  <a:rPr sz="2100">
                    <a:solidFill>
                      <a:srgbClr val="1E293B"/>
                    </a:solidFill>
                    <a:latin typeface="Calibri"/>
                  </a:rPr>
                  <a:t> cm, </a:t>
                </a:r>
                <a:r>
                  <a:rPr lang="vi-VN"/>
                  <a:t>h=\frac{100}{\sqrt[3]{250\pi}}\approx 10{,}84</a:t>
                </a:r>
                <a:r>
                  <a:rPr sz="2100">
                    <a:solidFill>
                      <a:srgbClr val="1E293B"/>
                    </a:solidFill>
                    <a:latin typeface="Calibri"/>
                  </a:rPr>
                  <a:t> cm. </a:t>
                </a:r>
                <a:r>
                  <a:rPr sz="2100" b="1">
                    <a:solidFill>
                      <a:srgbClr val="1E293B"/>
                    </a:solidFill>
                    <a:latin typeface="Calibri"/>
                  </a:rPr>
                  <a:t>Chú ý.</a:t>
                </a:r>
                <a:r>
                  <a:rPr sz="2100">
                    <a:solidFill>
                      <a:srgbClr val="1E293B"/>
                    </a:solidFill>
                    <a:latin typeface="Calibri"/>
                  </a:rPr>
                  <a:t> Thể tích không đổi thì diện tích bề mặt nhỏ nhất khi chiều cao bằng đường kính đáy.</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2 – CHÈO THUYỀN VÀ CHẠY BỘ (SGK TR.38)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77824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2.</a:t>
                </a:r>
                <a:r>
                  <a:rPr sz="2000">
                    <a:solidFill>
                      <a:srgbClr val="1E293B"/>
                    </a:solidFill>
                    <a:latin typeface="Calibri"/>
                  </a:rPr>
                  <a:t> Anh An chèo thuyền từ </a:t>
                </a:r>
                <a14:m>
                  <m:oMath xmlns:m="http://schemas.openxmlformats.org/officeDocument/2006/math">
                    <m:r>
                      <a:rPr lang="vi-VN" sz="2000" b="0">
                        <a:solidFill>
                          <a:srgbClr val="1E293B"/>
                        </a:solidFill>
                        <a:latin typeface="Cambria Math" panose="02040503050406030204" pitchFamily="18" charset="0"/>
                      </a:rPr>
                      <m:t>A</m:t>
                    </m:r>
                  </m:oMath>
                </a14:m>
                <a:r>
                  <a:rPr sz="2000">
                    <a:solidFill>
                      <a:srgbClr val="1E293B"/>
                    </a:solidFill>
                    <a:latin typeface="Calibri"/>
                  </a:rPr>
                  <a:t> trên bờ sông rộng 3 km, muốn đến </a:t>
                </a:r>
                <a14:m>
                  <m:oMath xmlns:m="http://schemas.openxmlformats.org/officeDocument/2006/math">
                    <m:r>
                      <a:rPr lang="vi-VN" sz="2000" b="0">
                        <a:solidFill>
                          <a:srgbClr val="1E293B"/>
                        </a:solidFill>
                        <a:latin typeface="Cambria Math" panose="02040503050406030204" pitchFamily="18" charset="0"/>
                      </a:rPr>
                      <m:t>B</m:t>
                    </m:r>
                  </m:oMath>
                </a14:m>
                <a:r>
                  <a:rPr sz="2000">
                    <a:solidFill>
                      <a:srgbClr val="1E293B"/>
                    </a:solidFill>
                    <a:latin typeface="Calibri"/>
                  </a:rPr>
                  <a:t> ở bờ đối diện cách 8 km về phía hạ lưu càng nhanh càng tốt (H.1.35): chèo đến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 giữa </a:t>
                </a:r>
                <a14:m>
                  <m:oMath xmlns:m="http://schemas.openxmlformats.org/officeDocument/2006/math">
                    <m:r>
                      <a:rPr lang="vi-VN" sz="2000" b="0">
                        <a:solidFill>
                          <a:srgbClr val="1E293B"/>
                        </a:solidFill>
                        <a:latin typeface="Cambria Math" panose="02040503050406030204" pitchFamily="18" charset="0"/>
                      </a:rPr>
                      <m:t>C</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B</m:t>
                    </m:r>
                  </m:oMath>
                </a14:m>
                <a:r>
                  <a:rPr sz="2000">
                    <a:solidFill>
                      <a:srgbClr val="1E293B"/>
                    </a:solidFill>
                    <a:latin typeface="Calibri"/>
                  </a:rPr>
                  <a:t> rồi chạy bộ đến </a:t>
                </a:r>
                <a14:m>
                  <m:oMath xmlns:m="http://schemas.openxmlformats.org/officeDocument/2006/math">
                    <m:r>
                      <a:rPr lang="vi-VN" sz="2000" b="0">
                        <a:solidFill>
                          <a:srgbClr val="1E293B"/>
                        </a:solidFill>
                        <a:latin typeface="Cambria Math" panose="02040503050406030204" pitchFamily="18" charset="0"/>
                      </a:rPr>
                      <m:t>B</m:t>
                    </m:r>
                  </m:oMath>
                </a14:m>
                <a:r>
                  <a:rPr sz="2000">
                    <a:solidFill>
                      <a:srgbClr val="1E293B"/>
                    </a:solidFill>
                    <a:latin typeface="Calibri"/>
                  </a:rPr>
                  <a:t>. Vận tốc chèo 6 km/h, chạy bộ 8 km/h. Anh phải chèo thuyền sang bờ ở điểm nào?</a:t>
                </a:r>
              </a:p>
            </p:txBody>
          </p:sp>
        </mc:Choice>
        <mc:Fallback>
          <p:sp>
            <p:nvSpPr>
              <p:cNvPr id="7" name="TextBox 6"/>
              <p:cNvSpPr txBox="1"/>
              <p:nvPr/>
            </p:nvSpPr>
            <p:spPr>
              <a:xfrm>
                <a:off x="548640" y="1371600"/>
                <a:ext cx="877824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2.</a:t>
                </a:r>
                <a:r>
                  <a:rPr sz="2000">
                    <a:solidFill>
                      <a:srgbClr val="1E293B"/>
                    </a:solidFill>
                    <a:latin typeface="Calibri"/>
                  </a:rPr>
                  <a:t> Anh An chèo thuyền từ </a:t>
                </a:r>
                <a:r>
                  <a:rPr lang="vi-VN"/>
                  <a:t>A</a:t>
                </a:r>
                <a:r>
                  <a:rPr sz="2000">
                    <a:solidFill>
                      <a:srgbClr val="1E293B"/>
                    </a:solidFill>
                    <a:latin typeface="Calibri"/>
                  </a:rPr>
                  <a:t> trên bờ sông rộng 3 km, muốn đến </a:t>
                </a:r>
                <a:r>
                  <a:rPr lang="vi-VN"/>
                  <a:t>B</a:t>
                </a:r>
                <a:r>
                  <a:rPr sz="2000">
                    <a:solidFill>
                      <a:srgbClr val="1E293B"/>
                    </a:solidFill>
                    <a:latin typeface="Calibri"/>
                  </a:rPr>
                  <a:t> ở bờ đối diện cách 8 km về phía hạ lưu càng nhanh càng tốt (H.1.35): chèo đến </a:t>
                </a:r>
                <a:r>
                  <a:rPr lang="vi-VN"/>
                  <a:t>D</a:t>
                </a:r>
                <a:r>
                  <a:rPr sz="2000">
                    <a:solidFill>
                      <a:srgbClr val="1E293B"/>
                    </a:solidFill>
                    <a:latin typeface="Calibri"/>
                  </a:rPr>
                  <a:t> giữa </a:t>
                </a:r>
                <a:r>
                  <a:rPr lang="vi-VN"/>
                  <a:t>C</a:t>
                </a:r>
                <a:r>
                  <a:rPr sz="2000">
                    <a:solidFill>
                      <a:srgbClr val="1E293B"/>
                    </a:solidFill>
                    <a:latin typeface="Calibri"/>
                  </a:rPr>
                  <a:t> và </a:t>
                </a:r>
                <a:r>
                  <a:rPr lang="vi-VN"/>
                  <a:t>B</a:t>
                </a:r>
                <a:r>
                  <a:rPr sz="2000">
                    <a:solidFill>
                      <a:srgbClr val="1E293B"/>
                    </a:solidFill>
                    <a:latin typeface="Calibri"/>
                  </a:rPr>
                  <a:t> rồi chạy bộ đến </a:t>
                </a:r>
                <a:r>
                  <a:rPr lang="vi-VN"/>
                  <a:t>B</a:t>
                </a:r>
                <a:r>
                  <a:rPr sz="2000">
                    <a:solidFill>
                      <a:srgbClr val="1E293B"/>
                    </a:solidFill>
                    <a:latin typeface="Calibri"/>
                  </a:rPr>
                  <a:t>. Vận tốc chèo 6 km/h, chạy bộ 8 km/h. Anh phải chèo thuyền sang bờ ở điểm nào?</a:t>
                </a:r>
              </a:p>
            </p:txBody>
          </p:sp>
        </mc:Fallback>
      </mc:AlternateContent>
      <p:sp>
        <p:nvSpPr>
          <p:cNvPr id="8" name="s1_nen"/>
          <p:cNvSpPr/>
          <p:nvPr/>
        </p:nvSpPr>
        <p:spPr>
          <a:xfrm>
            <a:off x="548640" y="3160776"/>
            <a:ext cx="8778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97352"/>
                <a:ext cx="8449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Đặt </a:t>
                </a:r>
                <a14:m>
                  <m:oMath xmlns:m="http://schemas.openxmlformats.org/officeDocument/2006/math">
                    <m:r>
                      <a:rPr lang="vi-VN" sz="2000" b="0">
                        <a:solidFill>
                          <a:srgbClr val="1E293B"/>
                        </a:solidFill>
                        <a:latin typeface="Cambria Math" panose="02040503050406030204" pitchFamily="18" charset="0"/>
                      </a:rPr>
                      <m:t>CD=x</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0≤x≤8</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T(x)=</m:t>
                    </m:r>
                    <m:f>
                      <m:fPr>
                        <m:type m:val="bar"/>
                      </m:fPr>
                      <m:num>
                        <m:rad>
                          <m:radPr>
                            <m:degHide m:val="on"/>
                          </m:radPr>
                          <m:deg/>
                          <m:e>
                            <m:r>
                              <a:rPr lang="vi-VN" sz="2000" b="0">
                                <a:solidFill>
                                  <a:srgbClr val="1E293B"/>
                                </a:solidFill>
                                <a:latin typeface="Cambria Math" panose="02040503050406030204" pitchFamily="18" charset="0"/>
                              </a:rPr>
                              <m:t>9+</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e>
                        </m:rad>
                      </m:num>
                      <m:den>
                        <m:r>
                          <a:rPr lang="vi-VN" sz="2000" b="0">
                            <a:solidFill>
                              <a:srgbClr val="1E293B"/>
                            </a:solidFill>
                            <a:latin typeface="Cambria Math" panose="02040503050406030204" pitchFamily="18" charset="0"/>
                          </a:rPr>
                          <m:t>6</m:t>
                        </m:r>
                      </m:den>
                    </m:f>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8−x</m:t>
                        </m:r>
                      </m:num>
                      <m:den>
                        <m:r>
                          <a:rPr lang="vi-VN" sz="2000" b="0">
                            <a:solidFill>
                              <a:srgbClr val="1E293B"/>
                            </a:solidFill>
                            <a:latin typeface="Cambria Math" panose="02040503050406030204" pitchFamily="18" charset="0"/>
                          </a:rPr>
                          <m:t>8</m:t>
                        </m:r>
                      </m:den>
                    </m:f>
                  </m:oMath>
                </a14:m>
                <a:r>
                  <a:rPr sz="2000">
                    <a:solidFill>
                      <a:srgbClr val="1E293B"/>
                    </a:solidFill>
                    <a:latin typeface="Calibri"/>
                  </a:rPr>
                  <a:t> (giờ).</a:t>
                </a:r>
              </a:p>
            </p:txBody>
          </p:sp>
        </mc:Choice>
        <mc:Fallback>
          <p:sp>
            <p:nvSpPr>
              <p:cNvPr id="9" name="TextBox 8"/>
              <p:cNvSpPr txBox="1"/>
              <p:nvPr/>
            </p:nvSpPr>
            <p:spPr>
              <a:xfrm>
                <a:off x="713232" y="3197352"/>
                <a:ext cx="8449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Đặt </a:t>
                </a:r>
                <a:r>
                  <a:rPr lang="vi-VN"/>
                  <a:t>CD=x</a:t>
                </a:r>
                <a:r>
                  <a:rPr sz="2000">
                    <a:solidFill>
                      <a:srgbClr val="1E293B"/>
                    </a:solidFill>
                    <a:latin typeface="Calibri"/>
                  </a:rPr>
                  <a:t> (</a:t>
                </a:r>
                <a:r>
                  <a:rPr lang="vi-VN"/>
                  <a:t>0\le x\le 8</a:t>
                </a:r>
                <a:r>
                  <a:rPr sz="2000">
                    <a:solidFill>
                      <a:srgbClr val="1E293B"/>
                    </a:solidFill>
                    <a:latin typeface="Calibri"/>
                  </a:rPr>
                  <a:t>): </a:t>
                </a:r>
                <a:r>
                  <a:rPr lang="vi-VN"/>
                  <a:t>T(x)=\frac{\sqrt{9+x^2}}{6}+\frac{8-x}{8}</a:t>
                </a:r>
                <a:r>
                  <a:rPr sz="2000">
                    <a:solidFill>
                      <a:srgbClr val="1E293B"/>
                    </a:solidFill>
                    <a:latin typeface="Calibri"/>
                  </a:rPr>
                  <a:t> (giờ).</a:t>
                </a:r>
              </a:p>
            </p:txBody>
          </p:sp>
        </mc:Fallback>
      </mc:AlternateContent>
      <p:sp>
        <p:nvSpPr>
          <p:cNvPr id="10" name="s2_nen"/>
          <p:cNvSpPr/>
          <p:nvPr/>
        </p:nvSpPr>
        <p:spPr>
          <a:xfrm>
            <a:off x="548640" y="4096511"/>
            <a:ext cx="8778240" cy="9814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33087"/>
                <a:ext cx="8449056" cy="9083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T</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m:t>
                    </m:r>
                    <m:f>
                      <m:fPr>
                        <m:type m:val="bar"/>
                      </m:fPr>
                      <m:num>
                        <m:r>
                          <a:rPr lang="vi-VN" sz="2000" b="0">
                            <a:solidFill>
                              <a:srgbClr val="1E293B"/>
                            </a:solidFill>
                            <a:latin typeface="Cambria Math" panose="02040503050406030204" pitchFamily="18" charset="0"/>
                          </a:rPr>
                          <m:t>x</m:t>
                        </m:r>
                      </m:num>
                      <m:den>
                        <m:r>
                          <a:rPr lang="vi-VN" sz="2000" b="0">
                            <a:solidFill>
                              <a:srgbClr val="1E293B"/>
                            </a:solidFill>
                            <a:latin typeface="Cambria Math" panose="02040503050406030204" pitchFamily="18" charset="0"/>
                          </a:rPr>
                          <m:t>6</m:t>
                        </m:r>
                        <m:rad>
                          <m:radPr>
                            <m:degHide m:val="on"/>
                          </m:radPr>
                          <m:deg/>
                          <m:e>
                            <m:r>
                              <a:rPr lang="vi-VN" sz="2000" b="0">
                                <a:solidFill>
                                  <a:srgbClr val="1E293B"/>
                                </a:solidFill>
                                <a:latin typeface="Cambria Math" panose="02040503050406030204" pitchFamily="18" charset="0"/>
                              </a:rPr>
                              <m:t>9+</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e>
                        </m:rad>
                      </m:den>
                    </m:f>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8</m:t>
                        </m:r>
                      </m:den>
                    </m:f>
                    <m:r>
                      <a:rPr lang="vi-VN" sz="2000" b="0">
                        <a:solidFill>
                          <a:srgbClr val="1E293B"/>
                        </a:solidFill>
                        <a:latin typeface="Cambria Math" panose="02040503050406030204" pitchFamily="18" charset="0"/>
                      </a:rPr>
                      <m:t>=0⇔4x=3</m:t>
                    </m:r>
                    <m:rad>
                      <m:radPr>
                        <m:degHide m:val="on"/>
                      </m:radPr>
                      <m:deg/>
                      <m:e>
                        <m:r>
                          <a:rPr lang="vi-VN" sz="2000" b="0">
                            <a:solidFill>
                              <a:srgbClr val="1E293B"/>
                            </a:solidFill>
                            <a:latin typeface="Cambria Math" panose="02040503050406030204" pitchFamily="18" charset="0"/>
                          </a:rPr>
                          <m:t>9+</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e>
                    </m:rad>
                    <m:r>
                      <a:rPr lang="vi-VN" sz="2000" b="0">
                        <a:solidFill>
                          <a:srgbClr val="1E293B"/>
                        </a:solidFill>
                        <a:latin typeface="Cambria Math" panose="02040503050406030204" pitchFamily="18" charset="0"/>
                      </a:rPr>
                      <m:t>⇔x=</m:t>
                    </m:r>
                    <m:f>
                      <m:fPr>
                        <m:type m:val="bar"/>
                      </m:fPr>
                      <m:num>
                        <m:r>
                          <a:rPr lang="vi-VN" sz="2000" b="0">
                            <a:solidFill>
                              <a:srgbClr val="1E293B"/>
                            </a:solidFill>
                            <a:latin typeface="Cambria Math" panose="02040503050406030204" pitchFamily="18" charset="0"/>
                          </a:rPr>
                          <m:t>9</m:t>
                        </m:r>
                      </m:num>
                      <m:den>
                        <m:rad>
                          <m:radPr>
                            <m:degHide m:val="on"/>
                          </m:radPr>
                          <m:deg/>
                          <m:e>
                            <m:r>
                              <a:rPr lang="vi-VN" sz="2000" b="0">
                                <a:solidFill>
                                  <a:srgbClr val="1E293B"/>
                                </a:solidFill>
                                <a:latin typeface="Cambria Math" panose="02040503050406030204" pitchFamily="18" charset="0"/>
                              </a:rPr>
                              <m:t>7</m:t>
                            </m:r>
                          </m:e>
                        </m:rad>
                      </m:den>
                    </m:f>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40</m:t>
                    </m:r>
                  </m:oMath>
                </a14:m>
                <a:r>
                  <a:rPr sz="2000">
                    <a:solidFill>
                      <a:srgbClr val="1E293B"/>
                    </a:solidFill>
                    <a:latin typeface="Calibri"/>
                  </a:rPr>
                  <a:t>.</a:t>
                </a:r>
              </a:p>
            </p:txBody>
          </p:sp>
        </mc:Choice>
        <mc:Fallback>
          <p:sp>
            <p:nvSpPr>
              <p:cNvPr id="11" name="TextBox 10"/>
              <p:cNvSpPr txBox="1"/>
              <p:nvPr/>
            </p:nvSpPr>
            <p:spPr>
              <a:xfrm>
                <a:off x="713232" y="4133087"/>
                <a:ext cx="8449056" cy="9083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T'(x)=\frac{x}{6\sqrt{9+x^2}}-\frac{1}{8}=0\Leftrightarrow 4x=3\sqrt{9+x^2}\Leftrightarrow x=\frac{9}{\sqrt{7}}\approx 3{,}40</a:t>
                </a:r>
                <a:r>
                  <a:rPr sz="2000">
                    <a:solidFill>
                      <a:srgbClr val="1E293B"/>
                    </a:solidFill>
                    <a:latin typeface="Calibri"/>
                  </a:rPr>
                  <a:t>.</a:t>
                </a:r>
              </a:p>
            </p:txBody>
          </p:sp>
        </mc:Fallback>
      </mc:AlternateContent>
      <p:sp>
        <p:nvSpPr>
          <p:cNvPr id="12" name="s3_nen"/>
          <p:cNvSpPr/>
          <p:nvPr/>
        </p:nvSpPr>
        <p:spPr>
          <a:xfrm>
            <a:off x="548640" y="5169407"/>
            <a:ext cx="8778240" cy="11490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205983"/>
                <a:ext cx="8449056" cy="10759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T(0)=1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T(8)≈1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m:t>
                    </m:r>
                    <m:d>
                      <m:dPr>
                        <m:sepChr m:val=""/>
                      </m:dPr>
                      <m:e>
                        <m:f>
                          <m:fPr>
                            <m:type m:val="bar"/>
                          </m:fPr>
                          <m:num>
                            <m:r>
                              <a:rPr lang="vi-VN" sz="2000" b="0">
                                <a:solidFill>
                                  <a:srgbClr val="1E293B"/>
                                </a:solidFill>
                                <a:latin typeface="Cambria Math" panose="02040503050406030204" pitchFamily="18" charset="0"/>
                              </a:rPr>
                              <m:t>9</m:t>
                            </m:r>
                          </m:num>
                          <m:den>
                            <m:rad>
                              <m:radPr>
                                <m:degHide m:val="on"/>
                              </m:radPr>
                              <m:deg/>
                              <m:e>
                                <m:r>
                                  <a:rPr lang="vi-VN" sz="2000" b="0">
                                    <a:solidFill>
                                      <a:srgbClr val="1E293B"/>
                                    </a:solidFill>
                                    <a:latin typeface="Cambria Math" panose="02040503050406030204" pitchFamily="18" charset="0"/>
                                  </a:rPr>
                                  <m:t>7</m:t>
                                </m:r>
                              </m:e>
                            </m:rad>
                          </m:den>
                        </m:f>
                      </m:e>
                    </m:d>
                    <m:r>
                      <a:rPr lang="vi-VN" sz="2000" b="0">
                        <a:solidFill>
                          <a:srgbClr val="1E293B"/>
                        </a:solidFill>
                        <a:latin typeface="Cambria Math" panose="02040503050406030204" pitchFamily="18" charset="0"/>
                      </a:rPr>
                      <m:t>=1+</m:t>
                    </m:r>
                    <m:f>
                      <m:fPr>
                        <m:type m:val="bar"/>
                      </m:fPr>
                      <m:num>
                        <m:rad>
                          <m:radPr>
                            <m:degHide m:val="on"/>
                          </m:radPr>
                          <m:deg/>
                          <m:e>
                            <m:r>
                              <a:rPr lang="vi-VN" sz="2000" b="0">
                                <a:solidFill>
                                  <a:srgbClr val="1E293B"/>
                                </a:solidFill>
                                <a:latin typeface="Cambria Math" panose="02040503050406030204" pitchFamily="18" charset="0"/>
                              </a:rPr>
                              <m:t>7</m:t>
                            </m:r>
                          </m:e>
                        </m:rad>
                      </m:num>
                      <m:den>
                        <m:r>
                          <a:rPr lang="vi-VN" sz="2000" b="0">
                            <a:solidFill>
                              <a:srgbClr val="1E293B"/>
                            </a:solidFill>
                            <a:latin typeface="Cambria Math" panose="02040503050406030204" pitchFamily="18" charset="0"/>
                          </a:rPr>
                          <m:t>8</m:t>
                        </m:r>
                      </m:den>
                    </m:f>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33</m:t>
                    </m:r>
                  </m:oMath>
                </a14:m>
                <a:r>
                  <a:rPr sz="2000">
                    <a:solidFill>
                      <a:srgbClr val="1E293B"/>
                    </a:solidFill>
                    <a:latin typeface="Calibri"/>
                  </a:rPr>
                  <a:t> giờ. Chèo đến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 cách </a:t>
                </a:r>
                <a14:m>
                  <m:oMath xmlns:m="http://schemas.openxmlformats.org/officeDocument/2006/math">
                    <m:r>
                      <a:rPr lang="vi-VN" sz="2000" b="0">
                        <a:solidFill>
                          <a:srgbClr val="1E293B"/>
                        </a:solidFill>
                        <a:latin typeface="Cambria Math" panose="02040503050406030204" pitchFamily="18" charset="0"/>
                      </a:rPr>
                      <m:t>C</m:t>
                    </m:r>
                  </m:oMath>
                </a14:m>
                <a:r>
                  <a:rPr sz="2000">
                    <a:solidFill>
                      <a:srgbClr val="1E293B"/>
                    </a:solidFill>
                    <a:latin typeface="Calibri"/>
                  </a:rPr>
                  <a:t> khoảng 3,4 km.</a:t>
                </a:r>
              </a:p>
            </p:txBody>
          </p:sp>
        </mc:Choice>
        <mc:Fallback>
          <p:sp>
            <p:nvSpPr>
              <p:cNvPr id="13" name="TextBox 12"/>
              <p:cNvSpPr txBox="1"/>
              <p:nvPr/>
            </p:nvSpPr>
            <p:spPr>
              <a:xfrm>
                <a:off x="713232" y="5205983"/>
                <a:ext cx="8449056" cy="10759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T(0)=1{,}5</a:t>
                </a:r>
                <a:r>
                  <a:rPr sz="2000">
                    <a:solidFill>
                      <a:srgbClr val="1E293B"/>
                    </a:solidFill>
                    <a:latin typeface="Calibri"/>
                  </a:rPr>
                  <a:t>; </a:t>
                </a:r>
                <a:r>
                  <a:rPr lang="vi-VN"/>
                  <a:t>T(8)\approx 1{,}42</a:t>
                </a:r>
                <a:r>
                  <a:rPr sz="2000">
                    <a:solidFill>
                      <a:srgbClr val="1E293B"/>
                    </a:solidFill>
                    <a:latin typeface="Calibri"/>
                  </a:rPr>
                  <a:t>; </a:t>
                </a:r>
                <a:r>
                  <a:rPr lang="vi-VN"/>
                  <a:t>T\left(\frac{9}{\sqrt{7}}\right)=1+\frac{\sqrt{7}}{8}\approx 1{,}33</a:t>
                </a:r>
                <a:r>
                  <a:rPr sz="2000">
                    <a:solidFill>
                      <a:srgbClr val="1E293B"/>
                    </a:solidFill>
                    <a:latin typeface="Calibri"/>
                  </a:rPr>
                  <a:t> giờ. Chèo đến </a:t>
                </a:r>
                <a:r>
                  <a:rPr lang="vi-VN"/>
                  <a:t>D</a:t>
                </a:r>
                <a:r>
                  <a:rPr sz="2000">
                    <a:solidFill>
                      <a:srgbClr val="1E293B"/>
                    </a:solidFill>
                    <a:latin typeface="Calibri"/>
                  </a:rPr>
                  <a:t> cách </a:t>
                </a:r>
                <a:r>
                  <a:rPr lang="vi-VN"/>
                  <a:t>C</a:t>
                </a:r>
                <a:r>
                  <a:rPr sz="2000">
                    <a:solidFill>
                      <a:srgbClr val="1E293B"/>
                    </a:solidFill>
                    <a:latin typeface="Calibri"/>
                  </a:rPr>
                  <a:t> khoảng 3,4 km.</a:t>
                </a:r>
              </a:p>
            </p:txBody>
          </p:sp>
        </mc:Fallback>
      </mc:AlternateContent>
      <p:pic>
        <p:nvPicPr>
          <p:cNvPr id="14" name="Picture 13" descr="b5_h135.png"/>
          <p:cNvPicPr>
            <a:picLocks noChangeAspect="1"/>
          </p:cNvPicPr>
          <p:nvPr/>
        </p:nvPicPr>
        <p:blipFill>
          <a:blip r:embed="rId3"/>
          <a:stretch>
            <a:fillRect/>
          </a:stretch>
        </p:blipFill>
        <p:spPr>
          <a:xfrm>
            <a:off x="9601200" y="1740107"/>
            <a:ext cx="1828800" cy="3469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HÀM CẦU – DOANH THU – LỢI NHUẬN (SGK TR.38)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17</a:t>
            </a:r>
          </a:p>
        </p:txBody>
      </p:sp>
      <p:sp>
        <p:nvSpPr>
          <p:cNvPr id="7" name="Rounded Rectangle 6"/>
          <p:cNvSpPr/>
          <p:nvPr/>
        </p:nvSpPr>
        <p:spPr>
          <a:xfrm>
            <a:off x="548640" y="1645920"/>
            <a:ext cx="11064240" cy="19903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19171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500">
                    <a:solidFill>
                      <a:srgbClr val="1E293B"/>
                    </a:solidFill>
                    <a:latin typeface="Calibri"/>
                  </a:rPr>
                  <a:t>Chi phí biên: </a:t>
                </a:r>
                <a14:m>
                  <m:oMath xmlns:m="http://schemas.openxmlformats.org/officeDocument/2006/math">
                    <m:sSup>
                      <m:e>
                        <m:r>
                          <a:rPr lang="vi-VN" sz="2500" b="0">
                            <a:solidFill>
                              <a:srgbClr val="1E293B"/>
                            </a:solidFill>
                            <a:latin typeface="Cambria Math" panose="02040503050406030204" pitchFamily="18" charset="0"/>
                          </a:rPr>
                          <m:t>C</m:t>
                        </m:r>
                      </m:e>
                      <m:sup>
                        <m:r>
                          <a:rPr lang="vi-VN" sz="2500" b="0">
                            <a:solidFill>
                              <a:srgbClr val="1E293B"/>
                            </a:solidFill>
                            <a:latin typeface="Cambria Math" panose="02040503050406030204" pitchFamily="18" charset="0"/>
                          </a:rPr>
                          <m:t>′</m:t>
                        </m:r>
                      </m:sup>
                    </m:sSup>
                    <m:r>
                      <a:rPr lang="vi-VN" sz="2500" b="0">
                        <a:solidFill>
                          <a:srgbClr val="1E293B"/>
                        </a:solidFill>
                        <a:latin typeface="Cambria Math" panose="02040503050406030204" pitchFamily="18" charset="0"/>
                      </a:rPr>
                      <m:t>(x)</m:t>
                    </m:r>
                  </m:oMath>
                </a14:m>
                <a:r>
                  <a:rPr sz="2500">
                    <a:solidFill>
                      <a:srgbClr val="1E293B"/>
                    </a:solidFill>
                    <a:latin typeface="Calibri"/>
                  </a:rPr>
                  <a:t>.  Hàm cầu (hàm giá): </a:t>
                </a:r>
                <a14:m>
                  <m:oMath xmlns:m="http://schemas.openxmlformats.org/officeDocument/2006/math">
                    <m:r>
                      <a:rPr lang="vi-VN" sz="2500" b="0">
                        <a:solidFill>
                          <a:srgbClr val="1E293B"/>
                        </a:solidFill>
                        <a:latin typeface="Cambria Math" panose="02040503050406030204" pitchFamily="18" charset="0"/>
                      </a:rPr>
                      <m:t>p=p(x)</m:t>
                    </m:r>
                  </m:oMath>
                </a14:m>
                <a:r>
                  <a:rPr sz="2500">
                    <a:solidFill>
                      <a:srgbClr val="1E293B"/>
                    </a:solidFill>
                    <a:latin typeface="Calibri"/>
                  </a:rPr>
                  <a:t> – giá bán mỗi đơn vị khi bán </a:t>
                </a:r>
                <a14:m>
                  <m:oMath xmlns:m="http://schemas.openxmlformats.org/officeDocument/2006/math">
                    <m:r>
                      <a:rPr lang="vi-VN" sz="2500" b="0">
                        <a:solidFill>
                          <a:srgbClr val="1E293B"/>
                        </a:solidFill>
                        <a:latin typeface="Cambria Math" panose="02040503050406030204" pitchFamily="18" charset="0"/>
                      </a:rPr>
                      <m:t>x</m:t>
                    </m:r>
                  </m:oMath>
                </a14:m>
                <a:r>
                  <a:rPr sz="2500">
                    <a:solidFill>
                      <a:srgbClr val="1E293B"/>
                    </a:solidFill>
                    <a:latin typeface="Calibri"/>
                  </a:rPr>
                  <a:t> đơn vị (thường là hàm giảm).</a:t>
                </a:r>
              </a:p>
              <a:p>
                <a:pPr algn="l" marL="365760" indent="-365760">
                  <a:spcAft>
                    <a:spcPts val="800"/>
                  </a:spcAft>
                  <a:buClr>
                    <a:srgbClr val="1E40AF"/>
                  </a:buClr>
                  <a:buFont typeface="Arial"/>
                  <a:buChar char="•"/>
                </a:pPr>
                <a:r>
                  <a:rPr sz="2500">
                    <a:solidFill>
                      <a:srgbClr val="1E293B"/>
                    </a:solidFill>
                    <a:latin typeface="Calibri"/>
                  </a:rPr>
                  <a:t>Hàm doanh thu: </a:t>
                </a:r>
                <a14:m>
                  <m:oMath xmlns:m="http://schemas.openxmlformats.org/officeDocument/2006/math">
                    <m:r>
                      <a:rPr lang="vi-VN" sz="2500" b="0">
                        <a:solidFill>
                          <a:srgbClr val="1E293B"/>
                        </a:solidFill>
                        <a:latin typeface="Cambria Math" panose="02040503050406030204" pitchFamily="18" charset="0"/>
                      </a:rPr>
                      <m:t>R(x)=x·p(x)</m:t>
                    </m:r>
                  </m:oMath>
                </a14:m>
                <a:r>
                  <a:rPr sz="2500">
                    <a:solidFill>
                      <a:srgbClr val="1E293B"/>
                    </a:solidFill>
                    <a:latin typeface="Calibri"/>
                  </a:rPr>
                  <a:t>; hàm doanh thu biên: </a:t>
                </a:r>
                <a14:m>
                  <m:oMath xmlns:m="http://schemas.openxmlformats.org/officeDocument/2006/math">
                    <m:sSup>
                      <m:e>
                        <m:r>
                          <a:rPr lang="vi-VN" sz="2500" b="0">
                            <a:solidFill>
                              <a:srgbClr val="1E293B"/>
                            </a:solidFill>
                            <a:latin typeface="Cambria Math" panose="02040503050406030204" pitchFamily="18" charset="0"/>
                          </a:rPr>
                          <m:t>R</m:t>
                        </m:r>
                      </m:e>
                      <m:sup>
                        <m:r>
                          <a:rPr lang="vi-VN" sz="2500" b="0">
                            <a:solidFill>
                              <a:srgbClr val="1E293B"/>
                            </a:solidFill>
                            <a:latin typeface="Cambria Math" panose="02040503050406030204" pitchFamily="18" charset="0"/>
                          </a:rPr>
                          <m:t>′</m:t>
                        </m:r>
                      </m:sup>
                    </m:sSup>
                    <m:r>
                      <a:rPr lang="vi-VN" sz="2500" b="0">
                        <a:solidFill>
                          <a:srgbClr val="1E293B"/>
                        </a:solidFill>
                        <a:latin typeface="Cambria Math" panose="02040503050406030204" pitchFamily="18" charset="0"/>
                      </a:rPr>
                      <m:t>(x)</m:t>
                    </m:r>
                  </m:oMath>
                </a14:m>
                <a:r>
                  <a:rPr sz="2500">
                    <a:solidFill>
                      <a:srgbClr val="1E293B"/>
                    </a:solidFill>
                    <a:latin typeface="Calibri"/>
                  </a:rPr>
                  <a:t>.</a:t>
                </a:r>
              </a:p>
              <a:p>
                <a:pPr algn="l" marL="365760" indent="-365760">
                  <a:spcAft>
                    <a:spcPts val="800"/>
                  </a:spcAft>
                  <a:buClr>
                    <a:srgbClr val="1E40AF"/>
                  </a:buClr>
                  <a:buFont typeface="Arial"/>
                  <a:buChar char="•"/>
                </a:pPr>
                <a:r>
                  <a:rPr sz="2500">
                    <a:solidFill>
                      <a:srgbClr val="1E293B"/>
                    </a:solidFill>
                    <a:latin typeface="Calibri"/>
                  </a:rPr>
                  <a:t>Hàm lợi nhuận: </a:t>
                </a:r>
                <a14:m>
                  <m:oMath xmlns:m="http://schemas.openxmlformats.org/officeDocument/2006/math">
                    <m:r>
                      <a:rPr lang="vi-VN" sz="2500" b="0">
                        <a:solidFill>
                          <a:srgbClr val="1E293B"/>
                        </a:solidFill>
                        <a:latin typeface="Cambria Math" panose="02040503050406030204" pitchFamily="18" charset="0"/>
                      </a:rPr>
                      <m:t>P(x)=R(x)−C(x)</m:t>
                    </m:r>
                  </m:oMath>
                </a14:m>
                <a:r>
                  <a:rPr sz="2500">
                    <a:solidFill>
                      <a:srgbClr val="1E293B"/>
                    </a:solidFill>
                    <a:latin typeface="Calibri"/>
                  </a:rPr>
                  <a:t>; hàm lợi nhuận biên: </a:t>
                </a:r>
                <a14:m>
                  <m:oMath xmlns:m="http://schemas.openxmlformats.org/officeDocument/2006/math">
                    <m:sSup>
                      <m:e>
                        <m:r>
                          <a:rPr lang="vi-VN" sz="2500" b="0">
                            <a:solidFill>
                              <a:srgbClr val="1E293B"/>
                            </a:solidFill>
                            <a:latin typeface="Cambria Math" panose="02040503050406030204" pitchFamily="18" charset="0"/>
                          </a:rPr>
                          <m:t>P</m:t>
                        </m:r>
                      </m:e>
                      <m:sup>
                        <m:r>
                          <a:rPr lang="vi-VN" sz="2500" b="0">
                            <a:solidFill>
                              <a:srgbClr val="1E293B"/>
                            </a:solidFill>
                            <a:latin typeface="Cambria Math" panose="02040503050406030204" pitchFamily="18" charset="0"/>
                          </a:rPr>
                          <m:t>′</m:t>
                        </m:r>
                      </m:sup>
                    </m:sSup>
                    <m:r>
                      <a:rPr lang="vi-VN" sz="2500" b="0">
                        <a:solidFill>
                          <a:srgbClr val="1E293B"/>
                        </a:solidFill>
                        <a:latin typeface="Cambria Math" panose="02040503050406030204" pitchFamily="18" charset="0"/>
                      </a:rPr>
                      <m:t>(x)</m:t>
                    </m:r>
                  </m:oMath>
                </a14:m>
                <a:r>
                  <a:rPr sz="2500">
                    <a:solidFill>
                      <a:srgbClr val="1E293B"/>
                    </a:solidFill>
                    <a:latin typeface="Calibri"/>
                  </a:rPr>
                  <a:t>.</a:t>
                </a:r>
              </a:p>
            </p:txBody>
          </p:sp>
        </mc:Choice>
        <mc:Fallback>
          <p:sp>
            <p:nvSpPr>
              <p:cNvPr id="8" name="TextBox 7"/>
              <p:cNvSpPr txBox="1"/>
              <p:nvPr/>
            </p:nvSpPr>
            <p:spPr>
              <a:xfrm>
                <a:off x="713232" y="1682496"/>
                <a:ext cx="10735056" cy="19171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500">
                    <a:solidFill>
                      <a:srgbClr val="1E293B"/>
                    </a:solidFill>
                    <a:latin typeface="Calibri"/>
                  </a:rPr>
                  <a:t>Chi phí biên: </a:t>
                </a:r>
                <a:r>
                  <a:rPr lang="vi-VN"/>
                  <a:t>C'(x)</a:t>
                </a:r>
                <a:r>
                  <a:rPr sz="2500">
                    <a:solidFill>
                      <a:srgbClr val="1E293B"/>
                    </a:solidFill>
                    <a:latin typeface="Calibri"/>
                  </a:rPr>
                  <a:t>.  Hàm cầu (hàm giá): </a:t>
                </a:r>
                <a:r>
                  <a:rPr lang="vi-VN"/>
                  <a:t>p=p(x)</a:t>
                </a:r>
                <a:r>
                  <a:rPr sz="2500">
                    <a:solidFill>
                      <a:srgbClr val="1E293B"/>
                    </a:solidFill>
                    <a:latin typeface="Calibri"/>
                  </a:rPr>
                  <a:t> – giá bán mỗi đơn vị khi bán </a:t>
                </a:r>
                <a:r>
                  <a:rPr lang="vi-VN"/>
                  <a:t>x</a:t>
                </a:r>
                <a:r>
                  <a:rPr sz="2500">
                    <a:solidFill>
                      <a:srgbClr val="1E293B"/>
                    </a:solidFill>
                    <a:latin typeface="Calibri"/>
                  </a:rPr>
                  <a:t> đơn vị (thường là hàm giảm).</a:t>
                </a:r>
              </a:p>
              <a:p>
                <a:pPr algn="l" marL="365760" indent="-365760">
                  <a:spcAft>
                    <a:spcPts val="800"/>
                  </a:spcAft>
                  <a:buClr>
                    <a:srgbClr val="1E40AF"/>
                  </a:buClr>
                  <a:buFont typeface="Arial"/>
                  <a:buChar char="•"/>
                </a:pPr>
                <a:r>
                  <a:rPr sz="2500">
                    <a:solidFill>
                      <a:srgbClr val="1E293B"/>
                    </a:solidFill>
                    <a:latin typeface="Calibri"/>
                  </a:rPr>
                  <a:t>Hàm doanh thu: </a:t>
                </a:r>
                <a:r>
                  <a:rPr lang="vi-VN"/>
                  <a:t>R(x)=x\cdot p(x)</a:t>
                </a:r>
                <a:r>
                  <a:rPr sz="2500">
                    <a:solidFill>
                      <a:srgbClr val="1E293B"/>
                    </a:solidFill>
                    <a:latin typeface="Calibri"/>
                  </a:rPr>
                  <a:t>; hàm doanh thu biên: </a:t>
                </a:r>
                <a:r>
                  <a:rPr lang="vi-VN"/>
                  <a:t>R'(x)</a:t>
                </a:r>
                <a:r>
                  <a:rPr sz="2500">
                    <a:solidFill>
                      <a:srgbClr val="1E293B"/>
                    </a:solidFill>
                    <a:latin typeface="Calibri"/>
                  </a:rPr>
                  <a:t>.</a:t>
                </a:r>
              </a:p>
              <a:p>
                <a:pPr algn="l" marL="365760" indent="-365760">
                  <a:spcAft>
                    <a:spcPts val="800"/>
                  </a:spcAft>
                  <a:buClr>
                    <a:srgbClr val="1E40AF"/>
                  </a:buClr>
                  <a:buFont typeface="Arial"/>
                  <a:buChar char="•"/>
                </a:pPr>
                <a:r>
                  <a:rPr sz="2500">
                    <a:solidFill>
                      <a:srgbClr val="1E293B"/>
                    </a:solidFill>
                    <a:latin typeface="Calibri"/>
                  </a:rPr>
                  <a:t>Hàm lợi nhuận: </a:t>
                </a:r>
                <a:r>
                  <a:rPr lang="vi-VN"/>
                  <a:t>P(x)=R(x)-C(x)</a:t>
                </a:r>
                <a:r>
                  <a:rPr sz="2500">
                    <a:solidFill>
                      <a:srgbClr val="1E293B"/>
                    </a:solidFill>
                    <a:latin typeface="Calibri"/>
                  </a:rPr>
                  <a:t>; hàm lợi nhuận biên: </a:t>
                </a:r>
                <a:r>
                  <a:rPr lang="vi-VN"/>
                  <a:t>P'(x)</a:t>
                </a:r>
                <a:r>
                  <a:rPr sz="2500">
                    <a:solidFill>
                      <a:srgbClr val="1E293B"/>
                    </a:solidFill>
                    <a:latin typeface="Calibri"/>
                  </a:rPr>
                  <a:t>.</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6 – GIẢI TÌNH HUỐNG MỞ ĐẦU (SGK TR.38 – 39)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Gọi </a:t>
                </a:r>
                <a14:m>
                  <m:oMath xmlns:m="http://schemas.openxmlformats.org/officeDocument/2006/math">
                    <m:r>
                      <a:rPr lang="vi-VN" sz="2100" b="0">
                        <a:solidFill>
                          <a:srgbClr val="1E293B"/>
                        </a:solidFill>
                        <a:latin typeface="Cambria Math" panose="02040503050406030204" pitchFamily="18" charset="0"/>
                      </a:rPr>
                      <m:t>p</m:t>
                    </m:r>
                  </m:oMath>
                </a14:m>
                <a:r>
                  <a:rPr sz="2100">
                    <a:solidFill>
                      <a:srgbClr val="1E293B"/>
                    </a:solidFill>
                    <a:latin typeface="Calibri"/>
                  </a:rPr>
                  <a:t> (nghìn đồng) là giá mỗi vé,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là số khán giả. Hàm cầu bậc nhất qua </a:t>
                </a:r>
                <a14:m>
                  <m:oMath xmlns:m="http://schemas.openxmlformats.org/officeDocument/2006/math">
                    <m:d>
                      <m:dPr>
                        <m:sepChr m:val=""/>
                      </m:dPr>
                      <m:e>
                        <m:r>
                          <a:rPr lang="vi-VN" sz="2100" b="0">
                            <a:solidFill>
                              <a:srgbClr val="1E293B"/>
                            </a:solidFill>
                            <a:latin typeface="Cambria Math" panose="02040503050406030204" pitchFamily="18" charset="0"/>
                          </a:rPr>
                          <m:t>27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100</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30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90</m:t>
                        </m:r>
                      </m:e>
                    </m:d>
                  </m:oMath>
                </a14:m>
                <a:r>
                  <a:rPr sz="2100">
                    <a:solidFill>
                      <a:srgbClr val="1E293B"/>
                    </a:solidFill>
                    <a:latin typeface="Calibri"/>
                  </a:rPr>
                  <a:t>.</a:t>
                </a:r>
              </a:p>
            </p:txBody>
          </p:sp>
        </mc:Choice>
        <mc:Fallback>
          <p:sp>
            <p:nvSpPr>
              <p:cNvPr id="7" name="TextBox 6"/>
              <p:cNvSpPr txBox="1"/>
              <p:nvPr/>
            </p:nvSpPr>
            <p:spPr>
              <a:xfrm>
                <a:off x="548640" y="1371600"/>
                <a:ext cx="768096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Gọi </a:t>
                </a:r>
                <a:r>
                  <a:rPr lang="vi-VN"/>
                  <a:t>p</a:t>
                </a:r>
                <a:r>
                  <a:rPr sz="2100">
                    <a:solidFill>
                      <a:srgbClr val="1E293B"/>
                    </a:solidFill>
                    <a:latin typeface="Calibri"/>
                  </a:rPr>
                  <a:t> (nghìn đồng) là giá mỗi vé, </a:t>
                </a:r>
                <a:r>
                  <a:rPr lang="vi-VN"/>
                  <a:t>x</a:t>
                </a:r>
                <a:r>
                  <a:rPr sz="2100">
                    <a:solidFill>
                      <a:srgbClr val="1E293B"/>
                    </a:solidFill>
                    <a:latin typeface="Calibri"/>
                  </a:rPr>
                  <a:t> là số khán giả. Hàm cầu bậc nhất qua </a:t>
                </a:r>
                <a:r>
                  <a:rPr lang="vi-VN"/>
                  <a:t>(27\ 000;\ 100)</a:t>
                </a:r>
                <a:r>
                  <a:rPr sz="2100">
                    <a:solidFill>
                      <a:srgbClr val="1E293B"/>
                    </a:solidFill>
                    <a:latin typeface="Calibri"/>
                  </a:rPr>
                  <a:t> và </a:t>
                </a:r>
                <a:r>
                  <a:rPr lang="vi-VN"/>
                  <a:t>(30\ 000;\ 90)</a:t>
                </a:r>
                <a:r>
                  <a:rPr sz="2100">
                    <a:solidFill>
                      <a:srgbClr val="1E293B"/>
                    </a:solidFill>
                    <a:latin typeface="Calibri"/>
                  </a:rPr>
                  <a:t>.</a:t>
                </a:r>
              </a:p>
            </p:txBody>
          </p:sp>
        </mc:Fallback>
      </mc:AlternateContent>
      <p:sp>
        <p:nvSpPr>
          <p:cNvPr id="8" name="s1_nen"/>
          <p:cNvSpPr/>
          <p:nvPr/>
        </p:nvSpPr>
        <p:spPr>
          <a:xfrm>
            <a:off x="548640" y="2276856"/>
            <a:ext cx="768096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13432"/>
                <a:ext cx="735177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p−100=−</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300</m:t>
                        </m:r>
                      </m:den>
                    </m:f>
                    <m:r>
                      <a:rPr lang="vi-VN" sz="2100" b="0">
                        <a:solidFill>
                          <a:srgbClr val="1E293B"/>
                        </a:solidFill>
                        <a:latin typeface="Cambria Math" panose="02040503050406030204" pitchFamily="18" charset="0"/>
                      </a:rPr>
                      <m:t>(x−27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oMath>
                </a14:m>
                <a:r>
                  <a:rPr sz="2100">
                    <a:solidFill>
                      <a:srgbClr val="1E293B"/>
                    </a:solidFill>
                    <a:latin typeface="Calibri"/>
                  </a:rPr>
                  <a:t>, tức là </a:t>
                </a:r>
                <a14:m>
                  <m:oMath xmlns:m="http://schemas.openxmlformats.org/officeDocument/2006/math">
                    <m:r>
                      <a:rPr lang="vi-VN" sz="2100" b="0">
                        <a:solidFill>
                          <a:srgbClr val="1E293B"/>
                        </a:solidFill>
                        <a:latin typeface="Cambria Math" panose="02040503050406030204" pitchFamily="18" charset="0"/>
                      </a:rPr>
                      <m:t>x=−300p+57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oMath>
                </a14:m>
                <a:r>
                  <a:rPr sz="2100">
                    <a:solidFill>
                      <a:srgbClr val="1E293B"/>
                    </a:solidFill>
                    <a:latin typeface="Calibri"/>
                  </a:rPr>
                  <a:t>.</a:t>
                </a:r>
              </a:p>
            </p:txBody>
          </p:sp>
        </mc:Choice>
        <mc:Fallback>
          <p:sp>
            <p:nvSpPr>
              <p:cNvPr id="9" name="TextBox 8"/>
              <p:cNvSpPr txBox="1"/>
              <p:nvPr/>
            </p:nvSpPr>
            <p:spPr>
              <a:xfrm>
                <a:off x="713232" y="2313432"/>
                <a:ext cx="735177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p-100=-\frac{1}{300}(x-27\ 000)</a:t>
                </a:r>
                <a:r>
                  <a:rPr sz="2100">
                    <a:solidFill>
                      <a:srgbClr val="1E293B"/>
                    </a:solidFill>
                    <a:latin typeface="Calibri"/>
                  </a:rPr>
                  <a:t>, tức là </a:t>
                </a:r>
                <a:r>
                  <a:rPr lang="vi-VN"/>
                  <a:t>x=-300p+57\ 000</a:t>
                </a:r>
                <a:r>
                  <a:rPr sz="2100">
                    <a:solidFill>
                      <a:srgbClr val="1E293B"/>
                    </a:solidFill>
                    <a:latin typeface="Calibri"/>
                  </a:rPr>
                  <a:t>.</a:t>
                </a:r>
              </a:p>
            </p:txBody>
          </p:sp>
        </mc:Fallback>
      </mc:AlternateContent>
      <p:sp>
        <p:nvSpPr>
          <p:cNvPr id="10" name="s2_nen"/>
          <p:cNvSpPr/>
          <p:nvPr/>
        </p:nvSpPr>
        <p:spPr>
          <a:xfrm>
            <a:off x="548640" y="3097529"/>
            <a:ext cx="76809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134106"/>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Doanh thu </a:t>
                </a:r>
                <a14:m>
                  <m:oMath xmlns:m="http://schemas.openxmlformats.org/officeDocument/2006/math">
                    <m:r>
                      <a:rPr lang="vi-VN" sz="2100" b="0">
                        <a:solidFill>
                          <a:srgbClr val="1E293B"/>
                        </a:solidFill>
                        <a:latin typeface="Cambria Math" panose="02040503050406030204" pitchFamily="18" charset="0"/>
                      </a:rPr>
                      <m:t>R(p)=px=−300</m:t>
                    </m:r>
                    <m:sSup>
                      <m:e>
                        <m:r>
                          <a:rPr lang="vi-VN" sz="2100" b="0">
                            <a:solidFill>
                              <a:srgbClr val="1E293B"/>
                            </a:solidFill>
                            <a:latin typeface="Cambria Math" panose="02040503050406030204" pitchFamily="18" charset="0"/>
                          </a:rPr>
                          <m:t>p</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+57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000p</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(p)=−600p+57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000=0⇔p=95</m:t>
                    </m:r>
                  </m:oMath>
                </a14:m>
                <a:r>
                  <a:rPr sz="2100">
                    <a:solidFill>
                      <a:srgbClr val="1E293B"/>
                    </a:solidFill>
                    <a:latin typeface="Calibri"/>
                  </a:rPr>
                  <a:t>.</a:t>
                </a:r>
              </a:p>
            </p:txBody>
          </p:sp>
        </mc:Choice>
        <mc:Fallback>
          <p:sp>
            <p:nvSpPr>
              <p:cNvPr id="11" name="TextBox 10"/>
              <p:cNvSpPr txBox="1"/>
              <p:nvPr/>
            </p:nvSpPr>
            <p:spPr>
              <a:xfrm>
                <a:off x="713232" y="3134106"/>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Doanh thu </a:t>
                </a:r>
                <a:r>
                  <a:rPr lang="vi-VN"/>
                  <a:t>R(p)=px=-300p^2+57\ 000p</a:t>
                </a:r>
                <a:r>
                  <a:rPr sz="2100">
                    <a:solidFill>
                      <a:srgbClr val="1E293B"/>
                    </a:solidFill>
                    <a:latin typeface="Calibri"/>
                  </a:rPr>
                  <a:t>; </a:t>
                </a:r>
                <a:r>
                  <a:rPr lang="vi-VN"/>
                  <a:t>R'(p)=-600p+57\ 000=0\Leftrightarrow p=95</a:t>
                </a:r>
                <a:r>
                  <a:rPr sz="2100">
                    <a:solidFill>
                      <a:srgbClr val="1E293B"/>
                    </a:solidFill>
                    <a:latin typeface="Calibri"/>
                  </a:rPr>
                  <a:t>.</a:t>
                </a:r>
              </a:p>
            </p:txBody>
          </p:sp>
        </mc:Fallback>
      </mc:AlternateContent>
      <p:sp>
        <p:nvSpPr>
          <p:cNvPr id="12" name="s3_nen"/>
          <p:cNvSpPr/>
          <p:nvPr/>
        </p:nvSpPr>
        <p:spPr>
          <a:xfrm>
            <a:off x="548640" y="4094225"/>
            <a:ext cx="76809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130801"/>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R</m:t>
                    </m:r>
                  </m:oMath>
                </a14:m>
                <a:r>
                  <a:rPr sz="2100">
                    <a:solidFill>
                      <a:srgbClr val="1E293B"/>
                    </a:solidFill>
                    <a:latin typeface="Calibri"/>
                  </a:rPr>
                  <a:t> lớn nhất bằng 2 707 500 (nghìn đồng) khi </a:t>
                </a:r>
                <a14:m>
                  <m:oMath xmlns:m="http://schemas.openxmlformats.org/officeDocument/2006/math">
                    <m:r>
                      <a:rPr lang="vi-VN" sz="2100" b="0">
                        <a:solidFill>
                          <a:srgbClr val="1E293B"/>
                        </a:solidFill>
                        <a:latin typeface="Cambria Math" panose="02040503050406030204" pitchFamily="18" charset="0"/>
                      </a:rPr>
                      <m:t>p=95</m:t>
                    </m:r>
                  </m:oMath>
                </a14:m>
                <a:r>
                  <a:rPr sz="2100">
                    <a:solidFill>
                      <a:srgbClr val="1E293B"/>
                    </a:solidFill>
                    <a:latin typeface="Calibri"/>
                  </a:rPr>
                  <a:t>: nên đặt giá vé </a:t>
                </a:r>
                <a:r>
                  <a:rPr sz="2100" b="1">
                    <a:solidFill>
                      <a:srgbClr val="1E293B"/>
                    </a:solidFill>
                    <a:latin typeface="Calibri"/>
                  </a:rPr>
                  <a:t>95 nghìn đồng</a:t>
                </a:r>
                <a:r>
                  <a:rPr sz="2100">
                    <a:solidFill>
                      <a:srgbClr val="1E293B"/>
                    </a:solidFill>
                    <a:latin typeface="Calibri"/>
                  </a:rPr>
                  <a:t>.</a:t>
                </a:r>
              </a:p>
            </p:txBody>
          </p:sp>
        </mc:Choice>
        <mc:Fallback>
          <p:sp>
            <p:nvSpPr>
              <p:cNvPr id="13" name="TextBox 12"/>
              <p:cNvSpPr txBox="1"/>
              <p:nvPr/>
            </p:nvSpPr>
            <p:spPr>
              <a:xfrm>
                <a:off x="713232" y="4130801"/>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R</a:t>
                </a:r>
                <a:r>
                  <a:rPr sz="2100">
                    <a:solidFill>
                      <a:srgbClr val="1E293B"/>
                    </a:solidFill>
                    <a:latin typeface="Calibri"/>
                  </a:rPr>
                  <a:t> lớn nhất bằng 2 707 500 (nghìn đồng) khi </a:t>
                </a:r>
                <a:r>
                  <a:rPr lang="vi-VN"/>
                  <a:t>p=95</a:t>
                </a:r>
                <a:r>
                  <a:rPr sz="2100">
                    <a:solidFill>
                      <a:srgbClr val="1E293B"/>
                    </a:solidFill>
                    <a:latin typeface="Calibri"/>
                  </a:rPr>
                  <a:t>: nên đặt giá vé </a:t>
                </a:r>
                <a:r>
                  <a:rPr sz="2100" b="1">
                    <a:solidFill>
                      <a:srgbClr val="1E293B"/>
                    </a:solidFill>
                    <a:latin typeface="Calibri"/>
                  </a:rPr>
                  <a:t>95 nghìn đồng</a:t>
                </a:r>
                <a:r>
                  <a:rPr sz="2100">
                    <a:solidFill>
                      <a:srgbClr val="1E293B"/>
                    </a:solidFill>
                    <a:latin typeface="Calibri"/>
                  </a:rPr>
                  <a:t>.</a:t>
                </a:r>
              </a:p>
            </p:txBody>
          </p:sp>
        </mc:Fallback>
      </mc:AlternateContent>
      <p:pic>
        <p:nvPicPr>
          <p:cNvPr id="14" name="Picture 13" descr="b5_ve.png"/>
          <p:cNvPicPr>
            <a:picLocks noChangeAspect="1"/>
          </p:cNvPicPr>
          <p:nvPr/>
        </p:nvPicPr>
        <p:blipFill>
          <a:blip r:embed="rId3"/>
          <a:stretch>
            <a:fillRect/>
          </a:stretch>
        </p:blipFill>
        <p:spPr>
          <a:xfrm>
            <a:off x="8503920" y="1691710"/>
            <a:ext cx="3108959" cy="28344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7 – LỢI NHUẬN MÁY XAY SINH TỐ (SGK TR.39 – 40)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7.</a:t>
                </a:r>
                <a:r>
                  <a:rPr sz="1900">
                    <a:solidFill>
                      <a:srgbClr val="1E293B"/>
                    </a:solidFill>
                    <a:latin typeface="Calibri"/>
                  </a:rPr>
                  <a:t> Lợi nhuận (nghìn đồng) khi sản xuất và bán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máy xay sinh tố mỗi tháng là </a:t>
                </a:r>
                <a14:m>
                  <m:oMath xmlns:m="http://schemas.openxmlformats.org/officeDocument/2006/math">
                    <m:r>
                      <a:rPr lang="vi-VN" sz="1900" b="0">
                        <a:solidFill>
                          <a:srgbClr val="1E293B"/>
                        </a:solidFill>
                        <a:latin typeface="Cambria Math" panose="02040503050406030204" pitchFamily="18" charset="0"/>
                      </a:rPr>
                      <m:t>P(x)=−0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3</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3</m:t>
                        </m:r>
                      </m:sup>
                    </m:sSup>
                    <m:r>
                      <a:rPr lang="vi-VN" sz="1900" b="0">
                        <a:solidFill>
                          <a:srgbClr val="1E293B"/>
                        </a:solidFill>
                        <a:latin typeface="Cambria Math" panose="02040503050406030204" pitchFamily="18" charset="0"/>
                      </a:rPr>
                      <m:t>+36</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800x−48</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000</m:t>
                    </m:r>
                  </m:oMath>
                </a14:m>
                <a:r>
                  <a:rPr sz="1900">
                    <a:solidFill>
                      <a:srgbClr val="1E293B"/>
                    </a:solidFill>
                    <a:latin typeface="Calibri"/>
                  </a:rPr>
                  <a:t>. Khảo sát, vẽ đồ thị </a:t>
                </a:r>
                <a14:m>
                  <m:oMath xmlns:m="http://schemas.openxmlformats.org/officeDocument/2006/math">
                    <m:r>
                      <a:rPr lang="vi-VN" sz="1900" b="0">
                        <a:solidFill>
                          <a:srgbClr val="1E293B"/>
                        </a:solidFill>
                        <a:latin typeface="Cambria Math" panose="02040503050406030204" pitchFamily="18" charset="0"/>
                      </a:rPr>
                      <m:t>y=P(x)</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x≥0</m:t>
                    </m:r>
                  </m:oMath>
                </a14:m>
                <a:r>
                  <a:rPr sz="1900">
                    <a:solidFill>
                      <a:srgbClr val="1E293B"/>
                    </a:solidFill>
                    <a:latin typeface="Calibri"/>
                  </a:rPr>
                  <a:t>. a) Phải sản xuất ít nhất bao nhiêu máy để hoà vốn? b) Lợi nhuận lớn nhất là bao nhiêu? Có nên sản xuất 200 máy mỗi tháng không?</a:t>
                </a:r>
              </a:p>
            </p:txBody>
          </p:sp>
        </mc:Choice>
        <mc:Fallback>
          <p:sp>
            <p:nvSpPr>
              <p:cNvPr id="7" name="TextBox 6"/>
              <p:cNvSpPr txBox="1"/>
              <p:nvPr/>
            </p:nvSpPr>
            <p:spPr>
              <a:xfrm>
                <a:off x="548640" y="1371600"/>
                <a:ext cx="786384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7.</a:t>
                </a:r>
                <a:r>
                  <a:rPr sz="1900">
                    <a:solidFill>
                      <a:srgbClr val="1E293B"/>
                    </a:solidFill>
                    <a:latin typeface="Calibri"/>
                  </a:rPr>
                  <a:t> Lợi nhuận (nghìn đồng) khi sản xuất và bán </a:t>
                </a:r>
                <a:r>
                  <a:rPr lang="vi-VN"/>
                  <a:t>x</a:t>
                </a:r>
                <a:r>
                  <a:rPr sz="1900">
                    <a:solidFill>
                      <a:srgbClr val="1E293B"/>
                    </a:solidFill>
                    <a:latin typeface="Calibri"/>
                  </a:rPr>
                  <a:t> máy xay sinh tố mỗi tháng là </a:t>
                </a:r>
                <a:r>
                  <a:rPr lang="vi-VN"/>
                  <a:t>P(x)=-0{,}3x^3+36x^2+1\ 800x-48\ 000</a:t>
                </a:r>
                <a:r>
                  <a:rPr sz="1900">
                    <a:solidFill>
                      <a:srgbClr val="1E293B"/>
                    </a:solidFill>
                    <a:latin typeface="Calibri"/>
                  </a:rPr>
                  <a:t>. Khảo sát, vẽ đồ thị </a:t>
                </a:r>
                <a:r>
                  <a:rPr lang="vi-VN"/>
                  <a:t>y=P(x)</a:t>
                </a:r>
                <a:r>
                  <a:rPr sz="1900">
                    <a:solidFill>
                      <a:srgbClr val="1E293B"/>
                    </a:solidFill>
                    <a:latin typeface="Calibri"/>
                  </a:rPr>
                  <a:t>, </a:t>
                </a:r>
                <a:r>
                  <a:rPr lang="vi-VN"/>
                  <a:t>x\ge 0</a:t>
                </a:r>
                <a:r>
                  <a:rPr sz="1900">
                    <a:solidFill>
                      <a:srgbClr val="1E293B"/>
                    </a:solidFill>
                    <a:latin typeface="Calibri"/>
                  </a:rPr>
                  <a:t>. a) Phải sản xuất ít nhất bao nhiêu máy để hoà vốn? b) Lợi nhuận lớn nhất là bao nhiêu? Có nên sản xuất 200 máy mỗi tháng không?</a:t>
                </a:r>
              </a:p>
            </p:txBody>
          </p:sp>
        </mc:Fallback>
      </mc:AlternateContent>
      <p:sp>
        <p:nvSpPr>
          <p:cNvPr id="8" name="s1_nen"/>
          <p:cNvSpPr/>
          <p:nvPr/>
        </p:nvSpPr>
        <p:spPr>
          <a:xfrm>
            <a:off x="548640" y="3057144"/>
            <a:ext cx="78638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93720"/>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P</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(x)=−0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9</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+72x+1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800=0⇔x=100</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x≥0</m:t>
                    </m:r>
                  </m:oMath>
                </a14:m>
                <a:r>
                  <a:rPr sz="1900">
                    <a:solidFill>
                      <a:srgbClr val="1E293B"/>
                    </a:solidFill>
                    <a:latin typeface="Calibri"/>
                  </a:rPr>
                  <a:t>): đồng biến trên </a:t>
                </a:r>
                <a14:m>
                  <m:oMath xmlns:m="http://schemas.openxmlformats.org/officeDocument/2006/math">
                    <m:r>
                      <a:rPr lang="vi-VN" sz="1900" b="0">
                        <a:solidFill>
                          <a:srgbClr val="1E293B"/>
                        </a:solidFill>
                        <a:latin typeface="Cambria Math" panose="02040503050406030204" pitchFamily="18" charset="0"/>
                      </a:rPr>
                      <m:t>[0;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100)</m:t>
                    </m:r>
                  </m:oMath>
                </a14:m>
                <a:r>
                  <a:rPr sz="1900">
                    <a:solidFill>
                      <a:srgbClr val="1E293B"/>
                    </a:solidFill>
                    <a:latin typeface="Calibri"/>
                  </a:rPr>
                  <a:t>, nghịch biến trên </a:t>
                </a:r>
                <a14:m>
                  <m:oMath xmlns:m="http://schemas.openxmlformats.org/officeDocument/2006/math">
                    <m:d>
                      <m:dPr>
                        <m:sepChr m:val=""/>
                      </m:dPr>
                      <m:e>
                        <m:r>
                          <a:rPr lang="vi-VN" sz="1900" b="0">
                            <a:solidFill>
                              <a:srgbClr val="1E293B"/>
                            </a:solidFill>
                            <a:latin typeface="Cambria Math" panose="02040503050406030204" pitchFamily="18" charset="0"/>
                          </a:rPr>
                          <m:t>100</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y</m:t>
                        </m:r>
                      </m:e>
                      <m:sub>
                        <m:r>
                          <a:rPr lang="vi-VN" sz="1900" b="0">
                            <a:solidFill>
                              <a:srgbClr val="1E293B"/>
                            </a:solidFill>
                            <a:latin typeface="Cambria Math" panose="02040503050406030204" pitchFamily="18" charset="0"/>
                          </a:rPr>
                          <m:t>CĐ</m:t>
                        </m:r>
                      </m:sub>
                    </m:sSub>
                    <m:r>
                      <a:rPr lang="vi-VN" sz="1900" b="0">
                        <a:solidFill>
                          <a:srgbClr val="1E293B"/>
                        </a:solidFill>
                        <a:latin typeface="Cambria Math" panose="02040503050406030204" pitchFamily="18" charset="0"/>
                      </a:rPr>
                      <m:t>=P(100)=192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000</m:t>
                    </m:r>
                  </m:oMath>
                </a14:m>
                <a:r>
                  <a:rPr sz="1900">
                    <a:solidFill>
                      <a:srgbClr val="1E293B"/>
                    </a:solidFill>
                    <a:latin typeface="Calibri"/>
                  </a:rPr>
                  <a:t>.</a:t>
                </a:r>
              </a:p>
            </p:txBody>
          </p:sp>
        </mc:Choice>
        <mc:Fallback>
          <p:sp>
            <p:nvSpPr>
              <p:cNvPr id="9" name="TextBox 8"/>
              <p:cNvSpPr txBox="1"/>
              <p:nvPr/>
            </p:nvSpPr>
            <p:spPr>
              <a:xfrm>
                <a:off x="713232" y="3093720"/>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P'(x)=-0{,}9x^2+72x+1\ 800=0\Leftrightarrow x=100</a:t>
                </a:r>
                <a:r>
                  <a:rPr sz="1900">
                    <a:solidFill>
                      <a:srgbClr val="1E293B"/>
                    </a:solidFill>
                    <a:latin typeface="Calibri"/>
                  </a:rPr>
                  <a:t> (</a:t>
                </a:r>
                <a:r>
                  <a:rPr lang="vi-VN"/>
                  <a:t>x\ge 0</a:t>
                </a:r>
                <a:r>
                  <a:rPr sz="1900">
                    <a:solidFill>
                      <a:srgbClr val="1E293B"/>
                    </a:solidFill>
                    <a:latin typeface="Calibri"/>
                  </a:rPr>
                  <a:t>): đồng biến trên </a:t>
                </a:r>
                <a:r>
                  <a:rPr lang="vi-VN"/>
                  <a:t>[0;\ 100)</a:t>
                </a:r>
                <a:r>
                  <a:rPr sz="1900">
                    <a:solidFill>
                      <a:srgbClr val="1E293B"/>
                    </a:solidFill>
                    <a:latin typeface="Calibri"/>
                  </a:rPr>
                  <a:t>, nghịch biến trên </a:t>
                </a:r>
                <a:r>
                  <a:rPr lang="vi-VN"/>
                  <a:t>(100;\ +\infty)</a:t>
                </a:r>
                <a:r>
                  <a:rPr sz="1900">
                    <a:solidFill>
                      <a:srgbClr val="1E293B"/>
                    </a:solidFill>
                    <a:latin typeface="Calibri"/>
                  </a:rPr>
                  <a:t>; </a:t>
                </a:r>
                <a:r>
                  <a:rPr lang="vi-VN"/>
                  <a:t>y_{CĐ}=P(100)=192\ 000</a:t>
                </a:r>
                <a:r>
                  <a:rPr sz="1900">
                    <a:solidFill>
                      <a:srgbClr val="1E293B"/>
                    </a:solidFill>
                    <a:latin typeface="Calibri"/>
                  </a:rPr>
                  <a:t>.</a:t>
                </a:r>
              </a:p>
            </p:txBody>
          </p:sp>
        </mc:Fallback>
      </mc:AlternateContent>
      <p:sp>
        <p:nvSpPr>
          <p:cNvPr id="10" name="s2_nen"/>
          <p:cNvSpPr/>
          <p:nvPr/>
        </p:nvSpPr>
        <p:spPr>
          <a:xfrm>
            <a:off x="548640" y="3965448"/>
            <a:ext cx="78638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002024"/>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Đồ thị cắt trục hoành lần đầu tại </a:t>
                </a:r>
                <a14:m>
                  <m:oMath xmlns:m="http://schemas.openxmlformats.org/officeDocument/2006/math">
                    <m:r>
                      <a:rPr lang="vi-VN" sz="1900" b="0">
                        <a:solidFill>
                          <a:srgbClr val="1E293B"/>
                        </a:solidFill>
                        <a:latin typeface="Cambria Math" panose="02040503050406030204" pitchFamily="18" charset="0"/>
                      </a:rPr>
                      <m:t>x=20</m:t>
                    </m:r>
                  </m:oMath>
                </a14:m>
                <a:r>
                  <a:rPr sz="1900">
                    <a:solidFill>
                      <a:srgbClr val="1E293B"/>
                    </a:solidFill>
                    <a:latin typeface="Calibri"/>
                  </a:rPr>
                  <a:t>: cần sản xuất ít nhất 20 máy để hoà vốn.</a:t>
                </a:r>
              </a:p>
            </p:txBody>
          </p:sp>
        </mc:Choice>
        <mc:Fallback>
          <p:sp>
            <p:nvSpPr>
              <p:cNvPr id="11" name="TextBox 10"/>
              <p:cNvSpPr txBox="1"/>
              <p:nvPr/>
            </p:nvSpPr>
            <p:spPr>
              <a:xfrm>
                <a:off x="713232" y="4002024"/>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Đồ thị cắt trục hoành lần đầu tại </a:t>
                </a:r>
                <a:r>
                  <a:rPr lang="vi-VN"/>
                  <a:t>x=20</a:t>
                </a:r>
                <a:r>
                  <a:rPr sz="1900">
                    <a:solidFill>
                      <a:srgbClr val="1E293B"/>
                    </a:solidFill>
                    <a:latin typeface="Calibri"/>
                  </a:rPr>
                  <a:t>: cần sản xuất ít nhất 20 máy để hoà vốn.</a:t>
                </a:r>
              </a:p>
            </p:txBody>
          </p:sp>
        </mc:Fallback>
      </mc:AlternateContent>
      <p:sp>
        <p:nvSpPr>
          <p:cNvPr id="12" name="s3_nen"/>
          <p:cNvSpPr/>
          <p:nvPr/>
        </p:nvSpPr>
        <p:spPr>
          <a:xfrm>
            <a:off x="548640" y="4873752"/>
            <a:ext cx="7863840" cy="11338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3_chu"/>
          <p:cNvSpPr txBox="1"/>
          <p:nvPr/>
        </p:nvSpPr>
        <p:spPr>
          <a:xfrm>
            <a:off x="713232" y="4910328"/>
            <a:ext cx="7534656" cy="1060704"/>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Lợi nhuận lớn nhất 192 triệu đồng khi sản xuất 100 máy; sản xuất hơn 100 máy thì lợi nhuận giảm – không nên sản xuất 200 máy.</a:t>
            </a:r>
          </a:p>
        </p:txBody>
      </p:sp>
      <p:pic>
        <p:nvPicPr>
          <p:cNvPr id="14" name="Picture 13" descr="b5_h136.png"/>
          <p:cNvPicPr>
            <a:picLocks noChangeAspect="1"/>
          </p:cNvPicPr>
          <p:nvPr/>
        </p:nvPicPr>
        <p:blipFill>
          <a:blip r:embed="rId3"/>
          <a:stretch>
            <a:fillRect/>
          </a:stretch>
        </p:blipFill>
        <p:spPr>
          <a:xfrm>
            <a:off x="8686800" y="1937407"/>
            <a:ext cx="2926080" cy="2343106"/>
          </a:xfrm>
          <a:prstGeom prst="rect">
            <a:avLst/>
          </a:prstGeom>
        </p:spPr>
      </p:pic>
      <p:sp>
        <p:nvSpPr>
          <p:cNvPr id="15" name="TextBox 14"/>
          <p:cNvSpPr txBox="1"/>
          <p:nvPr/>
        </p:nvSpPr>
        <p:spPr>
          <a:xfrm>
            <a:off x="8686800" y="4773168"/>
            <a:ext cx="29260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1.36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BÁN TI VI (SGK TR.40)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20</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1106424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a:t>
                </a:r>
                <a:r>
                  <a:rPr sz="2000">
                    <a:solidFill>
                      <a:srgbClr val="1E293B"/>
                    </a:solidFill>
                    <a:latin typeface="Calibri"/>
                  </a:rPr>
                  <a:t> Một nhà sản xuất bán được 1 000 ti vi mỗi tuần với giá 14 triệu đồng một chiếc. Nếu cứ giảm giá 500 nghìn đồng, số ti vi bán ra tăng thêm khoảng 100 chiếc mỗi tuần. a) Tìm hàm cầu. b) Nên giảm giá bao nhiêu để doanh thu lớn nhất? c) Nếu hàm chi phí hằng tuần là </a:t>
                </a:r>
                <a14:m>
                  <m:oMath xmlns:m="http://schemas.openxmlformats.org/officeDocument/2006/math">
                    <m:r>
                      <a:rPr lang="vi-VN" sz="2000" b="0">
                        <a:solidFill>
                          <a:srgbClr val="1E293B"/>
                        </a:solidFill>
                        <a:latin typeface="Cambria Math" panose="02040503050406030204" pitchFamily="18" charset="0"/>
                      </a:rPr>
                      <m:t>C(x)=12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000−3x</m:t>
                    </m:r>
                  </m:oMath>
                </a14:m>
                <a:r>
                  <a:rPr sz="2000">
                    <a:solidFill>
                      <a:srgbClr val="1E293B"/>
                    </a:solidFill>
                    <a:latin typeface="Calibri"/>
                  </a:rPr>
                  <a:t> (triệu đồng), nên đặt giá bán như thế nào để lợi nhuận lớn nhất?</a:t>
                </a:r>
              </a:p>
            </p:txBody>
          </p:sp>
        </mc:Choice>
        <mc:Fallback>
          <p:sp>
            <p:nvSpPr>
              <p:cNvPr id="7" name="TextBox 6"/>
              <p:cNvSpPr txBox="1"/>
              <p:nvPr/>
            </p:nvSpPr>
            <p:spPr>
              <a:xfrm>
                <a:off x="548640" y="1325880"/>
                <a:ext cx="1106424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a:t>
                </a:r>
                <a:r>
                  <a:rPr sz="2000">
                    <a:solidFill>
                      <a:srgbClr val="1E293B"/>
                    </a:solidFill>
                    <a:latin typeface="Calibri"/>
                  </a:rPr>
                  <a:t> Một nhà sản xuất bán được 1 000 ti vi mỗi tuần với giá 14 triệu đồng một chiếc. Nếu cứ giảm giá 500 nghìn đồng, số ti vi bán ra tăng thêm khoảng 100 chiếc mỗi tuần. a) Tìm hàm cầu. b) Nên giảm giá bao nhiêu để doanh thu lớn nhất? c) Nếu hàm chi phí hằng tuần là </a:t>
                </a:r>
                <a:r>
                  <a:rPr lang="vi-VN"/>
                  <a:t>C(x)=12\ 000-3x</a:t>
                </a:r>
                <a:r>
                  <a:rPr sz="2000">
                    <a:solidFill>
                      <a:srgbClr val="1E293B"/>
                    </a:solidFill>
                    <a:latin typeface="Calibri"/>
                  </a:rPr>
                  <a:t> (triệu đồng), nên đặt giá bán như thế nào để lợi nhuận lớn nhất?</a:t>
                </a:r>
              </a:p>
            </p:txBody>
          </p:sp>
        </mc:Fallback>
      </mc:AlternateContent>
      <p:sp>
        <p:nvSpPr>
          <p:cNvPr id="8" name="s1_nen"/>
          <p:cNvSpPr/>
          <p:nvPr/>
        </p:nvSpPr>
        <p:spPr>
          <a:xfrm>
            <a:off x="548640" y="3096768"/>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33344"/>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p(x)=14−</m:t>
                    </m:r>
                    <m:f>
                      <m:fPr>
                        <m:type m:val="bar"/>
                      </m:fPr>
                      <m:num>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5(x−1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m:t>
                        </m:r>
                      </m:num>
                      <m:den>
                        <m:r>
                          <a:rPr lang="vi-VN" sz="2000" b="0">
                            <a:solidFill>
                              <a:srgbClr val="1E293B"/>
                            </a:solidFill>
                            <a:latin typeface="Cambria Math" panose="02040503050406030204" pitchFamily="18" charset="0"/>
                          </a:rPr>
                          <m:t>100</m:t>
                        </m:r>
                      </m:den>
                    </m:f>
                    <m:r>
                      <a:rPr lang="vi-VN" sz="2000" b="0">
                        <a:solidFill>
                          <a:srgbClr val="1E293B"/>
                        </a:solidFill>
                        <a:latin typeface="Cambria Math" panose="02040503050406030204" pitchFamily="18" charset="0"/>
                      </a:rPr>
                      <m:t>=19−</m:t>
                    </m:r>
                    <m:f>
                      <m:fPr>
                        <m:type m:val="bar"/>
                      </m:fPr>
                      <m:num>
                        <m:r>
                          <a:rPr lang="vi-VN" sz="2000" b="0">
                            <a:solidFill>
                              <a:srgbClr val="1E293B"/>
                            </a:solidFill>
                            <a:latin typeface="Cambria Math" panose="02040503050406030204" pitchFamily="18" charset="0"/>
                          </a:rPr>
                          <m:t>x</m:t>
                        </m:r>
                      </m:num>
                      <m:den>
                        <m:r>
                          <a:rPr lang="vi-VN" sz="2000" b="0">
                            <a:solidFill>
                              <a:srgbClr val="1E293B"/>
                            </a:solidFill>
                            <a:latin typeface="Cambria Math" panose="02040503050406030204" pitchFamily="18" charset="0"/>
                          </a:rPr>
                          <m:t>200</m:t>
                        </m:r>
                      </m:den>
                    </m:f>
                  </m:oMath>
                </a14:m>
                <a:r>
                  <a:rPr sz="2000">
                    <a:solidFill>
                      <a:srgbClr val="1E293B"/>
                    </a:solidFill>
                    <a:latin typeface="Calibri"/>
                  </a:rPr>
                  <a:t> (triệu đồng).</a:t>
                </a:r>
              </a:p>
            </p:txBody>
          </p:sp>
        </mc:Choice>
        <mc:Fallback>
          <p:sp>
            <p:nvSpPr>
              <p:cNvPr id="9" name="TextBox 8"/>
              <p:cNvSpPr txBox="1"/>
              <p:nvPr/>
            </p:nvSpPr>
            <p:spPr>
              <a:xfrm>
                <a:off x="713232" y="3133344"/>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p(x)=14-\frac{0{,}5(x-1\ 000)}{100}=19-\frac{x}{200}</a:t>
                </a:r>
                <a:r>
                  <a:rPr sz="2000">
                    <a:solidFill>
                      <a:srgbClr val="1E293B"/>
                    </a:solidFill>
                    <a:latin typeface="Calibri"/>
                  </a:rPr>
                  <a:t> (triệu đồng).</a:t>
                </a:r>
              </a:p>
            </p:txBody>
          </p:sp>
        </mc:Fallback>
      </mc:AlternateContent>
      <p:sp>
        <p:nvSpPr>
          <p:cNvPr id="10" name="s2_nen"/>
          <p:cNvSpPr/>
          <p:nvPr/>
        </p:nvSpPr>
        <p:spPr>
          <a:xfrm>
            <a:off x="548640" y="4014215"/>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050791"/>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r>
                      <a:rPr lang="vi-VN" sz="2000" b="0">
                        <a:solidFill>
                          <a:srgbClr val="1E293B"/>
                        </a:solidFill>
                        <a:latin typeface="Cambria Math" panose="02040503050406030204" pitchFamily="18" charset="0"/>
                      </a:rPr>
                      <m:t>R(x)=19x−</m:t>
                    </m:r>
                    <m:f>
                      <m:fPr>
                        <m:type m:val="bar"/>
                      </m:fPr>
                      <m:num>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num>
                      <m:den>
                        <m:r>
                          <a:rPr lang="vi-VN" sz="2000" b="0">
                            <a:solidFill>
                              <a:srgbClr val="1E293B"/>
                            </a:solidFill>
                            <a:latin typeface="Cambria Math" panose="02040503050406030204" pitchFamily="18" charset="0"/>
                          </a:rPr>
                          <m:t>200</m:t>
                        </m:r>
                      </m:den>
                    </m:f>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R</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(x)=19−</m:t>
                    </m:r>
                    <m:f>
                      <m:fPr>
                        <m:type m:val="bar"/>
                      </m:fPr>
                      <m:num>
                        <m:r>
                          <a:rPr lang="vi-VN" sz="2000" b="0">
                            <a:solidFill>
                              <a:srgbClr val="1E293B"/>
                            </a:solidFill>
                            <a:latin typeface="Cambria Math" panose="02040503050406030204" pitchFamily="18" charset="0"/>
                          </a:rPr>
                          <m:t>x</m:t>
                        </m:r>
                      </m:num>
                      <m:den>
                        <m:r>
                          <a:rPr lang="vi-VN" sz="2000" b="0">
                            <a:solidFill>
                              <a:srgbClr val="1E293B"/>
                            </a:solidFill>
                            <a:latin typeface="Cambria Math" panose="02040503050406030204" pitchFamily="18" charset="0"/>
                          </a:rPr>
                          <m:t>100</m:t>
                        </m:r>
                      </m:den>
                    </m:f>
                    <m:r>
                      <a:rPr lang="vi-VN" sz="2000" b="0">
                        <a:solidFill>
                          <a:srgbClr val="1E293B"/>
                        </a:solidFill>
                        <a:latin typeface="Cambria Math" panose="02040503050406030204" pitchFamily="18" charset="0"/>
                      </a:rPr>
                      <m:t>=0⇔x=1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900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p=9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giảm giá 4,5 triệu đồng.</a:t>
                </a:r>
              </a:p>
            </p:txBody>
          </p:sp>
        </mc:Choice>
        <mc:Fallback>
          <p:sp>
            <p:nvSpPr>
              <p:cNvPr id="11" name="TextBox 10"/>
              <p:cNvSpPr txBox="1"/>
              <p:nvPr/>
            </p:nvSpPr>
            <p:spPr>
              <a:xfrm>
                <a:off x="713232" y="4050791"/>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R(x)=19x-\frac{x^2}{200}</a:t>
                </a:r>
                <a:r>
                  <a:rPr sz="2000">
                    <a:solidFill>
                      <a:srgbClr val="1E293B"/>
                    </a:solidFill>
                    <a:latin typeface="Calibri"/>
                  </a:rPr>
                  <a:t>, </a:t>
                </a:r>
                <a:r>
                  <a:rPr lang="vi-VN"/>
                  <a:t>R'(x)=19-\frac{x}{100}=0\Leftrightarrow x=1\ 900</a:t>
                </a:r>
                <a:r>
                  <a:rPr sz="2000">
                    <a:solidFill>
                      <a:srgbClr val="1E293B"/>
                    </a:solidFill>
                    <a:latin typeface="Calibri"/>
                  </a:rPr>
                  <a:t>; </a:t>
                </a:r>
                <a:r>
                  <a:rPr lang="vi-VN"/>
                  <a:t>p=9{,}5</a:t>
                </a:r>
                <a:r>
                  <a:rPr sz="2000">
                    <a:solidFill>
                      <a:srgbClr val="1E293B"/>
                    </a:solidFill>
                    <a:latin typeface="Calibri"/>
                  </a:rPr>
                  <a:t>: giảm giá 4,5 triệu đồng.</a:t>
                </a:r>
              </a:p>
            </p:txBody>
          </p:sp>
        </mc:Fallback>
      </mc:AlternateContent>
      <p:sp>
        <p:nvSpPr>
          <p:cNvPr id="12" name="s3_nen"/>
          <p:cNvSpPr/>
          <p:nvPr/>
        </p:nvSpPr>
        <p:spPr>
          <a:xfrm>
            <a:off x="548640" y="4931663"/>
            <a:ext cx="110642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968239"/>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14:m>
                  <m:oMath xmlns:m="http://schemas.openxmlformats.org/officeDocument/2006/math">
                    <m:r>
                      <a:rPr lang="vi-VN" sz="2000" b="0">
                        <a:solidFill>
                          <a:srgbClr val="1E293B"/>
                        </a:solidFill>
                        <a:latin typeface="Cambria Math" panose="02040503050406030204" pitchFamily="18" charset="0"/>
                      </a:rPr>
                      <m:t>P(x)=R(x)−C(x)=22x−</m:t>
                    </m:r>
                    <m:f>
                      <m:fPr>
                        <m:type m:val="bar"/>
                      </m:fPr>
                      <m:num>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num>
                      <m:den>
                        <m:r>
                          <a:rPr lang="vi-VN" sz="2000" b="0">
                            <a:solidFill>
                              <a:srgbClr val="1E293B"/>
                            </a:solidFill>
                            <a:latin typeface="Cambria Math" panose="02040503050406030204" pitchFamily="18" charset="0"/>
                          </a:rPr>
                          <m:t>200</m:t>
                        </m:r>
                      </m:den>
                    </m:f>
                    <m:r>
                      <a:rPr lang="vi-VN" sz="2000" b="0">
                        <a:solidFill>
                          <a:srgbClr val="1E293B"/>
                        </a:solidFill>
                        <a:latin typeface="Cambria Math" panose="02040503050406030204" pitchFamily="18" charset="0"/>
                      </a:rPr>
                      <m:t>−12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P</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(x)=0⇔x=2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200</m:t>
                    </m:r>
                  </m:oMath>
                </a14:m>
                <a:r>
                  <a:rPr sz="2000">
                    <a:solidFill>
                      <a:srgbClr val="1E293B"/>
                    </a:solidFill>
                    <a:latin typeface="Calibri"/>
                  </a:rPr>
                  <a:t>; đặt giá </a:t>
                </a:r>
                <a14:m>
                  <m:oMath xmlns:m="http://schemas.openxmlformats.org/officeDocument/2006/math">
                    <m:r>
                      <a:rPr lang="vi-VN" sz="2000" b="0">
                        <a:solidFill>
                          <a:srgbClr val="1E293B"/>
                        </a:solidFill>
                        <a:latin typeface="Cambria Math" panose="02040503050406030204" pitchFamily="18" charset="0"/>
                      </a:rPr>
                      <m:t>p=8</m:t>
                    </m:r>
                  </m:oMath>
                </a14:m>
                <a:r>
                  <a:rPr sz="2000">
                    <a:solidFill>
                      <a:srgbClr val="1E293B"/>
                    </a:solidFill>
                    <a:latin typeface="Calibri"/>
                  </a:rPr>
                  <a:t> triệu đồng/chiếc.</a:t>
                </a:r>
              </a:p>
            </p:txBody>
          </p:sp>
        </mc:Choice>
        <mc:Fallback>
          <p:sp>
            <p:nvSpPr>
              <p:cNvPr id="13" name="TextBox 12"/>
              <p:cNvSpPr txBox="1"/>
              <p:nvPr/>
            </p:nvSpPr>
            <p:spPr>
              <a:xfrm>
                <a:off x="713232" y="4968239"/>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P(x)=R(x)-C(x)=22x-\frac{x^2}{200}-12\ 000</a:t>
                </a:r>
                <a:r>
                  <a:rPr sz="2000">
                    <a:solidFill>
                      <a:srgbClr val="1E293B"/>
                    </a:solidFill>
                    <a:latin typeface="Calibri"/>
                  </a:rPr>
                  <a:t>, </a:t>
                </a:r>
                <a:r>
                  <a:rPr lang="vi-VN"/>
                  <a:t>P'(x)=0\Leftrightarrow x=2\ 200</a:t>
                </a:r>
                <a:r>
                  <a:rPr sz="2000">
                    <a:solidFill>
                      <a:srgbClr val="1E293B"/>
                    </a:solidFill>
                    <a:latin typeface="Calibri"/>
                  </a:rPr>
                  <a:t>; đặt giá </a:t>
                </a:r>
                <a:r>
                  <a:rPr lang="vi-VN"/>
                  <a:t>p=8</a:t>
                </a:r>
                <a:r>
                  <a:rPr sz="2000">
                    <a:solidFill>
                      <a:srgbClr val="1E293B"/>
                    </a:solidFill>
                    <a:latin typeface="Calibri"/>
                  </a:rPr>
                  <a:t> triệu đồng/chiếc.</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VỀ NHÀ 1.26 – 1.27 (SGK TR.40 – 41)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04241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1.26.</a:t>
                </a:r>
                <a:r>
                  <a:rPr sz="1900">
                    <a:solidFill>
                      <a:srgbClr val="1E293B"/>
                    </a:solidFill>
                    <a:latin typeface="Calibri"/>
                  </a:rPr>
                  <a:t> Toạ độ của hạt </a:t>
                </a:r>
                <a14:m>
                  <m:oMath xmlns:m="http://schemas.openxmlformats.org/officeDocument/2006/math">
                    <m:r>
                      <a:rPr lang="vi-VN" sz="1900" b="0">
                        <a:solidFill>
                          <a:srgbClr val="1E293B"/>
                        </a:solidFill>
                        <a:latin typeface="Cambria Math" panose="02040503050406030204" pitchFamily="18" charset="0"/>
                      </a:rPr>
                      <m:t>y=</m:t>
                    </m:r>
                    <m:sSup>
                      <m:e>
                        <m:r>
                          <a:rPr lang="vi-VN" sz="1900" b="0">
                            <a:solidFill>
                              <a:srgbClr val="1E293B"/>
                            </a:solidFill>
                            <a:latin typeface="Cambria Math" panose="02040503050406030204" pitchFamily="18" charset="0"/>
                          </a:rPr>
                          <m:t>t</m:t>
                        </m:r>
                      </m:e>
                      <m:sup>
                        <m:r>
                          <a:rPr lang="vi-VN" sz="1900" b="0">
                            <a:solidFill>
                              <a:srgbClr val="1E293B"/>
                            </a:solidFill>
                            <a:latin typeface="Cambria Math" panose="02040503050406030204" pitchFamily="18" charset="0"/>
                          </a:rPr>
                          <m:t>3</m:t>
                        </m:r>
                      </m:sup>
                    </m:sSup>
                    <m:r>
                      <a:rPr lang="vi-VN" sz="1900" b="0">
                        <a:solidFill>
                          <a:srgbClr val="1E293B"/>
                        </a:solidFill>
                        <a:latin typeface="Cambria Math" panose="02040503050406030204" pitchFamily="18" charset="0"/>
                      </a:rPr>
                      <m:t>−12t+3</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t≥0</m:t>
                    </m:r>
                  </m:oMath>
                </a14:m>
                <a:r>
                  <a:rPr sz="1900">
                    <a:solidFill>
                      <a:srgbClr val="1E293B"/>
                    </a:solidFill>
                    <a:latin typeface="Calibri"/>
                  </a:rPr>
                  <a:t> (m, s). a) Tìm hàm vận tốc, gia tốc. b) Khi nào hạt chuyển động lên trên, xuống dưới? c) Quãng đường trong </a:t>
                </a:r>
                <a14:m>
                  <m:oMath xmlns:m="http://schemas.openxmlformats.org/officeDocument/2006/math">
                    <m:r>
                      <a:rPr lang="vi-VN" sz="1900" b="0">
                        <a:solidFill>
                          <a:srgbClr val="1E293B"/>
                        </a:solidFill>
                        <a:latin typeface="Cambria Math" panose="02040503050406030204" pitchFamily="18" charset="0"/>
                      </a:rPr>
                      <m:t>0≤t≤3</m:t>
                    </m:r>
                  </m:oMath>
                </a14:m>
                <a:r>
                  <a:rPr sz="1900">
                    <a:solidFill>
                      <a:srgbClr val="1E293B"/>
                    </a:solidFill>
                    <a:latin typeface="Calibri"/>
                  </a:rPr>
                  <a:t>. d) Khi nào hạt tăng tốc, giảm tốc?</a:t>
                </a:r>
              </a:p>
            </p:txBody>
          </p:sp>
        </mc:Choice>
        <mc:Fallback>
          <p:sp>
            <p:nvSpPr>
              <p:cNvPr id="7" name="TextBox 6"/>
              <p:cNvSpPr txBox="1"/>
              <p:nvPr/>
            </p:nvSpPr>
            <p:spPr>
              <a:xfrm>
                <a:off x="548640" y="1371600"/>
                <a:ext cx="11064240" cy="104241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1.26.</a:t>
                </a:r>
                <a:r>
                  <a:rPr sz="1900">
                    <a:solidFill>
                      <a:srgbClr val="1E293B"/>
                    </a:solidFill>
                    <a:latin typeface="Calibri"/>
                  </a:rPr>
                  <a:t> Toạ độ của hạt </a:t>
                </a:r>
                <a:r>
                  <a:rPr lang="vi-VN"/>
                  <a:t>y=t^3-12t+3</a:t>
                </a:r>
                <a:r>
                  <a:rPr sz="1900">
                    <a:solidFill>
                      <a:srgbClr val="1E293B"/>
                    </a:solidFill>
                    <a:latin typeface="Calibri"/>
                  </a:rPr>
                  <a:t>, </a:t>
                </a:r>
                <a:r>
                  <a:rPr lang="vi-VN"/>
                  <a:t>t\ge 0</a:t>
                </a:r>
                <a:r>
                  <a:rPr sz="1900">
                    <a:solidFill>
                      <a:srgbClr val="1E293B"/>
                    </a:solidFill>
                    <a:latin typeface="Calibri"/>
                  </a:rPr>
                  <a:t> (m, s). a) Tìm hàm vận tốc, gia tốc. b) Khi nào hạt chuyển động lên trên, xuống dưới? c) Quãng đường trong </a:t>
                </a:r>
                <a:r>
                  <a:rPr lang="vi-VN"/>
                  <a:t>0\le t\le 3</a:t>
                </a:r>
                <a:r>
                  <a:rPr sz="1900">
                    <a:solidFill>
                      <a:srgbClr val="1E293B"/>
                    </a:solidFill>
                    <a:latin typeface="Calibri"/>
                  </a:rPr>
                  <a:t>. d) Khi nào hạt tăng tốc, giảm tốc?</a:t>
                </a:r>
              </a:p>
            </p:txBody>
          </p:sp>
        </mc:Fallback>
      </mc:AlternateContent>
      <p:sp>
        <p:nvSpPr>
          <p:cNvPr id="8" name="s1_nen"/>
          <p:cNvSpPr/>
          <p:nvPr/>
        </p:nvSpPr>
        <p:spPr>
          <a:xfrm>
            <a:off x="548640" y="247802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1460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14:m>
                  <m:oMath xmlns:m="http://schemas.openxmlformats.org/officeDocument/2006/math">
                    <m:r>
                      <a:rPr lang="vi-VN" sz="1900" b="0">
                        <a:solidFill>
                          <a:srgbClr val="1E293B"/>
                        </a:solidFill>
                        <a:latin typeface="Cambria Math" panose="02040503050406030204" pitchFamily="18" charset="0"/>
                      </a:rPr>
                      <m:t>v=3</m:t>
                    </m:r>
                    <m:sSup>
                      <m:e>
                        <m:r>
                          <a:rPr lang="vi-VN" sz="1900" b="0">
                            <a:solidFill>
                              <a:srgbClr val="1E293B"/>
                            </a:solidFill>
                            <a:latin typeface="Cambria Math" panose="02040503050406030204" pitchFamily="18" charset="0"/>
                          </a:rPr>
                          <m:t>t</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−12</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a=6t</m:t>
                    </m:r>
                  </m:oMath>
                </a14:m>
                <a:r>
                  <a:rPr sz="1900">
                    <a:solidFill>
                      <a:srgbClr val="1E293B"/>
                    </a:solidFill>
                    <a:latin typeface="Calibri"/>
                  </a:rPr>
                  <a:t>. b) Lên trên khi </a:t>
                </a:r>
                <a14:m>
                  <m:oMath xmlns:m="http://schemas.openxmlformats.org/officeDocument/2006/math">
                    <m:r>
                      <a:rPr lang="vi-VN" sz="1900" b="0">
                        <a:solidFill>
                          <a:srgbClr val="1E293B"/>
                        </a:solidFill>
                        <a:latin typeface="Cambria Math" panose="02040503050406030204" pitchFamily="18" charset="0"/>
                      </a:rPr>
                      <m:t>t&gt;2</m:t>
                    </m:r>
                  </m:oMath>
                </a14:m>
                <a:r>
                  <a:rPr sz="1900">
                    <a:solidFill>
                      <a:srgbClr val="1E293B"/>
                    </a:solidFill>
                    <a:latin typeface="Calibri"/>
                  </a:rPr>
                  <a:t>, xuống dưới khi </a:t>
                </a:r>
                <a14:m>
                  <m:oMath xmlns:m="http://schemas.openxmlformats.org/officeDocument/2006/math">
                    <m:r>
                      <a:rPr lang="vi-VN" sz="1900" b="0">
                        <a:solidFill>
                          <a:srgbClr val="1E293B"/>
                        </a:solidFill>
                        <a:latin typeface="Cambria Math" panose="02040503050406030204" pitchFamily="18" charset="0"/>
                      </a:rPr>
                      <m:t>0≤t&lt;2</m:t>
                    </m:r>
                  </m:oMath>
                </a14:m>
                <a:r>
                  <a:rPr sz="1900">
                    <a:solidFill>
                      <a:srgbClr val="1E293B"/>
                    </a:solidFill>
                    <a:latin typeface="Calibri"/>
                  </a:rPr>
                  <a:t>. c) </a:t>
                </a:r>
                <a14:m>
                  <m:oMath xmlns:m="http://schemas.openxmlformats.org/officeDocument/2006/math">
                    <m:r>
                      <a:rPr lang="vi-VN" sz="1900" b="0">
                        <a:solidFill>
                          <a:srgbClr val="1E293B"/>
                        </a:solidFill>
                        <a:latin typeface="Cambria Math" panose="02040503050406030204" pitchFamily="18" charset="0"/>
                      </a:rPr>
                      <m:t>|y(2)−y(0)|+|y(3)−y(2)|=16+7=23</m:t>
                    </m:r>
                  </m:oMath>
                </a14:m>
                <a:r>
                  <a:rPr sz="1900">
                    <a:solidFill>
                      <a:srgbClr val="1E293B"/>
                    </a:solidFill>
                    <a:latin typeface="Calibri"/>
                  </a:rPr>
                  <a:t> m. d) Tăng tốc khi </a:t>
                </a:r>
                <a14:m>
                  <m:oMath xmlns:m="http://schemas.openxmlformats.org/officeDocument/2006/math">
                    <m:r>
                      <a:rPr lang="vi-VN" sz="1900" b="0">
                        <a:solidFill>
                          <a:srgbClr val="1E293B"/>
                        </a:solidFill>
                        <a:latin typeface="Cambria Math" panose="02040503050406030204" pitchFamily="18" charset="0"/>
                      </a:rPr>
                      <m:t>t&gt;2</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v</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a</m:t>
                    </m:r>
                  </m:oMath>
                </a14:m>
                <a:r>
                  <a:rPr sz="1900">
                    <a:solidFill>
                      <a:srgbClr val="1E293B"/>
                    </a:solidFill>
                    <a:latin typeface="Calibri"/>
                  </a:rPr>
                  <a:t> cùng dấu), giảm tốc khi </a:t>
                </a:r>
                <a14:m>
                  <m:oMath xmlns:m="http://schemas.openxmlformats.org/officeDocument/2006/math">
                    <m:r>
                      <a:rPr lang="vi-VN" sz="1900" b="0">
                        <a:solidFill>
                          <a:srgbClr val="1E293B"/>
                        </a:solidFill>
                        <a:latin typeface="Cambria Math" panose="02040503050406030204" pitchFamily="18" charset="0"/>
                      </a:rPr>
                      <m:t>0&lt;t&lt;2</m:t>
                    </m:r>
                  </m:oMath>
                </a14:m>
                <a:r>
                  <a:rPr sz="1900">
                    <a:solidFill>
                      <a:srgbClr val="1E293B"/>
                    </a:solidFill>
                    <a:latin typeface="Calibri"/>
                  </a:rPr>
                  <a:t>.</a:t>
                </a:r>
              </a:p>
            </p:txBody>
          </p:sp>
        </mc:Choice>
        <mc:Fallback>
          <p:sp>
            <p:nvSpPr>
              <p:cNvPr id="9" name="TextBox 8"/>
              <p:cNvSpPr txBox="1"/>
              <p:nvPr/>
            </p:nvSpPr>
            <p:spPr>
              <a:xfrm>
                <a:off x="713232" y="251460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v=3t^2-12</a:t>
                </a:r>
                <a:r>
                  <a:rPr sz="1900">
                    <a:solidFill>
                      <a:srgbClr val="1E293B"/>
                    </a:solidFill>
                    <a:latin typeface="Calibri"/>
                  </a:rPr>
                  <a:t>, </a:t>
                </a:r>
                <a:r>
                  <a:rPr lang="vi-VN"/>
                  <a:t>a=6t</a:t>
                </a:r>
                <a:r>
                  <a:rPr sz="1900">
                    <a:solidFill>
                      <a:srgbClr val="1E293B"/>
                    </a:solidFill>
                    <a:latin typeface="Calibri"/>
                  </a:rPr>
                  <a:t>. b) Lên trên khi </a:t>
                </a:r>
                <a:r>
                  <a:rPr lang="vi-VN"/>
                  <a:t>t&gt;2</a:t>
                </a:r>
                <a:r>
                  <a:rPr sz="1900">
                    <a:solidFill>
                      <a:srgbClr val="1E293B"/>
                    </a:solidFill>
                    <a:latin typeface="Calibri"/>
                  </a:rPr>
                  <a:t>, xuống dưới khi </a:t>
                </a:r>
                <a:r>
                  <a:rPr lang="vi-VN"/>
                  <a:t>0\le t&lt;2</a:t>
                </a:r>
                <a:r>
                  <a:rPr sz="1900">
                    <a:solidFill>
                      <a:srgbClr val="1E293B"/>
                    </a:solidFill>
                    <a:latin typeface="Calibri"/>
                  </a:rPr>
                  <a:t>. c) </a:t>
                </a:r>
                <a:r>
                  <a:rPr lang="vi-VN"/>
                  <a:t>|y(2)-y(0)|+|y(3)-y(2)|=16+7=23</a:t>
                </a:r>
                <a:r>
                  <a:rPr sz="1900">
                    <a:solidFill>
                      <a:srgbClr val="1E293B"/>
                    </a:solidFill>
                    <a:latin typeface="Calibri"/>
                  </a:rPr>
                  <a:t> m. d) Tăng tốc khi </a:t>
                </a:r>
                <a:r>
                  <a:rPr lang="vi-VN"/>
                  <a:t>t&gt;2</a:t>
                </a:r>
                <a:r>
                  <a:rPr sz="1900">
                    <a:solidFill>
                      <a:srgbClr val="1E293B"/>
                    </a:solidFill>
                    <a:latin typeface="Calibri"/>
                  </a:rPr>
                  <a:t> (</a:t>
                </a:r>
                <a:r>
                  <a:rPr lang="vi-VN"/>
                  <a:t>v</a:t>
                </a:r>
                <a:r>
                  <a:rPr sz="1900">
                    <a:solidFill>
                      <a:srgbClr val="1E293B"/>
                    </a:solidFill>
                    <a:latin typeface="Calibri"/>
                  </a:rPr>
                  <a:t>, </a:t>
                </a:r>
                <a:r>
                  <a:rPr lang="vi-VN"/>
                  <a:t>a</a:t>
                </a:r>
                <a:r>
                  <a:rPr sz="1900">
                    <a:solidFill>
                      <a:srgbClr val="1E293B"/>
                    </a:solidFill>
                    <a:latin typeface="Calibri"/>
                  </a:rPr>
                  <a:t> cùng dấu), giảm tốc khi </a:t>
                </a:r>
                <a:r>
                  <a:rPr lang="vi-VN"/>
                  <a:t>0&lt;t&lt;2</a:t>
                </a:r>
                <a:r>
                  <a:rPr sz="19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386328"/>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1.27.</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C(x)=23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000+50x−0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00175</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3</m:t>
                        </m:r>
                      </m:sup>
                    </m:sSup>
                  </m:oMath>
                </a14:m>
                <a:r>
                  <a:rPr sz="1900">
                    <a:solidFill>
                      <a:srgbClr val="1E293B"/>
                    </a:solidFill>
                    <a:latin typeface="Calibri"/>
                  </a:rPr>
                  <a:t> (trăm nghìn đồng). a) Hàm chi phí biên. b)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(100)</m:t>
                    </m:r>
                  </m:oMath>
                </a14:m>
                <a:r>
                  <a:rPr sz="1900">
                    <a:solidFill>
                      <a:srgbClr val="1E293B"/>
                    </a:solidFill>
                    <a:latin typeface="Calibri"/>
                  </a:rPr>
                  <a:t> và ý nghĩa. c) So sánh với chi phí sản xuất đơn vị thứ 101.</a:t>
                </a:r>
              </a:p>
            </p:txBody>
          </p:sp>
        </mc:Choice>
        <mc:Fallback>
          <p:sp>
            <p:nvSpPr>
              <p:cNvPr id="10" name="TextBox 9"/>
              <p:cNvSpPr txBox="1"/>
              <p:nvPr/>
            </p:nvSpPr>
            <p:spPr>
              <a:xfrm>
                <a:off x="548640" y="3386328"/>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1.27.</a:t>
                </a:r>
                <a:r>
                  <a:rPr sz="1900">
                    <a:solidFill>
                      <a:srgbClr val="1E293B"/>
                    </a:solidFill>
                    <a:latin typeface="Calibri"/>
                  </a:rPr>
                  <a:t> </a:t>
                </a:r>
                <a:r>
                  <a:rPr lang="vi-VN"/>
                  <a:t>C(x)=23\ 000+50x-0{,}5x^2+0{,}00175x^3</a:t>
                </a:r>
                <a:r>
                  <a:rPr sz="1900">
                    <a:solidFill>
                      <a:srgbClr val="1E293B"/>
                    </a:solidFill>
                    <a:latin typeface="Calibri"/>
                  </a:rPr>
                  <a:t> (trăm nghìn đồng). a) Hàm chi phí biên. b) </a:t>
                </a:r>
                <a:r>
                  <a:rPr lang="vi-VN"/>
                  <a:t>C'(100)</a:t>
                </a:r>
                <a:r>
                  <a:rPr sz="1900">
                    <a:solidFill>
                      <a:srgbClr val="1E293B"/>
                    </a:solidFill>
                    <a:latin typeface="Calibri"/>
                  </a:rPr>
                  <a:t> và ý nghĩa. c) So sánh với chi phí sản xuất đơn vị thứ 101.</a:t>
                </a:r>
              </a:p>
            </p:txBody>
          </p:sp>
        </mc:Fallback>
      </mc:AlternateContent>
      <p:sp>
        <p:nvSpPr>
          <p:cNvPr id="11" name="s3_nen"/>
          <p:cNvSpPr/>
          <p:nvPr/>
        </p:nvSpPr>
        <p:spPr>
          <a:xfrm>
            <a:off x="548640" y="4203192"/>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239768"/>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(x)=50−x+0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00525</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oMath>
                </a14:m>
                <a:r>
                  <a:rPr sz="1900">
                    <a:solidFill>
                      <a:srgbClr val="1E293B"/>
                    </a:solidFill>
                    <a:latin typeface="Calibri"/>
                  </a:rPr>
                  <a:t>. b)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(100)=2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chi phí sản xuất thêm đơn vị thứ 101 khoảng 250 nghìn đồng. c) </a:t>
                </a:r>
                <a14:m>
                  <m:oMath xmlns:m="http://schemas.openxmlformats.org/officeDocument/2006/math">
                    <m:r>
                      <a:rPr lang="vi-VN" sz="1900" b="0">
                        <a:solidFill>
                          <a:srgbClr val="1E293B"/>
                        </a:solidFill>
                        <a:latin typeface="Cambria Math" panose="02040503050406030204" pitchFamily="18" charset="0"/>
                      </a:rPr>
                      <m:t>C(101)−C(100)≈2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527</m:t>
                    </m:r>
                  </m:oMath>
                </a14:m>
                <a:r>
                  <a:rPr sz="1900">
                    <a:solidFill>
                      <a:srgbClr val="1E293B"/>
                    </a:solidFill>
                    <a:latin typeface="Calibri"/>
                  </a:rPr>
                  <a:t> – xấp xỉ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(100)</m:t>
                    </m:r>
                  </m:oMath>
                </a14:m>
                <a:r>
                  <a:rPr sz="1900">
                    <a:solidFill>
                      <a:srgbClr val="1E293B"/>
                    </a:solidFill>
                    <a:latin typeface="Calibri"/>
                  </a:rPr>
                  <a:t>.</a:t>
                </a:r>
              </a:p>
            </p:txBody>
          </p:sp>
        </mc:Choice>
        <mc:Fallback>
          <p:sp>
            <p:nvSpPr>
              <p:cNvPr id="12" name="TextBox 11"/>
              <p:cNvSpPr txBox="1"/>
              <p:nvPr/>
            </p:nvSpPr>
            <p:spPr>
              <a:xfrm>
                <a:off x="713232" y="4239768"/>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C'(x)=50-x+0{,}00525x^2</a:t>
                </a:r>
                <a:r>
                  <a:rPr sz="1900">
                    <a:solidFill>
                      <a:srgbClr val="1E293B"/>
                    </a:solidFill>
                    <a:latin typeface="Calibri"/>
                  </a:rPr>
                  <a:t>. b) </a:t>
                </a:r>
                <a:r>
                  <a:rPr lang="vi-VN"/>
                  <a:t>C'(100)=2{,}5</a:t>
                </a:r>
                <a:r>
                  <a:rPr sz="1900">
                    <a:solidFill>
                      <a:srgbClr val="1E293B"/>
                    </a:solidFill>
                    <a:latin typeface="Calibri"/>
                  </a:rPr>
                  <a:t>: chi phí sản xuất thêm đơn vị thứ 101 khoảng 250 nghìn đồng. c) </a:t>
                </a:r>
                <a:r>
                  <a:rPr lang="vi-VN"/>
                  <a:t>C(101)-C(100)\approx 2{,}527</a:t>
                </a:r>
                <a:r>
                  <a:rPr sz="1900">
                    <a:solidFill>
                      <a:srgbClr val="1E293B"/>
                    </a:solidFill>
                    <a:latin typeface="Calibri"/>
                  </a:rPr>
                  <a:t> – xấp xỉ </a:t>
                </a:r>
                <a:r>
                  <a:rPr lang="vi-VN"/>
                  <a:t>C'(100)</a:t>
                </a:r>
                <a:r>
                  <a:rPr sz="19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VỀ NHÀ 1.28 – 1.29 (SGK TR.41)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22</a:t>
            </a:r>
          </a:p>
        </p:txBody>
      </p:sp>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1.28.</a:t>
            </a:r>
            <a:r>
              <a:rPr sz="1900">
                <a:solidFill>
                  <a:srgbClr val="1E293B"/>
                </a:solidFill>
                <a:latin typeface="Calibri"/>
              </a:rPr>
              <a:t> 100 căn hộ, giá thuê 8 triệu đồng/tháng thì kín; mỗi lần tăng giá 100 nghìn đồng thì thêm một căn bị bỏ trống. Đặt giá thuê bao nhiêu để doanh thu lớn nhất?</a:t>
            </a:r>
          </a:p>
        </p:txBody>
      </p:sp>
      <p:sp>
        <p:nvSpPr>
          <p:cNvPr id="8" name="s1_nen"/>
          <p:cNvSpPr/>
          <p:nvPr/>
        </p:nvSpPr>
        <p:spPr>
          <a:xfrm>
            <a:off x="548640" y="218846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250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Tăng giá </a:t>
                </a:r>
                <a14:m>
                  <m:oMath xmlns:m="http://schemas.openxmlformats.org/officeDocument/2006/math">
                    <m:r>
                      <a:rPr lang="vi-VN" sz="1900" b="0">
                        <a:solidFill>
                          <a:srgbClr val="1E293B"/>
                        </a:solidFill>
                        <a:latin typeface="Cambria Math" panose="02040503050406030204" pitchFamily="18" charset="0"/>
                      </a:rPr>
                      <m:t>k</m:t>
                    </m:r>
                  </m:oMath>
                </a14:m>
                <a:r>
                  <a:rPr sz="1900">
                    <a:solidFill>
                      <a:srgbClr val="1E293B"/>
                    </a:solidFill>
                    <a:latin typeface="Calibri"/>
                  </a:rPr>
                  <a:t> lần: </a:t>
                </a:r>
                <a14:m>
                  <m:oMath xmlns:m="http://schemas.openxmlformats.org/officeDocument/2006/math">
                    <m:r>
                      <a:rPr lang="vi-VN" sz="1900" b="0">
                        <a:solidFill>
                          <a:srgbClr val="1E293B"/>
                        </a:solidFill>
                        <a:latin typeface="Cambria Math" panose="02040503050406030204" pitchFamily="18" charset="0"/>
                      </a:rPr>
                      <m:t>R=(8+0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1k)(100−k)</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R</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=0⇔k=10</m:t>
                    </m:r>
                  </m:oMath>
                </a14:m>
                <a:r>
                  <a:rPr sz="1900">
                    <a:solidFill>
                      <a:srgbClr val="1E293B"/>
                    </a:solidFill>
                    <a:latin typeface="Calibri"/>
                  </a:rPr>
                  <a:t>: giá thuê </a:t>
                </a:r>
                <a:r>
                  <a:rPr sz="1900" b="1">
                    <a:solidFill>
                      <a:srgbClr val="1E293B"/>
                    </a:solidFill>
                    <a:latin typeface="Calibri"/>
                  </a:rPr>
                  <a:t>9 triệu đồng</a:t>
                </a:r>
                <a:r>
                  <a:rPr sz="1900">
                    <a:solidFill>
                      <a:srgbClr val="1E293B"/>
                    </a:solidFill>
                    <a:latin typeface="Calibri"/>
                  </a:rPr>
                  <a:t>, doanh thu 810 triệu đồng/tháng.</a:t>
                </a:r>
              </a:p>
            </p:txBody>
          </p:sp>
        </mc:Choice>
        <mc:Fallback>
          <p:sp>
            <p:nvSpPr>
              <p:cNvPr id="9" name="TextBox 8"/>
              <p:cNvSpPr txBox="1"/>
              <p:nvPr/>
            </p:nvSpPr>
            <p:spPr>
              <a:xfrm>
                <a:off x="713232" y="22250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Tăng giá </a:t>
                </a:r>
                <a:r>
                  <a:rPr lang="vi-VN"/>
                  <a:t>k</a:t>
                </a:r>
                <a:r>
                  <a:rPr sz="1900">
                    <a:solidFill>
                      <a:srgbClr val="1E293B"/>
                    </a:solidFill>
                    <a:latin typeface="Calibri"/>
                  </a:rPr>
                  <a:t> lần: </a:t>
                </a:r>
                <a:r>
                  <a:rPr lang="vi-VN"/>
                  <a:t>R=(8+0{,}1k)(100-k)</a:t>
                </a:r>
                <a:r>
                  <a:rPr sz="1900">
                    <a:solidFill>
                      <a:srgbClr val="1E293B"/>
                    </a:solidFill>
                    <a:latin typeface="Calibri"/>
                  </a:rPr>
                  <a:t>, </a:t>
                </a:r>
                <a:r>
                  <a:rPr lang="vi-VN"/>
                  <a:t>R'=0\Leftrightarrow k=10</a:t>
                </a:r>
                <a:r>
                  <a:rPr sz="1900">
                    <a:solidFill>
                      <a:srgbClr val="1E293B"/>
                    </a:solidFill>
                    <a:latin typeface="Calibri"/>
                  </a:rPr>
                  <a:t>: giá thuê </a:t>
                </a:r>
                <a:r>
                  <a:rPr sz="1900" b="1">
                    <a:solidFill>
                      <a:srgbClr val="1E293B"/>
                    </a:solidFill>
                    <a:latin typeface="Calibri"/>
                  </a:rPr>
                  <a:t>9 triệu đồng</a:t>
                </a:r>
                <a:r>
                  <a:rPr sz="1900">
                    <a:solidFill>
                      <a:srgbClr val="1E293B"/>
                    </a:solidFill>
                    <a:latin typeface="Calibri"/>
                  </a:rPr>
                  <a:t>, doanh thu 810 triệu đồng/tháng.</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096768"/>
                <a:ext cx="11064240" cy="117271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1.29.</a:t>
                </a:r>
                <a:r>
                  <a:rPr sz="1900">
                    <a:solidFill>
                      <a:srgbClr val="1E293B"/>
                    </a:solidFill>
                    <a:latin typeface="Calibri"/>
                  </a:rPr>
                  <a:t> Hàm cầu </a:t>
                </a:r>
                <a14:m>
                  <m:oMath xmlns:m="http://schemas.openxmlformats.org/officeDocument/2006/math">
                    <m:r>
                      <a:rPr lang="vi-VN" sz="1900" b="0">
                        <a:solidFill>
                          <a:srgbClr val="1E293B"/>
                        </a:solidFill>
                        <a:latin typeface="Cambria Math" panose="02040503050406030204" pitchFamily="18" charset="0"/>
                      </a:rPr>
                      <m:t>p=</m:t>
                    </m:r>
                    <m:f>
                      <m:fPr>
                        <m:type m:val="bar"/>
                      </m:fPr>
                      <m:num>
                        <m:r>
                          <a:rPr lang="vi-VN" sz="1900" b="0">
                            <a:solidFill>
                              <a:srgbClr val="1E293B"/>
                            </a:solidFill>
                            <a:latin typeface="Cambria Math" panose="02040503050406030204" pitchFamily="18" charset="0"/>
                          </a:rPr>
                          <m:t>354</m:t>
                        </m:r>
                      </m:num>
                      <m:den>
                        <m:r>
                          <a:rPr lang="vi-VN" sz="1900" b="0">
                            <a:solidFill>
                              <a:srgbClr val="1E293B"/>
                            </a:solidFill>
                            <a:latin typeface="Cambria Math" panose="02040503050406030204" pitchFamily="18" charset="0"/>
                          </a:rPr>
                          <m:t>1+0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01x</m:t>
                        </m:r>
                      </m:den>
                    </m:f>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x≥0</m:t>
                    </m:r>
                  </m:oMath>
                </a14:m>
                <a:r>
                  <a:rPr sz="1900">
                    <a:solidFill>
                      <a:srgbClr val="1E293B"/>
                    </a:solidFill>
                    <a:latin typeface="Calibri"/>
                  </a:rPr>
                  <a:t>. a) Tìm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theo </a:t>
                </a:r>
                <a14:m>
                  <m:oMath xmlns:m="http://schemas.openxmlformats.org/officeDocument/2006/math">
                    <m:r>
                      <a:rPr lang="vi-VN" sz="1900" b="0">
                        <a:solidFill>
                          <a:srgbClr val="1E293B"/>
                        </a:solidFill>
                        <a:latin typeface="Cambria Math" panose="02040503050406030204" pitchFamily="18" charset="0"/>
                      </a:rPr>
                      <m:t>p</m:t>
                    </m:r>
                  </m:oMath>
                </a14:m>
                <a:r>
                  <a:rPr sz="1900">
                    <a:solidFill>
                      <a:srgbClr val="1E293B"/>
                    </a:solidFill>
                    <a:latin typeface="Calibri"/>
                  </a:rPr>
                  <a:t>, tập xác định; số sản phẩm bán được khi </a:t>
                </a:r>
                <a14:m>
                  <m:oMath xmlns:m="http://schemas.openxmlformats.org/officeDocument/2006/math">
                    <m:r>
                      <a:rPr lang="vi-VN" sz="1900" b="0">
                        <a:solidFill>
                          <a:srgbClr val="1E293B"/>
                        </a:solidFill>
                        <a:latin typeface="Cambria Math" panose="02040503050406030204" pitchFamily="18" charset="0"/>
                      </a:rPr>
                      <m:t>p=240</m:t>
                    </m:r>
                  </m:oMath>
                </a14:m>
                <a:r>
                  <a:rPr sz="1900">
                    <a:solidFill>
                      <a:srgbClr val="1E293B"/>
                    </a:solidFill>
                    <a:latin typeface="Calibri"/>
                  </a:rPr>
                  <a:t>. b) Khảo sát </a:t>
                </a:r>
                <a14:m>
                  <m:oMath xmlns:m="http://schemas.openxmlformats.org/officeDocument/2006/math">
                    <m:r>
                      <a:rPr lang="vi-VN" sz="1900" b="0">
                        <a:solidFill>
                          <a:srgbClr val="1E293B"/>
                        </a:solidFill>
                        <a:latin typeface="Cambria Math" panose="02040503050406030204" pitchFamily="18" charset="0"/>
                      </a:rPr>
                      <m:t>x=x(p)</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thay đổi thế nào khi </a:t>
                </a:r>
                <a14:m>
                  <m:oMath xmlns:m="http://schemas.openxmlformats.org/officeDocument/2006/math">
                    <m:r>
                      <a:rPr lang="vi-VN" sz="1900" b="0">
                        <a:solidFill>
                          <a:srgbClr val="1E293B"/>
                        </a:solidFill>
                        <a:latin typeface="Cambria Math" panose="02040503050406030204" pitchFamily="18" charset="0"/>
                      </a:rPr>
                      <m:t>p</m:t>
                    </m:r>
                  </m:oMath>
                </a14:m>
                <a:r>
                  <a:rPr sz="1900">
                    <a:solidFill>
                      <a:srgbClr val="1E293B"/>
                    </a:solidFill>
                    <a:latin typeface="Calibri"/>
                  </a:rPr>
                  <a:t> tăng; ý nghĩa của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p→</m:t>
                        </m:r>
                        <m:sSup>
                          <m:e>
                            <m:r>
                              <a:rPr lang="vi-VN" sz="1900" b="0">
                                <a:solidFill>
                                  <a:srgbClr val="1E293B"/>
                                </a:solidFill>
                                <a:latin typeface="Cambria Math" panose="02040503050406030204" pitchFamily="18" charset="0"/>
                              </a:rPr>
                              <m:t>0</m:t>
                            </m:r>
                          </m:e>
                          <m:sup>
                            <m:r>
                              <a:rPr lang="vi-VN" sz="1900" b="0">
                                <a:solidFill>
                                  <a:srgbClr val="1E293B"/>
                                </a:solidFill>
                                <a:latin typeface="Cambria Math" panose="02040503050406030204" pitchFamily="18" charset="0"/>
                              </a:rPr>
                              <m:t>+</m:t>
                            </m:r>
                          </m:sup>
                        </m:sSup>
                      </m:lim>
                    </m:limLow>
                    <m:r>
                      <a:rPr lang="vi-VN" sz="1900" b="0">
                        <a:solidFill>
                          <a:srgbClr val="1E293B"/>
                        </a:solidFill>
                        <a:latin typeface="Cambria Math" panose="02040503050406030204" pitchFamily="18" charset="0"/>
                      </a:rPr>
                      <m:t>x(p)</m:t>
                    </m:r>
                  </m:oMath>
                </a14:m>
                <a:r>
                  <a:rPr sz="1900">
                    <a:solidFill>
                      <a:srgbClr val="1E293B"/>
                    </a:solidFill>
                    <a:latin typeface="Calibri"/>
                  </a:rPr>
                  <a:t>.</a:t>
                </a:r>
              </a:p>
            </p:txBody>
          </p:sp>
        </mc:Choice>
        <mc:Fallback>
          <p:sp>
            <p:nvSpPr>
              <p:cNvPr id="10" name="TextBox 9"/>
              <p:cNvSpPr txBox="1"/>
              <p:nvPr/>
            </p:nvSpPr>
            <p:spPr>
              <a:xfrm>
                <a:off x="548640" y="3096768"/>
                <a:ext cx="11064240" cy="117271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1.29.</a:t>
                </a:r>
                <a:r>
                  <a:rPr sz="1900">
                    <a:solidFill>
                      <a:srgbClr val="1E293B"/>
                    </a:solidFill>
                    <a:latin typeface="Calibri"/>
                  </a:rPr>
                  <a:t> Hàm cầu </a:t>
                </a:r>
                <a:r>
                  <a:rPr lang="vi-VN"/>
                  <a:t>p=\frac{354}{1+0{,}01x}</a:t>
                </a:r>
                <a:r>
                  <a:rPr sz="1900">
                    <a:solidFill>
                      <a:srgbClr val="1E293B"/>
                    </a:solidFill>
                    <a:latin typeface="Calibri"/>
                  </a:rPr>
                  <a:t>, </a:t>
                </a:r>
                <a:r>
                  <a:rPr lang="vi-VN"/>
                  <a:t>x\ge 0</a:t>
                </a:r>
                <a:r>
                  <a:rPr sz="1900">
                    <a:solidFill>
                      <a:srgbClr val="1E293B"/>
                    </a:solidFill>
                    <a:latin typeface="Calibri"/>
                  </a:rPr>
                  <a:t>. a) Tìm </a:t>
                </a:r>
                <a:r>
                  <a:rPr lang="vi-VN"/>
                  <a:t>x</a:t>
                </a:r>
                <a:r>
                  <a:rPr sz="1900">
                    <a:solidFill>
                      <a:srgbClr val="1E293B"/>
                    </a:solidFill>
                    <a:latin typeface="Calibri"/>
                  </a:rPr>
                  <a:t> theo </a:t>
                </a:r>
                <a:r>
                  <a:rPr lang="vi-VN"/>
                  <a:t>p</a:t>
                </a:r>
                <a:r>
                  <a:rPr sz="1900">
                    <a:solidFill>
                      <a:srgbClr val="1E293B"/>
                    </a:solidFill>
                    <a:latin typeface="Calibri"/>
                  </a:rPr>
                  <a:t>, tập xác định; số sản phẩm bán được khi </a:t>
                </a:r>
                <a:r>
                  <a:rPr lang="vi-VN"/>
                  <a:t>p=240</a:t>
                </a:r>
                <a:r>
                  <a:rPr sz="1900">
                    <a:solidFill>
                      <a:srgbClr val="1E293B"/>
                    </a:solidFill>
                    <a:latin typeface="Calibri"/>
                  </a:rPr>
                  <a:t>. b) Khảo sát </a:t>
                </a:r>
                <a:r>
                  <a:rPr lang="vi-VN"/>
                  <a:t>x=x(p)</a:t>
                </a:r>
                <a:r>
                  <a:rPr sz="1900">
                    <a:solidFill>
                      <a:srgbClr val="1E293B"/>
                    </a:solidFill>
                    <a:latin typeface="Calibri"/>
                  </a:rPr>
                  <a:t>; </a:t>
                </a:r>
                <a:r>
                  <a:rPr lang="vi-VN"/>
                  <a:t>x</a:t>
                </a:r>
                <a:r>
                  <a:rPr sz="1900">
                    <a:solidFill>
                      <a:srgbClr val="1E293B"/>
                    </a:solidFill>
                    <a:latin typeface="Calibri"/>
                  </a:rPr>
                  <a:t> thay đổi thế nào khi </a:t>
                </a:r>
                <a:r>
                  <a:rPr lang="vi-VN"/>
                  <a:t>p</a:t>
                </a:r>
                <a:r>
                  <a:rPr sz="1900">
                    <a:solidFill>
                      <a:srgbClr val="1E293B"/>
                    </a:solidFill>
                    <a:latin typeface="Calibri"/>
                  </a:rPr>
                  <a:t> tăng; ý nghĩa của </a:t>
                </a:r>
                <a:r>
                  <a:rPr lang="vi-VN"/>
                  <a:t>\lim\limits_{p\to 0^+}x(p)</a:t>
                </a:r>
                <a:r>
                  <a:rPr sz="1900">
                    <a:solidFill>
                      <a:srgbClr val="1E293B"/>
                    </a:solidFill>
                    <a:latin typeface="Calibri"/>
                  </a:rPr>
                  <a:t>.</a:t>
                </a:r>
              </a:p>
            </p:txBody>
          </p:sp>
        </mc:Fallback>
      </mc:AlternateContent>
      <p:sp>
        <p:nvSpPr>
          <p:cNvPr id="11" name="s3_nen"/>
          <p:cNvSpPr/>
          <p:nvPr/>
        </p:nvSpPr>
        <p:spPr>
          <a:xfrm>
            <a:off x="548640" y="4333494"/>
            <a:ext cx="11064240" cy="11049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370070"/>
                <a:ext cx="10735056" cy="103174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14:m>
                  <m:oMath xmlns:m="http://schemas.openxmlformats.org/officeDocument/2006/math">
                    <m:r>
                      <a:rPr lang="vi-VN" sz="1900" b="0">
                        <a:solidFill>
                          <a:srgbClr val="1E293B"/>
                        </a:solidFill>
                        <a:latin typeface="Cambria Math" panose="02040503050406030204" pitchFamily="18" charset="0"/>
                      </a:rPr>
                      <m:t>x=</m:t>
                    </m:r>
                    <m:f>
                      <m:fPr>
                        <m:type m:val="bar"/>
                      </m:fPr>
                      <m:num>
                        <m:r>
                          <a:rPr lang="vi-VN" sz="1900" b="0">
                            <a:solidFill>
                              <a:srgbClr val="1E293B"/>
                            </a:solidFill>
                            <a:latin typeface="Cambria Math" panose="02040503050406030204" pitchFamily="18" charset="0"/>
                          </a:rPr>
                          <m:t>35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400</m:t>
                        </m:r>
                      </m:num>
                      <m:den>
                        <m:r>
                          <a:rPr lang="vi-VN" sz="1900" b="0">
                            <a:solidFill>
                              <a:srgbClr val="1E293B"/>
                            </a:solidFill>
                            <a:latin typeface="Cambria Math" panose="02040503050406030204" pitchFamily="18" charset="0"/>
                          </a:rPr>
                          <m:t>p</m:t>
                        </m:r>
                      </m:den>
                    </m:f>
                    <m:r>
                      <a:rPr lang="vi-VN" sz="1900" b="0">
                        <a:solidFill>
                          <a:srgbClr val="1E293B"/>
                        </a:solidFill>
                        <a:latin typeface="Cambria Math" panose="02040503050406030204" pitchFamily="18" charset="0"/>
                      </a:rPr>
                      <m:t>−100</m:t>
                    </m:r>
                  </m:oMath>
                </a14:m>
                <a:r>
                  <a:rPr sz="1900">
                    <a:solidFill>
                      <a:srgbClr val="1E293B"/>
                    </a:solidFill>
                    <a:latin typeface="Calibri"/>
                  </a:rPr>
                  <a:t>, </a:t>
                </a:r>
                <a14:m>
                  <m:oMath xmlns:m="http://schemas.openxmlformats.org/officeDocument/2006/math">
                    <m:d>
                      <m:dPr>
                        <m:begChr m:val=""/>
                        <m:sepChr m:val=""/>
                        <m:endChr m:val="]"/>
                      </m:dPr>
                      <m:e>
                        <m:r>
                          <a:rPr lang="vi-VN" sz="1900" b="0">
                            <a:solidFill>
                              <a:srgbClr val="1E293B"/>
                            </a:solidFill>
                            <a:latin typeface="Cambria Math" panose="02040503050406030204" pitchFamily="18" charset="0"/>
                          </a:rPr>
                          <m:t>p</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354</m:t>
                        </m:r>
                      </m:e>
                    </m:d>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x(240)=47</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b) </a:t>
                </a:r>
                <a14:m>
                  <m:oMath xmlns:m="http://schemas.openxmlformats.org/officeDocument/2006/math">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(p)=−</m:t>
                    </m:r>
                    <m:f>
                      <m:fPr>
                        <m:type m:val="bar"/>
                      </m:fPr>
                      <m:num>
                        <m:r>
                          <a:rPr lang="vi-VN" sz="1900" b="0">
                            <a:solidFill>
                              <a:srgbClr val="1E293B"/>
                            </a:solidFill>
                            <a:latin typeface="Cambria Math" panose="02040503050406030204" pitchFamily="18" charset="0"/>
                          </a:rPr>
                          <m:t>35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400</m:t>
                        </m:r>
                      </m:num>
                      <m:den>
                        <m:sSup>
                          <m:e>
                            <m:r>
                              <a:rPr lang="vi-VN" sz="1900" b="0">
                                <a:solidFill>
                                  <a:srgbClr val="1E293B"/>
                                </a:solidFill>
                                <a:latin typeface="Cambria Math" panose="02040503050406030204" pitchFamily="18" charset="0"/>
                              </a:rPr>
                              <m:t>p</m:t>
                            </m:r>
                          </m:e>
                          <m:sup>
                            <m:r>
                              <a:rPr lang="vi-VN" sz="1900" b="0">
                                <a:solidFill>
                                  <a:srgbClr val="1E293B"/>
                                </a:solidFill>
                                <a:latin typeface="Cambria Math" panose="02040503050406030204" pitchFamily="18" charset="0"/>
                              </a:rPr>
                              <m:t>2</m:t>
                            </m:r>
                          </m:sup>
                        </m:sSup>
                      </m:den>
                    </m:f>
                    <m:r>
                      <a:rPr lang="vi-VN" sz="1900" b="0">
                        <a:solidFill>
                          <a:srgbClr val="1E293B"/>
                        </a:solidFill>
                        <a:latin typeface="Cambria Math" panose="02040503050406030204" pitchFamily="18" charset="0"/>
                      </a:rPr>
                      <m:t>&lt;0</m:t>
                    </m:r>
                  </m:oMath>
                </a14:m>
                <a:r>
                  <a:rPr sz="1900">
                    <a:solidFill>
                      <a:srgbClr val="1E293B"/>
                    </a:solidFill>
                    <a:latin typeface="Calibri"/>
                  </a:rPr>
                  <a:t>: giá tăng thì số lượng bán giảm;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p→</m:t>
                        </m:r>
                        <m:sSup>
                          <m:e>
                            <m:r>
                              <a:rPr lang="vi-VN" sz="1900" b="0">
                                <a:solidFill>
                                  <a:srgbClr val="1E293B"/>
                                </a:solidFill>
                                <a:latin typeface="Cambria Math" panose="02040503050406030204" pitchFamily="18" charset="0"/>
                              </a:rPr>
                              <m:t>0</m:t>
                            </m:r>
                          </m:e>
                          <m:sup>
                            <m:r>
                              <a:rPr lang="vi-VN" sz="1900" b="0">
                                <a:solidFill>
                                  <a:srgbClr val="1E293B"/>
                                </a:solidFill>
                                <a:latin typeface="Cambria Math" panose="02040503050406030204" pitchFamily="18" charset="0"/>
                              </a:rPr>
                              <m:t>+</m:t>
                            </m:r>
                          </m:sup>
                        </m:sSup>
                      </m:lim>
                    </m:limLow>
                    <m:r>
                      <a:rPr lang="vi-VN" sz="1900" b="0">
                        <a:solidFill>
                          <a:srgbClr val="1E293B"/>
                        </a:solidFill>
                        <a:latin typeface="Cambria Math" panose="02040503050406030204" pitchFamily="18" charset="0"/>
                      </a:rPr>
                      <m:t>x(p)=+∞</m:t>
                    </m:r>
                  </m:oMath>
                </a14:m>
                <a:r>
                  <a:rPr sz="1900">
                    <a:solidFill>
                      <a:srgbClr val="1E293B"/>
                    </a:solidFill>
                    <a:latin typeface="Calibri"/>
                  </a:rPr>
                  <a:t>: giá càng rẻ, nhu cầu càng lớn.</a:t>
                </a:r>
              </a:p>
            </p:txBody>
          </p:sp>
        </mc:Choice>
        <mc:Fallback>
          <p:sp>
            <p:nvSpPr>
              <p:cNvPr id="12" name="TextBox 11"/>
              <p:cNvSpPr txBox="1"/>
              <p:nvPr/>
            </p:nvSpPr>
            <p:spPr>
              <a:xfrm>
                <a:off x="713232" y="4370070"/>
                <a:ext cx="10735056" cy="103174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x=\frac{35\ 400}{p}-100</a:t>
                </a:r>
                <a:r>
                  <a:rPr sz="1900">
                    <a:solidFill>
                      <a:srgbClr val="1E293B"/>
                    </a:solidFill>
                    <a:latin typeface="Calibri"/>
                  </a:rPr>
                  <a:t>, </a:t>
                </a:r>
                <a:r>
                  <a:rPr lang="vi-VN"/>
                  <a:t>p\in(0;\ 354]</a:t>
                </a:r>
                <a:r>
                  <a:rPr sz="1900">
                    <a:solidFill>
                      <a:srgbClr val="1E293B"/>
                    </a:solidFill>
                    <a:latin typeface="Calibri"/>
                  </a:rPr>
                  <a:t>; </a:t>
                </a:r>
                <a:r>
                  <a:rPr lang="vi-VN"/>
                  <a:t>x(240)=47{,}5</a:t>
                </a:r>
                <a:r>
                  <a:rPr sz="1900">
                    <a:solidFill>
                      <a:srgbClr val="1E293B"/>
                    </a:solidFill>
                    <a:latin typeface="Calibri"/>
                  </a:rPr>
                  <a:t>. b) </a:t>
                </a:r>
                <a:r>
                  <a:rPr lang="vi-VN"/>
                  <a:t>x'(p)=-\frac{35\ 400}{p^2}&lt;0</a:t>
                </a:r>
                <a:r>
                  <a:rPr sz="1900">
                    <a:solidFill>
                      <a:srgbClr val="1E293B"/>
                    </a:solidFill>
                    <a:latin typeface="Calibri"/>
                  </a:rPr>
                  <a:t>: giá tăng thì số lượng bán giảm; </a:t>
                </a:r>
                <a:r>
                  <a:rPr lang="vi-VN"/>
                  <a:t>\lim\limits_{p\to 0^+}x(p)=+\infty</a:t>
                </a:r>
                <a:r>
                  <a:rPr sz="1900">
                    <a:solidFill>
                      <a:srgbClr val="1E293B"/>
                    </a:solidFill>
                    <a:latin typeface="Calibri"/>
                  </a:rPr>
                  <a:t>: giá càng rẻ, nhu cầu càng lớn.</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23</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vật chuyển động theo phương trình </a:t>
                </a:r>
                <a14:m>
                  <m:oMath xmlns:m="http://schemas.openxmlformats.org/officeDocument/2006/math">
                    <m:r>
                      <a:rPr lang="vi-VN" sz="2600" b="0">
                        <a:solidFill>
                          <a:srgbClr val="1E293B"/>
                        </a:solidFill>
                        <a:latin typeface="Cambria Math" panose="02040503050406030204" pitchFamily="18" charset="0"/>
                      </a:rPr>
                      <m:t>s(t)=</m:t>
                    </m:r>
                    <m:sSup>
                      <m:e>
                        <m:r>
                          <a:rPr lang="vi-VN" sz="2600" b="0">
                            <a:solidFill>
                              <a:srgbClr val="1E293B"/>
                            </a:solidFill>
                            <a:latin typeface="Cambria Math" panose="02040503050406030204" pitchFamily="18" charset="0"/>
                          </a:rPr>
                          <m:t>t</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−3</m:t>
                    </m:r>
                    <m:sSup>
                      <m:e>
                        <m:r>
                          <a:rPr lang="vi-VN" sz="2600" b="0">
                            <a:solidFill>
                              <a:srgbClr val="1E293B"/>
                            </a:solidFill>
                            <a:latin typeface="Cambria Math" panose="02040503050406030204" pitchFamily="18" charset="0"/>
                          </a:rPr>
                          <m:t>t</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+5</m:t>
                    </m:r>
                  </m:oMath>
                </a14:m>
                <a:r>
                  <a:rPr sz="2600">
                    <a:solidFill>
                      <a:srgbClr val="1E293B"/>
                    </a:solidFill>
                    <a:latin typeface="Calibri"/>
                  </a:rPr>
                  <a:t> (m, s). Vận tốc của vật tại </a:t>
                </a:r>
                <a14:m>
                  <m:oMath xmlns:m="http://schemas.openxmlformats.org/officeDocument/2006/math">
                    <m:r>
                      <a:rPr lang="vi-VN" sz="2600" b="0">
                        <a:solidFill>
                          <a:srgbClr val="1E293B"/>
                        </a:solidFill>
                        <a:latin typeface="Cambria Math" panose="02040503050406030204" pitchFamily="18" charset="0"/>
                      </a:rPr>
                      <m:t>t=2</m:t>
                    </m:r>
                  </m:oMath>
                </a14:m>
                <a:r>
                  <a:rPr sz="2600">
                    <a:solidFill>
                      <a:srgbClr val="1E293B"/>
                    </a:solidFill>
                    <a:latin typeface="Calibri"/>
                  </a:rPr>
                  <a:t> giây bằng</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vật chuyển động theo phương trình </a:t>
                </a:r>
                <a:r>
                  <a:rPr lang="vi-VN"/>
                  <a:t>s(t)=t^3-3t^2+5</a:t>
                </a:r>
                <a:r>
                  <a:rPr sz="2600">
                    <a:solidFill>
                      <a:srgbClr val="1E293B"/>
                    </a:solidFill>
                    <a:latin typeface="Calibri"/>
                  </a:rPr>
                  <a:t> (m, s). Vận tốc của vật tại </a:t>
                </a:r>
                <a:r>
                  <a:rPr lang="vi-VN"/>
                  <a:t>t=2</a:t>
                </a:r>
                <a:r>
                  <a:rPr sz="2600">
                    <a:solidFill>
                      <a:srgbClr val="1E293B"/>
                    </a:solidFill>
                    <a:latin typeface="Calibri"/>
                  </a:rPr>
                  <a:t> giây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0</m:t>
                    </m:r>
                  </m:oMath>
                </a14:m>
                <a:r>
                  <a:rPr sz="2400">
                    <a:solidFill>
                      <a:srgbClr val="1E293B"/>
                    </a:solidFill>
                    <a:latin typeface="Calibri"/>
                  </a:rPr>
                  <a:t> m/s</a:t>
                </a:r>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0</a:t>
                </a:r>
                <a:r>
                  <a:rPr sz="2400">
                    <a:solidFill>
                      <a:srgbClr val="1E293B"/>
                    </a:solidFill>
                    <a:latin typeface="Calibri"/>
                  </a:rPr>
                  <a:t> m/s</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r>
                  <a:rPr sz="2400">
                    <a:solidFill>
                      <a:srgbClr val="1E293B"/>
                    </a:solidFill>
                    <a:latin typeface="Calibri"/>
                  </a:rPr>
                  <a:t> m/s</a:t>
                </a:r>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a:t>
                </a:r>
                <a:r>
                  <a:rPr sz="2400">
                    <a:solidFill>
                      <a:srgbClr val="1E293B"/>
                    </a:solidFill>
                    <a:latin typeface="Calibri"/>
                  </a:rPr>
                  <a:t> m/s</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r>
                  <a:rPr sz="2400">
                    <a:solidFill>
                      <a:srgbClr val="1E293B"/>
                    </a:solidFill>
                    <a:latin typeface="Calibri"/>
                  </a:rPr>
                  <a:t> m/s</a:t>
                </a:r>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6</a:t>
                </a:r>
                <a:r>
                  <a:rPr sz="2400">
                    <a:solidFill>
                      <a:srgbClr val="1E293B"/>
                    </a:solidFill>
                    <a:latin typeface="Calibri"/>
                  </a:rPr>
                  <a:t> m/s</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12</m:t>
                    </m:r>
                  </m:oMath>
                </a14:m>
                <a:r>
                  <a:rPr sz="2400">
                    <a:solidFill>
                      <a:srgbClr val="1E293B"/>
                    </a:solidFill>
                    <a:latin typeface="Calibri"/>
                  </a:rPr>
                  <a:t> m/s</a:t>
                </a:r>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12</a:t>
                </a:r>
                <a:r>
                  <a:rPr sz="2400">
                    <a:solidFill>
                      <a:srgbClr val="1E293B"/>
                    </a:solidFill>
                    <a:latin typeface="Calibri"/>
                  </a:rPr>
                  <a:t> m/s</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v=3</m:t>
                    </m:r>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−6t</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v(2)=0</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v=3t^2-6t</a:t>
                </a:r>
                <a:r>
                  <a:rPr sz="2200">
                    <a:solidFill>
                      <a:srgbClr val="1E293B"/>
                    </a:solidFill>
                    <a:latin typeface="Calibri"/>
                  </a:rPr>
                  <a:t>; </a:t>
                </a:r>
                <a:r>
                  <a:rPr lang="vi-VN"/>
                  <a:t>v(2)=0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Chi phí </a:t>
                </a:r>
                <a14:m>
                  <m:oMath xmlns:m="http://schemas.openxmlformats.org/officeDocument/2006/math">
                    <m:r>
                      <a:rPr lang="vi-VN" sz="2600" b="0">
                        <a:solidFill>
                          <a:srgbClr val="1E293B"/>
                        </a:solidFill>
                        <a:latin typeface="Cambria Math" panose="02040503050406030204" pitchFamily="18" charset="0"/>
                      </a:rPr>
                      <m:t>C(x)=</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+10x+500</m:t>
                    </m:r>
                  </m:oMath>
                </a14:m>
                <a:r>
                  <a:rPr sz="2600">
                    <a:solidFill>
                      <a:srgbClr val="1E293B"/>
                    </a:solidFill>
                    <a:latin typeface="Calibri"/>
                  </a:rPr>
                  <a:t> (nghìn đồng). Chi phí biên tại </a:t>
                </a:r>
                <a14:m>
                  <m:oMath xmlns:m="http://schemas.openxmlformats.org/officeDocument/2006/math">
                    <m:r>
                      <a:rPr lang="vi-VN" sz="2600" b="0">
                        <a:solidFill>
                          <a:srgbClr val="1E293B"/>
                        </a:solidFill>
                        <a:latin typeface="Cambria Math" panose="02040503050406030204" pitchFamily="18" charset="0"/>
                      </a:rPr>
                      <m:t>x=50</m:t>
                    </m:r>
                  </m:oMath>
                </a14:m>
                <a:r>
                  <a:rPr sz="2600">
                    <a:solidFill>
                      <a:srgbClr val="1E293B"/>
                    </a:solidFill>
                    <a:latin typeface="Calibri"/>
                  </a:rPr>
                  <a:t> bằng</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Chi phí </a:t>
                </a:r>
                <a:r>
                  <a:rPr lang="vi-VN"/>
                  <a:t>C(x)=x^2+10x+500</a:t>
                </a:r>
                <a:r>
                  <a:rPr sz="2600">
                    <a:solidFill>
                      <a:srgbClr val="1E293B"/>
                    </a:solidFill>
                    <a:latin typeface="Calibri"/>
                  </a:rPr>
                  <a:t> (nghìn đồng). Chi phí biên tại </a:t>
                </a:r>
                <a:r>
                  <a:rPr lang="vi-VN"/>
                  <a:t>x=50</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500</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3\ 500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110</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110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60</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60</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100</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100</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(x)=2x+10</m:t>
                    </m:r>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(50)=110</m:t>
                    </m:r>
                  </m:oMath>
                </a14:m>
                <a:r>
                  <a:rPr sz="2200">
                    <a:solidFill>
                      <a:srgbClr val="1E293B"/>
                    </a:solidFill>
                    <a:latin typeface="Calibri"/>
                  </a:rPr>
                  <a:t> (nghìn đồng).</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C'(x)=2x+10</a:t>
                </a:r>
                <a:r>
                  <a:rPr sz="2200">
                    <a:solidFill>
                      <a:srgbClr val="1E293B"/>
                    </a:solidFill>
                    <a:latin typeface="Calibri"/>
                  </a:rPr>
                  <a:t>; </a:t>
                </a:r>
                <a:r>
                  <a:rPr lang="vi-VN"/>
                  <a:t>C'(50)=110</a:t>
                </a:r>
                <a:r>
                  <a:rPr sz="2200">
                    <a:solidFill>
                      <a:srgbClr val="1E293B"/>
                    </a:solidFill>
                    <a:latin typeface="Calibri"/>
                  </a:rPr>
                  <a:t> (nghìn đồng).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a:solidFill>
                      <a:srgbClr val="1E293B"/>
                    </a:solidFill>
                    <a:latin typeface="Calibri"/>
                  </a:rPr>
                  <a:t>Lợi nhuận </a:t>
                </a:r>
                <a14:m>
                  <m:oMath xmlns:m="http://schemas.openxmlformats.org/officeDocument/2006/math">
                    <m:r>
                      <a:rPr lang="vi-VN" sz="2400" b="0">
                        <a:solidFill>
                          <a:srgbClr val="1E293B"/>
                        </a:solidFill>
                        <a:latin typeface="Cambria Math" panose="02040503050406030204" pitchFamily="18" charset="0"/>
                      </a:rPr>
                      <m:t>P(x)=−0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+36</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800x−48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r>
                  <a:rPr sz="2400">
                    <a:solidFill>
                      <a:srgbClr val="1E293B"/>
                    </a:solidFill>
                    <a:latin typeface="Calibri"/>
                  </a:rPr>
                  <a:t> (Ví dụ 7). Xét tính đúng, sai:</a:t>
                </a:r>
              </a:p>
            </p:txBody>
          </p:sp>
        </mc:Choice>
        <mc:Fallback>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a:solidFill>
                      <a:srgbClr val="1E293B"/>
                    </a:solidFill>
                    <a:latin typeface="Calibri"/>
                  </a:rPr>
                  <a:t>Lợi nhuận </a:t>
                </a:r>
                <a:r>
                  <a:rPr lang="vi-VN"/>
                  <a:t>P(x)=-0{,}3x^3+36x^2+1\ 800x-48\ 000</a:t>
                </a:r>
                <a:r>
                  <a:rPr sz="2400">
                    <a:solidFill>
                      <a:srgbClr val="1E293B"/>
                    </a:solidFill>
                    <a:latin typeface="Calibri"/>
                  </a:rPr>
                  <a:t> (Ví dụ 7). Xét tính đúng, sai:</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368296"/>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14:m>
                  <m:oMath xmlns:m="http://schemas.openxmlformats.org/officeDocument/2006/math">
                    <m:sSup>
                      <m:e>
                        <m:r>
                          <a:rPr lang="vi-VN" sz="2300" b="0">
                            <a:solidFill>
                              <a:srgbClr val="1E293B"/>
                            </a:solidFill>
                            <a:latin typeface="Cambria Math" panose="02040503050406030204" pitchFamily="18" charset="0"/>
                          </a:rPr>
                          <m:t>P</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(x)=−0</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9</m:t>
                    </m:r>
                    <m:sSup>
                      <m:e>
                        <m:r>
                          <a:rPr lang="vi-VN" sz="2300" b="0">
                            <a:solidFill>
                              <a:srgbClr val="1E293B"/>
                            </a:solidFill>
                            <a:latin typeface="Cambria Math" panose="02040503050406030204" pitchFamily="18" charset="0"/>
                          </a:rPr>
                          <m:t>x</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+72x+1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800</m:t>
                    </m:r>
                  </m:oMath>
                </a14:m>
                <a:r>
                  <a:rPr sz="2300">
                    <a:solidFill>
                      <a:srgbClr val="1E293B"/>
                    </a:solidFill>
                    <a:latin typeface="Calibri"/>
                  </a:rPr>
                  <a:t>.</a:t>
                </a:r>
              </a:p>
            </p:txBody>
          </p:sp>
        </mc:Choice>
        <mc:Fallback>
          <p:sp>
            <p:nvSpPr>
              <p:cNvPr id="8" name="TextBox 7"/>
              <p:cNvSpPr txBox="1"/>
              <p:nvPr/>
            </p:nvSpPr>
            <p:spPr>
              <a:xfrm>
                <a:off x="548640" y="2368296"/>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r>
                  <a:rPr lang="vi-VN"/>
                  <a:t>P'(x)=-0{,}9x^2+72x+1\ 800</a:t>
                </a:r>
                <a:r>
                  <a:rPr sz="2300">
                    <a:solidFill>
                      <a:srgbClr val="1E293B"/>
                    </a:solidFill>
                    <a:latin typeface="Calibri"/>
                  </a:rPr>
                  <a:t>.</a:t>
                </a:r>
              </a:p>
            </p:txBody>
          </p:sp>
        </mc:Fallback>
      </mc:AlternateContent>
      <p:sp>
        <p:nvSpPr>
          <p:cNvPr id="9" name="s1_nen"/>
          <p:cNvSpPr/>
          <p:nvPr/>
        </p:nvSpPr>
        <p:spPr>
          <a:xfrm>
            <a:off x="8412480" y="2340864"/>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377440"/>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3330702"/>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b) Lợi nhuận lớn nhất khi </a:t>
                </a:r>
                <a14:m>
                  <m:oMath xmlns:m="http://schemas.openxmlformats.org/officeDocument/2006/math">
                    <m:r>
                      <a:rPr lang="vi-VN" sz="2300" b="0">
                        <a:solidFill>
                          <a:srgbClr val="1E293B"/>
                        </a:solidFill>
                        <a:latin typeface="Cambria Math" panose="02040503050406030204" pitchFamily="18" charset="0"/>
                      </a:rPr>
                      <m:t>x=120</m:t>
                    </m:r>
                  </m:oMath>
                </a14:m>
                <a:r>
                  <a:rPr sz="2300">
                    <a:solidFill>
                      <a:srgbClr val="1E293B"/>
                    </a:solidFill>
                    <a:latin typeface="Calibri"/>
                  </a:rPr>
                  <a:t>.</a:t>
                </a:r>
              </a:p>
            </p:txBody>
          </p:sp>
        </mc:Choice>
        <mc:Fallback>
          <p:sp>
            <p:nvSpPr>
              <p:cNvPr id="11" name="TextBox 10"/>
              <p:cNvSpPr txBox="1"/>
              <p:nvPr/>
            </p:nvSpPr>
            <p:spPr>
              <a:xfrm>
                <a:off x="548640" y="3330702"/>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b) Lợi nhuận lớn nhất khi </a:t>
                </a:r>
                <a:r>
                  <a:rPr lang="vi-VN"/>
                  <a:t>x=120</a:t>
                </a:r>
                <a:r>
                  <a:rPr sz="2300">
                    <a:solidFill>
                      <a:srgbClr val="1E293B"/>
                    </a:solidFill>
                    <a:latin typeface="Calibri"/>
                  </a:rPr>
                  <a:t>.</a:t>
                </a:r>
              </a:p>
            </p:txBody>
          </p:sp>
        </mc:Fallback>
      </mc:AlternateContent>
      <p:sp>
        <p:nvSpPr>
          <p:cNvPr id="12" name="s2_nen"/>
          <p:cNvSpPr/>
          <p:nvPr/>
        </p:nvSpPr>
        <p:spPr>
          <a:xfrm>
            <a:off x="8412480" y="3303270"/>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3339846"/>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(x = 100)</a:t>
            </a:r>
          </a:p>
        </p:txBody>
      </p:sp>
      <p:sp>
        <p:nvSpPr>
          <p:cNvPr id="14" name="TextBox 13"/>
          <p:cNvSpPr txBox="1"/>
          <p:nvPr/>
        </p:nvSpPr>
        <p:spPr>
          <a:xfrm>
            <a:off x="548640" y="4293108"/>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c) Sản xuất 20 máy thì hoà vốn.</a:t>
            </a:r>
          </a:p>
        </p:txBody>
      </p:sp>
      <p:sp>
        <p:nvSpPr>
          <p:cNvPr id="15" name="s3_nen"/>
          <p:cNvSpPr/>
          <p:nvPr/>
        </p:nvSpPr>
        <p:spPr>
          <a:xfrm>
            <a:off x="8412480" y="4265676"/>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4302252"/>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r>
              <a:rPr sz="2100">
                <a:solidFill>
                  <a:srgbClr val="1E293B"/>
                </a:solidFill>
                <a:latin typeface="Calibri"/>
              </a:rPr>
              <a:t> (P(20) = 0)</a:t>
            </a:r>
          </a:p>
        </p:txBody>
      </p:sp>
      <p:sp>
        <p:nvSpPr>
          <p:cNvPr id="17" name="TextBox 16"/>
          <p:cNvSpPr txBox="1"/>
          <p:nvPr/>
        </p:nvSpPr>
        <p:spPr>
          <a:xfrm>
            <a:off x="548640" y="5255514"/>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d) Lợi nhuận lớn nhất là 192 triệu đồng.</a:t>
            </a:r>
          </a:p>
        </p:txBody>
      </p:sp>
      <p:sp>
        <p:nvSpPr>
          <p:cNvPr id="18" name="s4_nen"/>
          <p:cNvSpPr/>
          <p:nvPr/>
        </p:nvSpPr>
        <p:spPr>
          <a:xfrm>
            <a:off x="8412480" y="5228081"/>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5264657"/>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27</a:t>
            </a:r>
          </a:p>
        </p:txBody>
      </p:sp>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Bác Ba có 40 m lưới để rào một mảnh vườn hình chữ nhật. Diện tích lớn nhất của mảnh vườn là bao nhiêu mét vuông?</a:t>
            </a:r>
          </a:p>
        </p:txBody>
      </p:sp>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100.</a:t>
                </a:r>
                <a:r>
                  <a:rPr sz="2400">
                    <a:solidFill>
                      <a:srgbClr val="1E293B"/>
                    </a:solidFill>
                    <a:latin typeface="Calibri"/>
                  </a:rPr>
                  <a:t> Cạnh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cạnh kia </a:t>
                </a:r>
                <a14:m>
                  <m:oMath xmlns:m="http://schemas.openxmlformats.org/officeDocument/2006/math">
                    <m:r>
                      <a:rPr lang="vi-VN" sz="2400" b="0">
                        <a:solidFill>
                          <a:srgbClr val="1E293B"/>
                        </a:solidFill>
                        <a:latin typeface="Cambria Math" panose="02040503050406030204" pitchFamily="18" charset="0"/>
                      </a:rPr>
                      <m:t>20−x</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S=x(20−x)</m:t>
                    </m:r>
                  </m:oMath>
                </a14:m>
                <a:r>
                  <a:rPr sz="2400">
                    <a:solidFill>
                      <a:srgbClr val="1E293B"/>
                    </a:solidFill>
                    <a:latin typeface="Calibri"/>
                  </a:rPr>
                  <a:t> lớn nhất khi </a:t>
                </a:r>
                <a14:m>
                  <m:oMath xmlns:m="http://schemas.openxmlformats.org/officeDocument/2006/math">
                    <m:r>
                      <a:rPr lang="vi-VN" sz="2400" b="0">
                        <a:solidFill>
                          <a:srgbClr val="1E293B"/>
                        </a:solidFill>
                        <a:latin typeface="Cambria Math" panose="02040503050406030204" pitchFamily="18" charset="0"/>
                      </a:rPr>
                      <m:t>x=10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S=100</m:t>
                    </m:r>
                  </m:oMath>
                </a14:m>
                <a:r>
                  <a:rPr sz="2400">
                    <a:solidFill>
                      <a:srgbClr val="1E293B"/>
                    </a:solidFill>
                    <a:latin typeface="Calibri"/>
                  </a:rPr>
                  <a:t> m².</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100.</a:t>
                </a:r>
                <a:r>
                  <a:rPr sz="2400">
                    <a:solidFill>
                      <a:srgbClr val="1E293B"/>
                    </a:solidFill>
                    <a:latin typeface="Calibri"/>
                  </a:rPr>
                  <a:t> Cạnh </a:t>
                </a:r>
                <a:r>
                  <a:rPr lang="vi-VN"/>
                  <a:t>x</a:t>
                </a:r>
                <a:r>
                  <a:rPr sz="2400">
                    <a:solidFill>
                      <a:srgbClr val="1E293B"/>
                    </a:solidFill>
                    <a:latin typeface="Calibri"/>
                  </a:rPr>
                  <a:t>, cạnh kia </a:t>
                </a:r>
                <a:r>
                  <a:rPr lang="vi-VN"/>
                  <a:t>20-x</a:t>
                </a:r>
                <a:r>
                  <a:rPr sz="2400">
                    <a:solidFill>
                      <a:srgbClr val="1E293B"/>
                    </a:solidFill>
                    <a:latin typeface="Calibri"/>
                  </a:rPr>
                  <a:t>: </a:t>
                </a:r>
                <a:r>
                  <a:rPr lang="vi-VN"/>
                  <a:t>S=x(20-x)</a:t>
                </a:r>
                <a:r>
                  <a:rPr sz="2400">
                    <a:solidFill>
                      <a:srgbClr val="1E293B"/>
                    </a:solidFill>
                    <a:latin typeface="Calibri"/>
                  </a:rPr>
                  <a:t> lớn nhất khi </a:t>
                </a:r>
                <a:r>
                  <a:rPr lang="vi-VN"/>
                  <a:t>x=10</a:t>
                </a:r>
                <a:r>
                  <a:rPr sz="2400">
                    <a:solidFill>
                      <a:srgbClr val="1E293B"/>
                    </a:solidFill>
                    <a:latin typeface="Calibri"/>
                  </a:rPr>
                  <a:t>, </a:t>
                </a:r>
                <a:r>
                  <a:rPr lang="vi-VN"/>
                  <a:t>S=100</a:t>
                </a:r>
                <a:r>
                  <a:rPr sz="2400">
                    <a:solidFill>
                      <a:srgbClr val="1E293B"/>
                    </a:solidFill>
                    <a:latin typeface="Calibri"/>
                  </a:rPr>
                  <a:t> m².</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28</a:t>
            </a:r>
          </a:p>
        </p:txBody>
      </p:sp>
      <p:sp>
        <p:nvSpPr>
          <p:cNvPr id="7" name="TextBox 6"/>
          <p:cNvSpPr txBox="1"/>
          <p:nvPr/>
        </p:nvSpPr>
        <p:spPr>
          <a:xfrm>
            <a:off x="548640" y="1463040"/>
            <a:ext cx="11064240" cy="136245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cửa hàng bán 100 cây cà phê giống mỗi ngày với giá 20 nghìn đồng/cây; cứ giảm 1 nghìn đồng thì bán thêm 10 cây. Giá bán bao nhiêu nghìn đồng/cây để doanh thu lớn nhất?</a:t>
            </a:r>
          </a:p>
        </p:txBody>
      </p:sp>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15.</a:t>
                </a:r>
                <a:r>
                  <a:rPr sz="2400">
                    <a:solidFill>
                      <a:srgbClr val="1E293B"/>
                    </a:solidFill>
                    <a:latin typeface="Calibri"/>
                  </a:rPr>
                  <a:t> Giá </a:t>
                </a:r>
                <a14:m>
                  <m:oMath xmlns:m="http://schemas.openxmlformats.org/officeDocument/2006/math">
                    <m:r>
                      <a:rPr lang="vi-VN" sz="2400" b="0">
                        <a:solidFill>
                          <a:srgbClr val="1E293B"/>
                        </a:solidFill>
                        <a:latin typeface="Cambria Math" panose="02040503050406030204" pitchFamily="18" charset="0"/>
                      </a:rPr>
                      <m:t>p</m:t>
                    </m:r>
                  </m:oMath>
                </a14:m>
                <a:r>
                  <a:rPr sz="2400">
                    <a:solidFill>
                      <a:srgbClr val="1E293B"/>
                    </a:solidFill>
                    <a:latin typeface="Calibri"/>
                  </a:rPr>
                  <a:t>: số cây </a:t>
                </a:r>
                <a14:m>
                  <m:oMath xmlns:m="http://schemas.openxmlformats.org/officeDocument/2006/math">
                    <m:r>
                      <a:rPr lang="vi-VN" sz="2400" b="0">
                        <a:solidFill>
                          <a:srgbClr val="1E293B"/>
                        </a:solidFill>
                        <a:latin typeface="Cambria Math" panose="02040503050406030204" pitchFamily="18" charset="0"/>
                      </a:rPr>
                      <m:t>100+10(20−p)=300−10p</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R=p(300−10p)</m:t>
                    </m:r>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R</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=300−20p=0⇔p=15</m:t>
                    </m:r>
                  </m:oMath>
                </a14:m>
                <a:r>
                  <a:rPr sz="2400">
                    <a:solidFill>
                      <a:srgbClr val="1E293B"/>
                    </a:solidFill>
                    <a:latin typeface="Calibri"/>
                  </a:rPr>
                  <a:t>.</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15.</a:t>
                </a:r>
                <a:r>
                  <a:rPr sz="2400">
                    <a:solidFill>
                      <a:srgbClr val="1E293B"/>
                    </a:solidFill>
                    <a:latin typeface="Calibri"/>
                  </a:rPr>
                  <a:t> Giá </a:t>
                </a:r>
                <a:r>
                  <a:rPr lang="vi-VN"/>
                  <a:t>p</a:t>
                </a:r>
                <a:r>
                  <a:rPr sz="2400">
                    <a:solidFill>
                      <a:srgbClr val="1E293B"/>
                    </a:solidFill>
                    <a:latin typeface="Calibri"/>
                  </a:rPr>
                  <a:t>: số cây </a:t>
                </a:r>
                <a:r>
                  <a:rPr lang="vi-VN"/>
                  <a:t>100+10(20-p)=300-10p</a:t>
                </a:r>
                <a:r>
                  <a:rPr sz="2400">
                    <a:solidFill>
                      <a:srgbClr val="1E293B"/>
                    </a:solidFill>
                    <a:latin typeface="Calibri"/>
                  </a:rPr>
                  <a:t>; </a:t>
                </a:r>
                <a:r>
                  <a:rPr lang="vi-VN"/>
                  <a:t>R=p(300-10p)</a:t>
                </a:r>
                <a:r>
                  <a:rPr sz="2400">
                    <a:solidFill>
                      <a:srgbClr val="1E293B"/>
                    </a:solidFill>
                    <a:latin typeface="Calibri"/>
                  </a:rPr>
                  <a:t>, </a:t>
                </a:r>
                <a:r>
                  <a:rPr lang="vi-VN"/>
                  <a:t>R'=300-20p=0\Leftrightarrow p=15</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29</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https://trangtu66.github.io/Taode_thi_online/cc_bai5_t12.html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1.26 – 1.29.</a:t>
            </a:r>
          </a:p>
          <a:p>
            <a:pPr algn="l" marL="365760" indent="-365760">
              <a:spcAft>
                <a:spcPts val="800"/>
              </a:spcAft>
              <a:buClr>
                <a:srgbClr val="1E40AF"/>
              </a:buClr>
              <a:buFont typeface="Arial"/>
              <a:buChar char="•"/>
            </a:pPr>
            <a:r>
              <a:rPr sz="2200">
                <a:solidFill>
                  <a:srgbClr val="1E293B"/>
                </a:solidFill>
                <a:latin typeface="Calibri"/>
              </a:rPr>
              <a:t>Ôn tập Chương I, làm trước Bài 1.30 – 1.35 (</a:t>
            </a:r>
            <a:r>
              <a:rPr sz="2200" b="1">
                <a:solidFill>
                  <a:srgbClr val="1E293B"/>
                </a:solidFill>
                <a:latin typeface="Calibri"/>
              </a:rPr>
              <a:t>Bài tập cuối chương I</a:t>
            </a:r>
            <a:r>
              <a:rPr sz="2200">
                <a:solidFill>
                  <a:srgbClr val="1E293B"/>
                </a:solidFill>
                <a:latin typeface="Calibri"/>
              </a:rPr>
              <a:t>, SGK tr.42).</a:t>
            </a:r>
          </a:p>
        </p:txBody>
      </p:sp>
      <p:pic>
        <p:nvPicPr>
          <p:cNvPr id="8" name="Picture 7" descr="QR_CungCo_Bai5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30</a:t>
            </a:r>
          </a:p>
        </p:txBody>
      </p:sp>
      <p:pic>
        <p:nvPicPr>
          <p:cNvPr id="7" name="Picture 6" descr="SoDoTuDuy_TOAN12_Bai5_UngDungDaoHam_T19-20.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Lập hàm số sai đơn vị (nghìn đồng – triệu đồng, lít – cm³); quên điều kiện của biến.</a:t>
                </a:r>
              </a:p>
              <a:p>
                <a:pPr algn="l" marL="365760" indent="-365760">
                  <a:spcAft>
                    <a:spcPts val="800"/>
                  </a:spcAft>
                  <a:buClr>
                    <a:srgbClr val="1E40AF"/>
                  </a:buClr>
                  <a:buFont typeface="Arial"/>
                  <a:buChar char="•"/>
                </a:pPr>
                <a:r>
                  <a:rPr sz="2100">
                    <a:solidFill>
                      <a:srgbClr val="1E293B"/>
                    </a:solidFill>
                    <a:latin typeface="Calibri"/>
                  </a:rPr>
                  <a:t>Nhầm vận tốc với quãng đường; quãng đường khi vật đổi chiều phải cộng từng đoạn (Bài 1.26c).</a:t>
                </a:r>
              </a:p>
              <a:p>
                <a:pPr algn="l" marL="365760" indent="-365760">
                  <a:spcAft>
                    <a:spcPts val="800"/>
                  </a:spcAft>
                  <a:buClr>
                    <a:srgbClr val="1E40AF"/>
                  </a:buClr>
                  <a:buFont typeface="Arial"/>
                  <a:buChar char="•"/>
                </a:pPr>
                <a:r>
                  <a:rPr sz="2100">
                    <a:solidFill>
                      <a:srgbClr val="1E293B"/>
                    </a:solidFill>
                    <a:latin typeface="Calibri"/>
                  </a:rPr>
                  <a:t>Nhầm chi phí biên </a:t>
                </a:r>
                <a14:m>
                  <m:oMath xmlns:m="http://schemas.openxmlformats.org/officeDocument/2006/math">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oMath>
                </a14:m>
                <a:r>
                  <a:rPr sz="2100">
                    <a:solidFill>
                      <a:srgbClr val="1E293B"/>
                    </a:solidFill>
                    <a:latin typeface="Calibri"/>
                  </a:rPr>
                  <a:t> với chi phí </a:t>
                </a:r>
                <a14:m>
                  <m:oMath xmlns:m="http://schemas.openxmlformats.org/officeDocument/2006/math">
                    <m:r>
                      <a:rPr lang="vi-VN" sz="2100" b="0">
                        <a:solidFill>
                          <a:srgbClr val="1E293B"/>
                        </a:solidFill>
                        <a:latin typeface="Cambria Math" panose="02040503050406030204" pitchFamily="18" charset="0"/>
                      </a:rPr>
                      <m:t>C(x)</m:t>
                    </m:r>
                  </m:oMath>
                </a14:m>
                <a:r>
                  <a:rPr sz="2100">
                    <a:solidFill>
                      <a:srgbClr val="1E293B"/>
                    </a:solidFill>
                    <a:latin typeface="Calibri"/>
                  </a:rPr>
                  <a:t>; nhầm doanh thu với lợi nhuận.</a:t>
                </a:r>
              </a:p>
              <a:p>
                <a:pPr algn="l" marL="365760" indent="-365760">
                  <a:spcAft>
                    <a:spcPts val="800"/>
                  </a:spcAft>
                  <a:buClr>
                    <a:srgbClr val="1E40AF"/>
                  </a:buClr>
                  <a:buFont typeface="Arial"/>
                  <a:buChar char="•"/>
                </a:pPr>
                <a:r>
                  <a:rPr sz="2100">
                    <a:solidFill>
                      <a:srgbClr val="1E293B"/>
                    </a:solidFill>
                    <a:latin typeface="Calibri"/>
                  </a:rPr>
                  <a:t>Chỉ giải </a:t>
                </a:r>
                <a14:m>
                  <m:oMath xmlns:m="http://schemas.openxmlformats.org/officeDocument/2006/math">
                    <m:sSup>
                      <m:e>
                        <m:r>
                          <a:rPr lang="vi-VN" sz="2100" b="0">
                            <a:solidFill>
                              <a:srgbClr val="1E293B"/>
                            </a:solidFill>
                            <a:latin typeface="Cambria Math" panose="02040503050406030204" pitchFamily="18" charset="0"/>
                          </a:rPr>
                          <m:t>Q</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m:t>
                    </m:r>
                  </m:oMath>
                </a14:m>
                <a:r>
                  <a:rPr sz="2100">
                    <a:solidFill>
                      <a:srgbClr val="1E293B"/>
                    </a:solidFill>
                    <a:latin typeface="Calibri"/>
                  </a:rPr>
                  <a:t> mà không so sánh giá trị tại đầu mút (Luyện tập 2).</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Lập hàm số sai đơn vị (nghìn đồng – triệu đồng, lít – cm³); quên điều kiện của biến.</a:t>
                </a:r>
              </a:p>
              <a:p>
                <a:pPr algn="l" marL="365760" indent="-365760">
                  <a:spcAft>
                    <a:spcPts val="800"/>
                  </a:spcAft>
                  <a:buClr>
                    <a:srgbClr val="1E40AF"/>
                  </a:buClr>
                  <a:buFont typeface="Arial"/>
                  <a:buChar char="•"/>
                </a:pPr>
                <a:r>
                  <a:rPr sz="2100">
                    <a:solidFill>
                      <a:srgbClr val="1E293B"/>
                    </a:solidFill>
                    <a:latin typeface="Calibri"/>
                  </a:rPr>
                  <a:t>Nhầm vận tốc với quãng đường; quãng đường khi vật đổi chiều phải cộng từng đoạn (Bài 1.26c).</a:t>
                </a:r>
              </a:p>
              <a:p>
                <a:pPr algn="l" marL="365760" indent="-365760">
                  <a:spcAft>
                    <a:spcPts val="800"/>
                  </a:spcAft>
                  <a:buClr>
                    <a:srgbClr val="1E40AF"/>
                  </a:buClr>
                  <a:buFont typeface="Arial"/>
                  <a:buChar char="•"/>
                </a:pPr>
                <a:r>
                  <a:rPr sz="2100">
                    <a:solidFill>
                      <a:srgbClr val="1E293B"/>
                    </a:solidFill>
                    <a:latin typeface="Calibri"/>
                  </a:rPr>
                  <a:t>Nhầm chi phí biên </a:t>
                </a:r>
                <a:r>
                  <a:rPr lang="vi-VN"/>
                  <a:t>C'(x)</a:t>
                </a:r>
                <a:r>
                  <a:rPr sz="2100">
                    <a:solidFill>
                      <a:srgbClr val="1E293B"/>
                    </a:solidFill>
                    <a:latin typeface="Calibri"/>
                  </a:rPr>
                  <a:t> với chi phí </a:t>
                </a:r>
                <a:r>
                  <a:rPr lang="vi-VN"/>
                  <a:t>C(x)</a:t>
                </a:r>
                <a:r>
                  <a:rPr sz="2100">
                    <a:solidFill>
                      <a:srgbClr val="1E293B"/>
                    </a:solidFill>
                    <a:latin typeface="Calibri"/>
                  </a:rPr>
                  <a:t>; nhầm doanh thu với lợi nhuận.</a:t>
                </a:r>
              </a:p>
              <a:p>
                <a:pPr algn="l" marL="365760" indent="-365760">
                  <a:spcAft>
                    <a:spcPts val="800"/>
                  </a:spcAft>
                  <a:buClr>
                    <a:srgbClr val="1E40AF"/>
                  </a:buClr>
                  <a:buFont typeface="Arial"/>
                  <a:buChar char="•"/>
                </a:pPr>
                <a:r>
                  <a:rPr sz="2100">
                    <a:solidFill>
                      <a:srgbClr val="1E293B"/>
                    </a:solidFill>
                    <a:latin typeface="Calibri"/>
                  </a:rPr>
                  <a:t>Chỉ giải </a:t>
                </a:r>
                <a:r>
                  <a:rPr lang="vi-VN"/>
                  <a:t>Q'=0</a:t>
                </a:r>
                <a:r>
                  <a:rPr sz="2100">
                    <a:solidFill>
                      <a:srgbClr val="1E293B"/>
                    </a:solidFill>
                    <a:latin typeface="Calibri"/>
                  </a:rPr>
                  <a:t> mà không so sánh giá trị tại đầu mút (Luyện tập 2).</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32</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Ví dụ 1, Luyện tập 1, Ví dụ 6 theo 3 bước in sẵn.</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Luyện tập 2, Vận dụng, Bài 1.28, 1.29; tự đặt bài toán tối ưu gắn với vườn cà phê, hồ tiêu.</a:t>
            </a:r>
          </a:p>
          <a:p>
            <a:pPr algn="l" marL="365760" indent="-365760">
              <a:spcAft>
                <a:spcPts val="800"/>
              </a:spcAft>
              <a:buClr>
                <a:srgbClr val="1E40AF"/>
              </a:buClr>
              <a:buFont typeface="Arial"/>
              <a:buChar char="•"/>
            </a:pPr>
            <a:r>
              <a:rPr sz="2000" b="1">
                <a:solidFill>
                  <a:srgbClr val="1E293B"/>
                </a:solidFill>
                <a:latin typeface="Calibri"/>
              </a:rPr>
              <a:t>12A2, 12A7 (khiếm thị):</a:t>
            </a:r>
            <a:r>
              <a:rPr sz="2000">
                <a:solidFill>
                  <a:srgbClr val="1E293B"/>
                </a:solidFill>
                <a:latin typeface="Calibri"/>
              </a:rPr>
              <a:t> GV đọc to đề, số liệu; </a:t>
            </a:r>
            <a:r>
              <a:rPr sz="2000" b="1">
                <a:solidFill>
                  <a:srgbClr val="1E293B"/>
                </a:solidFill>
                <a:latin typeface="Calibri"/>
              </a:rPr>
              <a:t>12A3, 12A5, 12A7 (vận động):</a:t>
            </a:r>
            <a:r>
              <a:rPr sz="2000">
                <a:solidFill>
                  <a:srgbClr val="1E293B"/>
                </a:solidFill>
                <a:latin typeface="Calibri"/>
              </a:rPr>
              <a:t> trả lời tại chỗ.</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máy tính cầm tay tính giá trị hàm.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